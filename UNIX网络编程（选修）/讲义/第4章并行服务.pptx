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36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892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0208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951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407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4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230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849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184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196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378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6452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A153F48B-59A1-4145-A4CD-EFD5000F1264}" type="datetimeFigureOut">
              <a:rPr lang="zh-CN" altLang="en-US" smtClean="0"/>
              <a:t>2023/4/10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FD466EF7-843D-440F-B567-B6466BA2AC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23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第四章 并行服务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6840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0793" y="807826"/>
            <a:ext cx="10058400" cy="1068271"/>
          </a:xfrm>
        </p:spPr>
        <p:txBody>
          <a:bodyPr/>
          <a:lstStyle/>
          <a:p>
            <a:r>
              <a:rPr lang="en-US" altLang="zh-CN" dirty="0" smtClean="0"/>
              <a:t>4.1 </a:t>
            </a:r>
            <a:r>
              <a:rPr lang="en-US" altLang="zh-CN" dirty="0"/>
              <a:t>Concurrent server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5255" y="2293883"/>
            <a:ext cx="9232918" cy="456411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Above example is an iterative server. For something as simple as a daytime server, this is fine. But when a client request can take longer to service, </a:t>
            </a:r>
            <a:r>
              <a:rPr lang="en-US" altLang="zh-CN" b="1" dirty="0">
                <a:solidFill>
                  <a:schemeClr val="accent1"/>
                </a:solidFill>
              </a:rPr>
              <a:t>we do not want to tie up a single server with one client; we want to handle multiple clients at the same time.</a:t>
            </a:r>
            <a:r>
              <a:rPr lang="en-US" altLang="zh-CN" b="1" dirty="0"/>
              <a:t> </a:t>
            </a:r>
          </a:p>
          <a:p>
            <a:pPr algn="just">
              <a:lnSpc>
                <a:spcPct val="150000"/>
              </a:lnSpc>
            </a:pPr>
            <a:r>
              <a:rPr lang="en-US" altLang="zh-CN" dirty="0"/>
              <a:t>The simplest way to write a concurrent server under Unix is to fork a child process to handle each client.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5748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9848" y="811924"/>
            <a:ext cx="10058400" cy="163961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Before describing how to write a concurrent server, we must describe the Unix </a:t>
            </a:r>
            <a:r>
              <a:rPr lang="en-US" altLang="zh-CN" i="1" dirty="0"/>
              <a:t>fork</a:t>
            </a:r>
            <a:r>
              <a:rPr lang="en-US" altLang="zh-CN" dirty="0"/>
              <a:t> function. This function is the only way in Unix to create a new process.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388475"/>
            <a:ext cx="9793342" cy="1496468"/>
          </a:xfrm>
          <a:prstGeom prst="rect">
            <a:avLst/>
          </a:prstGeom>
        </p:spPr>
      </p:pic>
      <p:sp>
        <p:nvSpPr>
          <p:cNvPr id="5" name="内容占位符 2"/>
          <p:cNvSpPr txBox="1">
            <a:spLocks/>
          </p:cNvSpPr>
          <p:nvPr/>
        </p:nvSpPr>
        <p:spPr>
          <a:xfrm>
            <a:off x="1069848" y="4213664"/>
            <a:ext cx="10058400" cy="2849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i="1" dirty="0"/>
              <a:t>fork</a:t>
            </a:r>
            <a:r>
              <a:rPr lang="en-US" altLang="zh-CN" dirty="0"/>
              <a:t> is called once, but it returns twice. </a:t>
            </a:r>
            <a:r>
              <a:rPr lang="en-US" altLang="zh-CN" dirty="0">
                <a:solidFill>
                  <a:schemeClr val="accent1"/>
                </a:solidFill>
              </a:rPr>
              <a:t>It returns once in the calling process with a return value that is the process ID of the newly created process (the child). It also returns once in the child, with a return value of 0.</a:t>
            </a:r>
            <a:r>
              <a:rPr lang="en-US" altLang="zh-CN" dirty="0"/>
              <a:t> Hence, the return value tells the process whether it is the parent or the child.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453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390525"/>
            <a:ext cx="1108710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8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420" y="299545"/>
            <a:ext cx="10058400" cy="368913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There are two typical uses of </a:t>
            </a:r>
            <a:r>
              <a:rPr lang="en-US" altLang="zh-CN" i="1" dirty="0"/>
              <a:t>fork</a:t>
            </a:r>
            <a:r>
              <a:rPr lang="en-US" altLang="zh-CN" dirty="0"/>
              <a:t>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A process makes a copy of itself so that one copy can handle on operation while the other copy does another task. This is typical for network servers. 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A process wants to execute another program. Since the only way to create a new process is by calling </a:t>
            </a:r>
            <a:r>
              <a:rPr lang="en-US" altLang="zh-CN" i="1" dirty="0"/>
              <a:t>fork,</a:t>
            </a:r>
            <a:r>
              <a:rPr lang="en-US" altLang="zh-CN" dirty="0"/>
              <a:t> the process first calls </a:t>
            </a:r>
            <a:r>
              <a:rPr lang="en-US" altLang="zh-CN" i="1" dirty="0"/>
              <a:t>fork</a:t>
            </a:r>
            <a:r>
              <a:rPr lang="en-US" altLang="zh-CN" dirty="0"/>
              <a:t> to make a copy of itself, and then one of the copies (typically the child process) calls </a:t>
            </a:r>
            <a:r>
              <a:rPr lang="en-US" altLang="zh-CN" i="1" dirty="0"/>
              <a:t>exec</a:t>
            </a:r>
            <a:r>
              <a:rPr lang="en-US" altLang="zh-CN" dirty="0"/>
              <a:t> to replace itself with the new program.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762420" y="4162098"/>
            <a:ext cx="10058400" cy="36891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/>
              <a:t>The only way in which an executable program file on disk can be executed by Unix is an existing process to call one of the six exec functions. </a:t>
            </a:r>
            <a:r>
              <a:rPr lang="en-US" altLang="zh-CN" b="1" dirty="0">
                <a:solidFill>
                  <a:schemeClr val="accent1"/>
                </a:solidFill>
              </a:rPr>
              <a:t>Exec replaces the current process image with the new program file, and this new program normally starts at the main function. </a:t>
            </a:r>
            <a:r>
              <a:rPr lang="en-US" altLang="zh-CN" dirty="0"/>
              <a:t>The process ID does not change.</a:t>
            </a:r>
          </a:p>
        </p:txBody>
      </p:sp>
    </p:spTree>
    <p:extLst>
      <p:ext uri="{BB962C8B-B14F-4D97-AF65-F5344CB8AC3E}">
        <p14:creationId xmlns:p14="http://schemas.microsoft.com/office/powerpoint/2010/main" val="1585761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14668" y="551792"/>
            <a:ext cx="10058400" cy="2814145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The differences in the six exec functions are: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Whether the program file to execute is specified by a filename or a pathname;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Whether the arguments  to the new program are listed one by one or referenced through an array of pointers;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CN" dirty="0"/>
              <a:t>Whether the environment of the calling process is passed to the new program or whether a new environment is specified.</a:t>
            </a:r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014668" y="3894081"/>
            <a:ext cx="10058400" cy="2396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chemeClr val="accent1"/>
                </a:solidFill>
              </a:rPr>
              <a:t>These functions return to the caller only if an error occurs. Otherwise, control passes to the start of the new program, normally the main function.</a:t>
            </a:r>
          </a:p>
          <a:p>
            <a:pPr algn="just">
              <a:lnSpc>
                <a:spcPct val="150000"/>
              </a:lnSpc>
            </a:pPr>
            <a:r>
              <a:rPr lang="en-US" altLang="zh-CN" b="1">
                <a:solidFill>
                  <a:schemeClr val="accent1"/>
                </a:solidFill>
              </a:rPr>
              <a:t>Normally, only </a:t>
            </a:r>
            <a:r>
              <a:rPr lang="en-US" altLang="zh-CN" b="1" i="1">
                <a:solidFill>
                  <a:schemeClr val="accent1"/>
                </a:solidFill>
              </a:rPr>
              <a:t>execve</a:t>
            </a:r>
            <a:r>
              <a:rPr lang="en-US" altLang="zh-CN" b="1">
                <a:solidFill>
                  <a:schemeClr val="accent1"/>
                </a:solidFill>
              </a:rPr>
              <a:t> is a system call within the kernel and the other five are library functions that call </a:t>
            </a:r>
            <a:r>
              <a:rPr lang="en-US" altLang="zh-CN" b="1" i="1">
                <a:solidFill>
                  <a:schemeClr val="accent1"/>
                </a:solidFill>
              </a:rPr>
              <a:t>execve</a:t>
            </a:r>
            <a:r>
              <a:rPr lang="en-US" altLang="zh-CN" b="1">
                <a:solidFill>
                  <a:schemeClr val="accent1"/>
                </a:solidFill>
              </a:rPr>
              <a:t>.</a:t>
            </a:r>
            <a:endParaRPr lang="zh-CN" altLang="en-US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568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648" y="3842352"/>
            <a:ext cx="10134600" cy="2657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648" y="244154"/>
            <a:ext cx="7602428" cy="3275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020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3D3C6B52-3C3E-EFE4-548C-AA71FFC93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1363"/>
            <a:ext cx="10058400" cy="1273996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/>
              <a:t>The simplest way to write a concurrent server under Unix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i="1" dirty="0"/>
              <a:t>fork</a:t>
            </a:r>
            <a:r>
              <a:rPr lang="zh-CN" altLang="en-US" dirty="0"/>
              <a:t> </a:t>
            </a:r>
            <a:r>
              <a:rPr lang="en-US" altLang="zh-CN" dirty="0"/>
              <a:t>a</a:t>
            </a:r>
            <a:r>
              <a:rPr lang="zh-CN" altLang="en-US" dirty="0"/>
              <a:t> </a:t>
            </a:r>
            <a:r>
              <a:rPr lang="en-US" altLang="zh-CN" dirty="0"/>
              <a:t>child</a:t>
            </a:r>
            <a:r>
              <a:rPr lang="zh-CN" altLang="en-US" dirty="0"/>
              <a:t> </a:t>
            </a:r>
            <a:r>
              <a:rPr lang="en-US" altLang="zh-CN" dirty="0"/>
              <a:t>process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handle each client. The following Fig. shows the outline for a typical concurrent server.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80B4B80E-69CA-297A-8645-897CEE277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6050" y="1213635"/>
            <a:ext cx="6819900" cy="354330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="" xmlns:a16="http://schemas.microsoft.com/office/drawing/2014/main" id="{DE29C1C9-BE0A-779C-E4A0-94C6F80C050A}"/>
              </a:ext>
            </a:extLst>
          </p:cNvPr>
          <p:cNvSpPr txBox="1">
            <a:spLocks/>
          </p:cNvSpPr>
          <p:nvPr/>
        </p:nvSpPr>
        <p:spPr>
          <a:xfrm>
            <a:off x="1066800" y="4756935"/>
            <a:ext cx="10058400" cy="183907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/>
              <a:t>When a connection is established, accept returns, the server calls </a:t>
            </a:r>
            <a:r>
              <a:rPr lang="en-US" altLang="zh-CN" i="1" dirty="0"/>
              <a:t>fork</a:t>
            </a:r>
            <a:r>
              <a:rPr lang="en-US" altLang="zh-CN" dirty="0"/>
              <a:t>, and the child process services the client(on </a:t>
            </a:r>
            <a:r>
              <a:rPr lang="en-US" altLang="zh-CN" dirty="0" err="1"/>
              <a:t>connfd</a:t>
            </a:r>
            <a:r>
              <a:rPr lang="en-US" altLang="zh-CN" dirty="0"/>
              <a:t>, the connected socket) and the parent process waits for another connection(on </a:t>
            </a:r>
            <a:r>
              <a:rPr lang="en-US" altLang="zh-CN" dirty="0" err="1"/>
              <a:t>listenfd</a:t>
            </a:r>
            <a:r>
              <a:rPr lang="en-US" altLang="zh-CN" dirty="0"/>
              <a:t>, the listening socket). The parent closes the connected socket since the child handles the new client.</a:t>
            </a:r>
          </a:p>
        </p:txBody>
      </p:sp>
    </p:spTree>
    <p:extLst>
      <p:ext uri="{BB962C8B-B14F-4D97-AF65-F5344CB8AC3E}">
        <p14:creationId xmlns:p14="http://schemas.microsoft.com/office/powerpoint/2010/main" val="1845111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3A7A96FB-76D9-337C-FC18-76CD104A26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659" y="737973"/>
            <a:ext cx="4772025" cy="145732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991A96F3-B57E-5034-0B71-7A629AD37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4832" y="776072"/>
            <a:ext cx="4705350" cy="13811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="" xmlns:a16="http://schemas.microsoft.com/office/drawing/2014/main" id="{DB4D797F-CABE-848B-90AB-F7D163233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84" y="2849740"/>
            <a:ext cx="4724400" cy="29337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="" xmlns:a16="http://schemas.microsoft.com/office/drawing/2014/main" id="{EF11B6D5-EC92-6874-3F06-4F39D5838C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832" y="2849740"/>
            <a:ext cx="5314950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554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3D3C6B52-3C3E-EFE4-548C-AA71FFC93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21363"/>
            <a:ext cx="10058400" cy="127399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dirty="0" smtClean="0"/>
              <a:t>When a program is started, a single thread is created, called the initial thread or main thread. Additional threads are created by </a:t>
            </a:r>
            <a:r>
              <a:rPr lang="en-US" altLang="zh-CN" i="1" dirty="0" err="1" smtClean="0"/>
              <a:t>pthread_create</a:t>
            </a:r>
            <a:r>
              <a:rPr lang="en-US" altLang="zh-CN" dirty="0" smtClean="0"/>
              <a:t>.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1274152"/>
            <a:ext cx="8705850" cy="1543050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="" xmlns:a16="http://schemas.microsoft.com/office/drawing/2014/main" id="{3D3C6B52-3C3E-EFE4-548C-AA71FFC93608}"/>
              </a:ext>
            </a:extLst>
          </p:cNvPr>
          <p:cNvSpPr txBox="1">
            <a:spLocks/>
          </p:cNvSpPr>
          <p:nvPr/>
        </p:nvSpPr>
        <p:spPr>
          <a:xfrm>
            <a:off x="1066800" y="2858701"/>
            <a:ext cx="10058400" cy="353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 smtClean="0"/>
              <a:t>Each thread within a process is identified by a thread ID, whose datatype is </a:t>
            </a:r>
            <a:r>
              <a:rPr lang="en-US" altLang="zh-CN" dirty="0" err="1" smtClean="0"/>
              <a:t>pthread_t</a:t>
            </a:r>
            <a:r>
              <a:rPr lang="en-US" altLang="zh-CN" dirty="0" smtClean="0"/>
              <a:t> (often an unsigned 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). On successful creation of a new thread, its ID is returned through the pointer </a:t>
            </a:r>
            <a:r>
              <a:rPr lang="en-US" altLang="zh-CN" dirty="0" err="1" smtClean="0"/>
              <a:t>tid</a:t>
            </a:r>
            <a:r>
              <a:rPr lang="en-US" altLang="zh-CN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zh-CN" dirty="0" smtClean="0"/>
              <a:t>Each thread has numerous attributes: its priority, initial stack size, etc. When a thread is created, we can specify these attributes by initializing a </a:t>
            </a:r>
            <a:r>
              <a:rPr lang="en-US" altLang="zh-CN" dirty="0" err="1" smtClean="0"/>
              <a:t>pthread_attr_t</a:t>
            </a:r>
            <a:r>
              <a:rPr lang="en-US" altLang="zh-CN" dirty="0" smtClean="0"/>
              <a:t> variable that overrides the default. We normally take the default, in which case, we specify the </a:t>
            </a:r>
            <a:r>
              <a:rPr lang="en-US" altLang="zh-CN" dirty="0" err="1" smtClean="0"/>
              <a:t>attr</a:t>
            </a:r>
            <a:r>
              <a:rPr lang="en-US" altLang="zh-CN" dirty="0" smtClean="0"/>
              <a:t> argument as a null pointer.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9847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>
            <a:extLst>
              <a:ext uri="{FF2B5EF4-FFF2-40B4-BE49-F238E27FC236}">
                <a16:creationId xmlns="" xmlns:a16="http://schemas.microsoft.com/office/drawing/2014/main" id="{3D3C6B52-3C3E-EFE4-548C-AA71FFC93608}"/>
              </a:ext>
            </a:extLst>
          </p:cNvPr>
          <p:cNvSpPr txBox="1">
            <a:spLocks/>
          </p:cNvSpPr>
          <p:nvPr/>
        </p:nvSpPr>
        <p:spPr>
          <a:xfrm>
            <a:off x="1049216" y="918532"/>
            <a:ext cx="10058400" cy="353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 smtClean="0"/>
              <a:t>Finally, when we create a thread, we specify a function for it to execute. The thread starts by calling this function and then terminates either explicitly (by calling </a:t>
            </a:r>
            <a:r>
              <a:rPr lang="en-US" altLang="zh-CN" dirty="0" err="1" smtClean="0"/>
              <a:t>pthread_exit</a:t>
            </a:r>
            <a:r>
              <a:rPr lang="en-US" altLang="zh-CN" dirty="0" smtClean="0"/>
              <a:t>) or implicitly (by letting the function return). The address of the function is specified as the </a:t>
            </a:r>
            <a:r>
              <a:rPr lang="en-US" altLang="zh-CN" dirty="0" err="1" smtClean="0"/>
              <a:t>func</a:t>
            </a:r>
            <a:r>
              <a:rPr lang="en-US" altLang="zh-CN" dirty="0" smtClean="0"/>
              <a:t> argument, and this function is called with a single pointer </a:t>
            </a:r>
            <a:r>
              <a:rPr lang="en-US" altLang="zh-CN" dirty="0" err="1" smtClean="0"/>
              <a:t>argement</a:t>
            </a:r>
            <a:r>
              <a:rPr lang="en-US" altLang="zh-CN" dirty="0" smtClean="0"/>
              <a:t>, arg. If we need multiple argument to the function, we must package them into a structure and then pass the address to this structure as the single argument tot the start function.</a:t>
            </a:r>
            <a:endParaRPr lang="en-US" altLang="zh-CN" dirty="0"/>
          </a:p>
        </p:txBody>
      </p:sp>
      <p:sp>
        <p:nvSpPr>
          <p:cNvPr id="5" name="内容占位符 2">
            <a:extLst>
              <a:ext uri="{FF2B5EF4-FFF2-40B4-BE49-F238E27FC236}">
                <a16:creationId xmlns="" xmlns:a16="http://schemas.microsoft.com/office/drawing/2014/main" id="{3D3C6B52-3C3E-EFE4-548C-AA71FFC93608}"/>
              </a:ext>
            </a:extLst>
          </p:cNvPr>
          <p:cNvSpPr txBox="1">
            <a:spLocks/>
          </p:cNvSpPr>
          <p:nvPr/>
        </p:nvSpPr>
        <p:spPr>
          <a:xfrm>
            <a:off x="1049216" y="4624753"/>
            <a:ext cx="10058400" cy="35303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dirty="0" smtClean="0"/>
              <a:t>Notice the declaration of </a:t>
            </a:r>
            <a:r>
              <a:rPr lang="en-US" altLang="zh-CN" dirty="0" err="1" smtClean="0"/>
              <a:t>func</a:t>
            </a:r>
            <a:r>
              <a:rPr lang="en-US" altLang="zh-CN" dirty="0" smtClean="0"/>
              <a:t> and arg. The function takes one argument, a generic pointer (void *), and returns a generic pointer (void *).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663229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头类型">
  <a:themeElements>
    <a:clrScheme name="木头类型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头类型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头类型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0</TotalTime>
  <Words>791</Words>
  <Application>Microsoft Office PowerPoint</Application>
  <PresentationFormat>宽屏</PresentationFormat>
  <Paragraphs>23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方正姚体</vt:lpstr>
      <vt:lpstr>Rockwell</vt:lpstr>
      <vt:lpstr>Rockwell Condensed</vt:lpstr>
      <vt:lpstr>Wingdings</vt:lpstr>
      <vt:lpstr>木头类型</vt:lpstr>
      <vt:lpstr>第四章 并行服务</vt:lpstr>
      <vt:lpstr>4.1 Concurrent server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并行服务</dc:title>
  <dc:creator>Microsoft 帐户</dc:creator>
  <cp:lastModifiedBy>Microsoft 帐户</cp:lastModifiedBy>
  <cp:revision>2</cp:revision>
  <dcterms:created xsi:type="dcterms:W3CDTF">2023-04-10T00:45:45Z</dcterms:created>
  <dcterms:modified xsi:type="dcterms:W3CDTF">2023-04-10T00:46:37Z</dcterms:modified>
</cp:coreProperties>
</file>