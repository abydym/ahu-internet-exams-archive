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68" r:id="rId3"/>
    <p:sldId id="267" r:id="rId4"/>
    <p:sldId id="269" r:id="rId5"/>
    <p:sldId id="270" r:id="rId6"/>
    <p:sldId id="271" r:id="rId7"/>
    <p:sldId id="272" r:id="rId8"/>
    <p:sldId id="273" r:id="rId9"/>
    <p:sldId id="274" r:id="rId10"/>
    <p:sldId id="275" r:id="rId11"/>
    <p:sldId id="276" r:id="rId12"/>
    <p:sldId id="277" r:id="rId13"/>
    <p:sldId id="278" r:id="rId14"/>
    <p:sldId id="279"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5" d="100"/>
          <a:sy n="155" d="100"/>
        </p:scale>
        <p:origin x="272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554892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2420020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593667" y="6272784"/>
            <a:ext cx="2644309" cy="365125"/>
          </a:xfrm>
        </p:spPr>
        <p:txBody>
          <a:bodyPr/>
          <a:lstStyle/>
          <a:p>
            <a:fld id="{A153F48B-59A1-4145-A4CD-EFD5000F1264}" type="datetimeFigureOut">
              <a:rPr lang="zh-CN" altLang="en-US" smtClean="0"/>
              <a:t>2024/11/28</a:t>
            </a:fld>
            <a:endParaRPr lang="zh-CN" altLang="en-US"/>
          </a:p>
        </p:txBody>
      </p:sp>
      <p:sp>
        <p:nvSpPr>
          <p:cNvPr id="5" name="Footer Placeholder 4"/>
          <p:cNvSpPr>
            <a:spLocks noGrp="1"/>
          </p:cNvSpPr>
          <p:nvPr>
            <p:ph type="ftr" sz="quarter" idx="11"/>
          </p:nvPr>
        </p:nvSpPr>
        <p:spPr>
          <a:xfrm>
            <a:off x="2182708" y="6272784"/>
            <a:ext cx="6327648" cy="365125"/>
          </a:xfrm>
        </p:spPr>
        <p:txBody>
          <a:bodyPr/>
          <a:lstStyle/>
          <a:p>
            <a:endParaRPr lang="zh-CN" alt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534951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1494070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31346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1676230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2595849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a:t>单击此处编辑母版标题样式</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6" name="Footer Placeholder 5"/>
          <p:cNvSpPr>
            <a:spLocks noGrp="1"/>
          </p:cNvSpPr>
          <p:nvPr>
            <p:ph type="ftr" sz="quarter" idx="11"/>
          </p:nvPr>
        </p:nvSpPr>
        <p:spPr/>
        <p:txBody>
          <a:bodyPr/>
          <a:lstStyle/>
          <a:p>
            <a:endParaRPr lang="zh-CN" alt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233184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153F48B-59A1-4145-A4CD-EFD5000F1264}" type="datetimeFigureOut">
              <a:rPr lang="zh-CN" altLang="en-US" smtClean="0"/>
              <a:t>2024/11/28</a:t>
            </a:fld>
            <a:endParaRPr lang="zh-CN" alt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802196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608378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153F48B-59A1-4145-A4CD-EFD5000F1264}" type="datetimeFigureOut">
              <a:rPr lang="zh-CN" altLang="en-US" smtClean="0"/>
              <a:t>2024/11/28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3386452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153F48B-59A1-4145-A4CD-EFD5000F1264}" type="datetimeFigureOut">
              <a:rPr lang="zh-CN" altLang="en-US" smtClean="0"/>
              <a:t>2024/11/28</a:t>
            </a:fld>
            <a:endParaRPr lang="zh-CN" alt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zh-CN" alt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FD466EF7-843D-440F-B567-B6466BA2AC9B}" type="slidenum">
              <a:rPr lang="zh-CN" altLang="en-US" smtClean="0"/>
              <a:t>‹#›</a:t>
            </a:fld>
            <a:endParaRPr lang="zh-CN" altLang="en-US"/>
          </a:p>
        </p:txBody>
      </p:sp>
    </p:spTree>
    <p:extLst>
      <p:ext uri="{BB962C8B-B14F-4D97-AF65-F5344CB8AC3E}">
        <p14:creationId xmlns:p14="http://schemas.microsoft.com/office/powerpoint/2010/main" val="12612378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sz="8800" dirty="0"/>
              <a:t>第六章 同步</a:t>
            </a:r>
          </a:p>
        </p:txBody>
      </p:sp>
    </p:spTree>
    <p:extLst>
      <p:ext uri="{BB962C8B-B14F-4D97-AF65-F5344CB8AC3E}">
        <p14:creationId xmlns:p14="http://schemas.microsoft.com/office/powerpoint/2010/main" val="2106840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80EC172-30D9-54A4-C8E4-B0D0F4502A65}"/>
              </a:ext>
            </a:extLst>
          </p:cNvPr>
          <p:cNvSpPr>
            <a:spLocks noGrp="1"/>
          </p:cNvSpPr>
          <p:nvPr>
            <p:ph type="title"/>
          </p:nvPr>
        </p:nvSpPr>
        <p:spPr>
          <a:xfrm>
            <a:off x="1066798" y="0"/>
            <a:ext cx="10058400" cy="1609344"/>
          </a:xfrm>
        </p:spPr>
        <p:txBody>
          <a:bodyPr/>
          <a:lstStyle/>
          <a:p>
            <a:r>
              <a:rPr lang="en-US" altLang="zh-CN" dirty="0"/>
              <a:t>6.1 </a:t>
            </a:r>
            <a:r>
              <a:rPr lang="en-US" altLang="zh-CN" dirty="0" err="1" smtClean="0"/>
              <a:t>Mutexs</a:t>
            </a:r>
            <a:endParaRPr lang="zh-CN" altLang="en-US" dirty="0"/>
          </a:p>
        </p:txBody>
      </p:sp>
      <p:sp>
        <p:nvSpPr>
          <p:cNvPr id="3" name="内容占位符 2">
            <a:extLst>
              <a:ext uri="{FF2B5EF4-FFF2-40B4-BE49-F238E27FC236}">
                <a16:creationId xmlns:a16="http://schemas.microsoft.com/office/drawing/2014/main" xmlns="" id="{96BAD4CB-C89C-17E7-6F27-112BC133CEC4}"/>
              </a:ext>
            </a:extLst>
          </p:cNvPr>
          <p:cNvSpPr>
            <a:spLocks noGrp="1"/>
          </p:cNvSpPr>
          <p:nvPr>
            <p:ph idx="1"/>
          </p:nvPr>
        </p:nvSpPr>
        <p:spPr>
          <a:xfrm>
            <a:off x="1066798" y="1470212"/>
            <a:ext cx="9896276" cy="4652682"/>
          </a:xfrm>
        </p:spPr>
        <p:txBody>
          <a:bodyPr>
            <a:noAutofit/>
          </a:bodyPr>
          <a:lstStyle/>
          <a:p>
            <a:pPr algn="just">
              <a:lnSpc>
                <a:spcPct val="150000"/>
              </a:lnSpc>
            </a:pPr>
            <a:r>
              <a:rPr lang="en-US" altLang="zh-CN" dirty="0"/>
              <a:t>Synchronization is normally needed to allow the sharing of data between threads processes. Mutexes and condition variables are the building blocks of synchronization.</a:t>
            </a:r>
          </a:p>
          <a:p>
            <a:pPr algn="just">
              <a:lnSpc>
                <a:spcPct val="150000"/>
              </a:lnSpc>
            </a:pPr>
            <a:r>
              <a:rPr lang="en-US" altLang="zh-CN" b="1" dirty="0"/>
              <a:t>6.1.1 Mutexes: Locking and Unlocking</a:t>
            </a:r>
          </a:p>
          <a:p>
            <a:pPr algn="just">
              <a:lnSpc>
                <a:spcPct val="150000"/>
              </a:lnSpc>
            </a:pPr>
            <a:r>
              <a:rPr lang="en-US" altLang="zh-CN" dirty="0"/>
              <a:t>A </a:t>
            </a:r>
            <a:r>
              <a:rPr lang="en-US" altLang="zh-CN" b="1" dirty="0"/>
              <a:t>mutex</a:t>
            </a:r>
            <a:r>
              <a:rPr lang="en-US" altLang="zh-CN" dirty="0"/>
              <a:t>, which stands for mutual exclusion, is the most basic of synchronization. A mutex is used to protect a </a:t>
            </a:r>
            <a:r>
              <a:rPr lang="en-US" altLang="zh-CN" b="1" dirty="0"/>
              <a:t>critical region</a:t>
            </a:r>
            <a:r>
              <a:rPr lang="en-US" altLang="zh-CN" dirty="0"/>
              <a:t>, to make certain that only one thread at a time executes the code within the region or that only one process at a time executes the code within the region. The normal outline of code to protect critical region looks like:</a:t>
            </a:r>
            <a:endParaRPr lang="zh-CN" altLang="en-US" dirty="0"/>
          </a:p>
        </p:txBody>
      </p:sp>
    </p:spTree>
    <p:extLst>
      <p:ext uri="{BB962C8B-B14F-4D97-AF65-F5344CB8AC3E}">
        <p14:creationId xmlns:p14="http://schemas.microsoft.com/office/powerpoint/2010/main" val="3185155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96BAD4CB-C89C-17E7-6F27-112BC133CEC4}"/>
              </a:ext>
            </a:extLst>
          </p:cNvPr>
          <p:cNvSpPr>
            <a:spLocks noGrp="1"/>
          </p:cNvSpPr>
          <p:nvPr>
            <p:ph idx="1"/>
          </p:nvPr>
        </p:nvSpPr>
        <p:spPr>
          <a:xfrm>
            <a:off x="780690" y="1033093"/>
            <a:ext cx="10630619" cy="4791813"/>
          </a:xfrm>
        </p:spPr>
        <p:txBody>
          <a:bodyPr>
            <a:normAutofit/>
          </a:bodyPr>
          <a:lstStyle/>
          <a:p>
            <a:pPr marL="0" indent="0" algn="just">
              <a:lnSpc>
                <a:spcPct val="100000"/>
              </a:lnSpc>
              <a:buNone/>
            </a:pPr>
            <a:r>
              <a:rPr lang="en-US" altLang="zh-CN" i="1" dirty="0" err="1"/>
              <a:t>lock_the_mutex</a:t>
            </a:r>
            <a:r>
              <a:rPr lang="en-US" altLang="zh-CN" i="1" dirty="0"/>
              <a:t>(…);</a:t>
            </a:r>
          </a:p>
          <a:p>
            <a:pPr marL="0" indent="0" algn="just">
              <a:lnSpc>
                <a:spcPct val="100000"/>
              </a:lnSpc>
              <a:buNone/>
            </a:pPr>
            <a:r>
              <a:rPr lang="en-US" altLang="zh-CN" i="1" dirty="0"/>
              <a:t>critical region;</a:t>
            </a:r>
          </a:p>
          <a:p>
            <a:pPr marL="0" indent="0" algn="just">
              <a:lnSpc>
                <a:spcPct val="100000"/>
              </a:lnSpc>
              <a:buNone/>
            </a:pPr>
            <a:r>
              <a:rPr lang="en-US" altLang="zh-CN" i="1" dirty="0" err="1"/>
              <a:t>unlock_the_mutex</a:t>
            </a:r>
            <a:r>
              <a:rPr lang="en-US" altLang="zh-CN" i="1" dirty="0"/>
              <a:t>(…);</a:t>
            </a:r>
          </a:p>
          <a:p>
            <a:pPr algn="just">
              <a:lnSpc>
                <a:spcPct val="150000"/>
              </a:lnSpc>
            </a:pPr>
            <a:r>
              <a:rPr lang="en-US" altLang="zh-CN" dirty="0"/>
              <a:t>Since only one thread at a time can lock a given mutex, this guarantees that only one thread at a time can be executing the instructions within the critical region.</a:t>
            </a:r>
          </a:p>
          <a:p>
            <a:pPr algn="just">
              <a:lnSpc>
                <a:spcPct val="150000"/>
              </a:lnSpc>
            </a:pPr>
            <a:r>
              <a:rPr lang="en-US" altLang="zh-CN" dirty="0" err="1"/>
              <a:t>Posix</a:t>
            </a:r>
            <a:r>
              <a:rPr lang="en-US" altLang="zh-CN" dirty="0"/>
              <a:t> mutexes are declared as a variables with a datatype of </a:t>
            </a:r>
            <a:r>
              <a:rPr lang="en-US" altLang="zh-CN" i="1" dirty="0" err="1"/>
              <a:t>pthread_mutex_t</a:t>
            </a:r>
            <a:r>
              <a:rPr lang="en-US" altLang="zh-CN" dirty="0"/>
              <a:t>. If the mutex variable is statically allocated, we can initialize it to the constant </a:t>
            </a:r>
            <a:r>
              <a:rPr lang="en-US" altLang="zh-CN" i="1" dirty="0"/>
              <a:t>PTHREAD_MUTEX_INITIALIZER </a:t>
            </a:r>
            <a:r>
              <a:rPr lang="en-US" altLang="zh-CN" dirty="0"/>
              <a:t>as in </a:t>
            </a:r>
          </a:p>
          <a:p>
            <a:pPr marL="0" indent="0" algn="just">
              <a:lnSpc>
                <a:spcPct val="150000"/>
              </a:lnSpc>
              <a:buNone/>
            </a:pPr>
            <a:r>
              <a:rPr lang="en-US" altLang="zh-CN" i="1" dirty="0"/>
              <a:t>	static </a:t>
            </a:r>
            <a:r>
              <a:rPr lang="en-US" altLang="zh-CN" i="1" dirty="0" err="1"/>
              <a:t>pthread_mutex_t</a:t>
            </a:r>
            <a:r>
              <a:rPr lang="en-US" altLang="zh-CN" i="1" dirty="0"/>
              <a:t> lock = PTHREAD_MUTEX_INITIALIZER;</a:t>
            </a:r>
            <a:endParaRPr lang="zh-CN" altLang="en-US" i="1" dirty="0"/>
          </a:p>
        </p:txBody>
      </p:sp>
    </p:spTree>
    <p:extLst>
      <p:ext uri="{BB962C8B-B14F-4D97-AF65-F5344CB8AC3E}">
        <p14:creationId xmlns:p14="http://schemas.microsoft.com/office/powerpoint/2010/main" val="2899572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96BAD4CB-C89C-17E7-6F27-112BC133CEC4}"/>
              </a:ext>
            </a:extLst>
          </p:cNvPr>
          <p:cNvSpPr>
            <a:spLocks noGrp="1"/>
          </p:cNvSpPr>
          <p:nvPr>
            <p:ph idx="1"/>
          </p:nvPr>
        </p:nvSpPr>
        <p:spPr>
          <a:xfrm>
            <a:off x="780690" y="844834"/>
            <a:ext cx="10630619" cy="5036013"/>
          </a:xfrm>
        </p:spPr>
        <p:txBody>
          <a:bodyPr>
            <a:normAutofit lnSpcReduction="10000"/>
          </a:bodyPr>
          <a:lstStyle/>
          <a:p>
            <a:pPr algn="just">
              <a:lnSpc>
                <a:spcPct val="150000"/>
              </a:lnSpc>
            </a:pPr>
            <a:r>
              <a:rPr lang="en-US" altLang="zh-CN" dirty="0"/>
              <a:t>The following functions initialize, destroy, lock, and unlock a mutex:</a:t>
            </a:r>
          </a:p>
          <a:p>
            <a:pPr marL="0" indent="0" algn="just">
              <a:lnSpc>
                <a:spcPct val="150000"/>
              </a:lnSpc>
              <a:buNone/>
            </a:pPr>
            <a:r>
              <a:rPr lang="en-US" altLang="zh-CN" i="1" dirty="0"/>
              <a:t>#include &lt;</a:t>
            </a:r>
            <a:r>
              <a:rPr lang="en-US" altLang="zh-CN" i="1" dirty="0" err="1"/>
              <a:t>pthread.h</a:t>
            </a:r>
            <a:r>
              <a:rPr lang="en-US" altLang="zh-CN" i="1" dirty="0"/>
              <a:t>&gt;</a:t>
            </a:r>
          </a:p>
          <a:p>
            <a:pPr marL="0" indent="0" algn="just">
              <a:lnSpc>
                <a:spcPct val="150000"/>
              </a:lnSpc>
              <a:buNone/>
            </a:pPr>
            <a:r>
              <a:rPr lang="en-US" altLang="zh-CN" i="1" dirty="0"/>
              <a:t>int </a:t>
            </a:r>
            <a:r>
              <a:rPr lang="en-US" altLang="zh-CN" i="1" dirty="0" err="1"/>
              <a:t>pthread_mutex_init</a:t>
            </a:r>
            <a:r>
              <a:rPr lang="en-US" altLang="zh-CN" i="1" dirty="0"/>
              <a:t>(</a:t>
            </a:r>
            <a:r>
              <a:rPr lang="en-US" altLang="zh-CN" i="1" dirty="0" err="1"/>
              <a:t>pthread_mutex_t</a:t>
            </a:r>
            <a:r>
              <a:rPr lang="en-US" altLang="zh-CN" i="1" dirty="0"/>
              <a:t> * </a:t>
            </a:r>
            <a:r>
              <a:rPr lang="en-US" altLang="zh-CN" i="1" dirty="0" err="1"/>
              <a:t>mptr</a:t>
            </a:r>
            <a:r>
              <a:rPr lang="en-US" altLang="zh-CN" i="1" dirty="0"/>
              <a:t>, </a:t>
            </a:r>
            <a:r>
              <a:rPr lang="en-US" altLang="zh-CN" i="1" dirty="0" err="1"/>
              <a:t>const_mutexattr_t</a:t>
            </a:r>
            <a:r>
              <a:rPr lang="en-US" altLang="zh-CN" i="1" dirty="0"/>
              <a:t> * </a:t>
            </a:r>
            <a:r>
              <a:rPr lang="en-US" altLang="zh-CN" i="1" dirty="0" err="1"/>
              <a:t>attr</a:t>
            </a:r>
            <a:r>
              <a:rPr lang="en-US" altLang="zh-CN" i="1" dirty="0"/>
              <a:t>);</a:t>
            </a:r>
          </a:p>
          <a:p>
            <a:pPr marL="0" indent="0" algn="just">
              <a:lnSpc>
                <a:spcPct val="150000"/>
              </a:lnSpc>
              <a:buNone/>
            </a:pPr>
            <a:r>
              <a:rPr lang="en-US" altLang="zh-CN" i="1" dirty="0"/>
              <a:t>int </a:t>
            </a:r>
            <a:r>
              <a:rPr lang="en-US" altLang="zh-CN" i="1" dirty="0" err="1"/>
              <a:t>pthread_mutex_destroy</a:t>
            </a:r>
            <a:r>
              <a:rPr lang="en-US" altLang="zh-CN" i="1" dirty="0"/>
              <a:t>(</a:t>
            </a:r>
            <a:r>
              <a:rPr lang="en-US" altLang="zh-CN" i="1" dirty="0" err="1"/>
              <a:t>pthread_mutex_t</a:t>
            </a:r>
            <a:r>
              <a:rPr lang="en-US" altLang="zh-CN" i="1" dirty="0"/>
              <a:t> * </a:t>
            </a:r>
            <a:r>
              <a:rPr lang="en-US" altLang="zh-CN" i="1" dirty="0" err="1"/>
              <a:t>mptr</a:t>
            </a:r>
            <a:r>
              <a:rPr lang="en-US" altLang="zh-CN" i="1" dirty="0"/>
              <a:t>);</a:t>
            </a:r>
          </a:p>
          <a:p>
            <a:pPr marL="0" indent="0" algn="just">
              <a:lnSpc>
                <a:spcPct val="150000"/>
              </a:lnSpc>
              <a:buNone/>
            </a:pPr>
            <a:r>
              <a:rPr lang="en-US" altLang="zh-CN" i="1" dirty="0" err="1" smtClean="0"/>
              <a:t>int</a:t>
            </a:r>
            <a:r>
              <a:rPr lang="en-US" altLang="zh-CN" i="1" dirty="0" smtClean="0"/>
              <a:t> </a:t>
            </a:r>
            <a:r>
              <a:rPr lang="en-US" altLang="zh-CN" i="1" dirty="0" err="1"/>
              <a:t>pthread_mutex_lock</a:t>
            </a:r>
            <a:r>
              <a:rPr lang="en-US" altLang="zh-CN" i="1" dirty="0"/>
              <a:t>(</a:t>
            </a:r>
            <a:r>
              <a:rPr lang="en-US" altLang="zh-CN" i="1" dirty="0" err="1"/>
              <a:t>pthread_mutex_t</a:t>
            </a:r>
            <a:r>
              <a:rPr lang="en-US" altLang="zh-CN" i="1" dirty="0"/>
              <a:t> * </a:t>
            </a:r>
            <a:r>
              <a:rPr lang="en-US" altLang="zh-CN" i="1" dirty="0" err="1"/>
              <a:t>mptr</a:t>
            </a:r>
            <a:r>
              <a:rPr lang="en-US" altLang="zh-CN" i="1" dirty="0"/>
              <a:t>);</a:t>
            </a:r>
          </a:p>
          <a:p>
            <a:pPr marL="0" indent="0" algn="just">
              <a:lnSpc>
                <a:spcPct val="150000"/>
              </a:lnSpc>
              <a:buNone/>
            </a:pPr>
            <a:r>
              <a:rPr lang="en-US" altLang="zh-CN" i="1" dirty="0"/>
              <a:t>int </a:t>
            </a:r>
            <a:r>
              <a:rPr lang="en-US" altLang="zh-CN" i="1" dirty="0" err="1"/>
              <a:t>pthread_mutex_unlock</a:t>
            </a:r>
            <a:r>
              <a:rPr lang="en-US" altLang="zh-CN" i="1" dirty="0"/>
              <a:t>(</a:t>
            </a:r>
            <a:r>
              <a:rPr lang="en-US" altLang="zh-CN" i="1" dirty="0" err="1"/>
              <a:t>pthread_mutex_t</a:t>
            </a:r>
            <a:r>
              <a:rPr lang="en-US" altLang="zh-CN" i="1" dirty="0"/>
              <a:t> * </a:t>
            </a:r>
            <a:r>
              <a:rPr lang="en-US" altLang="zh-CN" i="1" dirty="0" err="1"/>
              <a:t>mptr</a:t>
            </a:r>
            <a:r>
              <a:rPr lang="en-US" altLang="zh-CN" i="1" dirty="0"/>
              <a:t>);</a:t>
            </a:r>
          </a:p>
          <a:p>
            <a:pPr algn="just">
              <a:lnSpc>
                <a:spcPct val="150000"/>
              </a:lnSpc>
            </a:pPr>
            <a:r>
              <a:rPr lang="en-US" altLang="zh-CN" dirty="0"/>
              <a:t>If we try to lock a mutex that is already locked by some other thread, </a:t>
            </a:r>
            <a:r>
              <a:rPr lang="en-US" altLang="zh-CN" b="1" i="1" dirty="0" err="1"/>
              <a:t>pthread_mutex_lock</a:t>
            </a:r>
            <a:r>
              <a:rPr lang="en-US" altLang="zh-CN" b="1" i="1" dirty="0"/>
              <a:t> </a:t>
            </a:r>
            <a:r>
              <a:rPr lang="en-US" altLang="zh-CN" b="1" dirty="0"/>
              <a:t>blocks until the mutex is unlocked</a:t>
            </a:r>
            <a:r>
              <a:rPr lang="en-US" altLang="zh-CN" dirty="0"/>
              <a:t>. </a:t>
            </a:r>
            <a:r>
              <a:rPr lang="en-US" altLang="zh-CN" b="1" i="1" dirty="0" err="1"/>
              <a:t>pthread_mutex_trylock</a:t>
            </a:r>
            <a:r>
              <a:rPr lang="en-US" altLang="zh-CN" i="1" dirty="0"/>
              <a:t> </a:t>
            </a:r>
            <a:r>
              <a:rPr lang="en-US" altLang="zh-CN" dirty="0"/>
              <a:t>is a nonblocking function that </a:t>
            </a:r>
            <a:r>
              <a:rPr lang="en-US" altLang="zh-CN" b="1" dirty="0"/>
              <a:t>returns EBUSY if the mutex is already locked</a:t>
            </a:r>
            <a:r>
              <a:rPr lang="en-US" altLang="zh-CN" dirty="0"/>
              <a:t>.</a:t>
            </a:r>
          </a:p>
        </p:txBody>
      </p:sp>
    </p:spTree>
    <p:extLst>
      <p:ext uri="{BB962C8B-B14F-4D97-AF65-F5344CB8AC3E}">
        <p14:creationId xmlns:p14="http://schemas.microsoft.com/office/powerpoint/2010/main" val="109588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783EB7E4-3512-1BC7-7FC8-F63B40FE72DB}"/>
              </a:ext>
            </a:extLst>
          </p:cNvPr>
          <p:cNvSpPr>
            <a:spLocks noGrp="1"/>
          </p:cNvSpPr>
          <p:nvPr>
            <p:ph idx="1"/>
          </p:nvPr>
        </p:nvSpPr>
        <p:spPr>
          <a:xfrm>
            <a:off x="1066800" y="595902"/>
            <a:ext cx="10058400" cy="5247526"/>
          </a:xfrm>
        </p:spPr>
        <p:txBody>
          <a:bodyPr/>
          <a:lstStyle/>
          <a:p>
            <a:pPr algn="just">
              <a:lnSpc>
                <a:spcPct val="150000"/>
              </a:lnSpc>
            </a:pPr>
            <a:r>
              <a:rPr lang="en-US" altLang="zh-CN" b="1" dirty="0"/>
              <a:t>6.1.2 Producer-Consumer Problem</a:t>
            </a:r>
          </a:p>
          <a:p>
            <a:pPr algn="just">
              <a:lnSpc>
                <a:spcPct val="150000"/>
              </a:lnSpc>
            </a:pPr>
            <a:r>
              <a:rPr lang="en-US" altLang="zh-CN" dirty="0"/>
              <a:t>One or more producers (threads or processes) are creating data items that are then processed by one or more consumers.</a:t>
            </a:r>
          </a:p>
          <a:p>
            <a:pPr algn="just">
              <a:lnSpc>
                <a:spcPct val="150000"/>
              </a:lnSpc>
            </a:pPr>
            <a:r>
              <a:rPr lang="en-US" altLang="zh-CN" dirty="0"/>
              <a:t>We have multiple producer threads and a single consumer thread, in a single process. The integer array buff contains </a:t>
            </a:r>
            <a:r>
              <a:rPr lang="en-US" altLang="zh-CN"/>
              <a:t>the items </a:t>
            </a:r>
            <a:r>
              <a:rPr lang="en-US" altLang="zh-CN" dirty="0"/>
              <a:t>being produced and consumed (</a:t>
            </a:r>
            <a:r>
              <a:rPr lang="en-US" altLang="zh-CN" dirty="0" err="1"/>
              <a:t>i.e</a:t>
            </a:r>
            <a:r>
              <a:rPr lang="en-US" altLang="zh-CN" dirty="0"/>
              <a:t>, the shared data). </a:t>
            </a:r>
            <a:endParaRPr lang="zh-CN" altLang="en-US" dirty="0"/>
          </a:p>
        </p:txBody>
      </p:sp>
      <p:pic>
        <p:nvPicPr>
          <p:cNvPr id="5" name="图片 4">
            <a:extLst>
              <a:ext uri="{FF2B5EF4-FFF2-40B4-BE49-F238E27FC236}">
                <a16:creationId xmlns:a16="http://schemas.microsoft.com/office/drawing/2014/main" xmlns="" id="{EAB5BCB1-D04C-0035-32EB-940D806BA4DF}"/>
              </a:ext>
            </a:extLst>
          </p:cNvPr>
          <p:cNvPicPr>
            <a:picLocks noChangeAspect="1"/>
          </p:cNvPicPr>
          <p:nvPr/>
        </p:nvPicPr>
        <p:blipFill>
          <a:blip r:embed="rId2"/>
          <a:stretch>
            <a:fillRect/>
          </a:stretch>
        </p:blipFill>
        <p:spPr>
          <a:xfrm>
            <a:off x="2876860" y="3881811"/>
            <a:ext cx="6438280" cy="2580633"/>
          </a:xfrm>
          <a:prstGeom prst="rect">
            <a:avLst/>
          </a:prstGeom>
        </p:spPr>
      </p:pic>
    </p:spTree>
    <p:extLst>
      <p:ext uri="{BB962C8B-B14F-4D97-AF65-F5344CB8AC3E}">
        <p14:creationId xmlns:p14="http://schemas.microsoft.com/office/powerpoint/2010/main" val="70765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9848" y="53615"/>
            <a:ext cx="10058400" cy="727854"/>
          </a:xfrm>
        </p:spPr>
        <p:txBody>
          <a:bodyPr>
            <a:normAutofit fontScale="90000"/>
          </a:bodyPr>
          <a:lstStyle/>
          <a:p>
            <a:r>
              <a:rPr lang="en-US" altLang="zh-CN" dirty="0" smtClean="0"/>
              <a:t>6.2 Semaphores</a:t>
            </a:r>
            <a:endParaRPr lang="zh-CN" altLang="en-US" dirty="0"/>
          </a:p>
        </p:txBody>
      </p:sp>
      <p:sp>
        <p:nvSpPr>
          <p:cNvPr id="3" name="内容占位符 2"/>
          <p:cNvSpPr>
            <a:spLocks noGrp="1"/>
          </p:cNvSpPr>
          <p:nvPr>
            <p:ph idx="1"/>
          </p:nvPr>
        </p:nvSpPr>
        <p:spPr>
          <a:xfrm>
            <a:off x="1069848" y="781469"/>
            <a:ext cx="10058400" cy="4850952"/>
          </a:xfrm>
        </p:spPr>
        <p:txBody>
          <a:bodyPr/>
          <a:lstStyle/>
          <a:p>
            <a:pPr algn="just">
              <a:lnSpc>
                <a:spcPct val="150000"/>
              </a:lnSpc>
            </a:pPr>
            <a:r>
              <a:rPr lang="en-US" altLang="zh-CN" dirty="0" smtClean="0"/>
              <a:t>A semaphore is a primitive used to provide synchronization between various processes or between the various threads in a given process.</a:t>
            </a:r>
          </a:p>
          <a:p>
            <a:pPr algn="just">
              <a:lnSpc>
                <a:spcPct val="150000"/>
              </a:lnSpc>
            </a:pPr>
            <a:r>
              <a:rPr lang="en-US" altLang="zh-CN" dirty="0" smtClean="0"/>
              <a:t>In the following figure, we note three operations that a process can perform on a semaphore.</a:t>
            </a:r>
          </a:p>
          <a:p>
            <a:pPr marL="457200" indent="-457200" algn="just">
              <a:lnSpc>
                <a:spcPct val="150000"/>
              </a:lnSpc>
              <a:buAutoNum type="arabicParenBoth"/>
            </a:pPr>
            <a:r>
              <a:rPr lang="en-US" altLang="zh-CN" dirty="0" smtClean="0"/>
              <a:t>Create a semaphore. This is also requires the caller to specify the initial value.</a:t>
            </a:r>
          </a:p>
          <a:p>
            <a:pPr marL="457200" indent="-457200" algn="just">
              <a:lnSpc>
                <a:spcPct val="150000"/>
              </a:lnSpc>
              <a:buAutoNum type="arabicParenBoth"/>
            </a:pPr>
            <a:r>
              <a:rPr lang="en-US" altLang="zh-CN" dirty="0" smtClean="0"/>
              <a:t>Wait for a semaphore. This tests the value of the semaphore, waits(blocks).</a:t>
            </a:r>
          </a:p>
          <a:p>
            <a:pPr marL="457200" indent="-457200" algn="just">
              <a:lnSpc>
                <a:spcPct val="150000"/>
              </a:lnSpc>
              <a:buAutoNum type="arabicParenBoth"/>
            </a:pPr>
            <a:r>
              <a:rPr lang="en-US" altLang="zh-CN" dirty="0" smtClean="0"/>
              <a:t>Post to a semaphore. This increments the value of the semaphore.</a:t>
            </a:r>
          </a:p>
          <a:p>
            <a:pPr marL="457200" indent="-457200" algn="just">
              <a:lnSpc>
                <a:spcPct val="150000"/>
              </a:lnSpc>
              <a:buAutoNum type="arabicParenBoth"/>
            </a:pPr>
            <a:endParaRPr lang="zh-CN" altLang="en-US" dirty="0"/>
          </a:p>
        </p:txBody>
      </p:sp>
      <p:pic>
        <p:nvPicPr>
          <p:cNvPr id="4" name="图片 3"/>
          <p:cNvPicPr>
            <a:picLocks noChangeAspect="1"/>
          </p:cNvPicPr>
          <p:nvPr/>
        </p:nvPicPr>
        <p:blipFill>
          <a:blip r:embed="rId2"/>
          <a:stretch>
            <a:fillRect/>
          </a:stretch>
        </p:blipFill>
        <p:spPr>
          <a:xfrm>
            <a:off x="1129028" y="4763842"/>
            <a:ext cx="4705350" cy="1600200"/>
          </a:xfrm>
          <a:prstGeom prst="rect">
            <a:avLst/>
          </a:prstGeom>
        </p:spPr>
      </p:pic>
      <p:pic>
        <p:nvPicPr>
          <p:cNvPr id="5" name="图片 4"/>
          <p:cNvPicPr>
            <a:picLocks noChangeAspect="1"/>
          </p:cNvPicPr>
          <p:nvPr/>
        </p:nvPicPr>
        <p:blipFill>
          <a:blip r:embed="rId3"/>
          <a:stretch>
            <a:fillRect/>
          </a:stretch>
        </p:blipFill>
        <p:spPr>
          <a:xfrm>
            <a:off x="5901614" y="4763842"/>
            <a:ext cx="4781550" cy="1810170"/>
          </a:xfrm>
          <a:prstGeom prst="rect">
            <a:avLst/>
          </a:prstGeom>
        </p:spPr>
      </p:pic>
    </p:spTree>
    <p:extLst>
      <p:ext uri="{BB962C8B-B14F-4D97-AF65-F5344CB8AC3E}">
        <p14:creationId xmlns:p14="http://schemas.microsoft.com/office/powerpoint/2010/main" val="2200221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539778"/>
            <a:ext cx="10058400" cy="5632422"/>
          </a:xfrm>
        </p:spPr>
        <p:txBody>
          <a:bodyPr>
            <a:normAutofit/>
          </a:bodyPr>
          <a:lstStyle/>
          <a:p>
            <a:pPr algn="just">
              <a:lnSpc>
                <a:spcPct val="150000"/>
              </a:lnSpc>
            </a:pPr>
            <a:r>
              <a:rPr lang="en-US" altLang="zh-CN" dirty="0" smtClean="0"/>
              <a:t>A binary semaphore can be used for mutual exclusion, just like a </a:t>
            </a:r>
            <a:r>
              <a:rPr lang="en-US" altLang="zh-CN" dirty="0" err="1" smtClean="0"/>
              <a:t>mutex</a:t>
            </a:r>
            <a:r>
              <a:rPr lang="en-US" altLang="zh-CN" dirty="0"/>
              <a:t> </a:t>
            </a:r>
            <a:r>
              <a:rPr lang="en-US" altLang="zh-CN" dirty="0" smtClean="0"/>
              <a:t>as follows:</a:t>
            </a:r>
          </a:p>
          <a:p>
            <a:pPr algn="just">
              <a:lnSpc>
                <a:spcPct val="150000"/>
              </a:lnSpc>
            </a:pPr>
            <a:endParaRPr lang="en-US" altLang="zh-CN" dirty="0"/>
          </a:p>
          <a:p>
            <a:pPr algn="just">
              <a:lnSpc>
                <a:spcPct val="150000"/>
              </a:lnSpc>
            </a:pPr>
            <a:endParaRPr lang="en-US" altLang="zh-CN" dirty="0" smtClean="0"/>
          </a:p>
          <a:p>
            <a:pPr algn="just">
              <a:lnSpc>
                <a:spcPct val="150000"/>
              </a:lnSpc>
            </a:pPr>
            <a:r>
              <a:rPr lang="en-US" altLang="zh-CN" dirty="0" smtClean="0"/>
              <a:t>We initialize the semaphore to 1. The call to </a:t>
            </a:r>
            <a:r>
              <a:rPr lang="en-US" altLang="zh-CN" i="1" dirty="0" err="1" smtClean="0"/>
              <a:t>sem_wait</a:t>
            </a:r>
            <a:r>
              <a:rPr lang="en-US" altLang="zh-CN" dirty="0" smtClean="0"/>
              <a:t> waits for the value to be greater than 0 and then decrements the value. The call to </a:t>
            </a:r>
            <a:r>
              <a:rPr lang="en-US" altLang="zh-CN" i="1" dirty="0" err="1" smtClean="0"/>
              <a:t>sem_post</a:t>
            </a:r>
            <a:r>
              <a:rPr lang="en-US" altLang="zh-CN" dirty="0" smtClean="0"/>
              <a:t> increments the value and wakes up any threads blocked in a call to </a:t>
            </a:r>
            <a:r>
              <a:rPr lang="en-US" altLang="zh-CN" i="1" dirty="0" err="1" smtClean="0"/>
              <a:t>sem_wait</a:t>
            </a:r>
            <a:r>
              <a:rPr lang="en-US" altLang="zh-CN" dirty="0" smtClean="0"/>
              <a:t> for this semaphore.</a:t>
            </a:r>
          </a:p>
          <a:p>
            <a:pPr marL="0" indent="0" algn="just">
              <a:lnSpc>
                <a:spcPct val="150000"/>
              </a:lnSpc>
              <a:buNone/>
            </a:pPr>
            <a:r>
              <a:rPr lang="en-US" altLang="zh-CN" dirty="0" smtClean="0"/>
              <a:t>#include &lt;</a:t>
            </a:r>
            <a:r>
              <a:rPr lang="en-US" altLang="zh-CN" dirty="0" err="1" smtClean="0"/>
              <a:t>semaphore.h</a:t>
            </a:r>
            <a:r>
              <a:rPr lang="en-US" altLang="zh-CN" dirty="0" smtClean="0"/>
              <a:t>&gt;</a:t>
            </a:r>
          </a:p>
          <a:p>
            <a:pPr marL="0" indent="0" algn="just">
              <a:lnSpc>
                <a:spcPct val="150000"/>
              </a:lnSpc>
              <a:buNone/>
            </a:pPr>
            <a:r>
              <a:rPr lang="en-US" altLang="zh-CN" dirty="0" err="1" smtClean="0"/>
              <a:t>int</a:t>
            </a:r>
            <a:r>
              <a:rPr lang="en-US" altLang="zh-CN" dirty="0" smtClean="0"/>
              <a:t> </a:t>
            </a:r>
            <a:r>
              <a:rPr lang="en-US" altLang="zh-CN" dirty="0" err="1" smtClean="0"/>
              <a:t>sem_init</a:t>
            </a:r>
            <a:r>
              <a:rPr lang="en-US" altLang="zh-CN" dirty="0" smtClean="0"/>
              <a:t>(</a:t>
            </a:r>
            <a:r>
              <a:rPr lang="en-US" altLang="zh-CN" dirty="0" err="1" smtClean="0"/>
              <a:t>sem_t</a:t>
            </a:r>
            <a:r>
              <a:rPr lang="en-US" altLang="zh-CN" dirty="0" smtClean="0"/>
              <a:t> * </a:t>
            </a:r>
            <a:r>
              <a:rPr lang="en-US" altLang="zh-CN" dirty="0" err="1" smtClean="0"/>
              <a:t>sem</a:t>
            </a:r>
            <a:r>
              <a:rPr lang="en-US" altLang="zh-CN" dirty="0" smtClean="0"/>
              <a:t>, </a:t>
            </a:r>
            <a:r>
              <a:rPr lang="en-US" altLang="zh-CN" dirty="0" err="1" smtClean="0"/>
              <a:t>int</a:t>
            </a:r>
            <a:r>
              <a:rPr lang="en-US" altLang="zh-CN" dirty="0" smtClean="0"/>
              <a:t> shared, unsigned </a:t>
            </a:r>
            <a:r>
              <a:rPr lang="en-US" altLang="zh-CN" dirty="0" err="1" smtClean="0"/>
              <a:t>int</a:t>
            </a:r>
            <a:r>
              <a:rPr lang="en-US" altLang="zh-CN" dirty="0" smtClean="0"/>
              <a:t> value);</a:t>
            </a:r>
          </a:p>
          <a:p>
            <a:pPr marL="0" indent="0" algn="just">
              <a:lnSpc>
                <a:spcPct val="150000"/>
              </a:lnSpc>
              <a:buNone/>
            </a:pPr>
            <a:r>
              <a:rPr lang="en-US" altLang="zh-CN" dirty="0" err="1" smtClean="0"/>
              <a:t>int</a:t>
            </a:r>
            <a:r>
              <a:rPr lang="en-US" altLang="zh-CN" dirty="0" smtClean="0"/>
              <a:t> </a:t>
            </a:r>
            <a:r>
              <a:rPr lang="en-US" altLang="zh-CN" dirty="0" err="1" smtClean="0"/>
              <a:t>sem_destroy</a:t>
            </a:r>
            <a:r>
              <a:rPr lang="en-US" altLang="zh-CN" dirty="0" smtClean="0"/>
              <a:t>(</a:t>
            </a:r>
            <a:r>
              <a:rPr lang="en-US" altLang="zh-CN" dirty="0" err="1" smtClean="0"/>
              <a:t>sem_t</a:t>
            </a:r>
            <a:r>
              <a:rPr lang="en-US" altLang="zh-CN" dirty="0" smtClean="0"/>
              <a:t> * </a:t>
            </a:r>
            <a:r>
              <a:rPr lang="en-US" altLang="zh-CN" dirty="0" err="1" smtClean="0"/>
              <a:t>sem</a:t>
            </a:r>
            <a:r>
              <a:rPr lang="en-US" altLang="zh-CN" dirty="0" smtClean="0"/>
              <a:t>);</a:t>
            </a:r>
          </a:p>
          <a:p>
            <a:pPr algn="just">
              <a:lnSpc>
                <a:spcPct val="150000"/>
              </a:lnSpc>
            </a:pPr>
            <a:endParaRPr lang="en-US" altLang="zh-CN" dirty="0"/>
          </a:p>
          <a:p>
            <a:pPr algn="just">
              <a:lnSpc>
                <a:spcPct val="150000"/>
              </a:lnSpc>
            </a:pPr>
            <a:endParaRPr lang="zh-CN" altLang="en-US" dirty="0"/>
          </a:p>
        </p:txBody>
      </p:sp>
      <p:pic>
        <p:nvPicPr>
          <p:cNvPr id="4" name="图片 3"/>
          <p:cNvPicPr>
            <a:picLocks noChangeAspect="1"/>
          </p:cNvPicPr>
          <p:nvPr/>
        </p:nvPicPr>
        <p:blipFill>
          <a:blip r:embed="rId2"/>
          <a:stretch>
            <a:fillRect/>
          </a:stretch>
        </p:blipFill>
        <p:spPr>
          <a:xfrm>
            <a:off x="2965323" y="1282875"/>
            <a:ext cx="6267450" cy="981075"/>
          </a:xfrm>
          <a:prstGeom prst="rect">
            <a:avLst/>
          </a:prstGeom>
        </p:spPr>
      </p:pic>
    </p:spTree>
    <p:extLst>
      <p:ext uri="{BB962C8B-B14F-4D97-AF65-F5344CB8AC3E}">
        <p14:creationId xmlns:p14="http://schemas.microsoft.com/office/powerpoint/2010/main" val="2643098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2607" y="721046"/>
            <a:ext cx="10386335" cy="5386702"/>
          </a:xfrm>
        </p:spPr>
        <p:txBody>
          <a:bodyPr>
            <a:normAutofit fontScale="92500" lnSpcReduction="20000"/>
          </a:bodyPr>
          <a:lstStyle/>
          <a:p>
            <a:pPr algn="just">
              <a:lnSpc>
                <a:spcPct val="150000"/>
              </a:lnSpc>
            </a:pPr>
            <a:r>
              <a:rPr lang="en-US" altLang="zh-CN" dirty="0"/>
              <a:t>A memory-based semaphore is initialized by </a:t>
            </a:r>
            <a:r>
              <a:rPr lang="en-US" altLang="zh-CN" dirty="0" err="1"/>
              <a:t>sem_init</a:t>
            </a:r>
            <a:r>
              <a:rPr lang="en-US" altLang="zh-CN" dirty="0"/>
              <a:t>. The </a:t>
            </a:r>
            <a:r>
              <a:rPr lang="en-US" altLang="zh-CN" dirty="0" err="1"/>
              <a:t>sem</a:t>
            </a:r>
            <a:r>
              <a:rPr lang="en-US" altLang="zh-CN" dirty="0"/>
              <a:t> argument points to the </a:t>
            </a:r>
            <a:r>
              <a:rPr lang="en-US" altLang="zh-CN" dirty="0" err="1"/>
              <a:t>sem_t</a:t>
            </a:r>
            <a:r>
              <a:rPr lang="en-US" altLang="zh-CN" dirty="0"/>
              <a:t> variable that the application must allocate. </a:t>
            </a:r>
            <a:r>
              <a:rPr lang="en-US" altLang="zh-CN" b="1" dirty="0">
                <a:solidFill>
                  <a:srgbClr val="FF0000"/>
                </a:solidFill>
              </a:rPr>
              <a:t>If shared is 0, then the semaphore is shared between the thread of a process, else the semaphore is shared between processes</a:t>
            </a:r>
            <a:r>
              <a:rPr lang="en-US" altLang="zh-CN" dirty="0" smtClean="0"/>
              <a:t>. When shared is nonzero, then the semaphore must be stored in some type of shared memory that is accessible to all the processes that will be using the semaphore. As with </a:t>
            </a:r>
            <a:r>
              <a:rPr lang="en-US" altLang="zh-CN" i="1" dirty="0" err="1" smtClean="0"/>
              <a:t>sem_open</a:t>
            </a:r>
            <a:r>
              <a:rPr lang="en-US" altLang="zh-CN" dirty="0" smtClean="0"/>
              <a:t>, the value argument is the initial value of the semaphore.</a:t>
            </a:r>
          </a:p>
          <a:p>
            <a:pPr algn="just">
              <a:lnSpc>
                <a:spcPct val="150000"/>
              </a:lnSpc>
            </a:pPr>
            <a:r>
              <a:rPr lang="en-US" altLang="zh-CN" dirty="0" smtClean="0"/>
              <a:t>When we are done with a memory-based semaphore, </a:t>
            </a:r>
            <a:r>
              <a:rPr lang="en-US" altLang="zh-CN" dirty="0" err="1" smtClean="0"/>
              <a:t>sem_destroy</a:t>
            </a:r>
            <a:r>
              <a:rPr lang="en-US" altLang="zh-CN" dirty="0" smtClean="0"/>
              <a:t> destroys it.</a:t>
            </a:r>
          </a:p>
          <a:p>
            <a:pPr algn="just">
              <a:lnSpc>
                <a:spcPct val="150000"/>
              </a:lnSpc>
            </a:pPr>
            <a:r>
              <a:rPr lang="en-US" altLang="zh-CN" dirty="0" smtClean="0"/>
              <a:t>If a memory-based semaphore is being shared between the threads of a single process, then the semaphore has process persistence and disappears when the process terminates.</a:t>
            </a:r>
          </a:p>
          <a:p>
            <a:pPr algn="just">
              <a:lnSpc>
                <a:spcPct val="150000"/>
              </a:lnSpc>
            </a:pPr>
            <a:r>
              <a:rPr lang="en-US" altLang="zh-CN" dirty="0" smtClean="0"/>
              <a:t>If a memory-based semaphore is being shared between different processes, then the semaphore must be stored in shared memory and the semaphore remains in existence as long as the shared memory remains in existence.</a:t>
            </a:r>
            <a:endParaRPr lang="en-US" altLang="zh-CN" dirty="0"/>
          </a:p>
          <a:p>
            <a:pPr algn="just">
              <a:lnSpc>
                <a:spcPct val="150000"/>
              </a:lnSpc>
            </a:pPr>
            <a:endParaRPr lang="zh-CN" altLang="en-US" dirty="0"/>
          </a:p>
        </p:txBody>
      </p:sp>
    </p:spTree>
    <p:extLst>
      <p:ext uri="{BB962C8B-B14F-4D97-AF65-F5344CB8AC3E}">
        <p14:creationId xmlns:p14="http://schemas.microsoft.com/office/powerpoint/2010/main" val="593892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7904" y="636454"/>
            <a:ext cx="10058400" cy="5366561"/>
          </a:xfrm>
        </p:spPr>
        <p:txBody>
          <a:bodyPr/>
          <a:lstStyle/>
          <a:p>
            <a:pPr algn="just">
              <a:lnSpc>
                <a:spcPct val="150000"/>
              </a:lnSpc>
            </a:pPr>
            <a:r>
              <a:rPr lang="en-US" altLang="zh-CN" dirty="0" smtClean="0"/>
              <a:t>The </a:t>
            </a:r>
            <a:r>
              <a:rPr lang="en-US" altLang="zh-CN" dirty="0" err="1" smtClean="0"/>
              <a:t>sem_wait</a:t>
            </a:r>
            <a:r>
              <a:rPr lang="en-US" altLang="zh-CN" dirty="0" smtClean="0"/>
              <a:t> function tests the value of the specified semaphore, and if the value is greater than 0, the value is decremented and the function returns immediately. If the value is 0 when the function is called, the calling thread is put to sleep until the semaphore value is greater than 0, at which time it will be decremented, and the function then returns.</a:t>
            </a:r>
          </a:p>
          <a:p>
            <a:pPr marL="0" indent="0" algn="just">
              <a:lnSpc>
                <a:spcPct val="150000"/>
              </a:lnSpc>
              <a:buNone/>
            </a:pPr>
            <a:r>
              <a:rPr lang="en-US" altLang="zh-CN" i="1" dirty="0" err="1" smtClean="0"/>
              <a:t>int</a:t>
            </a:r>
            <a:r>
              <a:rPr lang="en-US" altLang="zh-CN" i="1" dirty="0" smtClean="0"/>
              <a:t> </a:t>
            </a:r>
            <a:r>
              <a:rPr lang="en-US" altLang="zh-CN" i="1" dirty="0" err="1" smtClean="0"/>
              <a:t>sem_wait</a:t>
            </a:r>
            <a:r>
              <a:rPr lang="en-US" altLang="zh-CN" i="1" dirty="0" smtClean="0"/>
              <a:t>(</a:t>
            </a:r>
            <a:r>
              <a:rPr lang="en-US" altLang="zh-CN" i="1" dirty="0" err="1" smtClean="0"/>
              <a:t>sem_t</a:t>
            </a:r>
            <a:r>
              <a:rPr lang="en-US" altLang="zh-CN" i="1" dirty="0" smtClean="0"/>
              <a:t> *</a:t>
            </a:r>
            <a:r>
              <a:rPr lang="en-US" altLang="zh-CN" i="1" dirty="0" err="1" smtClean="0"/>
              <a:t>sem</a:t>
            </a:r>
            <a:r>
              <a:rPr lang="en-US" altLang="zh-CN" i="1" dirty="0" smtClean="0"/>
              <a:t>);</a:t>
            </a:r>
          </a:p>
          <a:p>
            <a:pPr marL="0" indent="0" algn="just">
              <a:lnSpc>
                <a:spcPct val="150000"/>
              </a:lnSpc>
              <a:buNone/>
            </a:pPr>
            <a:r>
              <a:rPr lang="en-US" altLang="zh-CN" i="1" dirty="0" err="1" smtClean="0"/>
              <a:t>int</a:t>
            </a:r>
            <a:r>
              <a:rPr lang="en-US" altLang="zh-CN" i="1" dirty="0" smtClean="0"/>
              <a:t> </a:t>
            </a:r>
            <a:r>
              <a:rPr lang="en-US" altLang="zh-CN" i="1" dirty="0" err="1" smtClean="0"/>
              <a:t>sem_trywait</a:t>
            </a:r>
            <a:r>
              <a:rPr lang="en-US" altLang="zh-CN" i="1" dirty="0" smtClean="0"/>
              <a:t>(</a:t>
            </a:r>
            <a:r>
              <a:rPr lang="en-US" altLang="zh-CN" i="1" dirty="0" err="1" smtClean="0"/>
              <a:t>sem_t</a:t>
            </a:r>
            <a:r>
              <a:rPr lang="en-US" altLang="zh-CN" i="1" dirty="0" smtClean="0"/>
              <a:t> *</a:t>
            </a:r>
            <a:r>
              <a:rPr lang="en-US" altLang="zh-CN" i="1" dirty="0" err="1" smtClean="0"/>
              <a:t>sem</a:t>
            </a:r>
            <a:r>
              <a:rPr lang="en-US" altLang="zh-CN" i="1" dirty="0" smtClean="0"/>
              <a:t>);</a:t>
            </a:r>
          </a:p>
          <a:p>
            <a:pPr algn="just">
              <a:lnSpc>
                <a:spcPct val="150000"/>
              </a:lnSpc>
            </a:pPr>
            <a:r>
              <a:rPr lang="en-US" altLang="zh-CN" dirty="0" smtClean="0"/>
              <a:t>The difference between </a:t>
            </a:r>
            <a:r>
              <a:rPr lang="en-US" altLang="zh-CN" dirty="0" err="1" smtClean="0"/>
              <a:t>sem_wait</a:t>
            </a:r>
            <a:r>
              <a:rPr lang="en-US" altLang="zh-CN" dirty="0" smtClean="0"/>
              <a:t> and </a:t>
            </a:r>
            <a:r>
              <a:rPr lang="en-US" altLang="zh-CN" dirty="0" err="1" smtClean="0"/>
              <a:t>sem_trywait</a:t>
            </a:r>
            <a:r>
              <a:rPr lang="en-US" altLang="zh-CN" dirty="0" smtClean="0"/>
              <a:t> is that the latter does not put the calling thread to sleep if the current value of the semaphore is already 0.</a:t>
            </a:r>
            <a:endParaRPr lang="zh-CN" altLang="en-US" dirty="0"/>
          </a:p>
        </p:txBody>
      </p:sp>
    </p:spTree>
    <p:extLst>
      <p:ext uri="{BB962C8B-B14F-4D97-AF65-F5344CB8AC3E}">
        <p14:creationId xmlns:p14="http://schemas.microsoft.com/office/powerpoint/2010/main" val="3406069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922456"/>
            <a:ext cx="10058400" cy="5249744"/>
          </a:xfrm>
        </p:spPr>
        <p:txBody>
          <a:bodyPr/>
          <a:lstStyle/>
          <a:p>
            <a:pPr algn="just">
              <a:lnSpc>
                <a:spcPct val="150000"/>
              </a:lnSpc>
            </a:pPr>
            <a:r>
              <a:rPr lang="en-US" altLang="zh-CN" dirty="0" smtClean="0"/>
              <a:t>When a thread is finished with a semaphore, it calls </a:t>
            </a:r>
            <a:r>
              <a:rPr lang="en-US" altLang="zh-CN" dirty="0" err="1" smtClean="0"/>
              <a:t>sem_post</a:t>
            </a:r>
            <a:r>
              <a:rPr lang="en-US" altLang="zh-CN" dirty="0" smtClean="0"/>
              <a:t>, which increments the value of the semaphore by 1 and wakes up any thread that are waiting for the semaphore value to become positive.</a:t>
            </a:r>
          </a:p>
          <a:p>
            <a:pPr marL="0" indent="0" algn="just">
              <a:lnSpc>
                <a:spcPct val="150000"/>
              </a:lnSpc>
              <a:buNone/>
            </a:pPr>
            <a:r>
              <a:rPr lang="en-US" altLang="zh-CN" i="1" dirty="0" err="1" smtClean="0"/>
              <a:t>int</a:t>
            </a:r>
            <a:r>
              <a:rPr lang="en-US" altLang="zh-CN" i="1" dirty="0" smtClean="0"/>
              <a:t> </a:t>
            </a:r>
            <a:r>
              <a:rPr lang="en-US" altLang="zh-CN" i="1" dirty="0" err="1" smtClean="0"/>
              <a:t>sem_post</a:t>
            </a:r>
            <a:r>
              <a:rPr lang="en-US" altLang="zh-CN" i="1" dirty="0" smtClean="0"/>
              <a:t>(</a:t>
            </a:r>
            <a:r>
              <a:rPr lang="en-US" altLang="zh-CN" i="1" dirty="0" err="1" smtClean="0"/>
              <a:t>sem_t</a:t>
            </a:r>
            <a:r>
              <a:rPr lang="en-US" altLang="zh-CN" i="1" dirty="0" smtClean="0"/>
              <a:t> * </a:t>
            </a:r>
            <a:r>
              <a:rPr lang="en-US" altLang="zh-CN" i="1" dirty="0" err="1" smtClean="0"/>
              <a:t>sem</a:t>
            </a:r>
            <a:r>
              <a:rPr lang="en-US" altLang="zh-CN" i="1" dirty="0" smtClean="0"/>
              <a:t>);</a:t>
            </a:r>
          </a:p>
          <a:p>
            <a:pPr marL="0" indent="0" algn="just">
              <a:lnSpc>
                <a:spcPct val="150000"/>
              </a:lnSpc>
              <a:buNone/>
            </a:pPr>
            <a:r>
              <a:rPr lang="en-US" altLang="zh-CN" i="1" dirty="0" err="1" smtClean="0"/>
              <a:t>int</a:t>
            </a:r>
            <a:r>
              <a:rPr lang="en-US" altLang="zh-CN" i="1" dirty="0" smtClean="0"/>
              <a:t> </a:t>
            </a:r>
            <a:r>
              <a:rPr lang="en-US" altLang="zh-CN" i="1" dirty="0" err="1" smtClean="0"/>
              <a:t>sem_getvalue</a:t>
            </a:r>
            <a:r>
              <a:rPr lang="en-US" altLang="zh-CN" i="1" dirty="0" smtClean="0"/>
              <a:t>(</a:t>
            </a:r>
            <a:r>
              <a:rPr lang="en-US" altLang="zh-CN" i="1" dirty="0" err="1" smtClean="0"/>
              <a:t>sem_t</a:t>
            </a:r>
            <a:r>
              <a:rPr lang="en-US" altLang="zh-CN" i="1" dirty="0" smtClean="0"/>
              <a:t> *</a:t>
            </a:r>
            <a:r>
              <a:rPr lang="en-US" altLang="zh-CN" i="1" dirty="0" err="1" smtClean="0"/>
              <a:t>sem</a:t>
            </a:r>
            <a:r>
              <a:rPr lang="en-US" altLang="zh-CN" i="1" dirty="0" smtClean="0"/>
              <a:t>, </a:t>
            </a:r>
            <a:r>
              <a:rPr lang="en-US" altLang="zh-CN" i="1" dirty="0" err="1" smtClean="0"/>
              <a:t>int</a:t>
            </a:r>
            <a:r>
              <a:rPr lang="en-US" altLang="zh-CN" i="1" dirty="0" smtClean="0"/>
              <a:t> * </a:t>
            </a:r>
            <a:r>
              <a:rPr lang="en-US" altLang="zh-CN" i="1" dirty="0" err="1" smtClean="0"/>
              <a:t>valp</a:t>
            </a:r>
            <a:r>
              <a:rPr lang="en-US" altLang="zh-CN" i="1" dirty="0" smtClean="0"/>
              <a:t>);</a:t>
            </a:r>
            <a:endParaRPr lang="en-US" altLang="zh-CN" i="1" dirty="0"/>
          </a:p>
          <a:p>
            <a:pPr algn="just">
              <a:lnSpc>
                <a:spcPct val="150000"/>
              </a:lnSpc>
            </a:pPr>
            <a:r>
              <a:rPr lang="en-US" altLang="zh-CN" dirty="0" err="1" smtClean="0"/>
              <a:t>sem_getvalue</a:t>
            </a:r>
            <a:r>
              <a:rPr lang="en-US" altLang="zh-CN" dirty="0" smtClean="0"/>
              <a:t> returns the current value of the semaphore in the integer pointed to by </a:t>
            </a:r>
            <a:r>
              <a:rPr lang="en-US" altLang="zh-CN" dirty="0" err="1" smtClean="0"/>
              <a:t>valp</a:t>
            </a:r>
            <a:r>
              <a:rPr lang="en-US" altLang="zh-CN" dirty="0" smtClean="0"/>
              <a:t>. If the semaphore is currently locked, then the value returned is either 0 or a negative number whose absolute value is the number of threads waiting for the semaphore to be unlocked.</a:t>
            </a:r>
            <a:endParaRPr lang="zh-CN" altLang="en-US" dirty="0"/>
          </a:p>
        </p:txBody>
      </p:sp>
    </p:spTree>
    <p:extLst>
      <p:ext uri="{BB962C8B-B14F-4D97-AF65-F5344CB8AC3E}">
        <p14:creationId xmlns:p14="http://schemas.microsoft.com/office/powerpoint/2010/main" val="1523527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9848" y="383927"/>
            <a:ext cx="10058400" cy="727854"/>
          </a:xfrm>
        </p:spPr>
        <p:txBody>
          <a:bodyPr>
            <a:normAutofit fontScale="90000"/>
          </a:bodyPr>
          <a:lstStyle/>
          <a:p>
            <a:r>
              <a:rPr lang="en-US" altLang="zh-CN" dirty="0" smtClean="0"/>
              <a:t>6.3 Read-write locks</a:t>
            </a:r>
            <a:endParaRPr lang="zh-CN" altLang="en-US" dirty="0"/>
          </a:p>
        </p:txBody>
      </p:sp>
      <p:sp>
        <p:nvSpPr>
          <p:cNvPr id="3" name="内容占位符 2"/>
          <p:cNvSpPr>
            <a:spLocks noGrp="1"/>
          </p:cNvSpPr>
          <p:nvPr>
            <p:ph idx="1"/>
          </p:nvPr>
        </p:nvSpPr>
        <p:spPr>
          <a:xfrm>
            <a:off x="1069848" y="1313192"/>
            <a:ext cx="10058400" cy="4850952"/>
          </a:xfrm>
        </p:spPr>
        <p:txBody>
          <a:bodyPr>
            <a:normAutofit lnSpcReduction="10000"/>
          </a:bodyPr>
          <a:lstStyle/>
          <a:p>
            <a:pPr algn="just">
              <a:lnSpc>
                <a:spcPct val="150000"/>
              </a:lnSpc>
            </a:pPr>
            <a:r>
              <a:rPr lang="en-US" altLang="zh-CN" dirty="0" smtClean="0"/>
              <a:t>A </a:t>
            </a:r>
            <a:r>
              <a:rPr lang="en-US" altLang="zh-CN" dirty="0" err="1" smtClean="0"/>
              <a:t>mutex</a:t>
            </a:r>
            <a:r>
              <a:rPr lang="en-US" altLang="zh-CN" dirty="0" smtClean="0"/>
              <a:t> lock blocks all other threads from entering what we call a critical region. This critical region usually involves accessing or updating one or more pieces of data that are shared between the threads. But sometimes, we can distinguish between reading a piece of data and modifying a piece of data.</a:t>
            </a:r>
          </a:p>
          <a:p>
            <a:pPr algn="just">
              <a:lnSpc>
                <a:spcPct val="150000"/>
              </a:lnSpc>
            </a:pPr>
            <a:r>
              <a:rPr lang="en-US" altLang="zh-CN" dirty="0" smtClean="0"/>
              <a:t>We now describe a real-write lock and distinguish between obtaining the read-write lock for reading and obtaining the read-write lock for writing:</a:t>
            </a:r>
          </a:p>
          <a:p>
            <a:pPr marL="457200" indent="-457200" algn="just">
              <a:lnSpc>
                <a:spcPct val="150000"/>
              </a:lnSpc>
              <a:buFont typeface="+mj-lt"/>
              <a:buAutoNum type="arabicPeriod"/>
            </a:pPr>
            <a:r>
              <a:rPr lang="en-US" altLang="zh-CN" dirty="0" smtClean="0"/>
              <a:t>Any number of threads can hold a given read-write lock for reading as long as no thread holds the read-write lock for writing.</a:t>
            </a:r>
          </a:p>
          <a:p>
            <a:pPr marL="457200" indent="-457200" algn="just">
              <a:lnSpc>
                <a:spcPct val="150000"/>
              </a:lnSpc>
              <a:buFont typeface="+mj-lt"/>
              <a:buAutoNum type="arabicPeriod"/>
            </a:pPr>
            <a:r>
              <a:rPr lang="en-US" altLang="zh-CN" dirty="0" smtClean="0"/>
              <a:t>A read-write lock can be allocated for writing only if no thread holds the read-write lock for reading or writing.</a:t>
            </a:r>
            <a:endParaRPr lang="zh-CN" altLang="en-US" dirty="0"/>
          </a:p>
        </p:txBody>
      </p:sp>
    </p:spTree>
    <p:extLst>
      <p:ext uri="{BB962C8B-B14F-4D97-AF65-F5344CB8AC3E}">
        <p14:creationId xmlns:p14="http://schemas.microsoft.com/office/powerpoint/2010/main" val="74731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813695"/>
            <a:ext cx="10058400" cy="5358505"/>
          </a:xfrm>
        </p:spPr>
        <p:txBody>
          <a:bodyPr/>
          <a:lstStyle/>
          <a:p>
            <a:pPr algn="just">
              <a:lnSpc>
                <a:spcPct val="150000"/>
              </a:lnSpc>
            </a:pPr>
            <a:r>
              <a:rPr lang="en-US" altLang="zh-CN" dirty="0" smtClean="0"/>
              <a:t>Stated another way, </a:t>
            </a:r>
            <a:r>
              <a:rPr lang="en-US" altLang="zh-CN" b="1" dirty="0" smtClean="0"/>
              <a:t>any number of threads can have read access to a given piece data as long as no thread is modifying that piece of data. A piece of data can be modified only if no other thread is reading or modifying the data</a:t>
            </a:r>
            <a:r>
              <a:rPr lang="en-US" altLang="zh-CN" dirty="0" smtClean="0"/>
              <a:t>.</a:t>
            </a:r>
          </a:p>
          <a:p>
            <a:pPr algn="just">
              <a:lnSpc>
                <a:spcPct val="150000"/>
              </a:lnSpc>
            </a:pPr>
            <a:r>
              <a:rPr lang="en-US" altLang="zh-CN" dirty="0" smtClean="0"/>
              <a:t>In some applications, the data is read more often than the data is modified, and these applications can benefit from using read-write locks instead of </a:t>
            </a:r>
            <a:r>
              <a:rPr lang="en-US" altLang="zh-CN" dirty="0" err="1" smtClean="0"/>
              <a:t>mutex</a:t>
            </a:r>
            <a:r>
              <a:rPr lang="en-US" altLang="zh-CN" dirty="0" smtClean="0"/>
              <a:t> locks. Allowing multiple reads at any given time can provide more concurrency, while still protecting the data while it is modified from any other readers or writers.</a:t>
            </a:r>
          </a:p>
          <a:p>
            <a:pPr algn="just">
              <a:lnSpc>
                <a:spcPct val="150000"/>
              </a:lnSpc>
            </a:pPr>
            <a:r>
              <a:rPr lang="en-US" altLang="zh-CN" dirty="0" smtClean="0"/>
              <a:t>A read-write lock has a datatype of </a:t>
            </a:r>
            <a:r>
              <a:rPr lang="en-US" altLang="zh-CN" i="1" dirty="0" err="1" smtClean="0"/>
              <a:t>pthread_rwlock_t</a:t>
            </a:r>
            <a:r>
              <a:rPr lang="en-US" altLang="zh-CN" dirty="0" smtClean="0"/>
              <a:t>. If a variable of this type is statically allocated, it can be initialized by assigning to it the </a:t>
            </a:r>
            <a:r>
              <a:rPr lang="en-US" altLang="zh-CN" dirty="0" err="1" smtClean="0"/>
              <a:t>constat</a:t>
            </a:r>
            <a:r>
              <a:rPr lang="en-US" altLang="zh-CN" dirty="0" smtClean="0"/>
              <a:t> PTHREAD_RWLOCK_INITIALIZER.</a:t>
            </a:r>
          </a:p>
          <a:p>
            <a:pPr algn="just">
              <a:lnSpc>
                <a:spcPct val="150000"/>
              </a:lnSpc>
            </a:pPr>
            <a:endParaRPr lang="zh-CN" altLang="en-US" dirty="0"/>
          </a:p>
        </p:txBody>
      </p:sp>
    </p:spTree>
    <p:extLst>
      <p:ext uri="{BB962C8B-B14F-4D97-AF65-F5344CB8AC3E}">
        <p14:creationId xmlns:p14="http://schemas.microsoft.com/office/powerpoint/2010/main" val="280524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551863"/>
            <a:ext cx="10058400" cy="5918424"/>
          </a:xfrm>
        </p:spPr>
        <p:txBody>
          <a:bodyPr>
            <a:normAutofit lnSpcReduction="10000"/>
          </a:bodyPr>
          <a:lstStyle/>
          <a:p>
            <a:pPr algn="just">
              <a:lnSpc>
                <a:spcPct val="150000"/>
              </a:lnSpc>
            </a:pPr>
            <a:r>
              <a:rPr lang="en-US" altLang="zh-CN" dirty="0" err="1" smtClean="0"/>
              <a:t>Pthread_rwlock_init</a:t>
            </a:r>
            <a:r>
              <a:rPr lang="en-US" altLang="zh-CN" dirty="0" smtClean="0"/>
              <a:t> initializes a read-write lock. </a:t>
            </a:r>
            <a:r>
              <a:rPr lang="en-US" altLang="zh-CN" dirty="0" err="1" smtClean="0"/>
              <a:t>Pthread_rwlock_rdlock</a:t>
            </a:r>
            <a:r>
              <a:rPr lang="en-US" altLang="zh-CN" dirty="0" smtClean="0"/>
              <a:t> obtains a read-lock, blocking the calling thread if the read-write lock is currently held by a writer. </a:t>
            </a:r>
            <a:r>
              <a:rPr lang="en-US" altLang="zh-CN" dirty="0" err="1" smtClean="0"/>
              <a:t>Pthread_rwlock_wrlock</a:t>
            </a:r>
            <a:r>
              <a:rPr lang="en-US" altLang="zh-CN" dirty="0" smtClean="0"/>
              <a:t> obtains a write-lock, blocking the calling thread if the read-write lock is currently held by either another writer or by one or more threads. </a:t>
            </a:r>
            <a:r>
              <a:rPr lang="en-US" altLang="zh-CN" dirty="0" err="1" smtClean="0"/>
              <a:t>Pthread_rwlock_unlock</a:t>
            </a:r>
            <a:r>
              <a:rPr lang="en-US" altLang="zh-CN" dirty="0" smtClean="0"/>
              <a:t> releases either a read lock or a write lock.</a:t>
            </a:r>
          </a:p>
          <a:p>
            <a:pPr marL="0" indent="0" algn="just">
              <a:lnSpc>
                <a:spcPct val="150000"/>
              </a:lnSpc>
              <a:buNone/>
            </a:pPr>
            <a:r>
              <a:rPr lang="en-US" altLang="zh-CN" i="1" dirty="0" smtClean="0"/>
              <a:t>#include &lt;</a:t>
            </a:r>
            <a:r>
              <a:rPr lang="en-US" altLang="zh-CN" i="1" dirty="0" err="1" smtClean="0"/>
              <a:t>pthread.h</a:t>
            </a:r>
            <a:r>
              <a:rPr lang="en-US" altLang="zh-CN" i="1" dirty="0" smtClean="0"/>
              <a:t>&gt;</a:t>
            </a:r>
          </a:p>
          <a:p>
            <a:pPr marL="0" indent="0" algn="just">
              <a:lnSpc>
                <a:spcPct val="150000"/>
              </a:lnSpc>
              <a:buNone/>
            </a:pPr>
            <a:r>
              <a:rPr lang="en-US" altLang="zh-CN" i="1" dirty="0" err="1" smtClean="0"/>
              <a:t>int</a:t>
            </a:r>
            <a:r>
              <a:rPr lang="en-US" altLang="zh-CN" i="1" dirty="0" smtClean="0"/>
              <a:t> </a:t>
            </a:r>
            <a:r>
              <a:rPr lang="en-US" altLang="zh-CN" i="1" dirty="0" err="1" smtClean="0"/>
              <a:t>pthread_rwlock_init</a:t>
            </a:r>
            <a:r>
              <a:rPr lang="en-US" altLang="zh-CN" i="1" dirty="0" smtClean="0"/>
              <a:t>(</a:t>
            </a:r>
            <a:r>
              <a:rPr lang="en-US" altLang="zh-CN" i="1" dirty="0" err="1" smtClean="0"/>
              <a:t>pthread_rwlock_t</a:t>
            </a:r>
            <a:r>
              <a:rPr lang="en-US" altLang="zh-CN" i="1" dirty="0" smtClean="0"/>
              <a:t> * </a:t>
            </a:r>
            <a:r>
              <a:rPr lang="en-US" altLang="zh-CN" i="1" dirty="0" err="1" smtClean="0"/>
              <a:t>rwptr</a:t>
            </a:r>
            <a:r>
              <a:rPr lang="en-US" altLang="zh-CN" i="1" dirty="0" smtClean="0"/>
              <a:t>, </a:t>
            </a:r>
            <a:r>
              <a:rPr lang="en-US" altLang="zh-CN" i="1" dirty="0" err="1" smtClean="0"/>
              <a:t>const</a:t>
            </a:r>
            <a:r>
              <a:rPr lang="en-US" altLang="zh-CN" i="1" dirty="0" smtClean="0"/>
              <a:t> </a:t>
            </a:r>
            <a:r>
              <a:rPr lang="en-US" altLang="zh-CN" i="1" dirty="0" err="1" smtClean="0"/>
              <a:t>pthread_rwlockattr_t</a:t>
            </a:r>
            <a:r>
              <a:rPr lang="en-US" altLang="zh-CN" i="1" dirty="0" smtClean="0"/>
              <a:t> *</a:t>
            </a:r>
            <a:r>
              <a:rPr lang="en-US" altLang="zh-CN" i="1" dirty="0" err="1" smtClean="0"/>
              <a:t>attr</a:t>
            </a:r>
            <a:r>
              <a:rPr lang="en-US" altLang="zh-CN" i="1" dirty="0" smtClean="0"/>
              <a:t>);</a:t>
            </a:r>
          </a:p>
          <a:p>
            <a:pPr marL="0" indent="0" algn="just">
              <a:lnSpc>
                <a:spcPct val="150000"/>
              </a:lnSpc>
              <a:buNone/>
            </a:pPr>
            <a:r>
              <a:rPr lang="en-US" altLang="zh-CN" i="1" dirty="0" err="1" smtClean="0"/>
              <a:t>int</a:t>
            </a:r>
            <a:r>
              <a:rPr lang="en-US" altLang="zh-CN" i="1" dirty="0" smtClean="0"/>
              <a:t> </a:t>
            </a:r>
            <a:r>
              <a:rPr lang="en-US" altLang="zh-CN" i="1" dirty="0" err="1" smtClean="0"/>
              <a:t>pthread_rwlock_rdlock</a:t>
            </a:r>
            <a:r>
              <a:rPr lang="en-US" altLang="zh-CN" i="1" dirty="0" smtClean="0"/>
              <a:t>(</a:t>
            </a:r>
            <a:r>
              <a:rPr lang="en-US" altLang="zh-CN" i="1" dirty="0" err="1" smtClean="0"/>
              <a:t>pthread_rwlock_t</a:t>
            </a:r>
            <a:r>
              <a:rPr lang="en-US" altLang="zh-CN" i="1" dirty="0" smtClean="0"/>
              <a:t> *</a:t>
            </a:r>
            <a:r>
              <a:rPr lang="en-US" altLang="zh-CN" i="1" dirty="0" err="1" smtClean="0"/>
              <a:t>rwptr</a:t>
            </a:r>
            <a:r>
              <a:rPr lang="en-US" altLang="zh-CN" i="1" dirty="0" smtClean="0"/>
              <a:t>);</a:t>
            </a:r>
          </a:p>
          <a:p>
            <a:pPr marL="0" indent="0" algn="just">
              <a:lnSpc>
                <a:spcPct val="150000"/>
              </a:lnSpc>
              <a:buNone/>
            </a:pPr>
            <a:r>
              <a:rPr lang="en-US" altLang="zh-CN" i="1" dirty="0" err="1" smtClean="0"/>
              <a:t>int</a:t>
            </a:r>
            <a:r>
              <a:rPr lang="en-US" altLang="zh-CN" i="1" dirty="0" smtClean="0"/>
              <a:t> </a:t>
            </a:r>
            <a:r>
              <a:rPr lang="en-US" altLang="zh-CN" i="1" dirty="0" err="1" smtClean="0"/>
              <a:t>pthread_rwlock_wrlock</a:t>
            </a:r>
            <a:r>
              <a:rPr lang="en-US" altLang="zh-CN" i="1" dirty="0" smtClean="0"/>
              <a:t>(</a:t>
            </a:r>
            <a:r>
              <a:rPr lang="en-US" altLang="zh-CN" i="1" dirty="0" err="1" smtClean="0"/>
              <a:t>pthread_rwlock_t</a:t>
            </a:r>
            <a:r>
              <a:rPr lang="en-US" altLang="zh-CN" i="1" dirty="0" smtClean="0"/>
              <a:t> *</a:t>
            </a:r>
            <a:r>
              <a:rPr lang="en-US" altLang="zh-CN" i="1" dirty="0" err="1" smtClean="0"/>
              <a:t>rwptr</a:t>
            </a:r>
            <a:r>
              <a:rPr lang="en-US" altLang="zh-CN" i="1" dirty="0" smtClean="0"/>
              <a:t>);</a:t>
            </a:r>
          </a:p>
          <a:p>
            <a:pPr marL="0" indent="0" algn="just">
              <a:lnSpc>
                <a:spcPct val="150000"/>
              </a:lnSpc>
              <a:buNone/>
            </a:pPr>
            <a:r>
              <a:rPr lang="en-US" altLang="zh-CN" i="1" dirty="0" err="1" smtClean="0"/>
              <a:t>int</a:t>
            </a:r>
            <a:r>
              <a:rPr lang="en-US" altLang="zh-CN" i="1" dirty="0" smtClean="0"/>
              <a:t> </a:t>
            </a:r>
            <a:r>
              <a:rPr lang="en-US" altLang="zh-CN" i="1" dirty="0" err="1" smtClean="0"/>
              <a:t>pthread_rwlock_unlock</a:t>
            </a:r>
            <a:r>
              <a:rPr lang="en-US" altLang="zh-CN" i="1" dirty="0" smtClean="0"/>
              <a:t>(</a:t>
            </a:r>
            <a:r>
              <a:rPr lang="en-US" altLang="zh-CN" i="1" dirty="0" err="1" smtClean="0"/>
              <a:t>pthread_rwlock_t</a:t>
            </a:r>
            <a:r>
              <a:rPr lang="en-US" altLang="zh-CN" i="1" dirty="0" smtClean="0"/>
              <a:t> * </a:t>
            </a:r>
            <a:r>
              <a:rPr lang="en-US" altLang="zh-CN" i="1" dirty="0" err="1" smtClean="0"/>
              <a:t>rwptr</a:t>
            </a:r>
            <a:r>
              <a:rPr lang="en-US" altLang="zh-CN" i="1" dirty="0" smtClean="0"/>
              <a:t>);</a:t>
            </a:r>
          </a:p>
          <a:p>
            <a:pPr marL="0" indent="0" algn="r">
              <a:lnSpc>
                <a:spcPct val="150000"/>
              </a:lnSpc>
              <a:buNone/>
            </a:pPr>
            <a:r>
              <a:rPr lang="en-US" altLang="zh-CN" dirty="0" smtClean="0"/>
              <a:t>All return: 0 if OK, positive </a:t>
            </a:r>
            <a:r>
              <a:rPr lang="en-US" altLang="zh-CN" dirty="0" err="1" smtClean="0"/>
              <a:t>Exxx</a:t>
            </a:r>
            <a:r>
              <a:rPr lang="en-US" altLang="zh-CN" dirty="0" smtClean="0"/>
              <a:t> value on error</a:t>
            </a:r>
            <a:endParaRPr lang="zh-CN" altLang="en-US" dirty="0"/>
          </a:p>
        </p:txBody>
      </p:sp>
    </p:spTree>
    <p:extLst>
      <p:ext uri="{BB962C8B-B14F-4D97-AF65-F5344CB8AC3E}">
        <p14:creationId xmlns:p14="http://schemas.microsoft.com/office/powerpoint/2010/main" val="3179315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9848" y="648539"/>
            <a:ext cx="10058400" cy="5523661"/>
          </a:xfrm>
        </p:spPr>
        <p:txBody>
          <a:bodyPr>
            <a:normAutofit lnSpcReduction="10000"/>
          </a:bodyPr>
          <a:lstStyle/>
          <a:p>
            <a:pPr algn="just">
              <a:lnSpc>
                <a:spcPct val="150000"/>
              </a:lnSpc>
            </a:pPr>
            <a:r>
              <a:rPr lang="en-US" altLang="zh-CN" dirty="0" smtClean="0"/>
              <a:t>The following two functions try to obtain either a read lock or a write lock, but if the lock cannot be granted, an error of EBUSY is returned instead of putting the calling thread to sleep.</a:t>
            </a:r>
          </a:p>
          <a:p>
            <a:pPr marL="0" indent="0" algn="just">
              <a:lnSpc>
                <a:spcPct val="150000"/>
              </a:lnSpc>
              <a:buNone/>
            </a:pPr>
            <a:r>
              <a:rPr lang="en-US" altLang="zh-CN" i="1" dirty="0" err="1" smtClean="0"/>
              <a:t>int</a:t>
            </a:r>
            <a:r>
              <a:rPr lang="en-US" altLang="zh-CN" i="1" dirty="0" smtClean="0"/>
              <a:t> </a:t>
            </a:r>
            <a:r>
              <a:rPr lang="en-US" altLang="zh-CN" i="1" dirty="0" err="1" smtClean="0"/>
              <a:t>pthread_rwlock_tryrdlock</a:t>
            </a:r>
            <a:r>
              <a:rPr lang="en-US" altLang="zh-CN" i="1" dirty="0" smtClean="0"/>
              <a:t>(</a:t>
            </a:r>
            <a:r>
              <a:rPr lang="en-US" altLang="zh-CN" i="1" dirty="0" err="1" smtClean="0"/>
              <a:t>pthread_rwlock_t</a:t>
            </a:r>
            <a:r>
              <a:rPr lang="en-US" altLang="zh-CN" i="1" dirty="0" smtClean="0"/>
              <a:t> * </a:t>
            </a:r>
            <a:r>
              <a:rPr lang="en-US" altLang="zh-CN" i="1" dirty="0" err="1" smtClean="0"/>
              <a:t>rwptr</a:t>
            </a:r>
            <a:r>
              <a:rPr lang="en-US" altLang="zh-CN" i="1" dirty="0" smtClean="0"/>
              <a:t>);</a:t>
            </a:r>
          </a:p>
          <a:p>
            <a:pPr marL="0" indent="0" algn="just">
              <a:lnSpc>
                <a:spcPct val="150000"/>
              </a:lnSpc>
              <a:buNone/>
            </a:pPr>
            <a:r>
              <a:rPr lang="en-US" altLang="zh-CN" i="1" dirty="0" err="1" smtClean="0"/>
              <a:t>int</a:t>
            </a:r>
            <a:r>
              <a:rPr lang="en-US" altLang="zh-CN" i="1" dirty="0" smtClean="0"/>
              <a:t> </a:t>
            </a:r>
            <a:r>
              <a:rPr lang="en-US" altLang="zh-CN" i="1" dirty="0" err="1" smtClean="0"/>
              <a:t>pthread_rwlock_trywrlock</a:t>
            </a:r>
            <a:r>
              <a:rPr lang="en-US" altLang="zh-CN" i="1" dirty="0" smtClean="0"/>
              <a:t>(</a:t>
            </a:r>
            <a:r>
              <a:rPr lang="en-US" altLang="zh-CN" i="1" dirty="0" err="1" smtClean="0"/>
              <a:t>pthread_rwlock_t</a:t>
            </a:r>
            <a:r>
              <a:rPr lang="en-US" altLang="zh-CN" i="1" dirty="0" smtClean="0"/>
              <a:t> * </a:t>
            </a:r>
            <a:r>
              <a:rPr lang="en-US" altLang="zh-CN" i="1" dirty="0" err="1" smtClean="0"/>
              <a:t>rwptr</a:t>
            </a:r>
            <a:r>
              <a:rPr lang="en-US" altLang="zh-CN" i="1" dirty="0" smtClean="0"/>
              <a:t>);</a:t>
            </a:r>
          </a:p>
          <a:p>
            <a:pPr marL="0" indent="0" algn="r">
              <a:lnSpc>
                <a:spcPct val="150000"/>
              </a:lnSpc>
              <a:buNone/>
            </a:pPr>
            <a:r>
              <a:rPr lang="en-US" altLang="zh-CN" dirty="0" smtClean="0"/>
              <a:t>Both return: 0 if OK, positive </a:t>
            </a:r>
            <a:r>
              <a:rPr lang="en-US" altLang="zh-CN" dirty="0" err="1" smtClean="0"/>
              <a:t>Exxx</a:t>
            </a:r>
            <a:r>
              <a:rPr lang="en-US" altLang="zh-CN" dirty="0" smtClean="0"/>
              <a:t> value on error</a:t>
            </a:r>
          </a:p>
          <a:p>
            <a:pPr algn="just">
              <a:lnSpc>
                <a:spcPct val="150000"/>
              </a:lnSpc>
            </a:pPr>
            <a:r>
              <a:rPr lang="en-US" altLang="zh-CN" dirty="0" smtClean="0"/>
              <a:t>When a thread no longer needs a read-write lock, it can call the function </a:t>
            </a:r>
            <a:r>
              <a:rPr lang="en-US" altLang="zh-CN" dirty="0" err="1" smtClean="0"/>
              <a:t>pthread_rwlock_destroy</a:t>
            </a:r>
            <a:r>
              <a:rPr lang="en-US" altLang="zh-CN" dirty="0" smtClean="0"/>
              <a:t>.</a:t>
            </a:r>
          </a:p>
          <a:p>
            <a:pPr marL="0" indent="0" algn="just">
              <a:lnSpc>
                <a:spcPct val="150000"/>
              </a:lnSpc>
              <a:buNone/>
            </a:pPr>
            <a:r>
              <a:rPr lang="en-US" altLang="zh-CN" i="1" dirty="0" err="1" smtClean="0"/>
              <a:t>int</a:t>
            </a:r>
            <a:r>
              <a:rPr lang="en-US" altLang="zh-CN" i="1" dirty="0" smtClean="0"/>
              <a:t> </a:t>
            </a:r>
            <a:r>
              <a:rPr lang="en-US" altLang="zh-CN" i="1" dirty="0" err="1" smtClean="0"/>
              <a:t>pthread_rwlock_destroy</a:t>
            </a:r>
            <a:r>
              <a:rPr lang="en-US" altLang="zh-CN" i="1" dirty="0" smtClean="0"/>
              <a:t>(</a:t>
            </a:r>
            <a:r>
              <a:rPr lang="en-US" altLang="zh-CN" i="1" dirty="0" err="1" smtClean="0"/>
              <a:t>pthread_rwlock_t</a:t>
            </a:r>
            <a:r>
              <a:rPr lang="en-US" altLang="zh-CN" i="1" dirty="0" smtClean="0"/>
              <a:t> * </a:t>
            </a:r>
            <a:r>
              <a:rPr lang="en-US" altLang="zh-CN" i="1" dirty="0" err="1" smtClean="0"/>
              <a:t>rwptr</a:t>
            </a:r>
            <a:r>
              <a:rPr lang="en-US" altLang="zh-CN" i="1" dirty="0" smtClean="0"/>
              <a:t>);</a:t>
            </a:r>
          </a:p>
          <a:p>
            <a:pPr marL="0" indent="0" algn="r">
              <a:lnSpc>
                <a:spcPct val="150000"/>
              </a:lnSpc>
              <a:buNone/>
            </a:pPr>
            <a:r>
              <a:rPr lang="en-US" altLang="zh-CN" dirty="0" smtClean="0"/>
              <a:t>Return: 0 if OK, positive </a:t>
            </a:r>
            <a:r>
              <a:rPr lang="en-US" altLang="zh-CN" dirty="0" err="1" smtClean="0"/>
              <a:t>Exxx</a:t>
            </a:r>
            <a:r>
              <a:rPr lang="en-US" altLang="zh-CN" dirty="0" smtClean="0"/>
              <a:t> value on error</a:t>
            </a:r>
            <a:endParaRPr lang="zh-CN" altLang="en-US" dirty="0"/>
          </a:p>
        </p:txBody>
      </p:sp>
    </p:spTree>
    <p:extLst>
      <p:ext uri="{BB962C8B-B14F-4D97-AF65-F5344CB8AC3E}">
        <p14:creationId xmlns:p14="http://schemas.microsoft.com/office/powerpoint/2010/main" val="13122966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头类型">
  <a:themeElements>
    <a:clrScheme name="木头类型">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头类型">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头类型">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木材纹理</Template>
  <TotalTime>438</TotalTime>
  <Words>1336</Words>
  <Application>Microsoft Office PowerPoint</Application>
  <PresentationFormat>宽屏</PresentationFormat>
  <Paragraphs>68</Paragraphs>
  <Slides>14</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方正姚体</vt:lpstr>
      <vt:lpstr>Rockwell</vt:lpstr>
      <vt:lpstr>Rockwell Condensed</vt:lpstr>
      <vt:lpstr>Wingdings</vt:lpstr>
      <vt:lpstr>木头类型</vt:lpstr>
      <vt:lpstr>第六章 同步</vt:lpstr>
      <vt:lpstr>6.1 Mutexs</vt:lpstr>
      <vt:lpstr>PowerPoint 演示文稿</vt:lpstr>
      <vt:lpstr>PowerPoint 演示文稿</vt:lpstr>
      <vt:lpstr>PowerPoint 演示文稿</vt:lpstr>
      <vt:lpstr>6.2 Semaphores</vt:lpstr>
      <vt:lpstr>PowerPoint 演示文稿</vt:lpstr>
      <vt:lpstr>PowerPoint 演示文稿</vt:lpstr>
      <vt:lpstr>PowerPoint 演示文稿</vt:lpstr>
      <vt:lpstr>PowerPoint 演示文稿</vt:lpstr>
      <vt:lpstr>6.3 Read-write locks</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并行服务</dc:title>
  <dc:creator>Microsoft 帐户</dc:creator>
  <cp:lastModifiedBy>Microsoft 帐户</cp:lastModifiedBy>
  <cp:revision>62</cp:revision>
  <dcterms:created xsi:type="dcterms:W3CDTF">2023-04-10T00:45:45Z</dcterms:created>
  <dcterms:modified xsi:type="dcterms:W3CDTF">2024-11-28T01:45:05Z</dcterms:modified>
</cp:coreProperties>
</file>