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8" d="100"/>
          <a:sy n="158" d="100"/>
        </p:scale>
        <p:origin x="364"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686F592-5772-4BE3-8028-BE8FAACBEED6}" type="datetimeFigureOut">
              <a:rPr lang="zh-CN" altLang="en-US" smtClean="0"/>
              <a:t>2023/4/10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37843979-B72B-495F-BA97-E4047C4CB2B6}" type="slidenum">
              <a:rPr lang="zh-CN" altLang="en-US" smtClean="0"/>
              <a:t>‹#›</a:t>
            </a:fld>
            <a:endParaRPr lang="zh-CN" altLang="en-US"/>
          </a:p>
        </p:txBody>
      </p:sp>
    </p:spTree>
    <p:extLst>
      <p:ext uri="{BB962C8B-B14F-4D97-AF65-F5344CB8AC3E}">
        <p14:creationId xmlns:p14="http://schemas.microsoft.com/office/powerpoint/2010/main" val="3120592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686F592-5772-4BE3-8028-BE8FAACBEED6}" type="datetimeFigureOut">
              <a:rPr lang="zh-CN" altLang="en-US" smtClean="0"/>
              <a:t>2023/4/10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843979-B72B-495F-BA97-E4047C4CB2B6}" type="slidenum">
              <a:rPr lang="zh-CN" altLang="en-US" smtClean="0"/>
              <a:t>‹#›</a:t>
            </a:fld>
            <a:endParaRPr lang="zh-CN" altLang="en-US"/>
          </a:p>
        </p:txBody>
      </p:sp>
    </p:spTree>
    <p:extLst>
      <p:ext uri="{BB962C8B-B14F-4D97-AF65-F5344CB8AC3E}">
        <p14:creationId xmlns:p14="http://schemas.microsoft.com/office/powerpoint/2010/main" val="3004005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8593667" y="6272784"/>
            <a:ext cx="2644309" cy="365125"/>
          </a:xfrm>
        </p:spPr>
        <p:txBody>
          <a:bodyPr/>
          <a:lstStyle/>
          <a:p>
            <a:fld id="{F686F592-5772-4BE3-8028-BE8FAACBEED6}" type="datetimeFigureOut">
              <a:rPr lang="zh-CN" altLang="en-US" smtClean="0"/>
              <a:t>2023/4/10</a:t>
            </a:fld>
            <a:endParaRPr lang="zh-CN" altLang="en-US"/>
          </a:p>
        </p:txBody>
      </p:sp>
      <p:sp>
        <p:nvSpPr>
          <p:cNvPr id="5" name="Footer Placeholder 4"/>
          <p:cNvSpPr>
            <a:spLocks noGrp="1"/>
          </p:cNvSpPr>
          <p:nvPr>
            <p:ph type="ftr" sz="quarter" idx="11"/>
          </p:nvPr>
        </p:nvSpPr>
        <p:spPr>
          <a:xfrm>
            <a:off x="2182708" y="6272784"/>
            <a:ext cx="6327648" cy="365125"/>
          </a:xfrm>
        </p:spPr>
        <p:txBody>
          <a:bodyPr/>
          <a:lstStyle/>
          <a:p>
            <a:endParaRPr lang="zh-CN" alt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37843979-B72B-495F-BA97-E4047C4CB2B6}" type="slidenum">
              <a:rPr lang="zh-CN" altLang="en-US" smtClean="0"/>
              <a:t>‹#›</a:t>
            </a:fld>
            <a:endParaRPr lang="zh-CN" altLang="en-US"/>
          </a:p>
        </p:txBody>
      </p:sp>
    </p:spTree>
    <p:extLst>
      <p:ext uri="{BB962C8B-B14F-4D97-AF65-F5344CB8AC3E}">
        <p14:creationId xmlns:p14="http://schemas.microsoft.com/office/powerpoint/2010/main" val="1243367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F686F592-5772-4BE3-8028-BE8FAACBEED6}" type="datetimeFigureOut">
              <a:rPr lang="zh-CN" altLang="en-US" smtClean="0"/>
              <a:t>2023/4/10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7843979-B72B-495F-BA97-E4047C4CB2B6}" type="slidenum">
              <a:rPr lang="zh-CN" altLang="en-US" smtClean="0"/>
              <a:t>‹#›</a:t>
            </a:fld>
            <a:endParaRPr lang="zh-CN" altLang="en-US"/>
          </a:p>
        </p:txBody>
      </p:sp>
    </p:spTree>
    <p:extLst>
      <p:ext uri="{BB962C8B-B14F-4D97-AF65-F5344CB8AC3E}">
        <p14:creationId xmlns:p14="http://schemas.microsoft.com/office/powerpoint/2010/main" val="4095203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F686F592-5772-4BE3-8028-BE8FAACBEED6}" type="datetimeFigureOut">
              <a:rPr lang="zh-CN" altLang="en-US" smtClean="0"/>
              <a:t>2023/4/10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7843979-B72B-495F-BA97-E4047C4CB2B6}" type="slidenum">
              <a:rPr lang="zh-CN" altLang="en-US" smtClean="0"/>
              <a:t>‹#›</a:t>
            </a:fld>
            <a:endParaRPr lang="zh-CN" altLang="en-US"/>
          </a:p>
        </p:txBody>
      </p:sp>
    </p:spTree>
    <p:extLst>
      <p:ext uri="{BB962C8B-B14F-4D97-AF65-F5344CB8AC3E}">
        <p14:creationId xmlns:p14="http://schemas.microsoft.com/office/powerpoint/2010/main" val="3799572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F686F592-5772-4BE3-8028-BE8FAACBEED6}" type="datetimeFigureOut">
              <a:rPr lang="zh-CN" altLang="en-US" smtClean="0"/>
              <a:t>2023/4/10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7843979-B72B-495F-BA97-E4047C4CB2B6}" type="slidenum">
              <a:rPr lang="zh-CN" altLang="en-US" smtClean="0"/>
              <a:t>‹#›</a:t>
            </a:fld>
            <a:endParaRPr lang="zh-CN" altLang="en-US"/>
          </a:p>
        </p:txBody>
      </p:sp>
    </p:spTree>
    <p:extLst>
      <p:ext uri="{BB962C8B-B14F-4D97-AF65-F5344CB8AC3E}">
        <p14:creationId xmlns:p14="http://schemas.microsoft.com/office/powerpoint/2010/main" val="1741737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86F592-5772-4BE3-8028-BE8FAACBEED6}" type="datetimeFigureOut">
              <a:rPr lang="zh-CN" altLang="en-US" smtClean="0"/>
              <a:t>2023/4/10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7843979-B72B-495F-BA97-E4047C4CB2B6}" type="slidenum">
              <a:rPr lang="zh-CN" altLang="en-US" smtClean="0"/>
              <a:t>‹#›</a:t>
            </a:fld>
            <a:endParaRPr lang="zh-CN" altLang="en-US"/>
          </a:p>
        </p:txBody>
      </p:sp>
    </p:spTree>
    <p:extLst>
      <p:ext uri="{BB962C8B-B14F-4D97-AF65-F5344CB8AC3E}">
        <p14:creationId xmlns:p14="http://schemas.microsoft.com/office/powerpoint/2010/main" val="2096469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zh-CN" altLang="en-US"/>
              <a:t>单击此处编辑母版标题样式</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686F592-5772-4BE3-8028-BE8FAACBEED6}" type="datetimeFigureOut">
              <a:rPr lang="zh-CN" altLang="en-US" smtClean="0"/>
              <a:t>2023/4/10</a:t>
            </a:fld>
            <a:endParaRPr lang="zh-CN" altLang="en-US"/>
          </a:p>
        </p:txBody>
      </p:sp>
      <p:sp>
        <p:nvSpPr>
          <p:cNvPr id="6" name="Footer Placeholder 5"/>
          <p:cNvSpPr>
            <a:spLocks noGrp="1"/>
          </p:cNvSpPr>
          <p:nvPr>
            <p:ph type="ftr" sz="quarter" idx="11"/>
          </p:nvPr>
        </p:nvSpPr>
        <p:spPr/>
        <p:txBody>
          <a:bodyPr/>
          <a:lstStyle/>
          <a:p>
            <a:endParaRPr lang="zh-CN" alt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7843979-B72B-495F-BA97-E4047C4CB2B6}" type="slidenum">
              <a:rPr lang="zh-CN" altLang="en-US" smtClean="0"/>
              <a:t>‹#›</a:t>
            </a:fld>
            <a:endParaRPr lang="zh-CN" altLang="en-US"/>
          </a:p>
        </p:txBody>
      </p:sp>
    </p:spTree>
    <p:extLst>
      <p:ext uri="{BB962C8B-B14F-4D97-AF65-F5344CB8AC3E}">
        <p14:creationId xmlns:p14="http://schemas.microsoft.com/office/powerpoint/2010/main" val="4004503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686F592-5772-4BE3-8028-BE8FAACBEED6}" type="datetimeFigureOut">
              <a:rPr lang="zh-CN" altLang="en-US" smtClean="0"/>
              <a:t>2023/4/10</a:t>
            </a:fld>
            <a:endParaRPr lang="zh-CN" alt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7843979-B72B-495F-BA97-E4047C4CB2B6}" type="slidenum">
              <a:rPr lang="zh-CN" altLang="en-US" smtClean="0"/>
              <a:t>‹#›</a:t>
            </a:fld>
            <a:endParaRPr lang="zh-CN" altLang="en-US"/>
          </a:p>
        </p:txBody>
      </p:sp>
    </p:spTree>
    <p:extLst>
      <p:ext uri="{BB962C8B-B14F-4D97-AF65-F5344CB8AC3E}">
        <p14:creationId xmlns:p14="http://schemas.microsoft.com/office/powerpoint/2010/main" val="1393824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686F592-5772-4BE3-8028-BE8FAACBEED6}" type="datetimeFigureOut">
              <a:rPr lang="zh-CN" altLang="en-US" smtClean="0"/>
              <a:t>2023/4/10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843979-B72B-495F-BA97-E4047C4CB2B6}" type="slidenum">
              <a:rPr lang="zh-CN" altLang="en-US" smtClean="0"/>
              <a:t>‹#›</a:t>
            </a:fld>
            <a:endParaRPr lang="zh-CN" altLang="en-US"/>
          </a:p>
        </p:txBody>
      </p:sp>
    </p:spTree>
    <p:extLst>
      <p:ext uri="{BB962C8B-B14F-4D97-AF65-F5344CB8AC3E}">
        <p14:creationId xmlns:p14="http://schemas.microsoft.com/office/powerpoint/2010/main" val="2643320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686F592-5772-4BE3-8028-BE8FAACBEED6}" type="datetimeFigureOut">
              <a:rPr lang="zh-CN" altLang="en-US" smtClean="0"/>
              <a:t>2023/4/10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843979-B72B-495F-BA97-E4047C4CB2B6}" type="slidenum">
              <a:rPr lang="zh-CN" altLang="en-US" smtClean="0"/>
              <a:t>‹#›</a:t>
            </a:fld>
            <a:endParaRPr lang="zh-CN" altLang="en-US"/>
          </a:p>
        </p:txBody>
      </p:sp>
    </p:spTree>
    <p:extLst>
      <p:ext uri="{BB962C8B-B14F-4D97-AF65-F5344CB8AC3E}">
        <p14:creationId xmlns:p14="http://schemas.microsoft.com/office/powerpoint/2010/main" val="1638308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F686F592-5772-4BE3-8028-BE8FAACBEED6}" type="datetimeFigureOut">
              <a:rPr lang="zh-CN" altLang="en-US" smtClean="0"/>
              <a:t>2023/4/10</a:t>
            </a:fld>
            <a:endParaRPr lang="zh-CN" alt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zh-CN" alt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37843979-B72B-495F-BA97-E4047C4CB2B6}" type="slidenum">
              <a:rPr lang="zh-CN" altLang="en-US" smtClean="0"/>
              <a:t>‹#›</a:t>
            </a:fld>
            <a:endParaRPr lang="zh-CN" altLang="en-US"/>
          </a:p>
        </p:txBody>
      </p:sp>
    </p:spTree>
    <p:extLst>
      <p:ext uri="{BB962C8B-B14F-4D97-AF65-F5344CB8AC3E}">
        <p14:creationId xmlns:p14="http://schemas.microsoft.com/office/powerpoint/2010/main" val="7939111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sz="8800" dirty="0"/>
              <a:t>第</a:t>
            </a:r>
            <a:r>
              <a:rPr lang="en-US" altLang="zh-CN" sz="8800" dirty="0"/>
              <a:t>3</a:t>
            </a:r>
            <a:r>
              <a:rPr lang="zh-CN" altLang="en-US" sz="8800" dirty="0"/>
              <a:t>章基本套接字</a:t>
            </a:r>
          </a:p>
        </p:txBody>
      </p:sp>
      <p:sp>
        <p:nvSpPr>
          <p:cNvPr id="4" name="副标题 3"/>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099999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69848" y="484632"/>
            <a:ext cx="10058400" cy="1009828"/>
          </a:xfrm>
        </p:spPr>
        <p:txBody>
          <a:bodyPr/>
          <a:lstStyle/>
          <a:p>
            <a:r>
              <a:rPr lang="en-US" altLang="zh-CN" dirty="0"/>
              <a:t>3.1 socket address structures</a:t>
            </a:r>
            <a:endParaRPr lang="zh-CN" altLang="en-US" dirty="0"/>
          </a:p>
        </p:txBody>
      </p:sp>
      <p:sp>
        <p:nvSpPr>
          <p:cNvPr id="3" name="内容占位符 2"/>
          <p:cNvSpPr>
            <a:spLocks noGrp="1"/>
          </p:cNvSpPr>
          <p:nvPr>
            <p:ph idx="1"/>
          </p:nvPr>
        </p:nvSpPr>
        <p:spPr>
          <a:xfrm>
            <a:off x="650916" y="1869082"/>
            <a:ext cx="4722696" cy="4705937"/>
          </a:xfrm>
        </p:spPr>
        <p:txBody>
          <a:bodyPr/>
          <a:lstStyle/>
          <a:p>
            <a:pPr algn="just">
              <a:lnSpc>
                <a:spcPct val="150000"/>
              </a:lnSpc>
            </a:pPr>
            <a:r>
              <a:rPr lang="en-US" altLang="zh-CN" dirty="0"/>
              <a:t>Most socket functions require a pointer to a socket address structure as an argument.</a:t>
            </a:r>
          </a:p>
          <a:p>
            <a:pPr algn="just">
              <a:lnSpc>
                <a:spcPct val="150000"/>
              </a:lnSpc>
            </a:pPr>
            <a:r>
              <a:rPr lang="en-US" altLang="zh-CN" dirty="0"/>
              <a:t>An IPv4 socket address structure, commonly called an “Internet socket address structure”, is named </a:t>
            </a:r>
            <a:r>
              <a:rPr lang="en-US" altLang="zh-CN" dirty="0" err="1"/>
              <a:t>sockaddr_in</a:t>
            </a:r>
            <a:r>
              <a:rPr lang="en-US" altLang="zh-CN" dirty="0"/>
              <a:t> and is defined by including the </a:t>
            </a:r>
            <a:r>
              <a:rPr lang="en-US" altLang="zh-CN" b="1" dirty="0">
                <a:solidFill>
                  <a:srgbClr val="FF0000"/>
                </a:solidFill>
              </a:rPr>
              <a:t>&lt;</a:t>
            </a:r>
            <a:r>
              <a:rPr lang="en-US" altLang="zh-CN" b="1" dirty="0" err="1">
                <a:solidFill>
                  <a:srgbClr val="FF0000"/>
                </a:solidFill>
              </a:rPr>
              <a:t>netinet</a:t>
            </a:r>
            <a:r>
              <a:rPr lang="en-US" altLang="zh-CN" b="1" dirty="0">
                <a:solidFill>
                  <a:srgbClr val="FF0000"/>
                </a:solidFill>
              </a:rPr>
              <a:t>/</a:t>
            </a:r>
            <a:r>
              <a:rPr lang="en-US" altLang="zh-CN" b="1" dirty="0" err="1">
                <a:solidFill>
                  <a:srgbClr val="FF0000"/>
                </a:solidFill>
              </a:rPr>
              <a:t>in.h</a:t>
            </a:r>
            <a:r>
              <a:rPr lang="en-US" altLang="zh-CN" b="1" dirty="0">
                <a:solidFill>
                  <a:srgbClr val="FF0000"/>
                </a:solidFill>
              </a:rPr>
              <a:t>&gt; </a:t>
            </a:r>
            <a:r>
              <a:rPr lang="en-US" altLang="zh-CN" dirty="0"/>
              <a:t>header.</a:t>
            </a:r>
            <a:endParaRPr lang="zh-CN" altLang="en-US" dirty="0"/>
          </a:p>
        </p:txBody>
      </p:sp>
      <p:grpSp>
        <p:nvGrpSpPr>
          <p:cNvPr id="8" name="组合 7"/>
          <p:cNvGrpSpPr/>
          <p:nvPr/>
        </p:nvGrpSpPr>
        <p:grpSpPr>
          <a:xfrm>
            <a:off x="5846209" y="1642203"/>
            <a:ext cx="5695950" cy="2381250"/>
            <a:chOff x="6539059" y="1968486"/>
            <a:chExt cx="5695950" cy="2381250"/>
          </a:xfrm>
        </p:grpSpPr>
        <p:pic>
          <p:nvPicPr>
            <p:cNvPr id="4" name="图片 3"/>
            <p:cNvPicPr>
              <a:picLocks noChangeAspect="1"/>
            </p:cNvPicPr>
            <p:nvPr/>
          </p:nvPicPr>
          <p:blipFill>
            <a:blip r:embed="rId2"/>
            <a:stretch>
              <a:fillRect/>
            </a:stretch>
          </p:blipFill>
          <p:spPr>
            <a:xfrm>
              <a:off x="6539059" y="1968486"/>
              <a:ext cx="5695950" cy="2381250"/>
            </a:xfrm>
            <a:prstGeom prst="rect">
              <a:avLst/>
            </a:prstGeom>
          </p:spPr>
        </p:pic>
        <p:sp>
          <p:nvSpPr>
            <p:cNvPr id="7" name="矩形 6"/>
            <p:cNvSpPr/>
            <p:nvPr/>
          </p:nvSpPr>
          <p:spPr>
            <a:xfrm>
              <a:off x="6815704" y="3089625"/>
              <a:ext cx="2312183" cy="69687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9" name="图片 8"/>
          <p:cNvPicPr>
            <a:picLocks noChangeAspect="1"/>
          </p:cNvPicPr>
          <p:nvPr/>
        </p:nvPicPr>
        <p:blipFill>
          <a:blip r:embed="rId3"/>
          <a:stretch>
            <a:fillRect/>
          </a:stretch>
        </p:blipFill>
        <p:spPr>
          <a:xfrm>
            <a:off x="5846209" y="4112787"/>
            <a:ext cx="5695950" cy="2320932"/>
          </a:xfrm>
          <a:prstGeom prst="rect">
            <a:avLst/>
          </a:prstGeom>
        </p:spPr>
      </p:pic>
    </p:spTree>
    <p:extLst>
      <p:ext uri="{BB962C8B-B14F-4D97-AF65-F5344CB8AC3E}">
        <p14:creationId xmlns:p14="http://schemas.microsoft.com/office/powerpoint/2010/main" val="1884638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69848" y="303363"/>
            <a:ext cx="10058400" cy="985659"/>
          </a:xfrm>
        </p:spPr>
        <p:txBody>
          <a:bodyPr/>
          <a:lstStyle/>
          <a:p>
            <a:r>
              <a:rPr lang="en-US" altLang="zh-CN" dirty="0"/>
              <a:t>Port number</a:t>
            </a:r>
            <a:endParaRPr lang="zh-CN" altLang="en-US" dirty="0"/>
          </a:p>
        </p:txBody>
      </p:sp>
      <p:sp>
        <p:nvSpPr>
          <p:cNvPr id="3" name="内容占位符 2"/>
          <p:cNvSpPr>
            <a:spLocks noGrp="1"/>
          </p:cNvSpPr>
          <p:nvPr>
            <p:ph idx="1"/>
          </p:nvPr>
        </p:nvSpPr>
        <p:spPr>
          <a:xfrm>
            <a:off x="1069848" y="1583081"/>
            <a:ext cx="5000640" cy="4661627"/>
          </a:xfrm>
        </p:spPr>
        <p:txBody>
          <a:bodyPr>
            <a:normAutofit/>
          </a:bodyPr>
          <a:lstStyle/>
          <a:p>
            <a:pPr algn="just">
              <a:lnSpc>
                <a:spcPct val="150000"/>
              </a:lnSpc>
            </a:pPr>
            <a:r>
              <a:rPr lang="en-US" altLang="zh-CN" dirty="0"/>
              <a:t>At any given time, multiple processes can be using any given transport: UDP, SCTP or TCP. </a:t>
            </a:r>
            <a:r>
              <a:rPr lang="en-US" altLang="zh-CN" dirty="0">
                <a:solidFill>
                  <a:srgbClr val="FF0000"/>
                </a:solidFill>
              </a:rPr>
              <a:t>All three transport layers use 16-bit integer port numbers to differentiate between these processes.</a:t>
            </a:r>
          </a:p>
          <a:p>
            <a:pPr algn="just">
              <a:lnSpc>
                <a:spcPct val="150000"/>
              </a:lnSpc>
            </a:pPr>
            <a:r>
              <a:rPr lang="en-US" altLang="zh-CN" dirty="0"/>
              <a:t>The Internet Assigned Numbers Authority (IANA) maintains a list of port number assignment. The port numbers are divided into three ranges:</a:t>
            </a:r>
            <a:endParaRPr lang="zh-CN" altLang="en-US" dirty="0"/>
          </a:p>
        </p:txBody>
      </p:sp>
      <p:sp>
        <p:nvSpPr>
          <p:cNvPr id="4" name="内容占位符 2"/>
          <p:cNvSpPr txBox="1">
            <a:spLocks/>
          </p:cNvSpPr>
          <p:nvPr/>
        </p:nvSpPr>
        <p:spPr>
          <a:xfrm>
            <a:off x="6479041" y="1583080"/>
            <a:ext cx="5000640" cy="4661627"/>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457200" indent="-457200" algn="just">
              <a:lnSpc>
                <a:spcPct val="150000"/>
              </a:lnSpc>
              <a:buFont typeface="+mj-lt"/>
              <a:buAutoNum type="arabicPeriod"/>
            </a:pPr>
            <a:r>
              <a:rPr lang="en-US" altLang="zh-CN" dirty="0"/>
              <a:t>The well-known ports: 0 through 1023. The port numbers are controlled and assigned by the IANA.</a:t>
            </a:r>
          </a:p>
          <a:p>
            <a:pPr marL="457200" indent="-457200" algn="just">
              <a:lnSpc>
                <a:spcPct val="150000"/>
              </a:lnSpc>
              <a:buFont typeface="+mj-lt"/>
              <a:buAutoNum type="arabicPeriod"/>
            </a:pPr>
            <a:r>
              <a:rPr lang="en-US" altLang="zh-CN" dirty="0"/>
              <a:t>The registered ports: 1024 through 49151. These are not controlled by the IANA, but the IANA registers and lists the uses of these ports as a convenience to the community.</a:t>
            </a:r>
          </a:p>
          <a:p>
            <a:pPr marL="457200" indent="-457200" algn="just">
              <a:lnSpc>
                <a:spcPct val="150000"/>
              </a:lnSpc>
              <a:buFont typeface="+mj-lt"/>
              <a:buAutoNum type="arabicPeriod"/>
            </a:pPr>
            <a:r>
              <a:rPr lang="en-US" altLang="zh-CN" dirty="0"/>
              <a:t>The dynamic or private ports: 49152 through 65535.</a:t>
            </a:r>
            <a:endParaRPr lang="zh-CN" altLang="en-US" dirty="0"/>
          </a:p>
        </p:txBody>
      </p:sp>
    </p:spTree>
    <p:extLst>
      <p:ext uri="{BB962C8B-B14F-4D97-AF65-F5344CB8AC3E}">
        <p14:creationId xmlns:p14="http://schemas.microsoft.com/office/powerpoint/2010/main" val="1873433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5742" y="444350"/>
            <a:ext cx="10058400" cy="1046082"/>
          </a:xfrm>
        </p:spPr>
        <p:txBody>
          <a:bodyPr/>
          <a:lstStyle/>
          <a:p>
            <a:r>
              <a:rPr lang="en-US" altLang="zh-CN" dirty="0"/>
              <a:t>3.2 Elementary </a:t>
            </a:r>
            <a:r>
              <a:rPr lang="en-US" altLang="zh-CN" dirty="0" err="1"/>
              <a:t>Tcp</a:t>
            </a:r>
            <a:r>
              <a:rPr lang="en-US" altLang="zh-CN" dirty="0"/>
              <a:t> sockets</a:t>
            </a:r>
            <a:endParaRPr lang="zh-CN" altLang="en-US" dirty="0"/>
          </a:p>
        </p:txBody>
      </p:sp>
      <p:pic>
        <p:nvPicPr>
          <p:cNvPr id="4" name="图片 3"/>
          <p:cNvPicPr>
            <a:picLocks noChangeAspect="1"/>
          </p:cNvPicPr>
          <p:nvPr/>
        </p:nvPicPr>
        <p:blipFill>
          <a:blip r:embed="rId2">
            <a:clrChange>
              <a:clrFrom>
                <a:srgbClr val="FFFFFF"/>
              </a:clrFrom>
              <a:clrTo>
                <a:srgbClr val="FFFFFF">
                  <a:alpha val="0"/>
                </a:srgbClr>
              </a:clrTo>
            </a:clrChange>
          </a:blip>
          <a:stretch>
            <a:fillRect/>
          </a:stretch>
        </p:blipFill>
        <p:spPr>
          <a:xfrm>
            <a:off x="7307106" y="444350"/>
            <a:ext cx="4516081" cy="5920196"/>
          </a:xfrm>
          <a:prstGeom prst="rect">
            <a:avLst/>
          </a:prstGeom>
        </p:spPr>
      </p:pic>
      <p:pic>
        <p:nvPicPr>
          <p:cNvPr id="5" name="图片 4"/>
          <p:cNvPicPr>
            <a:picLocks noChangeAspect="1"/>
          </p:cNvPicPr>
          <p:nvPr/>
        </p:nvPicPr>
        <p:blipFill>
          <a:blip r:embed="rId3"/>
          <a:stretch>
            <a:fillRect/>
          </a:stretch>
        </p:blipFill>
        <p:spPr>
          <a:xfrm>
            <a:off x="635742" y="1869363"/>
            <a:ext cx="6610350" cy="1019175"/>
          </a:xfrm>
          <a:prstGeom prst="rect">
            <a:avLst/>
          </a:prstGeom>
        </p:spPr>
      </p:pic>
      <p:pic>
        <p:nvPicPr>
          <p:cNvPr id="7" name="图片 6"/>
          <p:cNvPicPr>
            <a:picLocks noChangeAspect="1"/>
          </p:cNvPicPr>
          <p:nvPr/>
        </p:nvPicPr>
        <p:blipFill>
          <a:blip r:embed="rId4"/>
          <a:stretch>
            <a:fillRect/>
          </a:stretch>
        </p:blipFill>
        <p:spPr>
          <a:xfrm>
            <a:off x="481579" y="4960856"/>
            <a:ext cx="3219450" cy="1209675"/>
          </a:xfrm>
          <a:prstGeom prst="rect">
            <a:avLst/>
          </a:prstGeom>
        </p:spPr>
      </p:pic>
      <p:pic>
        <p:nvPicPr>
          <p:cNvPr id="8" name="图片 7"/>
          <p:cNvPicPr>
            <a:picLocks noChangeAspect="1"/>
          </p:cNvPicPr>
          <p:nvPr/>
        </p:nvPicPr>
        <p:blipFill>
          <a:blip r:embed="rId5"/>
          <a:stretch>
            <a:fillRect/>
          </a:stretch>
        </p:blipFill>
        <p:spPr>
          <a:xfrm>
            <a:off x="3701029" y="3279067"/>
            <a:ext cx="3506948" cy="1209675"/>
          </a:xfrm>
          <a:prstGeom prst="rect">
            <a:avLst/>
          </a:prstGeom>
        </p:spPr>
      </p:pic>
      <p:pic>
        <p:nvPicPr>
          <p:cNvPr id="9" name="图片 8"/>
          <p:cNvPicPr>
            <a:picLocks noChangeAspect="1"/>
          </p:cNvPicPr>
          <p:nvPr/>
        </p:nvPicPr>
        <p:blipFill>
          <a:blip r:embed="rId6"/>
          <a:stretch>
            <a:fillRect/>
          </a:stretch>
        </p:blipFill>
        <p:spPr>
          <a:xfrm>
            <a:off x="3886430" y="4960856"/>
            <a:ext cx="3219450" cy="1209675"/>
          </a:xfrm>
          <a:prstGeom prst="rect">
            <a:avLst/>
          </a:prstGeom>
        </p:spPr>
      </p:pic>
      <p:sp>
        <p:nvSpPr>
          <p:cNvPr id="10" name="内容占位符 2"/>
          <p:cNvSpPr>
            <a:spLocks noGrp="1"/>
          </p:cNvSpPr>
          <p:nvPr>
            <p:ph idx="1"/>
          </p:nvPr>
        </p:nvSpPr>
        <p:spPr>
          <a:xfrm>
            <a:off x="275492" y="3097362"/>
            <a:ext cx="3364523" cy="1755991"/>
          </a:xfrm>
        </p:spPr>
        <p:txBody>
          <a:bodyPr>
            <a:normAutofit fontScale="92500" lnSpcReduction="10000"/>
          </a:bodyPr>
          <a:lstStyle/>
          <a:p>
            <a:pPr algn="just">
              <a:lnSpc>
                <a:spcPct val="150000"/>
              </a:lnSpc>
            </a:pPr>
            <a:r>
              <a:rPr lang="en-US" altLang="zh-CN" dirty="0"/>
              <a:t>To perform network I/O, the first thing a process must do is call the socket function.</a:t>
            </a:r>
            <a:endParaRPr lang="zh-CN" altLang="en-US" dirty="0"/>
          </a:p>
        </p:txBody>
      </p:sp>
    </p:spTree>
    <p:extLst>
      <p:ext uri="{BB962C8B-B14F-4D97-AF65-F5344CB8AC3E}">
        <p14:creationId xmlns:p14="http://schemas.microsoft.com/office/powerpoint/2010/main" val="361813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47463" y="410307"/>
            <a:ext cx="5588860" cy="4759570"/>
          </a:xfrm>
        </p:spPr>
        <p:txBody>
          <a:bodyPr>
            <a:normAutofit fontScale="92500" lnSpcReduction="20000"/>
          </a:bodyPr>
          <a:lstStyle/>
          <a:p>
            <a:pPr algn="just">
              <a:lnSpc>
                <a:spcPct val="150000"/>
              </a:lnSpc>
            </a:pPr>
            <a:r>
              <a:rPr lang="en-US" altLang="zh-CN" dirty="0"/>
              <a:t>The bind function assigns a local address to a socket. With the Internet protocols, the protocol address is the combination of either a 32-bit IPv4 address or a 128-bit IPv6 address, along with a 16-bit TCP or UDP port number.</a:t>
            </a:r>
          </a:p>
          <a:p>
            <a:pPr algn="just">
              <a:lnSpc>
                <a:spcPct val="150000"/>
              </a:lnSpc>
            </a:pPr>
            <a:r>
              <a:rPr lang="en-US" altLang="zh-CN" dirty="0"/>
              <a:t>A process can bind a specific IP address to its socket. If we specify a IP address of </a:t>
            </a:r>
            <a:r>
              <a:rPr lang="en-US" altLang="zh-CN" dirty="0">
                <a:solidFill>
                  <a:srgbClr val="FF0000"/>
                </a:solidFill>
              </a:rPr>
              <a:t>INADDR_ANY</a:t>
            </a:r>
            <a:r>
              <a:rPr lang="en-US" altLang="zh-CN" dirty="0"/>
              <a:t>, whose value is normally 0. This tells the kernel to choose the IP address.</a:t>
            </a:r>
          </a:p>
          <a:p>
            <a:pPr algn="just">
              <a:lnSpc>
                <a:spcPct val="150000"/>
              </a:lnSpc>
            </a:pPr>
            <a:r>
              <a:rPr lang="en-US" altLang="zh-CN" dirty="0"/>
              <a:t>Normally, a TCP client does not bind an IP address to its socket.</a:t>
            </a:r>
            <a:endParaRPr lang="zh-CN" altLang="en-US" dirty="0"/>
          </a:p>
        </p:txBody>
      </p:sp>
      <p:pic>
        <p:nvPicPr>
          <p:cNvPr id="4" name="图片 3"/>
          <p:cNvPicPr>
            <a:picLocks noChangeAspect="1"/>
          </p:cNvPicPr>
          <p:nvPr/>
        </p:nvPicPr>
        <p:blipFill>
          <a:blip r:embed="rId2"/>
          <a:stretch>
            <a:fillRect/>
          </a:stretch>
        </p:blipFill>
        <p:spPr>
          <a:xfrm>
            <a:off x="747463" y="5253402"/>
            <a:ext cx="8839200" cy="1333500"/>
          </a:xfrm>
          <a:prstGeom prst="rect">
            <a:avLst/>
          </a:prstGeom>
        </p:spPr>
      </p:pic>
      <p:pic>
        <p:nvPicPr>
          <p:cNvPr id="6" name="图片 5"/>
          <p:cNvPicPr>
            <a:picLocks noChangeAspect="1"/>
          </p:cNvPicPr>
          <p:nvPr/>
        </p:nvPicPr>
        <p:blipFill>
          <a:blip r:embed="rId3"/>
          <a:stretch>
            <a:fillRect/>
          </a:stretch>
        </p:blipFill>
        <p:spPr>
          <a:xfrm>
            <a:off x="6447691" y="679938"/>
            <a:ext cx="5562601" cy="4103077"/>
          </a:xfrm>
          <a:prstGeom prst="rect">
            <a:avLst/>
          </a:prstGeom>
        </p:spPr>
      </p:pic>
    </p:spTree>
    <p:extLst>
      <p:ext uri="{BB962C8B-B14F-4D97-AF65-F5344CB8AC3E}">
        <p14:creationId xmlns:p14="http://schemas.microsoft.com/office/powerpoint/2010/main" val="486034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43371" y="515814"/>
            <a:ext cx="5782291" cy="5199185"/>
          </a:xfrm>
        </p:spPr>
        <p:txBody>
          <a:bodyPr/>
          <a:lstStyle/>
          <a:p>
            <a:pPr algn="just">
              <a:lnSpc>
                <a:spcPct val="150000"/>
              </a:lnSpc>
            </a:pPr>
            <a:r>
              <a:rPr lang="en-US" altLang="zh-CN" dirty="0"/>
              <a:t>The listen function is called only by a TCP server and it performs two actions:</a:t>
            </a:r>
          </a:p>
          <a:p>
            <a:pPr marL="457200" indent="-457200" algn="just">
              <a:lnSpc>
                <a:spcPct val="150000"/>
              </a:lnSpc>
              <a:buFont typeface="+mj-lt"/>
              <a:buAutoNum type="arabicPeriod"/>
            </a:pPr>
            <a:r>
              <a:rPr lang="en-US" altLang="zh-CN" dirty="0"/>
              <a:t>In terms of the TCP state transition diagram, the call to listen moves the socket from the CLOSED state tot LISTEN state.</a:t>
            </a:r>
          </a:p>
          <a:p>
            <a:pPr marL="457200" indent="-457200" algn="just">
              <a:lnSpc>
                <a:spcPct val="150000"/>
              </a:lnSpc>
              <a:buFont typeface="+mj-lt"/>
              <a:buAutoNum type="arabicPeriod"/>
            </a:pPr>
            <a:r>
              <a:rPr lang="en-US" altLang="zh-CN" dirty="0"/>
              <a:t>The second argument to this function specifies the maximum number of connections the kernel should queue for this socket.</a:t>
            </a:r>
          </a:p>
          <a:p>
            <a:pPr algn="just">
              <a:lnSpc>
                <a:spcPct val="150000"/>
              </a:lnSpc>
            </a:pPr>
            <a:endParaRPr lang="zh-CN" altLang="en-US" dirty="0"/>
          </a:p>
        </p:txBody>
      </p:sp>
      <p:pic>
        <p:nvPicPr>
          <p:cNvPr id="4" name="图片 3"/>
          <p:cNvPicPr>
            <a:picLocks noChangeAspect="1"/>
          </p:cNvPicPr>
          <p:nvPr/>
        </p:nvPicPr>
        <p:blipFill>
          <a:blip r:embed="rId2"/>
          <a:stretch>
            <a:fillRect/>
          </a:stretch>
        </p:blipFill>
        <p:spPr>
          <a:xfrm>
            <a:off x="401632" y="5188560"/>
            <a:ext cx="8877300" cy="1381125"/>
          </a:xfrm>
          <a:prstGeom prst="rect">
            <a:avLst/>
          </a:prstGeom>
        </p:spPr>
      </p:pic>
      <p:sp>
        <p:nvSpPr>
          <p:cNvPr id="5" name="内容占位符 2"/>
          <p:cNvSpPr txBox="1">
            <a:spLocks/>
          </p:cNvSpPr>
          <p:nvPr/>
        </p:nvSpPr>
        <p:spPr>
          <a:xfrm>
            <a:off x="6238317" y="509951"/>
            <a:ext cx="5725083" cy="5199185"/>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150000"/>
              </a:lnSpc>
            </a:pPr>
            <a:r>
              <a:rPr lang="en-US" altLang="zh-CN" dirty="0">
                <a:solidFill>
                  <a:srgbClr val="FF0000"/>
                </a:solidFill>
              </a:rPr>
              <a:t>This function is normally called after both the socket and bind functions and must be called before calling the accept function.</a:t>
            </a:r>
          </a:p>
          <a:p>
            <a:pPr algn="just">
              <a:lnSpc>
                <a:spcPct val="150000"/>
              </a:lnSpc>
            </a:pPr>
            <a:endParaRPr lang="zh-CN" altLang="en-US" dirty="0"/>
          </a:p>
        </p:txBody>
      </p:sp>
      <p:pic>
        <p:nvPicPr>
          <p:cNvPr id="6" name="图片 5"/>
          <p:cNvPicPr>
            <a:picLocks noChangeAspect="1"/>
          </p:cNvPicPr>
          <p:nvPr/>
        </p:nvPicPr>
        <p:blipFill>
          <a:blip r:embed="rId3"/>
          <a:stretch>
            <a:fillRect/>
          </a:stretch>
        </p:blipFill>
        <p:spPr>
          <a:xfrm>
            <a:off x="7005358" y="2465510"/>
            <a:ext cx="4191000" cy="1962150"/>
          </a:xfrm>
          <a:prstGeom prst="rect">
            <a:avLst/>
          </a:prstGeom>
        </p:spPr>
      </p:pic>
    </p:spTree>
    <p:extLst>
      <p:ext uri="{BB962C8B-B14F-4D97-AF65-F5344CB8AC3E}">
        <p14:creationId xmlns:p14="http://schemas.microsoft.com/office/powerpoint/2010/main" val="2595478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56846" y="169982"/>
            <a:ext cx="5961185" cy="5334000"/>
          </a:xfrm>
        </p:spPr>
        <p:txBody>
          <a:bodyPr>
            <a:normAutofit lnSpcReduction="10000"/>
          </a:bodyPr>
          <a:lstStyle/>
          <a:p>
            <a:pPr algn="just">
              <a:lnSpc>
                <a:spcPct val="150000"/>
              </a:lnSpc>
            </a:pPr>
            <a:r>
              <a:rPr lang="en-US" altLang="zh-CN" dirty="0"/>
              <a:t>To understand the backlog argument, we must realize that for a given listening socket, the kernel maintains two queues:</a:t>
            </a:r>
          </a:p>
          <a:p>
            <a:pPr marL="457200" indent="-457200" algn="just">
              <a:lnSpc>
                <a:spcPct val="150000"/>
              </a:lnSpc>
              <a:buFont typeface="+mj-lt"/>
              <a:buAutoNum type="arabicPeriod"/>
            </a:pPr>
            <a:r>
              <a:rPr lang="en-US" altLang="zh-CN" dirty="0"/>
              <a:t>An incomplete connection queue, which contains an entry for each SYN that has arrived from a client for which the server is awaiting completion of the TCP three-way handshake.</a:t>
            </a:r>
          </a:p>
          <a:p>
            <a:pPr marL="457200" indent="-457200" algn="just">
              <a:lnSpc>
                <a:spcPct val="150000"/>
              </a:lnSpc>
              <a:buFont typeface="+mj-lt"/>
              <a:buAutoNum type="arabicPeriod"/>
            </a:pPr>
            <a:r>
              <a:rPr lang="en-US" altLang="zh-CN" dirty="0"/>
              <a:t>A completed connection queue, which contains an entry for each client with whom the TCP three-way handshake has completed.</a:t>
            </a:r>
            <a:endParaRPr lang="zh-CN" altLang="en-US" dirty="0"/>
          </a:p>
        </p:txBody>
      </p:sp>
      <p:pic>
        <p:nvPicPr>
          <p:cNvPr id="4" name="图片 3"/>
          <p:cNvPicPr>
            <a:picLocks noChangeAspect="1"/>
          </p:cNvPicPr>
          <p:nvPr/>
        </p:nvPicPr>
        <p:blipFill>
          <a:blip r:embed="rId2"/>
          <a:stretch>
            <a:fillRect/>
          </a:stretch>
        </p:blipFill>
        <p:spPr>
          <a:xfrm>
            <a:off x="6642847" y="711708"/>
            <a:ext cx="4864846" cy="2819399"/>
          </a:xfrm>
          <a:prstGeom prst="rect">
            <a:avLst/>
          </a:prstGeom>
        </p:spPr>
      </p:pic>
      <p:pic>
        <p:nvPicPr>
          <p:cNvPr id="5" name="图片 4"/>
          <p:cNvPicPr>
            <a:picLocks noChangeAspect="1"/>
          </p:cNvPicPr>
          <p:nvPr/>
        </p:nvPicPr>
        <p:blipFill>
          <a:blip r:embed="rId3"/>
          <a:stretch>
            <a:fillRect/>
          </a:stretch>
        </p:blipFill>
        <p:spPr>
          <a:xfrm>
            <a:off x="6642847" y="3774464"/>
            <a:ext cx="4864846" cy="2397736"/>
          </a:xfrm>
          <a:prstGeom prst="rect">
            <a:avLst/>
          </a:prstGeom>
        </p:spPr>
      </p:pic>
      <p:sp>
        <p:nvSpPr>
          <p:cNvPr id="6" name="内容占位符 2"/>
          <p:cNvSpPr txBox="1">
            <a:spLocks/>
          </p:cNvSpPr>
          <p:nvPr/>
        </p:nvSpPr>
        <p:spPr>
          <a:xfrm>
            <a:off x="556846" y="5328133"/>
            <a:ext cx="5961185" cy="1518141"/>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150000"/>
              </a:lnSpc>
            </a:pPr>
            <a:r>
              <a:rPr lang="en-US" altLang="zh-CN" dirty="0">
                <a:solidFill>
                  <a:srgbClr val="FF0000"/>
                </a:solidFill>
              </a:rPr>
              <a:t>The backlog argument to listen function has historically specified the maximum value for the sum of both queues.</a:t>
            </a:r>
          </a:p>
          <a:p>
            <a:pPr algn="just">
              <a:lnSpc>
                <a:spcPct val="150000"/>
              </a:lnSpc>
            </a:pPr>
            <a:endParaRPr lang="zh-CN" altLang="en-US" dirty="0"/>
          </a:p>
        </p:txBody>
      </p:sp>
    </p:spTree>
    <p:extLst>
      <p:ext uri="{BB962C8B-B14F-4D97-AF65-F5344CB8AC3E}">
        <p14:creationId xmlns:p14="http://schemas.microsoft.com/office/powerpoint/2010/main" val="4090790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48787" y="708778"/>
            <a:ext cx="6209567" cy="1480505"/>
          </a:xfrm>
        </p:spPr>
        <p:txBody>
          <a:bodyPr/>
          <a:lstStyle/>
          <a:p>
            <a:pPr algn="just">
              <a:lnSpc>
                <a:spcPct val="150000"/>
              </a:lnSpc>
            </a:pPr>
            <a:r>
              <a:rPr lang="en-US" altLang="zh-CN" dirty="0"/>
              <a:t>Accept is called by a TCP server to </a:t>
            </a:r>
            <a:r>
              <a:rPr lang="en-US" altLang="zh-CN" b="1" dirty="0">
                <a:solidFill>
                  <a:srgbClr val="FF0000"/>
                </a:solidFill>
              </a:rPr>
              <a:t>return the next completed connection from the front of the completed connection queue</a:t>
            </a:r>
            <a:r>
              <a:rPr lang="en-US" altLang="zh-CN" dirty="0"/>
              <a:t>.</a:t>
            </a:r>
            <a:endParaRPr lang="zh-CN" altLang="en-US" dirty="0"/>
          </a:p>
        </p:txBody>
      </p:sp>
      <p:pic>
        <p:nvPicPr>
          <p:cNvPr id="4" name="图片 3"/>
          <p:cNvPicPr>
            <a:picLocks noChangeAspect="1"/>
          </p:cNvPicPr>
          <p:nvPr/>
        </p:nvPicPr>
        <p:blipFill>
          <a:blip r:embed="rId2"/>
          <a:stretch>
            <a:fillRect/>
          </a:stretch>
        </p:blipFill>
        <p:spPr>
          <a:xfrm>
            <a:off x="548787" y="2609116"/>
            <a:ext cx="8820150" cy="1343025"/>
          </a:xfrm>
          <a:prstGeom prst="rect">
            <a:avLst/>
          </a:prstGeom>
        </p:spPr>
      </p:pic>
      <p:sp>
        <p:nvSpPr>
          <p:cNvPr id="6" name="内容占位符 2"/>
          <p:cNvSpPr txBox="1">
            <a:spLocks/>
          </p:cNvSpPr>
          <p:nvPr/>
        </p:nvSpPr>
        <p:spPr>
          <a:xfrm>
            <a:off x="6934200" y="661886"/>
            <a:ext cx="4706815" cy="2087176"/>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150000"/>
              </a:lnSpc>
            </a:pPr>
            <a:r>
              <a:rPr lang="en-US" altLang="zh-CN" dirty="0"/>
              <a:t>The </a:t>
            </a:r>
            <a:r>
              <a:rPr lang="en-US" altLang="zh-CN" dirty="0" err="1"/>
              <a:t>cliaddr</a:t>
            </a:r>
            <a:r>
              <a:rPr lang="en-US" altLang="zh-CN" dirty="0"/>
              <a:t> and </a:t>
            </a:r>
            <a:r>
              <a:rPr lang="en-US" altLang="zh-CN" dirty="0" err="1"/>
              <a:t>addrlen</a:t>
            </a:r>
            <a:r>
              <a:rPr lang="en-US" altLang="zh-CN" dirty="0"/>
              <a:t> arguments are used to return the protocol address of client. </a:t>
            </a:r>
            <a:r>
              <a:rPr lang="en-US" altLang="zh-CN" dirty="0" err="1"/>
              <a:t>Addrlen</a:t>
            </a:r>
            <a:r>
              <a:rPr lang="en-US" altLang="zh-CN" dirty="0"/>
              <a:t> is a value-result argument.</a:t>
            </a:r>
            <a:endParaRPr lang="zh-CN" altLang="en-US" dirty="0"/>
          </a:p>
        </p:txBody>
      </p:sp>
      <p:pic>
        <p:nvPicPr>
          <p:cNvPr id="7" name="图片 6"/>
          <p:cNvPicPr>
            <a:picLocks noChangeAspect="1"/>
          </p:cNvPicPr>
          <p:nvPr/>
        </p:nvPicPr>
        <p:blipFill>
          <a:blip r:embed="rId3"/>
          <a:stretch>
            <a:fillRect/>
          </a:stretch>
        </p:blipFill>
        <p:spPr>
          <a:xfrm>
            <a:off x="548787" y="4207852"/>
            <a:ext cx="7686675" cy="2486025"/>
          </a:xfrm>
          <a:prstGeom prst="rect">
            <a:avLst/>
          </a:prstGeom>
        </p:spPr>
      </p:pic>
    </p:spTree>
    <p:extLst>
      <p:ext uri="{BB962C8B-B14F-4D97-AF65-F5344CB8AC3E}">
        <p14:creationId xmlns:p14="http://schemas.microsoft.com/office/powerpoint/2010/main" val="1274222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2"/>
          <a:stretch>
            <a:fillRect/>
          </a:stretch>
        </p:blipFill>
        <p:spPr>
          <a:xfrm>
            <a:off x="1063868" y="2701065"/>
            <a:ext cx="10339941" cy="1079627"/>
          </a:xfrm>
          <a:prstGeom prst="rect">
            <a:avLst/>
          </a:prstGeom>
        </p:spPr>
      </p:pic>
      <p:pic>
        <p:nvPicPr>
          <p:cNvPr id="4" name="图片 3"/>
          <p:cNvPicPr>
            <a:picLocks noChangeAspect="1"/>
          </p:cNvPicPr>
          <p:nvPr/>
        </p:nvPicPr>
        <p:blipFill>
          <a:blip r:embed="rId3"/>
          <a:stretch>
            <a:fillRect/>
          </a:stretch>
        </p:blipFill>
        <p:spPr>
          <a:xfrm>
            <a:off x="1063868" y="3891508"/>
            <a:ext cx="9067800" cy="2781300"/>
          </a:xfrm>
          <a:prstGeom prst="rect">
            <a:avLst/>
          </a:prstGeom>
        </p:spPr>
      </p:pic>
      <p:sp>
        <p:nvSpPr>
          <p:cNvPr id="6" name="内容占位符 2"/>
          <p:cNvSpPr txBox="1">
            <a:spLocks/>
          </p:cNvSpPr>
          <p:nvPr/>
        </p:nvSpPr>
        <p:spPr>
          <a:xfrm>
            <a:off x="1063867" y="708778"/>
            <a:ext cx="10339941" cy="1480505"/>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150000"/>
              </a:lnSpc>
            </a:pPr>
            <a:r>
              <a:rPr lang="en-US" altLang="zh-CN" dirty="0"/>
              <a:t>The connect function is used by a TCP client to establish a connection with a TCP server. </a:t>
            </a:r>
            <a:r>
              <a:rPr lang="en-US" altLang="zh-CN" dirty="0">
                <a:solidFill>
                  <a:srgbClr val="FF0000"/>
                </a:solidFill>
              </a:rPr>
              <a:t>The client does not have to call bind before calling connect</a:t>
            </a:r>
            <a:r>
              <a:rPr lang="en-US" altLang="zh-CN" dirty="0"/>
              <a:t>: the kernel will choose both an port and the source IP address if necessary.</a:t>
            </a:r>
            <a:endParaRPr lang="zh-CN" altLang="en-US" dirty="0"/>
          </a:p>
        </p:txBody>
      </p:sp>
    </p:spTree>
    <p:extLst>
      <p:ext uri="{BB962C8B-B14F-4D97-AF65-F5344CB8AC3E}">
        <p14:creationId xmlns:p14="http://schemas.microsoft.com/office/powerpoint/2010/main" val="3270063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a:spLocks/>
          </p:cNvSpPr>
          <p:nvPr/>
        </p:nvSpPr>
        <p:spPr>
          <a:xfrm>
            <a:off x="1063867" y="693011"/>
            <a:ext cx="10339941" cy="2626566"/>
          </a:xfrm>
          <a:prstGeom prst="rect">
            <a:avLst/>
          </a:prstGeom>
        </p:spPr>
        <p:txBody>
          <a:bodyPr vert="horz" lIns="91440" tIns="45720" rIns="91440" bIns="45720" rtlCol="0">
            <a:normAutofit fontScale="92500" lnSpcReduction="20000"/>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150000"/>
              </a:lnSpc>
            </a:pPr>
            <a:r>
              <a:rPr lang="en-US" altLang="zh-CN" dirty="0"/>
              <a:t>Steam sockets (e.g., TCP sockets) exhibit a behavior with the </a:t>
            </a:r>
            <a:r>
              <a:rPr lang="en-US" altLang="zh-CN" i="1" dirty="0"/>
              <a:t>read</a:t>
            </a:r>
            <a:r>
              <a:rPr lang="en-US" altLang="zh-CN" dirty="0"/>
              <a:t> and </a:t>
            </a:r>
            <a:r>
              <a:rPr lang="en-US" altLang="zh-CN" i="1" dirty="0"/>
              <a:t>write</a:t>
            </a:r>
            <a:r>
              <a:rPr lang="en-US" altLang="zh-CN" dirty="0"/>
              <a:t> functions that differs from normal file I/O. </a:t>
            </a:r>
          </a:p>
          <a:p>
            <a:pPr algn="just">
              <a:lnSpc>
                <a:spcPct val="150000"/>
              </a:lnSpc>
            </a:pPr>
            <a:r>
              <a:rPr lang="en-US" altLang="zh-CN" dirty="0">
                <a:solidFill>
                  <a:schemeClr val="accent1"/>
                </a:solidFill>
              </a:rPr>
              <a:t>A read or write on a stream socket might input or output fewer bytes than requested</a:t>
            </a:r>
            <a:r>
              <a:rPr lang="en-US" altLang="zh-CN" dirty="0"/>
              <a:t>, but this is not an error condition. The reason is that buffer limits might be reached for the socket in the kernel. All that is required to input or output the remaining bytes is for the socket in the kernel.</a:t>
            </a:r>
            <a:endParaRPr lang="zh-CN" altLang="en-US" dirty="0"/>
          </a:p>
        </p:txBody>
      </p:sp>
      <p:sp>
        <p:nvSpPr>
          <p:cNvPr id="2" name="矩形 1"/>
          <p:cNvSpPr/>
          <p:nvPr/>
        </p:nvSpPr>
        <p:spPr>
          <a:xfrm>
            <a:off x="1063867" y="3868143"/>
            <a:ext cx="4879732" cy="18408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err="1">
                <a:solidFill>
                  <a:schemeClr val="tx1"/>
                </a:solidFill>
              </a:rPr>
              <a:t>ssize_t</a:t>
            </a:r>
            <a:r>
              <a:rPr lang="en-US" altLang="zh-CN" dirty="0">
                <a:solidFill>
                  <a:schemeClr val="tx1"/>
                </a:solidFill>
              </a:rPr>
              <a:t> read(</a:t>
            </a:r>
            <a:r>
              <a:rPr lang="en-US" altLang="zh-CN" dirty="0" err="1">
                <a:solidFill>
                  <a:schemeClr val="tx1"/>
                </a:solidFill>
              </a:rPr>
              <a:t>int</a:t>
            </a:r>
            <a:r>
              <a:rPr lang="en-US" altLang="zh-CN" dirty="0">
                <a:solidFill>
                  <a:schemeClr val="tx1"/>
                </a:solidFill>
              </a:rPr>
              <a:t> </a:t>
            </a:r>
            <a:r>
              <a:rPr lang="en-US" altLang="zh-CN" dirty="0" err="1">
                <a:solidFill>
                  <a:schemeClr val="tx1"/>
                </a:solidFill>
              </a:rPr>
              <a:t>fd</a:t>
            </a:r>
            <a:r>
              <a:rPr lang="en-US" altLang="zh-CN" dirty="0">
                <a:solidFill>
                  <a:schemeClr val="tx1"/>
                </a:solidFill>
              </a:rPr>
              <a:t>, void * </a:t>
            </a:r>
            <a:r>
              <a:rPr lang="en-US" altLang="zh-CN" dirty="0" err="1">
                <a:solidFill>
                  <a:schemeClr val="tx1"/>
                </a:solidFill>
              </a:rPr>
              <a:t>buf</a:t>
            </a:r>
            <a:r>
              <a:rPr lang="en-US" altLang="zh-CN" dirty="0">
                <a:solidFill>
                  <a:schemeClr val="tx1"/>
                </a:solidFill>
              </a:rPr>
              <a:t>, </a:t>
            </a:r>
            <a:r>
              <a:rPr lang="en-US" altLang="zh-CN" dirty="0" err="1">
                <a:solidFill>
                  <a:schemeClr val="tx1"/>
                </a:solidFill>
              </a:rPr>
              <a:t>size_t</a:t>
            </a:r>
            <a:r>
              <a:rPr lang="en-US" altLang="zh-CN" dirty="0">
                <a:solidFill>
                  <a:schemeClr val="tx1"/>
                </a:solidFill>
              </a:rPr>
              <a:t> </a:t>
            </a:r>
            <a:r>
              <a:rPr lang="en-US" altLang="zh-CN" dirty="0" err="1">
                <a:solidFill>
                  <a:schemeClr val="tx1"/>
                </a:solidFill>
              </a:rPr>
              <a:t>nbytes</a:t>
            </a:r>
            <a:r>
              <a:rPr lang="en-US" altLang="zh-CN" dirty="0">
                <a:solidFill>
                  <a:schemeClr val="tx1"/>
                </a:solidFill>
              </a:rPr>
              <a:t>);</a:t>
            </a:r>
          </a:p>
          <a:p>
            <a:endParaRPr lang="en-US" altLang="zh-CN" dirty="0">
              <a:solidFill>
                <a:schemeClr val="tx1"/>
              </a:solidFill>
            </a:endParaRPr>
          </a:p>
          <a:p>
            <a:r>
              <a:rPr lang="en-US" altLang="zh-CN" dirty="0" err="1">
                <a:solidFill>
                  <a:schemeClr val="tx1"/>
                </a:solidFill>
              </a:rPr>
              <a:t>ssize_t</a:t>
            </a:r>
            <a:r>
              <a:rPr lang="en-US" altLang="zh-CN" dirty="0">
                <a:solidFill>
                  <a:schemeClr val="tx1"/>
                </a:solidFill>
              </a:rPr>
              <a:t> write(</a:t>
            </a:r>
            <a:r>
              <a:rPr lang="en-US" altLang="zh-CN" dirty="0" err="1">
                <a:solidFill>
                  <a:schemeClr val="tx1"/>
                </a:solidFill>
              </a:rPr>
              <a:t>int</a:t>
            </a:r>
            <a:r>
              <a:rPr lang="en-US" altLang="zh-CN" dirty="0">
                <a:solidFill>
                  <a:schemeClr val="tx1"/>
                </a:solidFill>
              </a:rPr>
              <a:t> </a:t>
            </a:r>
            <a:r>
              <a:rPr lang="en-US" altLang="zh-CN" dirty="0" err="1">
                <a:solidFill>
                  <a:schemeClr val="tx1"/>
                </a:solidFill>
              </a:rPr>
              <a:t>fd</a:t>
            </a:r>
            <a:r>
              <a:rPr lang="en-US" altLang="zh-CN" dirty="0">
                <a:solidFill>
                  <a:schemeClr val="tx1"/>
                </a:solidFill>
              </a:rPr>
              <a:t>, void * </a:t>
            </a:r>
            <a:r>
              <a:rPr lang="en-US" altLang="zh-CN" dirty="0" err="1">
                <a:solidFill>
                  <a:schemeClr val="tx1"/>
                </a:solidFill>
              </a:rPr>
              <a:t>buf</a:t>
            </a:r>
            <a:r>
              <a:rPr lang="en-US" altLang="zh-CN" dirty="0">
                <a:solidFill>
                  <a:schemeClr val="tx1"/>
                </a:solidFill>
              </a:rPr>
              <a:t>, </a:t>
            </a:r>
            <a:r>
              <a:rPr lang="en-US" altLang="zh-CN" dirty="0" err="1">
                <a:solidFill>
                  <a:schemeClr val="tx1"/>
                </a:solidFill>
              </a:rPr>
              <a:t>size_t</a:t>
            </a:r>
            <a:r>
              <a:rPr lang="en-US" altLang="zh-CN" dirty="0">
                <a:solidFill>
                  <a:schemeClr val="tx1"/>
                </a:solidFill>
              </a:rPr>
              <a:t> </a:t>
            </a:r>
            <a:r>
              <a:rPr lang="en-US" altLang="zh-CN" dirty="0" err="1">
                <a:solidFill>
                  <a:schemeClr val="tx1"/>
                </a:solidFill>
              </a:rPr>
              <a:t>nbytes</a:t>
            </a:r>
            <a:r>
              <a:rPr lang="en-US" altLang="zh-CN" dirty="0">
                <a:solidFill>
                  <a:schemeClr val="tx1"/>
                </a:solidFill>
              </a:rPr>
              <a:t>);</a:t>
            </a:r>
            <a:endParaRPr lang="zh-CN" altLang="en-US" dirty="0">
              <a:solidFill>
                <a:schemeClr val="tx1"/>
              </a:solidFill>
            </a:endParaRPr>
          </a:p>
        </p:txBody>
      </p:sp>
      <p:sp>
        <p:nvSpPr>
          <p:cNvPr id="3" name="圆角矩形 2"/>
          <p:cNvSpPr/>
          <p:nvPr/>
        </p:nvSpPr>
        <p:spPr>
          <a:xfrm>
            <a:off x="6692462" y="4173730"/>
            <a:ext cx="961697" cy="122971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Client</a:t>
            </a:r>
            <a:endParaRPr lang="zh-CN" altLang="en-US" dirty="0">
              <a:solidFill>
                <a:schemeClr val="tx1"/>
              </a:solidFill>
            </a:endParaRPr>
          </a:p>
        </p:txBody>
      </p:sp>
      <p:sp>
        <p:nvSpPr>
          <p:cNvPr id="7" name="圆角矩形 6"/>
          <p:cNvSpPr/>
          <p:nvPr/>
        </p:nvSpPr>
        <p:spPr>
          <a:xfrm>
            <a:off x="9793014" y="4173730"/>
            <a:ext cx="1085193" cy="122971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Server</a:t>
            </a:r>
            <a:endParaRPr lang="zh-CN" altLang="en-US" dirty="0">
              <a:solidFill>
                <a:schemeClr val="tx1"/>
              </a:solidFill>
            </a:endParaRPr>
          </a:p>
        </p:txBody>
      </p:sp>
      <p:cxnSp>
        <p:nvCxnSpPr>
          <p:cNvPr id="9" name="直接箭头连接符 8"/>
          <p:cNvCxnSpPr/>
          <p:nvPr/>
        </p:nvCxnSpPr>
        <p:spPr>
          <a:xfrm flipH="1">
            <a:off x="7654125" y="4543062"/>
            <a:ext cx="213885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9012093" y="4173730"/>
            <a:ext cx="732701" cy="369332"/>
          </a:xfrm>
          <a:prstGeom prst="rect">
            <a:avLst/>
          </a:prstGeom>
        </p:spPr>
        <p:txBody>
          <a:bodyPr wrap="none">
            <a:spAutoFit/>
          </a:bodyPr>
          <a:lstStyle/>
          <a:p>
            <a:pPr algn="ctr"/>
            <a:r>
              <a:rPr lang="en-US" altLang="zh-CN" dirty="0"/>
              <a:t>write</a:t>
            </a:r>
            <a:endParaRPr lang="zh-CN" altLang="en-US" dirty="0"/>
          </a:p>
        </p:txBody>
      </p:sp>
      <p:sp>
        <p:nvSpPr>
          <p:cNvPr id="11" name="矩形 10"/>
          <p:cNvSpPr/>
          <p:nvPr/>
        </p:nvSpPr>
        <p:spPr>
          <a:xfrm>
            <a:off x="7702379" y="4173730"/>
            <a:ext cx="668517" cy="369332"/>
          </a:xfrm>
          <a:prstGeom prst="rect">
            <a:avLst/>
          </a:prstGeom>
        </p:spPr>
        <p:txBody>
          <a:bodyPr wrap="none">
            <a:spAutoFit/>
          </a:bodyPr>
          <a:lstStyle/>
          <a:p>
            <a:pPr algn="ctr"/>
            <a:r>
              <a:rPr lang="en-US" altLang="zh-CN" dirty="0"/>
              <a:t>read</a:t>
            </a:r>
            <a:endParaRPr lang="zh-CN" altLang="en-US" dirty="0"/>
          </a:p>
        </p:txBody>
      </p:sp>
      <p:cxnSp>
        <p:nvCxnSpPr>
          <p:cNvPr id="12" name="直接箭头连接符 11"/>
          <p:cNvCxnSpPr/>
          <p:nvPr/>
        </p:nvCxnSpPr>
        <p:spPr>
          <a:xfrm flipH="1">
            <a:off x="7654125" y="5042303"/>
            <a:ext cx="2138855" cy="0"/>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7670321" y="4727728"/>
            <a:ext cx="732701" cy="369332"/>
          </a:xfrm>
          <a:prstGeom prst="rect">
            <a:avLst/>
          </a:prstGeom>
        </p:spPr>
        <p:txBody>
          <a:bodyPr wrap="none">
            <a:spAutoFit/>
          </a:bodyPr>
          <a:lstStyle/>
          <a:p>
            <a:pPr algn="ctr"/>
            <a:r>
              <a:rPr lang="en-US" altLang="zh-CN" dirty="0"/>
              <a:t>write</a:t>
            </a:r>
            <a:endParaRPr lang="zh-CN" altLang="en-US" dirty="0"/>
          </a:p>
        </p:txBody>
      </p:sp>
      <p:sp>
        <p:nvSpPr>
          <p:cNvPr id="14" name="矩形 13"/>
          <p:cNvSpPr/>
          <p:nvPr/>
        </p:nvSpPr>
        <p:spPr>
          <a:xfrm>
            <a:off x="9044184" y="4727728"/>
            <a:ext cx="668517" cy="369332"/>
          </a:xfrm>
          <a:prstGeom prst="rect">
            <a:avLst/>
          </a:prstGeom>
        </p:spPr>
        <p:txBody>
          <a:bodyPr wrap="none">
            <a:spAutoFit/>
          </a:bodyPr>
          <a:lstStyle/>
          <a:p>
            <a:pPr algn="ctr"/>
            <a:r>
              <a:rPr lang="en-US" altLang="zh-CN" dirty="0"/>
              <a:t>read</a:t>
            </a:r>
            <a:endParaRPr lang="zh-CN" altLang="en-US" dirty="0"/>
          </a:p>
        </p:txBody>
      </p:sp>
    </p:spTree>
    <p:extLst>
      <p:ext uri="{BB962C8B-B14F-4D97-AF65-F5344CB8AC3E}">
        <p14:creationId xmlns:p14="http://schemas.microsoft.com/office/powerpoint/2010/main" val="1132931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0" y="0"/>
            <a:ext cx="6804940" cy="6858000"/>
          </a:xfrm>
          <a:prstGeom prst="rect">
            <a:avLst/>
          </a:prstGeom>
        </p:spPr>
      </p:pic>
      <p:pic>
        <p:nvPicPr>
          <p:cNvPr id="5" name="图片 4"/>
          <p:cNvPicPr>
            <a:picLocks noChangeAspect="1"/>
          </p:cNvPicPr>
          <p:nvPr/>
        </p:nvPicPr>
        <p:blipFill>
          <a:blip r:embed="rId3">
            <a:clrChange>
              <a:clrFrom>
                <a:srgbClr val="FFFFFF"/>
              </a:clrFrom>
              <a:clrTo>
                <a:srgbClr val="FFFFFF">
                  <a:alpha val="0"/>
                </a:srgbClr>
              </a:clrTo>
            </a:clrChange>
          </a:blip>
          <a:stretch>
            <a:fillRect/>
          </a:stretch>
        </p:blipFill>
        <p:spPr>
          <a:xfrm>
            <a:off x="6804940" y="0"/>
            <a:ext cx="5220583" cy="6858000"/>
          </a:xfrm>
          <a:prstGeom prst="rect">
            <a:avLst/>
          </a:prstGeom>
        </p:spPr>
      </p:pic>
    </p:spTree>
    <p:extLst>
      <p:ext uri="{BB962C8B-B14F-4D97-AF65-F5344CB8AC3E}">
        <p14:creationId xmlns:p14="http://schemas.microsoft.com/office/powerpoint/2010/main" val="26466022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木头类型">
  <a:themeElements>
    <a:clrScheme name="木头类型">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木头类型">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木头类型">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木材纹理</Template>
  <TotalTime>528</TotalTime>
  <Words>673</Words>
  <Application>Microsoft Office PowerPoint</Application>
  <PresentationFormat>宽屏</PresentationFormat>
  <Paragraphs>37</Paragraphs>
  <Slides>11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11</vt:i4>
      </vt:variant>
    </vt:vector>
  </HeadingPairs>
  <TitlesOfParts>
    <vt:vector size="16" baseType="lpstr">
      <vt:lpstr>方正姚体</vt:lpstr>
      <vt:lpstr>Rockwell</vt:lpstr>
      <vt:lpstr>Rockwell Condensed</vt:lpstr>
      <vt:lpstr>Wingdings</vt:lpstr>
      <vt:lpstr>木头类型</vt:lpstr>
      <vt:lpstr>第3章基本套接字</vt:lpstr>
      <vt:lpstr>3.1 socket address structures</vt:lpstr>
      <vt:lpstr>Port number</vt:lpstr>
      <vt:lpstr>3.2 Elementary Tcp sockets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UNIX网络编程</dc:title>
  <dc:creator>Microsoft 帐户</dc:creator>
  <cp:lastModifiedBy>Microsoft 帐户</cp:lastModifiedBy>
  <cp:revision>63</cp:revision>
  <dcterms:created xsi:type="dcterms:W3CDTF">2023-03-06T02:06:59Z</dcterms:created>
  <dcterms:modified xsi:type="dcterms:W3CDTF">2023-04-10T01:40:44Z</dcterms:modified>
</cp:coreProperties>
</file>