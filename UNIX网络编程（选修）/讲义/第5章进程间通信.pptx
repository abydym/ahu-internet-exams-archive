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5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36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554892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2420020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a:xfrm>
            <a:off x="8593667" y="6272784"/>
            <a:ext cx="2644309" cy="365125"/>
          </a:xfrm>
        </p:spPr>
        <p:txBody>
          <a:bodyPr/>
          <a:lstStyle/>
          <a:p>
            <a:fld id="{A153F48B-59A1-4145-A4CD-EFD5000F1264}" type="datetimeFigureOut">
              <a:rPr lang="zh-CN" altLang="en-US" smtClean="0"/>
              <a:t>2023/5/21</a:t>
            </a:fld>
            <a:endParaRPr lang="zh-CN" altLang="en-US"/>
          </a:p>
        </p:txBody>
      </p:sp>
      <p:sp>
        <p:nvSpPr>
          <p:cNvPr id="5" name="Footer Placeholder 4"/>
          <p:cNvSpPr>
            <a:spLocks noGrp="1"/>
          </p:cNvSpPr>
          <p:nvPr>
            <p:ph type="ftr" sz="quarter" idx="11"/>
          </p:nvPr>
        </p:nvSpPr>
        <p:spPr>
          <a:xfrm>
            <a:off x="2182708" y="6272784"/>
            <a:ext cx="6327648" cy="365125"/>
          </a:xfrm>
        </p:spPr>
        <p:txBody>
          <a:bodyPr/>
          <a:lstStyle/>
          <a:p>
            <a:endParaRPr lang="zh-CN" alt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534951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149407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31346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1676230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2595849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6" name="Footer Placeholder 5"/>
          <p:cNvSpPr>
            <a:spLocks noGrp="1"/>
          </p:cNvSpPr>
          <p:nvPr>
            <p:ph type="ftr" sz="quarter" idx="11"/>
          </p:nvPr>
        </p:nvSpPr>
        <p:spPr/>
        <p:txBody>
          <a:bodyPr/>
          <a:lstStyle/>
          <a:p>
            <a:endParaRPr lang="zh-CN" alt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233184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A153F48B-59A1-4145-A4CD-EFD5000F1264}" type="datetimeFigureOut">
              <a:rPr lang="zh-CN" altLang="en-US" smtClean="0"/>
              <a:t>2023/5/21</a:t>
            </a:fld>
            <a:endParaRPr lang="zh-CN" alt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802196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608378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2023/5/21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386452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153F48B-59A1-4145-A4CD-EFD5000F1264}" type="datetimeFigureOut">
              <a:rPr lang="zh-CN" altLang="en-US" smtClean="0"/>
              <a:t>2023/5/21</a:t>
            </a:fld>
            <a:endParaRPr lang="zh-CN" alt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zh-CN" alt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1261237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8800" dirty="0" smtClean="0"/>
              <a:t>第五章 进程间通信</a:t>
            </a:r>
            <a:endParaRPr lang="zh-CN" altLang="en-US" sz="8800" dirty="0"/>
          </a:p>
        </p:txBody>
      </p:sp>
    </p:spTree>
    <p:extLst>
      <p:ext uri="{BB962C8B-B14F-4D97-AF65-F5344CB8AC3E}">
        <p14:creationId xmlns:p14="http://schemas.microsoft.com/office/powerpoint/2010/main" val="2106840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408" y="356667"/>
            <a:ext cx="10058400" cy="1068271"/>
          </a:xfrm>
        </p:spPr>
        <p:txBody>
          <a:bodyPr>
            <a:normAutofit/>
          </a:bodyPr>
          <a:lstStyle/>
          <a:p>
            <a:r>
              <a:rPr lang="en-US" altLang="zh-CN" dirty="0" smtClean="0"/>
              <a:t>5.1 </a:t>
            </a:r>
            <a:r>
              <a:rPr lang="en-US" altLang="zh-CN" dirty="0" err="1" smtClean="0"/>
              <a:t>Interprocess</a:t>
            </a:r>
            <a:r>
              <a:rPr lang="en-US" altLang="zh-CN" dirty="0" smtClean="0"/>
              <a:t> Communication</a:t>
            </a:r>
            <a:endParaRPr lang="zh-CN" altLang="en-US" dirty="0"/>
          </a:p>
        </p:txBody>
      </p:sp>
      <p:sp>
        <p:nvSpPr>
          <p:cNvPr id="3" name="内容占位符 2"/>
          <p:cNvSpPr>
            <a:spLocks noGrp="1"/>
          </p:cNvSpPr>
          <p:nvPr>
            <p:ph idx="1"/>
          </p:nvPr>
        </p:nvSpPr>
        <p:spPr>
          <a:xfrm>
            <a:off x="854408" y="1598152"/>
            <a:ext cx="10303689" cy="4945650"/>
          </a:xfrm>
        </p:spPr>
        <p:txBody>
          <a:bodyPr>
            <a:normAutofit fontScale="85000" lnSpcReduction="10000"/>
          </a:bodyPr>
          <a:lstStyle/>
          <a:p>
            <a:pPr algn="just">
              <a:lnSpc>
                <a:spcPct val="150000"/>
              </a:lnSpc>
            </a:pPr>
            <a:r>
              <a:rPr lang="en-US" altLang="zh-CN" b="1" dirty="0" smtClean="0"/>
              <a:t>Identifiers and Keys</a:t>
            </a:r>
          </a:p>
          <a:p>
            <a:pPr algn="just">
              <a:lnSpc>
                <a:spcPct val="150000"/>
              </a:lnSpc>
            </a:pPr>
            <a:r>
              <a:rPr lang="en-US" altLang="zh-CN" b="1" dirty="0" smtClean="0">
                <a:solidFill>
                  <a:srgbClr val="FF0000"/>
                </a:solidFill>
              </a:rPr>
              <a:t>Each IPC structure (message queue, semaphore, or shared memory segment) in the kernel is referred to by a non-negative integer identifier. </a:t>
            </a:r>
            <a:r>
              <a:rPr lang="en-US" altLang="zh-CN" dirty="0" smtClean="0"/>
              <a:t>To send a message to or fetch a message from a message queue, for example, all we need know is the identifier for the queue.</a:t>
            </a:r>
          </a:p>
          <a:p>
            <a:pPr algn="just">
              <a:lnSpc>
                <a:spcPct val="150000"/>
              </a:lnSpc>
            </a:pPr>
            <a:r>
              <a:rPr lang="en-US" altLang="zh-CN" dirty="0" smtClean="0"/>
              <a:t>The identifier is an internal name for an IPC object. Cooperating processes need an external  naming scheme to be able to rendezvous using the same IPC object. For this purpose, </a:t>
            </a:r>
            <a:r>
              <a:rPr lang="en-US" altLang="zh-CN" b="1" dirty="0" smtClean="0">
                <a:solidFill>
                  <a:srgbClr val="FF0000"/>
                </a:solidFill>
              </a:rPr>
              <a:t>an IPC object is associated with a key that acts as an external name.</a:t>
            </a:r>
          </a:p>
          <a:p>
            <a:pPr algn="just">
              <a:lnSpc>
                <a:spcPct val="150000"/>
              </a:lnSpc>
            </a:pPr>
            <a:r>
              <a:rPr lang="en-US" altLang="zh-CN" b="1" dirty="0">
                <a:solidFill>
                  <a:srgbClr val="FF0000"/>
                </a:solidFill>
              </a:rPr>
              <a:t>Whenever an IPC structure is being created, a key must be specified. </a:t>
            </a:r>
            <a:r>
              <a:rPr lang="en-US" altLang="zh-CN" dirty="0"/>
              <a:t>The data type of this key is the primitive system data type </a:t>
            </a:r>
            <a:r>
              <a:rPr lang="en-US" altLang="zh-CN" dirty="0" err="1"/>
              <a:t>Key_t</a:t>
            </a:r>
            <a:r>
              <a:rPr lang="en-US" altLang="zh-CN" dirty="0"/>
              <a:t>, which is often defined  as a long integer in the header &lt;sys/</a:t>
            </a:r>
            <a:r>
              <a:rPr lang="en-US" altLang="zh-CN" dirty="0" err="1"/>
              <a:t>types.h</a:t>
            </a:r>
            <a:r>
              <a:rPr lang="en-US" altLang="zh-CN" dirty="0"/>
              <a:t>&gt;. </a:t>
            </a:r>
            <a:r>
              <a:rPr lang="en-US" altLang="zh-CN" b="1" dirty="0">
                <a:solidFill>
                  <a:srgbClr val="FF0000"/>
                </a:solidFill>
              </a:rPr>
              <a:t>The key is converted into an identifier by the kernel.</a:t>
            </a:r>
          </a:p>
          <a:p>
            <a:pPr algn="just">
              <a:lnSpc>
                <a:spcPct val="150000"/>
              </a:lnSpc>
            </a:pPr>
            <a:endParaRPr lang="en-US" altLang="zh-CN" b="1" dirty="0" smtClean="0">
              <a:solidFill>
                <a:srgbClr val="FF0000"/>
              </a:solidFill>
            </a:endParaRPr>
          </a:p>
        </p:txBody>
      </p:sp>
    </p:spTree>
    <p:extLst>
      <p:ext uri="{BB962C8B-B14F-4D97-AF65-F5344CB8AC3E}">
        <p14:creationId xmlns:p14="http://schemas.microsoft.com/office/powerpoint/2010/main" val="4085748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3454" y="520886"/>
            <a:ext cx="10058400" cy="872869"/>
          </a:xfrm>
        </p:spPr>
        <p:txBody>
          <a:bodyPr/>
          <a:lstStyle/>
          <a:p>
            <a:r>
              <a:rPr lang="en-US" altLang="zh-CN" dirty="0" smtClean="0"/>
              <a:t>5.2 message queue</a:t>
            </a:r>
            <a:endParaRPr lang="zh-CN" altLang="en-US" dirty="0"/>
          </a:p>
        </p:txBody>
      </p:sp>
      <p:sp>
        <p:nvSpPr>
          <p:cNvPr id="3" name="内容占位符 2"/>
          <p:cNvSpPr>
            <a:spLocks noGrp="1"/>
          </p:cNvSpPr>
          <p:nvPr>
            <p:ph idx="1"/>
          </p:nvPr>
        </p:nvSpPr>
        <p:spPr>
          <a:xfrm>
            <a:off x="1013454" y="1707955"/>
            <a:ext cx="10058400" cy="4012080"/>
          </a:xfrm>
        </p:spPr>
        <p:txBody>
          <a:bodyPr/>
          <a:lstStyle/>
          <a:p>
            <a:pPr>
              <a:lnSpc>
                <a:spcPct val="150000"/>
              </a:lnSpc>
            </a:pPr>
            <a:r>
              <a:rPr lang="en-US" altLang="zh-CN" b="1" dirty="0" smtClean="0">
                <a:solidFill>
                  <a:srgbClr val="FF0000"/>
                </a:solidFill>
              </a:rPr>
              <a:t>A message queue is a linked list of message stored within the kernel and identified by a message queue identifier.</a:t>
            </a:r>
          </a:p>
          <a:p>
            <a:pPr>
              <a:lnSpc>
                <a:spcPct val="150000"/>
              </a:lnSpc>
            </a:pPr>
            <a:r>
              <a:rPr lang="en-US" altLang="zh-CN" dirty="0" smtClean="0"/>
              <a:t>A new queue is created or an existing queue opened by </a:t>
            </a:r>
            <a:r>
              <a:rPr lang="en-US" altLang="zh-CN" i="1" dirty="0" err="1" smtClean="0"/>
              <a:t>msgget</a:t>
            </a:r>
            <a:r>
              <a:rPr lang="en-US" altLang="zh-CN" dirty="0" smtClean="0"/>
              <a:t>. New messages are added to the end of a queue by </a:t>
            </a:r>
            <a:r>
              <a:rPr lang="en-US" altLang="zh-CN" i="1" dirty="0" err="1" smtClean="0"/>
              <a:t>msgsnd</a:t>
            </a:r>
            <a:r>
              <a:rPr lang="en-US" altLang="zh-CN" dirty="0" smtClean="0"/>
              <a:t>. Every message has a positive long integer type field, a non-negative length, and the actual data types, all of which are specified to </a:t>
            </a:r>
            <a:r>
              <a:rPr lang="en-US" altLang="zh-CN" i="1" dirty="0" err="1" smtClean="0"/>
              <a:t>msgsnd</a:t>
            </a:r>
            <a:r>
              <a:rPr lang="en-US" altLang="zh-CN" dirty="0" smtClean="0"/>
              <a:t> when the </a:t>
            </a:r>
            <a:r>
              <a:rPr lang="en-US" altLang="zh-CN" i="1" dirty="0" smtClean="0"/>
              <a:t>message</a:t>
            </a:r>
            <a:r>
              <a:rPr lang="en-US" altLang="zh-CN" dirty="0" smtClean="0"/>
              <a:t> is added to a queue. Messages are fetched from a queue by </a:t>
            </a:r>
            <a:r>
              <a:rPr lang="en-US" altLang="zh-CN" dirty="0" err="1" smtClean="0"/>
              <a:t>msgrcv</a:t>
            </a:r>
            <a:r>
              <a:rPr lang="en-US" altLang="zh-CN" dirty="0" smtClean="0"/>
              <a:t>. We don’t have to fetch the messages in a first-in, first-out order. Instead, we can fetch messages based on their type fields.</a:t>
            </a:r>
          </a:p>
        </p:txBody>
      </p:sp>
    </p:spTree>
    <p:extLst>
      <p:ext uri="{BB962C8B-B14F-4D97-AF65-F5344CB8AC3E}">
        <p14:creationId xmlns:p14="http://schemas.microsoft.com/office/powerpoint/2010/main" val="4042758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733131"/>
            <a:ext cx="10058400" cy="5439069"/>
          </a:xfrm>
        </p:spPr>
        <p:txBody>
          <a:bodyPr/>
          <a:lstStyle/>
          <a:p>
            <a:r>
              <a:rPr lang="en-US" altLang="zh-CN" dirty="0" smtClean="0"/>
              <a:t>Each queue has the following </a:t>
            </a:r>
            <a:r>
              <a:rPr lang="en-US" altLang="zh-CN" dirty="0" err="1" smtClean="0"/>
              <a:t>msqid_ds</a:t>
            </a:r>
            <a:r>
              <a:rPr lang="en-US" altLang="zh-CN" dirty="0" smtClean="0"/>
              <a:t> structure associated with it:</a:t>
            </a:r>
          </a:p>
          <a:p>
            <a:pPr marL="0" indent="0">
              <a:buNone/>
            </a:pPr>
            <a:r>
              <a:rPr lang="en-US" altLang="zh-CN" dirty="0" err="1" smtClean="0"/>
              <a:t>struct</a:t>
            </a:r>
            <a:r>
              <a:rPr lang="en-US" altLang="zh-CN" dirty="0" smtClean="0"/>
              <a:t> </a:t>
            </a:r>
            <a:r>
              <a:rPr lang="en-US" altLang="zh-CN" dirty="0" err="1" smtClean="0"/>
              <a:t>msqid_ds</a:t>
            </a:r>
            <a:r>
              <a:rPr lang="en-US" altLang="zh-CN" dirty="0" smtClean="0"/>
              <a:t>{</a:t>
            </a:r>
          </a:p>
          <a:p>
            <a:pPr marL="0" indent="0">
              <a:buNone/>
            </a:pPr>
            <a:r>
              <a:rPr lang="en-US" altLang="zh-CN" dirty="0"/>
              <a:t>	</a:t>
            </a:r>
            <a:r>
              <a:rPr lang="en-US" altLang="zh-CN" dirty="0" err="1" smtClean="0"/>
              <a:t>struct</a:t>
            </a:r>
            <a:r>
              <a:rPr lang="en-US" altLang="zh-CN" dirty="0" smtClean="0"/>
              <a:t> </a:t>
            </a:r>
            <a:r>
              <a:rPr lang="en-US" altLang="zh-CN" dirty="0" err="1" smtClean="0"/>
              <a:t>ipc_perm</a:t>
            </a:r>
            <a:r>
              <a:rPr lang="en-US" altLang="zh-CN" dirty="0" smtClean="0"/>
              <a:t>	</a:t>
            </a:r>
            <a:r>
              <a:rPr lang="en-US" altLang="zh-CN" dirty="0" err="1" smtClean="0"/>
              <a:t>msg_perm</a:t>
            </a:r>
            <a:r>
              <a:rPr lang="en-US" altLang="zh-CN" dirty="0" smtClean="0"/>
              <a:t>;</a:t>
            </a:r>
          </a:p>
          <a:p>
            <a:pPr marL="0" indent="0">
              <a:buNone/>
            </a:pPr>
            <a:r>
              <a:rPr lang="en-US" altLang="zh-CN" dirty="0"/>
              <a:t>	</a:t>
            </a:r>
            <a:r>
              <a:rPr lang="en-US" altLang="zh-CN" dirty="0" err="1" smtClean="0"/>
              <a:t>struct</a:t>
            </a:r>
            <a:r>
              <a:rPr lang="en-US" altLang="zh-CN" dirty="0" smtClean="0"/>
              <a:t> </a:t>
            </a:r>
            <a:r>
              <a:rPr lang="en-US" altLang="zh-CN" dirty="0" err="1" smtClean="0"/>
              <a:t>msgqnum_t</a:t>
            </a:r>
            <a:r>
              <a:rPr lang="en-US" altLang="zh-CN" dirty="0" smtClean="0"/>
              <a:t>	</a:t>
            </a:r>
            <a:r>
              <a:rPr lang="en-US" altLang="zh-CN" dirty="0" err="1" smtClean="0"/>
              <a:t>msg_qnum</a:t>
            </a:r>
            <a:r>
              <a:rPr lang="en-US" altLang="zh-CN" dirty="0" smtClean="0"/>
              <a:t>; 	//number of messages on queue</a:t>
            </a:r>
          </a:p>
          <a:p>
            <a:pPr marL="0" indent="0">
              <a:buNone/>
            </a:pPr>
            <a:r>
              <a:rPr lang="en-US" altLang="zh-CN" dirty="0"/>
              <a:t>	</a:t>
            </a:r>
            <a:r>
              <a:rPr lang="en-US" altLang="zh-CN" dirty="0" err="1" smtClean="0"/>
              <a:t>msg_len_t</a:t>
            </a:r>
            <a:r>
              <a:rPr lang="en-US" altLang="zh-CN" dirty="0" smtClean="0"/>
              <a:t>		</a:t>
            </a:r>
            <a:r>
              <a:rPr lang="en-US" altLang="zh-CN" dirty="0" err="1" smtClean="0"/>
              <a:t>msg_qbytes</a:t>
            </a:r>
            <a:r>
              <a:rPr lang="en-US" altLang="zh-CN" dirty="0" smtClean="0"/>
              <a:t>;	//max number of bytes on queue</a:t>
            </a:r>
          </a:p>
          <a:p>
            <a:pPr marL="0" indent="0">
              <a:buNone/>
            </a:pPr>
            <a:r>
              <a:rPr lang="en-US" altLang="zh-CN" dirty="0"/>
              <a:t>	</a:t>
            </a:r>
            <a:r>
              <a:rPr lang="en-US" altLang="zh-CN" dirty="0" err="1" smtClean="0"/>
              <a:t>pid_t</a:t>
            </a:r>
            <a:r>
              <a:rPr lang="en-US" altLang="zh-CN" dirty="0" smtClean="0"/>
              <a:t>			</a:t>
            </a:r>
            <a:r>
              <a:rPr lang="en-US" altLang="zh-CN" dirty="0" err="1" smtClean="0"/>
              <a:t>msg_lspid</a:t>
            </a:r>
            <a:r>
              <a:rPr lang="en-US" altLang="zh-CN" dirty="0" smtClean="0"/>
              <a:t>;	//</a:t>
            </a:r>
            <a:r>
              <a:rPr lang="en-US" altLang="zh-CN" dirty="0" err="1" smtClean="0"/>
              <a:t>pid</a:t>
            </a:r>
            <a:r>
              <a:rPr lang="en-US" altLang="zh-CN" dirty="0" smtClean="0"/>
              <a:t> of last </a:t>
            </a:r>
            <a:r>
              <a:rPr lang="en-US" altLang="zh-CN" dirty="0" err="1" smtClean="0"/>
              <a:t>msgsnd</a:t>
            </a:r>
            <a:r>
              <a:rPr lang="en-US" altLang="zh-CN" dirty="0" smtClean="0"/>
              <a:t>()</a:t>
            </a:r>
          </a:p>
          <a:p>
            <a:pPr marL="0" indent="0">
              <a:buNone/>
            </a:pPr>
            <a:r>
              <a:rPr lang="en-US" altLang="zh-CN" dirty="0"/>
              <a:t>	</a:t>
            </a:r>
            <a:r>
              <a:rPr lang="en-US" altLang="zh-CN" dirty="0" err="1" smtClean="0"/>
              <a:t>pid_t</a:t>
            </a:r>
            <a:r>
              <a:rPr lang="en-US" altLang="zh-CN" dirty="0" smtClean="0"/>
              <a:t>			</a:t>
            </a:r>
            <a:r>
              <a:rPr lang="en-US" altLang="zh-CN" dirty="0" err="1" smtClean="0"/>
              <a:t>msg_lrpid</a:t>
            </a:r>
            <a:r>
              <a:rPr lang="en-US" altLang="zh-CN" dirty="0" smtClean="0"/>
              <a:t>;	//</a:t>
            </a:r>
            <a:r>
              <a:rPr lang="en-US" altLang="zh-CN" dirty="0" err="1" smtClean="0"/>
              <a:t>pid</a:t>
            </a:r>
            <a:r>
              <a:rPr lang="en-US" altLang="zh-CN" dirty="0" smtClean="0"/>
              <a:t> of last </a:t>
            </a:r>
            <a:r>
              <a:rPr lang="en-US" altLang="zh-CN" dirty="0" err="1" smtClean="0"/>
              <a:t>msgrcv</a:t>
            </a:r>
            <a:r>
              <a:rPr lang="en-US" altLang="zh-CN" dirty="0" smtClean="0"/>
              <a:t>()</a:t>
            </a:r>
          </a:p>
          <a:p>
            <a:pPr marL="0" indent="0">
              <a:buNone/>
            </a:pPr>
            <a:r>
              <a:rPr lang="en-US" altLang="zh-CN" dirty="0"/>
              <a:t>	</a:t>
            </a:r>
            <a:r>
              <a:rPr lang="en-US" altLang="zh-CN" dirty="0" err="1" smtClean="0"/>
              <a:t>time_t</a:t>
            </a:r>
            <a:r>
              <a:rPr lang="en-US" altLang="zh-CN" dirty="0" smtClean="0"/>
              <a:t>			</a:t>
            </a:r>
            <a:r>
              <a:rPr lang="en-US" altLang="zh-CN" dirty="0" err="1" smtClean="0"/>
              <a:t>msg_stime</a:t>
            </a:r>
            <a:r>
              <a:rPr lang="en-US" altLang="zh-CN" dirty="0" smtClean="0"/>
              <a:t>;	//last </a:t>
            </a:r>
            <a:r>
              <a:rPr lang="en-US" altLang="zh-CN" dirty="0" err="1" smtClean="0"/>
              <a:t>msgsnd</a:t>
            </a:r>
            <a:r>
              <a:rPr lang="en-US" altLang="zh-CN" dirty="0" smtClean="0"/>
              <a:t>() time</a:t>
            </a:r>
          </a:p>
          <a:p>
            <a:pPr marL="0" indent="0">
              <a:buNone/>
            </a:pPr>
            <a:r>
              <a:rPr lang="en-US" altLang="zh-CN" dirty="0"/>
              <a:t>	</a:t>
            </a:r>
            <a:r>
              <a:rPr lang="en-US" altLang="zh-CN" dirty="0" err="1" smtClean="0"/>
              <a:t>time_t</a:t>
            </a:r>
            <a:r>
              <a:rPr lang="en-US" altLang="zh-CN" dirty="0" smtClean="0"/>
              <a:t>			</a:t>
            </a:r>
            <a:r>
              <a:rPr lang="en-US" altLang="zh-CN" dirty="0" err="1" smtClean="0"/>
              <a:t>msg_rtime</a:t>
            </a:r>
            <a:r>
              <a:rPr lang="en-US" altLang="zh-CN" dirty="0" smtClean="0"/>
              <a:t>;	//last </a:t>
            </a:r>
            <a:r>
              <a:rPr lang="en-US" altLang="zh-CN" dirty="0" err="1" smtClean="0"/>
              <a:t>msgrcv</a:t>
            </a:r>
            <a:r>
              <a:rPr lang="en-US" altLang="zh-CN" dirty="0" smtClean="0"/>
              <a:t>()	time</a:t>
            </a:r>
          </a:p>
          <a:p>
            <a:pPr marL="0" indent="0">
              <a:buNone/>
            </a:pPr>
            <a:r>
              <a:rPr lang="en-US" altLang="zh-CN" dirty="0"/>
              <a:t>	</a:t>
            </a:r>
            <a:r>
              <a:rPr lang="en-US" altLang="zh-CN" dirty="0" err="1" smtClean="0"/>
              <a:t>time_t</a:t>
            </a:r>
            <a:r>
              <a:rPr lang="en-US" altLang="zh-CN" dirty="0" smtClean="0"/>
              <a:t>			</a:t>
            </a:r>
            <a:r>
              <a:rPr lang="en-US" altLang="zh-CN" dirty="0" err="1" smtClean="0"/>
              <a:t>msg_ctime</a:t>
            </a:r>
            <a:r>
              <a:rPr lang="en-US" altLang="zh-CN" dirty="0" smtClean="0"/>
              <a:t>;	//last change time</a:t>
            </a:r>
          </a:p>
          <a:p>
            <a:pPr marL="0" indent="0">
              <a:buNone/>
            </a:pPr>
            <a:r>
              <a:rPr lang="en-US" altLang="zh-CN" dirty="0"/>
              <a:t>	</a:t>
            </a:r>
            <a:r>
              <a:rPr lang="en-US" altLang="zh-CN" dirty="0" smtClean="0"/>
              <a:t>…</a:t>
            </a:r>
            <a:endParaRPr lang="en-US" altLang="zh-CN" dirty="0"/>
          </a:p>
          <a:p>
            <a:pPr marL="0" indent="0">
              <a:buNone/>
            </a:pPr>
            <a:r>
              <a:rPr lang="en-US" altLang="zh-CN" dirty="0" smtClean="0"/>
              <a:t>};</a:t>
            </a:r>
            <a:endParaRPr lang="zh-CN" altLang="en-US" dirty="0"/>
          </a:p>
        </p:txBody>
      </p:sp>
    </p:spTree>
    <p:extLst>
      <p:ext uri="{BB962C8B-B14F-4D97-AF65-F5344CB8AC3E}">
        <p14:creationId xmlns:p14="http://schemas.microsoft.com/office/powerpoint/2010/main" val="4164782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3876" y="745216"/>
            <a:ext cx="10058400" cy="2026181"/>
          </a:xfrm>
        </p:spPr>
        <p:txBody>
          <a:bodyPr/>
          <a:lstStyle/>
          <a:p>
            <a:pPr algn="just">
              <a:lnSpc>
                <a:spcPct val="150000"/>
              </a:lnSpc>
            </a:pPr>
            <a:r>
              <a:rPr lang="en-US" altLang="zh-CN" dirty="0" smtClean="0"/>
              <a:t>The first function normally called is </a:t>
            </a:r>
            <a:r>
              <a:rPr lang="en-US" altLang="zh-CN" i="1" dirty="0" err="1" smtClean="0"/>
              <a:t>msgget</a:t>
            </a:r>
            <a:r>
              <a:rPr lang="en-US" altLang="zh-CN" i="1" dirty="0" smtClean="0"/>
              <a:t> </a:t>
            </a:r>
            <a:r>
              <a:rPr lang="en-US" altLang="zh-CN" dirty="0" smtClean="0"/>
              <a:t>to either open existing queue or create a new queue. It returns message queue ID if OK, -1 on error.</a:t>
            </a:r>
          </a:p>
          <a:p>
            <a:pPr marL="0" indent="0" algn="just">
              <a:lnSpc>
                <a:spcPct val="100000"/>
              </a:lnSpc>
              <a:buNone/>
            </a:pPr>
            <a:r>
              <a:rPr lang="en-US" altLang="zh-CN" i="1" dirty="0"/>
              <a:t>#include &lt;sys/</a:t>
            </a:r>
            <a:r>
              <a:rPr lang="en-US" altLang="zh-CN" i="1" dirty="0" err="1"/>
              <a:t>msg.h</a:t>
            </a:r>
            <a:r>
              <a:rPr lang="en-US" altLang="zh-CN" i="1" dirty="0"/>
              <a:t>&gt;</a:t>
            </a:r>
          </a:p>
          <a:p>
            <a:pPr marL="0" indent="0" algn="just">
              <a:lnSpc>
                <a:spcPct val="100000"/>
              </a:lnSpc>
              <a:buNone/>
            </a:pPr>
            <a:r>
              <a:rPr lang="en-US" altLang="zh-CN" i="1" dirty="0" err="1"/>
              <a:t>int</a:t>
            </a:r>
            <a:r>
              <a:rPr lang="en-US" altLang="zh-CN" i="1" dirty="0"/>
              <a:t>  </a:t>
            </a:r>
            <a:r>
              <a:rPr lang="en-US" altLang="zh-CN" i="1" dirty="0" err="1"/>
              <a:t>msgget</a:t>
            </a:r>
            <a:r>
              <a:rPr lang="en-US" altLang="zh-CN" i="1" dirty="0"/>
              <a:t> (</a:t>
            </a:r>
            <a:r>
              <a:rPr lang="en-US" altLang="zh-CN" i="1" dirty="0" err="1"/>
              <a:t>key_t</a:t>
            </a:r>
            <a:r>
              <a:rPr lang="en-US" altLang="zh-CN" i="1" dirty="0"/>
              <a:t> key, </a:t>
            </a:r>
            <a:r>
              <a:rPr lang="en-US" altLang="zh-CN" i="1" dirty="0" err="1"/>
              <a:t>int</a:t>
            </a:r>
            <a:r>
              <a:rPr lang="en-US" altLang="zh-CN" i="1" dirty="0"/>
              <a:t> flag</a:t>
            </a:r>
            <a:r>
              <a:rPr lang="en-US" altLang="zh-CN" i="1" dirty="0" smtClean="0"/>
              <a:t>);</a:t>
            </a:r>
            <a:endParaRPr lang="en-US" altLang="zh-CN" i="1" dirty="0"/>
          </a:p>
        </p:txBody>
      </p:sp>
      <p:pic>
        <p:nvPicPr>
          <p:cNvPr id="4" name="图片 3"/>
          <p:cNvPicPr>
            <a:picLocks noChangeAspect="1"/>
          </p:cNvPicPr>
          <p:nvPr/>
        </p:nvPicPr>
        <p:blipFill>
          <a:blip r:embed="rId2">
            <a:biLevel thresh="50000"/>
            <a:extLst>
              <a:ext uri="{28A0092B-C50C-407E-A947-70E740481C1C}">
                <a14:useLocalDpi xmlns:a14="http://schemas.microsoft.com/office/drawing/2010/main" val="0"/>
              </a:ext>
            </a:extLst>
          </a:blip>
          <a:stretch>
            <a:fillRect/>
          </a:stretch>
        </p:blipFill>
        <p:spPr>
          <a:xfrm>
            <a:off x="7225137" y="2364812"/>
            <a:ext cx="4083260" cy="3137061"/>
          </a:xfrm>
          <a:prstGeom prst="rect">
            <a:avLst/>
          </a:prstGeom>
        </p:spPr>
      </p:pic>
      <p:sp>
        <p:nvSpPr>
          <p:cNvPr id="5" name="内容占位符 2"/>
          <p:cNvSpPr txBox="1">
            <a:spLocks/>
          </p:cNvSpPr>
          <p:nvPr/>
        </p:nvSpPr>
        <p:spPr>
          <a:xfrm>
            <a:off x="1073875" y="2871121"/>
            <a:ext cx="5882815" cy="3280962"/>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150000"/>
              </a:lnSpc>
            </a:pPr>
            <a:r>
              <a:rPr lang="en-US" altLang="zh-CN" dirty="0" smtClean="0"/>
              <a:t>The setup of flag is listed in the following table.</a:t>
            </a:r>
          </a:p>
          <a:p>
            <a:pPr algn="just">
              <a:lnSpc>
                <a:spcPct val="150000"/>
              </a:lnSpc>
            </a:pPr>
            <a:r>
              <a:rPr lang="en-US" altLang="zh-CN" dirty="0" smtClean="0"/>
              <a:t>IPC_CREATE: returns the identifier of the queue if the queue already in the kernel, otherwise, creates a new queue.</a:t>
            </a:r>
          </a:p>
          <a:p>
            <a:pPr algn="just">
              <a:lnSpc>
                <a:spcPct val="150000"/>
              </a:lnSpc>
            </a:pPr>
            <a:r>
              <a:rPr lang="en-US" altLang="zh-CN" dirty="0" smtClean="0"/>
              <a:t>Example:</a:t>
            </a:r>
          </a:p>
          <a:p>
            <a:pPr marL="0" indent="0" algn="just">
              <a:lnSpc>
                <a:spcPct val="150000"/>
              </a:lnSpc>
              <a:buNone/>
            </a:pPr>
            <a:r>
              <a:rPr lang="en-US" altLang="zh-CN" i="1" dirty="0" err="1" smtClean="0"/>
              <a:t>msgget</a:t>
            </a:r>
            <a:r>
              <a:rPr lang="en-US" altLang="zh-CN" i="1" dirty="0" smtClean="0"/>
              <a:t>((</a:t>
            </a:r>
            <a:r>
              <a:rPr lang="en-US" altLang="zh-CN" i="1" dirty="0" err="1" smtClean="0"/>
              <a:t>ket_t</a:t>
            </a:r>
            <a:r>
              <a:rPr lang="en-US" altLang="zh-CN" i="1" dirty="0" smtClean="0"/>
              <a:t>)9527, 0666 | IPC_CREATE)</a:t>
            </a:r>
            <a:endParaRPr lang="en-US" altLang="zh-CN" i="1" dirty="0"/>
          </a:p>
        </p:txBody>
      </p:sp>
    </p:spTree>
    <p:extLst>
      <p:ext uri="{BB962C8B-B14F-4D97-AF65-F5344CB8AC3E}">
        <p14:creationId xmlns:p14="http://schemas.microsoft.com/office/powerpoint/2010/main" val="3559222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7593" y="439073"/>
            <a:ext cx="10809296" cy="5977839"/>
          </a:xfrm>
        </p:spPr>
        <p:txBody>
          <a:bodyPr>
            <a:normAutofit/>
          </a:bodyPr>
          <a:lstStyle/>
          <a:p>
            <a:pPr>
              <a:lnSpc>
                <a:spcPct val="150000"/>
              </a:lnSpc>
            </a:pPr>
            <a:r>
              <a:rPr lang="en-US" altLang="zh-CN" dirty="0" smtClean="0"/>
              <a:t>Data is placed onto a message queue by calling </a:t>
            </a:r>
            <a:r>
              <a:rPr lang="en-US" altLang="zh-CN" i="1" dirty="0" err="1" smtClean="0"/>
              <a:t>msgsnd</a:t>
            </a:r>
            <a:r>
              <a:rPr lang="en-US" altLang="zh-CN" dirty="0" smtClean="0"/>
              <a:t>, which returns 0 if OK, -1on error.</a:t>
            </a:r>
          </a:p>
          <a:p>
            <a:pPr marL="0" indent="0">
              <a:lnSpc>
                <a:spcPct val="150000"/>
              </a:lnSpc>
              <a:buNone/>
            </a:pPr>
            <a:r>
              <a:rPr lang="en-US" altLang="zh-CN" i="1" dirty="0" err="1" smtClean="0"/>
              <a:t>int</a:t>
            </a:r>
            <a:r>
              <a:rPr lang="en-US" altLang="zh-CN" i="1" dirty="0" smtClean="0"/>
              <a:t> </a:t>
            </a:r>
            <a:r>
              <a:rPr lang="en-US" altLang="zh-CN" i="1" dirty="0" err="1" smtClean="0"/>
              <a:t>msgsnd</a:t>
            </a:r>
            <a:r>
              <a:rPr lang="en-US" altLang="zh-CN" i="1" dirty="0" smtClean="0"/>
              <a:t>(</a:t>
            </a:r>
            <a:r>
              <a:rPr lang="en-US" altLang="zh-CN" i="1" dirty="0" err="1" smtClean="0"/>
              <a:t>int</a:t>
            </a:r>
            <a:r>
              <a:rPr lang="en-US" altLang="zh-CN" i="1" dirty="0" smtClean="0"/>
              <a:t> </a:t>
            </a:r>
            <a:r>
              <a:rPr lang="en-US" altLang="zh-CN" i="1" dirty="0" err="1" smtClean="0"/>
              <a:t>msqid</a:t>
            </a:r>
            <a:r>
              <a:rPr lang="en-US" altLang="zh-CN" i="1" dirty="0" smtClean="0"/>
              <a:t>, </a:t>
            </a:r>
            <a:r>
              <a:rPr lang="en-US" altLang="zh-CN" i="1" dirty="0" err="1" smtClean="0"/>
              <a:t>const</a:t>
            </a:r>
            <a:r>
              <a:rPr lang="en-US" altLang="zh-CN" i="1" dirty="0" smtClean="0"/>
              <a:t> void * </a:t>
            </a:r>
            <a:r>
              <a:rPr lang="en-US" altLang="zh-CN" i="1" dirty="0" err="1" smtClean="0"/>
              <a:t>ptr</a:t>
            </a:r>
            <a:r>
              <a:rPr lang="en-US" altLang="zh-CN" i="1" dirty="0" smtClean="0"/>
              <a:t>, </a:t>
            </a:r>
            <a:r>
              <a:rPr lang="en-US" altLang="zh-CN" i="1" dirty="0" err="1" smtClean="0"/>
              <a:t>size_t</a:t>
            </a:r>
            <a:r>
              <a:rPr lang="en-US" altLang="zh-CN" i="1" dirty="0" smtClean="0"/>
              <a:t> </a:t>
            </a:r>
            <a:r>
              <a:rPr lang="en-US" altLang="zh-CN" i="1" dirty="0" err="1" smtClean="0"/>
              <a:t>nbytes</a:t>
            </a:r>
            <a:r>
              <a:rPr lang="en-US" altLang="zh-CN" i="1" dirty="0" smtClean="0"/>
              <a:t>, </a:t>
            </a:r>
            <a:r>
              <a:rPr lang="en-US" altLang="zh-CN" i="1" dirty="0" err="1" smtClean="0"/>
              <a:t>int</a:t>
            </a:r>
            <a:r>
              <a:rPr lang="en-US" altLang="zh-CN" i="1" dirty="0" smtClean="0"/>
              <a:t> flag);</a:t>
            </a:r>
          </a:p>
          <a:p>
            <a:pPr>
              <a:lnSpc>
                <a:spcPct val="150000"/>
              </a:lnSpc>
            </a:pPr>
            <a:r>
              <a:rPr lang="en-US" altLang="zh-CN" dirty="0" smtClean="0"/>
              <a:t>The </a:t>
            </a:r>
            <a:r>
              <a:rPr lang="en-US" altLang="zh-CN" i="1" dirty="0" err="1" smtClean="0"/>
              <a:t>ptr</a:t>
            </a:r>
            <a:r>
              <a:rPr lang="en-US" altLang="zh-CN" dirty="0" smtClean="0"/>
              <a:t> argument points to a long integer that contains the positive integer message type, and it is immediately followed by the message data. If the largest message we send is 512 bytes, we can define the following structure:</a:t>
            </a:r>
          </a:p>
          <a:p>
            <a:pPr marL="0" indent="0">
              <a:lnSpc>
                <a:spcPct val="110000"/>
              </a:lnSpc>
              <a:buNone/>
            </a:pPr>
            <a:r>
              <a:rPr lang="en-US" altLang="zh-CN" dirty="0" err="1" smtClean="0"/>
              <a:t>struct</a:t>
            </a:r>
            <a:r>
              <a:rPr lang="en-US" altLang="zh-CN" dirty="0" smtClean="0"/>
              <a:t> </a:t>
            </a:r>
            <a:r>
              <a:rPr lang="en-US" altLang="zh-CN" dirty="0" err="1" smtClean="0"/>
              <a:t>mymesg</a:t>
            </a:r>
            <a:r>
              <a:rPr lang="en-US" altLang="zh-CN" dirty="0" smtClean="0"/>
              <a:t>{</a:t>
            </a:r>
          </a:p>
          <a:p>
            <a:pPr marL="0" indent="0">
              <a:lnSpc>
                <a:spcPct val="110000"/>
              </a:lnSpc>
              <a:buNone/>
            </a:pPr>
            <a:r>
              <a:rPr lang="en-US" altLang="zh-CN" dirty="0" smtClean="0"/>
              <a:t>	long </a:t>
            </a:r>
            <a:r>
              <a:rPr lang="en-US" altLang="zh-CN" dirty="0" err="1" smtClean="0"/>
              <a:t>msgtype</a:t>
            </a:r>
            <a:r>
              <a:rPr lang="en-US" altLang="zh-CN" dirty="0" smtClean="0"/>
              <a:t>;		//positive message type</a:t>
            </a:r>
          </a:p>
          <a:p>
            <a:pPr marL="0" indent="0">
              <a:lnSpc>
                <a:spcPct val="110000"/>
              </a:lnSpc>
              <a:buNone/>
            </a:pPr>
            <a:r>
              <a:rPr lang="en-US" altLang="zh-CN" dirty="0" smtClean="0"/>
              <a:t>	char </a:t>
            </a:r>
            <a:r>
              <a:rPr lang="en-US" altLang="zh-CN" dirty="0" err="1" smtClean="0"/>
              <a:t>mtext</a:t>
            </a:r>
            <a:r>
              <a:rPr lang="en-US" altLang="zh-CN" dirty="0" smtClean="0"/>
              <a:t>[512];	//message data, of length </a:t>
            </a:r>
            <a:r>
              <a:rPr lang="en-US" altLang="zh-CN" i="1" dirty="0" err="1" smtClean="0"/>
              <a:t>nbytes</a:t>
            </a:r>
            <a:endParaRPr lang="en-US" altLang="zh-CN" i="1" dirty="0" smtClean="0"/>
          </a:p>
          <a:p>
            <a:pPr marL="0" indent="0">
              <a:lnSpc>
                <a:spcPct val="110000"/>
              </a:lnSpc>
              <a:buNone/>
            </a:pPr>
            <a:r>
              <a:rPr lang="en-US" altLang="zh-CN" dirty="0" smtClean="0"/>
              <a:t>};</a:t>
            </a:r>
            <a:endParaRPr lang="en-US" altLang="zh-CN" dirty="0"/>
          </a:p>
          <a:p>
            <a:pPr>
              <a:lnSpc>
                <a:spcPct val="150000"/>
              </a:lnSpc>
            </a:pPr>
            <a:r>
              <a:rPr lang="en-US" altLang="zh-CN" dirty="0" smtClean="0"/>
              <a:t>The </a:t>
            </a:r>
            <a:r>
              <a:rPr lang="en-US" altLang="zh-CN" dirty="0" err="1" smtClean="0"/>
              <a:t>ptr</a:t>
            </a:r>
            <a:r>
              <a:rPr lang="en-US" altLang="zh-CN" dirty="0" smtClean="0"/>
              <a:t> argument is then a pointer to a </a:t>
            </a:r>
            <a:r>
              <a:rPr lang="en-US" altLang="zh-CN" dirty="0" err="1" smtClean="0"/>
              <a:t>mymesg</a:t>
            </a:r>
            <a:r>
              <a:rPr lang="en-US" altLang="zh-CN" dirty="0" smtClean="0"/>
              <a:t> structure. The message type can be used by the receiver to fetch messages in an order other than first in, first out.</a:t>
            </a:r>
          </a:p>
        </p:txBody>
      </p:sp>
    </p:spTree>
    <p:extLst>
      <p:ext uri="{BB962C8B-B14F-4D97-AF65-F5344CB8AC3E}">
        <p14:creationId xmlns:p14="http://schemas.microsoft.com/office/powerpoint/2010/main" val="1432278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624371"/>
            <a:ext cx="10058400" cy="5547830"/>
          </a:xfrm>
        </p:spPr>
        <p:txBody>
          <a:bodyPr/>
          <a:lstStyle/>
          <a:p>
            <a:pPr algn="just">
              <a:lnSpc>
                <a:spcPct val="150000"/>
              </a:lnSpc>
            </a:pPr>
            <a:r>
              <a:rPr lang="en-US" altLang="zh-CN" dirty="0" smtClean="0"/>
              <a:t>Messages are retrieved from a queue by </a:t>
            </a:r>
            <a:r>
              <a:rPr lang="en-US" altLang="zh-CN" dirty="0" err="1" smtClean="0"/>
              <a:t>msgrcv</a:t>
            </a:r>
            <a:r>
              <a:rPr lang="en-US" altLang="zh-CN" dirty="0" smtClean="0"/>
              <a:t>, which returns the size of data portion of message if OK, -1 on error.</a:t>
            </a:r>
          </a:p>
          <a:p>
            <a:pPr algn="just">
              <a:lnSpc>
                <a:spcPct val="150000"/>
              </a:lnSpc>
            </a:pPr>
            <a:r>
              <a:rPr lang="en-US" altLang="zh-CN" i="1" dirty="0" err="1" smtClean="0"/>
              <a:t>ssize_t</a:t>
            </a:r>
            <a:r>
              <a:rPr lang="en-US" altLang="zh-CN" i="1" dirty="0" smtClean="0"/>
              <a:t> </a:t>
            </a:r>
            <a:r>
              <a:rPr lang="en-US" altLang="zh-CN" i="1" dirty="0" err="1" smtClean="0"/>
              <a:t>msgrcv</a:t>
            </a:r>
            <a:r>
              <a:rPr lang="en-US" altLang="zh-CN" i="1" dirty="0" smtClean="0"/>
              <a:t>(</a:t>
            </a:r>
            <a:r>
              <a:rPr lang="en-US" altLang="zh-CN" i="1" dirty="0" err="1" smtClean="0"/>
              <a:t>int</a:t>
            </a:r>
            <a:r>
              <a:rPr lang="en-US" altLang="zh-CN" i="1" dirty="0" smtClean="0"/>
              <a:t> </a:t>
            </a:r>
            <a:r>
              <a:rPr lang="en-US" altLang="zh-CN" i="1" dirty="0" err="1" smtClean="0"/>
              <a:t>msqid</a:t>
            </a:r>
            <a:r>
              <a:rPr lang="en-US" altLang="zh-CN" i="1" dirty="0" smtClean="0"/>
              <a:t>, void * </a:t>
            </a:r>
            <a:r>
              <a:rPr lang="en-US" altLang="zh-CN" i="1" dirty="0" err="1" smtClean="0"/>
              <a:t>ptr</a:t>
            </a:r>
            <a:r>
              <a:rPr lang="en-US" altLang="zh-CN" i="1" dirty="0" smtClean="0"/>
              <a:t>, </a:t>
            </a:r>
            <a:r>
              <a:rPr lang="en-US" altLang="zh-CN" i="1" dirty="0" err="1" smtClean="0"/>
              <a:t>size_t</a:t>
            </a:r>
            <a:r>
              <a:rPr lang="en-US" altLang="zh-CN" i="1" dirty="0" smtClean="0"/>
              <a:t> </a:t>
            </a:r>
            <a:r>
              <a:rPr lang="en-US" altLang="zh-CN" i="1" dirty="0" err="1" smtClean="0"/>
              <a:t>nbytes</a:t>
            </a:r>
            <a:r>
              <a:rPr lang="en-US" altLang="zh-CN" i="1" dirty="0" smtClean="0"/>
              <a:t>, long type, </a:t>
            </a:r>
            <a:r>
              <a:rPr lang="en-US" altLang="zh-CN" i="1" dirty="0" err="1" smtClean="0"/>
              <a:t>int</a:t>
            </a:r>
            <a:r>
              <a:rPr lang="en-US" altLang="zh-CN" i="1" dirty="0" smtClean="0"/>
              <a:t> flag)</a:t>
            </a:r>
            <a:r>
              <a:rPr lang="en-US" altLang="zh-CN" dirty="0" smtClean="0"/>
              <a:t>;</a:t>
            </a:r>
            <a:endParaRPr lang="en-US" altLang="zh-CN" dirty="0"/>
          </a:p>
          <a:p>
            <a:pPr algn="just">
              <a:lnSpc>
                <a:spcPct val="150000"/>
              </a:lnSpc>
            </a:pPr>
            <a:r>
              <a:rPr lang="en-US" altLang="zh-CN" dirty="0" smtClean="0"/>
              <a:t>The type argument lets us specify which message we want.</a:t>
            </a:r>
          </a:p>
          <a:p>
            <a:pPr marL="457200" indent="-457200" algn="just">
              <a:lnSpc>
                <a:spcPct val="150000"/>
              </a:lnSpc>
              <a:buFont typeface="+mj-ea"/>
              <a:buAutoNum type="circleNumDbPlain"/>
            </a:pPr>
            <a:r>
              <a:rPr lang="en-US" altLang="zh-CN" dirty="0" smtClean="0"/>
              <a:t>type == 0:	The first message on the queue is returned.</a:t>
            </a:r>
          </a:p>
          <a:p>
            <a:pPr marL="457200" indent="-457200" algn="just">
              <a:lnSpc>
                <a:spcPct val="150000"/>
              </a:lnSpc>
              <a:buFont typeface="+mj-ea"/>
              <a:buAutoNum type="circleNumDbPlain"/>
            </a:pPr>
            <a:r>
              <a:rPr lang="en-US" altLang="zh-CN" dirty="0" smtClean="0"/>
              <a:t>type &gt; 0:	The first message on the queue whose message type equals type is returned.</a:t>
            </a:r>
          </a:p>
          <a:p>
            <a:pPr marL="457200" indent="-457200" algn="just">
              <a:lnSpc>
                <a:spcPct val="150000"/>
              </a:lnSpc>
              <a:buFont typeface="+mj-ea"/>
              <a:buAutoNum type="circleNumDbPlain"/>
            </a:pPr>
            <a:r>
              <a:rPr lang="en-US" altLang="zh-CN" dirty="0" smtClean="0"/>
              <a:t>type &lt; 0:	The first message on the queue whose message type is lowest value less than or equal to the absolute value of type is returned.</a:t>
            </a:r>
            <a:endParaRPr lang="zh-CN" altLang="en-US" dirty="0"/>
          </a:p>
        </p:txBody>
      </p:sp>
    </p:spTree>
    <p:extLst>
      <p:ext uri="{BB962C8B-B14F-4D97-AF65-F5344CB8AC3E}">
        <p14:creationId xmlns:p14="http://schemas.microsoft.com/office/powerpoint/2010/main" val="2149485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648539"/>
            <a:ext cx="10058400" cy="5523661"/>
          </a:xfrm>
        </p:spPr>
        <p:txBody>
          <a:bodyPr/>
          <a:lstStyle/>
          <a:p>
            <a:pPr algn="just">
              <a:lnSpc>
                <a:spcPct val="150000"/>
              </a:lnSpc>
            </a:pPr>
            <a:r>
              <a:rPr lang="en-US" altLang="zh-CN" dirty="0" smtClean="0"/>
              <a:t>The </a:t>
            </a:r>
            <a:r>
              <a:rPr lang="en-US" altLang="zh-CN" dirty="0" err="1" smtClean="0"/>
              <a:t>msgctl</a:t>
            </a:r>
            <a:r>
              <a:rPr lang="en-US" altLang="zh-CN" dirty="0" smtClean="0"/>
              <a:t> function performs various operations on a queue. It </a:t>
            </a:r>
            <a:r>
              <a:rPr lang="en-US" altLang="zh-CN" dirty="0" err="1" smtClean="0"/>
              <a:t>returuns</a:t>
            </a:r>
            <a:r>
              <a:rPr lang="en-US" altLang="zh-CN" dirty="0" smtClean="0"/>
              <a:t> 0 if OK, -1 on error.</a:t>
            </a:r>
          </a:p>
          <a:p>
            <a:pPr marL="0" indent="0" algn="just">
              <a:lnSpc>
                <a:spcPct val="150000"/>
              </a:lnSpc>
              <a:buNone/>
            </a:pPr>
            <a:r>
              <a:rPr lang="en-US" altLang="zh-CN" i="1" dirty="0" err="1" smtClean="0"/>
              <a:t>int</a:t>
            </a:r>
            <a:r>
              <a:rPr lang="en-US" altLang="zh-CN" i="1" dirty="0" smtClean="0"/>
              <a:t> </a:t>
            </a:r>
            <a:r>
              <a:rPr lang="en-US" altLang="zh-CN" i="1" dirty="0" err="1" smtClean="0"/>
              <a:t>msgctl</a:t>
            </a:r>
            <a:r>
              <a:rPr lang="en-US" altLang="zh-CN" i="1" dirty="0" smtClean="0"/>
              <a:t>(</a:t>
            </a:r>
            <a:r>
              <a:rPr lang="en-US" altLang="zh-CN" i="1" dirty="0" err="1" smtClean="0"/>
              <a:t>int</a:t>
            </a:r>
            <a:r>
              <a:rPr lang="en-US" altLang="zh-CN" i="1" dirty="0" smtClean="0"/>
              <a:t> </a:t>
            </a:r>
            <a:r>
              <a:rPr lang="en-US" altLang="zh-CN" i="1" dirty="0" err="1" smtClean="0"/>
              <a:t>msqid</a:t>
            </a:r>
            <a:r>
              <a:rPr lang="en-US" altLang="zh-CN" i="1" dirty="0" smtClean="0"/>
              <a:t>, </a:t>
            </a:r>
            <a:r>
              <a:rPr lang="en-US" altLang="zh-CN" i="1" dirty="0" err="1" smtClean="0"/>
              <a:t>int</a:t>
            </a:r>
            <a:r>
              <a:rPr lang="en-US" altLang="zh-CN" i="1" dirty="0" smtClean="0"/>
              <a:t> </a:t>
            </a:r>
            <a:r>
              <a:rPr lang="en-US" altLang="zh-CN" i="1" dirty="0" err="1" smtClean="0"/>
              <a:t>cmd</a:t>
            </a:r>
            <a:r>
              <a:rPr lang="en-US" altLang="zh-CN" i="1" dirty="0" smtClean="0"/>
              <a:t>, </a:t>
            </a:r>
            <a:r>
              <a:rPr lang="en-US" altLang="zh-CN" i="1" dirty="0" err="1" smtClean="0"/>
              <a:t>struct</a:t>
            </a:r>
            <a:r>
              <a:rPr lang="en-US" altLang="zh-CN" i="1" dirty="0" smtClean="0"/>
              <a:t> </a:t>
            </a:r>
            <a:r>
              <a:rPr lang="en-US" altLang="zh-CN" i="1" dirty="0" err="1" smtClean="0"/>
              <a:t>msqid_ds</a:t>
            </a:r>
            <a:r>
              <a:rPr lang="en-US" altLang="zh-CN" i="1" dirty="0" smtClean="0"/>
              <a:t> * </a:t>
            </a:r>
            <a:r>
              <a:rPr lang="en-US" altLang="zh-CN" i="1" dirty="0" err="1" smtClean="0"/>
              <a:t>buf</a:t>
            </a:r>
            <a:r>
              <a:rPr lang="en-US" altLang="zh-CN" i="1" dirty="0" smtClean="0"/>
              <a:t>);</a:t>
            </a:r>
            <a:endParaRPr lang="en-US" altLang="zh-CN" i="1" dirty="0"/>
          </a:p>
          <a:p>
            <a:pPr algn="just">
              <a:lnSpc>
                <a:spcPct val="150000"/>
              </a:lnSpc>
            </a:pPr>
            <a:r>
              <a:rPr lang="en-US" altLang="zh-CN" dirty="0" smtClean="0"/>
              <a:t>The </a:t>
            </a:r>
            <a:r>
              <a:rPr lang="en-US" altLang="zh-CN" i="1" dirty="0" err="1" smtClean="0"/>
              <a:t>cmd</a:t>
            </a:r>
            <a:r>
              <a:rPr lang="en-US" altLang="zh-CN" dirty="0" smtClean="0"/>
              <a:t> argument specifies the command to be performed on the queue specified by </a:t>
            </a:r>
            <a:r>
              <a:rPr lang="en-US" altLang="zh-CN" dirty="0" err="1" smtClean="0"/>
              <a:t>msqid</a:t>
            </a:r>
            <a:r>
              <a:rPr lang="en-US" altLang="zh-CN" dirty="0" smtClean="0"/>
              <a:t>.</a:t>
            </a:r>
          </a:p>
          <a:p>
            <a:pPr marL="457200" indent="-457200" algn="just">
              <a:lnSpc>
                <a:spcPct val="150000"/>
              </a:lnSpc>
              <a:buFont typeface="+mj-ea"/>
              <a:buAutoNum type="circleNumDbPlain"/>
            </a:pPr>
            <a:r>
              <a:rPr lang="en-US" altLang="zh-CN" dirty="0" smtClean="0"/>
              <a:t>IPC_STAT: Fetch the </a:t>
            </a:r>
            <a:r>
              <a:rPr lang="en-US" altLang="zh-CN" dirty="0" err="1" smtClean="0"/>
              <a:t>msqid_ds</a:t>
            </a:r>
            <a:r>
              <a:rPr lang="en-US" altLang="zh-CN" dirty="0" smtClean="0"/>
              <a:t> structure for this queue, storing it in the structure pointed to by </a:t>
            </a:r>
            <a:r>
              <a:rPr lang="en-US" altLang="zh-CN" i="1" dirty="0" err="1" smtClean="0"/>
              <a:t>buf</a:t>
            </a:r>
            <a:r>
              <a:rPr lang="en-US" altLang="zh-CN" dirty="0" smtClean="0"/>
              <a:t>.</a:t>
            </a:r>
          </a:p>
          <a:p>
            <a:pPr marL="457200" indent="-457200" algn="just">
              <a:lnSpc>
                <a:spcPct val="150000"/>
              </a:lnSpc>
              <a:buFont typeface="+mj-ea"/>
              <a:buAutoNum type="circleNumDbPlain"/>
            </a:pPr>
            <a:r>
              <a:rPr lang="en-US" altLang="zh-CN" dirty="0" smtClean="0"/>
              <a:t>IPC_RMID: Remove the message queue from the system and any data still on the queue.</a:t>
            </a:r>
          </a:p>
        </p:txBody>
      </p:sp>
    </p:spTree>
    <p:extLst>
      <p:ext uri="{BB962C8B-B14F-4D97-AF65-F5344CB8AC3E}">
        <p14:creationId xmlns:p14="http://schemas.microsoft.com/office/powerpoint/2010/main" val="325686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33595" y="361087"/>
            <a:ext cx="10058400" cy="396213"/>
          </a:xfrm>
        </p:spPr>
        <p:txBody>
          <a:bodyPr/>
          <a:lstStyle/>
          <a:p>
            <a:r>
              <a:rPr lang="en-US" altLang="zh-CN" b="1" dirty="0" smtClean="0"/>
              <a:t>Demonstration of IPC using message queue</a:t>
            </a:r>
            <a:endParaRPr lang="zh-CN" altLang="en-US" b="1" dirty="0"/>
          </a:p>
        </p:txBody>
      </p:sp>
      <p:pic>
        <p:nvPicPr>
          <p:cNvPr id="4" name="图片 3"/>
          <p:cNvPicPr>
            <a:picLocks noChangeAspect="1"/>
          </p:cNvPicPr>
          <p:nvPr/>
        </p:nvPicPr>
        <p:blipFill>
          <a:blip r:embed="rId2"/>
          <a:stretch>
            <a:fillRect/>
          </a:stretch>
        </p:blipFill>
        <p:spPr>
          <a:xfrm>
            <a:off x="6879773" y="1059414"/>
            <a:ext cx="3179494" cy="5266863"/>
          </a:xfrm>
          <a:prstGeom prst="rect">
            <a:avLst/>
          </a:prstGeom>
          <a:ln>
            <a:solidFill>
              <a:schemeClr val="bg1">
                <a:lumMod val="75000"/>
              </a:schemeClr>
            </a:solidFill>
          </a:ln>
        </p:spPr>
      </p:pic>
      <p:pic>
        <p:nvPicPr>
          <p:cNvPr id="5" name="图片 4"/>
          <p:cNvPicPr>
            <a:picLocks noChangeAspect="1"/>
          </p:cNvPicPr>
          <p:nvPr/>
        </p:nvPicPr>
        <p:blipFill>
          <a:blip r:embed="rId3"/>
          <a:stretch>
            <a:fillRect/>
          </a:stretch>
        </p:blipFill>
        <p:spPr>
          <a:xfrm>
            <a:off x="1820744" y="1059414"/>
            <a:ext cx="3026742" cy="5266863"/>
          </a:xfrm>
          <a:prstGeom prst="rect">
            <a:avLst/>
          </a:prstGeom>
          <a:ln>
            <a:solidFill>
              <a:schemeClr val="bg1">
                <a:lumMod val="75000"/>
              </a:schemeClr>
            </a:solidFill>
          </a:ln>
        </p:spPr>
      </p:pic>
      <p:sp>
        <p:nvSpPr>
          <p:cNvPr id="6" name="右箭头 5"/>
          <p:cNvSpPr/>
          <p:nvPr/>
        </p:nvSpPr>
        <p:spPr>
          <a:xfrm>
            <a:off x="5530710" y="3569985"/>
            <a:ext cx="729103" cy="2457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78086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4158" y="750492"/>
            <a:ext cx="10058400" cy="840644"/>
          </a:xfrm>
        </p:spPr>
        <p:txBody>
          <a:bodyPr/>
          <a:lstStyle/>
          <a:p>
            <a:r>
              <a:rPr lang="en-US" altLang="zh-CN" dirty="0" smtClean="0"/>
              <a:t>5.3 Shared memory</a:t>
            </a:r>
            <a:endParaRPr lang="zh-CN" altLang="en-US" dirty="0"/>
          </a:p>
        </p:txBody>
      </p:sp>
      <p:sp>
        <p:nvSpPr>
          <p:cNvPr id="3" name="内容占位符 2"/>
          <p:cNvSpPr>
            <a:spLocks noGrp="1"/>
          </p:cNvSpPr>
          <p:nvPr>
            <p:ph idx="1"/>
          </p:nvPr>
        </p:nvSpPr>
        <p:spPr>
          <a:xfrm>
            <a:off x="1037623" y="1960280"/>
            <a:ext cx="10058400" cy="4050792"/>
          </a:xfrm>
        </p:spPr>
        <p:txBody>
          <a:bodyPr/>
          <a:lstStyle/>
          <a:p>
            <a:pPr algn="just">
              <a:lnSpc>
                <a:spcPct val="150000"/>
              </a:lnSpc>
            </a:pPr>
            <a:r>
              <a:rPr lang="en-US" altLang="zh-CN" dirty="0" smtClean="0"/>
              <a:t>Shared memory  allows two or more processes to share a given region of memory. </a:t>
            </a:r>
            <a:r>
              <a:rPr lang="en-US" altLang="zh-CN" b="1" dirty="0" smtClean="0">
                <a:solidFill>
                  <a:srgbClr val="FF0000"/>
                </a:solidFill>
              </a:rPr>
              <a:t>This is the fastest form of IPC</a:t>
            </a:r>
            <a:r>
              <a:rPr lang="en-US" altLang="zh-CN" dirty="0" smtClean="0"/>
              <a:t>, because the data does not need to be copied between the client and the  server. </a:t>
            </a:r>
            <a:r>
              <a:rPr lang="en-US" altLang="zh-CN" b="1" dirty="0" smtClean="0">
                <a:solidFill>
                  <a:srgbClr val="FF0000"/>
                </a:solidFill>
              </a:rPr>
              <a:t>The only trick in using shared memory is synchronizing access to a given region among multiple processes</a:t>
            </a:r>
            <a:r>
              <a:rPr lang="en-US" altLang="zh-CN" dirty="0" smtClean="0"/>
              <a:t>. If the server is placing data into a shared memory region, the client shouldn’t try to access the data until the server is done.</a:t>
            </a:r>
          </a:p>
          <a:p>
            <a:pPr algn="just">
              <a:lnSpc>
                <a:spcPct val="150000"/>
              </a:lnSpc>
            </a:pPr>
            <a:r>
              <a:rPr lang="en-US" altLang="zh-CN" dirty="0" smtClean="0"/>
              <a:t>The kernel maintain a structure with at least the following members for each shared memory segment:</a:t>
            </a:r>
            <a:endParaRPr lang="zh-CN" altLang="en-US" dirty="0"/>
          </a:p>
        </p:txBody>
      </p:sp>
    </p:spTree>
    <p:extLst>
      <p:ext uri="{BB962C8B-B14F-4D97-AF65-F5344CB8AC3E}">
        <p14:creationId xmlns:p14="http://schemas.microsoft.com/office/powerpoint/2010/main" val="181845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958710"/>
            <a:ext cx="10058400" cy="5213490"/>
          </a:xfrm>
        </p:spPr>
        <p:txBody>
          <a:bodyPr/>
          <a:lstStyle/>
          <a:p>
            <a:pPr marL="0" indent="0">
              <a:lnSpc>
                <a:spcPct val="100000"/>
              </a:lnSpc>
              <a:buNone/>
            </a:pPr>
            <a:r>
              <a:rPr lang="en-US" altLang="zh-CN" dirty="0" err="1" smtClean="0"/>
              <a:t>struct</a:t>
            </a:r>
            <a:r>
              <a:rPr lang="en-US" altLang="zh-CN" dirty="0" smtClean="0"/>
              <a:t> </a:t>
            </a:r>
            <a:r>
              <a:rPr lang="en-US" altLang="zh-CN" dirty="0" err="1" smtClean="0"/>
              <a:t>shmid_ds</a:t>
            </a:r>
            <a:r>
              <a:rPr lang="en-US" altLang="zh-CN" dirty="0" smtClean="0"/>
              <a:t>{</a:t>
            </a:r>
          </a:p>
          <a:p>
            <a:pPr marL="0" indent="0">
              <a:lnSpc>
                <a:spcPct val="100000"/>
              </a:lnSpc>
              <a:buNone/>
            </a:pPr>
            <a:r>
              <a:rPr lang="en-US" altLang="zh-CN" dirty="0" smtClean="0"/>
              <a:t>	</a:t>
            </a:r>
            <a:r>
              <a:rPr lang="en-US" altLang="zh-CN" dirty="0" err="1" smtClean="0"/>
              <a:t>struct</a:t>
            </a:r>
            <a:r>
              <a:rPr lang="en-US" altLang="zh-CN" dirty="0" smtClean="0"/>
              <a:t> </a:t>
            </a:r>
            <a:r>
              <a:rPr lang="en-US" altLang="zh-CN" dirty="0" err="1" smtClean="0"/>
              <a:t>ipc_perm</a:t>
            </a:r>
            <a:r>
              <a:rPr lang="en-US" altLang="zh-CN" dirty="0" smtClean="0"/>
              <a:t>	</a:t>
            </a:r>
            <a:r>
              <a:rPr lang="en-US" altLang="zh-CN" dirty="0" err="1" smtClean="0"/>
              <a:t>shm_perm</a:t>
            </a:r>
            <a:r>
              <a:rPr lang="en-US" altLang="zh-CN" dirty="0" smtClean="0"/>
              <a:t>;</a:t>
            </a:r>
          </a:p>
          <a:p>
            <a:pPr marL="0" indent="0">
              <a:lnSpc>
                <a:spcPct val="100000"/>
              </a:lnSpc>
              <a:buNone/>
            </a:pPr>
            <a:r>
              <a:rPr lang="en-US" altLang="zh-CN" dirty="0"/>
              <a:t>	</a:t>
            </a:r>
            <a:r>
              <a:rPr lang="en-US" altLang="zh-CN" dirty="0" err="1" smtClean="0"/>
              <a:t>size_t</a:t>
            </a:r>
            <a:r>
              <a:rPr lang="en-US" altLang="zh-CN" dirty="0" smtClean="0"/>
              <a:t>			</a:t>
            </a:r>
            <a:r>
              <a:rPr lang="en-US" altLang="zh-CN" dirty="0" err="1" smtClean="0"/>
              <a:t>shm_segsz</a:t>
            </a:r>
            <a:r>
              <a:rPr lang="en-US" altLang="zh-CN" dirty="0" smtClean="0"/>
              <a:t>;	//size of segment in bytes</a:t>
            </a:r>
          </a:p>
          <a:p>
            <a:pPr marL="0" indent="0">
              <a:lnSpc>
                <a:spcPct val="100000"/>
              </a:lnSpc>
              <a:buNone/>
            </a:pPr>
            <a:r>
              <a:rPr lang="en-US" altLang="zh-CN" dirty="0"/>
              <a:t>	</a:t>
            </a:r>
            <a:r>
              <a:rPr lang="en-US" altLang="zh-CN" dirty="0" err="1" smtClean="0"/>
              <a:t>pid_t</a:t>
            </a:r>
            <a:r>
              <a:rPr lang="en-US" altLang="zh-CN" dirty="0" smtClean="0"/>
              <a:t>			</a:t>
            </a:r>
            <a:r>
              <a:rPr lang="en-US" altLang="zh-CN" dirty="0" err="1" smtClean="0"/>
              <a:t>shm_lpid</a:t>
            </a:r>
            <a:r>
              <a:rPr lang="en-US" altLang="zh-CN" dirty="0" smtClean="0"/>
              <a:t>;	//</a:t>
            </a:r>
            <a:r>
              <a:rPr lang="en-US" altLang="zh-CN" dirty="0" err="1" smtClean="0"/>
              <a:t>pid</a:t>
            </a:r>
            <a:r>
              <a:rPr lang="en-US" altLang="zh-CN" dirty="0" smtClean="0"/>
              <a:t> of last </a:t>
            </a:r>
            <a:r>
              <a:rPr lang="en-US" altLang="zh-CN" dirty="0" err="1" smtClean="0"/>
              <a:t>shmop</a:t>
            </a:r>
            <a:r>
              <a:rPr lang="en-US" altLang="zh-CN" dirty="0" smtClean="0"/>
              <a:t>()</a:t>
            </a:r>
          </a:p>
          <a:p>
            <a:pPr marL="0" indent="0">
              <a:lnSpc>
                <a:spcPct val="100000"/>
              </a:lnSpc>
              <a:buNone/>
            </a:pPr>
            <a:r>
              <a:rPr lang="en-US" altLang="zh-CN" dirty="0"/>
              <a:t>	</a:t>
            </a:r>
            <a:r>
              <a:rPr lang="en-US" altLang="zh-CN" dirty="0" err="1" smtClean="0"/>
              <a:t>pid_t</a:t>
            </a:r>
            <a:r>
              <a:rPr lang="en-US" altLang="zh-CN" dirty="0" smtClean="0"/>
              <a:t>			</a:t>
            </a:r>
            <a:r>
              <a:rPr lang="en-US" altLang="zh-CN" dirty="0" err="1" smtClean="0"/>
              <a:t>shm_cpid</a:t>
            </a:r>
            <a:r>
              <a:rPr lang="en-US" altLang="zh-CN" dirty="0" smtClean="0"/>
              <a:t>;	//</a:t>
            </a:r>
            <a:r>
              <a:rPr lang="en-US" altLang="zh-CN" dirty="0" err="1" smtClean="0"/>
              <a:t>pid</a:t>
            </a:r>
            <a:r>
              <a:rPr lang="en-US" altLang="zh-CN" dirty="0" smtClean="0"/>
              <a:t> of creator</a:t>
            </a:r>
          </a:p>
          <a:p>
            <a:pPr marL="0" indent="0">
              <a:lnSpc>
                <a:spcPct val="100000"/>
              </a:lnSpc>
              <a:buNone/>
            </a:pPr>
            <a:r>
              <a:rPr lang="en-US" altLang="zh-CN" dirty="0"/>
              <a:t>	</a:t>
            </a:r>
            <a:r>
              <a:rPr lang="en-US" altLang="zh-CN" dirty="0" err="1" smtClean="0"/>
              <a:t>shmatt_t</a:t>
            </a:r>
            <a:r>
              <a:rPr lang="en-US" altLang="zh-CN" dirty="0"/>
              <a:t>	</a:t>
            </a:r>
            <a:r>
              <a:rPr lang="en-US" altLang="zh-CN" dirty="0" smtClean="0"/>
              <a:t>	</a:t>
            </a:r>
            <a:r>
              <a:rPr lang="en-US" altLang="zh-CN" dirty="0" err="1" smtClean="0"/>
              <a:t>shm_nattch</a:t>
            </a:r>
            <a:r>
              <a:rPr lang="en-US" altLang="zh-CN" dirty="0" smtClean="0"/>
              <a:t>;	//number of current attaches</a:t>
            </a:r>
          </a:p>
          <a:p>
            <a:pPr marL="0" indent="0">
              <a:lnSpc>
                <a:spcPct val="100000"/>
              </a:lnSpc>
              <a:buNone/>
            </a:pPr>
            <a:r>
              <a:rPr lang="en-US" altLang="zh-CN" dirty="0"/>
              <a:t>	</a:t>
            </a:r>
            <a:r>
              <a:rPr lang="en-US" altLang="zh-CN" dirty="0" err="1" smtClean="0"/>
              <a:t>time_t</a:t>
            </a:r>
            <a:r>
              <a:rPr lang="en-US" altLang="zh-CN" dirty="0" smtClean="0"/>
              <a:t>			</a:t>
            </a:r>
            <a:r>
              <a:rPr lang="en-US" altLang="zh-CN" dirty="0" err="1" smtClean="0"/>
              <a:t>shm_atime</a:t>
            </a:r>
            <a:r>
              <a:rPr lang="en-US" altLang="zh-CN" dirty="0" smtClean="0"/>
              <a:t>;	//last-attach time</a:t>
            </a:r>
          </a:p>
          <a:p>
            <a:pPr marL="0" indent="0">
              <a:lnSpc>
                <a:spcPct val="100000"/>
              </a:lnSpc>
              <a:buNone/>
            </a:pPr>
            <a:r>
              <a:rPr lang="en-US" altLang="zh-CN" dirty="0"/>
              <a:t>	</a:t>
            </a:r>
            <a:r>
              <a:rPr lang="en-US" altLang="zh-CN" dirty="0" err="1" smtClean="0"/>
              <a:t>time_t</a:t>
            </a:r>
            <a:r>
              <a:rPr lang="en-US" altLang="zh-CN" dirty="0" smtClean="0"/>
              <a:t>			</a:t>
            </a:r>
            <a:r>
              <a:rPr lang="en-US" altLang="zh-CN" dirty="0" err="1" smtClean="0"/>
              <a:t>shm_dtime</a:t>
            </a:r>
            <a:r>
              <a:rPr lang="en-US" altLang="zh-CN" dirty="0" smtClean="0"/>
              <a:t>;	//last-detach time</a:t>
            </a:r>
          </a:p>
          <a:p>
            <a:pPr marL="0" indent="0">
              <a:lnSpc>
                <a:spcPct val="100000"/>
              </a:lnSpc>
              <a:buNone/>
            </a:pPr>
            <a:r>
              <a:rPr lang="en-US" altLang="zh-CN" dirty="0"/>
              <a:t>	</a:t>
            </a:r>
            <a:r>
              <a:rPr lang="en-US" altLang="zh-CN" dirty="0" err="1" smtClean="0"/>
              <a:t>time_t</a:t>
            </a:r>
            <a:r>
              <a:rPr lang="en-US" altLang="zh-CN" dirty="0" smtClean="0"/>
              <a:t>			</a:t>
            </a:r>
            <a:r>
              <a:rPr lang="en-US" altLang="zh-CN" dirty="0" err="1" smtClean="0"/>
              <a:t>shm_ctime</a:t>
            </a:r>
            <a:r>
              <a:rPr lang="en-US" altLang="zh-CN" dirty="0" smtClean="0"/>
              <a:t>;	//last-change time</a:t>
            </a:r>
            <a:endParaRPr lang="en-US" altLang="zh-CN" dirty="0"/>
          </a:p>
          <a:p>
            <a:pPr marL="0" indent="0">
              <a:lnSpc>
                <a:spcPct val="100000"/>
              </a:lnSpc>
              <a:buNone/>
            </a:pPr>
            <a:r>
              <a:rPr lang="en-US" altLang="zh-CN" dirty="0" smtClean="0"/>
              <a:t>};</a:t>
            </a:r>
            <a:endParaRPr lang="zh-CN" altLang="en-US" dirty="0"/>
          </a:p>
        </p:txBody>
      </p:sp>
    </p:spTree>
    <p:extLst>
      <p:ext uri="{BB962C8B-B14F-4D97-AF65-F5344CB8AC3E}">
        <p14:creationId xmlns:p14="http://schemas.microsoft.com/office/powerpoint/2010/main" val="2822241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1031218"/>
            <a:ext cx="10058400" cy="5140982"/>
          </a:xfrm>
        </p:spPr>
        <p:txBody>
          <a:bodyPr/>
          <a:lstStyle/>
          <a:p>
            <a:pPr algn="just">
              <a:lnSpc>
                <a:spcPct val="150000"/>
              </a:lnSpc>
            </a:pPr>
            <a:r>
              <a:rPr lang="en-US" altLang="zh-CN" dirty="0" smtClean="0"/>
              <a:t>The first function called is usually </a:t>
            </a:r>
            <a:r>
              <a:rPr lang="en-US" altLang="zh-CN" i="1" dirty="0" err="1" smtClean="0"/>
              <a:t>shmget</a:t>
            </a:r>
            <a:r>
              <a:rPr lang="en-US" altLang="zh-CN" dirty="0" smtClean="0"/>
              <a:t>, to obtain a shared memory identifier.</a:t>
            </a:r>
          </a:p>
          <a:p>
            <a:pPr marL="0" indent="0" algn="just">
              <a:lnSpc>
                <a:spcPct val="150000"/>
              </a:lnSpc>
              <a:buNone/>
            </a:pPr>
            <a:r>
              <a:rPr lang="en-US" altLang="zh-CN" i="1" dirty="0" smtClean="0"/>
              <a:t>#</a:t>
            </a:r>
            <a:r>
              <a:rPr lang="en-US" altLang="zh-CN" i="1" dirty="0" err="1" smtClean="0"/>
              <a:t>inclue</a:t>
            </a:r>
            <a:r>
              <a:rPr lang="en-US" altLang="zh-CN" i="1" dirty="0" smtClean="0"/>
              <a:t> &lt;sys/</a:t>
            </a:r>
            <a:r>
              <a:rPr lang="en-US" altLang="zh-CN" i="1" dirty="0" err="1" smtClean="0"/>
              <a:t>shm.h</a:t>
            </a:r>
            <a:r>
              <a:rPr lang="en-US" altLang="zh-CN" i="1" dirty="0" smtClean="0"/>
              <a:t>&gt;</a:t>
            </a:r>
          </a:p>
          <a:p>
            <a:pPr marL="0" indent="0" algn="just">
              <a:lnSpc>
                <a:spcPct val="150000"/>
              </a:lnSpc>
              <a:buNone/>
            </a:pPr>
            <a:r>
              <a:rPr lang="en-US" altLang="zh-CN" i="1" dirty="0" err="1" smtClean="0"/>
              <a:t>int</a:t>
            </a:r>
            <a:r>
              <a:rPr lang="en-US" altLang="zh-CN" i="1" dirty="0" smtClean="0"/>
              <a:t> </a:t>
            </a:r>
            <a:r>
              <a:rPr lang="en-US" altLang="zh-CN" i="1" dirty="0" err="1" smtClean="0"/>
              <a:t>shmget</a:t>
            </a:r>
            <a:r>
              <a:rPr lang="en-US" altLang="zh-CN" i="1" dirty="0" smtClean="0"/>
              <a:t>(</a:t>
            </a:r>
            <a:r>
              <a:rPr lang="en-US" altLang="zh-CN" i="1" dirty="0" err="1" smtClean="0"/>
              <a:t>key_t</a:t>
            </a:r>
            <a:r>
              <a:rPr lang="en-US" altLang="zh-CN" i="1" dirty="0" smtClean="0"/>
              <a:t> key, </a:t>
            </a:r>
            <a:r>
              <a:rPr lang="en-US" altLang="zh-CN" i="1" dirty="0" err="1" smtClean="0"/>
              <a:t>size_t</a:t>
            </a:r>
            <a:r>
              <a:rPr lang="en-US" altLang="zh-CN" i="1" dirty="0" smtClean="0"/>
              <a:t> size, </a:t>
            </a:r>
            <a:r>
              <a:rPr lang="en-US" altLang="zh-CN" i="1" dirty="0" err="1" smtClean="0"/>
              <a:t>int</a:t>
            </a:r>
            <a:r>
              <a:rPr lang="en-US" altLang="zh-CN" i="1" dirty="0" smtClean="0"/>
              <a:t> flag);</a:t>
            </a:r>
          </a:p>
          <a:p>
            <a:pPr marL="0" indent="0" algn="r">
              <a:lnSpc>
                <a:spcPct val="150000"/>
              </a:lnSpc>
              <a:buNone/>
            </a:pPr>
            <a:r>
              <a:rPr lang="en-US" altLang="zh-CN" dirty="0" smtClean="0"/>
              <a:t>Returns: shared memory ID if OK, -1 on error</a:t>
            </a:r>
            <a:endParaRPr lang="en-US" altLang="zh-CN" dirty="0"/>
          </a:p>
          <a:p>
            <a:pPr algn="just">
              <a:lnSpc>
                <a:spcPct val="150000"/>
              </a:lnSpc>
            </a:pPr>
            <a:r>
              <a:rPr lang="en-US" altLang="zh-CN" dirty="0" smtClean="0"/>
              <a:t>The </a:t>
            </a:r>
            <a:r>
              <a:rPr lang="en-US" altLang="zh-CN" i="1" dirty="0" smtClean="0"/>
              <a:t>size</a:t>
            </a:r>
            <a:r>
              <a:rPr lang="en-US" altLang="zh-CN" dirty="0" smtClean="0"/>
              <a:t> parameter is the size of the shared memory segment in bytes. If a new segment is being created, we must specify its size. If we are referencing an existing segment, we can specify size as 0. When a new segment is created , the contents of the segment are initialized with zeros.</a:t>
            </a:r>
            <a:endParaRPr lang="zh-CN" altLang="en-US" dirty="0"/>
          </a:p>
        </p:txBody>
      </p:sp>
    </p:spTree>
    <p:extLst>
      <p:ext uri="{BB962C8B-B14F-4D97-AF65-F5344CB8AC3E}">
        <p14:creationId xmlns:p14="http://schemas.microsoft.com/office/powerpoint/2010/main" val="353055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712990"/>
            <a:ext cx="10058400" cy="5459210"/>
          </a:xfrm>
        </p:spPr>
        <p:txBody>
          <a:bodyPr/>
          <a:lstStyle/>
          <a:p>
            <a:pPr algn="just">
              <a:lnSpc>
                <a:spcPct val="150000"/>
              </a:lnSpc>
            </a:pPr>
            <a:r>
              <a:rPr lang="en-US" altLang="zh-CN" dirty="0" smtClean="0"/>
              <a:t>Once a shared memory segment has been created, </a:t>
            </a:r>
            <a:r>
              <a:rPr lang="en-US" altLang="zh-CN" b="1" dirty="0" smtClean="0">
                <a:solidFill>
                  <a:srgbClr val="FF0000"/>
                </a:solidFill>
              </a:rPr>
              <a:t>a process attaches it to its address space by calling </a:t>
            </a:r>
            <a:r>
              <a:rPr lang="en-US" altLang="zh-CN" b="1" i="1" dirty="0" err="1" smtClean="0">
                <a:solidFill>
                  <a:srgbClr val="FF0000"/>
                </a:solidFill>
              </a:rPr>
              <a:t>shmat</a:t>
            </a:r>
            <a:r>
              <a:rPr lang="en-US" altLang="zh-CN" dirty="0" smtClean="0"/>
              <a:t>.</a:t>
            </a:r>
          </a:p>
          <a:p>
            <a:pPr marL="0" indent="0" algn="just">
              <a:lnSpc>
                <a:spcPct val="150000"/>
              </a:lnSpc>
              <a:buNone/>
            </a:pPr>
            <a:r>
              <a:rPr lang="en-US" altLang="zh-CN" i="1" dirty="0" smtClean="0"/>
              <a:t>void * </a:t>
            </a:r>
            <a:r>
              <a:rPr lang="en-US" altLang="zh-CN" i="1" dirty="0" err="1" smtClean="0"/>
              <a:t>shmat</a:t>
            </a:r>
            <a:r>
              <a:rPr lang="en-US" altLang="zh-CN" i="1" dirty="0" smtClean="0"/>
              <a:t>(</a:t>
            </a:r>
            <a:r>
              <a:rPr lang="en-US" altLang="zh-CN" i="1" dirty="0" err="1" smtClean="0"/>
              <a:t>int</a:t>
            </a:r>
            <a:r>
              <a:rPr lang="en-US" altLang="zh-CN" i="1" dirty="0" smtClean="0"/>
              <a:t> </a:t>
            </a:r>
            <a:r>
              <a:rPr lang="en-US" altLang="zh-CN" i="1" dirty="0" err="1" smtClean="0"/>
              <a:t>shmid</a:t>
            </a:r>
            <a:r>
              <a:rPr lang="en-US" altLang="zh-CN" i="1" dirty="0" smtClean="0"/>
              <a:t>, </a:t>
            </a:r>
            <a:r>
              <a:rPr lang="en-US" altLang="zh-CN" i="1" dirty="0" err="1" smtClean="0"/>
              <a:t>const</a:t>
            </a:r>
            <a:r>
              <a:rPr lang="en-US" altLang="zh-CN" i="1" dirty="0" smtClean="0"/>
              <a:t> void * </a:t>
            </a:r>
            <a:r>
              <a:rPr lang="en-US" altLang="zh-CN" i="1" dirty="0" err="1" smtClean="0"/>
              <a:t>addr</a:t>
            </a:r>
            <a:r>
              <a:rPr lang="en-US" altLang="zh-CN" i="1" dirty="0" smtClean="0"/>
              <a:t>, </a:t>
            </a:r>
            <a:r>
              <a:rPr lang="en-US" altLang="zh-CN" i="1" dirty="0" err="1" smtClean="0"/>
              <a:t>int</a:t>
            </a:r>
            <a:r>
              <a:rPr lang="en-US" altLang="zh-CN" i="1" dirty="0" smtClean="0"/>
              <a:t> flag);</a:t>
            </a:r>
          </a:p>
          <a:p>
            <a:pPr marL="0" indent="0" algn="r">
              <a:lnSpc>
                <a:spcPct val="150000"/>
              </a:lnSpc>
              <a:buNone/>
            </a:pPr>
            <a:r>
              <a:rPr lang="en-US" altLang="zh-CN" dirty="0" smtClean="0"/>
              <a:t>Returns: pointer to shared memory segment if OK, -1 on error</a:t>
            </a:r>
          </a:p>
          <a:p>
            <a:pPr algn="just">
              <a:lnSpc>
                <a:spcPct val="150000"/>
              </a:lnSpc>
            </a:pPr>
            <a:r>
              <a:rPr lang="en-US" altLang="zh-CN" dirty="0" smtClean="0"/>
              <a:t>The address in the calling process at which the segment is attached depends on the </a:t>
            </a:r>
            <a:r>
              <a:rPr lang="en-US" altLang="zh-CN" i="1" dirty="0" err="1" smtClean="0"/>
              <a:t>addr</a:t>
            </a:r>
            <a:r>
              <a:rPr lang="en-US" altLang="zh-CN" dirty="0" smtClean="0"/>
              <a:t> argument. If </a:t>
            </a:r>
            <a:r>
              <a:rPr lang="en-US" altLang="zh-CN" i="1" dirty="0" err="1" smtClean="0"/>
              <a:t>addr</a:t>
            </a:r>
            <a:r>
              <a:rPr lang="en-US" altLang="zh-CN" dirty="0" smtClean="0"/>
              <a:t> is 0, the segment is attached  at the first available address selected by the kernel.</a:t>
            </a:r>
          </a:p>
          <a:p>
            <a:pPr algn="just">
              <a:lnSpc>
                <a:spcPct val="150000"/>
              </a:lnSpc>
            </a:pPr>
            <a:r>
              <a:rPr lang="en-US" altLang="zh-CN" dirty="0" smtClean="0"/>
              <a:t>If the SHM_RDONLY bit is specified in </a:t>
            </a:r>
            <a:r>
              <a:rPr lang="en-US" altLang="zh-CN" i="1" dirty="0" smtClean="0"/>
              <a:t>flag</a:t>
            </a:r>
            <a:r>
              <a:rPr lang="en-US" altLang="zh-CN" dirty="0" smtClean="0"/>
              <a:t>, the segment is attached as read-only. Otherwise, the segment is attached as read-write.</a:t>
            </a:r>
            <a:endParaRPr lang="zh-CN" altLang="en-US" dirty="0"/>
          </a:p>
        </p:txBody>
      </p:sp>
    </p:spTree>
    <p:extLst>
      <p:ext uri="{BB962C8B-B14F-4D97-AF65-F5344CB8AC3E}">
        <p14:creationId xmlns:p14="http://schemas.microsoft.com/office/powerpoint/2010/main" val="1378595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954683"/>
            <a:ext cx="10058400" cy="5217518"/>
          </a:xfrm>
        </p:spPr>
        <p:txBody>
          <a:bodyPr/>
          <a:lstStyle/>
          <a:p>
            <a:pPr algn="just">
              <a:lnSpc>
                <a:spcPct val="150000"/>
              </a:lnSpc>
            </a:pPr>
            <a:r>
              <a:rPr lang="en-US" altLang="zh-CN" dirty="0" smtClean="0"/>
              <a:t>When we are done with a shared memory segment, we call </a:t>
            </a:r>
            <a:r>
              <a:rPr lang="en-US" altLang="zh-CN" i="1" dirty="0" err="1" smtClean="0"/>
              <a:t>shmdt</a:t>
            </a:r>
            <a:r>
              <a:rPr lang="en-US" altLang="zh-CN" dirty="0" smtClean="0"/>
              <a:t> to detach it. Note that this does not remove the identifier and its associated data structure from the system. The identifier remains in existence until some process specifically removes it by calling </a:t>
            </a:r>
            <a:r>
              <a:rPr lang="en-US" altLang="zh-CN" i="1" dirty="0" err="1" smtClean="0"/>
              <a:t>shmctl</a:t>
            </a:r>
            <a:r>
              <a:rPr lang="en-US" altLang="zh-CN" dirty="0" smtClean="0"/>
              <a:t> with a command of IPC_RMID.</a:t>
            </a:r>
          </a:p>
          <a:p>
            <a:pPr marL="0" indent="0" algn="just">
              <a:lnSpc>
                <a:spcPct val="150000"/>
              </a:lnSpc>
              <a:buNone/>
            </a:pPr>
            <a:r>
              <a:rPr lang="en-US" altLang="zh-CN" i="1" dirty="0" err="1" smtClean="0"/>
              <a:t>int</a:t>
            </a:r>
            <a:r>
              <a:rPr lang="en-US" altLang="zh-CN" i="1" dirty="0" smtClean="0"/>
              <a:t> </a:t>
            </a:r>
            <a:r>
              <a:rPr lang="en-US" altLang="zh-CN" i="1" dirty="0" err="1" smtClean="0"/>
              <a:t>shmdt</a:t>
            </a:r>
            <a:r>
              <a:rPr lang="en-US" altLang="zh-CN" i="1" dirty="0" smtClean="0"/>
              <a:t>(</a:t>
            </a:r>
            <a:r>
              <a:rPr lang="en-US" altLang="zh-CN" i="1" dirty="0" err="1" smtClean="0"/>
              <a:t>int</a:t>
            </a:r>
            <a:r>
              <a:rPr lang="en-US" altLang="zh-CN" i="1" dirty="0" smtClean="0"/>
              <a:t> void * </a:t>
            </a:r>
            <a:r>
              <a:rPr lang="en-US" altLang="zh-CN" i="1" dirty="0" err="1" smtClean="0"/>
              <a:t>addr</a:t>
            </a:r>
            <a:r>
              <a:rPr lang="en-US" altLang="zh-CN" i="1" dirty="0" smtClean="0"/>
              <a:t>);</a:t>
            </a:r>
          </a:p>
          <a:p>
            <a:pPr marL="0" indent="0" algn="r">
              <a:lnSpc>
                <a:spcPct val="150000"/>
              </a:lnSpc>
              <a:buNone/>
            </a:pPr>
            <a:r>
              <a:rPr lang="en-US" altLang="zh-CN" dirty="0" smtClean="0"/>
              <a:t>Returns: 0 if OK, -1 on error</a:t>
            </a:r>
            <a:endParaRPr lang="en-US" altLang="zh-CN" dirty="0"/>
          </a:p>
          <a:p>
            <a:pPr algn="just">
              <a:lnSpc>
                <a:spcPct val="150000"/>
              </a:lnSpc>
            </a:pPr>
            <a:r>
              <a:rPr lang="en-US" altLang="zh-CN" dirty="0" smtClean="0"/>
              <a:t>The </a:t>
            </a:r>
            <a:r>
              <a:rPr lang="en-US" altLang="zh-CN" i="1" dirty="0" err="1" smtClean="0"/>
              <a:t>addr</a:t>
            </a:r>
            <a:r>
              <a:rPr lang="en-US" altLang="zh-CN" dirty="0" smtClean="0"/>
              <a:t> argument is the value that was returned by a previous call to </a:t>
            </a:r>
            <a:r>
              <a:rPr lang="en-US" altLang="zh-CN" i="1" dirty="0" err="1" smtClean="0"/>
              <a:t>shmat</a:t>
            </a:r>
            <a:r>
              <a:rPr lang="en-US" altLang="zh-CN" dirty="0" smtClean="0"/>
              <a:t>.  If successful, </a:t>
            </a:r>
            <a:r>
              <a:rPr lang="en-US" altLang="zh-CN" i="1" dirty="0" err="1" smtClean="0"/>
              <a:t>shmdt</a:t>
            </a:r>
            <a:r>
              <a:rPr lang="en-US" altLang="zh-CN" dirty="0" smtClean="0"/>
              <a:t> will decrement the </a:t>
            </a:r>
            <a:r>
              <a:rPr lang="en-US" altLang="zh-CN" dirty="0" err="1" smtClean="0"/>
              <a:t>shm_nattch</a:t>
            </a:r>
            <a:r>
              <a:rPr lang="en-US" altLang="zh-CN" dirty="0" smtClean="0"/>
              <a:t> counter in the associated </a:t>
            </a:r>
            <a:r>
              <a:rPr lang="en-US" altLang="zh-CN" dirty="0" err="1" smtClean="0"/>
              <a:t>shmid_ds</a:t>
            </a:r>
            <a:r>
              <a:rPr lang="en-US" altLang="zh-CN" dirty="0" smtClean="0"/>
              <a:t> structure.</a:t>
            </a:r>
          </a:p>
        </p:txBody>
      </p:sp>
    </p:spTree>
    <p:extLst>
      <p:ext uri="{BB962C8B-B14F-4D97-AF65-F5344CB8AC3E}">
        <p14:creationId xmlns:p14="http://schemas.microsoft.com/office/powerpoint/2010/main" val="3268874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3171" y="471300"/>
            <a:ext cx="10058400" cy="5966762"/>
          </a:xfrm>
        </p:spPr>
        <p:txBody>
          <a:bodyPr>
            <a:normAutofit fontScale="92500" lnSpcReduction="10000"/>
          </a:bodyPr>
          <a:lstStyle/>
          <a:p>
            <a:pPr algn="just">
              <a:lnSpc>
                <a:spcPct val="150000"/>
              </a:lnSpc>
            </a:pPr>
            <a:r>
              <a:rPr lang="en-US" altLang="zh-CN" dirty="0" smtClean="0"/>
              <a:t>The </a:t>
            </a:r>
            <a:r>
              <a:rPr lang="en-US" altLang="zh-CN" dirty="0" err="1" smtClean="0"/>
              <a:t>shmctl</a:t>
            </a:r>
            <a:r>
              <a:rPr lang="en-US" altLang="zh-CN" dirty="0" smtClean="0"/>
              <a:t> function is the catchall for various shared memory operations.</a:t>
            </a:r>
          </a:p>
          <a:p>
            <a:pPr marL="0" indent="0" algn="just">
              <a:lnSpc>
                <a:spcPct val="150000"/>
              </a:lnSpc>
              <a:buNone/>
            </a:pPr>
            <a:r>
              <a:rPr lang="en-US" altLang="zh-CN" i="1" dirty="0" err="1" smtClean="0"/>
              <a:t>int</a:t>
            </a:r>
            <a:r>
              <a:rPr lang="en-US" altLang="zh-CN" i="1" dirty="0" smtClean="0"/>
              <a:t> </a:t>
            </a:r>
            <a:r>
              <a:rPr lang="en-US" altLang="zh-CN" i="1" dirty="0" err="1" smtClean="0"/>
              <a:t>shmctl</a:t>
            </a:r>
            <a:r>
              <a:rPr lang="en-US" altLang="zh-CN" i="1" dirty="0" smtClean="0"/>
              <a:t>(</a:t>
            </a:r>
            <a:r>
              <a:rPr lang="en-US" altLang="zh-CN" i="1" dirty="0" err="1" smtClean="0"/>
              <a:t>int</a:t>
            </a:r>
            <a:r>
              <a:rPr lang="en-US" altLang="zh-CN" i="1" dirty="0" smtClean="0"/>
              <a:t> </a:t>
            </a:r>
            <a:r>
              <a:rPr lang="en-US" altLang="zh-CN" i="1" dirty="0" err="1" smtClean="0"/>
              <a:t>shmid</a:t>
            </a:r>
            <a:r>
              <a:rPr lang="en-US" altLang="zh-CN" i="1" dirty="0" smtClean="0"/>
              <a:t>, </a:t>
            </a:r>
            <a:r>
              <a:rPr lang="en-US" altLang="zh-CN" i="1" dirty="0" err="1" smtClean="0"/>
              <a:t>int</a:t>
            </a:r>
            <a:r>
              <a:rPr lang="en-US" altLang="zh-CN" i="1" dirty="0" smtClean="0"/>
              <a:t> </a:t>
            </a:r>
            <a:r>
              <a:rPr lang="en-US" altLang="zh-CN" i="1" dirty="0" err="1" smtClean="0"/>
              <a:t>cmd</a:t>
            </a:r>
            <a:r>
              <a:rPr lang="en-US" altLang="zh-CN" i="1" dirty="0" smtClean="0"/>
              <a:t>, </a:t>
            </a:r>
            <a:r>
              <a:rPr lang="en-US" altLang="zh-CN" i="1" dirty="0" err="1" smtClean="0"/>
              <a:t>struct</a:t>
            </a:r>
            <a:r>
              <a:rPr lang="en-US" altLang="zh-CN" i="1" dirty="0" smtClean="0"/>
              <a:t> </a:t>
            </a:r>
            <a:r>
              <a:rPr lang="en-US" altLang="zh-CN" i="1" dirty="0" err="1" smtClean="0"/>
              <a:t>shmid_ds</a:t>
            </a:r>
            <a:r>
              <a:rPr lang="en-US" altLang="zh-CN" i="1" dirty="0" smtClean="0"/>
              <a:t> * </a:t>
            </a:r>
            <a:r>
              <a:rPr lang="en-US" altLang="zh-CN" i="1" dirty="0" err="1" smtClean="0"/>
              <a:t>buf</a:t>
            </a:r>
            <a:r>
              <a:rPr lang="en-US" altLang="zh-CN" i="1" dirty="0" smtClean="0"/>
              <a:t>);</a:t>
            </a:r>
          </a:p>
          <a:p>
            <a:pPr marL="0" indent="0" algn="r">
              <a:lnSpc>
                <a:spcPct val="150000"/>
              </a:lnSpc>
              <a:buNone/>
            </a:pPr>
            <a:r>
              <a:rPr lang="en-US" altLang="zh-CN" dirty="0" smtClean="0"/>
              <a:t>Returns: 0 if OK, -1 on error</a:t>
            </a:r>
            <a:endParaRPr lang="en-US" altLang="zh-CN" dirty="0"/>
          </a:p>
          <a:p>
            <a:pPr algn="just">
              <a:lnSpc>
                <a:spcPct val="150000"/>
              </a:lnSpc>
            </a:pPr>
            <a:r>
              <a:rPr lang="en-US" altLang="zh-CN" dirty="0" smtClean="0"/>
              <a:t>The </a:t>
            </a:r>
            <a:r>
              <a:rPr lang="en-US" altLang="zh-CN" i="1" dirty="0" err="1" smtClean="0"/>
              <a:t>cmd</a:t>
            </a:r>
            <a:r>
              <a:rPr lang="en-US" altLang="zh-CN" dirty="0" smtClean="0"/>
              <a:t> argument specifies one of the following commands to be performed, on the segment specified by </a:t>
            </a:r>
            <a:r>
              <a:rPr lang="en-US" altLang="zh-CN" i="1" dirty="0" err="1" smtClean="0"/>
              <a:t>shmid</a:t>
            </a:r>
            <a:r>
              <a:rPr lang="en-US" altLang="zh-CN" dirty="0" smtClean="0"/>
              <a:t>.</a:t>
            </a:r>
          </a:p>
          <a:p>
            <a:pPr algn="just">
              <a:lnSpc>
                <a:spcPct val="150000"/>
              </a:lnSpc>
            </a:pPr>
            <a:r>
              <a:rPr lang="en-US" altLang="zh-CN" dirty="0" smtClean="0"/>
              <a:t>IPC_STAT: Fetch the </a:t>
            </a:r>
            <a:r>
              <a:rPr lang="en-US" altLang="zh-CN" dirty="0" err="1" smtClean="0"/>
              <a:t>shmid_ds</a:t>
            </a:r>
            <a:r>
              <a:rPr lang="en-US" altLang="zh-CN" dirty="0" smtClean="0"/>
              <a:t> structure for this segment, storing it in the structure pointed by </a:t>
            </a:r>
            <a:r>
              <a:rPr lang="en-US" altLang="zh-CN" i="1" dirty="0" err="1" smtClean="0"/>
              <a:t>buf</a:t>
            </a:r>
            <a:r>
              <a:rPr lang="en-US" altLang="zh-CN" dirty="0" smtClean="0"/>
              <a:t>.</a:t>
            </a:r>
          </a:p>
          <a:p>
            <a:pPr algn="just">
              <a:lnSpc>
                <a:spcPct val="150000"/>
              </a:lnSpc>
            </a:pPr>
            <a:r>
              <a:rPr lang="en-US" altLang="zh-CN" dirty="0" smtClean="0"/>
              <a:t>IPC_RMID: Remove the shared memory segment set from the system. Since an attachment count is maintained for shared memory segments, </a:t>
            </a:r>
            <a:r>
              <a:rPr lang="en-US" altLang="zh-CN" b="1" dirty="0" smtClean="0">
                <a:solidFill>
                  <a:srgbClr val="FF0000"/>
                </a:solidFill>
              </a:rPr>
              <a:t>the segment is not removed until the last process using the segment terminates or detaches it</a:t>
            </a:r>
            <a:r>
              <a:rPr lang="en-US" altLang="zh-CN" dirty="0" smtClean="0"/>
              <a:t>. Regardless of whether the segment is still in use, </a:t>
            </a:r>
            <a:r>
              <a:rPr lang="en-US" altLang="zh-CN" b="1" dirty="0" smtClean="0">
                <a:solidFill>
                  <a:srgbClr val="FF0000"/>
                </a:solidFill>
              </a:rPr>
              <a:t>the segment’s identifier is immediately removed so that </a:t>
            </a:r>
            <a:r>
              <a:rPr lang="en-US" altLang="zh-CN" b="1" dirty="0" err="1" smtClean="0">
                <a:solidFill>
                  <a:srgbClr val="FF0000"/>
                </a:solidFill>
              </a:rPr>
              <a:t>shmat</a:t>
            </a:r>
            <a:r>
              <a:rPr lang="en-US" altLang="zh-CN" b="1" dirty="0" smtClean="0">
                <a:solidFill>
                  <a:srgbClr val="FF0000"/>
                </a:solidFill>
              </a:rPr>
              <a:t> can no longer attach the segment</a:t>
            </a:r>
            <a:r>
              <a:rPr lang="en-US" altLang="zh-CN" dirty="0" smtClean="0"/>
              <a:t>.</a:t>
            </a:r>
            <a:endParaRPr lang="zh-CN" altLang="en-US" dirty="0"/>
          </a:p>
        </p:txBody>
      </p:sp>
    </p:spTree>
    <p:extLst>
      <p:ext uri="{BB962C8B-B14F-4D97-AF65-F5344CB8AC3E}">
        <p14:creationId xmlns:p14="http://schemas.microsoft.com/office/powerpoint/2010/main" val="7501021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头类型">
  <a:themeElements>
    <a:clrScheme name="木头类型">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头类型">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头类型">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木材纹理</Template>
  <TotalTime>180</TotalTime>
  <Words>1178</Words>
  <Application>Microsoft Office PowerPoint</Application>
  <PresentationFormat>宽屏</PresentationFormat>
  <Paragraphs>81</Paragraphs>
  <Slides>15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方正姚体</vt:lpstr>
      <vt:lpstr>Rockwell</vt:lpstr>
      <vt:lpstr>Rockwell Condensed</vt:lpstr>
      <vt:lpstr>Wingdings</vt:lpstr>
      <vt:lpstr>木头类型</vt:lpstr>
      <vt:lpstr>第五章 进程间通信</vt:lpstr>
      <vt:lpstr>5.1 Interprocess Communication</vt:lpstr>
      <vt:lpstr>5.2 message queue</vt:lpstr>
      <vt:lpstr>PowerPoint 演示文稿</vt:lpstr>
      <vt:lpstr>PowerPoint 演示文稿</vt:lpstr>
      <vt:lpstr>PowerPoint 演示文稿</vt:lpstr>
      <vt:lpstr>PowerPoint 演示文稿</vt:lpstr>
      <vt:lpstr>PowerPoint 演示文稿</vt:lpstr>
      <vt:lpstr>PowerPoint 演示文稿</vt:lpstr>
      <vt:lpstr>5.3 Shared memory</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并行服务</dc:title>
  <dc:creator>Microsoft 帐户</dc:creator>
  <cp:lastModifiedBy>Microsoft 帐户</cp:lastModifiedBy>
  <cp:revision>33</cp:revision>
  <dcterms:created xsi:type="dcterms:W3CDTF">2023-04-10T00:45:45Z</dcterms:created>
  <dcterms:modified xsi:type="dcterms:W3CDTF">2023-05-21T04:07:27Z</dcterms:modified>
</cp:coreProperties>
</file>