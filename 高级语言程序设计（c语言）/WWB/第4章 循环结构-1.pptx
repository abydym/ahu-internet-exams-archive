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1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7" r:id="rId3"/>
    <p:sldMasterId id="2147483702" r:id="rId4"/>
  </p:sldMasterIdLst>
  <p:notesMasterIdLst>
    <p:notesMasterId r:id="rId46"/>
  </p:notesMasterIdLst>
  <p:sldIdLst>
    <p:sldId id="258" r:id="rId5"/>
    <p:sldId id="259" r:id="rId6"/>
    <p:sldId id="261" r:id="rId7"/>
    <p:sldId id="262" r:id="rId8"/>
    <p:sldId id="263" r:id="rId9"/>
    <p:sldId id="264" r:id="rId10"/>
    <p:sldId id="265" r:id="rId11"/>
    <p:sldId id="344" r:id="rId12"/>
    <p:sldId id="330" r:id="rId13"/>
    <p:sldId id="331" r:id="rId14"/>
    <p:sldId id="329" r:id="rId15"/>
    <p:sldId id="268" r:id="rId16"/>
    <p:sldId id="270" r:id="rId17"/>
    <p:sldId id="349" r:id="rId18"/>
    <p:sldId id="345" r:id="rId19"/>
    <p:sldId id="348" r:id="rId20"/>
    <p:sldId id="272" r:id="rId21"/>
    <p:sldId id="275" r:id="rId22"/>
    <p:sldId id="276" r:id="rId23"/>
    <p:sldId id="277" r:id="rId24"/>
    <p:sldId id="278" r:id="rId25"/>
    <p:sldId id="279" r:id="rId26"/>
    <p:sldId id="332" r:id="rId27"/>
    <p:sldId id="280" r:id="rId28"/>
    <p:sldId id="281" r:id="rId29"/>
    <p:sldId id="282" r:id="rId30"/>
    <p:sldId id="350" r:id="rId31"/>
    <p:sldId id="316" r:id="rId32"/>
    <p:sldId id="318" r:id="rId33"/>
    <p:sldId id="343" r:id="rId34"/>
    <p:sldId id="317" r:id="rId35"/>
    <p:sldId id="284" r:id="rId36"/>
    <p:sldId id="351" r:id="rId37"/>
    <p:sldId id="334" r:id="rId38"/>
    <p:sldId id="285" r:id="rId39"/>
    <p:sldId id="286" r:id="rId40"/>
    <p:sldId id="287" r:id="rId41"/>
    <p:sldId id="288" r:id="rId42"/>
    <p:sldId id="352" r:id="rId43"/>
    <p:sldId id="289" r:id="rId44"/>
    <p:sldId id="347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2376-DCD9-4056-9A01-BB655DE77974}" type="datetimeFigureOut">
              <a:rPr lang="zh-CN" altLang="en-US" smtClean="0"/>
              <a:t>2025/1/6 Monday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9C92E-7C19-4686-B342-F0316F8B9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590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A9C92E-7C19-4686-B342-F0316F8B9B4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674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2051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2054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4049454-BC45-4838-96FD-55F84B6D2941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93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484CF-D3E2-43DD-B37D-6A7048F135A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16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4BA46-36F5-4F2D-ACB7-59BC9B75C0D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02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19868D-EB19-4EF7-9ABA-EB80F4902B0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809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68307C-E694-4A51-8A31-C65D0E7D1FC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02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79AEC8-915D-4964-9E48-1C16BD3DCB6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18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E3386E-54BD-4027-9CCA-4EBC70BDC31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53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C00B59-49DF-4EC1-989E-EF180328CD0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89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BADE4-32C9-4CF6-9C59-F8ACAA22A3B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65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638B7B-BD12-444C-8EB3-B58C0C382D5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51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9AD704-0C10-4BD3-8A8D-4359B1A32962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799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1843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843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3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1843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843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4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844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B285E01-B516-49A2-98A5-3F1D0CE4F734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982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F80F23-1145-4AC0-9766-5743A91E5D0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596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157EA-054B-4329-B0D9-F1107576BB7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595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CEEA2B-8D26-4FFE-83AB-B71BC1A0ECC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779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906CEC-F30D-4D15-96BA-FFCB418F412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432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D07B6-16AF-4233-A94B-F1BFB800472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596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07A280-80E5-49B8-A0BD-6614BE65729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6994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1CD7F-3EE9-4908-9216-6CAD25695BD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2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92E0FF-CBE4-4635-8A06-8036F602939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2134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F1DA34-0B21-4FB3-B339-12C164A965D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301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55151" y="-211138"/>
            <a:ext cx="2688167" cy="5522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-211138"/>
            <a:ext cx="7861300" cy="5522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ADC0D3-A7B2-452B-8C32-6FC53B90B0D2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9189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2832C677-59C9-4DA4-96B9-1D4D36480BC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6299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90651" y="1196975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76C8D42-6159-4FFC-B4FB-7B5BC98E059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67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390651" y="-211138"/>
            <a:ext cx="10752667" cy="55229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58C8374-F4AB-4E49-99E2-7B94D608BD8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645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819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19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819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819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20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35EB45E-A496-4A1C-95D0-F60B294B2548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5861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05875-6523-47D9-851E-4D83B29E510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458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CE465-1FA1-4F59-90B3-EDC98776CF0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9320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0C8D3-6BB2-4298-B83E-375771BAD05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3919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20162-844D-4208-9314-B8397EF5D03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3674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9A47C3-F9C6-4145-B852-AF5D79E7E5D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7744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838352-6283-49B7-9597-282F5A56871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9000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593A44-FC1A-4503-96A6-B35C080B443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3271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91EFB-5371-430B-9474-7083945B1A6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211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237D7-F041-4AA2-B886-7E5431AB67A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7688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06517" y="1"/>
            <a:ext cx="2743200" cy="6132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917" y="1"/>
            <a:ext cx="8026400" cy="6132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C5C87E-E45A-4FDB-8F64-A0BE83FF4B9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0713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8A884D73-33B3-45D6-AB52-857FB07A0B3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923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170A263A-B4FC-4963-BBB7-1610DBA1DBC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874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9C39C23-E9DC-4FE2-B175-EBE93AF4C97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1973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6147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6148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6149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6150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6151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6152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6153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154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155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616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CC12B4E-3FB3-4BE7-A14B-C631F5CF24BE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9647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873174-B860-49E2-9417-B67F088D921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0033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8E41C1-DB2D-43C0-81D8-265BB44FF4A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7812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B8014-950B-457B-9A9C-B1E2E74D333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9271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338052-A5F2-405E-8CAA-80680311C71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6549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B05398-FC10-498A-91FB-7FB555736F9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4791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3177C-CB7C-4329-B831-FB6603307EA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1637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A64675-E0C9-4CB4-82DC-D1D064602D5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8570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58681D-E7AA-443B-BD56-D5B21FE1819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9960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16CB7-CCAE-4DA5-8806-04BF836D69E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4191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EBA6AC-1775-46A9-8EA5-3FDF766D5F7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6267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5769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5769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A37EA15F-BECB-4431-AB96-4D5BEAB7D37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6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AFDEF03-CF4D-4F86-BAB1-ACDFA25AAB17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6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593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694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244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176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33351" y="73183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937684" y="5715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14351" y="94138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-211138"/>
            <a:ext cx="10390717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7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90651" y="1196975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688F5C-29C3-40E1-A2E2-76B27F358A79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04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8000"/>
        </a:buClr>
        <a:buSzPct val="45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520700" y="442913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30818" y="442913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5801" y="865188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178984" y="865188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33351" y="792164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999067" y="17938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54567" y="112553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59000" y="0"/>
            <a:ext cx="1039071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3D3C5EC-8AFD-47F4-9F5E-B89214F8FF83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8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20700" y="706438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1030818" y="706438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685801" y="1128713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1178984" y="1128713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133351" y="105568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999067" y="442913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554567" y="13890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4BA7BC-1BCD-4309-BF8D-EA751C590FC2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39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../media/image1.tmp"/><Relationship Id="rId5" Type="http://schemas.openxmlformats.org/officeDocument/2006/relationships/tags" Target="../tags/tag73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image" Target="../media/image1.tmp"/><Relationship Id="rId5" Type="http://schemas.openxmlformats.org/officeDocument/2006/relationships/tags" Target="../tags/tag82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tags" Target="../tags/tag103.xml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10" Type="http://schemas.openxmlformats.org/officeDocument/2006/relationships/tags" Target="../tags/tag96.xml"/><Relationship Id="rId19" Type="http://schemas.openxmlformats.org/officeDocument/2006/relationships/image" Target="../media/image1.tmp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1.tmp"/><Relationship Id="rId5" Type="http://schemas.openxmlformats.org/officeDocument/2006/relationships/tags" Target="../tags/tag108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1.tmp"/><Relationship Id="rId5" Type="http://schemas.openxmlformats.org/officeDocument/2006/relationships/tags" Target="../tags/tag117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116.xml"/><Relationship Id="rId9" Type="http://schemas.openxmlformats.org/officeDocument/2006/relationships/tags" Target="../tags/tag1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file:///H:\l5_62.exe" TargetMode="External"/><Relationship Id="rId1" Type="http://schemas.openxmlformats.org/officeDocument/2006/relationships/slideLayout" Target="../slideLayouts/slideLayout4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image" Target="../media/image1.tmp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image" Target="../media/image4.png"/><Relationship Id="rId5" Type="http://schemas.openxmlformats.org/officeDocument/2006/relationships/tags" Target="../tags/tag126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125.xml"/><Relationship Id="rId9" Type="http://schemas.openxmlformats.org/officeDocument/2006/relationships/tags" Target="../tags/tag13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19" Type="http://schemas.openxmlformats.org/officeDocument/2006/relationships/image" Target="../media/image1.tmp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719638" y="84138"/>
            <a:ext cx="3429000" cy="754062"/>
          </a:xfrm>
        </p:spPr>
        <p:txBody>
          <a:bodyPr/>
          <a:lstStyle/>
          <a:p>
            <a:r>
              <a:rPr lang="zh-CN" altLang="en-US" sz="3600">
                <a:latin typeface="Times New Roman" pitchFamily="18" charset="0"/>
              </a:rPr>
              <a:t>循环结构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5813" y="1200151"/>
            <a:ext cx="7994650" cy="4672013"/>
          </a:xfrm>
        </p:spPr>
        <p:txBody>
          <a:bodyPr/>
          <a:lstStyle/>
          <a:p>
            <a:pPr marL="271463" indent="-271463">
              <a:lnSpc>
                <a:spcPct val="120000"/>
              </a:lnSpc>
              <a:spcBef>
                <a:spcPct val="10000"/>
              </a:spcBef>
              <a:buSzPct val="50000"/>
            </a:pPr>
            <a:r>
              <a:rPr lang="zh-CN" altLang="en-US" sz="2800" b="1" dirty="0">
                <a:solidFill>
                  <a:srgbClr val="FF0000"/>
                </a:solidFill>
                <a:latin typeface="Courier New" pitchFamily="49" charset="0"/>
              </a:rPr>
              <a:t>循环结构</a:t>
            </a:r>
            <a:r>
              <a:rPr lang="zh-CN" altLang="en-US" sz="2800" b="1" dirty="0">
                <a:latin typeface="Courier New" pitchFamily="49" charset="0"/>
              </a:rPr>
              <a:t>也称</a:t>
            </a:r>
            <a:r>
              <a:rPr lang="zh-CN" altLang="en-US" sz="2800" b="1" dirty="0">
                <a:solidFill>
                  <a:srgbClr val="FF0000"/>
                </a:solidFill>
                <a:latin typeface="Courier New" pitchFamily="49" charset="0"/>
              </a:rPr>
              <a:t>重复</a:t>
            </a:r>
            <a:r>
              <a:rPr lang="zh-CN" altLang="en-US" sz="2800" b="1" dirty="0">
                <a:latin typeface="Courier New" pitchFamily="49" charset="0"/>
              </a:rPr>
              <a:t>结构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黑体" pitchFamily="49" charset="-122"/>
              </a:rPr>
              <a:t>是指在程序执行过程中需要反复执行的程序段。</a:t>
            </a:r>
          </a:p>
          <a:p>
            <a:pPr marL="271463" indent="-271463">
              <a:lnSpc>
                <a:spcPct val="120000"/>
              </a:lnSpc>
              <a:spcBef>
                <a:spcPct val="40000"/>
              </a:spcBef>
              <a:buSzPct val="50000"/>
            </a:pPr>
            <a:r>
              <a:rPr lang="zh-CN" altLang="en-US" sz="2800" b="1" dirty="0">
                <a:latin typeface="黑体" pitchFamily="49" charset="-122"/>
              </a:rPr>
              <a:t>循环语句有三种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zh-CN" altLang="zh-CN" sz="2800" b="1" dirty="0">
                <a:latin typeface="黑体" pitchFamily="49" charset="-122"/>
              </a:rPr>
              <a:t> </a:t>
            </a:r>
          </a:p>
          <a:p>
            <a:pPr marL="450850" lvl="1" indent="0">
              <a:lnSpc>
                <a:spcPct val="120000"/>
              </a:lnSpc>
              <a:spcBef>
                <a:spcPct val="3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zh-CN" b="1" dirty="0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zh-CN" altLang="zh-CN" b="1" dirty="0">
                <a:solidFill>
                  <a:srgbClr val="0000B4"/>
                </a:solidFill>
                <a:latin typeface="Arial" pitchFamily="34" charset="0"/>
              </a:rPr>
              <a:t>while</a:t>
            </a:r>
            <a:r>
              <a:rPr lang="zh-CN" b="1" dirty="0">
                <a:latin typeface="Courier New" pitchFamily="49" charset="0"/>
              </a:rPr>
              <a:t>语句 </a:t>
            </a:r>
          </a:p>
          <a:p>
            <a:pPr marL="450850" lvl="1" indent="0">
              <a:lnSpc>
                <a:spcPct val="120000"/>
              </a:lnSpc>
              <a:spcBef>
                <a:spcPct val="2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b="1" dirty="0">
                <a:cs typeface="Courier New" pitchFamily="49" charset="0"/>
              </a:rPr>
              <a:t> </a:t>
            </a:r>
            <a:r>
              <a:rPr lang="zh-CN" altLang="zh-CN" b="1" dirty="0">
                <a:solidFill>
                  <a:srgbClr val="0000B4"/>
                </a:solidFill>
                <a:latin typeface="Arial" pitchFamily="34" charset="0"/>
              </a:rPr>
              <a:t>do—while</a:t>
            </a:r>
            <a:r>
              <a:rPr lang="zh-CN" b="1" dirty="0">
                <a:latin typeface="Courier New" pitchFamily="49" charset="0"/>
              </a:rPr>
              <a:t>语句</a:t>
            </a:r>
            <a:endParaRPr lang="zh-CN" b="1" dirty="0">
              <a:latin typeface="黑体" pitchFamily="49" charset="-122"/>
            </a:endParaRPr>
          </a:p>
          <a:p>
            <a:pPr marL="450850" lvl="1" indent="0">
              <a:lnSpc>
                <a:spcPct val="120000"/>
              </a:lnSpc>
              <a:spcBef>
                <a:spcPct val="2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b="1" dirty="0">
                <a:cs typeface="Courier New" pitchFamily="49" charset="0"/>
              </a:rPr>
              <a:t> </a:t>
            </a:r>
            <a:r>
              <a:rPr lang="zh-CN" altLang="zh-CN" b="1" dirty="0">
                <a:solidFill>
                  <a:srgbClr val="0000B4"/>
                </a:solidFill>
                <a:latin typeface="Arial" pitchFamily="34" charset="0"/>
              </a:rPr>
              <a:t>for</a:t>
            </a:r>
            <a:r>
              <a:rPr lang="zh-CN" b="1" dirty="0">
                <a:latin typeface="Courier New" pitchFamily="49" charset="0"/>
              </a:rPr>
              <a:t>语句</a:t>
            </a:r>
            <a:r>
              <a:rPr lang="zh-CN" b="1" dirty="0">
                <a:latin typeface="黑体" pitchFamily="49" charset="-122"/>
              </a:rPr>
              <a:t> </a:t>
            </a:r>
          </a:p>
          <a:p>
            <a:pPr marL="450850" lvl="1" indent="0">
              <a:lnSpc>
                <a:spcPct val="120000"/>
              </a:lnSpc>
              <a:spcBef>
                <a:spcPct val="35000"/>
              </a:spcBef>
              <a:buClr>
                <a:srgbClr val="008000"/>
              </a:buClr>
              <a:buSzPct val="85000"/>
              <a:buNone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</a:rPr>
              <a:t>(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goto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&lt;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标号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&gt;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)</a:t>
            </a:r>
            <a:endParaRPr lang="zh-CN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418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84389" y="1350963"/>
            <a:ext cx="8428037" cy="4525962"/>
          </a:xfrm>
          <a:noFill/>
          <a:ln/>
        </p:spPr>
        <p:txBody>
          <a:bodyPr/>
          <a:lstStyle/>
          <a:p>
            <a:pPr marL="274638" indent="-274638">
              <a:buSzPct val="50000"/>
            </a:pP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while</a:t>
            </a:r>
            <a:r>
              <a:rPr lang="zh-CN" altLang="en-US" sz="2800" b="1" dirty="0">
                <a:latin typeface="Courier New" pitchFamily="49" charset="0"/>
              </a:rPr>
              <a:t>语句用来实现</a:t>
            </a:r>
            <a:r>
              <a:rPr lang="zh-CN" altLang="en-US" sz="2800" b="1" dirty="0">
                <a:latin typeface="Times New Roman" pitchFamily="18" charset="0"/>
              </a:rPr>
              <a:t>“</a:t>
            </a:r>
            <a:r>
              <a:rPr lang="zh-CN" altLang="en-US" sz="2800" b="1" dirty="0">
                <a:solidFill>
                  <a:schemeClr val="hlink"/>
                </a:solidFill>
              </a:rPr>
              <a:t>当型</a:t>
            </a:r>
            <a:r>
              <a:rPr lang="zh-CN" altLang="en-US" sz="2800" b="1" dirty="0">
                <a:latin typeface="Times New Roman" pitchFamily="18" charset="0"/>
              </a:rPr>
              <a:t>”</a:t>
            </a:r>
            <a:r>
              <a:rPr lang="zh-CN" altLang="en-US" sz="2800" b="1" dirty="0">
                <a:latin typeface="Courier New" pitchFamily="49" charset="0"/>
              </a:rPr>
              <a:t>循环结构</a:t>
            </a:r>
            <a:endParaRPr lang="zh-CN" altLang="en-US" sz="2400" b="1" dirty="0">
              <a:latin typeface="黑体" pitchFamily="49" charset="-122"/>
            </a:endParaRPr>
          </a:p>
          <a:p>
            <a:pPr marL="274638" indent="-274638">
              <a:lnSpc>
                <a:spcPct val="110000"/>
              </a:lnSpc>
              <a:spcBef>
                <a:spcPct val="70000"/>
              </a:spcBef>
              <a:buSzPct val="50000"/>
            </a:pPr>
            <a:r>
              <a:rPr lang="zh-CN" altLang="en-US" sz="2800" b="1" dirty="0">
                <a:latin typeface="黑体" pitchFamily="49" charset="-122"/>
              </a:rPr>
              <a:t>格式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zh-CN" altLang="zh-CN" sz="2800" b="1" dirty="0">
                <a:solidFill>
                  <a:schemeClr val="tx2"/>
                </a:solidFill>
                <a:latin typeface="黑体" pitchFamily="49" charset="-122"/>
              </a:rPr>
              <a:t>   </a:t>
            </a:r>
          </a:p>
          <a:p>
            <a:pPr marL="274638" indent="-274638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2"/>
                </a:solidFill>
                <a:latin typeface="黑体" pitchFamily="49" charset="-122"/>
              </a:rPr>
              <a:t>          </a:t>
            </a:r>
            <a:r>
              <a:rPr lang="zh-CN" altLang="zh-CN" sz="2800" b="1" dirty="0">
                <a:solidFill>
                  <a:schemeClr val="hlink"/>
                </a:solidFill>
                <a:latin typeface="Arial" pitchFamily="34" charset="0"/>
              </a:rPr>
              <a:t>while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  <a:cs typeface="Courier New" pitchFamily="49" charset="0"/>
              </a:rPr>
              <a:t>(&lt;</a:t>
            </a:r>
            <a:r>
              <a:rPr lang="zh-CN" altLang="en-US" sz="2800" b="1" dirty="0">
                <a:solidFill>
                  <a:schemeClr val="hlink"/>
                </a:solidFill>
                <a:latin typeface="Courier New" pitchFamily="49" charset="0"/>
              </a:rPr>
              <a:t>表达式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&gt;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  <a:cs typeface="Courier New" pitchFamily="49" charset="0"/>
              </a:rPr>
              <a:t>) </a:t>
            </a:r>
            <a:endParaRPr lang="zh-CN" altLang="zh-CN" sz="2800" b="1" dirty="0">
              <a:solidFill>
                <a:schemeClr val="hlink"/>
              </a:solidFill>
              <a:latin typeface="Times New Roman" pitchFamily="18" charset="0"/>
            </a:endParaRPr>
          </a:p>
          <a:p>
            <a:pPr marL="274638" indent="-274638">
              <a:lnSpc>
                <a:spcPct val="105000"/>
              </a:lnSpc>
              <a:spcBef>
                <a:spcPct val="35000"/>
              </a:spcBef>
              <a:buNone/>
            </a:pPr>
            <a:r>
              <a:rPr lang="zh-CN" altLang="zh-CN" sz="2800" b="1" dirty="0">
                <a:solidFill>
                  <a:schemeClr val="hlink"/>
                </a:solidFill>
              </a:rPr>
              <a:t>        </a:t>
            </a:r>
            <a:endParaRPr lang="en-US" altLang="zh-CN" sz="2800" b="1" dirty="0">
              <a:solidFill>
                <a:schemeClr val="hlink"/>
              </a:solidFill>
            </a:endParaRPr>
          </a:p>
          <a:p>
            <a:pPr marL="274638" indent="-274638">
              <a:lnSpc>
                <a:spcPct val="105000"/>
              </a:lnSpc>
              <a:spcBef>
                <a:spcPct val="35000"/>
              </a:spcBef>
              <a:buNone/>
            </a:pPr>
            <a:r>
              <a:rPr lang="zh-CN" altLang="zh-CN" sz="2800" b="1" dirty="0">
                <a:solidFill>
                  <a:schemeClr val="hlink"/>
                </a:solidFill>
              </a:rPr>
              <a:t>         </a:t>
            </a:r>
            <a:r>
              <a:rPr lang="zh-CN" altLang="zh-CN" sz="2800" b="1" dirty="0"/>
              <a:t>                   </a:t>
            </a:r>
            <a:endParaRPr lang="zh-CN" altLang="zh-CN" sz="2800" b="1" dirty="0">
              <a:solidFill>
                <a:schemeClr val="hlink"/>
              </a:solidFill>
              <a:latin typeface="黑体" pitchFamily="49" charset="-122"/>
            </a:endParaRPr>
          </a:p>
          <a:p>
            <a:pPr marL="274638" indent="-274638">
              <a:lnSpc>
                <a:spcPct val="120000"/>
              </a:lnSpc>
              <a:spcBef>
                <a:spcPct val="170000"/>
              </a:spcBef>
              <a:buSzPct val="50000"/>
            </a:pPr>
            <a:r>
              <a:rPr lang="zh-CN" altLang="en-US" sz="2800" b="1" dirty="0">
                <a:latin typeface="黑体" pitchFamily="49" charset="-122"/>
              </a:rPr>
              <a:t>特点</a:t>
            </a:r>
            <a:r>
              <a:rPr lang="zh-CN" altLang="zh-CN" sz="2800" b="1" dirty="0">
                <a:latin typeface="Times New Roman" pitchFamily="18" charset="0"/>
              </a:rPr>
              <a:t>: </a:t>
            </a:r>
            <a:r>
              <a:rPr lang="zh-CN" altLang="en-US" sz="2800" b="1" dirty="0">
                <a:latin typeface="黑体" pitchFamily="49" charset="-122"/>
              </a:rPr>
              <a:t>先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</a:rPr>
              <a:t>判断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黑体" pitchFamily="49" charset="-122"/>
              </a:rPr>
              <a:t>再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</a:rPr>
              <a:t>执行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黑体" pitchFamily="49" charset="-122"/>
              </a:rPr>
              <a:t>有可能一次也不执行。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title"/>
          </p:nvPr>
        </p:nvSpPr>
        <p:spPr>
          <a:xfrm>
            <a:off x="4046538" y="212726"/>
            <a:ext cx="5207000" cy="58102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4.</a:t>
            </a:r>
            <a:r>
              <a:rPr lang="zh-CN" altLang="zh-CN" sz="3600" dirty="0">
                <a:latin typeface="楷体_GB2312" pitchFamily="49" charset="-122"/>
              </a:rPr>
              <a:t>1 while </a:t>
            </a:r>
            <a:r>
              <a:rPr lang="zh-CN" altLang="en-US" sz="3600" dirty="0">
                <a:latin typeface="楷体_GB2312" pitchFamily="49" charset="-122"/>
              </a:rPr>
              <a:t>语句</a:t>
            </a:r>
          </a:p>
        </p:txBody>
      </p:sp>
      <p:grpSp>
        <p:nvGrpSpPr>
          <p:cNvPr id="251908" name="Group 4"/>
          <p:cNvGrpSpPr>
            <a:grpSpLocks/>
          </p:cNvGrpSpPr>
          <p:nvPr/>
        </p:nvGrpSpPr>
        <p:grpSpPr bwMode="auto">
          <a:xfrm>
            <a:off x="8259763" y="1443039"/>
            <a:ext cx="2298700" cy="3430587"/>
            <a:chOff x="0" y="0"/>
            <a:chExt cx="1471" cy="2161"/>
          </a:xfrm>
        </p:grpSpPr>
        <p:sp>
          <p:nvSpPr>
            <p:cNvPr id="251909" name="Rectangle 5"/>
            <p:cNvSpPr>
              <a:spLocks noChangeArrowheads="1"/>
            </p:cNvSpPr>
            <p:nvPr/>
          </p:nvSpPr>
          <p:spPr bwMode="auto">
            <a:xfrm>
              <a:off x="171" y="1102"/>
              <a:ext cx="1147" cy="473"/>
            </a:xfrm>
            <a:prstGeom prst="rect">
              <a:avLst/>
            </a:prstGeom>
            <a:solidFill>
              <a:srgbClr val="00CCFF">
                <a:alpha val="39000"/>
              </a:srgbClr>
            </a:solidFill>
            <a:ln w="19050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</a:rPr>
                <a:t>循环体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</a:rPr>
                <a:t>修改循环变量</a:t>
              </a:r>
            </a:p>
          </p:txBody>
        </p:sp>
        <p:sp>
          <p:nvSpPr>
            <p:cNvPr id="251910" name="Text Box 6"/>
            <p:cNvSpPr txBox="1">
              <a:spLocks noChangeArrowheads="1"/>
            </p:cNvSpPr>
            <p:nvPr/>
          </p:nvSpPr>
          <p:spPr bwMode="auto">
            <a:xfrm>
              <a:off x="110" y="0"/>
              <a:ext cx="1215" cy="262"/>
            </a:xfrm>
            <a:prstGeom prst="rect">
              <a:avLst/>
            </a:prstGeom>
            <a:solidFill>
              <a:srgbClr val="00CCFF">
                <a:alpha val="39000"/>
              </a:srgbClr>
            </a:solidFill>
            <a:ln w="19050" cmpd="sng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000000"/>
                  </a:solidFill>
                  <a:ea typeface="宋体" pitchFamily="2" charset="-122"/>
                </a:rPr>
                <a:t> </a:t>
              </a:r>
              <a:r>
                <a:rPr lang="zh-CN" altLang="en-US" sz="2000" b="1">
                  <a:solidFill>
                    <a:srgbClr val="000000"/>
                  </a:solidFill>
                </a:rPr>
                <a:t>循环变量初始化</a:t>
              </a:r>
            </a:p>
          </p:txBody>
        </p:sp>
        <p:sp>
          <p:nvSpPr>
            <p:cNvPr id="251911" name="AutoShape 7"/>
            <p:cNvSpPr>
              <a:spLocks noChangeArrowheads="1"/>
            </p:cNvSpPr>
            <p:nvPr/>
          </p:nvSpPr>
          <p:spPr bwMode="auto">
            <a:xfrm>
              <a:off x="183" y="519"/>
              <a:ext cx="1116" cy="414"/>
            </a:xfrm>
            <a:prstGeom prst="flowChartDecision">
              <a:avLst/>
            </a:prstGeom>
            <a:solidFill>
              <a:srgbClr val="00CCFF">
                <a:alpha val="39000"/>
              </a:srgbClr>
            </a:solidFill>
            <a:ln w="19050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</a:rPr>
                <a:t>条件</a:t>
              </a:r>
            </a:p>
          </p:txBody>
        </p:sp>
        <p:sp>
          <p:nvSpPr>
            <p:cNvPr id="251912" name="Line 8"/>
            <p:cNvSpPr>
              <a:spLocks noChangeShapeType="1"/>
            </p:cNvSpPr>
            <p:nvPr/>
          </p:nvSpPr>
          <p:spPr bwMode="auto">
            <a:xfrm>
              <a:off x="731" y="284"/>
              <a:ext cx="5" cy="235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51913" name="Line 9"/>
            <p:cNvSpPr>
              <a:spLocks noChangeShapeType="1"/>
            </p:cNvSpPr>
            <p:nvPr/>
          </p:nvSpPr>
          <p:spPr bwMode="auto">
            <a:xfrm>
              <a:off x="736" y="922"/>
              <a:ext cx="0" cy="179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grpSp>
          <p:nvGrpSpPr>
            <p:cNvPr id="251914" name="Group 10"/>
            <p:cNvGrpSpPr>
              <a:grpSpLocks/>
            </p:cNvGrpSpPr>
            <p:nvPr/>
          </p:nvGrpSpPr>
          <p:grpSpPr bwMode="auto">
            <a:xfrm>
              <a:off x="0" y="384"/>
              <a:ext cx="736" cy="1389"/>
              <a:chOff x="0" y="0"/>
              <a:chExt cx="960" cy="1488"/>
            </a:xfrm>
          </p:grpSpPr>
          <p:sp>
            <p:nvSpPr>
              <p:cNvPr id="251915" name="Line 11"/>
              <p:cNvSpPr>
                <a:spLocks noChangeShapeType="1"/>
              </p:cNvSpPr>
              <p:nvPr/>
            </p:nvSpPr>
            <p:spPr bwMode="auto">
              <a:xfrm>
                <a:off x="960" y="1296"/>
                <a:ext cx="0" cy="192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51916" name="Line 12"/>
              <p:cNvSpPr>
                <a:spLocks noChangeShapeType="1"/>
              </p:cNvSpPr>
              <p:nvPr/>
            </p:nvSpPr>
            <p:spPr bwMode="auto">
              <a:xfrm>
                <a:off x="0" y="0"/>
                <a:ext cx="960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51917" name="Line 13"/>
              <p:cNvSpPr>
                <a:spLocks noChangeShapeType="1"/>
              </p:cNvSpPr>
              <p:nvPr/>
            </p:nvSpPr>
            <p:spPr bwMode="auto">
              <a:xfrm flipH="1">
                <a:off x="0" y="1488"/>
                <a:ext cx="960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51918" name="Line 14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488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251919" name="Line 15"/>
            <p:cNvSpPr>
              <a:spLocks noChangeShapeType="1"/>
            </p:cNvSpPr>
            <p:nvPr/>
          </p:nvSpPr>
          <p:spPr bwMode="auto">
            <a:xfrm>
              <a:off x="1288" y="728"/>
              <a:ext cx="147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51920" name="Line 16"/>
            <p:cNvSpPr>
              <a:spLocks noChangeShapeType="1"/>
            </p:cNvSpPr>
            <p:nvPr/>
          </p:nvSpPr>
          <p:spPr bwMode="auto">
            <a:xfrm>
              <a:off x="1435" y="729"/>
              <a:ext cx="0" cy="1164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51921" name="Line 17"/>
            <p:cNvSpPr>
              <a:spLocks noChangeShapeType="1"/>
            </p:cNvSpPr>
            <p:nvPr/>
          </p:nvSpPr>
          <p:spPr bwMode="auto">
            <a:xfrm flipH="1">
              <a:off x="736" y="1892"/>
              <a:ext cx="699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51922" name="Line 18"/>
            <p:cNvSpPr>
              <a:spLocks noChangeShapeType="1"/>
            </p:cNvSpPr>
            <p:nvPr/>
          </p:nvSpPr>
          <p:spPr bwMode="auto">
            <a:xfrm>
              <a:off x="736" y="1892"/>
              <a:ext cx="0" cy="269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51923" name="Text Box 19"/>
            <p:cNvSpPr txBox="1">
              <a:spLocks noChangeArrowheads="1"/>
            </p:cNvSpPr>
            <p:nvPr/>
          </p:nvSpPr>
          <p:spPr bwMode="auto">
            <a:xfrm>
              <a:off x="1251" y="504"/>
              <a:ext cx="2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000" b="1">
                  <a:solidFill>
                    <a:srgbClr val="000000"/>
                  </a:solidFill>
                  <a:ea typeface="宋体" pitchFamily="2" charset="-122"/>
                </a:rPr>
                <a:t>0</a:t>
              </a:r>
            </a:p>
          </p:txBody>
        </p:sp>
        <p:sp>
          <p:nvSpPr>
            <p:cNvPr id="251924" name="Text Box 20"/>
            <p:cNvSpPr txBox="1">
              <a:spLocks noChangeArrowheads="1"/>
            </p:cNvSpPr>
            <p:nvPr/>
          </p:nvSpPr>
          <p:spPr bwMode="auto">
            <a:xfrm>
              <a:off x="835" y="847"/>
              <a:ext cx="3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  <a:latin typeface="黑体" pitchFamily="49" charset="-122"/>
                </a:rPr>
                <a:t>非</a:t>
              </a:r>
              <a:r>
                <a:rPr lang="zh-CN" altLang="zh-CN" sz="2000" b="1">
                  <a:solidFill>
                    <a:srgbClr val="000000"/>
                  </a:solidFill>
                  <a:latin typeface="黑体" pitchFamily="49" charset="-122"/>
                </a:rPr>
                <a:t>0</a:t>
              </a:r>
            </a:p>
          </p:txBody>
        </p:sp>
      </p:grpSp>
      <p:sp>
        <p:nvSpPr>
          <p:cNvPr id="251925" name="Rectangle 21"/>
          <p:cNvSpPr>
            <a:spLocks noChangeArrowheads="1"/>
          </p:cNvSpPr>
          <p:nvPr/>
        </p:nvSpPr>
        <p:spPr bwMode="auto">
          <a:xfrm>
            <a:off x="3778251" y="2395539"/>
            <a:ext cx="3598863" cy="2016125"/>
          </a:xfrm>
          <a:prstGeom prst="rect">
            <a:avLst/>
          </a:prstGeom>
          <a:noFill/>
          <a:ln w="25400" cmpd="sng">
            <a:solidFill>
              <a:srgbClr val="CC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51926" name="Rectangle 22"/>
          <p:cNvSpPr>
            <a:spLocks noChangeArrowheads="1"/>
          </p:cNvSpPr>
          <p:nvPr/>
        </p:nvSpPr>
        <p:spPr bwMode="auto">
          <a:xfrm>
            <a:off x="4352925" y="3332163"/>
            <a:ext cx="324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;  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</a:rPr>
              <a:t>循环体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954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2413000" y="46038"/>
            <a:ext cx="6629400" cy="690562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4.</a:t>
            </a:r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1   </a:t>
            </a:r>
            <a:r>
              <a:rPr lang="zh-CN" altLang="en-US" sz="2800" dirty="0">
                <a:solidFill>
                  <a:schemeClr val="tx1"/>
                </a:solidFill>
                <a:ea typeface="黑体" pitchFamily="49" charset="-122"/>
              </a:rPr>
              <a:t>求</a:t>
            </a:r>
            <a:r>
              <a:rPr lang="zh-CN" altLang="zh-CN" sz="2800" dirty="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lang="zh-CN" altLang="zh-CN" sz="2800" dirty="0">
                <a:solidFill>
                  <a:schemeClr val="tx1"/>
                </a:solidFill>
                <a:ea typeface="黑体" pitchFamily="49" charset="-122"/>
              </a:rPr>
              <a:t>+</a:t>
            </a:r>
            <a:r>
              <a:rPr lang="zh-CN" altLang="zh-CN" sz="2800" dirty="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2</a:t>
            </a:r>
            <a:r>
              <a:rPr lang="zh-CN" altLang="zh-CN" sz="2800" dirty="0">
                <a:solidFill>
                  <a:schemeClr val="tx1"/>
                </a:solidFill>
                <a:ea typeface="黑体" pitchFamily="49" charset="-122"/>
              </a:rPr>
              <a:t>+</a:t>
            </a:r>
            <a:r>
              <a:rPr lang="zh-CN" altLang="zh-CN" sz="2800" dirty="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3</a:t>
            </a:r>
            <a:r>
              <a:rPr lang="zh-CN" altLang="zh-CN" sz="2800" dirty="0">
                <a:solidFill>
                  <a:schemeClr val="tx1"/>
                </a:solidFill>
                <a:ea typeface="黑体" pitchFamily="49" charset="-122"/>
              </a:rPr>
              <a:t>+</a:t>
            </a:r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</a:rPr>
              <a:t>···</a:t>
            </a:r>
            <a:r>
              <a:rPr lang="zh-CN" altLang="zh-CN" sz="2800" dirty="0">
                <a:solidFill>
                  <a:schemeClr val="tx1"/>
                </a:solidFill>
              </a:rPr>
              <a:t>+</a:t>
            </a:r>
            <a:r>
              <a:rPr lang="zh-CN" altLang="zh-CN" sz="2800" dirty="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100</a:t>
            </a:r>
            <a:r>
              <a:rPr lang="zh-CN" altLang="en-US" sz="2800" dirty="0">
                <a:solidFill>
                  <a:schemeClr val="tx1"/>
                </a:solidFill>
                <a:ea typeface="黑体" pitchFamily="49" charset="-122"/>
              </a:rPr>
              <a:t>的和</a:t>
            </a:r>
          </a:p>
        </p:txBody>
      </p:sp>
      <p:sp>
        <p:nvSpPr>
          <p:cNvPr id="253955" name="Rectangle 3"/>
          <p:cNvSpPr>
            <a:spLocks noChangeArrowheads="1"/>
          </p:cNvSpPr>
          <p:nvPr/>
        </p:nvSpPr>
        <p:spPr bwMode="auto">
          <a:xfrm>
            <a:off x="2087563" y="876300"/>
            <a:ext cx="7421562" cy="515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#include 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stdio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h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&gt;</a:t>
            </a:r>
            <a:endParaRPr lang="zh-CN" altLang="zh-CN" sz="2800" b="1">
              <a:solidFill>
                <a:srgbClr val="000000"/>
              </a:solidFill>
              <a:ea typeface="宋体" pitchFamily="2" charset="-122"/>
              <a:cs typeface="Courier New" pitchFamily="49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void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main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 )</a:t>
            </a: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{  int  i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,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sum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</a:t>
            </a: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i=1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   sum=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0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 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</a:t>
            </a:r>
            <a:r>
              <a:rPr lang="zh-CN" altLang="zh-CN" sz="20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//</a:t>
            </a: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对求和变量</a:t>
            </a:r>
            <a:r>
              <a:rPr lang="zh-CN" altLang="zh-CN" sz="2000" b="1">
                <a:solidFill>
                  <a:srgbClr val="000000"/>
                </a:solidFill>
                <a:latin typeface="Arial" pitchFamily="34" charset="0"/>
              </a:rPr>
              <a:t>sum</a:t>
            </a: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清零</a:t>
            </a:r>
          </a:p>
          <a:p>
            <a:pPr algn="just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while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i</a:t>
            </a:r>
            <a:r>
              <a:rPr lang="zh-CN" altLang="zh-CN" sz="240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=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100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)</a:t>
            </a: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just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C20000"/>
                </a:solidFill>
                <a:ea typeface="宋体" pitchFamily="2" charset="-122"/>
                <a:cs typeface="Courier New" pitchFamily="49" charset="0"/>
              </a:rPr>
              <a:t>  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{</a:t>
            </a:r>
            <a:r>
              <a:rPr lang="zh-CN" altLang="zh-CN" sz="2400" b="1">
                <a:solidFill>
                  <a:srgbClr val="C20000"/>
                </a:solidFill>
                <a:ea typeface="宋体" pitchFamily="2" charset="-122"/>
                <a:cs typeface="Courier New" pitchFamily="49" charset="0"/>
              </a:rPr>
              <a:t> </a:t>
            </a:r>
          </a:p>
          <a:p>
            <a:pPr algn="just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C20000"/>
                </a:solidFill>
                <a:ea typeface="宋体" pitchFamily="2" charset="-122"/>
                <a:cs typeface="Courier New" pitchFamily="49" charset="0"/>
              </a:rPr>
              <a:t>       </a:t>
            </a:r>
            <a:r>
              <a:rPr lang="zh-CN" altLang="zh-CN" sz="2400" b="1">
                <a:solidFill>
                  <a:srgbClr val="1C1C1C"/>
                </a:solidFill>
                <a:ea typeface="宋体" pitchFamily="2" charset="-122"/>
                <a:cs typeface="Courier New" pitchFamily="49" charset="0"/>
              </a:rPr>
              <a:t>sum=sum+i </a:t>
            </a: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;  </a:t>
            </a:r>
            <a:r>
              <a:rPr lang="zh-CN" altLang="zh-CN" sz="2000" b="1">
                <a:solidFill>
                  <a:srgbClr val="000000"/>
                </a:solidFill>
                <a:latin typeface="Arial" pitchFamily="34" charset="0"/>
              </a:rPr>
              <a:t>//</a:t>
            </a: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累加求和</a:t>
            </a:r>
            <a:endParaRPr lang="zh-CN" altLang="en-US" sz="2000" b="1">
              <a:solidFill>
                <a:srgbClr val="00009E"/>
              </a:solidFill>
              <a:latin typeface="Arial" pitchFamily="34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1C1C1C"/>
                </a:solidFill>
                <a:ea typeface="宋体" pitchFamily="2" charset="-122"/>
                <a:cs typeface="Courier New" pitchFamily="49" charset="0"/>
              </a:rPr>
              <a:t>       </a:t>
            </a:r>
            <a:r>
              <a:rPr lang="zh-CN" altLang="zh-CN" sz="2400" b="1">
                <a:solidFill>
                  <a:srgbClr val="1C1C1C"/>
                </a:solidFill>
                <a:ea typeface="宋体" pitchFamily="2" charset="-122"/>
                <a:cs typeface="Courier New" pitchFamily="49" charset="0"/>
              </a:rPr>
              <a:t>i</a:t>
            </a:r>
            <a:r>
              <a:rPr lang="zh-CN" altLang="zh-CN" sz="2400" b="1">
                <a:solidFill>
                  <a:srgbClr val="1C1C1C"/>
                </a:solidFill>
                <a:latin typeface="黑体" pitchFamily="49" charset="-122"/>
              </a:rPr>
              <a:t>++</a:t>
            </a: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</a:rPr>
              <a:t>;                      </a:t>
            </a:r>
            <a:r>
              <a:rPr lang="zh-CN" altLang="zh-CN" sz="2000" b="1">
                <a:solidFill>
                  <a:srgbClr val="000000"/>
                </a:solidFill>
                <a:latin typeface="Arial" pitchFamily="34" charset="0"/>
              </a:rPr>
              <a:t>//</a:t>
            </a:r>
            <a:r>
              <a:rPr lang="zh-CN" altLang="en-US" sz="2000" b="1">
                <a:solidFill>
                  <a:srgbClr val="000000"/>
                </a:solidFill>
              </a:rPr>
              <a:t>修改循环变量</a:t>
            </a:r>
            <a:endParaRPr lang="zh-CN" altLang="en-US" sz="2000" b="1">
              <a:solidFill>
                <a:srgbClr val="00009E"/>
              </a:solidFill>
              <a:latin typeface="Times New Roman" pitchFamily="18" charset="0"/>
            </a:endParaRPr>
          </a:p>
          <a:p>
            <a:pPr algn="just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C20000"/>
                </a:solidFill>
                <a:ea typeface="宋体" pitchFamily="2" charset="-122"/>
                <a:cs typeface="Courier New" pitchFamily="49" charset="0"/>
              </a:rPr>
              <a:t>  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}</a:t>
            </a:r>
            <a:endParaRPr lang="zh-CN" altLang="zh-CN" sz="2400" b="1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 printf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(“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sum=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%d</a:t>
            </a:r>
            <a:r>
              <a:rPr lang="zh-CN" altLang="zh-CN" sz="240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\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”,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sum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);  </a:t>
            </a:r>
            <a:r>
              <a:rPr lang="zh-CN" altLang="zh-CN" sz="2000" b="1">
                <a:solidFill>
                  <a:srgbClr val="000000"/>
                </a:solidFill>
                <a:latin typeface="Arial" pitchFamily="34" charset="0"/>
              </a:rPr>
              <a:t>//</a:t>
            </a: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输出累加结果</a:t>
            </a:r>
          </a:p>
          <a:p>
            <a:pPr algn="just" eaLnBrk="0" fontAlgn="base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253956" name="Text Box 4"/>
          <p:cNvSpPr txBox="1">
            <a:spLocks noChangeArrowheads="1"/>
          </p:cNvSpPr>
          <p:nvPr/>
        </p:nvSpPr>
        <p:spPr bwMode="auto">
          <a:xfrm>
            <a:off x="2360614" y="5572125"/>
            <a:ext cx="3514725" cy="794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400" b="1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2EC2"/>
                </a:solidFill>
                <a:ea typeface="宋体" pitchFamily="2" charset="-122"/>
              </a:rPr>
              <a:t>            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sum=5050</a:t>
            </a:r>
          </a:p>
        </p:txBody>
      </p:sp>
      <p:sp>
        <p:nvSpPr>
          <p:cNvPr id="253957" name="Text Box 5"/>
          <p:cNvSpPr txBox="1">
            <a:spLocks noChangeArrowheads="1"/>
          </p:cNvSpPr>
          <p:nvPr/>
        </p:nvSpPr>
        <p:spPr bwMode="auto">
          <a:xfrm>
            <a:off x="8548688" y="5688013"/>
            <a:ext cx="3048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8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3958" name="Text Box 6"/>
          <p:cNvSpPr txBox="1">
            <a:spLocks noChangeArrowheads="1"/>
          </p:cNvSpPr>
          <p:nvPr/>
        </p:nvSpPr>
        <p:spPr bwMode="auto">
          <a:xfrm>
            <a:off x="6681789" y="5067300"/>
            <a:ext cx="345598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53959" name="Text Box 7"/>
          <p:cNvSpPr txBox="1">
            <a:spLocks noChangeArrowheads="1"/>
          </p:cNvSpPr>
          <p:nvPr/>
        </p:nvSpPr>
        <p:spPr bwMode="auto">
          <a:xfrm>
            <a:off x="8194676" y="1609726"/>
            <a:ext cx="1871663" cy="3762375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1188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Arial" pitchFamily="34" charset="0"/>
              </a:rPr>
              <a:t>循环前</a:t>
            </a:r>
          </a:p>
          <a:p>
            <a:pPr fontAlgn="base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定义变量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初始化</a:t>
            </a:r>
          </a:p>
          <a:p>
            <a:pPr fontAlgn="base">
              <a:spcBef>
                <a:spcPct val="55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Arial" pitchFamily="34" charset="0"/>
              </a:rPr>
              <a:t>执行循环</a:t>
            </a:r>
          </a:p>
          <a:p>
            <a:pPr fontAlgn="base">
              <a:spcBef>
                <a:spcPct val="55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累加求和</a:t>
            </a:r>
          </a:p>
          <a:p>
            <a:pPr fontAlgn="base">
              <a:spcBef>
                <a:spcPct val="4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修改循环变量</a:t>
            </a:r>
          </a:p>
          <a:p>
            <a:pPr fontAlgn="base">
              <a:spcBef>
                <a:spcPct val="6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Arial" pitchFamily="34" charset="0"/>
              </a:rPr>
              <a:t>结束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输出结果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253960" name="Text Box 8"/>
          <p:cNvSpPr txBox="1">
            <a:spLocks noChangeArrowheads="1"/>
          </p:cNvSpPr>
          <p:nvPr/>
        </p:nvSpPr>
        <p:spPr bwMode="auto">
          <a:xfrm>
            <a:off x="4954588" y="2330450"/>
            <a:ext cx="2520950" cy="26776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53961" name="Rectangle 9"/>
          <p:cNvSpPr>
            <a:spLocks noChangeArrowheads="1"/>
          </p:cNvSpPr>
          <p:nvPr/>
        </p:nvSpPr>
        <p:spPr bwMode="auto">
          <a:xfrm>
            <a:off x="2447925" y="1898650"/>
            <a:ext cx="3671888" cy="960438"/>
          </a:xfrm>
          <a:prstGeom prst="rect">
            <a:avLst/>
          </a:prstGeom>
          <a:noFill/>
          <a:ln w="22225" cmpd="sng">
            <a:solidFill>
              <a:srgbClr val="008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53962" name="Rectangle 10"/>
          <p:cNvSpPr>
            <a:spLocks noChangeArrowheads="1"/>
          </p:cNvSpPr>
          <p:nvPr/>
        </p:nvSpPr>
        <p:spPr bwMode="auto">
          <a:xfrm>
            <a:off x="2433638" y="3035301"/>
            <a:ext cx="3960812" cy="1839913"/>
          </a:xfrm>
          <a:prstGeom prst="rect">
            <a:avLst/>
          </a:prstGeom>
          <a:noFill/>
          <a:ln w="22225" cmpd="sng">
            <a:solidFill>
              <a:srgbClr val="008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53963" name="Rectangle 11"/>
          <p:cNvSpPr>
            <a:spLocks noChangeArrowheads="1"/>
          </p:cNvSpPr>
          <p:nvPr/>
        </p:nvSpPr>
        <p:spPr bwMode="auto">
          <a:xfrm>
            <a:off x="2405064" y="5024438"/>
            <a:ext cx="4321175" cy="412750"/>
          </a:xfrm>
          <a:prstGeom prst="rect">
            <a:avLst/>
          </a:prstGeom>
          <a:noFill/>
          <a:ln w="22225" cmpd="sng">
            <a:solidFill>
              <a:srgbClr val="008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53964" name="Line 12"/>
          <p:cNvSpPr>
            <a:spLocks noChangeShapeType="1"/>
          </p:cNvSpPr>
          <p:nvPr/>
        </p:nvSpPr>
        <p:spPr bwMode="auto">
          <a:xfrm flipV="1">
            <a:off x="6178551" y="1898650"/>
            <a:ext cx="2016125" cy="215900"/>
          </a:xfrm>
          <a:prstGeom prst="line">
            <a:avLst/>
          </a:prstGeom>
          <a:noFill/>
          <a:ln w="22225" cmpd="sng">
            <a:solidFill>
              <a:srgbClr val="008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53965" name="Line 13"/>
          <p:cNvSpPr>
            <a:spLocks noChangeShapeType="1"/>
          </p:cNvSpPr>
          <p:nvPr/>
        </p:nvSpPr>
        <p:spPr bwMode="auto">
          <a:xfrm flipV="1">
            <a:off x="6408739" y="3152775"/>
            <a:ext cx="1798637" cy="287338"/>
          </a:xfrm>
          <a:prstGeom prst="line">
            <a:avLst/>
          </a:prstGeom>
          <a:noFill/>
          <a:ln w="22225" cmpd="sng">
            <a:solidFill>
              <a:srgbClr val="008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53966" name="Line 14"/>
          <p:cNvSpPr>
            <a:spLocks noChangeShapeType="1"/>
          </p:cNvSpPr>
          <p:nvPr/>
        </p:nvSpPr>
        <p:spPr bwMode="auto">
          <a:xfrm flipH="1">
            <a:off x="6783389" y="4735513"/>
            <a:ext cx="1366837" cy="360362"/>
          </a:xfrm>
          <a:prstGeom prst="line">
            <a:avLst/>
          </a:prstGeom>
          <a:noFill/>
          <a:ln w="222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880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53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5" grpId="0" build="p" autoUpdateAnimBg="0"/>
      <p:bldP spid="253956" grpId="0" build="p" autoUpdateAnimBg="0"/>
      <p:bldP spid="253957" grpId="0" animBg="1" autoUpdateAnimBg="0"/>
      <p:bldP spid="253958" grpId="0" animBg="1" autoUpdateAnimBg="0"/>
      <p:bldP spid="253959" grpId="0" animBg="1" autoUpdateAnimBg="0"/>
      <p:bldP spid="253960" grpId="0" animBg="1" autoUpdateAnimBg="0"/>
      <p:bldP spid="253961" grpId="0" animBg="1"/>
      <p:bldP spid="253962" grpId="0" animBg="1"/>
      <p:bldP spid="253963" grpId="0" animBg="1"/>
      <p:bldP spid="253964" grpId="0" animBg="1"/>
      <p:bldP spid="253965" grpId="0" animBg="1"/>
      <p:bldP spid="25396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2389189" y="41275"/>
            <a:ext cx="5457825" cy="730250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说明</a:t>
            </a:r>
            <a:r>
              <a:rPr lang="zh-CN" altLang="zh-CN" sz="3600">
                <a:latin typeface="楷体_GB2312" pitchFamily="49" charset="-122"/>
              </a:rPr>
              <a:t>: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6450" y="1136650"/>
            <a:ext cx="8408988" cy="4681538"/>
          </a:xfrm>
        </p:spPr>
        <p:txBody>
          <a:bodyPr/>
          <a:lstStyle/>
          <a:p>
            <a:pPr marL="387350" indent="-387350">
              <a:lnSpc>
                <a:spcPct val="120000"/>
              </a:lnSpc>
              <a:buSzPct val="85000"/>
              <a:buNone/>
            </a:pPr>
            <a:r>
              <a:rPr lang="zh-CN" altLang="zh-CN" sz="2400" b="1" dirty="0">
                <a:latin typeface="Times New Roman" pitchFamily="18" charset="0"/>
              </a:rPr>
              <a:t>1. </a:t>
            </a:r>
            <a:r>
              <a:rPr lang="zh-CN" altLang="en-US" sz="2400" b="1" dirty="0"/>
              <a:t>表达式必须用一对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圆括号</a:t>
            </a:r>
            <a:r>
              <a:rPr lang="zh-CN" altLang="en-US" sz="2400" b="1" dirty="0"/>
              <a:t>括起来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黑体" pitchFamily="49" charset="-122"/>
              </a:rPr>
              <a:t>如果循环体</a:t>
            </a:r>
            <a:r>
              <a:rPr lang="zh-CN" altLang="en-US" sz="2400" b="1" dirty="0"/>
              <a:t>包含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一条以上的语句应用花括号</a:t>
            </a:r>
            <a:r>
              <a:rPr lang="zh-CN" altLang="en-US" sz="2400" b="1" dirty="0">
                <a:latin typeface="黑体" pitchFamily="49" charset="-122"/>
              </a:rPr>
              <a:t>括起来</a:t>
            </a:r>
            <a:r>
              <a:rPr lang="en-US" altLang="zh-CN" sz="2400" b="1" dirty="0">
                <a:latin typeface="黑体" pitchFamily="49" charset="-122"/>
              </a:rPr>
              <a:t>(</a:t>
            </a:r>
            <a:r>
              <a:rPr lang="zh-CN" altLang="en-US" sz="2400" b="1" dirty="0">
                <a:latin typeface="黑体" pitchFamily="49" charset="-122"/>
              </a:rPr>
              <a:t>或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逗号表达式</a:t>
            </a:r>
            <a:r>
              <a:rPr lang="en-US" altLang="zh-CN" sz="2400" b="1" dirty="0">
                <a:latin typeface="黑体" pitchFamily="49" charset="-122"/>
              </a:rPr>
              <a:t>)</a:t>
            </a:r>
            <a:r>
              <a:rPr lang="zh-CN" altLang="en-US" sz="2400" b="1" dirty="0">
                <a:latin typeface="黑体" pitchFamily="49" charset="-122"/>
              </a:rPr>
              <a:t>。</a:t>
            </a:r>
            <a:endParaRPr lang="zh-CN" altLang="en-US" sz="2400" b="1" dirty="0"/>
          </a:p>
        </p:txBody>
      </p:sp>
      <p:sp>
        <p:nvSpPr>
          <p:cNvPr id="254980" name="Comment 4"/>
          <p:cNvSpPr>
            <a:spLocks noChangeArrowheads="1"/>
          </p:cNvSpPr>
          <p:nvPr/>
        </p:nvSpPr>
        <p:spPr bwMode="auto">
          <a:xfrm>
            <a:off x="3927475" y="3132163"/>
            <a:ext cx="3684588" cy="1843038"/>
          </a:xfrm>
          <a:prstGeom prst="flowChartAlternateProcess">
            <a:avLst/>
          </a:prstGeom>
          <a:solidFill>
            <a:srgbClr val="FFFF4D"/>
          </a:solidFill>
          <a:ln w="9525" cmpd="sng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tIns="72000" bIns="72000" anchor="ctr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ea typeface="宋体" pitchFamily="2" charset="-122"/>
                <a:cs typeface="Courier New" pitchFamily="49" charset="0"/>
              </a:rPr>
              <a:t>    </a:t>
            </a: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  <a:cs typeface="Courier New" pitchFamily="49" charset="0"/>
              </a:rPr>
              <a:t>while </a:t>
            </a: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</a:t>
            </a:r>
            <a:r>
              <a:rPr lang="zh-CN" altLang="zh-CN" sz="2400" b="1">
                <a:solidFill>
                  <a:srgbClr val="1C1C1C"/>
                </a:solidFill>
                <a:ea typeface="宋体" pitchFamily="2" charset="-122"/>
                <a:cs typeface="Courier New" pitchFamily="49" charset="0"/>
              </a:rPr>
              <a:t> i</a:t>
            </a:r>
            <a:r>
              <a:rPr lang="zh-CN" altLang="zh-CN" sz="2400">
                <a:solidFill>
                  <a:srgbClr val="1C1C1C"/>
                </a:solidFill>
                <a:ea typeface="宋体" pitchFamily="2" charset="-122"/>
                <a:cs typeface="Courier New" pitchFamily="49" charset="0"/>
              </a:rPr>
              <a:t>&lt;</a:t>
            </a:r>
            <a:r>
              <a:rPr lang="zh-CN" altLang="zh-CN" sz="2400" b="1">
                <a:solidFill>
                  <a:srgbClr val="1C1C1C"/>
                </a:solidFill>
                <a:ea typeface="宋体" pitchFamily="2" charset="-122"/>
                <a:cs typeface="Courier New" pitchFamily="49" charset="0"/>
              </a:rPr>
              <a:t>=100 </a:t>
            </a: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)</a:t>
            </a:r>
            <a:endParaRPr lang="zh-CN" altLang="zh-CN" sz="2400" b="1">
              <a:solidFill>
                <a:srgbClr val="1C1C1C"/>
              </a:solidFill>
              <a:latin typeface="Times New Roman" pitchFamily="18" charset="0"/>
              <a:ea typeface="宋体" pitchFamily="2" charset="-122"/>
            </a:endParaRPr>
          </a:p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1C1C1C"/>
                </a:solidFill>
                <a:ea typeface="宋体" pitchFamily="2" charset="-122"/>
                <a:cs typeface="Courier New" pitchFamily="49" charset="0"/>
              </a:rPr>
              <a:t>    {  sum+=i </a:t>
            </a: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;</a:t>
            </a:r>
            <a:endParaRPr lang="zh-CN" altLang="zh-CN" sz="2400" b="1">
              <a:solidFill>
                <a:srgbClr val="1C1C1C"/>
              </a:solidFill>
              <a:latin typeface="Times New Roman" pitchFamily="18" charset="0"/>
              <a:ea typeface="宋体" pitchFamily="2" charset="-122"/>
            </a:endParaRPr>
          </a:p>
          <a:p>
            <a:pPr algn="just" eaLnBrk="0" fontAlgn="base" hangingPunct="0"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1C1C1C"/>
                </a:solidFill>
                <a:ea typeface="宋体" pitchFamily="2" charset="-122"/>
                <a:cs typeface="Courier New" pitchFamily="49" charset="0"/>
              </a:rPr>
              <a:t>        i</a:t>
            </a:r>
            <a:r>
              <a:rPr lang="zh-CN" altLang="zh-CN" sz="2400" b="1">
                <a:solidFill>
                  <a:srgbClr val="1C1C1C"/>
                </a:solidFill>
                <a:latin typeface="黑体" pitchFamily="49" charset="-122"/>
              </a:rPr>
              <a:t>++ </a:t>
            </a: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</a:rPr>
              <a:t>;</a:t>
            </a:r>
            <a:endParaRPr lang="zh-CN" altLang="zh-CN" sz="2400" b="1">
              <a:solidFill>
                <a:srgbClr val="1C1C1C"/>
              </a:solidFill>
              <a:latin typeface="Times New Roman" pitchFamily="18" charset="0"/>
              <a:ea typeface="宋体" pitchFamily="2" charset="-122"/>
            </a:endParaRPr>
          </a:p>
          <a:p>
            <a:pPr algn="just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1C1C1C"/>
                </a:solidFill>
                <a:ea typeface="宋体" pitchFamily="2" charset="-122"/>
                <a:cs typeface="Courier New" pitchFamily="49" charset="0"/>
              </a:rPr>
              <a:t>    }</a:t>
            </a:r>
            <a:endParaRPr lang="zh-CN" altLang="zh-CN" sz="2400">
              <a:solidFill>
                <a:srgbClr val="1C1C1C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54981" name="Text Box 5"/>
          <p:cNvSpPr txBox="1">
            <a:spLocks noChangeArrowheads="1"/>
          </p:cNvSpPr>
          <p:nvPr/>
        </p:nvSpPr>
        <p:spPr bwMode="auto">
          <a:xfrm>
            <a:off x="4367213" y="4410075"/>
            <a:ext cx="304800" cy="457200"/>
          </a:xfrm>
          <a:prstGeom prst="rect">
            <a:avLst/>
          </a:prstGeom>
          <a:solidFill>
            <a:srgbClr val="FFFF4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4982" name="Text Box 6"/>
          <p:cNvSpPr txBox="1">
            <a:spLocks noChangeArrowheads="1"/>
          </p:cNvSpPr>
          <p:nvPr/>
        </p:nvSpPr>
        <p:spPr bwMode="auto">
          <a:xfrm>
            <a:off x="4367213" y="3762375"/>
            <a:ext cx="304800" cy="457200"/>
          </a:xfrm>
          <a:prstGeom prst="rect">
            <a:avLst/>
          </a:prstGeom>
          <a:solidFill>
            <a:srgbClr val="FFFF4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4983" name="Text Box 7"/>
          <p:cNvSpPr txBox="1">
            <a:spLocks noChangeArrowheads="1"/>
          </p:cNvSpPr>
          <p:nvPr/>
        </p:nvSpPr>
        <p:spPr bwMode="auto">
          <a:xfrm>
            <a:off x="4511676" y="3762375"/>
            <a:ext cx="2449513" cy="1089456"/>
          </a:xfrm>
          <a:prstGeom prst="rect">
            <a:avLst/>
          </a:prstGeom>
          <a:solidFill>
            <a:srgbClr val="FFFF4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62000" tIns="11880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sum+=i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++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4984" name="Rectangle 8"/>
          <p:cNvSpPr>
            <a:spLocks noChangeArrowheads="1"/>
          </p:cNvSpPr>
          <p:nvPr/>
        </p:nvSpPr>
        <p:spPr bwMode="auto">
          <a:xfrm>
            <a:off x="1992314" y="2249488"/>
            <a:ext cx="8440737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05000"/>
              </a:lnSpc>
              <a:spcBef>
                <a:spcPct val="2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2.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在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循环体内必须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</a:rPr>
              <a:t>修改</a:t>
            </a:r>
            <a:r>
              <a:rPr lang="zh-CN" altLang="en-US" sz="2400" b="1" dirty="0">
                <a:solidFill>
                  <a:srgbClr val="000000"/>
                </a:solidFill>
                <a:latin typeface="Courier New" pitchFamily="49" charset="0"/>
              </a:rPr>
              <a:t>循环变量的值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400" b="1" dirty="0">
                <a:solidFill>
                  <a:srgbClr val="000000"/>
                </a:solidFill>
                <a:latin typeface="Courier New" pitchFamily="49" charset="0"/>
              </a:rPr>
              <a:t>否则死循环。</a:t>
            </a:r>
          </a:p>
        </p:txBody>
      </p:sp>
      <p:sp>
        <p:nvSpPr>
          <p:cNvPr id="254985" name="Rectangle 9"/>
          <p:cNvSpPr>
            <a:spLocks noChangeArrowheads="1"/>
          </p:cNvSpPr>
          <p:nvPr/>
        </p:nvSpPr>
        <p:spPr bwMode="auto">
          <a:xfrm>
            <a:off x="1992314" y="2898775"/>
            <a:ext cx="8207375" cy="2262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87350" indent="-3873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</a:pP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3.</a:t>
            </a:r>
            <a:r>
              <a:rPr lang="zh-CN" altLang="zh-CN" sz="12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在循环体中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循环变量的值可以被引用、修改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但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</a:rPr>
              <a:t>不能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另赋新值</a:t>
            </a:r>
            <a:r>
              <a:rPr lang="en-US" altLang="zh-CN" sz="2400" b="1" dirty="0">
                <a:solidFill>
                  <a:srgbClr val="000000"/>
                </a:solidFill>
                <a:latin typeface="黑体" pitchFamily="49" charset="-12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否则</a:t>
            </a:r>
            <a:r>
              <a:rPr lang="en-US" altLang="zh-CN" sz="2400" b="1" dirty="0">
                <a:solidFill>
                  <a:srgbClr val="000000"/>
                </a:solidFill>
                <a:latin typeface="黑体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可能造成死循环</a:t>
            </a:r>
            <a:r>
              <a:rPr lang="en-US" altLang="zh-CN" sz="2400" b="1" dirty="0">
                <a:solidFill>
                  <a:srgbClr val="000000"/>
                </a:solidFill>
                <a:latin typeface="黑体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。</a:t>
            </a:r>
          </a:p>
          <a:p>
            <a:pPr marL="387350" indent="-387350" algn="just" fontAlgn="base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</a:pPr>
            <a:endParaRPr lang="zh-CN" altLang="en-US" sz="2400" b="1" dirty="0">
              <a:solidFill>
                <a:srgbClr val="000000"/>
              </a:solidFill>
              <a:latin typeface="黑体" pitchFamily="49" charset="-122"/>
            </a:endParaRPr>
          </a:p>
          <a:p>
            <a:pPr marL="387350" indent="-387350" algn="just" fontAlgn="base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</a:pPr>
            <a:endParaRPr lang="zh-CN" altLang="en-US" sz="2800" b="1" dirty="0">
              <a:solidFill>
                <a:srgbClr val="000000"/>
              </a:solidFill>
              <a:latin typeface="黑体" pitchFamily="49" charset="-122"/>
            </a:endParaRPr>
          </a:p>
          <a:p>
            <a:pPr marL="387350" indent="-387350" algn="just" fontAlgn="base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</a:pPr>
            <a:endParaRPr lang="zh-CN" altLang="zh-CN" sz="2800" b="1" dirty="0">
              <a:solidFill>
                <a:srgbClr val="000000"/>
              </a:solidFill>
              <a:latin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95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5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1" grpId="0" animBg="1" autoUpdateAnimBg="0"/>
      <p:bldP spid="254982" grpId="0" animBg="1" autoUpdateAnimBg="0"/>
      <p:bldP spid="254983" grpId="0" animBg="1" autoUpdateAnimBg="0"/>
      <p:bldP spid="254984" grpId="0" build="p" autoUpdateAnimBg="0"/>
      <p:bldP spid="254985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392364" y="-28575"/>
            <a:ext cx="5457825" cy="749300"/>
          </a:xfrm>
        </p:spPr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  </a:t>
            </a:r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指出下列语句的错误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4375" y="1174751"/>
            <a:ext cx="8382000" cy="4779963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z="2800" b="1">
                <a:latin typeface="Times New Roman" pitchFamily="18" charset="0"/>
              </a:rPr>
              <a:t> 1)   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en-US" sz="2800" b="1"/>
              <a:t>，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0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>
              <a:lnSpc>
                <a:spcPct val="12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zh-CN" altLang="zh-CN" sz="2800" b="1"/>
              <a:t>        </a:t>
            </a:r>
            <a:r>
              <a:rPr lang="zh-CN" altLang="zh-CN" sz="2800" b="1">
                <a:latin typeface="Arial" pitchFamily="34" charset="0"/>
              </a:rPr>
              <a:t>while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/>
              <a:t>&lt;</a:t>
            </a:r>
            <a:r>
              <a:rPr lang="zh-CN" altLang="zh-CN" sz="2800" b="1">
                <a:latin typeface="Arial" pitchFamily="34" charset="0"/>
              </a:rPr>
              <a:t>10</a:t>
            </a:r>
            <a:r>
              <a:rPr lang="zh-CN" altLang="zh-CN" sz="2800" b="1"/>
              <a:t>   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+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>
                <a:latin typeface="黑体" pitchFamily="49" charset="-122"/>
              </a:rPr>
              <a:t>++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>
              <a:lnSpc>
                <a:spcPct val="120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zh-CN" altLang="zh-CN" sz="2800" b="1">
                <a:latin typeface="Times New Roman" pitchFamily="18" charset="0"/>
              </a:rPr>
              <a:t> 2)</a:t>
            </a:r>
            <a:r>
              <a:rPr lang="zh-CN" altLang="zh-CN" sz="2800" b="1"/>
              <a:t>   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10</a:t>
            </a:r>
            <a:r>
              <a:rPr lang="zh-CN" altLang="en-US" sz="2800" b="1"/>
              <a:t>，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0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>
              <a:lnSpc>
                <a:spcPct val="12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/>
              <a:t>        </a:t>
            </a:r>
            <a:r>
              <a:rPr lang="zh-CN" altLang="zh-CN" sz="2800" b="1">
                <a:latin typeface="Arial" pitchFamily="34" charset="0"/>
              </a:rPr>
              <a:t>while</a:t>
            </a:r>
            <a:r>
              <a:rPr lang="zh-CN" altLang="zh-CN" sz="2800" b="1">
                <a:latin typeface="黑体" pitchFamily="49" charset="-122"/>
              </a:rPr>
              <a:t>(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/>
              <a:t>  </a:t>
            </a:r>
            <a:r>
              <a:rPr lang="zh-CN" altLang="zh-CN" sz="2800"/>
              <a:t>&gt;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0</a:t>
            </a:r>
            <a:r>
              <a:rPr lang="zh-CN" altLang="zh-CN" sz="2800" b="1">
                <a:latin typeface="黑体" pitchFamily="49" charset="-122"/>
              </a:rPr>
              <a:t>)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+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/>
              <a:t> </a:t>
            </a:r>
            <a:r>
              <a:rPr lang="en-US" altLang="zh-CN" sz="2800" b="1"/>
              <a:t>  </a:t>
            </a:r>
            <a:r>
              <a:rPr lang="zh-CN" altLang="zh-CN" sz="2800" b="1">
                <a:latin typeface="Times New Roman" pitchFamily="18" charset="0"/>
              </a:rPr>
              <a:t>;</a:t>
            </a:r>
          </a:p>
          <a:p>
            <a:pPr>
              <a:spcBef>
                <a:spcPct val="70000"/>
              </a:spcBef>
              <a:buFont typeface="Wingdings" pitchFamily="2" charset="2"/>
              <a:buNone/>
            </a:pP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3)</a:t>
            </a:r>
            <a:r>
              <a:rPr lang="zh-CN" altLang="zh-CN" sz="2800" b="1"/>
              <a:t>   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 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1</a:t>
            </a:r>
            <a:r>
              <a:rPr lang="zh-CN" altLang="en-US" sz="2800" b="1"/>
              <a:t>，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0</a:t>
            </a:r>
            <a:r>
              <a:rPr lang="zh-CN" altLang="zh-CN" sz="2800" b="1"/>
              <a:t> </a:t>
            </a:r>
            <a:r>
              <a:rPr lang="zh-CN" altLang="en-US" sz="2800" b="1"/>
              <a:t>；</a:t>
            </a:r>
          </a:p>
          <a:p>
            <a:pPr>
              <a:lnSpc>
                <a:spcPct val="12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800" b="1"/>
              <a:t>        </a:t>
            </a:r>
            <a:r>
              <a:rPr lang="zh-CN" altLang="zh-CN" sz="2800" b="1">
                <a:latin typeface="Arial" pitchFamily="34" charset="0"/>
              </a:rPr>
              <a:t>while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(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/>
              <a:t>&lt;</a:t>
            </a:r>
            <a:r>
              <a:rPr lang="zh-CN" altLang="zh-CN" sz="2800" b="1">
                <a:latin typeface="Arial" pitchFamily="34" charset="0"/>
              </a:rPr>
              <a:t>10</a:t>
            </a:r>
            <a:r>
              <a:rPr lang="zh-CN" altLang="zh-CN" sz="2800" b="1">
                <a:latin typeface="Times New Roman" pitchFamily="18" charset="0"/>
              </a:rPr>
              <a:t>)</a:t>
            </a:r>
          </a:p>
          <a:p>
            <a:pPr>
              <a:lnSpc>
                <a:spcPct val="12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/>
              <a:t>       { 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/>
              <a:t>=</a:t>
            </a:r>
            <a:r>
              <a:rPr lang="zh-CN" altLang="zh-CN" sz="2800" b="1">
                <a:latin typeface="Arial" pitchFamily="34" charset="0"/>
              </a:rPr>
              <a:t>3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   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= 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+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   </a:t>
            </a:r>
            <a:r>
              <a:rPr lang="zh-CN" altLang="zh-CN" sz="2800" b="1">
                <a:latin typeface="Arial" pitchFamily="34" charset="0"/>
              </a:rPr>
              <a:t>x</a:t>
            </a:r>
            <a:r>
              <a:rPr lang="zh-CN" altLang="zh-CN" sz="2800" b="1">
                <a:latin typeface="黑体" pitchFamily="49" charset="-122"/>
              </a:rPr>
              <a:t>++</a:t>
            </a:r>
            <a:r>
              <a:rPr lang="zh-CN" altLang="zh-CN" sz="2800" b="1">
                <a:latin typeface="Times New Roman" pitchFamily="18" charset="0"/>
              </a:rPr>
              <a:t>;</a:t>
            </a:r>
            <a:r>
              <a:rPr lang="zh-CN" altLang="zh-CN" sz="2800" b="1"/>
              <a:t>}</a:t>
            </a:r>
            <a:r>
              <a:rPr lang="zh-CN" altLang="zh-CN" sz="2800" b="1">
                <a:latin typeface="Arial Black" pitchFamily="34" charset="0"/>
              </a:rPr>
              <a:t>        </a:t>
            </a:r>
          </a:p>
          <a:p>
            <a:pPr>
              <a:buFont typeface="Wingdings" pitchFamily="2" charset="2"/>
              <a:buNone/>
            </a:pPr>
            <a:endParaRPr lang="zh-CN" altLang="zh-CN" sz="2800" b="1">
              <a:latin typeface="Arial Black" pitchFamily="34" charset="0"/>
            </a:endParaRPr>
          </a:p>
        </p:txBody>
      </p:sp>
      <p:sp>
        <p:nvSpPr>
          <p:cNvPr id="256004" name="Text Box 4"/>
          <p:cNvSpPr txBox="1">
            <a:spLocks noChangeArrowheads="1"/>
          </p:cNvSpPr>
          <p:nvPr/>
        </p:nvSpPr>
        <p:spPr bwMode="auto">
          <a:xfrm>
            <a:off x="3743325" y="1814513"/>
            <a:ext cx="38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</a:p>
        </p:txBody>
      </p:sp>
      <p:sp>
        <p:nvSpPr>
          <p:cNvPr id="256005" name="Text Box 5"/>
          <p:cNvSpPr txBox="1">
            <a:spLocks noChangeArrowheads="1"/>
          </p:cNvSpPr>
          <p:nvPr/>
        </p:nvSpPr>
        <p:spPr bwMode="auto">
          <a:xfrm>
            <a:off x="4806950" y="1801813"/>
            <a:ext cx="38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256006" name="Text Box 6"/>
          <p:cNvSpPr txBox="1">
            <a:spLocks noChangeArrowheads="1"/>
          </p:cNvSpPr>
          <p:nvPr/>
        </p:nvSpPr>
        <p:spPr bwMode="auto">
          <a:xfrm>
            <a:off x="4937125" y="1814513"/>
            <a:ext cx="38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>
                <a:solidFill>
                  <a:srgbClr val="FF0000"/>
                </a:solidFill>
                <a:ea typeface="宋体" pitchFamily="2" charset="-122"/>
              </a:rPr>
              <a:t>{ </a:t>
            </a:r>
          </a:p>
        </p:txBody>
      </p:sp>
      <p:sp>
        <p:nvSpPr>
          <p:cNvPr id="256007" name="Text Box 7"/>
          <p:cNvSpPr txBox="1">
            <a:spLocks noChangeArrowheads="1"/>
          </p:cNvSpPr>
          <p:nvPr/>
        </p:nvSpPr>
        <p:spPr bwMode="auto">
          <a:xfrm>
            <a:off x="7404100" y="1843088"/>
            <a:ext cx="38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>
                <a:solidFill>
                  <a:srgbClr val="FF0000"/>
                </a:solidFill>
                <a:ea typeface="宋体" pitchFamily="2" charset="-122"/>
              </a:rPr>
              <a:t>}</a:t>
            </a:r>
          </a:p>
        </p:txBody>
      </p:sp>
      <p:sp>
        <p:nvSpPr>
          <p:cNvPr id="256008" name="Text Box 8"/>
          <p:cNvSpPr txBox="1">
            <a:spLocks noChangeArrowheads="1"/>
          </p:cNvSpPr>
          <p:nvPr/>
        </p:nvSpPr>
        <p:spPr bwMode="auto">
          <a:xfrm>
            <a:off x="6384032" y="3169444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ea typeface="宋体" pitchFamily="2" charset="-122"/>
              </a:rPr>
              <a:t>--</a:t>
            </a:r>
          </a:p>
        </p:txBody>
      </p:sp>
      <p:sp>
        <p:nvSpPr>
          <p:cNvPr id="256009" name="Text Box 9"/>
          <p:cNvSpPr txBox="1">
            <a:spLocks noChangeArrowheads="1"/>
          </p:cNvSpPr>
          <p:nvPr/>
        </p:nvSpPr>
        <p:spPr bwMode="auto">
          <a:xfrm>
            <a:off x="8170863" y="1473200"/>
            <a:ext cx="1828800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可改为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y+=x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++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</p:txBody>
      </p:sp>
      <p:sp>
        <p:nvSpPr>
          <p:cNvPr id="256010" name="Line 10"/>
          <p:cNvSpPr>
            <a:spLocks noChangeShapeType="1"/>
          </p:cNvSpPr>
          <p:nvPr/>
        </p:nvSpPr>
        <p:spPr bwMode="auto">
          <a:xfrm>
            <a:off x="3113088" y="5441950"/>
            <a:ext cx="762000" cy="0"/>
          </a:xfrm>
          <a:prstGeom prst="line">
            <a:avLst/>
          </a:prstGeom>
          <a:noFill/>
          <a:ln w="28575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853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56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56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6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6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4" grpId="0" build="p" autoUpdateAnimBg="0"/>
      <p:bldP spid="256005" grpId="0" build="p" autoUpdateAnimBg="0" advAuto="0"/>
      <p:bldP spid="256006" grpId="0" build="p" autoUpdateAnimBg="0"/>
      <p:bldP spid="256007" grpId="0" build="p" autoUpdateAnimBg="0" advAuto="0"/>
      <p:bldP spid="256008" grpId="0" build="p" autoUpdateAnimBg="0"/>
      <p:bldP spid="256009" grpId="0" autoUpdateAnimBg="0"/>
      <p:bldP spid="2560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01" y="6351"/>
            <a:ext cx="5153025" cy="752475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说明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6764" y="1220788"/>
            <a:ext cx="8042275" cy="4737100"/>
          </a:xfrm>
        </p:spPr>
        <p:txBody>
          <a:bodyPr/>
          <a:lstStyle/>
          <a:p>
            <a:pPr marL="381000" indent="-381000" algn="just"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itchFamily="18" charset="0"/>
              </a:rPr>
              <a:t>4.</a:t>
            </a:r>
            <a:r>
              <a:rPr lang="zh-CN" altLang="zh-CN" sz="1000" b="1" dirty="0">
                <a:latin typeface="Times New Roman" pitchFamily="18" charset="0"/>
              </a:rPr>
              <a:t>    </a:t>
            </a:r>
            <a:r>
              <a:rPr lang="zh-CN" altLang="en-US" sz="2800" b="1" dirty="0">
                <a:latin typeface="黑体" pitchFamily="49" charset="-122"/>
              </a:rPr>
              <a:t>循环体通常是一个复合语句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黑体" pitchFamily="49" charset="-122"/>
              </a:rPr>
              <a:t>但也可以是一个空   </a:t>
            </a:r>
            <a:r>
              <a:rPr lang="zh-CN" altLang="en-US" sz="1800" b="1" dirty="0">
                <a:latin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</a:rPr>
              <a:t>语句或单个语句。如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381000" indent="-381000" algn="just">
              <a:spcBef>
                <a:spcPct val="40000"/>
              </a:spcBef>
              <a:buNone/>
            </a:pPr>
            <a:r>
              <a:rPr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  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</a:rPr>
              <a:t>空</a:t>
            </a:r>
            <a:r>
              <a:rPr lang="zh-CN" altLang="en-US" sz="2800" b="1" dirty="0">
                <a:latin typeface="黑体" pitchFamily="49" charset="-122"/>
              </a:rPr>
              <a:t>语句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381000" indent="-381000" algn="just">
              <a:buNone/>
            </a:pPr>
            <a:r>
              <a:rPr lang="zh-CN" altLang="zh-CN" sz="2800" b="1" dirty="0">
                <a:latin typeface="黑体" pitchFamily="49" charset="-122"/>
              </a:rPr>
              <a:t>          </a:t>
            </a:r>
            <a:r>
              <a:rPr lang="zh-CN" altLang="zh-CN" sz="1400" b="1" dirty="0">
                <a:latin typeface="黑体" pitchFamily="49" charset="-122"/>
              </a:rPr>
              <a:t> </a:t>
            </a:r>
            <a:r>
              <a:rPr lang="zh-CN" altLang="zh-CN" sz="2800" b="1" dirty="0"/>
              <a:t>while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x</a:t>
            </a:r>
            <a:r>
              <a:rPr lang="zh-CN" altLang="zh-CN" sz="2800" b="1" dirty="0">
                <a:latin typeface="黑体" pitchFamily="49" charset="-122"/>
              </a:rPr>
              <a:t>++</a:t>
            </a:r>
            <a:r>
              <a:rPr lang="zh-CN" altLang="zh-CN" sz="2800" dirty="0"/>
              <a:t>&lt;</a:t>
            </a:r>
            <a:r>
              <a:rPr lang="zh-CN" altLang="zh-CN" sz="2800" b="1" dirty="0">
                <a:latin typeface="黑体" pitchFamily="49" charset="-122"/>
              </a:rPr>
              <a:t>10000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>
                <a:solidFill>
                  <a:schemeClr val="hlink"/>
                </a:solidFill>
              </a:rPr>
              <a:t> 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;</a:t>
            </a:r>
            <a:r>
              <a:rPr lang="zh-CN" altLang="zh-CN" sz="2800" b="1" dirty="0">
                <a:solidFill>
                  <a:schemeClr val="hlink"/>
                </a:solidFill>
              </a:rPr>
              <a:t>  </a:t>
            </a:r>
            <a:r>
              <a:rPr lang="zh-CN" altLang="zh-CN" sz="2400" b="1" dirty="0">
                <a:latin typeface="黑体" pitchFamily="49" charset="-122"/>
              </a:rPr>
              <a:t>//</a:t>
            </a:r>
            <a:r>
              <a:rPr lang="zh-CN" altLang="en-US" sz="2400" b="1" dirty="0">
                <a:latin typeface="黑体" pitchFamily="49" charset="-122"/>
              </a:rPr>
              <a:t>分号不能省</a:t>
            </a:r>
          </a:p>
          <a:p>
            <a:pPr marL="381000" indent="-381000" algn="just">
              <a:spcBef>
                <a:spcPct val="30000"/>
              </a:spcBef>
              <a:buNone/>
            </a:pPr>
            <a:r>
              <a:rPr lang="zh-CN" altLang="en-US" sz="2800" b="1" dirty="0">
                <a:latin typeface="黑体" pitchFamily="49" charset="-122"/>
              </a:rPr>
              <a:t>  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</a:rPr>
              <a:t>单</a:t>
            </a:r>
            <a:r>
              <a:rPr lang="zh-CN" altLang="en-US" sz="2800" b="1" dirty="0">
                <a:latin typeface="黑体" pitchFamily="49" charset="-122"/>
              </a:rPr>
              <a:t>语句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381000" indent="-381000" algn="just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zh-CN" sz="2800" b="1" dirty="0"/>
              <a:t>                  x=</a:t>
            </a:r>
            <a:r>
              <a:rPr lang="zh-CN" altLang="zh-CN" sz="2800" b="1" dirty="0">
                <a:latin typeface="黑体" pitchFamily="49" charset="-122"/>
              </a:rPr>
              <a:t>10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marL="381000" indent="-381000" algn="just">
              <a:spcBef>
                <a:spcPct val="10000"/>
              </a:spcBef>
              <a:buNone/>
            </a:pPr>
            <a:r>
              <a:rPr lang="zh-CN" altLang="zh-CN" sz="2800" b="1" dirty="0"/>
              <a:t>                  while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x--</a:t>
            </a:r>
            <a:r>
              <a:rPr lang="zh-CN" altLang="zh-CN" sz="2800" dirty="0"/>
              <a:t>&gt;</a:t>
            </a:r>
            <a:r>
              <a:rPr lang="zh-CN" altLang="zh-CN" sz="2800" b="1" dirty="0">
                <a:latin typeface="黑体" pitchFamily="49" charset="-122"/>
              </a:rPr>
              <a:t>0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/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%d</a:t>
            </a:r>
            <a:r>
              <a:rPr lang="zh-CN" altLang="zh-CN" sz="2800" b="1" dirty="0">
                <a:latin typeface="Times New Roman" pitchFamily="18" charset="0"/>
              </a:rPr>
              <a:t>”, </a:t>
            </a:r>
            <a:r>
              <a:rPr lang="zh-CN" altLang="zh-CN" sz="2800" b="1" dirty="0"/>
              <a:t>x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  <a:r>
              <a:rPr lang="zh-CN" altLang="zh-CN" b="1" dirty="0"/>
              <a:t>		</a:t>
            </a:r>
          </a:p>
        </p:txBody>
      </p:sp>
      <p:sp>
        <p:nvSpPr>
          <p:cNvPr id="257028" name="Rectangle 4"/>
          <p:cNvSpPr>
            <a:spLocks noChangeArrowheads="1"/>
          </p:cNvSpPr>
          <p:nvPr/>
        </p:nvSpPr>
        <p:spPr bwMode="auto">
          <a:xfrm>
            <a:off x="3930650" y="5249863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9 8 7 6 5 4 3 2 1 0</a:t>
            </a:r>
          </a:p>
        </p:txBody>
      </p:sp>
    </p:spTree>
    <p:extLst>
      <p:ext uri="{BB962C8B-B14F-4D97-AF65-F5344CB8AC3E}">
        <p14:creationId xmlns:p14="http://schemas.microsoft.com/office/powerpoint/2010/main" val="345293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84426" y="125414"/>
            <a:ext cx="5229225" cy="669925"/>
          </a:xfrm>
        </p:spPr>
        <p:txBody>
          <a:bodyPr/>
          <a:lstStyle/>
          <a:p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2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求</a:t>
            </a:r>
            <a:r>
              <a:rPr lang="zh-CN" altLang="zh-CN" sz="2800" dirty="0">
                <a:ea typeface="黑体" pitchFamily="49" charset="-122"/>
              </a:rPr>
              <a:t>n</a:t>
            </a:r>
            <a:r>
              <a:rPr lang="zh-CN" altLang="en-US" sz="2800" dirty="0">
                <a:ea typeface="黑体" pitchFamily="49" charset="-122"/>
              </a:rPr>
              <a:t>！</a:t>
            </a:r>
          </a:p>
        </p:txBody>
      </p:sp>
      <p:sp>
        <p:nvSpPr>
          <p:cNvPr id="258051" name="Rectangle 3"/>
          <p:cNvSpPr>
            <a:spLocks noChangeArrowheads="1"/>
          </p:cNvSpPr>
          <p:nvPr/>
        </p:nvSpPr>
        <p:spPr bwMode="auto">
          <a:xfrm>
            <a:off x="1825625" y="1114426"/>
            <a:ext cx="8720138" cy="481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2860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99"/>
              </a:buClr>
              <a:buSzPct val="75000"/>
            </a:pP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#include </a:t>
            </a:r>
            <a:r>
              <a:rPr lang="zh-CN" altLang="zh-CN" sz="2400" dirty="0">
                <a:solidFill>
                  <a:srgbClr val="000000"/>
                </a:solidFill>
                <a:ea typeface="Dotum" pitchFamily="34" charset="-127"/>
              </a:rPr>
              <a:t>&lt;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stdio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h</a:t>
            </a:r>
            <a:r>
              <a:rPr lang="zh-CN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Dotum" pitchFamily="34" charset="-127"/>
              </a:rPr>
              <a:t>&gt;</a:t>
            </a:r>
            <a:endParaRPr lang="zh-CN" altLang="zh-CN" sz="2800" b="1" dirty="0">
              <a:solidFill>
                <a:srgbClr val="000000"/>
              </a:solidFill>
              <a:ea typeface="宋体" pitchFamily="2" charset="-122"/>
              <a:cs typeface="Courier New" pitchFamily="49" charset="0"/>
            </a:endParaRPr>
          </a:p>
          <a:p>
            <a:pPr indent="228600" algn="just"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main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 )</a:t>
            </a:r>
            <a:endParaRPr lang="zh-CN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eaLnBrk="0" fontAlgn="base" hangingPunct="0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{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int  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=1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;             </a:t>
            </a:r>
            <a:r>
              <a:rPr lang="zh-CN" altLang="zh-CN" sz="2000" b="1" dirty="0">
                <a:solidFill>
                  <a:srgbClr val="000000"/>
                </a:solidFill>
                <a:latin typeface="Arial" pitchFamily="34" charset="0"/>
              </a:rPr>
              <a:t>// </a:t>
            </a:r>
            <a:r>
              <a:rPr lang="zh-CN" altLang="en-US" sz="2000" b="1" dirty="0">
                <a:solidFill>
                  <a:srgbClr val="000000"/>
                </a:solidFill>
                <a:latin typeface="Arial" pitchFamily="34" charset="0"/>
              </a:rPr>
              <a:t>控制变量</a:t>
            </a:r>
            <a:r>
              <a:rPr lang="zh-CN" altLang="zh-CN" sz="2000" b="1" dirty="0">
                <a:solidFill>
                  <a:srgbClr val="000000"/>
                </a:solidFill>
                <a:latin typeface="Arial" pitchFamily="34" charset="0"/>
              </a:rPr>
              <a:t>i</a:t>
            </a:r>
            <a:r>
              <a:rPr lang="zh-CN" altLang="en-US" sz="2000" b="1" dirty="0">
                <a:solidFill>
                  <a:srgbClr val="000000"/>
                </a:solidFill>
                <a:latin typeface="Arial" pitchFamily="34" charset="0"/>
              </a:rPr>
              <a:t>初值为</a:t>
            </a:r>
            <a:r>
              <a:rPr lang="zh-CN" altLang="zh-CN" sz="2000" b="1" dirty="0">
                <a:solidFill>
                  <a:srgbClr val="000000"/>
                </a:solidFill>
                <a:latin typeface="Arial" pitchFamily="34" charset="0"/>
              </a:rPr>
              <a:t>1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en-US" sz="2000" b="1" dirty="0">
                <a:solidFill>
                  <a:srgbClr val="000000"/>
                </a:solidFill>
                <a:latin typeface="Arial" pitchFamily="34" charset="0"/>
              </a:rPr>
              <a:t>从</a:t>
            </a:r>
            <a:r>
              <a:rPr lang="zh-CN" altLang="zh-CN" sz="2000" b="1" dirty="0">
                <a:solidFill>
                  <a:srgbClr val="000000"/>
                </a:solidFill>
                <a:latin typeface="Arial" pitchFamily="34" charset="0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Arial" pitchFamily="34" charset="0"/>
              </a:rPr>
              <a:t>～</a:t>
            </a:r>
            <a:r>
              <a:rPr lang="zh-CN" altLang="zh-CN" sz="2000" b="1" dirty="0">
                <a:solidFill>
                  <a:srgbClr val="000000"/>
                </a:solidFill>
                <a:latin typeface="Arial" pitchFamily="34" charset="0"/>
              </a:rPr>
              <a:t>n</a:t>
            </a:r>
          </a:p>
          <a:p>
            <a:pPr indent="228600" algn="just" eaLnBrk="0" fontAlgn="base" hangingPunct="0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int  s=1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;             </a:t>
            </a:r>
            <a:endParaRPr lang="zh-CN" altLang="zh-CN" sz="2000" b="1" dirty="0">
              <a:solidFill>
                <a:srgbClr val="000000"/>
              </a:solidFill>
              <a:latin typeface="Arial" pitchFamily="34" charset="0"/>
            </a:endParaRPr>
          </a:p>
          <a:p>
            <a:pPr indent="228600" algn="just" eaLnBrk="0" fontAlgn="base" hangingPunct="0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scanf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“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%d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”,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&amp;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) ;</a:t>
            </a:r>
            <a:endParaRPr lang="zh-CN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</a:t>
            </a:r>
            <a:r>
              <a:rPr lang="zh-CN" altLang="zh-CN" sz="2400" b="1" dirty="0">
                <a:solidFill>
                  <a:srgbClr val="000099"/>
                </a:solidFill>
                <a:ea typeface="宋体" pitchFamily="2" charset="-122"/>
                <a:cs typeface="Courier New" pitchFamily="49" charset="0"/>
              </a:rPr>
              <a:t>while </a:t>
            </a:r>
            <a:r>
              <a:rPr lang="zh-CN" altLang="zh-CN" sz="2400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</a:t>
            </a:r>
            <a:r>
              <a:rPr lang="zh-CN" altLang="zh-CN" sz="2400" b="1" dirty="0">
                <a:solidFill>
                  <a:srgbClr val="000099"/>
                </a:solidFill>
                <a:ea typeface="宋体" pitchFamily="2" charset="-122"/>
                <a:cs typeface="Courier New" pitchFamily="49" charset="0"/>
              </a:rPr>
              <a:t>i</a:t>
            </a:r>
            <a:r>
              <a:rPr lang="zh-CN" altLang="zh-CN" sz="2400" dirty="0">
                <a:solidFill>
                  <a:srgbClr val="000099"/>
                </a:solidFill>
                <a:ea typeface="宋体" pitchFamily="2" charset="-122"/>
              </a:rPr>
              <a:t>&lt;</a:t>
            </a:r>
            <a:r>
              <a:rPr lang="zh-CN" altLang="zh-CN" sz="2400" b="1" dirty="0">
                <a:solidFill>
                  <a:srgbClr val="000099"/>
                </a:solidFill>
                <a:ea typeface="宋体" pitchFamily="2" charset="-122"/>
              </a:rPr>
              <a:t>=</a:t>
            </a:r>
            <a:r>
              <a:rPr lang="zh-CN" altLang="zh-CN" sz="2400" b="1" dirty="0">
                <a:solidFill>
                  <a:srgbClr val="000099"/>
                </a:solidFill>
                <a:ea typeface="宋体" pitchFamily="2" charset="-122"/>
                <a:cs typeface="Courier New" pitchFamily="49" charset="0"/>
              </a:rPr>
              <a:t>n </a:t>
            </a:r>
            <a:r>
              <a:rPr lang="zh-CN" altLang="zh-CN" sz="2400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)</a:t>
            </a:r>
            <a:endParaRPr lang="zh-CN" altLang="zh-CN" sz="24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algn="just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30C8"/>
                </a:solidFill>
                <a:ea typeface="宋体" pitchFamily="2" charset="-122"/>
                <a:cs typeface="Courier New" pitchFamily="49" charset="0"/>
              </a:rPr>
              <a:t>    </a:t>
            </a:r>
            <a:r>
              <a:rPr lang="zh-CN" altLang="zh-CN" sz="2400" b="1" dirty="0">
                <a:solidFill>
                  <a:srgbClr val="000099"/>
                </a:solidFill>
                <a:ea typeface="宋体" pitchFamily="2" charset="-122"/>
                <a:cs typeface="Courier New" pitchFamily="49" charset="0"/>
              </a:rPr>
              <a:t>{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s 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=i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;                </a:t>
            </a:r>
            <a:r>
              <a:rPr lang="zh-CN" altLang="zh-CN" sz="2000" b="1" dirty="0">
                <a:solidFill>
                  <a:srgbClr val="000000"/>
                </a:solidFill>
                <a:latin typeface="Arial" pitchFamily="34" charset="0"/>
              </a:rPr>
              <a:t>// </a:t>
            </a:r>
            <a:r>
              <a:rPr lang="zh-CN" altLang="en-US" sz="2000" b="1" dirty="0">
                <a:solidFill>
                  <a:srgbClr val="000000"/>
                </a:solidFill>
                <a:latin typeface="Arial" pitchFamily="34" charset="0"/>
              </a:rPr>
              <a:t>累乘</a:t>
            </a:r>
            <a:r>
              <a:rPr lang="zh-CN" altLang="zh-CN" sz="2000" b="1" dirty="0">
                <a:solidFill>
                  <a:srgbClr val="000000"/>
                </a:solidFill>
                <a:latin typeface="Arial" pitchFamily="34" charset="0"/>
              </a:rPr>
              <a:t>i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000" b="1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Arial" pitchFamily="34" charset="0"/>
              </a:rPr>
              <a:t>放入</a:t>
            </a:r>
            <a:r>
              <a:rPr lang="zh-CN" altLang="zh-CN" sz="2000" b="1" dirty="0">
                <a:solidFill>
                  <a:srgbClr val="000000"/>
                </a:solidFill>
                <a:latin typeface="Arial" pitchFamily="34" charset="0"/>
              </a:rPr>
              <a:t>s</a:t>
            </a:r>
          </a:p>
          <a:p>
            <a:pPr indent="228600" algn="just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     i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</a:rPr>
              <a:t>++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indent="228600" algn="just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</a:rPr>
              <a:t> 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</a:t>
            </a:r>
            <a:r>
              <a:rPr lang="zh-CN" altLang="zh-CN" sz="2400" b="1" dirty="0">
                <a:solidFill>
                  <a:srgbClr val="000099"/>
                </a:solidFill>
                <a:ea typeface="宋体" pitchFamily="2" charset="-122"/>
                <a:cs typeface="Courier New" pitchFamily="49" charset="0"/>
              </a:rPr>
              <a:t>}</a:t>
            </a:r>
            <a:endParaRPr lang="zh-CN" altLang="zh-CN" sz="2400" b="1" dirty="0">
              <a:solidFill>
                <a:srgbClr val="000099"/>
              </a:solidFill>
              <a:ea typeface="宋体" pitchFamily="2" charset="-122"/>
            </a:endParaRPr>
          </a:p>
          <a:p>
            <a:pPr indent="228600" algn="just" eaLnBrk="0" fontAlgn="base" hangingPunct="0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printf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(“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%d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!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=%d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\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”,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s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); </a:t>
            </a:r>
            <a:endParaRPr lang="zh-CN" altLang="zh-CN" sz="2000" b="1" dirty="0">
              <a:solidFill>
                <a:srgbClr val="000000"/>
              </a:solidFill>
              <a:latin typeface="Arial" pitchFamily="34" charset="0"/>
            </a:endParaRPr>
          </a:p>
          <a:p>
            <a:pPr indent="228600" algn="just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258052" name="Rectangle 4"/>
          <p:cNvSpPr>
            <a:spLocks noChangeArrowheads="1"/>
          </p:cNvSpPr>
          <p:nvPr/>
        </p:nvSpPr>
        <p:spPr bwMode="auto">
          <a:xfrm>
            <a:off x="7361908" y="2780929"/>
            <a:ext cx="3135313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①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定义变量</a:t>
            </a:r>
            <a:endParaRPr lang="zh-CN" altLang="en-US" sz="2400" b="1" dirty="0">
              <a:solidFill>
                <a:srgbClr val="0033CC"/>
              </a:solidFill>
              <a:latin typeface="Times New Roman" pitchFamily="18" charset="0"/>
            </a:endParaRPr>
          </a:p>
          <a:p>
            <a:pPr fontAlgn="base">
              <a:spcBef>
                <a:spcPct val="1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②累乘变量赋初值</a:t>
            </a:r>
            <a:r>
              <a:rPr lang="zh-CN" altLang="en-US" sz="2400" b="1" dirty="0">
                <a:solidFill>
                  <a:srgbClr val="0033CC"/>
                </a:solidFill>
                <a:latin typeface="Times New Roman" pitchFamily="18" charset="0"/>
              </a:rPr>
              <a:t> 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③读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zh-CN" altLang="zh-CN" sz="2400" b="1" dirty="0">
                <a:solidFill>
                  <a:srgbClr val="0033CC"/>
                </a:solidFill>
                <a:latin typeface="Times New Roman" pitchFamily="18" charset="0"/>
              </a:rPr>
              <a:t> </a:t>
            </a:r>
            <a:endParaRPr lang="zh-CN" altLang="zh-CN" sz="2400" b="1" dirty="0">
              <a:solidFill>
                <a:srgbClr val="FF3300"/>
              </a:solidFill>
              <a:latin typeface="Times New Roman" pitchFamily="18" charset="0"/>
            </a:endParaRPr>
          </a:p>
          <a:p>
            <a:pPr fontAlgn="base">
              <a:spcBef>
                <a:spcPct val="1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④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执行循环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求阶乘。</a:t>
            </a:r>
            <a:r>
              <a:rPr lang="zh-CN" altLang="en-US" sz="2400" b="1" dirty="0">
                <a:solidFill>
                  <a:srgbClr val="0033CC"/>
                </a:solidFill>
                <a:latin typeface="Times New Roman" pitchFamily="18" charset="0"/>
              </a:rPr>
              <a:t> </a:t>
            </a:r>
            <a:endParaRPr lang="zh-CN" altLang="en-US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fontAlgn="base">
              <a:spcBef>
                <a:spcPct val="1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⑤输出</a:t>
            </a:r>
          </a:p>
        </p:txBody>
      </p:sp>
      <p:sp>
        <p:nvSpPr>
          <p:cNvPr id="258053" name="Text Box 5"/>
          <p:cNvSpPr txBox="1">
            <a:spLocks noChangeArrowheads="1"/>
          </p:cNvSpPr>
          <p:nvPr/>
        </p:nvSpPr>
        <p:spPr bwMode="auto">
          <a:xfrm>
            <a:off x="8737600" y="0"/>
            <a:ext cx="1944688" cy="1225550"/>
          </a:xfrm>
          <a:prstGeom prst="rect">
            <a:avLst/>
          </a:prstGeom>
          <a:solidFill>
            <a:schemeClr val="bg1"/>
          </a:solidFill>
          <a:ln w="34925" cmpd="sng">
            <a:solidFill>
              <a:srgbClr val="000099"/>
            </a:solidFill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 tIns="46800" bIns="46800" anchor="ctr">
            <a:spAutoFit/>
          </a:bodyPr>
          <a:lstStyle/>
          <a:p>
            <a:pPr algn="just" fontAlgn="base">
              <a:spcBef>
                <a:spcPct val="115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程序运行如下</a:t>
            </a:r>
            <a:r>
              <a:rPr lang="zh-CN" altLang="zh-CN"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   5 </a:t>
            </a:r>
            <a:r>
              <a:rPr lang="zh-CN" altLang="zh-CN" sz="2000" b="1">
                <a:solidFill>
                  <a:srgbClr val="000000"/>
                </a:solidFill>
                <a:latin typeface="Courier New" pitchFamily="49" charset="0"/>
                <a:ea typeface="宋体" pitchFamily="2" charset="-122"/>
              </a:rPr>
              <a:t>↙</a:t>
            </a: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 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   5!= 120</a:t>
            </a:r>
          </a:p>
        </p:txBody>
      </p:sp>
    </p:spTree>
    <p:extLst>
      <p:ext uri="{BB962C8B-B14F-4D97-AF65-F5344CB8AC3E}">
        <p14:creationId xmlns:p14="http://schemas.microsoft.com/office/powerpoint/2010/main" val="371878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 build="p" autoUpdateAnimBg="0"/>
      <p:bldP spid="258052" grpId="0" autoUpdateAnimBg="0"/>
      <p:bldP spid="258053" grpId="0" build="p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817880"/>
            <a:ext cx="7315200" cy="142584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609600" indent="-609600" algn="just"/>
            <a:r>
              <a:rPr lang="zh-CN" altLang="zh-CN" sz="2400" b="1" dirty="0"/>
              <a:t>下面选项中，与 </a:t>
            </a:r>
            <a:r>
              <a:rPr lang="en-US" altLang="zh-CN" sz="2400" b="1" dirty="0"/>
              <a:t>while</a:t>
            </a:r>
            <a:r>
              <a:rPr lang="zh-CN" altLang="zh-CN" sz="2400" b="1" dirty="0">
                <a:solidFill>
                  <a:schemeClr val="hlink"/>
                </a:solidFill>
                <a:latin typeface="Times New Roman" pitchFamily="18" charset="0"/>
              </a:rPr>
              <a:t>(a)</a:t>
            </a:r>
            <a:r>
              <a:rPr lang="zh-CN" altLang="zh-CN" sz="2400" b="1" dirty="0"/>
              <a:t> 等价的是  </a:t>
            </a:r>
            <a:r>
              <a:rPr lang="zh-CN" altLang="zh-CN" sz="2400" b="1" u="sng" dirty="0"/>
              <a:t>      </a:t>
            </a:r>
            <a:r>
              <a:rPr lang="zh-CN" altLang="zh-CN" sz="2400" b="1" dirty="0"/>
              <a:t>。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Arial" pitchFamily="34" charset="0"/>
              </a:rPr>
              <a:t>while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a==0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Arial" pitchFamily="34" charset="0"/>
              </a:rPr>
              <a:t>while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>
                <a:latin typeface="Times New Roman" pitchFamily="18" charset="0"/>
              </a:rPr>
              <a:t>!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0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Arial" pitchFamily="34" charset="0"/>
              </a:rPr>
              <a:t>while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a=0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 algn="just">
              <a:lnSpc>
                <a:spcPct val="105000"/>
              </a:lnSpc>
            </a:pPr>
            <a:r>
              <a:rPr lang="en-US" altLang="zh-CN" sz="2800" b="1" dirty="0">
                <a:latin typeface="Arial" pitchFamily="34" charset="0"/>
              </a:rPr>
              <a:t>while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a==1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/>
              <a:t> 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0670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2813248" y="92583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0000"/>
              </a:lnSpc>
              <a:spcBef>
                <a:spcPct val="110000"/>
              </a:spcBef>
              <a:buFont typeface="Wingdings" pitchFamily="2" charset="2"/>
              <a:buNone/>
            </a:pPr>
            <a:r>
              <a:rPr lang="zh-CN" altLang="zh-CN" sz="2800" b="1" dirty="0"/>
              <a:t>k=2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z="2800" b="1" dirty="0"/>
              <a:t>while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k</a:t>
            </a:r>
            <a:r>
              <a:rPr lang="zh-CN" altLang="zh-CN" sz="2800" b="1" dirty="0">
                <a:latin typeface="Times New Roman" pitchFamily="18" charset="0"/>
              </a:rPr>
              <a:t>!</a:t>
            </a:r>
            <a:r>
              <a:rPr lang="zh-CN" altLang="zh-CN" sz="2800" b="1" dirty="0"/>
              <a:t>=0</a:t>
            </a:r>
            <a:r>
              <a:rPr lang="zh-CN" altLang="zh-CN" sz="2800" b="1" dirty="0">
                <a:latin typeface="Times New Roman" pitchFamily="18" charset="0"/>
              </a:rPr>
              <a:t>) </a:t>
            </a:r>
            <a:endParaRPr lang="en-US" altLang="zh-CN" sz="2800" b="1" dirty="0">
              <a:latin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latin typeface="Times New Roman" pitchFamily="18" charset="0"/>
              </a:rPr>
              <a:t>     </a:t>
            </a:r>
            <a:r>
              <a:rPr lang="zh-CN" altLang="zh-CN" sz="2800" b="1" dirty="0"/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%d</a:t>
            </a:r>
            <a:r>
              <a:rPr lang="zh-CN" altLang="zh-CN" sz="2800" b="1" dirty="0">
                <a:latin typeface="Times New Roman" pitchFamily="18" charset="0"/>
              </a:rPr>
              <a:t>”, </a:t>
            </a:r>
            <a:r>
              <a:rPr lang="zh-CN" altLang="zh-CN" sz="2800" b="1" dirty="0"/>
              <a:t>k</a:t>
            </a:r>
            <a:r>
              <a:rPr lang="zh-CN" altLang="zh-CN" sz="2800" b="1" dirty="0">
                <a:latin typeface="Times New Roman" pitchFamily="18" charset="0"/>
              </a:rPr>
              <a:t>) ,</a:t>
            </a:r>
            <a:r>
              <a:rPr lang="zh-CN" altLang="zh-CN" sz="2800" b="1" dirty="0"/>
              <a:t> k-- </a:t>
            </a:r>
            <a:r>
              <a:rPr lang="zh-CN" altLang="zh-CN" sz="2800" b="1" dirty="0">
                <a:latin typeface="Times New Roman" pitchFamily="18" charset="0"/>
              </a:rPr>
              <a:t>;   </a:t>
            </a:r>
            <a:r>
              <a:rPr lang="zh-CN" altLang="zh-CN" sz="2800" b="1" dirty="0"/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dirty="0"/>
              <a:t>\</a:t>
            </a:r>
            <a:r>
              <a:rPr lang="zh-CN" altLang="zh-CN" sz="2800" b="1" dirty="0"/>
              <a:t>n</a:t>
            </a:r>
            <a:r>
              <a:rPr lang="zh-CN" altLang="zh-CN" sz="2800" b="1" dirty="0">
                <a:latin typeface="Times New Roman" pitchFamily="18" charset="0"/>
              </a:rPr>
              <a:t>”) ;   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3352800" y="318892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黑体" pitchFamily="49" charset="-122"/>
              </a:rPr>
              <a:t>执行无限次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3352800" y="404617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Times New Roman" pitchFamily="18" charset="0"/>
              </a:rPr>
              <a:t>执行0次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3352800" y="490342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黑体" pitchFamily="49" charset="-122"/>
              </a:rPr>
              <a:t>执行1</a:t>
            </a:r>
            <a:r>
              <a:rPr lang="zh-CN" altLang="zh-CN" sz="2400" b="1" dirty="0">
                <a:latin typeface="Times New Roman" pitchFamily="18" charset="0"/>
              </a:rPr>
              <a:t>次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3352800" y="576067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Times New Roman" pitchFamily="18" charset="0"/>
              </a:rPr>
              <a:t>执行2次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325321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411046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96771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824963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7696200" y="5969848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9687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1444692" y="1451955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#include </a:t>
            </a:r>
            <a:r>
              <a:rPr lang="zh-CN" altLang="zh-CN" sz="2800" dirty="0">
                <a:latin typeface="Arial" pitchFamily="34" charset="0"/>
              </a:rPr>
              <a:t>&lt;</a:t>
            </a:r>
            <a:r>
              <a:rPr lang="zh-CN" altLang="zh-CN" sz="2800" b="1" dirty="0">
                <a:latin typeface="Arial" pitchFamily="34" charset="0"/>
              </a:rPr>
              <a:t>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>
                <a:latin typeface="Arial" pitchFamily="34" charset="0"/>
              </a:rPr>
              <a:t>h</a:t>
            </a:r>
            <a:r>
              <a:rPr lang="zh-CN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&gt;</a:t>
            </a:r>
            <a:r>
              <a:rPr lang="zh-CN" altLang="zh-CN" sz="2800" b="1" dirty="0"/>
              <a:t> </a:t>
            </a:r>
          </a:p>
          <a:p>
            <a:pPr>
              <a:lnSpc>
                <a:spcPct val="110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sz="2800" b="1">
                <a:latin typeface="Arial" pitchFamily="34" charset="0"/>
              </a:rPr>
              <a:t>      </a:t>
            </a:r>
            <a:r>
              <a:rPr lang="zh-CN" altLang="zh-CN" sz="2800" b="1">
                <a:latin typeface="Arial" pitchFamily="34" charset="0"/>
              </a:rPr>
              <a:t>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{ </a:t>
            </a:r>
            <a:endParaRPr lang="en-US" altLang="zh-CN" sz="2800" b="1" dirty="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latin typeface="Arial" pitchFamily="34" charset="0"/>
              </a:rPr>
              <a:t>          </a:t>
            </a:r>
            <a:r>
              <a:rPr lang="zh-CN" altLang="zh-CN" sz="2800" b="1" dirty="0">
                <a:latin typeface="Arial" pitchFamily="34" charset="0"/>
              </a:rPr>
              <a:t>int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y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10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 </a:t>
            </a:r>
            <a:r>
              <a:rPr lang="zh-CN" altLang="zh-CN" sz="2800" b="1" dirty="0">
                <a:latin typeface="Arial" pitchFamily="34" charset="0"/>
              </a:rPr>
              <a:t>while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y</a:t>
            </a:r>
            <a:r>
              <a:rPr lang="zh-CN" altLang="zh-CN" sz="2800" b="1" dirty="0"/>
              <a:t>--</a:t>
            </a:r>
            <a:r>
              <a:rPr lang="zh-CN" altLang="zh-CN" sz="2800" b="1" dirty="0">
                <a:latin typeface="Times New Roman" pitchFamily="18" charset="0"/>
              </a:rPr>
              <a:t>) 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;</a:t>
            </a:r>
            <a:endParaRPr lang="zh-CN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         </a:t>
            </a:r>
            <a:r>
              <a:rPr lang="zh-CN" altLang="zh-CN" sz="2800" b="1" dirty="0">
                <a:latin typeface="Arial" pitchFamily="34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Times New Roman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y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%d</a:t>
            </a:r>
            <a:r>
              <a:rPr lang="zh-CN" altLang="zh-CN" sz="2800" dirty="0"/>
              <a:t>\</a:t>
            </a:r>
            <a:r>
              <a:rPr lang="zh-CN" altLang="zh-CN" sz="2800" b="1" dirty="0">
                <a:latin typeface="Arial" pitchFamily="34" charset="0"/>
              </a:rPr>
              <a:t>n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>
                <a:latin typeface="Arial" pitchFamily="34" charset="0"/>
              </a:rPr>
              <a:t>y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zh-CN" altLang="zh-CN" sz="2800" b="1" dirty="0"/>
              <a:t>      }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2538368" y="4685609"/>
            <a:ext cx="3535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</a:rPr>
              <a:t>y</a:t>
            </a:r>
            <a:r>
              <a:rPr lang="zh-CN" altLang="zh-CN" sz="2400" b="1" dirty="0"/>
              <a:t>=</a:t>
            </a:r>
            <a:r>
              <a:rPr lang="en-US" altLang="zh-CN" sz="2400" b="1" dirty="0"/>
              <a:t>1</a:t>
            </a:r>
            <a:r>
              <a:rPr lang="zh-CN" altLang="zh-CN" sz="2400" b="1" dirty="0">
                <a:latin typeface="Arial" pitchFamily="34" charset="0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6292329" y="4685609"/>
            <a:ext cx="3535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Arial" pitchFamily="34" charset="0"/>
              </a:rPr>
              <a:t>while</a:t>
            </a:r>
            <a:r>
              <a:rPr lang="zh-CN" altLang="zh-CN" sz="2800" b="1" dirty="0">
                <a:latin typeface="Times New Roman" pitchFamily="18" charset="0"/>
              </a:rPr>
              <a:t>构成无限循环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2652881" y="5805264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Arial" pitchFamily="34" charset="0"/>
              </a:rPr>
              <a:t>y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6338391" y="5740969"/>
            <a:ext cx="11590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y</a:t>
            </a:r>
            <a:r>
              <a:rPr lang="zh-CN" altLang="zh-CN" sz="2800" b="1" dirty="0"/>
              <a:t>=-</a:t>
            </a:r>
            <a:r>
              <a:rPr lang="zh-CN" altLang="zh-CN" sz="2800" b="1" dirty="0">
                <a:latin typeface="Arial" pitchFamily="34" charset="0"/>
              </a:rPr>
              <a:t>1</a:t>
            </a:r>
            <a:endParaRPr lang="zh-CN" altLang="en-US" sz="32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823993" y="474990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5577954" y="474990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938506" y="586955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624016" y="5805262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8210550" y="5934019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981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400" dirty="0">
                <a:ea typeface="黑体" pitchFamily="49" charset="-122"/>
              </a:rPr>
              <a:t>若</a:t>
            </a:r>
            <a:r>
              <a:rPr lang="zh-CN" altLang="zh-CN" sz="2400" dirty="0">
                <a:latin typeface="Arial" pitchFamily="34" charset="0"/>
                <a:ea typeface="黑体" pitchFamily="49" charset="-122"/>
              </a:rPr>
              <a:t>k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为整型变量</a:t>
            </a:r>
            <a:r>
              <a:rPr lang="zh-CN" altLang="zh-CN" sz="2400" dirty="0">
                <a:latin typeface="Times New Roman" pitchFamily="18" charset="0"/>
                <a:ea typeface="黑体" pitchFamily="49" charset="-122"/>
              </a:rPr>
              <a:t>,  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则</a:t>
            </a:r>
            <a:r>
              <a:rPr lang="zh-CN" altLang="zh-CN" sz="2400" dirty="0">
                <a:latin typeface="Arial" pitchFamily="34" charset="0"/>
                <a:ea typeface="黑体" pitchFamily="49" charset="-122"/>
              </a:rPr>
              <a:t>while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循环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          </a:t>
            </a:r>
            <a:r>
              <a:rPr lang="zh-CN" altLang="zh-CN" sz="2800" b="1" dirty="0"/>
              <a:t>k=10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dirty="0"/>
              <a:t>              </a:t>
            </a:r>
            <a:r>
              <a:rPr lang="zh-CN" altLang="zh-CN" sz="2800" b="1" dirty="0"/>
              <a:t>while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k=0</a:t>
            </a:r>
            <a:r>
              <a:rPr lang="zh-CN" altLang="zh-CN" sz="2800" b="1" dirty="0">
                <a:latin typeface="Times New Roman" pitchFamily="18" charset="0"/>
              </a:rPr>
              <a:t>) </a:t>
            </a:r>
            <a:r>
              <a:rPr lang="zh-CN" altLang="zh-CN" sz="2800" b="1" dirty="0"/>
              <a:t>k=k-1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黑体" pitchFamily="49" charset="-122"/>
              </a:rPr>
              <a:t>执行10次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黑体" pitchFamily="49" charset="-122"/>
              </a:rPr>
              <a:t>无限循环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黑体" pitchFamily="49" charset="-122"/>
              </a:rPr>
              <a:t>一次不执行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Times New Roman" pitchFamily="18" charset="0"/>
              </a:rPr>
              <a:t>执行一次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1102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52825" y="198438"/>
            <a:ext cx="6324600" cy="596900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4.</a:t>
            </a:r>
            <a:r>
              <a:rPr lang="zh-CN" altLang="zh-CN" sz="3600" dirty="0">
                <a:latin typeface="楷体_GB2312" pitchFamily="49" charset="-122"/>
              </a:rPr>
              <a:t>2  do-while </a:t>
            </a:r>
            <a:r>
              <a:rPr lang="zh-CN" altLang="en-US" sz="3600" dirty="0">
                <a:latin typeface="楷体_GB2312" pitchFamily="49" charset="-122"/>
              </a:rPr>
              <a:t>语句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4864" y="1266826"/>
            <a:ext cx="8129587" cy="4551363"/>
          </a:xfrm>
        </p:spPr>
        <p:txBody>
          <a:bodyPr/>
          <a:lstStyle/>
          <a:p>
            <a:pPr marL="265113" indent="-265113"/>
            <a:r>
              <a:rPr lang="zh-CN" altLang="zh-CN" sz="2800" b="1">
                <a:latin typeface="Arial" pitchFamily="34" charset="0"/>
                <a:cs typeface="Courier New" pitchFamily="49" charset="0"/>
              </a:rPr>
              <a:t>do</a:t>
            </a:r>
            <a:r>
              <a:rPr lang="zh-CN" altLang="zh-CN" sz="2800" b="1">
                <a:latin typeface="Times New Roman" pitchFamily="18" charset="0"/>
                <a:cs typeface="Courier New" pitchFamily="49" charset="0"/>
              </a:rPr>
              <a:t>-</a:t>
            </a:r>
            <a:r>
              <a:rPr lang="zh-CN" altLang="zh-CN" sz="2800" b="1">
                <a:latin typeface="Arial" pitchFamily="34" charset="0"/>
                <a:cs typeface="Courier New" pitchFamily="49" charset="0"/>
              </a:rPr>
              <a:t>while</a:t>
            </a:r>
            <a:r>
              <a:rPr lang="zh-CN" altLang="en-US" sz="2800" b="1">
                <a:latin typeface="Courier New" pitchFamily="49" charset="0"/>
              </a:rPr>
              <a:t>语句用来实现</a:t>
            </a:r>
            <a:r>
              <a:rPr lang="zh-CN" altLang="en-US" sz="2800" b="1">
                <a:latin typeface="Times New Roman" pitchFamily="18" charset="0"/>
              </a:rPr>
              <a:t>“</a:t>
            </a:r>
            <a:r>
              <a:rPr lang="zh-CN" altLang="en-US" sz="2800" b="1">
                <a:solidFill>
                  <a:schemeClr val="hlink"/>
                </a:solidFill>
              </a:rPr>
              <a:t>直到型</a:t>
            </a:r>
            <a:r>
              <a:rPr lang="zh-CN" altLang="en-US" sz="2800" b="1">
                <a:latin typeface="Times New Roman" pitchFamily="18" charset="0"/>
              </a:rPr>
              <a:t>”</a:t>
            </a:r>
            <a:r>
              <a:rPr lang="zh-CN" altLang="en-US" sz="2800" b="1">
                <a:latin typeface="Courier New" pitchFamily="49" charset="0"/>
              </a:rPr>
              <a:t>循环结构</a:t>
            </a:r>
          </a:p>
          <a:p>
            <a:pPr marL="265113" indent="-265113">
              <a:spcBef>
                <a:spcPct val="40000"/>
              </a:spcBef>
            </a:pPr>
            <a:r>
              <a:rPr lang="zh-CN" altLang="en-US" sz="2800" b="1">
                <a:solidFill>
                  <a:schemeClr val="bg2"/>
                </a:solidFill>
                <a:latin typeface="黑体" pitchFamily="49" charset="-122"/>
              </a:rPr>
              <a:t>格式</a:t>
            </a:r>
            <a:r>
              <a:rPr lang="zh-CN" altLang="zh-CN" sz="2800" b="1">
                <a:solidFill>
                  <a:schemeClr val="bg2"/>
                </a:solidFill>
                <a:latin typeface="Times New Roman" pitchFamily="18" charset="0"/>
              </a:rPr>
              <a:t>:</a:t>
            </a:r>
          </a:p>
          <a:p>
            <a:pPr marL="265113" indent="-265113">
              <a:buNone/>
            </a:pPr>
            <a:r>
              <a:rPr lang="zh-CN" altLang="zh-CN" b="1">
                <a:solidFill>
                  <a:schemeClr val="bg2"/>
                </a:solidFill>
                <a:latin typeface="黑体" pitchFamily="49" charset="-122"/>
              </a:rPr>
              <a:t>       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do</a:t>
            </a:r>
            <a:r>
              <a:rPr lang="zh-CN" altLang="zh-CN" sz="2800" b="1">
                <a:solidFill>
                  <a:schemeClr val="hlink"/>
                </a:solidFill>
                <a:cs typeface="Courier New" pitchFamily="49" charset="0"/>
              </a:rPr>
              <a:t> </a:t>
            </a:r>
          </a:p>
          <a:p>
            <a:pPr marL="265113" indent="-265113">
              <a:spcBef>
                <a:spcPct val="30000"/>
              </a:spcBef>
              <a:buNone/>
            </a:pPr>
            <a:r>
              <a:rPr lang="zh-CN" altLang="zh-CN" sz="2800" b="1">
                <a:solidFill>
                  <a:schemeClr val="hlink"/>
                </a:solidFill>
                <a:cs typeface="Courier New" pitchFamily="49" charset="0"/>
              </a:rPr>
              <a:t>                  </a:t>
            </a:r>
            <a:r>
              <a:rPr lang="zh-CN" altLang="en-US" sz="2800" b="1">
                <a:latin typeface="黑体" pitchFamily="49" charset="-122"/>
              </a:rPr>
              <a:t>循环体</a:t>
            </a:r>
            <a:r>
              <a:rPr lang="zh-CN" altLang="en-US" sz="2800" b="1">
                <a:solidFill>
                  <a:schemeClr val="bg2"/>
                </a:solidFill>
                <a:latin typeface="黑体" pitchFamily="49" charset="-122"/>
              </a:rPr>
              <a:t>语句</a:t>
            </a:r>
            <a:endParaRPr lang="zh-CN" altLang="en-US" sz="2800" b="1">
              <a:latin typeface="黑体" pitchFamily="49" charset="-122"/>
            </a:endParaRPr>
          </a:p>
          <a:p>
            <a:pPr marL="265113" indent="-265113">
              <a:spcBef>
                <a:spcPct val="40000"/>
              </a:spcBef>
              <a:buNone/>
            </a:pPr>
            <a:r>
              <a:rPr lang="zh-CN" altLang="en-US" sz="2800" b="1">
                <a:solidFill>
                  <a:schemeClr val="hlink"/>
                </a:solidFill>
                <a:cs typeface="Courier New" pitchFamily="49" charset="0"/>
              </a:rPr>
              <a:t>              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while</a:t>
            </a:r>
            <a:r>
              <a:rPr lang="zh-CN" altLang="zh-CN" sz="2800" b="1">
                <a:latin typeface="Times New Roman" pitchFamily="18" charset="0"/>
                <a:cs typeface="Courier New" pitchFamily="49" charset="0"/>
              </a:rPr>
              <a:t>(&lt;</a:t>
            </a:r>
            <a:r>
              <a:rPr lang="zh-CN" altLang="en-US" sz="2800" b="1">
                <a:latin typeface="黑体" pitchFamily="49" charset="-122"/>
              </a:rPr>
              <a:t>表达式</a:t>
            </a:r>
            <a:r>
              <a:rPr lang="zh-CN" altLang="zh-CN" sz="2800" b="1">
                <a:latin typeface="Times New Roman" pitchFamily="18" charset="0"/>
                <a:cs typeface="Courier New" pitchFamily="49" charset="0"/>
              </a:rPr>
              <a:t>&gt;)</a:t>
            </a:r>
            <a:r>
              <a:rPr lang="zh-CN" altLang="zh-CN" sz="2800" b="1">
                <a:solidFill>
                  <a:schemeClr val="bg2"/>
                </a:solidFill>
                <a:latin typeface="Times New Roman" pitchFamily="18" charset="0"/>
                <a:cs typeface="Courier New" pitchFamily="49" charset="0"/>
              </a:rPr>
              <a:t> ;</a:t>
            </a:r>
          </a:p>
          <a:p>
            <a:pPr marL="265113" indent="-265113">
              <a:buNone/>
            </a:pPr>
            <a:endParaRPr lang="zh-CN" altLang="zh-CN" sz="2800" b="1">
              <a:solidFill>
                <a:schemeClr val="bg2"/>
              </a:solidFill>
              <a:latin typeface="Times New Roman" pitchFamily="18" charset="0"/>
              <a:cs typeface="Courier New" pitchFamily="49" charset="0"/>
            </a:endParaRPr>
          </a:p>
        </p:txBody>
      </p:sp>
      <p:sp>
        <p:nvSpPr>
          <p:cNvPr id="261124" name="Rectangle 4"/>
          <p:cNvSpPr>
            <a:spLocks noChangeArrowheads="1"/>
          </p:cNvSpPr>
          <p:nvPr/>
        </p:nvSpPr>
        <p:spPr bwMode="auto">
          <a:xfrm>
            <a:off x="3327401" y="2466975"/>
            <a:ext cx="3529013" cy="1771650"/>
          </a:xfrm>
          <a:prstGeom prst="rect">
            <a:avLst/>
          </a:prstGeom>
          <a:noFill/>
          <a:ln w="25400" cmpd="sng">
            <a:solidFill>
              <a:srgbClr val="CC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grpSp>
        <p:nvGrpSpPr>
          <p:cNvPr id="261125" name="Group 5"/>
          <p:cNvGrpSpPr>
            <a:grpSpLocks/>
          </p:cNvGrpSpPr>
          <p:nvPr/>
        </p:nvGrpSpPr>
        <p:grpSpPr bwMode="auto">
          <a:xfrm>
            <a:off x="8189913" y="2082801"/>
            <a:ext cx="2074862" cy="3146425"/>
            <a:chOff x="0" y="0"/>
            <a:chExt cx="1307" cy="2035"/>
          </a:xfrm>
        </p:grpSpPr>
        <p:sp>
          <p:nvSpPr>
            <p:cNvPr id="261126" name="Line 6"/>
            <p:cNvSpPr>
              <a:spLocks noChangeShapeType="1"/>
            </p:cNvSpPr>
            <p:nvPr/>
          </p:nvSpPr>
          <p:spPr bwMode="auto">
            <a:xfrm>
              <a:off x="748" y="295"/>
              <a:ext cx="0" cy="26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61127" name="Rectangle 7"/>
            <p:cNvSpPr>
              <a:spLocks noChangeArrowheads="1"/>
            </p:cNvSpPr>
            <p:nvPr/>
          </p:nvSpPr>
          <p:spPr bwMode="auto">
            <a:xfrm>
              <a:off x="147" y="555"/>
              <a:ext cx="1131" cy="489"/>
            </a:xfrm>
            <a:prstGeom prst="rect">
              <a:avLst/>
            </a:prstGeom>
            <a:solidFill>
              <a:srgbClr val="8FEAFF">
                <a:alpha val="39999"/>
              </a:srgbClr>
            </a:solidFill>
            <a:ln w="9525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</a:rPr>
                <a:t>循环体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</a:rPr>
                <a:t>修改循环变量</a:t>
              </a:r>
            </a:p>
          </p:txBody>
        </p:sp>
        <p:sp>
          <p:nvSpPr>
            <p:cNvPr id="261128" name="Text Box 8"/>
            <p:cNvSpPr txBox="1">
              <a:spLocks noChangeArrowheads="1"/>
            </p:cNvSpPr>
            <p:nvPr/>
          </p:nvSpPr>
          <p:spPr bwMode="auto">
            <a:xfrm>
              <a:off x="110" y="0"/>
              <a:ext cx="1197" cy="263"/>
            </a:xfrm>
            <a:prstGeom prst="rect">
              <a:avLst/>
            </a:prstGeom>
            <a:solidFill>
              <a:srgbClr val="8FEAFF">
                <a:alpha val="39999"/>
              </a:srgbClr>
            </a:solidFill>
            <a:ln w="9525" cmpd="sng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</a:rPr>
                <a:t>循环变量初始化</a:t>
              </a:r>
            </a:p>
          </p:txBody>
        </p:sp>
        <p:sp>
          <p:nvSpPr>
            <p:cNvPr id="261129" name="AutoShape 9"/>
            <p:cNvSpPr>
              <a:spLocks noChangeArrowheads="1"/>
            </p:cNvSpPr>
            <p:nvPr/>
          </p:nvSpPr>
          <p:spPr bwMode="auto">
            <a:xfrm>
              <a:off x="187" y="1225"/>
              <a:ext cx="1100" cy="427"/>
            </a:xfrm>
            <a:prstGeom prst="flowChartDecision">
              <a:avLst/>
            </a:prstGeom>
            <a:solidFill>
              <a:srgbClr val="8FEAFF">
                <a:alpha val="39999"/>
              </a:srgbClr>
            </a:solidFill>
            <a:ln w="9525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</a:rPr>
                <a:t>条件</a:t>
              </a:r>
            </a:p>
          </p:txBody>
        </p:sp>
        <p:sp>
          <p:nvSpPr>
            <p:cNvPr id="261130" name="Line 10"/>
            <p:cNvSpPr>
              <a:spLocks noChangeShapeType="1"/>
            </p:cNvSpPr>
            <p:nvPr/>
          </p:nvSpPr>
          <p:spPr bwMode="auto">
            <a:xfrm>
              <a:off x="739" y="1051"/>
              <a:ext cx="0" cy="185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61131" name="Line 11"/>
            <p:cNvSpPr>
              <a:spLocks noChangeShapeType="1"/>
            </p:cNvSpPr>
            <p:nvPr/>
          </p:nvSpPr>
          <p:spPr bwMode="auto">
            <a:xfrm flipV="1">
              <a:off x="0" y="416"/>
              <a:ext cx="759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61132" name="Text Box 12"/>
            <p:cNvSpPr txBox="1">
              <a:spLocks noChangeArrowheads="1"/>
            </p:cNvSpPr>
            <p:nvPr/>
          </p:nvSpPr>
          <p:spPr bwMode="auto">
            <a:xfrm>
              <a:off x="763" y="1620"/>
              <a:ext cx="21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000" b="1">
                  <a:solidFill>
                    <a:srgbClr val="000000"/>
                  </a:solidFill>
                  <a:ea typeface="宋体" pitchFamily="2" charset="-122"/>
                </a:rPr>
                <a:t>0</a:t>
              </a:r>
            </a:p>
          </p:txBody>
        </p:sp>
        <p:sp>
          <p:nvSpPr>
            <p:cNvPr id="261133" name="Text Box 13"/>
            <p:cNvSpPr txBox="1">
              <a:spLocks noChangeArrowheads="1"/>
            </p:cNvSpPr>
            <p:nvPr/>
          </p:nvSpPr>
          <p:spPr bwMode="auto">
            <a:xfrm>
              <a:off x="34" y="1157"/>
              <a:ext cx="363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  <a:latin typeface="黑体" pitchFamily="49" charset="-122"/>
                </a:rPr>
                <a:t>非</a:t>
              </a:r>
              <a:r>
                <a:rPr lang="zh-CN" altLang="zh-CN" sz="2000" b="1">
                  <a:solidFill>
                    <a:srgbClr val="000000"/>
                  </a:solidFill>
                  <a:latin typeface="黑体" pitchFamily="49" charset="-122"/>
                </a:rPr>
                <a:t>0</a:t>
              </a:r>
            </a:p>
          </p:txBody>
        </p:sp>
        <p:sp>
          <p:nvSpPr>
            <p:cNvPr id="261134" name="Line 14"/>
            <p:cNvSpPr>
              <a:spLocks noChangeShapeType="1"/>
            </p:cNvSpPr>
            <p:nvPr/>
          </p:nvSpPr>
          <p:spPr bwMode="auto">
            <a:xfrm>
              <a:off x="739" y="1651"/>
              <a:ext cx="0" cy="384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61135" name="Line 15"/>
            <p:cNvSpPr>
              <a:spLocks noChangeShapeType="1"/>
            </p:cNvSpPr>
            <p:nvPr/>
          </p:nvSpPr>
          <p:spPr bwMode="auto">
            <a:xfrm>
              <a:off x="1" y="416"/>
              <a:ext cx="0" cy="1031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61136" name="Line 16"/>
            <p:cNvSpPr>
              <a:spLocks noChangeShapeType="1"/>
            </p:cNvSpPr>
            <p:nvPr/>
          </p:nvSpPr>
          <p:spPr bwMode="auto">
            <a:xfrm>
              <a:off x="1" y="1448"/>
              <a:ext cx="218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261137" name="Text Box 17"/>
          <p:cNvSpPr txBox="1">
            <a:spLocks noChangeArrowheads="1"/>
          </p:cNvSpPr>
          <p:nvPr/>
        </p:nvSpPr>
        <p:spPr bwMode="auto">
          <a:xfrm>
            <a:off x="8966200" y="5327651"/>
            <a:ext cx="1074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1C1C1C"/>
                </a:solidFill>
              </a:rPr>
              <a:t>流程图</a:t>
            </a:r>
            <a:endParaRPr lang="zh-CN" altLang="en-US" sz="2000" b="1">
              <a:solidFill>
                <a:srgbClr val="1C1C1C"/>
              </a:solidFill>
              <a:latin typeface="Courier New" pitchFamily="49" charset="0"/>
            </a:endParaRPr>
          </a:p>
        </p:txBody>
      </p:sp>
      <p:sp>
        <p:nvSpPr>
          <p:cNvPr id="261138" name="Text Box 18"/>
          <p:cNvSpPr txBox="1">
            <a:spLocks noChangeArrowheads="1"/>
          </p:cNvSpPr>
          <p:nvPr/>
        </p:nvSpPr>
        <p:spPr bwMode="auto">
          <a:xfrm>
            <a:off x="3190875" y="4795838"/>
            <a:ext cx="571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</a:rPr>
              <a:t>直到表达式为假时才退出循环。</a:t>
            </a:r>
          </a:p>
        </p:txBody>
      </p:sp>
      <p:sp>
        <p:nvSpPr>
          <p:cNvPr id="261139" name="Rectangle 19"/>
          <p:cNvSpPr>
            <a:spLocks noChangeArrowheads="1"/>
          </p:cNvSpPr>
          <p:nvPr/>
        </p:nvSpPr>
        <p:spPr bwMode="auto">
          <a:xfrm>
            <a:off x="2032000" y="4800601"/>
            <a:ext cx="7272338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/>
          <a:p>
            <a:pPr marL="265113" indent="-265113"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</a:rPr>
              <a:t>特点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</a:rPr>
              <a:t>先</a:t>
            </a:r>
            <a:r>
              <a:rPr lang="zh-CN" altLang="en-US" sz="2800" b="1">
                <a:solidFill>
                  <a:srgbClr val="FF0000"/>
                </a:solidFill>
                <a:latin typeface="Times New Roman" pitchFamily="18" charset="0"/>
              </a:rPr>
              <a:t>执行</a:t>
            </a: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</a:rPr>
              <a:t>,</a:t>
            </a:r>
            <a:r>
              <a:rPr lang="zh-CN" altLang="zh-CN" sz="2800" b="1">
                <a:solidFill>
                  <a:srgbClr val="1C1C1C"/>
                </a:solidFill>
                <a:latin typeface="Times New Roman" pitchFamily="18" charset="0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</a:rPr>
              <a:t>再</a:t>
            </a:r>
            <a:r>
              <a:rPr lang="zh-CN" altLang="en-US" sz="2800" b="1">
                <a:solidFill>
                  <a:srgbClr val="FF0000"/>
                </a:solidFill>
                <a:latin typeface="Times New Roman" pitchFamily="18" charset="0"/>
              </a:rPr>
              <a:t>判断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</a:rPr>
              <a:t>至少执行一次循环体</a:t>
            </a: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2918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39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311401" y="1470026"/>
            <a:ext cx="4056063" cy="36925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400" b="1">
                <a:ea typeface="黑体" pitchFamily="49" charset="-122"/>
              </a:rPr>
              <a:t>#</a:t>
            </a:r>
            <a:r>
              <a:rPr lang="zh-CN" altLang="zh-CN" sz="2400" b="1">
                <a:ea typeface="华文楷体" pitchFamily="2" charset="-122"/>
              </a:rPr>
              <a:t>include </a:t>
            </a:r>
            <a:r>
              <a:rPr lang="zh-CN" altLang="zh-CN" sz="2400">
                <a:ea typeface="华文楷体" pitchFamily="2" charset="-122"/>
              </a:rPr>
              <a:t>&lt;</a:t>
            </a:r>
            <a:r>
              <a:rPr lang="zh-CN" altLang="zh-CN" sz="2400" b="1">
                <a:ea typeface="华文楷体" pitchFamily="2" charset="-122"/>
              </a:rPr>
              <a:t>stdio</a:t>
            </a:r>
            <a:r>
              <a:rPr lang="zh-CN" altLang="zh-CN" sz="2400" b="1">
                <a:latin typeface="Times New Roman" pitchFamily="18" charset="0"/>
                <a:ea typeface="华文楷体" pitchFamily="2" charset="-122"/>
              </a:rPr>
              <a:t>.</a:t>
            </a:r>
            <a:r>
              <a:rPr lang="zh-CN" altLang="zh-CN" sz="2400" b="1">
                <a:ea typeface="华文楷体" pitchFamily="2" charset="-122"/>
              </a:rPr>
              <a:t>h</a:t>
            </a:r>
            <a:r>
              <a:rPr lang="zh-CN" altLang="zh-CN" sz="2400">
                <a:ea typeface="华文楷体" pitchFamily="2" charset="-122"/>
              </a:rPr>
              <a:t>&gt;</a:t>
            </a:r>
            <a:r>
              <a:rPr lang="zh-CN" altLang="zh-CN" sz="2400" b="1"/>
              <a:t>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400" b="1">
                <a:ea typeface="华文楷体" pitchFamily="2" charset="-122"/>
              </a:rPr>
              <a:t> voin main</a:t>
            </a:r>
            <a:r>
              <a:rPr lang="zh-CN" altLang="zh-CN" sz="2400" b="1">
                <a:latin typeface="Times New Roman" pitchFamily="18" charset="0"/>
                <a:ea typeface="华文楷体" pitchFamily="2" charset="-122"/>
              </a:rPr>
              <a:t>( 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400" b="1">
                <a:ea typeface="华文楷体" pitchFamily="2" charset="-122"/>
              </a:rPr>
              <a:t>{ int  i=65</a:t>
            </a:r>
            <a:r>
              <a:rPr lang="zh-CN" altLang="zh-CN" sz="2400" b="1">
                <a:latin typeface="Times New Roman" pitchFamily="18" charset="0"/>
                <a:ea typeface="华文楷体" pitchFamily="2" charset="-122"/>
              </a:rPr>
              <a:t>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400" b="1">
                <a:ea typeface="华文楷体" pitchFamily="2" charset="-122"/>
              </a:rPr>
              <a:t>   </a:t>
            </a:r>
            <a:r>
              <a:rPr lang="zh-CN" altLang="zh-CN" sz="2400" b="1">
                <a:solidFill>
                  <a:schemeClr val="hlink"/>
                </a:solidFill>
                <a:ea typeface="华文楷体" pitchFamily="2" charset="-122"/>
              </a:rPr>
              <a:t>while </a:t>
            </a:r>
            <a:r>
              <a:rPr lang="zh-CN" altLang="zh-CN" sz="2400" b="1">
                <a:latin typeface="Times New Roman" pitchFamily="18" charset="0"/>
                <a:ea typeface="华文楷体" pitchFamily="2" charset="-122"/>
              </a:rPr>
              <a:t>(</a:t>
            </a:r>
            <a:r>
              <a:rPr lang="zh-CN" altLang="zh-CN" sz="2400" b="1">
                <a:ea typeface="华文楷体" pitchFamily="2" charset="-122"/>
              </a:rPr>
              <a:t>i</a:t>
            </a:r>
            <a:r>
              <a:rPr lang="zh-CN" altLang="zh-CN" sz="2400">
                <a:ea typeface="华文楷体" pitchFamily="2" charset="-122"/>
              </a:rPr>
              <a:t>&lt;</a:t>
            </a:r>
            <a:r>
              <a:rPr lang="zh-CN" altLang="zh-CN" sz="2400" b="1">
                <a:latin typeface="Times New Roman" pitchFamily="18" charset="0"/>
                <a:ea typeface="华文楷体" pitchFamily="2" charset="-122"/>
              </a:rPr>
              <a:t>‘</a:t>
            </a:r>
            <a:r>
              <a:rPr lang="zh-CN" altLang="zh-CN" sz="2400" b="1">
                <a:ea typeface="华文楷体" pitchFamily="2" charset="-122"/>
              </a:rPr>
              <a:t>A</a:t>
            </a:r>
            <a:r>
              <a:rPr lang="zh-CN" altLang="zh-CN" sz="2400" b="1">
                <a:latin typeface="Times New Roman" pitchFamily="18" charset="0"/>
                <a:ea typeface="华文楷体" pitchFamily="2" charset="-122"/>
              </a:rPr>
              <a:t>’)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400" b="1">
                <a:ea typeface="华文楷体" pitchFamily="2" charset="-122"/>
              </a:rPr>
              <a:t>   </a:t>
            </a:r>
            <a:r>
              <a:rPr lang="zh-CN" altLang="zh-CN" sz="2400" b="1">
                <a:solidFill>
                  <a:schemeClr val="hlink"/>
                </a:solidFill>
                <a:latin typeface="Arial" pitchFamily="34" charset="0"/>
                <a:ea typeface="华文楷体" pitchFamily="2" charset="-122"/>
              </a:rPr>
              <a:t>{</a:t>
            </a:r>
            <a:r>
              <a:rPr lang="zh-CN" altLang="zh-CN" sz="2400">
                <a:solidFill>
                  <a:schemeClr val="hlink"/>
                </a:solidFill>
                <a:ea typeface="华文楷体" pitchFamily="2" charset="-122"/>
              </a:rPr>
              <a:t> </a:t>
            </a:r>
            <a:r>
              <a:rPr lang="zh-CN" altLang="zh-CN" sz="2400" b="1">
                <a:ea typeface="华文楷体" pitchFamily="2" charset="-122"/>
              </a:rPr>
              <a:t>putchar</a:t>
            </a:r>
            <a:r>
              <a:rPr lang="zh-CN" altLang="zh-CN" sz="2400" b="1">
                <a:latin typeface="Times New Roman" pitchFamily="18" charset="0"/>
                <a:ea typeface="华文楷体" pitchFamily="2" charset="-122"/>
              </a:rPr>
              <a:t>(</a:t>
            </a:r>
            <a:r>
              <a:rPr lang="zh-CN" altLang="zh-CN" sz="2400" b="1">
                <a:ea typeface="华文楷体" pitchFamily="2" charset="-122"/>
              </a:rPr>
              <a:t>i</a:t>
            </a:r>
            <a:r>
              <a:rPr lang="zh-CN" altLang="zh-CN" sz="2400" b="1">
                <a:latin typeface="Times New Roman" pitchFamily="18" charset="0"/>
                <a:ea typeface="华文楷体" pitchFamily="2" charset="-122"/>
              </a:rPr>
              <a:t>);</a:t>
            </a:r>
            <a:r>
              <a:rPr lang="zh-CN" altLang="zh-CN" sz="2400" b="1">
                <a:ea typeface="华文楷体" pitchFamily="2" charset="-122"/>
              </a:rPr>
              <a:t>   i++</a:t>
            </a:r>
            <a:r>
              <a:rPr lang="zh-CN" altLang="zh-CN" sz="2400" b="1">
                <a:latin typeface="Times New Roman" pitchFamily="18" charset="0"/>
                <a:ea typeface="华文楷体" pitchFamily="2" charset="-122"/>
              </a:rPr>
              <a:t>;</a:t>
            </a:r>
            <a:r>
              <a:rPr lang="zh-CN" altLang="zh-CN" sz="2400" b="1">
                <a:ea typeface="华文楷体" pitchFamily="2" charset="-122"/>
              </a:rPr>
              <a:t> </a:t>
            </a:r>
            <a:r>
              <a:rPr lang="zh-CN" altLang="zh-CN" sz="2400" b="1">
                <a:solidFill>
                  <a:schemeClr val="hlink"/>
                </a:solidFill>
                <a:latin typeface="Arial" pitchFamily="34" charset="0"/>
                <a:ea typeface="华文楷体" pitchFamily="2" charset="-122"/>
              </a:rPr>
              <a:t>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400" b="1">
                <a:ea typeface="华文楷体" pitchFamily="2" charset="-122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zh-CN" altLang="zh-CN" sz="2400" b="1"/>
          </a:p>
        </p:txBody>
      </p:sp>
      <p:sp>
        <p:nvSpPr>
          <p:cNvPr id="263171" name="Rectangle 3"/>
          <p:cNvSpPr>
            <a:spLocks noChangeArrowheads="1"/>
          </p:cNvSpPr>
          <p:nvPr/>
        </p:nvSpPr>
        <p:spPr bwMode="auto">
          <a:xfrm>
            <a:off x="2320925" y="331788"/>
            <a:ext cx="5360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例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:  while 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与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do-while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区别</a:t>
            </a:r>
          </a:p>
        </p:txBody>
      </p:sp>
      <p:sp>
        <p:nvSpPr>
          <p:cNvPr id="263172" name="Text Box 4"/>
          <p:cNvSpPr txBox="1">
            <a:spLocks noChangeArrowheads="1"/>
          </p:cNvSpPr>
          <p:nvPr/>
        </p:nvSpPr>
        <p:spPr bwMode="auto">
          <a:xfrm>
            <a:off x="6411913" y="1446213"/>
            <a:ext cx="3962400" cy="3490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#include </a:t>
            </a:r>
            <a:r>
              <a:rPr lang="zh-CN" altLang="zh-CN" sz="2400">
                <a:solidFill>
                  <a:srgbClr val="000000"/>
                </a:solidFill>
                <a:ea typeface="华文楷体" pitchFamily="2" charset="-122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stdio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.</a:t>
            </a: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h</a:t>
            </a:r>
            <a:r>
              <a:rPr lang="zh-CN" altLang="zh-CN" sz="2400">
                <a:solidFill>
                  <a:srgbClr val="000000"/>
                </a:solidFill>
                <a:ea typeface="华文楷体" pitchFamily="2" charset="-122"/>
              </a:rPr>
              <a:t>&gt;</a:t>
            </a: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 voin main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( )</a:t>
            </a:r>
          </a:p>
          <a:p>
            <a:pPr fontAlgn="base">
              <a:spcBef>
                <a:spcPct val="4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{ int  i=65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;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   </a:t>
            </a:r>
            <a:r>
              <a:rPr lang="zh-CN" altLang="zh-CN" sz="2400" b="1">
                <a:solidFill>
                  <a:srgbClr val="FF0000"/>
                </a:solidFill>
                <a:ea typeface="华文楷体" pitchFamily="2" charset="-122"/>
              </a:rPr>
              <a:t>do</a:t>
            </a:r>
          </a:p>
          <a:p>
            <a:pPr fontAlgn="base">
              <a:spcBef>
                <a:spcPct val="3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ea typeface="华文楷体" pitchFamily="2" charset="-122"/>
              </a:rPr>
              <a:t>   </a:t>
            </a:r>
            <a:r>
              <a:rPr lang="zh-CN" altLang="zh-CN" sz="2400" b="1">
                <a:solidFill>
                  <a:srgbClr val="FF0000"/>
                </a:solidFill>
                <a:latin typeface="Arial" pitchFamily="34" charset="0"/>
                <a:ea typeface="华文楷体" pitchFamily="2" charset="-122"/>
              </a:rPr>
              <a:t>{</a:t>
            </a: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 putchar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i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);</a:t>
            </a: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   i++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;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    </a:t>
            </a:r>
            <a:r>
              <a:rPr lang="zh-CN" altLang="zh-CN" sz="2400" b="1">
                <a:solidFill>
                  <a:srgbClr val="FF0000"/>
                </a:solidFill>
                <a:latin typeface="Arial" pitchFamily="34" charset="0"/>
                <a:ea typeface="华文楷体" pitchFamily="2" charset="-122"/>
              </a:rPr>
              <a:t>}</a:t>
            </a:r>
            <a:r>
              <a:rPr lang="zh-CN" altLang="zh-CN" sz="2400">
                <a:solidFill>
                  <a:srgbClr val="FF0000"/>
                </a:solidFill>
                <a:ea typeface="华文楷体" pitchFamily="2" charset="-122"/>
              </a:rPr>
              <a:t> </a:t>
            </a:r>
            <a:r>
              <a:rPr lang="zh-CN" altLang="zh-CN" sz="2400" b="1">
                <a:solidFill>
                  <a:srgbClr val="FF0000"/>
                </a:solidFill>
                <a:ea typeface="华文楷体" pitchFamily="2" charset="-122"/>
              </a:rPr>
              <a:t>while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i</a:t>
            </a:r>
            <a:r>
              <a:rPr lang="zh-CN" altLang="zh-CN" sz="2400">
                <a:solidFill>
                  <a:srgbClr val="000000"/>
                </a:solidFill>
                <a:ea typeface="华文楷体" pitchFamily="2" charset="-122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‘</a:t>
            </a: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’);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华文楷体" pitchFamily="2" charset="-122"/>
              </a:rPr>
              <a:t> }</a:t>
            </a:r>
          </a:p>
        </p:txBody>
      </p:sp>
      <p:sp>
        <p:nvSpPr>
          <p:cNvPr id="263173" name="Text Box 5"/>
          <p:cNvSpPr txBox="1">
            <a:spLocks noChangeArrowheads="1"/>
          </p:cNvSpPr>
          <p:nvPr/>
        </p:nvSpPr>
        <p:spPr bwMode="auto">
          <a:xfrm>
            <a:off x="2886075" y="4841875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无输出</a:t>
            </a:r>
          </a:p>
        </p:txBody>
      </p:sp>
      <p:sp>
        <p:nvSpPr>
          <p:cNvPr id="263174" name="Rectangle 6"/>
          <p:cNvSpPr>
            <a:spLocks noChangeArrowheads="1"/>
          </p:cNvSpPr>
          <p:nvPr/>
        </p:nvSpPr>
        <p:spPr bwMode="auto">
          <a:xfrm>
            <a:off x="7175500" y="4868863"/>
            <a:ext cx="128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6408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 autoUpdateAnimBg="0"/>
      <p:bldP spid="263173" grpId="0" autoUpdateAnimBg="0"/>
      <p:bldP spid="26317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E68098B-2753-160D-19A8-F11193E1868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09238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CN" sz="3200" b="1" dirty="0">
                <a:latin typeface="Arial" pitchFamily="34" charset="0"/>
              </a:rPr>
              <a:t>           </a:t>
            </a:r>
            <a:r>
              <a:rPr lang="zh-CN" altLang="zh-CN" sz="3200" b="1" dirty="0">
                <a:latin typeface="Arial" pitchFamily="34" charset="0"/>
              </a:rPr>
              <a:t>int</a:t>
            </a:r>
            <a:r>
              <a:rPr lang="zh-CN" altLang="zh-CN" sz="3200" b="1" dirty="0"/>
              <a:t>  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t</a:t>
            </a:r>
            <a:r>
              <a:rPr lang="zh-CN" altLang="zh-CN" sz="3200" b="1" dirty="0">
                <a:cs typeface="Courier New" pitchFamily="49" charset="0"/>
              </a:rPr>
              <a:t>=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10</a:t>
            </a:r>
            <a:r>
              <a:rPr lang="zh-CN" altLang="zh-CN" sz="3200" b="1" dirty="0">
                <a:cs typeface="Courier New" pitchFamily="49" charset="0"/>
              </a:rPr>
              <a:t> </a:t>
            </a:r>
            <a:r>
              <a:rPr lang="zh-CN" altLang="zh-CN" sz="3200" b="1" dirty="0">
                <a:latin typeface="Times New Roman" pitchFamily="18" charset="0"/>
                <a:cs typeface="Courier New" pitchFamily="49" charset="0"/>
              </a:rPr>
              <a:t>;</a:t>
            </a:r>
            <a:endParaRPr lang="zh-CN" altLang="zh-CN" sz="3200" b="1" dirty="0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zh-CN" altLang="zh-CN" sz="3200" b="1" dirty="0">
                <a:cs typeface="Courier New" pitchFamily="49" charset="0"/>
              </a:rPr>
              <a:t>          </a:t>
            </a:r>
            <a:r>
              <a:rPr lang="zh-CN" altLang="zh-CN" sz="3200" b="1" dirty="0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do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 </a:t>
            </a:r>
          </a:p>
          <a:p>
            <a:pPr algn="just"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3200" b="1" dirty="0">
                <a:cs typeface="Courier New" pitchFamily="49" charset="0"/>
              </a:rPr>
              <a:t>          { </a:t>
            </a:r>
          </a:p>
          <a:p>
            <a:pPr algn="just">
              <a:lnSpc>
                <a:spcPct val="9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3200" b="1" dirty="0">
                <a:cs typeface="Courier New" pitchFamily="49" charset="0"/>
              </a:rPr>
              <a:t>              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t</a:t>
            </a:r>
            <a:r>
              <a:rPr lang="zh-CN" altLang="zh-CN" sz="3200" b="1" dirty="0">
                <a:cs typeface="Courier New" pitchFamily="49" charset="0"/>
              </a:rPr>
              <a:t>-- </a:t>
            </a:r>
            <a:r>
              <a:rPr lang="zh-CN" altLang="zh-CN" sz="3200" b="1" dirty="0">
                <a:latin typeface="Times New Roman" pitchFamily="18" charset="0"/>
                <a:cs typeface="Courier New" pitchFamily="49" charset="0"/>
              </a:rPr>
              <a:t>;</a:t>
            </a:r>
            <a:endParaRPr lang="zh-CN" altLang="zh-CN" sz="3200" b="1" dirty="0">
              <a:latin typeface="Times New Roman" pitchFamily="18" charset="0"/>
            </a:endParaRPr>
          </a:p>
          <a:p>
            <a:pPr algn="just">
              <a:spcBef>
                <a:spcPct val="5000"/>
              </a:spcBef>
              <a:buFont typeface="Wingdings" pitchFamily="2" charset="2"/>
              <a:buNone/>
            </a:pPr>
            <a:r>
              <a:rPr lang="zh-CN" altLang="zh-CN" sz="3200" b="1" dirty="0">
                <a:cs typeface="Courier New" pitchFamily="49" charset="0"/>
              </a:rPr>
              <a:t>           }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 </a:t>
            </a:r>
            <a:r>
              <a:rPr lang="zh-CN" altLang="zh-CN" sz="3200" b="1" dirty="0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while</a:t>
            </a:r>
            <a:r>
              <a:rPr lang="zh-CN" altLang="zh-CN" sz="3200" b="1" dirty="0">
                <a:cs typeface="Courier New" pitchFamily="49" charset="0"/>
              </a:rPr>
              <a:t> </a:t>
            </a:r>
            <a:r>
              <a:rPr lang="zh-CN" altLang="zh-CN" sz="3200" b="1" dirty="0"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3200" b="1" dirty="0">
                <a:cs typeface="Courier New" pitchFamily="49" charset="0"/>
              </a:rPr>
              <a:t> 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t</a:t>
            </a:r>
            <a:r>
              <a:rPr lang="zh-CN" altLang="zh-CN" sz="3200" dirty="0"/>
              <a:t>&gt;</a:t>
            </a:r>
            <a:r>
              <a:rPr lang="zh-CN" altLang="zh-CN" sz="3200" b="1" dirty="0"/>
              <a:t>=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0</a:t>
            </a:r>
            <a:r>
              <a:rPr lang="zh-CN" altLang="zh-CN" sz="3200" b="1" dirty="0">
                <a:cs typeface="Courier New" pitchFamily="49" charset="0"/>
              </a:rPr>
              <a:t> </a:t>
            </a:r>
            <a:r>
              <a:rPr lang="zh-CN" altLang="zh-CN" sz="3200" b="1" dirty="0">
                <a:latin typeface="Times New Roman" pitchFamily="18" charset="0"/>
                <a:cs typeface="Courier New" pitchFamily="49" charset="0"/>
              </a:rPr>
              <a:t>) </a:t>
            </a:r>
            <a:r>
              <a:rPr lang="zh-CN" altLang="zh-CN" sz="3200" b="1" dirty="0">
                <a:solidFill>
                  <a:schemeClr val="hlink"/>
                </a:solidFill>
                <a:latin typeface="Times New Roman" pitchFamily="18" charset="0"/>
                <a:cs typeface="Courier New" pitchFamily="49" charset="0"/>
              </a:rPr>
              <a:t>;</a:t>
            </a:r>
            <a:endParaRPr lang="zh-CN" altLang="zh-CN" sz="3200" b="1" dirty="0">
              <a:solidFill>
                <a:schemeClr val="hlink"/>
              </a:solidFill>
              <a:latin typeface="Times New Roman" pitchFamily="18" charset="0"/>
            </a:endParaRPr>
          </a:p>
          <a:p>
            <a:pPr algn="just"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3200" b="1" dirty="0">
                <a:cs typeface="Courier New" pitchFamily="49" charset="0"/>
              </a:rPr>
              <a:t>           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printf</a:t>
            </a:r>
            <a:r>
              <a:rPr lang="zh-CN" altLang="zh-CN" sz="3200" b="1" dirty="0">
                <a:latin typeface="Times New Roman" pitchFamily="18" charset="0"/>
                <a:cs typeface="Courier New" pitchFamily="49" charset="0"/>
              </a:rPr>
              <a:t>(“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t</a:t>
            </a:r>
            <a:r>
              <a:rPr lang="zh-CN" altLang="zh-CN" sz="3200" b="1" dirty="0">
                <a:cs typeface="Courier New" pitchFamily="49" charset="0"/>
              </a:rPr>
              <a:t>=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%d</a:t>
            </a:r>
            <a:r>
              <a:rPr lang="zh-CN" altLang="zh-CN" sz="3200" dirty="0">
                <a:cs typeface="Courier New" pitchFamily="49" charset="0"/>
              </a:rPr>
              <a:t>\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n</a:t>
            </a:r>
            <a:r>
              <a:rPr lang="zh-CN" altLang="zh-CN" sz="3200" b="1" dirty="0">
                <a:latin typeface="Times New Roman" pitchFamily="18" charset="0"/>
                <a:cs typeface="Courier New" pitchFamily="49" charset="0"/>
              </a:rPr>
              <a:t>”,</a:t>
            </a:r>
            <a:r>
              <a:rPr lang="zh-CN" altLang="zh-CN" sz="3200" b="1" dirty="0">
                <a:cs typeface="Courier New" pitchFamily="49" charset="0"/>
              </a:rPr>
              <a:t> </a:t>
            </a:r>
            <a:r>
              <a:rPr lang="zh-CN" altLang="zh-CN" sz="3200" b="1" dirty="0">
                <a:latin typeface="Arial" pitchFamily="34" charset="0"/>
                <a:cs typeface="Courier New" pitchFamily="49" charset="0"/>
              </a:rPr>
              <a:t>t</a:t>
            </a:r>
            <a:r>
              <a:rPr lang="zh-CN" altLang="zh-CN" sz="3200" b="1" dirty="0">
                <a:cs typeface="Courier New" pitchFamily="49" charset="0"/>
              </a:rPr>
              <a:t> </a:t>
            </a:r>
            <a:r>
              <a:rPr lang="zh-CN" altLang="zh-CN" sz="3200" b="1" dirty="0">
                <a:latin typeface="Times New Roman" pitchFamily="18" charset="0"/>
                <a:cs typeface="Courier New" pitchFamily="49" charset="0"/>
              </a:rPr>
              <a:t>) ;</a:t>
            </a:r>
            <a:r>
              <a:rPr lang="zh-CN" altLang="en-US" sz="3200" b="1" dirty="0">
                <a:latin typeface="Times New Roman" pitchFamily="18" charset="0"/>
                <a:cs typeface="Courier New" pitchFamily="49" charset="0"/>
              </a:rPr>
              <a:t>输出</a:t>
            </a:r>
            <a:r>
              <a:rPr lang="zh-CN" altLang="en-US" sz="3200" b="1" dirty="0">
                <a:solidFill>
                  <a:srgbClr val="639EF4"/>
                </a:solidFill>
                <a:latin typeface="Times New Roman" pitchFamily="18" charset="0"/>
                <a:cs typeface="Courier New" pitchFamily="49" charset="0"/>
              </a:rPr>
              <a:t> </a:t>
            </a:r>
            <a:r>
              <a:rPr lang="en-US" altLang="zh-CN" sz="3200" b="1" dirty="0">
                <a:solidFill>
                  <a:srgbClr val="639EF4"/>
                </a:solidFill>
                <a:latin typeface="Times New Roman" pitchFamily="18" charset="0"/>
                <a:cs typeface="Courier New" pitchFamily="49" charset="0"/>
              </a:rPr>
              <a:t>[</a:t>
            </a:r>
            <a:r>
              <a:rPr lang="zh-CN" altLang="en-US" sz="3200" b="1" dirty="0">
                <a:solidFill>
                  <a:srgbClr val="639EF4"/>
                </a:solidFill>
                <a:latin typeface="Times New Roman" pitchFamily="18" charset="0"/>
                <a:cs typeface="Courier New" pitchFamily="49" charset="0"/>
              </a:rPr>
              <a:t>填空</a:t>
            </a:r>
            <a:r>
              <a:rPr lang="en-US" altLang="zh-CN" sz="3200" b="1" dirty="0">
                <a:solidFill>
                  <a:srgbClr val="639EF4"/>
                </a:solidFill>
                <a:latin typeface="Times New Roman" pitchFamily="18" charset="0"/>
                <a:cs typeface="Courier New" pitchFamily="49" charset="0"/>
              </a:rPr>
              <a:t>1]</a:t>
            </a: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 </a:t>
            </a:r>
            <a:endParaRPr lang="zh-CN" altLang="zh-CN" sz="3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9932359-00A9-A122-0EC2-0E6BF5524BE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C347E57-F070-920C-178F-4C70AFCDA1E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CE1B852B-D1DB-18FE-8A66-6F4A75E597C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B14095B0-7824-813C-011E-2B7EEC6B5A3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4DC24F30-3C67-AB3E-E427-13FCFEF3BBE9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00B390E2-924F-EBD4-F7C4-BCA80A995D2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833AB4C-CD1B-2CC9-9A01-9E1DCB25048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6206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2F31187-C2A1-53D1-ECFF-2E51C444D1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45829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以下程序的执行结果为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32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32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32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en-US" altLang="zh-CN" sz="3200" b="1" dirty="0">
                <a:latin typeface="Arial" pitchFamily="34" charset="0"/>
              </a:rPr>
              <a:t>        </a:t>
            </a:r>
            <a:r>
              <a:rPr lang="zh-CN" altLang="zh-CN" sz="3200" b="1" dirty="0">
                <a:latin typeface="Arial" pitchFamily="34" charset="0"/>
              </a:rPr>
              <a:t>a</a:t>
            </a:r>
            <a:r>
              <a:rPr lang="zh-CN" altLang="zh-CN" sz="3200" b="1" dirty="0"/>
              <a:t> = </a:t>
            </a:r>
            <a:r>
              <a:rPr lang="zh-CN" altLang="zh-CN" sz="3200" b="1" dirty="0">
                <a:latin typeface="Arial" pitchFamily="34" charset="0"/>
              </a:rPr>
              <a:t>5</a:t>
            </a:r>
            <a:r>
              <a:rPr lang="zh-CN" altLang="zh-CN" sz="3200" b="1" dirty="0"/>
              <a:t> </a:t>
            </a:r>
            <a:r>
              <a:rPr lang="zh-CN" altLang="zh-CN" sz="32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3200" b="1" dirty="0"/>
              <a:t>        </a:t>
            </a:r>
            <a:r>
              <a:rPr lang="zh-CN" altLang="zh-CN" sz="3200" b="1" dirty="0">
                <a:solidFill>
                  <a:srgbClr val="00009E"/>
                </a:solidFill>
                <a:latin typeface="Arial" pitchFamily="34" charset="0"/>
              </a:rPr>
              <a:t>do</a:t>
            </a:r>
            <a:r>
              <a:rPr lang="zh-CN" altLang="zh-CN" sz="3200" b="1" dirty="0"/>
              <a:t>  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3200" b="1" dirty="0"/>
              <a:t>        </a:t>
            </a:r>
            <a:r>
              <a:rPr lang="zh-CN" altLang="zh-CN" sz="3200" b="1" dirty="0">
                <a:solidFill>
                  <a:schemeClr val="bg2"/>
                </a:solidFill>
                <a:latin typeface="Arial" pitchFamily="34" charset="0"/>
              </a:rPr>
              <a:t>{</a:t>
            </a:r>
            <a:r>
              <a:rPr lang="zh-CN" altLang="zh-CN" sz="3200" b="1" dirty="0"/>
              <a:t> </a:t>
            </a:r>
            <a:endParaRPr lang="en-US" altLang="zh-CN" sz="3200" b="1" dirty="0"/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200" b="1" dirty="0">
                <a:latin typeface="Arial" pitchFamily="34" charset="0"/>
              </a:rPr>
              <a:t>               </a:t>
            </a:r>
            <a:r>
              <a:rPr lang="zh-CN" altLang="zh-CN" sz="3200" b="1" dirty="0">
                <a:latin typeface="Arial" pitchFamily="34" charset="0"/>
              </a:rPr>
              <a:t>printf</a:t>
            </a:r>
            <a:r>
              <a:rPr lang="zh-CN" altLang="zh-CN" sz="3200" b="1" dirty="0">
                <a:latin typeface="Times New Roman" pitchFamily="18" charset="0"/>
              </a:rPr>
              <a:t>(“</a:t>
            </a:r>
            <a:r>
              <a:rPr lang="zh-CN" altLang="zh-CN" sz="3200" b="1" dirty="0">
                <a:latin typeface="Arial" pitchFamily="34" charset="0"/>
              </a:rPr>
              <a:t>%2d</a:t>
            </a:r>
            <a:r>
              <a:rPr lang="zh-CN" altLang="zh-CN" sz="3200" dirty="0"/>
              <a:t>\</a:t>
            </a:r>
            <a:r>
              <a:rPr lang="zh-CN" altLang="zh-CN" sz="3200" b="1" dirty="0">
                <a:latin typeface="Arial" pitchFamily="34" charset="0"/>
              </a:rPr>
              <a:t>n</a:t>
            </a:r>
            <a:r>
              <a:rPr lang="zh-CN" altLang="zh-CN" sz="3200" b="1" dirty="0">
                <a:latin typeface="Times New Roman" pitchFamily="18" charset="0"/>
              </a:rPr>
              <a:t>”,</a:t>
            </a:r>
            <a:r>
              <a:rPr lang="zh-CN" altLang="zh-CN" sz="3200" b="1" dirty="0"/>
              <a:t> </a:t>
            </a:r>
            <a:r>
              <a:rPr lang="zh-CN" altLang="zh-CN" sz="3200" b="1" dirty="0">
                <a:latin typeface="Arial" pitchFamily="34" charset="0"/>
              </a:rPr>
              <a:t>a</a:t>
            </a:r>
            <a:r>
              <a:rPr lang="zh-CN" altLang="zh-CN" sz="3200" b="1" dirty="0"/>
              <a:t>-- </a:t>
            </a:r>
            <a:r>
              <a:rPr lang="zh-CN" altLang="zh-CN" sz="3200" b="1" dirty="0">
                <a:latin typeface="Times New Roman" pitchFamily="18" charset="0"/>
              </a:rPr>
              <a:t>);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z="3200" b="1" dirty="0"/>
              <a:t>        </a:t>
            </a:r>
            <a:r>
              <a:rPr lang="zh-CN" altLang="zh-CN" sz="3200" b="1" dirty="0">
                <a:solidFill>
                  <a:schemeClr val="bg2"/>
                </a:solidFill>
                <a:latin typeface="Arial" pitchFamily="34" charset="0"/>
              </a:rPr>
              <a:t>}</a:t>
            </a:r>
            <a:r>
              <a:rPr lang="zh-CN" altLang="zh-CN" sz="3200" b="1" dirty="0">
                <a:solidFill>
                  <a:srgbClr val="C20000"/>
                </a:solidFill>
              </a:rPr>
              <a:t> </a:t>
            </a:r>
            <a:r>
              <a:rPr lang="zh-CN" altLang="zh-CN" sz="3200" b="1" dirty="0">
                <a:solidFill>
                  <a:srgbClr val="00009E"/>
                </a:solidFill>
                <a:latin typeface="Arial" pitchFamily="34" charset="0"/>
              </a:rPr>
              <a:t>while</a:t>
            </a:r>
            <a:r>
              <a:rPr lang="zh-CN" altLang="zh-CN" sz="3200" b="1" dirty="0">
                <a:solidFill>
                  <a:schemeClr val="bg2"/>
                </a:solidFill>
                <a:latin typeface="Times New Roman" pitchFamily="18" charset="0"/>
              </a:rPr>
              <a:t>(!</a:t>
            </a:r>
            <a:r>
              <a:rPr lang="zh-CN" altLang="zh-CN" sz="3200" b="1" dirty="0">
                <a:latin typeface="Arial" pitchFamily="34" charset="0"/>
              </a:rPr>
              <a:t>a</a:t>
            </a:r>
            <a:r>
              <a:rPr lang="zh-CN" altLang="zh-CN" sz="3200" b="1" dirty="0">
                <a:latin typeface="Times New Roman" pitchFamily="18" charset="0"/>
              </a:rPr>
              <a:t>);</a:t>
            </a:r>
          </a:p>
          <a:p>
            <a:endParaRPr lang="zh-CN" altLang="en-US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5B84D3D-C54E-1267-6126-1796E1A8952F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2DE0B35-2AB3-88D7-07BE-A368C91C0095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6B086A33-F8E0-A3AE-E84E-95C8F67B25B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98E658DE-9F4D-44A8-75B2-1F73AD57E13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3BFD7E94-3507-12E2-DCDD-45FC3DBEA6D1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2DFA3FE5-53EF-EECF-D026-2C1BBE73021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9807D8C-A1BF-4EB3-8B1C-30333A57F33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1299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61395" y="1052736"/>
            <a:ext cx="7315200" cy="3096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609600" indent="-609600"/>
            <a:r>
              <a:rPr lang="zh-CN" altLang="zh-CN" sz="2400" b="1" dirty="0"/>
              <a:t>以下程序段的输出结果是</a:t>
            </a:r>
          </a:p>
          <a:p>
            <a:pPr marL="609600" indent="-609600">
              <a:spcBef>
                <a:spcPct val="45000"/>
              </a:spcBef>
            </a:pPr>
            <a:r>
              <a:rPr lang="zh-CN" altLang="zh-CN" sz="2400" b="1" dirty="0"/>
              <a:t>      </a:t>
            </a: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x</a:t>
            </a:r>
            <a:r>
              <a:rPr lang="zh-CN" altLang="zh-CN" sz="2400" b="1" dirty="0"/>
              <a:t>=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 marL="609600" indent="-609600"/>
            <a:r>
              <a:rPr lang="zh-CN" altLang="zh-CN" sz="2400" b="1" dirty="0"/>
              <a:t>      </a:t>
            </a:r>
            <a:r>
              <a:rPr lang="zh-CN" altLang="zh-CN" sz="2400" b="1" dirty="0">
                <a:latin typeface="Arial" pitchFamily="34" charset="0"/>
              </a:rPr>
              <a:t>do</a:t>
            </a:r>
          </a:p>
          <a:p>
            <a:pPr marL="609600" indent="-609600">
              <a:spcBef>
                <a:spcPct val="0"/>
              </a:spcBef>
            </a:pPr>
            <a:r>
              <a:rPr lang="zh-CN" altLang="zh-CN" sz="2400" b="1" dirty="0"/>
              <a:t>       { </a:t>
            </a:r>
          </a:p>
          <a:p>
            <a:pPr marL="609600" indent="-609600">
              <a:lnSpc>
                <a:spcPct val="90000"/>
              </a:lnSpc>
              <a:spcBef>
                <a:spcPct val="0"/>
              </a:spcBef>
            </a:pPr>
            <a:r>
              <a:rPr lang="zh-CN" altLang="zh-CN" sz="2400" b="1" dirty="0"/>
              <a:t>           </a:t>
            </a:r>
            <a:r>
              <a:rPr lang="zh-CN" altLang="zh-CN" sz="2400" b="1" dirty="0">
                <a:latin typeface="Arial" pitchFamily="34" charset="0"/>
              </a:rPr>
              <a:t>printf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/>
              <a:t>%</a:t>
            </a:r>
            <a:r>
              <a:rPr lang="zh-CN" altLang="zh-CN" sz="2400" b="1" dirty="0">
                <a:latin typeface="Arial" pitchFamily="34" charset="0"/>
              </a:rPr>
              <a:t>3d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x</a:t>
            </a:r>
            <a:r>
              <a:rPr lang="zh-CN" altLang="zh-CN" sz="2400" b="1" dirty="0"/>
              <a:t>-=</a:t>
            </a:r>
            <a:r>
              <a:rPr lang="zh-CN" altLang="zh-CN" sz="2400" b="1" dirty="0">
                <a:latin typeface="Arial" pitchFamily="34" charset="0"/>
              </a:rPr>
              <a:t>2 </a:t>
            </a:r>
            <a:r>
              <a:rPr lang="zh-CN" altLang="zh-CN" sz="2400" b="1" dirty="0">
                <a:latin typeface="Times New Roman" pitchFamily="18" charset="0"/>
              </a:rPr>
              <a:t>) ;</a:t>
            </a:r>
          </a:p>
          <a:p>
            <a:pPr marL="609600" indent="-609600"/>
            <a:r>
              <a:rPr lang="zh-CN" altLang="zh-CN" sz="2400" b="1" dirty="0"/>
              <a:t>       } </a:t>
            </a:r>
            <a:r>
              <a:rPr lang="zh-CN" altLang="zh-CN" sz="2400" b="1" dirty="0">
                <a:latin typeface="Arial" pitchFamily="34" charset="0"/>
              </a:rPr>
              <a:t>while</a:t>
            </a:r>
            <a:r>
              <a:rPr lang="zh-CN" altLang="zh-CN" sz="2400" b="1" dirty="0">
                <a:latin typeface="Times New Roman" pitchFamily="18" charset="0"/>
              </a:rPr>
              <a:t>( !(</a:t>
            </a:r>
            <a:r>
              <a:rPr lang="zh-CN" altLang="zh-CN" sz="2400" b="1" dirty="0"/>
              <a:t>--</a:t>
            </a:r>
            <a:r>
              <a:rPr lang="zh-CN" altLang="zh-CN" sz="2400" b="1" dirty="0">
                <a:latin typeface="Arial" pitchFamily="34" charset="0"/>
              </a:rPr>
              <a:t>x</a:t>
            </a:r>
            <a:r>
              <a:rPr lang="zh-CN" altLang="zh-CN" sz="2400" b="1" dirty="0">
                <a:latin typeface="Times New Roman" pitchFamily="18" charset="0"/>
              </a:rPr>
              <a:t>)) ;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444976" y="4622470"/>
            <a:ext cx="6155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spcBef>
                <a:spcPct val="60000"/>
              </a:spcBef>
            </a:pPr>
            <a:r>
              <a:rPr lang="zh-CN" altLang="zh-CN" sz="2800" b="1" dirty="0"/>
              <a:t>1</a:t>
            </a:r>
            <a:endParaRPr lang="zh-CN" altLang="zh-CN" sz="2800" b="1" dirty="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097216" y="4622470"/>
            <a:ext cx="66160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Arial" pitchFamily="34" charset="0"/>
              </a:rPr>
              <a:t>30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98888" y="5422106"/>
            <a:ext cx="123103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spcBef>
                <a:spcPct val="60000"/>
              </a:spcBef>
            </a:pPr>
            <a:r>
              <a:rPr lang="zh-CN" altLang="zh-CN" sz="2800" b="1" dirty="0"/>
              <a:t>1 </a:t>
            </a:r>
            <a:r>
              <a:rPr lang="en-US" altLang="zh-CN" sz="2800" b="1" dirty="0"/>
              <a:t> </a:t>
            </a:r>
            <a:r>
              <a:rPr lang="zh-CN" altLang="zh-CN" sz="2800" b="1" dirty="0">
                <a:latin typeface="Times New Roman"/>
              </a:rPr>
              <a:t>–</a:t>
            </a:r>
            <a:r>
              <a:rPr lang="zh-CN" altLang="zh-CN" sz="2800" b="1" dirty="0"/>
              <a:t>2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097216" y="5357813"/>
            <a:ext cx="151906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spcBef>
                <a:spcPct val="90000"/>
              </a:spcBef>
            </a:pPr>
            <a:r>
              <a:rPr lang="zh-CN" altLang="zh-CN" sz="2800" b="1" dirty="0"/>
              <a:t>死循环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84513" y="467581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382841" y="468676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84513" y="5486399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382841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7740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01838" y="19051"/>
            <a:ext cx="8393112" cy="989013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z="2400" b="1" dirty="0">
                <a:latin typeface="黑体" pitchFamily="49" charset="-122"/>
              </a:rPr>
              <a:t>  </a:t>
            </a:r>
            <a:r>
              <a:rPr lang="zh-CN" altLang="en-US" sz="2400" b="1" dirty="0">
                <a:latin typeface="黑体" pitchFamily="49" charset="-122"/>
              </a:rPr>
              <a:t>例  </a:t>
            </a:r>
            <a:r>
              <a:rPr lang="zh-CN" altLang="en-US" sz="2400" b="1" dirty="0">
                <a:latin typeface="Times New Roman" pitchFamily="18" charset="0"/>
              </a:rPr>
              <a:t>若我国现有人口</a:t>
            </a:r>
            <a:r>
              <a:rPr lang="en-US" altLang="zh-CN" sz="2400" b="1" dirty="0">
                <a:latin typeface="Times New Roman" pitchFamily="18" charset="0"/>
              </a:rPr>
              <a:t>13</a:t>
            </a:r>
            <a:r>
              <a:rPr lang="zh-CN" altLang="en-US" sz="2400" b="1" dirty="0">
                <a:latin typeface="Times New Roman" pitchFamily="18" charset="0"/>
              </a:rPr>
              <a:t>亿</a:t>
            </a:r>
            <a:r>
              <a:rPr lang="en-US" altLang="zh-CN" sz="2400" b="1" dirty="0">
                <a:latin typeface="Times New Roman" pitchFamily="18" charset="0"/>
              </a:rPr>
              <a:t>,</a:t>
            </a:r>
            <a:r>
              <a:rPr lang="zh-CN" altLang="en-US" sz="2400" b="1" dirty="0">
                <a:latin typeface="Times New Roman" pitchFamily="18" charset="0"/>
              </a:rPr>
              <a:t>设年人口增长率为</a:t>
            </a:r>
            <a:r>
              <a:rPr lang="en-US" altLang="zh-CN" sz="2400" b="1" dirty="0">
                <a:latin typeface="Times New Roman" pitchFamily="18" charset="0"/>
              </a:rPr>
              <a:t>0.5%,</a:t>
            </a:r>
            <a:r>
              <a:rPr lang="zh-CN" altLang="en-US" sz="2400" b="1" dirty="0">
                <a:latin typeface="Times New Roman" pitchFamily="18" charset="0"/>
              </a:rPr>
              <a:t>问多少年我的人口超过</a:t>
            </a:r>
            <a:r>
              <a:rPr lang="en-US" altLang="zh-CN" sz="2400" b="1" dirty="0">
                <a:latin typeface="Times New Roman" pitchFamily="18" charset="0"/>
              </a:rPr>
              <a:t>15</a:t>
            </a:r>
            <a:r>
              <a:rPr lang="zh-CN" altLang="en-US" sz="2400" b="1" dirty="0">
                <a:latin typeface="Times New Roman" pitchFamily="18" charset="0"/>
              </a:rPr>
              <a:t>亿</a:t>
            </a:r>
            <a:r>
              <a:rPr lang="zh-CN" altLang="en-US" sz="2400" dirty="0">
                <a:latin typeface="Courier New" pitchFamily="49" charset="0"/>
              </a:rPr>
              <a:t>。</a:t>
            </a:r>
            <a:endParaRPr lang="zh-CN" altLang="en-US" sz="2400" dirty="0"/>
          </a:p>
        </p:txBody>
      </p:sp>
      <p:sp>
        <p:nvSpPr>
          <p:cNvPr id="265219" name="Rectangle 3"/>
          <p:cNvSpPr>
            <a:spLocks noChangeArrowheads="1"/>
          </p:cNvSpPr>
          <p:nvPr/>
        </p:nvSpPr>
        <p:spPr bwMode="auto">
          <a:xfrm>
            <a:off x="1651000" y="1268761"/>
            <a:ext cx="8890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#include &lt;</a:t>
            </a:r>
            <a:r>
              <a:rPr lang="en-US" altLang="zh-CN" sz="2800" b="1" dirty="0" err="1">
                <a:solidFill>
                  <a:srgbClr val="000000"/>
                </a:solidFill>
                <a:ea typeface="Dotum" pitchFamily="34" charset="-127"/>
              </a:rPr>
              <a:t>stdio.h</a:t>
            </a: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&gt;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main()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{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	int n=0;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	double x=13;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	while(x&lt;15)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	{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		x*=1.005;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		n++;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	}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	</a:t>
            </a:r>
            <a:r>
              <a:rPr lang="en-US" altLang="zh-CN" sz="2800" b="1" dirty="0" err="1">
                <a:solidFill>
                  <a:srgbClr val="000000"/>
                </a:solidFill>
                <a:ea typeface="Dotum" pitchFamily="34" charset="-127"/>
              </a:rPr>
              <a:t>printf</a:t>
            </a: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("</a:t>
            </a:r>
            <a:r>
              <a:rPr lang="zh-CN" altLang="en-US" sz="2800" b="1" dirty="0">
                <a:solidFill>
                  <a:srgbClr val="000000"/>
                </a:solidFill>
                <a:ea typeface="Dotum" pitchFamily="34" charset="-127"/>
              </a:rPr>
              <a:t>经过</a:t>
            </a: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%d</a:t>
            </a:r>
            <a:r>
              <a:rPr lang="zh-CN" altLang="en-US" sz="2800" b="1" dirty="0">
                <a:solidFill>
                  <a:srgbClr val="000000"/>
                </a:solidFill>
                <a:ea typeface="Dotum" pitchFamily="34" charset="-127"/>
              </a:rPr>
              <a:t>年后</a:t>
            </a: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ea typeface="Dotum" pitchFamily="34" charset="-127"/>
              </a:rPr>
              <a:t>人口为</a:t>
            </a: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%f</a:t>
            </a:r>
            <a:r>
              <a:rPr lang="zh-CN" altLang="en-US" sz="2800" b="1" dirty="0">
                <a:solidFill>
                  <a:srgbClr val="000000"/>
                </a:solidFill>
                <a:ea typeface="Dotum" pitchFamily="34" charset="-127"/>
              </a:rPr>
              <a:t>亿</a:t>
            </a: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.\n",</a:t>
            </a:r>
            <a:r>
              <a:rPr lang="en-US" altLang="zh-CN" sz="2800" b="1" dirty="0" err="1">
                <a:solidFill>
                  <a:srgbClr val="000000"/>
                </a:solidFill>
                <a:ea typeface="Dotum" pitchFamily="34" charset="-127"/>
              </a:rPr>
              <a:t>n,x</a:t>
            </a: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);</a:t>
            </a: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ea typeface="Dotum" pitchFamily="34" charset="-127"/>
              </a:rPr>
              <a:t>}</a:t>
            </a:r>
            <a:endParaRPr lang="zh-CN" altLang="zh-CN" sz="2800" b="1" dirty="0">
              <a:solidFill>
                <a:srgbClr val="000000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303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105275" y="149226"/>
            <a:ext cx="5486400" cy="608013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4.</a:t>
            </a:r>
            <a:r>
              <a:rPr lang="zh-CN" altLang="zh-CN" sz="3600" dirty="0">
                <a:latin typeface="楷体_GB2312" pitchFamily="49" charset="-122"/>
              </a:rPr>
              <a:t>3  for </a:t>
            </a:r>
            <a:r>
              <a:rPr lang="zh-CN" altLang="en-US" sz="3600" dirty="0">
                <a:latin typeface="楷体_GB2312" pitchFamily="49" charset="-122"/>
              </a:rPr>
              <a:t>语句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3913" y="1206500"/>
            <a:ext cx="8451850" cy="4497388"/>
          </a:xfrm>
        </p:spPr>
        <p:txBody>
          <a:bodyPr/>
          <a:lstStyle/>
          <a:p>
            <a:pPr marL="261938" indent="-261938" algn="just"/>
            <a:r>
              <a:rPr lang="zh-CN" altLang="en-US" sz="2800" b="1"/>
              <a:t>格式</a:t>
            </a:r>
            <a:r>
              <a:rPr lang="zh-CN" altLang="zh-CN" sz="2800" b="1">
                <a:latin typeface="Times New Roman" pitchFamily="18" charset="0"/>
              </a:rPr>
              <a:t>:</a:t>
            </a:r>
            <a:r>
              <a:rPr lang="zh-CN" altLang="zh-CN" sz="2800" b="1"/>
              <a:t>     </a:t>
            </a:r>
          </a:p>
          <a:p>
            <a:pPr marL="261938" indent="-261938" algn="just">
              <a:spcBef>
                <a:spcPct val="85000"/>
              </a:spcBef>
              <a:buNone/>
            </a:pPr>
            <a:r>
              <a:rPr lang="zh-CN" altLang="zh-CN" sz="2800" b="1"/>
              <a:t>            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for</a:t>
            </a:r>
            <a:r>
              <a:rPr lang="zh-CN" altLang="zh-CN" sz="2800" b="1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zh-CN" altLang="zh-CN" sz="2800" b="1">
                <a:solidFill>
                  <a:schemeClr val="hlink"/>
                </a:solidFill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2800" b="1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zh-CN" altLang="en-US" sz="2800" b="1">
                <a:solidFill>
                  <a:schemeClr val="hlink"/>
                </a:solidFill>
              </a:rPr>
              <a:t>表达式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1</a:t>
            </a:r>
            <a:r>
              <a:rPr lang="zh-CN" altLang="zh-CN" sz="2800" b="1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zh-CN" altLang="zh-CN" sz="2800" b="1">
                <a:solidFill>
                  <a:schemeClr val="bg2"/>
                </a:solidFill>
                <a:latin typeface="Times New Roman" pitchFamily="18" charset="0"/>
                <a:cs typeface="Courier New" pitchFamily="49" charset="0"/>
              </a:rPr>
              <a:t>;</a:t>
            </a:r>
            <a:r>
              <a:rPr lang="zh-CN" altLang="zh-CN" sz="2800" b="1">
                <a:solidFill>
                  <a:schemeClr val="hlink"/>
                </a:solidFill>
                <a:cs typeface="Courier New" pitchFamily="49" charset="0"/>
              </a:rPr>
              <a:t>  </a:t>
            </a:r>
            <a:r>
              <a:rPr lang="zh-CN" altLang="en-US" sz="2800" b="1">
                <a:solidFill>
                  <a:schemeClr val="hlink"/>
                </a:solidFill>
              </a:rPr>
              <a:t>表达式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2</a:t>
            </a:r>
            <a:r>
              <a:rPr lang="zh-CN" altLang="zh-CN" sz="2800" b="1">
                <a:solidFill>
                  <a:schemeClr val="bg2"/>
                </a:solidFill>
                <a:cs typeface="Courier New" pitchFamily="49" charset="0"/>
              </a:rPr>
              <a:t> </a:t>
            </a:r>
            <a:r>
              <a:rPr lang="zh-CN" altLang="zh-CN" sz="2800" b="1">
                <a:solidFill>
                  <a:schemeClr val="bg2"/>
                </a:solidFill>
                <a:latin typeface="Times New Roman" pitchFamily="18" charset="0"/>
                <a:cs typeface="Courier New" pitchFamily="49" charset="0"/>
              </a:rPr>
              <a:t>;</a:t>
            </a:r>
            <a:r>
              <a:rPr lang="zh-CN" altLang="zh-CN" sz="2800" b="1">
                <a:solidFill>
                  <a:schemeClr val="hlink"/>
                </a:solidFill>
                <a:cs typeface="Courier New" pitchFamily="49" charset="0"/>
              </a:rPr>
              <a:t>  </a:t>
            </a:r>
            <a:r>
              <a:rPr lang="zh-CN" altLang="en-US" sz="2800" b="1">
                <a:solidFill>
                  <a:schemeClr val="hlink"/>
                </a:solidFill>
              </a:rPr>
              <a:t>表达式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3</a:t>
            </a:r>
            <a:r>
              <a:rPr lang="zh-CN" altLang="zh-CN" sz="2800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zh-CN" altLang="zh-CN" sz="2800" b="1">
                <a:solidFill>
                  <a:schemeClr val="hlink"/>
                </a:solidFill>
                <a:latin typeface="Times New Roman" pitchFamily="18" charset="0"/>
                <a:cs typeface="Courier New" pitchFamily="49" charset="0"/>
              </a:rPr>
              <a:t>)</a:t>
            </a:r>
            <a:endParaRPr lang="zh-CN" altLang="zh-CN" sz="2800">
              <a:solidFill>
                <a:schemeClr val="hlink"/>
              </a:solidFill>
              <a:latin typeface="Times New Roman" pitchFamily="18" charset="0"/>
            </a:endParaRPr>
          </a:p>
          <a:p>
            <a:pPr marL="261938" indent="-261938" algn="just">
              <a:spcBef>
                <a:spcPct val="30000"/>
              </a:spcBef>
              <a:buNone/>
            </a:pPr>
            <a:r>
              <a:rPr lang="zh-CN" altLang="zh-CN" sz="2800">
                <a:cs typeface="Courier New" pitchFamily="49" charset="0"/>
              </a:rPr>
              <a:t>        </a:t>
            </a:r>
            <a:r>
              <a:rPr lang="zh-CN" altLang="zh-CN" sz="2800" b="1">
                <a:cs typeface="Courier New" pitchFamily="49" charset="0"/>
              </a:rPr>
              <a:t>                        </a:t>
            </a:r>
            <a:r>
              <a:rPr lang="zh-CN" altLang="en-US" sz="2800" b="1">
                <a:solidFill>
                  <a:schemeClr val="bg2"/>
                </a:solidFill>
                <a:latin typeface="黑体" pitchFamily="49" charset="-122"/>
              </a:rPr>
              <a:t>循环体语句</a:t>
            </a:r>
            <a:r>
              <a:rPr lang="zh-CN" altLang="en-US" sz="2800" b="1">
                <a:solidFill>
                  <a:schemeClr val="hlink"/>
                </a:solidFill>
                <a:latin typeface="黑体" pitchFamily="49" charset="-122"/>
              </a:rPr>
              <a:t>  </a:t>
            </a:r>
          </a:p>
          <a:p>
            <a:pPr marL="261938" indent="-261938" algn="just">
              <a:spcBef>
                <a:spcPct val="90000"/>
              </a:spcBef>
            </a:pPr>
            <a:r>
              <a:rPr lang="zh-CN" altLang="en-US" sz="2800" b="1"/>
              <a:t>例</a:t>
            </a:r>
            <a:r>
              <a:rPr lang="zh-CN" altLang="zh-CN" sz="2800" b="1">
                <a:latin typeface="Times New Roman" pitchFamily="18" charset="0"/>
              </a:rPr>
              <a:t>:</a:t>
            </a:r>
            <a:r>
              <a:rPr lang="zh-CN" altLang="zh-CN" sz="2800" b="1"/>
              <a:t> </a:t>
            </a:r>
            <a:r>
              <a:rPr lang="zh-CN" altLang="en-US" sz="2800" b="1"/>
              <a:t>求</a:t>
            </a:r>
            <a:r>
              <a:rPr lang="zh-CN" altLang="zh-CN" sz="2800" b="1">
                <a:latin typeface="Times New Roman" pitchFamily="18" charset="0"/>
              </a:rPr>
              <a:t>1~100</a:t>
            </a:r>
            <a:r>
              <a:rPr lang="zh-CN" altLang="en-US" sz="2800" b="1"/>
              <a:t>的和</a:t>
            </a:r>
          </a:p>
          <a:p>
            <a:pPr marL="261938" indent="-261938" algn="just">
              <a:spcBef>
                <a:spcPct val="35000"/>
              </a:spcBef>
              <a:buNone/>
            </a:pPr>
            <a:r>
              <a:rPr lang="zh-CN" altLang="en-US" sz="2800" b="1"/>
              <a:t>                </a:t>
            </a:r>
          </a:p>
        </p:txBody>
      </p:sp>
      <p:sp>
        <p:nvSpPr>
          <p:cNvPr id="269316" name="Text Box 4"/>
          <p:cNvSpPr txBox="1">
            <a:spLocks noChangeArrowheads="1"/>
          </p:cNvSpPr>
          <p:nvPr/>
        </p:nvSpPr>
        <p:spPr bwMode="auto">
          <a:xfrm>
            <a:off x="3430588" y="1527175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CC00FF"/>
                </a:solidFill>
                <a:ea typeface="楷体_GB2312" pitchFamily="49" charset="-122"/>
              </a:rPr>
              <a:t>循环变量赋初值</a:t>
            </a:r>
          </a:p>
        </p:txBody>
      </p:sp>
      <p:sp>
        <p:nvSpPr>
          <p:cNvPr id="269317" name="AutoShape 5"/>
          <p:cNvSpPr>
            <a:spLocks noChangeArrowheads="1"/>
          </p:cNvSpPr>
          <p:nvPr/>
        </p:nvSpPr>
        <p:spPr bwMode="auto">
          <a:xfrm>
            <a:off x="5756275" y="1501775"/>
            <a:ext cx="1714500" cy="510778"/>
          </a:xfrm>
          <a:prstGeom prst="wedgeRoundRectCallout">
            <a:avLst>
              <a:gd name="adj1" fmla="val -32778"/>
              <a:gd name="adj2" fmla="val 84968"/>
              <a:gd name="adj3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CC00FF"/>
                </a:solidFill>
                <a:ea typeface="楷体_GB2312" pitchFamily="49" charset="-122"/>
              </a:rPr>
              <a:t>循环条件</a:t>
            </a:r>
          </a:p>
        </p:txBody>
      </p:sp>
      <p:sp>
        <p:nvSpPr>
          <p:cNvPr id="269318" name="AutoShape 6"/>
          <p:cNvSpPr>
            <a:spLocks noChangeArrowheads="1"/>
          </p:cNvSpPr>
          <p:nvPr/>
        </p:nvSpPr>
        <p:spPr bwMode="auto">
          <a:xfrm>
            <a:off x="7350125" y="1514475"/>
            <a:ext cx="2057400" cy="457200"/>
          </a:xfrm>
          <a:prstGeom prst="wedgeRectCallout">
            <a:avLst>
              <a:gd name="adj1" fmla="val -34338"/>
              <a:gd name="adj2" fmla="val 365278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CC00FF"/>
                </a:solidFill>
                <a:ea typeface="楷体_GB2312" pitchFamily="49" charset="-122"/>
              </a:rPr>
              <a:t>修改循环变量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69319" name="Rectangle 7"/>
          <p:cNvSpPr>
            <a:spLocks noChangeArrowheads="1"/>
          </p:cNvSpPr>
          <p:nvPr/>
        </p:nvSpPr>
        <p:spPr bwMode="auto">
          <a:xfrm>
            <a:off x="2384426" y="4189414"/>
            <a:ext cx="4092575" cy="1074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for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 </a:t>
            </a:r>
            <a:r>
              <a:rPr lang="zh-CN" altLang="zh-CN" sz="2800" b="1">
                <a:solidFill>
                  <a:srgbClr val="000000"/>
                </a:solidFill>
              </a:rPr>
              <a:t>i=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800" b="1">
                <a:solidFill>
                  <a:srgbClr val="000000"/>
                </a:solidFill>
              </a:rPr>
              <a:t> i</a:t>
            </a:r>
            <a:r>
              <a:rPr lang="zh-CN" altLang="zh-CN" sz="2800">
                <a:solidFill>
                  <a:srgbClr val="000000"/>
                </a:solidFill>
              </a:rPr>
              <a:t>&lt;</a:t>
            </a:r>
            <a:r>
              <a:rPr lang="zh-CN" altLang="zh-CN" sz="2800" b="1">
                <a:solidFill>
                  <a:srgbClr val="000000"/>
                </a:solidFill>
              </a:rPr>
              <a:t>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100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800" b="1">
                <a:solidFill>
                  <a:srgbClr val="000000"/>
                </a:solidFill>
              </a:rPr>
              <a:t> i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++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Times New Roman" pitchFamily="18" charset="0"/>
            </a:endParaRP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>
                <a:solidFill>
                  <a:srgbClr val="000000"/>
                </a:solidFill>
                <a:latin typeface="黑体" pitchFamily="49" charset="-122"/>
              </a:rPr>
              <a:t>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sum</a:t>
            </a:r>
            <a:r>
              <a:rPr lang="zh-CN" altLang="zh-CN" sz="2800" b="1">
                <a:solidFill>
                  <a:srgbClr val="000000"/>
                </a:solidFill>
              </a:rPr>
              <a:t>+=i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</p:txBody>
      </p:sp>
      <p:sp>
        <p:nvSpPr>
          <p:cNvPr id="269320" name="Rectangle 8"/>
          <p:cNvSpPr>
            <a:spLocks noChangeArrowheads="1"/>
          </p:cNvSpPr>
          <p:nvPr/>
        </p:nvSpPr>
        <p:spPr bwMode="auto">
          <a:xfrm>
            <a:off x="6643688" y="4192589"/>
            <a:ext cx="3649662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  i=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ea typeface="宋体" pitchFamily="2" charset="-122"/>
              </a:rPr>
              <a:t>；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while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(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i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&lt;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100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)</a:t>
            </a:r>
            <a:endParaRPr lang="zh-CN" altLang="zh-CN" sz="28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sum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+=i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++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Courier New" pitchFamily="49" charset="0"/>
              </a:rPr>
              <a:t>; 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  <a:cs typeface="Courier New" pitchFamily="49" charset="0"/>
              </a:rPr>
              <a:t> </a:t>
            </a:r>
            <a:endParaRPr lang="zh-CN" altLang="zh-CN" sz="2800" b="1">
              <a:solidFill>
                <a:srgbClr val="000000"/>
              </a:solidFill>
              <a:latin typeface="Arial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69321" name="AutoShape 9"/>
          <p:cNvSpPr>
            <a:spLocks noChangeArrowheads="1"/>
          </p:cNvSpPr>
          <p:nvPr/>
        </p:nvSpPr>
        <p:spPr bwMode="auto">
          <a:xfrm>
            <a:off x="6338888" y="4719638"/>
            <a:ext cx="609600" cy="227012"/>
          </a:xfrm>
          <a:prstGeom prst="rightArrow">
            <a:avLst>
              <a:gd name="adj1" fmla="val 50000"/>
              <a:gd name="adj2" fmla="val 67133"/>
            </a:avLst>
          </a:prstGeom>
          <a:noFill/>
          <a:ln w="1905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69322" name="AutoShape 1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9644064" y="6354763"/>
            <a:ext cx="358775" cy="290512"/>
          </a:xfrm>
          <a:prstGeom prst="actionButtonForwardNext">
            <a:avLst/>
          </a:prstGeom>
          <a:noFill/>
          <a:ln w="0" cmpd="sng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69323" name="Text Box 11"/>
          <p:cNvSpPr txBox="1">
            <a:spLocks noChangeArrowheads="1"/>
          </p:cNvSpPr>
          <p:nvPr/>
        </p:nvSpPr>
        <p:spPr bwMode="auto">
          <a:xfrm>
            <a:off x="8959850" y="2954338"/>
            <a:ext cx="1231900" cy="412750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8280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没有分号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269324" name="Line 12"/>
          <p:cNvSpPr>
            <a:spLocks noChangeShapeType="1"/>
          </p:cNvSpPr>
          <p:nvPr/>
        </p:nvSpPr>
        <p:spPr bwMode="auto">
          <a:xfrm flipH="1" flipV="1">
            <a:off x="8888413" y="2395538"/>
            <a:ext cx="722312" cy="506412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69325" name="AutoShape 1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0002838" y="6351589"/>
            <a:ext cx="419100" cy="287337"/>
          </a:xfrm>
          <a:prstGeom prst="actionButtonEnd">
            <a:avLst/>
          </a:prstGeom>
          <a:noFill/>
          <a:ln w="0" cmpd="sng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261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6" grpId="0" autoUpdateAnimBg="0"/>
      <p:bldP spid="269317" grpId="0" autoUpdateAnimBg="0"/>
      <p:bldP spid="269318" grpId="0" autoUpdateAnimBg="0"/>
      <p:bldP spid="269320" grpId="0" autoUpdateAnimBg="0"/>
      <p:bldP spid="2693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781512"/>
              </p:ext>
            </p:extLst>
          </p:nvPr>
        </p:nvGraphicFramePr>
        <p:xfrm>
          <a:off x="1524000" y="0"/>
          <a:ext cx="9144000" cy="687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Slide" r:id="rId3" imgW="4571981" imgH="3429123" progId="PowerPoint.Slide.8">
                  <p:embed/>
                </p:oleObj>
              </mc:Choice>
              <mc:Fallback>
                <p:oleObj name="Slide" r:id="rId3" imgW="4571981" imgH="3429123" progId="PowerPoint.Slid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687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39" name="Rectangle 3"/>
          <p:cNvSpPr>
            <a:spLocks noGrp="1" noChangeArrowheads="1"/>
          </p:cNvSpPr>
          <p:nvPr>
            <p:ph type="title"/>
          </p:nvPr>
        </p:nvSpPr>
        <p:spPr>
          <a:xfrm>
            <a:off x="4224338" y="333375"/>
            <a:ext cx="4259262" cy="711200"/>
          </a:xfrm>
          <a:noFill/>
          <a:ln/>
        </p:spPr>
        <p:txBody>
          <a:bodyPr/>
          <a:lstStyle/>
          <a:p>
            <a:r>
              <a:rPr lang="zh-CN" altLang="zh-CN" sz="3600" b="1" dirty="0">
                <a:solidFill>
                  <a:schemeClr val="accent2"/>
                </a:solidFill>
                <a:latin typeface="宋体" pitchFamily="2" charset="-122"/>
              </a:rPr>
              <a:t>for </a:t>
            </a:r>
            <a:r>
              <a:rPr lang="zh-CN" altLang="en-US" sz="3600" b="1" dirty="0">
                <a:solidFill>
                  <a:schemeClr val="accent2"/>
                </a:solidFill>
                <a:latin typeface="宋体" pitchFamily="2" charset="-122"/>
              </a:rPr>
              <a:t>语句</a:t>
            </a:r>
          </a:p>
        </p:txBody>
      </p:sp>
      <p:sp>
        <p:nvSpPr>
          <p:cNvPr id="270340" name="Text Box 4"/>
          <p:cNvSpPr txBox="1">
            <a:spLocks noChangeArrowheads="1"/>
          </p:cNvSpPr>
          <p:nvPr/>
        </p:nvSpPr>
        <p:spPr bwMode="auto">
          <a:xfrm>
            <a:off x="5738813" y="5929314"/>
            <a:ext cx="19415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1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FFFF"/>
                </a:solidFill>
                <a:latin typeface="Times New Roman" pitchFamily="18" charset="0"/>
                <a:ea typeface="黑体" pitchFamily="49" charset="-122"/>
              </a:rPr>
              <a:t>for</a:t>
            </a:r>
            <a:r>
              <a:rPr lang="zh-CN" altLang="en-US" sz="2400" b="1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语句的下一条语句</a:t>
            </a:r>
          </a:p>
        </p:txBody>
      </p:sp>
    </p:spTree>
    <p:extLst>
      <p:ext uri="{BB962C8B-B14F-4D97-AF65-F5344CB8AC3E}">
        <p14:creationId xmlns:p14="http://schemas.microsoft.com/office/powerpoint/2010/main" val="3573245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022726" y="69850"/>
            <a:ext cx="4537075" cy="738188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4.</a:t>
            </a:r>
            <a:r>
              <a:rPr lang="zh-CN" altLang="zh-CN" sz="3600" dirty="0">
                <a:latin typeface="楷体_GB2312" pitchFamily="49" charset="-122"/>
              </a:rPr>
              <a:t>3  for </a:t>
            </a:r>
            <a:r>
              <a:rPr lang="zh-CN" altLang="en-US" sz="3600" dirty="0">
                <a:latin typeface="楷体_GB2312" pitchFamily="49" charset="-122"/>
              </a:rPr>
              <a:t>语句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3925" y="1289050"/>
            <a:ext cx="7772400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800" b="1" dirty="0"/>
              <a:t>#</a:t>
            </a:r>
            <a:r>
              <a:rPr lang="zh-CN" altLang="zh-CN" sz="2800" b="1" dirty="0">
                <a:latin typeface="Arial" pitchFamily="34" charset="0"/>
              </a:rPr>
              <a:t>include</a:t>
            </a:r>
            <a:r>
              <a:rPr lang="zh-CN" altLang="zh-CN" sz="2800" b="1" dirty="0"/>
              <a:t> </a:t>
            </a:r>
            <a:r>
              <a:rPr lang="zh-CN" altLang="zh-CN" sz="2800" dirty="0"/>
              <a:t>&lt;</a:t>
            </a:r>
            <a:r>
              <a:rPr lang="zh-CN" altLang="zh-CN" sz="2800" b="1" dirty="0">
                <a:latin typeface="Arial" pitchFamily="34" charset="0"/>
              </a:rPr>
              <a:t>stdio</a:t>
            </a:r>
            <a:r>
              <a:rPr lang="zh-CN" altLang="zh-CN" sz="2800" b="1" dirty="0">
                <a:latin typeface="Times New Roman" pitchFamily="18" charset="0"/>
              </a:rPr>
              <a:t>.</a:t>
            </a:r>
            <a:r>
              <a:rPr lang="zh-CN" altLang="zh-CN" sz="2800" b="1" dirty="0">
                <a:latin typeface="Arial" pitchFamily="34" charset="0"/>
              </a:rPr>
              <a:t>h</a:t>
            </a:r>
            <a:r>
              <a:rPr lang="zh-CN" altLang="zh-CN" sz="2800" dirty="0"/>
              <a:t>&gt;</a:t>
            </a:r>
          </a:p>
          <a:p>
            <a:pPr>
              <a:buFont typeface="Wingdings" pitchFamily="2" charset="2"/>
              <a:buNone/>
            </a:pPr>
            <a:r>
              <a:rPr lang="zh-CN" altLang="zh-CN" sz="2800" b="1" dirty="0">
                <a:latin typeface="Arial" pitchFamily="34" charset="0"/>
              </a:rPr>
              <a:t>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  <a:r>
              <a:rPr lang="zh-CN" altLang="zh-CN" sz="2800" b="1" dirty="0"/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/>
              <a:t>{  </a:t>
            </a:r>
            <a:r>
              <a:rPr lang="zh-CN" altLang="zh-CN" sz="2800" b="1" dirty="0">
                <a:latin typeface="Arial" pitchFamily="34" charset="0"/>
              </a:rPr>
              <a:t>int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5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zh-CN" altLang="zh-CN" sz="2800" b="1" dirty="0"/>
              <a:t>    </a:t>
            </a:r>
            <a:r>
              <a:rPr lang="zh-CN" altLang="zh-CN" sz="2800" b="1" dirty="0">
                <a:latin typeface="Arial" pitchFamily="34" charset="0"/>
              </a:rPr>
              <a:t>for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b="1" dirty="0"/>
              <a:t> = </a:t>
            </a:r>
            <a:r>
              <a:rPr lang="zh-CN" altLang="zh-CN" sz="2800" b="1" dirty="0">
                <a:latin typeface="Arial" pitchFamily="34" charset="0"/>
              </a:rPr>
              <a:t>1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i 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= </a:t>
            </a:r>
            <a:r>
              <a:rPr lang="zh-CN" altLang="zh-CN" sz="2800" b="1" dirty="0">
                <a:latin typeface="Arial" pitchFamily="34" charset="0"/>
              </a:rPr>
              <a:t>10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b="1" dirty="0"/>
              <a:t>++ 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zh-CN" sz="2800" b="1" dirty="0"/>
              <a:t>      </a:t>
            </a:r>
            <a:r>
              <a:rPr lang="zh-CN" altLang="zh-CN" sz="2800" b="1" dirty="0">
                <a:latin typeface="Arial" pitchFamily="34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%</a:t>
            </a:r>
            <a:r>
              <a:rPr lang="zh-CN" altLang="zh-CN" sz="2800" b="1" dirty="0">
                <a:latin typeface="Arial" pitchFamily="34" charset="0"/>
              </a:rPr>
              <a:t>d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zh-CN" altLang="zh-CN" sz="2800" b="1" dirty="0"/>
              <a:t>}</a:t>
            </a:r>
            <a:r>
              <a:rPr lang="zh-CN" altLang="zh-CN" sz="2800" dirty="0"/>
              <a:t> </a:t>
            </a:r>
          </a:p>
        </p:txBody>
      </p:sp>
      <p:sp>
        <p:nvSpPr>
          <p:cNvPr id="271364" name="Rectangle 4"/>
          <p:cNvSpPr>
            <a:spLocks noChangeArrowheads="1"/>
          </p:cNvSpPr>
          <p:nvPr/>
        </p:nvSpPr>
        <p:spPr bwMode="auto">
          <a:xfrm>
            <a:off x="2911475" y="5407026"/>
            <a:ext cx="4610100" cy="473075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b="1">
                <a:solidFill>
                  <a:srgbClr val="FFFFFF"/>
                </a:solidFill>
                <a:ea typeface="宋体" pitchFamily="2" charset="-122"/>
              </a:rPr>
              <a:t>1  2  3  4  5  6  7  8  9  10</a:t>
            </a: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1365" name="Line 5"/>
          <p:cNvSpPr>
            <a:spLocks noChangeShapeType="1"/>
          </p:cNvSpPr>
          <p:nvPr/>
        </p:nvSpPr>
        <p:spPr bwMode="auto">
          <a:xfrm>
            <a:off x="3487739" y="3563939"/>
            <a:ext cx="822325" cy="9525"/>
          </a:xfrm>
          <a:prstGeom prst="line">
            <a:avLst/>
          </a:prstGeom>
          <a:noFill/>
          <a:ln w="38100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1366" name="Line 6"/>
          <p:cNvSpPr>
            <a:spLocks noChangeShapeType="1"/>
          </p:cNvSpPr>
          <p:nvPr/>
        </p:nvSpPr>
        <p:spPr bwMode="auto">
          <a:xfrm>
            <a:off x="4656138" y="3535363"/>
            <a:ext cx="1295400" cy="0"/>
          </a:xfrm>
          <a:prstGeom prst="line">
            <a:avLst/>
          </a:prstGeom>
          <a:noFill/>
          <a:ln w="38100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1367" name="Line 7"/>
          <p:cNvSpPr>
            <a:spLocks noChangeShapeType="1"/>
          </p:cNvSpPr>
          <p:nvPr/>
        </p:nvSpPr>
        <p:spPr bwMode="auto">
          <a:xfrm>
            <a:off x="6330950" y="3521075"/>
            <a:ext cx="719138" cy="0"/>
          </a:xfrm>
          <a:prstGeom prst="line">
            <a:avLst/>
          </a:prstGeom>
          <a:noFill/>
          <a:ln w="38100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1368" name="Text Box 8"/>
          <p:cNvSpPr txBox="1">
            <a:spLocks noChangeArrowheads="1"/>
          </p:cNvSpPr>
          <p:nvPr/>
        </p:nvSpPr>
        <p:spPr bwMode="auto">
          <a:xfrm>
            <a:off x="5591175" y="4529138"/>
            <a:ext cx="1385888" cy="417512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576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循环条件</a:t>
            </a:r>
            <a:endParaRPr lang="zh-CN" altLang="en-US" sz="2000">
              <a:solidFill>
                <a:srgbClr val="000000"/>
              </a:solidFill>
              <a:latin typeface="黑体" pitchFamily="49" charset="-122"/>
            </a:endParaRPr>
          </a:p>
        </p:txBody>
      </p:sp>
      <p:sp>
        <p:nvSpPr>
          <p:cNvPr id="271369" name="Line 9"/>
          <p:cNvSpPr>
            <a:spLocks noChangeShapeType="1"/>
          </p:cNvSpPr>
          <p:nvPr/>
        </p:nvSpPr>
        <p:spPr bwMode="auto">
          <a:xfrm flipH="1" flipV="1">
            <a:off x="5864226" y="3606800"/>
            <a:ext cx="403225" cy="865188"/>
          </a:xfrm>
          <a:prstGeom prst="line">
            <a:avLst/>
          </a:prstGeom>
          <a:noFill/>
          <a:ln w="1587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1370" name="Text Box 10"/>
          <p:cNvSpPr txBox="1">
            <a:spLocks noChangeArrowheads="1"/>
          </p:cNvSpPr>
          <p:nvPr/>
        </p:nvSpPr>
        <p:spPr bwMode="auto">
          <a:xfrm>
            <a:off x="7318375" y="4486276"/>
            <a:ext cx="1803400" cy="417513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576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控制变量增</a:t>
            </a:r>
            <a:r>
              <a:rPr lang="zh-CN" altLang="zh-CN" sz="2000" b="1">
                <a:solidFill>
                  <a:srgbClr val="000000"/>
                </a:solidFill>
              </a:rPr>
              <a:t>1</a:t>
            </a:r>
            <a:endParaRPr lang="zh-CN" altLang="zh-CN" sz="2000">
              <a:solidFill>
                <a:srgbClr val="000000"/>
              </a:solidFill>
            </a:endParaRPr>
          </a:p>
        </p:txBody>
      </p:sp>
      <p:sp>
        <p:nvSpPr>
          <p:cNvPr id="271371" name="Line 11"/>
          <p:cNvSpPr>
            <a:spLocks noChangeShapeType="1"/>
          </p:cNvSpPr>
          <p:nvPr/>
        </p:nvSpPr>
        <p:spPr bwMode="auto">
          <a:xfrm flipH="1" flipV="1">
            <a:off x="6943726" y="3606800"/>
            <a:ext cx="504825" cy="865188"/>
          </a:xfrm>
          <a:prstGeom prst="line">
            <a:avLst/>
          </a:prstGeom>
          <a:noFill/>
          <a:ln w="1587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1372" name="Text Box 12"/>
          <p:cNvSpPr txBox="1">
            <a:spLocks noChangeArrowheads="1"/>
          </p:cNvSpPr>
          <p:nvPr/>
        </p:nvSpPr>
        <p:spPr bwMode="auto">
          <a:xfrm>
            <a:off x="5359401" y="2024063"/>
            <a:ext cx="2911475" cy="417512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576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黑体" pitchFamily="49" charset="-122"/>
              </a:rPr>
              <a:t>对控制变量进行初始化</a:t>
            </a:r>
            <a:endParaRPr lang="zh-CN" altLang="en-US" sz="2000">
              <a:solidFill>
                <a:srgbClr val="000000"/>
              </a:solidFill>
              <a:latin typeface="黑体" pitchFamily="49" charset="-122"/>
            </a:endParaRPr>
          </a:p>
        </p:txBody>
      </p:sp>
      <p:sp>
        <p:nvSpPr>
          <p:cNvPr id="271373" name="Line 13"/>
          <p:cNvSpPr>
            <a:spLocks noChangeShapeType="1"/>
          </p:cNvSpPr>
          <p:nvPr/>
        </p:nvSpPr>
        <p:spPr bwMode="auto">
          <a:xfrm flipH="1">
            <a:off x="4000500" y="2311401"/>
            <a:ext cx="1358900" cy="773113"/>
          </a:xfrm>
          <a:prstGeom prst="line">
            <a:avLst/>
          </a:prstGeom>
          <a:noFill/>
          <a:ln w="1587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1374" name="AutoShape 1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31963" y="865189"/>
            <a:ext cx="360362" cy="217487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0121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221163" y="188914"/>
            <a:ext cx="5249862" cy="738187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3  for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语句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9475" y="1612901"/>
            <a:ext cx="8269288" cy="2752203"/>
          </a:xfrm>
        </p:spPr>
        <p:txBody>
          <a:bodyPr/>
          <a:lstStyle/>
          <a:p>
            <a:pPr marL="269875" indent="-269875">
              <a:spcBef>
                <a:spcPct val="75000"/>
              </a:spcBef>
              <a:buClr>
                <a:srgbClr val="009900"/>
              </a:buClr>
              <a:buSzPct val="45000"/>
              <a:buFont typeface="Wingdings" pitchFamily="2" charset="2"/>
              <a:buChar char="l"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特点：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先判断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,  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再执行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en-US" altLang="zh-CN" sz="2800" b="1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en-US" sz="2800" b="1" dirty="0">
                <a:latin typeface="Times New Roman" pitchFamily="18" charset="0"/>
                <a:ea typeface="黑体" pitchFamily="49" charset="-122"/>
              </a:rPr>
              <a:t>当型循环</a:t>
            </a:r>
            <a:r>
              <a:rPr lang="en-US" altLang="zh-CN" sz="2800" b="1" dirty="0"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有可能一次也不执行。</a:t>
            </a:r>
          </a:p>
          <a:p>
            <a:pPr marL="269875" indent="-269875">
              <a:spcBef>
                <a:spcPct val="95000"/>
              </a:spcBef>
              <a:buClr>
                <a:srgbClr val="009900"/>
              </a:buClr>
              <a:buSzPct val="85000"/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    如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x</a:t>
            </a:r>
            <a:r>
              <a:rPr lang="zh-CN" altLang="zh-CN" sz="2800" b="1" dirty="0">
                <a:ea typeface="黑体" pitchFamily="49" charset="-122"/>
              </a:rPr>
              <a:t>=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10</a:t>
            </a:r>
            <a:r>
              <a:rPr lang="zh-CN" altLang="zh-CN" sz="2800" b="1" dirty="0">
                <a:ea typeface="黑体" pitchFamily="49" charset="-122"/>
              </a:rPr>
              <a:t> 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;</a:t>
            </a:r>
          </a:p>
          <a:p>
            <a:pPr marL="269875" indent="-269875"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 dirty="0">
                <a:ea typeface="黑体" pitchFamily="49" charset="-122"/>
              </a:rPr>
              <a:t>             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for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(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y</a:t>
            </a:r>
            <a:r>
              <a:rPr lang="zh-CN" altLang="zh-CN" sz="2800" b="1" dirty="0">
                <a:ea typeface="黑体" pitchFamily="49" charset="-122"/>
              </a:rPr>
              <a:t>=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10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;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y</a:t>
            </a:r>
            <a:r>
              <a:rPr lang="zh-CN" altLang="zh-CN" sz="2800" b="1" dirty="0">
                <a:ea typeface="黑体" pitchFamily="49" charset="-122"/>
              </a:rPr>
              <a:t> !=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x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;  </a:t>
            </a:r>
            <a:r>
              <a:rPr lang="zh-CN" altLang="zh-CN" sz="2800" b="1" dirty="0">
                <a:ea typeface="黑体" pitchFamily="49" charset="-122"/>
              </a:rPr>
              <a:t>++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y 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)</a:t>
            </a:r>
          </a:p>
          <a:p>
            <a:pPr marL="269875" indent="-269875"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 dirty="0">
                <a:ea typeface="黑体" pitchFamily="49" charset="-122"/>
              </a:rPr>
              <a:t>                 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printf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(“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%d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” ,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y 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) ;</a:t>
            </a:r>
          </a:p>
          <a:p>
            <a:pPr marL="269875" indent="-269875">
              <a:buNone/>
            </a:pPr>
            <a:endParaRPr lang="zh-CN" altLang="zh-CN" sz="280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6C1115-B048-4860-92B8-7B91FFA7F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5222" y="5050904"/>
            <a:ext cx="2938413" cy="64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69875" indent="-269875">
              <a:buFont typeface="Wingdings" pitchFamily="2" charset="2"/>
              <a:buNone/>
            </a:pP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49" charset="-122"/>
              </a:rPr>
              <a:t>无输出</a:t>
            </a: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49" charset="-122"/>
              </a:rPr>
              <a:t>!</a:t>
            </a:r>
            <a:endParaRPr lang="zh-CN" altLang="zh-CN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459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71700" y="46039"/>
            <a:ext cx="5486400" cy="750887"/>
          </a:xfrm>
        </p:spPr>
        <p:txBody>
          <a:bodyPr/>
          <a:lstStyle/>
          <a:p>
            <a:r>
              <a:rPr lang="zh-CN" altLang="zh-CN" sz="3200">
                <a:solidFill>
                  <a:srgbClr val="002EC2"/>
                </a:solidFill>
                <a:latin typeface="楷体_GB2312" pitchFamily="49" charset="-122"/>
              </a:rPr>
              <a:t> </a:t>
            </a:r>
            <a:r>
              <a:rPr lang="zh-CN" altLang="zh-CN" sz="3200">
                <a:latin typeface="楷体_GB2312" pitchFamily="49" charset="-122"/>
              </a:rPr>
              <a:t>for</a:t>
            </a:r>
            <a:r>
              <a:rPr lang="zh-CN" altLang="en-US" sz="3200">
                <a:latin typeface="楷体_GB2312" pitchFamily="49" charset="-122"/>
              </a:rPr>
              <a:t>语句的几种格式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0881" y="1340768"/>
            <a:ext cx="7653511" cy="4542059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Times New Roman" pitchFamily="18" charset="0"/>
              </a:rPr>
              <a:t>(1)</a:t>
            </a:r>
            <a:r>
              <a:rPr lang="zh-CN" altLang="en-US" sz="2400" b="1" dirty="0">
                <a:latin typeface="黑体" pitchFamily="49" charset="-122"/>
              </a:rPr>
              <a:t>表达式</a:t>
            </a:r>
            <a:r>
              <a:rPr lang="zh-CN" altLang="zh-CN" sz="2400" b="1" dirty="0">
                <a:solidFill>
                  <a:schemeClr val="hlink"/>
                </a:solidFill>
                <a:latin typeface="Times New Roman" pitchFamily="18" charset="0"/>
                <a:ea typeface="Gulim" pitchFamily="34" charset="-127"/>
              </a:rPr>
              <a:t>1</a:t>
            </a:r>
            <a:r>
              <a:rPr lang="zh-CN" altLang="en-US" sz="2400" b="1" dirty="0">
                <a:latin typeface="黑体" pitchFamily="49" charset="-122"/>
              </a:rPr>
              <a:t>可以省略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/>
              <a:t>此时</a:t>
            </a:r>
            <a:r>
              <a:rPr lang="zh-CN" altLang="en-US" sz="2400" b="1" dirty="0">
                <a:latin typeface="黑体" pitchFamily="49" charset="-122"/>
              </a:rPr>
              <a:t>应在</a:t>
            </a:r>
            <a:r>
              <a:rPr lang="zh-CN" altLang="zh-CN" sz="2400" b="1" dirty="0">
                <a:latin typeface="Times New Roman" pitchFamily="18" charset="0"/>
              </a:rPr>
              <a:t>for</a:t>
            </a:r>
            <a:r>
              <a:rPr lang="zh-CN" altLang="en-US" sz="2400" b="1" dirty="0">
                <a:latin typeface="黑体" pitchFamily="49" charset="-122"/>
              </a:rPr>
              <a:t>语句之前给循环变量赋初值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>
                <a:latin typeface="黑体" pitchFamily="49" charset="-122"/>
              </a:rPr>
              <a:t>并且分号不能省略</a:t>
            </a:r>
            <a:r>
              <a:rPr lang="zh-CN" altLang="en-US" sz="2400" dirty="0"/>
              <a:t>。</a:t>
            </a:r>
            <a:r>
              <a:rPr lang="zh-CN" altLang="en-US" sz="2400" b="1" dirty="0"/>
              <a:t>如求和运算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b="1" dirty="0"/>
              <a:t>               </a:t>
            </a:r>
            <a:r>
              <a:rPr lang="zh-CN" altLang="zh-CN" sz="2400" b="1" dirty="0">
                <a:solidFill>
                  <a:schemeClr val="hlink"/>
                </a:solidFill>
              </a:rPr>
              <a:t>i=</a:t>
            </a:r>
            <a:r>
              <a:rPr lang="zh-CN" altLang="zh-CN" sz="2400" b="1" dirty="0">
                <a:solidFill>
                  <a:schemeClr val="hlink"/>
                </a:solidFill>
                <a:latin typeface="Arial" pitchFamily="34" charset="0"/>
                <a:ea typeface="Dotum" pitchFamily="34" charset="-127"/>
              </a:rPr>
              <a:t>1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zh-CN" altLang="zh-CN" sz="2400" b="1" dirty="0"/>
              <a:t>               </a:t>
            </a:r>
            <a:r>
              <a:rPr lang="zh-CN" altLang="zh-CN" sz="2400" b="1" dirty="0">
                <a:latin typeface="Arial" pitchFamily="34" charset="0"/>
                <a:ea typeface="Dotum" pitchFamily="34" charset="-127"/>
              </a:rPr>
              <a:t>for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solidFill>
                  <a:srgbClr val="CC00FF"/>
                </a:solidFill>
              </a:rPr>
              <a:t> </a:t>
            </a:r>
            <a:r>
              <a:rPr lang="zh-CN" altLang="zh-CN" sz="2400" b="1" dirty="0">
                <a:solidFill>
                  <a:schemeClr val="hlink"/>
                </a:solidFill>
                <a:latin typeface="Times New Roman" pitchFamily="18" charset="0"/>
              </a:rPr>
              <a:t>;</a:t>
            </a:r>
            <a:r>
              <a:rPr lang="zh-CN" altLang="zh-CN" sz="2400" b="1" dirty="0"/>
              <a:t> i</a:t>
            </a:r>
            <a:r>
              <a:rPr lang="zh-CN" altLang="zh-CN" sz="2400" dirty="0"/>
              <a:t>&lt;</a:t>
            </a:r>
            <a:r>
              <a:rPr lang="zh-CN" altLang="zh-CN" sz="2400" b="1" dirty="0"/>
              <a:t>=</a:t>
            </a:r>
            <a:r>
              <a:rPr lang="zh-CN" altLang="zh-CN" sz="2400" b="1" dirty="0">
                <a:latin typeface="Arial" pitchFamily="34" charset="0"/>
              </a:rPr>
              <a:t>100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 i</a:t>
            </a:r>
            <a:r>
              <a:rPr lang="zh-CN" altLang="zh-CN" sz="2400" b="1" dirty="0">
                <a:latin typeface="黑体" pitchFamily="49" charset="-122"/>
              </a:rPr>
              <a:t>++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  <a:r>
              <a:rPr lang="zh-CN" altLang="zh-CN" sz="2400" b="1" dirty="0"/>
              <a:t>     </a:t>
            </a:r>
            <a:r>
              <a:rPr lang="zh-CN" altLang="zh-CN" sz="2000" dirty="0"/>
              <a:t>/</a:t>
            </a:r>
            <a:r>
              <a:rPr lang="zh-CN" altLang="zh-CN" sz="2000" b="1" dirty="0">
                <a:latin typeface="黑体" pitchFamily="49" charset="-122"/>
              </a:rPr>
              <a:t>*</a:t>
            </a:r>
            <a:r>
              <a:rPr lang="zh-CN" altLang="en-US" sz="2000" b="1" dirty="0">
                <a:latin typeface="黑体" pitchFamily="49" charset="-122"/>
              </a:rPr>
              <a:t>分号不能省略*</a:t>
            </a:r>
            <a:r>
              <a:rPr lang="zh-CN" altLang="zh-CN" sz="2000" dirty="0"/>
              <a:t>/</a:t>
            </a:r>
          </a:p>
          <a:p>
            <a:pPr>
              <a:buFont typeface="Wingdings" pitchFamily="2" charset="2"/>
              <a:buNone/>
            </a:pPr>
            <a:r>
              <a:rPr lang="zh-CN" altLang="zh-CN" sz="2400" dirty="0">
                <a:latin typeface="黑体" pitchFamily="49" charset="-122"/>
              </a:rPr>
              <a:t>              </a:t>
            </a:r>
            <a:r>
              <a:rPr lang="zh-CN" altLang="zh-CN" sz="2400" b="1" dirty="0">
                <a:latin typeface="Arial" pitchFamily="34" charset="0"/>
                <a:ea typeface="Dotum" pitchFamily="34" charset="-127"/>
              </a:rPr>
              <a:t>sum</a:t>
            </a:r>
            <a:r>
              <a:rPr lang="zh-CN" altLang="zh-CN" sz="2400" b="1" dirty="0"/>
              <a:t>+=i </a:t>
            </a:r>
            <a:r>
              <a:rPr lang="zh-CN" altLang="zh-CN" sz="2400" b="1" dirty="0">
                <a:latin typeface="Times New Roman" pitchFamily="18" charset="0"/>
              </a:rPr>
              <a:t>; </a:t>
            </a:r>
            <a:r>
              <a:rPr lang="zh-CN" altLang="zh-CN" sz="2400" b="1" dirty="0"/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3315444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71700" y="46039"/>
            <a:ext cx="5486400" cy="750887"/>
          </a:xfrm>
        </p:spPr>
        <p:txBody>
          <a:bodyPr/>
          <a:lstStyle/>
          <a:p>
            <a:r>
              <a:rPr lang="zh-CN" altLang="zh-CN" sz="3200">
                <a:solidFill>
                  <a:srgbClr val="002EC2"/>
                </a:solidFill>
                <a:latin typeface="楷体_GB2312" pitchFamily="49" charset="-122"/>
              </a:rPr>
              <a:t> </a:t>
            </a:r>
            <a:r>
              <a:rPr lang="zh-CN" altLang="zh-CN" sz="3200">
                <a:latin typeface="楷体_GB2312" pitchFamily="49" charset="-122"/>
              </a:rPr>
              <a:t>for</a:t>
            </a:r>
            <a:r>
              <a:rPr lang="zh-CN" altLang="en-US" sz="3200">
                <a:latin typeface="楷体_GB2312" pitchFamily="49" charset="-122"/>
              </a:rPr>
              <a:t>语句的几种格式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273412" name="Rectangle 4"/>
          <p:cNvSpPr>
            <a:spLocks noChangeArrowheads="1"/>
          </p:cNvSpPr>
          <p:nvPr/>
        </p:nvSpPr>
        <p:spPr bwMode="auto">
          <a:xfrm>
            <a:off x="1796256" y="1916832"/>
            <a:ext cx="859948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60363" indent="-360363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(2)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省略表达式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则认为循环条件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始终为真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程序将陷入死循环</a:t>
            </a:r>
            <a:r>
              <a:rPr lang="zh-CN" altLang="en-US" b="1" dirty="0">
                <a:solidFill>
                  <a:srgbClr val="000000"/>
                </a:solidFill>
                <a:latin typeface="Times New Roman" pitchFamily="18" charset="0"/>
              </a:rPr>
              <a:t>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 循环体中加通过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break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退出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360363" indent="-360363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        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for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i=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1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  <a:ea typeface="Dotum" pitchFamily="34" charset="-127"/>
              </a:rPr>
              <a:t>;  ;</a:t>
            </a:r>
            <a:r>
              <a:rPr lang="zh-CN" altLang="zh-CN" sz="2400" b="1" dirty="0">
                <a:solidFill>
                  <a:srgbClr val="FF0000"/>
                </a:solidFill>
                <a:ea typeface="Dotum" pitchFamily="34" charset="-127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i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</a:rPr>
              <a:t>++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 )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          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for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i=1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latin typeface="Arial" pitchFamily="34" charset="0"/>
                <a:ea typeface="Dotum" pitchFamily="34" charset="-127"/>
              </a:rPr>
              <a:t>1</a:t>
            </a:r>
            <a:r>
              <a:rPr lang="zh-CN" altLang="zh-CN" sz="2400" b="1" dirty="0">
                <a:solidFill>
                  <a:srgbClr val="FF0000"/>
                </a:solidFill>
                <a:ea typeface="Dotum" pitchFamily="34" charset="-127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i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</a:rPr>
              <a:t>++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</a:t>
            </a:r>
          </a:p>
          <a:p>
            <a:pPr marL="360363" indent="-360363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	      {  </a:t>
            </a:r>
            <a:endParaRPr lang="en-US" altLang="zh-CN" sz="2400" b="1" dirty="0">
              <a:solidFill>
                <a:srgbClr val="000000"/>
              </a:solidFill>
              <a:ea typeface="Dotum" pitchFamily="34" charset="-127"/>
            </a:endParaRPr>
          </a:p>
          <a:p>
            <a:pPr marL="360363" indent="-360363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            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sum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+=i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                                 </a:t>
            </a:r>
          </a:p>
          <a:p>
            <a:pPr marL="360363" indent="-360363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             if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i</a:t>
            </a:r>
            <a:r>
              <a:rPr lang="zh-CN" altLang="zh-CN" sz="2400" dirty="0">
                <a:solidFill>
                  <a:srgbClr val="000000"/>
                </a:solidFill>
                <a:ea typeface="Dotum" pitchFamily="34" charset="-127"/>
              </a:rPr>
              <a:t>&gt;=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100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Dotum" pitchFamily="34" charset="-127"/>
              </a:rPr>
              <a:t>break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Dotum" pitchFamily="34" charset="-127"/>
              </a:rPr>
              <a:t>;</a:t>
            </a:r>
          </a:p>
          <a:p>
            <a:pPr marL="360363" indent="-360363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	      }		</a:t>
            </a:r>
          </a:p>
        </p:txBody>
      </p:sp>
      <p:sp>
        <p:nvSpPr>
          <p:cNvPr id="273413" name="AutoShape 5"/>
          <p:cNvSpPr>
            <a:spLocks noChangeArrowheads="1"/>
          </p:cNvSpPr>
          <p:nvPr/>
        </p:nvSpPr>
        <p:spPr bwMode="auto">
          <a:xfrm>
            <a:off x="5600699" y="3053464"/>
            <a:ext cx="495300" cy="220662"/>
          </a:xfrm>
          <a:prstGeom prst="rightArrow">
            <a:avLst>
              <a:gd name="adj1" fmla="val 50000"/>
              <a:gd name="adj2" fmla="val 56115"/>
            </a:avLst>
          </a:prstGeom>
          <a:solidFill>
            <a:srgbClr val="CC99FF">
              <a:alpha val="50000"/>
            </a:srgbClr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729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 autoUpdateAnimBg="0"/>
      <p:bldP spid="2734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177801"/>
            <a:ext cx="5486400" cy="600075"/>
          </a:xfrm>
        </p:spPr>
        <p:txBody>
          <a:bodyPr/>
          <a:lstStyle/>
          <a:p>
            <a:r>
              <a:rPr lang="zh-CN" altLang="zh-CN" sz="3200">
                <a:solidFill>
                  <a:srgbClr val="002EC2"/>
                </a:solidFill>
                <a:latin typeface="楷体_GB2312" pitchFamily="49" charset="-122"/>
              </a:rPr>
              <a:t> </a:t>
            </a:r>
            <a:r>
              <a:rPr lang="zh-CN" altLang="zh-CN" sz="3200">
                <a:latin typeface="楷体_GB2312" pitchFamily="49" charset="-122"/>
              </a:rPr>
              <a:t>for</a:t>
            </a:r>
            <a:r>
              <a:rPr lang="zh-CN" altLang="en-US" sz="3200">
                <a:latin typeface="楷体_GB2312" pitchFamily="49" charset="-122"/>
              </a:rPr>
              <a:t>语句的几种格式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1196752"/>
            <a:ext cx="8253413" cy="5116513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Times New Roman" pitchFamily="18" charset="0"/>
              </a:rPr>
              <a:t>(3)</a:t>
            </a:r>
            <a:r>
              <a:rPr lang="zh-CN" altLang="en-US" sz="2800" b="1" dirty="0">
                <a:latin typeface="黑体" pitchFamily="49" charset="-122"/>
              </a:rPr>
              <a:t>表达式</a:t>
            </a:r>
            <a:r>
              <a:rPr lang="zh-CN" altLang="zh-CN" sz="2800" b="1" dirty="0">
                <a:solidFill>
                  <a:schemeClr val="hlink"/>
                </a:solidFill>
                <a:latin typeface="黑体" pitchFamily="49" charset="-122"/>
              </a:rPr>
              <a:t>3</a:t>
            </a:r>
            <a:r>
              <a:rPr lang="zh-CN" altLang="en-US" sz="2800" b="1" dirty="0">
                <a:latin typeface="黑体" pitchFamily="49" charset="-122"/>
              </a:rPr>
              <a:t>可省略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dirty="0">
                <a:latin typeface="Times New Roman" pitchFamily="18" charset="0"/>
              </a:rPr>
              <a:t> </a:t>
            </a:r>
            <a:r>
              <a:rPr lang="zh-CN" altLang="en-US" sz="2800" b="1" dirty="0"/>
              <a:t>此时</a:t>
            </a:r>
            <a:r>
              <a:rPr lang="zh-CN" altLang="en-US" sz="2800" b="1" dirty="0">
                <a:latin typeface="黑体" pitchFamily="49" charset="-122"/>
              </a:rPr>
              <a:t>应在循环体内对循环变量进行修改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黑体" pitchFamily="49" charset="-122"/>
              </a:rPr>
              <a:t>以保证循环能正常结束。</a:t>
            </a:r>
          </a:p>
          <a:p>
            <a:pPr>
              <a:lnSpc>
                <a:spcPct val="12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2800" b="1" dirty="0">
                <a:latin typeface="黑体" pitchFamily="49" charset="-122"/>
              </a:rPr>
              <a:t>  </a:t>
            </a:r>
            <a:r>
              <a:rPr lang="zh-CN" altLang="en-US" sz="2800" b="1" dirty="0"/>
              <a:t>如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/>
              <a:t>求和运算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zh-CN" sz="2800" b="1" dirty="0"/>
              <a:t>              </a:t>
            </a:r>
            <a:r>
              <a:rPr lang="zh-CN" altLang="zh-CN" sz="2800" b="1" dirty="0">
                <a:latin typeface="Arial" pitchFamily="34" charset="0"/>
              </a:rPr>
              <a:t>for</a:t>
            </a:r>
            <a:r>
              <a:rPr lang="zh-CN" altLang="zh-CN" sz="2800" b="1" dirty="0">
                <a:latin typeface="Times New Roman" pitchFamily="18" charset="0"/>
              </a:rPr>
              <a:t> (</a:t>
            </a:r>
            <a:r>
              <a:rPr lang="zh-CN" altLang="zh-CN" sz="2800" b="1" dirty="0"/>
              <a:t> i=</a:t>
            </a:r>
            <a:r>
              <a:rPr lang="zh-CN" altLang="zh-CN" sz="2800" b="1" dirty="0">
                <a:latin typeface="Arial" pitchFamily="34" charset="0"/>
              </a:rPr>
              <a:t>1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100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/>
              <a:t>   </a:t>
            </a:r>
            <a:r>
              <a:rPr lang="zh-CN" altLang="zh-CN" sz="2400" dirty="0"/>
              <a:t>//</a:t>
            </a:r>
            <a:r>
              <a:rPr lang="zh-CN" altLang="en-US" sz="2400" b="1" dirty="0">
                <a:latin typeface="黑体" pitchFamily="49" charset="-122"/>
              </a:rPr>
              <a:t>分号不能省略</a:t>
            </a:r>
            <a:endParaRPr lang="zh-CN" altLang="en-US" sz="2400" dirty="0"/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b="1" dirty="0"/>
              <a:t>	              </a:t>
            </a:r>
            <a:r>
              <a:rPr lang="zh-CN" altLang="zh-CN" sz="2800" b="1" dirty="0">
                <a:latin typeface="Arial" pitchFamily="34" charset="0"/>
              </a:rPr>
              <a:t>sum</a:t>
            </a:r>
            <a:r>
              <a:rPr lang="zh-CN" altLang="zh-CN" sz="2800" b="1" dirty="0"/>
              <a:t>+=</a:t>
            </a:r>
            <a:r>
              <a:rPr lang="zh-CN" altLang="zh-CN" sz="2800" b="1" dirty="0">
                <a:solidFill>
                  <a:schemeClr val="hlink"/>
                </a:solidFill>
              </a:rPr>
              <a:t>i</a:t>
            </a:r>
            <a:r>
              <a:rPr lang="zh-CN" altLang="zh-CN" sz="2800" b="1" dirty="0">
                <a:solidFill>
                  <a:schemeClr val="hlink"/>
                </a:solidFill>
                <a:latin typeface="黑体" pitchFamily="49" charset="-122"/>
              </a:rPr>
              <a:t>++</a:t>
            </a:r>
            <a:r>
              <a:rPr lang="zh-CN" altLang="zh-CN" sz="2800" b="1" dirty="0">
                <a:latin typeface="Times New Roman" pitchFamily="18" charset="0"/>
              </a:rPr>
              <a:t> ;              </a:t>
            </a:r>
            <a:r>
              <a:rPr lang="zh-CN" altLang="zh-CN" sz="2400" dirty="0"/>
              <a:t>//</a:t>
            </a:r>
            <a:r>
              <a:rPr lang="zh-CN" altLang="en-US" sz="2400" b="1" dirty="0">
                <a:latin typeface="黑体" pitchFamily="49" charset="-122"/>
              </a:rPr>
              <a:t>修改循环变量</a:t>
            </a:r>
            <a:r>
              <a:rPr lang="zh-CN" altLang="en-US" sz="2800" b="1" dirty="0"/>
              <a:t>           	</a:t>
            </a:r>
            <a:r>
              <a:rPr lang="zh-CN" altLang="en-US" sz="2800" b="1" dirty="0">
                <a:latin typeface="黑体" pitchFamily="49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62513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5563"/>
            <a:ext cx="5486400" cy="723900"/>
          </a:xfrm>
        </p:spPr>
        <p:txBody>
          <a:bodyPr/>
          <a:lstStyle/>
          <a:p>
            <a:r>
              <a:rPr lang="zh-CN" altLang="zh-CN" sz="3200">
                <a:solidFill>
                  <a:srgbClr val="002EC2"/>
                </a:solidFill>
                <a:latin typeface="楷体_GB2312" pitchFamily="49" charset="-122"/>
              </a:rPr>
              <a:t> </a:t>
            </a:r>
            <a:r>
              <a:rPr lang="zh-CN" altLang="zh-CN" sz="3200">
                <a:latin typeface="楷体_GB2312" pitchFamily="49" charset="-122"/>
              </a:rPr>
              <a:t>for</a:t>
            </a:r>
            <a:r>
              <a:rPr lang="zh-CN" altLang="en-US" sz="3200">
                <a:latin typeface="楷体_GB2312" pitchFamily="49" charset="-122"/>
              </a:rPr>
              <a:t>语句的几种格式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1513" y="1125538"/>
            <a:ext cx="8159750" cy="5255790"/>
          </a:xfrm>
        </p:spPr>
        <p:txBody>
          <a:bodyPr/>
          <a:lstStyle/>
          <a:p>
            <a:pPr algn="just">
              <a:lnSpc>
                <a:spcPct val="12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Times New Roman" pitchFamily="18" charset="0"/>
                <a:cs typeface="Times New Roman" pitchFamily="18" charset="0"/>
              </a:rPr>
              <a:t>(4)</a:t>
            </a:r>
            <a:r>
              <a:rPr lang="zh-CN" altLang="en-US" sz="2800" b="1" dirty="0">
                <a:solidFill>
                  <a:schemeClr val="hlink"/>
                </a:solidFill>
                <a:latin typeface="Courier New" pitchFamily="49" charset="0"/>
              </a:rPr>
              <a:t>三个</a:t>
            </a:r>
            <a:r>
              <a:rPr lang="zh-CN" altLang="en-US" sz="2800" b="1" dirty="0">
                <a:latin typeface="Courier New" pitchFamily="49" charset="0"/>
              </a:rPr>
              <a:t>表达式都省略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/>
              <a:t>此时</a:t>
            </a:r>
            <a:r>
              <a:rPr lang="zh-CN" altLang="en-US" sz="2800" b="1" dirty="0">
                <a:latin typeface="黑体" pitchFamily="49" charset="-122"/>
              </a:rPr>
              <a:t>应在</a:t>
            </a:r>
            <a:r>
              <a:rPr lang="zh-CN" altLang="en-US" sz="2800" b="1" dirty="0">
                <a:latin typeface="Courier New" pitchFamily="49" charset="0"/>
              </a:rPr>
              <a:t>循环体内对循环变量进行修改</a:t>
            </a:r>
            <a:r>
              <a:rPr lang="zh-CN" altLang="zh-CN" sz="2800" b="1" dirty="0">
                <a:latin typeface="Times New Roman" pitchFamily="18" charset="0"/>
              </a:rPr>
              <a:t>,   </a:t>
            </a:r>
            <a:r>
              <a:rPr lang="zh-CN" altLang="en-US" sz="2800" b="1" dirty="0">
                <a:latin typeface="Times New Roman" pitchFamily="18" charset="0"/>
              </a:rPr>
              <a:t>用</a:t>
            </a:r>
            <a:r>
              <a:rPr lang="zh-CN" altLang="zh-CN" sz="2800" b="1" dirty="0">
                <a:latin typeface="Arial" pitchFamily="34" charset="0"/>
              </a:rPr>
              <a:t>break</a:t>
            </a:r>
            <a:r>
              <a:rPr lang="zh-CN" altLang="en-US" sz="2800" b="1" dirty="0">
                <a:latin typeface="Courier New" pitchFamily="49" charset="0"/>
              </a:rPr>
              <a:t>语句终止循环。</a:t>
            </a:r>
          </a:p>
          <a:p>
            <a:pPr algn="just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Courier New" pitchFamily="49" charset="0"/>
              </a:rPr>
              <a:t> </a:t>
            </a:r>
            <a:r>
              <a:rPr lang="zh-CN" altLang="en-US" sz="2000" b="1" dirty="0">
                <a:latin typeface="Courier New" pitchFamily="49" charset="0"/>
              </a:rPr>
              <a:t> </a:t>
            </a:r>
            <a:r>
              <a:rPr lang="zh-CN" altLang="en-US" sz="2800" b="1" dirty="0">
                <a:latin typeface="Courier New" pitchFamily="49" charset="0"/>
              </a:rPr>
              <a:t>如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/>
              <a:t>求和运算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algn="just">
              <a:lnSpc>
                <a:spcPct val="9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Times New Roman" pitchFamily="18" charset="0"/>
              </a:rPr>
              <a:t>                        </a:t>
            </a:r>
            <a:r>
              <a:rPr lang="zh-CN" altLang="zh-CN" sz="2800" b="1" dirty="0"/>
              <a:t>      </a:t>
            </a:r>
            <a:r>
              <a:rPr lang="zh-CN" altLang="zh-CN" sz="2800" b="1" dirty="0">
                <a:latin typeface="Arial" pitchFamily="34" charset="0"/>
              </a:rPr>
              <a:t>i=1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algn="just"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Courier New" pitchFamily="49" charset="0"/>
              </a:rPr>
              <a:t>             </a:t>
            </a:r>
            <a:r>
              <a:rPr lang="zh-CN" altLang="zh-CN" sz="2800" b="1" dirty="0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for</a:t>
            </a:r>
            <a:r>
              <a:rPr lang="zh-CN" altLang="zh-CN" sz="2800" b="1" dirty="0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2800" b="1" dirty="0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  <a:cs typeface="Courier New" pitchFamily="49" charset="0"/>
              </a:rPr>
              <a:t>;  ; )</a:t>
            </a:r>
            <a:endParaRPr lang="zh-CN" altLang="zh-CN" sz="2800" b="1" dirty="0">
              <a:solidFill>
                <a:schemeClr val="hlink"/>
              </a:solidFill>
              <a:latin typeface="Times New Roman" pitchFamily="18" charset="0"/>
            </a:endParaRPr>
          </a:p>
          <a:p>
            <a:pPr algn="just"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Courier New" pitchFamily="49" charset="0"/>
                <a:cs typeface="Courier New" pitchFamily="49" charset="0"/>
              </a:rPr>
              <a:t>		       </a:t>
            </a:r>
            <a:r>
              <a:rPr lang="zh-CN" altLang="zh-CN" sz="2800" b="1" dirty="0">
                <a:cs typeface="Courier New" pitchFamily="49" charset="0"/>
              </a:rPr>
              <a:t>{ </a:t>
            </a:r>
            <a:endParaRPr lang="en-US" altLang="zh-CN" sz="2800" b="1" dirty="0">
              <a:cs typeface="Courier New" pitchFamily="49" charset="0"/>
            </a:endParaRPr>
          </a:p>
          <a:p>
            <a:pPr algn="just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2800" b="1" dirty="0">
                <a:latin typeface="Arial" pitchFamily="34" charset="0"/>
                <a:cs typeface="Courier New" pitchFamily="49" charset="0"/>
              </a:rPr>
              <a:t>                            </a:t>
            </a:r>
            <a:r>
              <a:rPr lang="zh-CN" altLang="zh-CN" sz="2800" b="1" dirty="0">
                <a:latin typeface="Arial" pitchFamily="34" charset="0"/>
              </a:rPr>
              <a:t>sum</a:t>
            </a:r>
            <a:r>
              <a:rPr lang="zh-CN" altLang="zh-CN" sz="2800" b="1" dirty="0"/>
              <a:t>+=</a:t>
            </a:r>
            <a:r>
              <a:rPr lang="zh-CN" altLang="zh-CN" sz="2800" b="1" dirty="0">
                <a:latin typeface="Arial" pitchFamily="34" charset="0"/>
              </a:rPr>
              <a:t>i</a:t>
            </a:r>
            <a:r>
              <a:rPr lang="zh-CN" altLang="zh-CN" sz="2800" b="1" dirty="0">
                <a:latin typeface="黑体" pitchFamily="49" charset="-122"/>
              </a:rPr>
              <a:t>++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</a:t>
            </a:r>
          </a:p>
          <a:p>
            <a:pPr algn="just"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800" b="1" dirty="0"/>
              <a:t>                          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if</a:t>
            </a:r>
            <a:r>
              <a:rPr lang="zh-CN" altLang="zh-CN" sz="2800" b="1" dirty="0">
                <a:cs typeface="Courier New" pitchFamily="49" charset="0"/>
              </a:rPr>
              <a:t> 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2800" b="1" dirty="0">
                <a:cs typeface="Courier New" pitchFamily="49" charset="0"/>
              </a:rPr>
              <a:t>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i</a:t>
            </a:r>
            <a:r>
              <a:rPr lang="zh-CN" altLang="zh-CN" sz="2800" b="1" dirty="0">
                <a:cs typeface="Courier New" pitchFamily="49" charset="0"/>
              </a:rPr>
              <a:t> </a:t>
            </a:r>
            <a:r>
              <a:rPr lang="zh-CN" altLang="en-US" sz="2800" b="1" dirty="0"/>
              <a:t>＞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100</a:t>
            </a:r>
            <a:r>
              <a:rPr lang="zh-CN" altLang="zh-CN" sz="2800" b="1" dirty="0">
                <a:cs typeface="Courier New" pitchFamily="49" charset="0"/>
              </a:rPr>
              <a:t> 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)</a:t>
            </a:r>
            <a:r>
              <a:rPr lang="zh-CN" altLang="zh-CN" sz="2800" b="1" dirty="0">
                <a:cs typeface="Courier New" pitchFamily="49" charset="0"/>
              </a:rPr>
              <a:t> </a:t>
            </a:r>
            <a:r>
              <a:rPr lang="zh-CN" altLang="zh-CN" sz="2800" b="1" dirty="0">
                <a:latin typeface="Arial" pitchFamily="34" charset="0"/>
                <a:cs typeface="Courier New" pitchFamily="49" charset="0"/>
              </a:rPr>
              <a:t>break</a:t>
            </a:r>
            <a:r>
              <a:rPr lang="zh-CN" altLang="zh-CN" sz="2800" b="1" dirty="0">
                <a:cs typeface="Courier New" pitchFamily="49" charset="0"/>
              </a:rPr>
              <a:t> 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;</a:t>
            </a:r>
            <a:endParaRPr lang="zh-CN" altLang="zh-CN" sz="2800" b="1" dirty="0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zh-CN" altLang="en-US" sz="2800" b="1" dirty="0">
                <a:latin typeface="Courier New" pitchFamily="49" charset="0"/>
              </a:rPr>
              <a:t>　　　　     </a:t>
            </a:r>
            <a:r>
              <a:rPr lang="zh-CN" altLang="zh-CN" sz="28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6343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68525" y="22226"/>
            <a:ext cx="5486400" cy="720725"/>
          </a:xfrm>
        </p:spPr>
        <p:txBody>
          <a:bodyPr/>
          <a:lstStyle/>
          <a:p>
            <a:r>
              <a:rPr lang="zh-CN" altLang="zh-CN" sz="3200">
                <a:solidFill>
                  <a:srgbClr val="002EC2"/>
                </a:solidFill>
                <a:latin typeface="楷体_GB2312" pitchFamily="49" charset="-122"/>
              </a:rPr>
              <a:t> </a:t>
            </a:r>
            <a:r>
              <a:rPr lang="zh-CN" altLang="zh-CN" sz="3200">
                <a:latin typeface="楷体_GB2312" pitchFamily="49" charset="-122"/>
              </a:rPr>
              <a:t>for</a:t>
            </a:r>
            <a:r>
              <a:rPr lang="zh-CN" altLang="en-US" sz="3200">
                <a:latin typeface="楷体_GB2312" pitchFamily="49" charset="-122"/>
              </a:rPr>
              <a:t>语句的几种格式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5800" y="1154114"/>
            <a:ext cx="8305800" cy="498633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Times New Roman" pitchFamily="18" charset="0"/>
              </a:rPr>
              <a:t>(5)</a:t>
            </a:r>
            <a:r>
              <a:rPr lang="zh-CN" altLang="en-US" sz="2800" b="1" dirty="0">
                <a:latin typeface="黑体" pitchFamily="49" charset="-122"/>
              </a:rPr>
              <a:t>表达式</a:t>
            </a:r>
            <a:r>
              <a:rPr lang="zh-CN" altLang="zh-CN" sz="2800" b="1" dirty="0">
                <a:solidFill>
                  <a:srgbClr val="B000B0"/>
                </a:solidFill>
                <a:latin typeface="Times New Roman" pitchFamily="18" charset="0"/>
              </a:rPr>
              <a:t>1</a:t>
            </a:r>
            <a:r>
              <a:rPr lang="zh-CN" altLang="en-US" sz="2000" b="1" dirty="0">
                <a:solidFill>
                  <a:schemeClr val="bg2"/>
                </a:solidFill>
              </a:rPr>
              <a:t>、</a:t>
            </a:r>
            <a:r>
              <a:rPr lang="zh-CN" altLang="zh-CN" sz="2800" b="1" dirty="0">
                <a:solidFill>
                  <a:srgbClr val="B000B0"/>
                </a:solidFill>
                <a:latin typeface="Times New Roman" pitchFamily="18" charset="0"/>
              </a:rPr>
              <a:t>3</a:t>
            </a:r>
            <a:r>
              <a:rPr lang="zh-CN" altLang="en-US" sz="2800" b="1" dirty="0">
                <a:latin typeface="Times New Roman" pitchFamily="18" charset="0"/>
              </a:rPr>
              <a:t>都可以有一项或多项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Times New Roman" pitchFamily="18" charset="0"/>
              </a:rPr>
              <a:t>若有多项则使</a:t>
            </a:r>
            <a:r>
              <a:rPr lang="zh-CN" altLang="en-US" sz="2800" b="1" dirty="0"/>
              <a:t>用</a:t>
            </a:r>
            <a:r>
              <a:rPr lang="zh-CN" altLang="en-US" sz="2800" b="1" dirty="0">
                <a:latin typeface="黑体" pitchFamily="49" charset="-122"/>
              </a:rPr>
              <a:t>逗号表达式。</a:t>
            </a:r>
            <a:r>
              <a:rPr lang="zh-CN" altLang="en-US" sz="2800" b="1" dirty="0"/>
              <a:t>如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/>
              <a:t>求和运算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>
              <a:lnSpc>
                <a:spcPct val="120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zh-CN" altLang="zh-CN" sz="2800" b="1" dirty="0"/>
              <a:t>              </a:t>
            </a:r>
            <a:r>
              <a:rPr lang="zh-CN" altLang="zh-CN" sz="2800" b="1" dirty="0">
                <a:latin typeface="Arial" pitchFamily="34" charset="0"/>
              </a:rPr>
              <a:t>for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solidFill>
                  <a:srgbClr val="B000B0"/>
                </a:solidFill>
                <a:latin typeface="Arial" pitchFamily="34" charset="0"/>
              </a:rPr>
              <a:t>s=0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rgbClr val="B000B0"/>
                </a:solidFill>
              </a:rPr>
              <a:t> i=1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100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 i</a:t>
            </a:r>
            <a:r>
              <a:rPr lang="zh-CN" altLang="zh-CN" sz="2800" b="1" dirty="0">
                <a:latin typeface="黑体" pitchFamily="49" charset="-122"/>
              </a:rPr>
              <a:t>++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/>
              <a:t> </a:t>
            </a:r>
          </a:p>
          <a:p>
            <a:pPr algn="just"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Courier New" pitchFamily="49" charset="0"/>
              </a:rPr>
              <a:t>       </a:t>
            </a:r>
            <a:r>
              <a:rPr lang="zh-CN" altLang="zh-CN" sz="2800" dirty="0"/>
              <a:t>                </a:t>
            </a:r>
            <a:r>
              <a:rPr lang="zh-CN" altLang="zh-CN" sz="2800" b="1" dirty="0"/>
              <a:t>s+=i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algn="just">
              <a:lnSpc>
                <a:spcPct val="110000"/>
              </a:lnSpc>
              <a:spcBef>
                <a:spcPct val="65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Times New Roman" pitchFamily="18" charset="0"/>
              </a:rPr>
              <a:t>                 </a:t>
            </a:r>
            <a:r>
              <a:rPr lang="zh-CN" altLang="zh-CN" sz="2800" b="1" dirty="0">
                <a:latin typeface="Arial" pitchFamily="34" charset="0"/>
              </a:rPr>
              <a:t>for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s=</a:t>
            </a:r>
            <a:r>
              <a:rPr lang="zh-CN" altLang="zh-CN" sz="2800" b="1" dirty="0">
                <a:latin typeface="Arial" pitchFamily="34" charset="0"/>
              </a:rPr>
              <a:t>0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i=1</a:t>
            </a:r>
            <a:r>
              <a:rPr lang="zh-CN" altLang="zh-CN" sz="2800" b="1" dirty="0">
                <a:latin typeface="Times New Roman" pitchFamily="18" charset="0"/>
              </a:rPr>
              <a:t>;  </a:t>
            </a:r>
            <a:r>
              <a:rPr lang="zh-CN" altLang="zh-CN" sz="2800" b="1" dirty="0"/>
              <a:t>i</a:t>
            </a:r>
            <a:r>
              <a:rPr lang="zh-CN" altLang="zh-CN" sz="2800" dirty="0"/>
              <a:t>&lt;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100</a:t>
            </a:r>
            <a:r>
              <a:rPr lang="zh-CN" altLang="zh-CN" sz="2800" b="1" dirty="0">
                <a:latin typeface="Times New Roman" pitchFamily="18" charset="0"/>
              </a:rPr>
              <a:t>; </a:t>
            </a:r>
            <a:r>
              <a:rPr lang="zh-CN" altLang="zh-CN" sz="2800" b="1" dirty="0"/>
              <a:t>s+=i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i</a:t>
            </a:r>
            <a:r>
              <a:rPr lang="zh-CN" altLang="zh-CN" sz="2800" b="1" dirty="0">
                <a:latin typeface="黑体" pitchFamily="49" charset="-122"/>
              </a:rPr>
              <a:t>++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en-US" altLang="zh-CN" sz="2800" b="1" dirty="0">
                <a:latin typeface="Times New Roman" pitchFamily="18" charset="0"/>
              </a:rPr>
              <a:t>   </a:t>
            </a:r>
            <a:r>
              <a:rPr lang="zh-CN" altLang="zh-CN" sz="2800" b="1" dirty="0">
                <a:latin typeface="Times New Roman" pitchFamily="18" charset="0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;</a:t>
            </a:r>
          </a:p>
        </p:txBody>
      </p:sp>
      <p:sp>
        <p:nvSpPr>
          <p:cNvPr id="276484" name="Line 4"/>
          <p:cNvSpPr>
            <a:spLocks noChangeShapeType="1"/>
          </p:cNvSpPr>
          <p:nvPr/>
        </p:nvSpPr>
        <p:spPr bwMode="auto">
          <a:xfrm>
            <a:off x="4362451" y="3044825"/>
            <a:ext cx="1400175" cy="0"/>
          </a:xfrm>
          <a:prstGeom prst="line">
            <a:avLst/>
          </a:prstGeom>
          <a:noFill/>
          <a:ln w="38100" cmpd="sng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6485" name="Text Box 5"/>
          <p:cNvSpPr txBox="1">
            <a:spLocks noChangeArrowheads="1"/>
          </p:cNvSpPr>
          <p:nvPr/>
        </p:nvSpPr>
        <p:spPr bwMode="auto">
          <a:xfrm>
            <a:off x="3802064" y="4873626"/>
            <a:ext cx="2274887" cy="442913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54000" rIns="54000" bIns="82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对多个变量初始化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276486" name="Line 6"/>
          <p:cNvSpPr>
            <a:spLocks noChangeShapeType="1"/>
          </p:cNvSpPr>
          <p:nvPr/>
        </p:nvSpPr>
        <p:spPr bwMode="auto">
          <a:xfrm flipV="1">
            <a:off x="4233864" y="4427539"/>
            <a:ext cx="554037" cy="388937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6487" name="Line 7"/>
          <p:cNvSpPr>
            <a:spLocks noChangeShapeType="1"/>
          </p:cNvSpPr>
          <p:nvPr/>
        </p:nvSpPr>
        <p:spPr bwMode="auto">
          <a:xfrm>
            <a:off x="4392614" y="4383088"/>
            <a:ext cx="1296987" cy="0"/>
          </a:xfrm>
          <a:prstGeom prst="line">
            <a:avLst/>
          </a:prstGeom>
          <a:noFill/>
          <a:ln w="38100" cmpd="sng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6488" name="Line 8"/>
          <p:cNvSpPr>
            <a:spLocks noChangeShapeType="1"/>
          </p:cNvSpPr>
          <p:nvPr/>
        </p:nvSpPr>
        <p:spPr bwMode="auto">
          <a:xfrm flipV="1">
            <a:off x="7551739" y="4368800"/>
            <a:ext cx="1379537" cy="1588"/>
          </a:xfrm>
          <a:prstGeom prst="line">
            <a:avLst/>
          </a:prstGeom>
          <a:noFill/>
          <a:ln w="38100" cmpd="sng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76489" name="Text Box 9"/>
          <p:cNvSpPr txBox="1">
            <a:spLocks noChangeArrowheads="1"/>
          </p:cNvSpPr>
          <p:nvPr/>
        </p:nvSpPr>
        <p:spPr bwMode="auto">
          <a:xfrm>
            <a:off x="7662864" y="4887913"/>
            <a:ext cx="2274887" cy="406400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修改多个变量的值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276490" name="Line 10"/>
          <p:cNvSpPr>
            <a:spLocks noChangeShapeType="1"/>
          </p:cNvSpPr>
          <p:nvPr/>
        </p:nvSpPr>
        <p:spPr bwMode="auto">
          <a:xfrm flipH="1" flipV="1">
            <a:off x="8020051" y="4430714"/>
            <a:ext cx="111125" cy="414337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6514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E2EDC5-872C-161E-2584-F909CEA931A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9915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以下程序中循环的执行次数为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double d;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a=0;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for(d=1.2;d&lt;=18.27;d+=1.7)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a++;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("a=%d\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n",a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	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F4B82D4-AE1B-E856-AC55-538E65283FC0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9EFF79-656A-7DE5-FBC4-B12E6422E80B}"/>
              </a:ext>
            </a:extLst>
          </p:cNvPr>
          <p:cNvSpPr txBox="1"/>
          <p:nvPr/>
        </p:nvSpPr>
        <p:spPr>
          <a:xfrm>
            <a:off x="5231904" y="2421672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(int)((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终值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初值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)/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步长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)+1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95FE38B-6C38-2178-D722-1E4BBD97A27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3D14210-2D38-0DDC-FEF4-0A9E4EE47A3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60F753CB-5D1F-6660-53FE-2875B46EDE5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09FD673-95EC-2F7F-D96C-7DA16F1C85A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0CBB73E4-B87D-D552-D761-FD7F0E761ED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EB3E528-2E0A-B6A0-55B9-5C7FE3752ACE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9767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164013" y="49213"/>
            <a:ext cx="4095750" cy="711200"/>
          </a:xfrm>
        </p:spPr>
        <p:txBody>
          <a:bodyPr/>
          <a:lstStyle/>
          <a:p>
            <a:r>
              <a:rPr lang="zh-CN" altLang="zh-CN" sz="3600" dirty="0">
                <a:latin typeface="楷体_GB2312" pitchFamily="49" charset="-122"/>
              </a:rPr>
              <a:t>goto</a:t>
            </a:r>
            <a:r>
              <a:rPr lang="zh-CN" altLang="en-US" sz="3600" dirty="0">
                <a:latin typeface="楷体_GB2312" pitchFamily="49" charset="-122"/>
              </a:rPr>
              <a:t>语句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4388" y="1239839"/>
            <a:ext cx="8609012" cy="4554537"/>
          </a:xfrm>
        </p:spPr>
        <p:txBody>
          <a:bodyPr/>
          <a:lstStyle/>
          <a:p>
            <a:pPr marL="179388" indent="-179388">
              <a:lnSpc>
                <a:spcPct val="90000"/>
              </a:lnSpc>
            </a:pPr>
            <a:r>
              <a:rPr lang="zh-CN" altLang="en-US" sz="2400" b="1" dirty="0">
                <a:latin typeface="Courier New" pitchFamily="49" charset="0"/>
              </a:rPr>
              <a:t>格式</a:t>
            </a:r>
            <a:r>
              <a:rPr lang="zh-CN" altLang="zh-CN" sz="2400" b="1" dirty="0">
                <a:latin typeface="Courier New" pitchFamily="49" charset="0"/>
              </a:rPr>
              <a:t>:</a:t>
            </a:r>
            <a:r>
              <a:rPr lang="zh-CN" altLang="zh-CN" sz="2400" b="1" dirty="0"/>
              <a:t>                    </a:t>
            </a:r>
            <a:r>
              <a:rPr lang="zh-CN" altLang="zh-CN" sz="2400" dirty="0">
                <a:solidFill>
                  <a:schemeClr val="hlink"/>
                </a:solidFill>
              </a:rPr>
              <a:t>goto</a:t>
            </a:r>
            <a:r>
              <a:rPr lang="zh-CN" altLang="zh-CN" sz="2400" b="1" dirty="0"/>
              <a:t>  </a:t>
            </a:r>
            <a:r>
              <a:rPr lang="zh-CN" altLang="en-US" sz="2400" b="1" dirty="0">
                <a:solidFill>
                  <a:schemeClr val="hlink"/>
                </a:solidFill>
              </a:rPr>
              <a:t>语句标号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 marL="179388" indent="-179388">
              <a:spcBef>
                <a:spcPct val="0"/>
              </a:spcBef>
              <a:buNone/>
            </a:pPr>
            <a:r>
              <a:rPr lang="zh-CN" altLang="zh-CN" sz="2400" b="1" dirty="0"/>
              <a:t>                                    </a:t>
            </a:r>
            <a:r>
              <a:rPr lang="zh-CN" altLang="zh-CN" sz="2400" b="1" dirty="0">
                <a:latin typeface="Times New Roman" pitchFamily="18" charset="0"/>
              </a:rPr>
              <a:t>······</a:t>
            </a:r>
          </a:p>
          <a:p>
            <a:pPr marL="179388" indent="-179388">
              <a:spcBef>
                <a:spcPct val="0"/>
              </a:spcBef>
              <a:buNone/>
            </a:pPr>
            <a:r>
              <a:rPr lang="zh-CN" altLang="zh-CN" sz="2400" b="1" dirty="0"/>
              <a:t>                     </a:t>
            </a:r>
            <a:r>
              <a:rPr lang="zh-CN" altLang="en-US" sz="2400" b="1" dirty="0">
                <a:solidFill>
                  <a:schemeClr val="hlink"/>
                </a:solidFill>
              </a:rPr>
              <a:t>标号</a:t>
            </a:r>
            <a:r>
              <a:rPr lang="zh-CN" altLang="zh-CN" sz="2400" b="1" dirty="0">
                <a:solidFill>
                  <a:schemeClr val="hlink"/>
                </a:solidFill>
                <a:latin typeface="Times New Roman" pitchFamily="18" charset="0"/>
              </a:rPr>
              <a:t>:    </a:t>
            </a:r>
            <a:r>
              <a:rPr lang="zh-CN" altLang="en-US" sz="2400" b="1" dirty="0"/>
              <a:t>语句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 marL="179388" indent="-179388">
              <a:lnSpc>
                <a:spcPct val="115000"/>
              </a:lnSpc>
              <a:spcBef>
                <a:spcPct val="60000"/>
              </a:spcBef>
            </a:pPr>
            <a:r>
              <a:rPr lang="zh-CN" altLang="en-US" sz="2400" b="1" dirty="0">
                <a:latin typeface="黑体" pitchFamily="49" charset="-122"/>
              </a:rPr>
              <a:t>功能</a:t>
            </a:r>
            <a:r>
              <a:rPr lang="zh-CN" altLang="zh-CN" sz="2400" b="1" dirty="0">
                <a:latin typeface="Times New Roman" pitchFamily="18" charset="0"/>
              </a:rPr>
              <a:t>:   </a:t>
            </a:r>
            <a:r>
              <a:rPr lang="zh-CN" altLang="en-US" sz="2400" b="1" dirty="0">
                <a:latin typeface="黑体" pitchFamily="49" charset="-122"/>
              </a:rPr>
              <a:t>无条件地将控制转移到标号所标识的语句处执行。</a:t>
            </a:r>
            <a:endParaRPr lang="zh-CN" altLang="en-US" sz="2400" b="1" dirty="0"/>
          </a:p>
          <a:p>
            <a:pPr marL="179388" indent="-179388">
              <a:lnSpc>
                <a:spcPct val="110000"/>
              </a:lnSpc>
              <a:spcBef>
                <a:spcPct val="30000"/>
              </a:spcBef>
            </a:pPr>
            <a:r>
              <a:rPr lang="zh-CN" altLang="en-US" sz="2400" b="1" dirty="0">
                <a:latin typeface="黑体" pitchFamily="49" charset="-122"/>
              </a:rPr>
              <a:t>说明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</a:p>
          <a:p>
            <a:pPr marL="630238" lvl="1" indent="-271463">
              <a:spcBef>
                <a:spcPct val="1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zh-CN" sz="2400" dirty="0"/>
              <a:t>goto</a:t>
            </a:r>
            <a:r>
              <a:rPr lang="zh-CN" altLang="en-US" sz="2400" b="1" dirty="0">
                <a:latin typeface="黑体" pitchFamily="49" charset="-122"/>
              </a:rPr>
              <a:t>语句中必须有标号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</a:p>
          <a:p>
            <a:pPr marL="630238" lvl="1" indent="-271463">
              <a:lnSpc>
                <a:spcPct val="110000"/>
              </a:lnSpc>
              <a:spcBef>
                <a:spcPct val="3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 dirty="0">
                <a:latin typeface="Courier New" pitchFamily="49" charset="0"/>
              </a:rPr>
              <a:t>语句标号命名规则同变量名（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标识符</a:t>
            </a:r>
            <a:r>
              <a:rPr lang="zh-CN" altLang="en-US" sz="2400" b="1" dirty="0">
                <a:latin typeface="Courier New" pitchFamily="49" charset="0"/>
              </a:rPr>
              <a:t>）</a:t>
            </a:r>
            <a:r>
              <a:rPr lang="zh-CN" altLang="en-US" sz="2400" b="1" dirty="0">
                <a:latin typeface="黑体" pitchFamily="49" charset="-122"/>
              </a:rPr>
              <a:t>。</a:t>
            </a:r>
          </a:p>
          <a:p>
            <a:pPr marL="179388" indent="-179388">
              <a:lnSpc>
                <a:spcPct val="11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黑体" pitchFamily="49" charset="-122"/>
              </a:rPr>
              <a:t>     如</a:t>
            </a:r>
            <a:r>
              <a:rPr lang="zh-CN" altLang="zh-CN" sz="2400" b="1" dirty="0">
                <a:latin typeface="Times New Roman" pitchFamily="18" charset="0"/>
              </a:rPr>
              <a:t>:  </a:t>
            </a:r>
            <a:r>
              <a:rPr lang="zh-CN" altLang="zh-CN" sz="2400" b="1" dirty="0"/>
              <a:t>goto lable_1</a:t>
            </a:r>
            <a:r>
              <a:rPr lang="zh-CN" altLang="zh-CN" sz="2400" b="1" dirty="0">
                <a:latin typeface="Times New Roman" pitchFamily="18" charset="0"/>
              </a:rPr>
              <a:t> ;            </a:t>
            </a:r>
            <a:r>
              <a:rPr lang="zh-CN" altLang="zh-CN" sz="2400" b="1" dirty="0"/>
              <a:t>goto 123</a:t>
            </a:r>
            <a:r>
              <a:rPr lang="zh-CN" altLang="zh-CN" sz="2400" b="1" dirty="0">
                <a:latin typeface="Times New Roman" pitchFamily="18" charset="0"/>
              </a:rPr>
              <a:t> ; </a:t>
            </a:r>
            <a:endParaRPr lang="zh-CN" altLang="zh-CN" sz="2400" b="1" dirty="0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301060" name="Text Box 4"/>
          <p:cNvSpPr txBox="1">
            <a:spLocks noChangeArrowheads="1"/>
          </p:cNvSpPr>
          <p:nvPr/>
        </p:nvSpPr>
        <p:spPr bwMode="auto">
          <a:xfrm>
            <a:off x="5357813" y="45735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ea typeface="宋体" pitchFamily="2" charset="-122"/>
              </a:rPr>
              <a:t>√</a:t>
            </a:r>
          </a:p>
        </p:txBody>
      </p:sp>
      <p:sp>
        <p:nvSpPr>
          <p:cNvPr id="301061" name="Text Box 5"/>
          <p:cNvSpPr txBox="1">
            <a:spLocks noChangeArrowheads="1"/>
          </p:cNvSpPr>
          <p:nvPr/>
        </p:nvSpPr>
        <p:spPr bwMode="auto">
          <a:xfrm>
            <a:off x="7948613" y="4562476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FF0000"/>
                </a:solidFill>
                <a:ea typeface="宋体" pitchFamily="2" charset="-122"/>
              </a:rPr>
              <a:t>×</a:t>
            </a: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01062" name="AutoShape 6"/>
          <p:cNvSpPr>
            <a:spLocks noChangeArrowheads="1"/>
          </p:cNvSpPr>
          <p:nvPr/>
        </p:nvSpPr>
        <p:spPr bwMode="auto">
          <a:xfrm>
            <a:off x="3243264" y="1419226"/>
            <a:ext cx="681037" cy="735013"/>
          </a:xfrm>
          <a:prstGeom prst="curvedRightArrow">
            <a:avLst>
              <a:gd name="adj1" fmla="val 21585"/>
              <a:gd name="adj2" fmla="val 43170"/>
              <a:gd name="adj3" fmla="val 33333"/>
            </a:avLst>
          </a:prstGeom>
          <a:solidFill>
            <a:srgbClr val="339966"/>
          </a:solidFill>
          <a:ln w="12700" cmpd="sng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301063" name="Rectangle 7"/>
          <p:cNvSpPr>
            <a:spLocks noChangeArrowheads="1"/>
          </p:cNvSpPr>
          <p:nvPr/>
        </p:nvSpPr>
        <p:spPr bwMode="auto">
          <a:xfrm>
            <a:off x="2452688" y="5114925"/>
            <a:ext cx="7898316" cy="5208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96850" indent="-19685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zh-CN" sz="2400">
                <a:solidFill>
                  <a:srgbClr val="000000"/>
                </a:solidFill>
              </a:rPr>
              <a:t>goto</a:t>
            </a:r>
            <a:r>
              <a:rPr lang="zh-CN" altLang="en-US" sz="2400" b="1">
                <a:solidFill>
                  <a:srgbClr val="000000"/>
                </a:solidFill>
              </a:rPr>
              <a:t>语句不符合结构化程序设计原则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400" b="1">
                <a:solidFill>
                  <a:srgbClr val="000000"/>
                </a:solidFill>
              </a:rPr>
              <a:t>一般不主张使用</a:t>
            </a:r>
            <a:r>
              <a:rPr lang="zh-CN" altLang="en-US" sz="2000" b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301064" name="Text Box 8"/>
          <p:cNvSpPr txBox="1">
            <a:spLocks noChangeArrowheads="1"/>
          </p:cNvSpPr>
          <p:nvPr/>
        </p:nvSpPr>
        <p:spPr bwMode="auto">
          <a:xfrm>
            <a:off x="8339138" y="1443039"/>
            <a:ext cx="2241550" cy="992187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rIns="0" bIns="828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Arial" pitchFamily="34" charset="0"/>
              </a:rPr>
              <a:t>语句标号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是一个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标识符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放在可执行语句前面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301065" name="Line 9"/>
          <p:cNvSpPr>
            <a:spLocks noChangeShapeType="1"/>
          </p:cNvSpPr>
          <p:nvPr/>
        </p:nvSpPr>
        <p:spPr bwMode="auto">
          <a:xfrm flipH="1" flipV="1">
            <a:off x="7031038" y="1501775"/>
            <a:ext cx="1223962" cy="215900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89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0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1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 build="p" autoUpdateAnimBg="0"/>
      <p:bldP spid="301061" grpId="0" build="p" autoUpdateAnimBg="0"/>
      <p:bldP spid="301062" grpId="0" animBg="1"/>
      <p:bldP spid="301063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21972" y="1844824"/>
            <a:ext cx="8353425" cy="5405437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Courier New" pitchFamily="49" charset="0"/>
              </a:rPr>
              <a:t>        </a:t>
            </a:r>
            <a:r>
              <a:rPr lang="zh-CN" altLang="zh-CN" sz="2400" b="1" dirty="0"/>
              <a:t>#include </a:t>
            </a:r>
            <a:r>
              <a:rPr lang="zh-CN" altLang="zh-CN" sz="2400" dirty="0"/>
              <a:t>&lt;</a:t>
            </a:r>
            <a:r>
              <a:rPr lang="zh-CN" altLang="zh-CN" sz="2400" b="1" dirty="0"/>
              <a:t>stdio</a:t>
            </a:r>
            <a:r>
              <a:rPr lang="zh-CN" altLang="zh-CN" sz="2400" b="1" dirty="0">
                <a:latin typeface="Times New Roman" pitchFamily="18" charset="0"/>
              </a:rPr>
              <a:t>.</a:t>
            </a:r>
            <a:r>
              <a:rPr lang="zh-CN" altLang="zh-CN" sz="2400" b="1" dirty="0"/>
              <a:t>h</a:t>
            </a:r>
            <a:r>
              <a:rPr lang="zh-CN" altLang="zh-CN" sz="2400" dirty="0"/>
              <a:t>&gt;</a:t>
            </a:r>
            <a:r>
              <a:rPr lang="zh-CN" altLang="zh-CN" sz="2400" b="1" dirty="0">
                <a:cs typeface="Courier New" pitchFamily="49" charset="0"/>
              </a:rPr>
              <a:t>         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Courier New" pitchFamily="49" charset="0"/>
              </a:rPr>
              <a:t>        void  main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( )</a:t>
            </a:r>
            <a:endParaRPr lang="zh-CN" altLang="zh-CN" sz="2400" b="1" dirty="0">
              <a:latin typeface="Times New Roman" pitchFamily="18" charset="0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 dirty="0">
                <a:cs typeface="Courier New" pitchFamily="49" charset="0"/>
              </a:rPr>
              <a:t>        {  int  </a:t>
            </a:r>
            <a:r>
              <a:rPr lang="en-US" altLang="zh-CN" sz="2400" b="1" dirty="0" err="1">
                <a:cs typeface="Courier New" pitchFamily="49" charset="0"/>
              </a:rPr>
              <a:t>i</a:t>
            </a:r>
            <a:r>
              <a:rPr lang="zh-CN" altLang="zh-CN" sz="2400" b="1" dirty="0">
                <a:cs typeface="Courier New" pitchFamily="49" charset="0"/>
              </a:rPr>
              <a:t>=1</a:t>
            </a:r>
            <a:r>
              <a:rPr lang="en-US" altLang="zh-CN" sz="2400" b="1" dirty="0">
                <a:cs typeface="Courier New" pitchFamily="49" charset="0"/>
              </a:rPr>
              <a:t>,s=0</a:t>
            </a:r>
            <a:r>
              <a:rPr lang="zh-CN" altLang="zh-CN" sz="2400" b="1" dirty="0">
                <a:cs typeface="Courier New" pitchFamily="49" charset="0"/>
              </a:rPr>
              <a:t> 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;</a:t>
            </a:r>
            <a:r>
              <a:rPr lang="zh-CN" altLang="zh-CN" sz="2400" b="1" dirty="0">
                <a:cs typeface="Courier New" pitchFamily="49" charset="0"/>
              </a:rPr>
              <a:t> </a:t>
            </a:r>
            <a:endParaRPr lang="en-US" altLang="zh-CN" sz="2400" b="1" dirty="0">
              <a:cs typeface="Courier New" pitchFamily="49" charset="0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CC00CC"/>
                </a:solidFill>
                <a:cs typeface="Courier New" pitchFamily="49" charset="0"/>
              </a:rPr>
              <a:t>loop</a:t>
            </a:r>
            <a:r>
              <a:rPr lang="zh-CN" altLang="zh-CN" sz="2400" b="1" dirty="0">
                <a:solidFill>
                  <a:srgbClr val="CC00CC"/>
                </a:solidFill>
                <a:latin typeface="Times New Roman" pitchFamily="18" charset="0"/>
                <a:cs typeface="Courier New" pitchFamily="49" charset="0"/>
              </a:rPr>
              <a:t>:</a:t>
            </a:r>
            <a:r>
              <a:rPr lang="zh-CN" altLang="zh-CN" sz="2400" dirty="0">
                <a:solidFill>
                  <a:srgbClr val="CC00CC"/>
                </a:solidFill>
              </a:rPr>
              <a:t>   </a:t>
            </a:r>
            <a:r>
              <a:rPr lang="en-US" altLang="zh-CN" sz="2400" b="1" dirty="0">
                <a:cs typeface="Courier New" pitchFamily="49" charset="0"/>
              </a:rPr>
              <a:t>s+=</a:t>
            </a:r>
            <a:r>
              <a:rPr lang="en-US" altLang="zh-CN" sz="2400" b="1" dirty="0" err="1">
                <a:cs typeface="Courier New" pitchFamily="49" charset="0"/>
              </a:rPr>
              <a:t>i</a:t>
            </a:r>
            <a:r>
              <a:rPr lang="en-US" altLang="zh-CN" sz="2400" b="1" dirty="0">
                <a:cs typeface="Courier New" pitchFamily="49" charset="0"/>
              </a:rPr>
              <a:t>;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CC00CC"/>
                </a:solidFill>
              </a:rPr>
              <a:t>           </a:t>
            </a:r>
            <a:r>
              <a:rPr lang="en-US" altLang="zh-CN" sz="2400" b="1" dirty="0" err="1">
                <a:cs typeface="Courier New" pitchFamily="49" charset="0"/>
              </a:rPr>
              <a:t>i</a:t>
            </a:r>
            <a:r>
              <a:rPr lang="en-US" altLang="zh-CN" sz="2400" b="1" dirty="0">
                <a:cs typeface="Courier New" pitchFamily="49" charset="0"/>
              </a:rPr>
              <a:t>++;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C00CC"/>
                </a:solidFill>
                <a:cs typeface="Courier New" pitchFamily="49" charset="0"/>
              </a:rPr>
              <a:t>            </a:t>
            </a:r>
            <a:r>
              <a:rPr lang="zh-CN" altLang="zh-CN" sz="2400" b="1" dirty="0">
                <a:cs typeface="Courier New" pitchFamily="49" charset="0"/>
              </a:rPr>
              <a:t>if 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( </a:t>
            </a:r>
            <a:r>
              <a:rPr lang="en-US" altLang="zh-CN" sz="2400" b="1" dirty="0" err="1">
                <a:cs typeface="Courier New" pitchFamily="49" charset="0"/>
              </a:rPr>
              <a:t>i</a:t>
            </a:r>
            <a:r>
              <a:rPr lang="zh-CN" altLang="zh-CN" sz="2400" dirty="0">
                <a:cs typeface="Courier New" pitchFamily="49" charset="0"/>
              </a:rPr>
              <a:t>&lt;</a:t>
            </a:r>
            <a:r>
              <a:rPr lang="zh-CN" altLang="zh-CN" sz="2400" b="1" dirty="0">
                <a:cs typeface="Courier New" pitchFamily="49" charset="0"/>
              </a:rPr>
              <a:t>=100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)</a:t>
            </a:r>
            <a:endParaRPr lang="zh-CN" altLang="zh-CN" sz="2400" b="1" dirty="0">
              <a:latin typeface="Times New Roman" pitchFamily="18" charset="0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D800D8"/>
                </a:solidFill>
                <a:cs typeface="Courier New" pitchFamily="49" charset="0"/>
              </a:rPr>
              <a:t>                </a:t>
            </a:r>
            <a:r>
              <a:rPr lang="zh-CN" altLang="zh-CN" sz="2400" b="1" dirty="0">
                <a:solidFill>
                  <a:srgbClr val="D800D8"/>
                </a:solidFill>
                <a:cs typeface="Courier New" pitchFamily="49" charset="0"/>
              </a:rPr>
              <a:t>goto  loop</a:t>
            </a:r>
            <a:r>
              <a:rPr lang="zh-CN" altLang="zh-CN" sz="2400" b="1" dirty="0">
                <a:cs typeface="Courier New" pitchFamily="49" charset="0"/>
              </a:rPr>
              <a:t> 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;</a:t>
            </a:r>
            <a:r>
              <a:rPr lang="zh-CN" altLang="zh-CN" sz="2400" b="1" dirty="0">
                <a:cs typeface="Courier New" pitchFamily="49" charset="0"/>
              </a:rPr>
              <a:t> 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Courier New" pitchFamily="49" charset="0"/>
              </a:rPr>
              <a:t>           </a:t>
            </a:r>
            <a:endParaRPr lang="zh-CN" altLang="zh-CN" sz="2400" b="1" dirty="0"/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cs typeface="Courier New" pitchFamily="49" charset="0"/>
              </a:rPr>
              <a:t>      </a:t>
            </a:r>
            <a:r>
              <a:rPr lang="zh-CN" altLang="zh-CN" sz="2400" dirty="0">
                <a:solidFill>
                  <a:schemeClr val="hlink"/>
                </a:solidFill>
              </a:rPr>
              <a:t>  </a:t>
            </a:r>
            <a:r>
              <a:rPr lang="zh-CN" altLang="zh-CN" sz="2400" b="1" dirty="0">
                <a:cs typeface="Courier New" pitchFamily="49" charset="0"/>
              </a:rPr>
              <a:t>printf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(”</a:t>
            </a:r>
            <a:r>
              <a:rPr lang="en-US" altLang="zh-CN" sz="2400" b="1" dirty="0">
                <a:cs typeface="Courier New" pitchFamily="49" charset="0"/>
              </a:rPr>
              <a:t>s</a:t>
            </a:r>
            <a:r>
              <a:rPr lang="zh-CN" altLang="zh-CN" sz="2400" b="1" dirty="0">
                <a:cs typeface="Courier New" pitchFamily="49" charset="0"/>
              </a:rPr>
              <a:t>=%d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,</a:t>
            </a:r>
            <a:r>
              <a:rPr lang="zh-CN" altLang="zh-CN" sz="2400" b="1" dirty="0">
                <a:cs typeface="Courier New" pitchFamily="49" charset="0"/>
              </a:rPr>
              <a:t> </a:t>
            </a:r>
            <a:r>
              <a:rPr lang="en-US" altLang="zh-CN" sz="2400" b="1" dirty="0" err="1">
                <a:cs typeface="Courier New" pitchFamily="49" charset="0"/>
              </a:rPr>
              <a:t>i</a:t>
            </a:r>
            <a:r>
              <a:rPr lang="zh-CN" altLang="zh-CN" sz="2400" b="1" dirty="0">
                <a:cs typeface="Courier New" pitchFamily="49" charset="0"/>
              </a:rPr>
              <a:t>=%</a:t>
            </a:r>
            <a:r>
              <a:rPr lang="en-US" altLang="zh-CN" sz="2400" b="1" dirty="0">
                <a:latin typeface="Times New Roman" pitchFamily="18" charset="0"/>
                <a:cs typeface="Courier New" pitchFamily="49" charset="0"/>
              </a:rPr>
              <a:t>d</a:t>
            </a:r>
            <a:r>
              <a:rPr lang="zh-CN" altLang="zh-CN" sz="2400" dirty="0">
                <a:cs typeface="Courier New" pitchFamily="49" charset="0"/>
              </a:rPr>
              <a:t>\</a:t>
            </a:r>
            <a:r>
              <a:rPr lang="zh-CN" altLang="zh-CN" sz="2400" b="1" dirty="0">
                <a:cs typeface="Courier New" pitchFamily="49" charset="0"/>
              </a:rPr>
              <a:t>n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”, </a:t>
            </a:r>
            <a:r>
              <a:rPr lang="en-US" altLang="zh-CN" sz="2400" b="1" dirty="0">
                <a:cs typeface="Courier New" pitchFamily="49" charset="0"/>
              </a:rPr>
              <a:t>s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, </a:t>
            </a:r>
            <a:r>
              <a:rPr lang="en-US" altLang="zh-CN" sz="2400" b="1" dirty="0" err="1">
                <a:cs typeface="Courier New" pitchFamily="49" charset="0"/>
              </a:rPr>
              <a:t>i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) ;</a:t>
            </a:r>
            <a:endParaRPr lang="zh-CN" altLang="zh-CN" sz="2400" b="1" dirty="0">
              <a:latin typeface="Times New Roman" pitchFamily="18" charset="0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 dirty="0">
                <a:cs typeface="Courier New" pitchFamily="49" charset="0"/>
              </a:rPr>
              <a:t>        }</a:t>
            </a:r>
          </a:p>
        </p:txBody>
      </p:sp>
      <p:sp>
        <p:nvSpPr>
          <p:cNvPr id="303107" name="Rectangle 3"/>
          <p:cNvSpPr>
            <a:spLocks noChangeArrowheads="1"/>
          </p:cNvSpPr>
          <p:nvPr/>
        </p:nvSpPr>
        <p:spPr bwMode="auto">
          <a:xfrm>
            <a:off x="1559496" y="1063556"/>
            <a:ext cx="8377238" cy="479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</a:rPr>
              <a:t>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</a:rPr>
              <a:t>计算</a:t>
            </a:r>
            <a:r>
              <a:rPr lang="en-US" altLang="zh-CN" sz="2400" b="1" dirty="0">
                <a:solidFill>
                  <a:srgbClr val="000000"/>
                </a:solidFill>
              </a:rPr>
              <a:t>1+2+3+…+100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</a:rPr>
              <a:t>。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 </a:t>
            </a:r>
          </a:p>
        </p:txBody>
      </p:sp>
      <p:sp>
        <p:nvSpPr>
          <p:cNvPr id="303108" name="Text Box 4"/>
          <p:cNvSpPr txBox="1">
            <a:spLocks noChangeArrowheads="1"/>
          </p:cNvSpPr>
          <p:nvPr/>
        </p:nvSpPr>
        <p:spPr bwMode="auto">
          <a:xfrm>
            <a:off x="734377" y="4341167"/>
            <a:ext cx="1163638" cy="412750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8280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语句标号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303110" name="Line 6"/>
          <p:cNvSpPr>
            <a:spLocks noChangeShapeType="1"/>
          </p:cNvSpPr>
          <p:nvPr/>
        </p:nvSpPr>
        <p:spPr bwMode="auto">
          <a:xfrm flipV="1">
            <a:off x="1486774" y="3645024"/>
            <a:ext cx="603250" cy="571500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CDB19-62FB-A0D5-B331-76C8E46A8AD5}"/>
              </a:ext>
            </a:extLst>
          </p:cNvPr>
          <p:cNvSpPr txBox="1"/>
          <p:nvPr/>
        </p:nvSpPr>
        <p:spPr>
          <a:xfrm>
            <a:off x="1809399" y="21466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1938" indent="-261938">
              <a:spcBef>
                <a:spcPct val="45000"/>
              </a:spcBef>
              <a:buClr>
                <a:srgbClr val="009900"/>
              </a:buClr>
            </a:pPr>
            <a:r>
              <a:rPr lang="zh-CN" altLang="en-US" sz="2800" b="1" dirty="0"/>
              <a:t>与</a:t>
            </a:r>
            <a:r>
              <a:rPr lang="zh-CN" altLang="en-US" sz="2800" b="1" dirty="0">
                <a:latin typeface="Times New Roman" pitchFamily="18" charset="0"/>
              </a:rPr>
              <a:t> </a:t>
            </a:r>
            <a:r>
              <a:rPr lang="zh-CN" altLang="zh-CN" sz="2800" b="1" dirty="0">
                <a:latin typeface="Times New Roman" pitchFamily="18" charset="0"/>
              </a:rPr>
              <a:t>if </a:t>
            </a:r>
            <a:r>
              <a:rPr lang="zh-CN" altLang="en-US" sz="2800" b="1" dirty="0"/>
              <a:t>语句配合使用构成循环结构</a:t>
            </a:r>
          </a:p>
        </p:txBody>
      </p:sp>
    </p:spTree>
    <p:extLst>
      <p:ext uri="{BB962C8B-B14F-4D97-AF65-F5344CB8AC3E}">
        <p14:creationId xmlns:p14="http://schemas.microsoft.com/office/powerpoint/2010/main" val="382676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1063" y="1200151"/>
            <a:ext cx="7993062" cy="5229225"/>
          </a:xfrm>
        </p:spPr>
        <p:txBody>
          <a:bodyPr/>
          <a:lstStyle/>
          <a:p>
            <a:pPr marL="261938" indent="-261938">
              <a:lnSpc>
                <a:spcPct val="110000"/>
              </a:lnSpc>
              <a:spcBef>
                <a:spcPct val="25000"/>
              </a:spcBef>
              <a:buClr>
                <a:srgbClr val="009900"/>
              </a:buClr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从循环体中强制退出</a:t>
            </a:r>
          </a:p>
          <a:p>
            <a:pPr marL="261938" indent="-261938">
              <a:lnSpc>
                <a:spcPct val="110000"/>
              </a:lnSpc>
              <a:spcBef>
                <a:spcPct val="30000"/>
              </a:spcBef>
              <a:buClr>
                <a:srgbClr val="009900"/>
              </a:buClr>
              <a:buSzPct val="70000"/>
              <a:buNone/>
            </a:pPr>
            <a:r>
              <a:rPr lang="zh-CN" altLang="en-US" sz="2400" b="1" dirty="0"/>
              <a:t>  如</a:t>
            </a:r>
            <a:r>
              <a:rPr lang="zh-CN" altLang="zh-CN" sz="2400" b="1" dirty="0">
                <a:latin typeface="Times New Roman" pitchFamily="18" charset="0"/>
              </a:rPr>
              <a:t>: </a:t>
            </a:r>
            <a:r>
              <a:rPr lang="zh-CN" altLang="zh-CN" sz="2400" b="1" dirty="0"/>
              <a:t>              for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…)</a:t>
            </a:r>
          </a:p>
          <a:p>
            <a:pPr marL="261938" indent="-261938">
              <a:lnSpc>
                <a:spcPct val="110000"/>
              </a:lnSpc>
              <a:buNone/>
            </a:pPr>
            <a:r>
              <a:rPr lang="zh-CN" altLang="zh-CN" sz="2400" b="1" dirty="0">
                <a:cs typeface="Tahoma" pitchFamily="34" charset="0"/>
              </a:rPr>
              <a:t>                     {   </a:t>
            </a:r>
            <a:r>
              <a:rPr lang="zh-CN" altLang="zh-CN" sz="2400" b="1" dirty="0"/>
              <a:t>for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…)</a:t>
            </a:r>
          </a:p>
          <a:p>
            <a:pPr marL="261938" indent="-261938">
              <a:lnSpc>
                <a:spcPct val="110000"/>
              </a:lnSpc>
              <a:buNone/>
            </a:pPr>
            <a:r>
              <a:rPr lang="zh-CN" altLang="zh-CN" sz="2400" b="1" dirty="0">
                <a:cs typeface="Tahoma" pitchFamily="34" charset="0"/>
              </a:rPr>
              <a:t>                          {   while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(…)</a:t>
            </a:r>
          </a:p>
          <a:p>
            <a:pPr marL="261938" indent="-261938">
              <a:lnSpc>
                <a:spcPct val="110000"/>
              </a:lnSpc>
              <a:buNone/>
            </a:pPr>
            <a:r>
              <a:rPr lang="zh-CN" altLang="zh-CN" sz="2400" b="1" dirty="0">
                <a:cs typeface="Tahoma" pitchFamily="34" charset="0"/>
              </a:rPr>
              <a:t>                               {  </a:t>
            </a:r>
            <a:r>
              <a:rPr lang="zh-CN" altLang="zh-CN" sz="2400" b="1" dirty="0">
                <a:solidFill>
                  <a:schemeClr val="hlink"/>
                </a:solidFill>
                <a:cs typeface="Tahoma" pitchFamily="34" charset="0"/>
              </a:rPr>
              <a:t>if </a:t>
            </a:r>
            <a:r>
              <a:rPr lang="zh-CN" altLang="zh-CN" sz="2400" b="1" dirty="0">
                <a:solidFill>
                  <a:schemeClr val="hlink"/>
                </a:solidFill>
                <a:latin typeface="Times New Roman" pitchFamily="18" charset="0"/>
                <a:cs typeface="Tahoma" pitchFamily="34" charset="0"/>
              </a:rPr>
              <a:t>(…) </a:t>
            </a:r>
            <a:r>
              <a:rPr lang="zh-CN" altLang="zh-CN" sz="2400" b="1" dirty="0">
                <a:solidFill>
                  <a:schemeClr val="hlink"/>
                </a:solidFill>
                <a:cs typeface="Tahoma" pitchFamily="34" charset="0"/>
              </a:rPr>
              <a:t>goto stop</a:t>
            </a:r>
            <a:r>
              <a:rPr lang="zh-CN" altLang="zh-CN" sz="2400" b="1" dirty="0">
                <a:cs typeface="Tahoma" pitchFamily="34" charset="0"/>
              </a:rPr>
              <a:t> 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;</a:t>
            </a:r>
          </a:p>
          <a:p>
            <a:pPr marL="261938" indent="-2619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400" b="1" dirty="0">
                <a:cs typeface="Tahoma" pitchFamily="34" charset="0"/>
              </a:rPr>
              <a:t>                                        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…</a:t>
            </a:r>
          </a:p>
          <a:p>
            <a:pPr marL="261938" indent="-2619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400" b="1" dirty="0">
                <a:cs typeface="Tahoma" pitchFamily="34" charset="0"/>
              </a:rPr>
              <a:t>                               }</a:t>
            </a:r>
            <a:endParaRPr lang="zh-CN" altLang="zh-CN" sz="2400" b="1" dirty="0"/>
          </a:p>
          <a:p>
            <a:pPr marL="261938" indent="-2619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400" dirty="0"/>
              <a:t>                         </a:t>
            </a:r>
            <a:r>
              <a:rPr lang="zh-CN" altLang="zh-CN" sz="2400" b="1" dirty="0"/>
              <a:t>}</a:t>
            </a:r>
          </a:p>
          <a:p>
            <a:pPr marL="261938" indent="-2619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400" b="1" dirty="0"/>
              <a:t>                      }</a:t>
            </a:r>
          </a:p>
          <a:p>
            <a:pPr marL="261938" indent="-261938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hlink"/>
                </a:solidFill>
              </a:rPr>
              <a:t>         stop</a:t>
            </a:r>
            <a:r>
              <a:rPr lang="zh-CN" altLang="zh-CN" sz="2400" b="1" dirty="0">
                <a:solidFill>
                  <a:schemeClr val="hlink"/>
                </a:solidFill>
                <a:latin typeface="Times New Roman" pitchFamily="18" charset="0"/>
              </a:rPr>
              <a:t>:</a:t>
            </a:r>
            <a:r>
              <a:rPr lang="zh-CN" altLang="zh-CN" sz="2400" b="1" dirty="0"/>
              <a:t>   print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>
                <a:latin typeface="Times New Roman"/>
              </a:rPr>
              <a:t>”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…</a:t>
            </a:r>
            <a:r>
              <a:rPr lang="zh-CN" altLang="zh-CN" sz="2400" dirty="0">
                <a:cs typeface="Tahoma" pitchFamily="34" charset="0"/>
              </a:rPr>
              <a:t>\</a:t>
            </a:r>
            <a:r>
              <a:rPr lang="zh-CN" altLang="zh-CN" sz="2400" b="1" dirty="0">
                <a:cs typeface="Tahoma" pitchFamily="34" charset="0"/>
              </a:rPr>
              <a:t>n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”) ;</a:t>
            </a:r>
          </a:p>
        </p:txBody>
      </p:sp>
    </p:spTree>
    <p:extLst>
      <p:ext uri="{BB962C8B-B14F-4D97-AF65-F5344CB8AC3E}">
        <p14:creationId xmlns:p14="http://schemas.microsoft.com/office/powerpoint/2010/main" val="3330858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74625"/>
            <a:ext cx="5105400" cy="611188"/>
          </a:xfrm>
        </p:spPr>
        <p:txBody>
          <a:bodyPr/>
          <a:lstStyle/>
          <a:p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注意：</a:t>
            </a:r>
            <a:endParaRPr lang="zh-CN" altLang="zh-CN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1063" y="1200151"/>
            <a:ext cx="7977385" cy="4605113"/>
          </a:xfrm>
        </p:spPr>
        <p:txBody>
          <a:bodyPr/>
          <a:lstStyle/>
          <a:p>
            <a:pPr marL="261938" indent="-261938">
              <a:lnSpc>
                <a:spcPct val="110000"/>
              </a:lnSpc>
              <a:spcBef>
                <a:spcPct val="25000"/>
              </a:spcBef>
              <a:buClr>
                <a:srgbClr val="009900"/>
              </a:buClr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不允许从循环体外跳到循环内</a:t>
            </a:r>
          </a:p>
          <a:p>
            <a:pPr marL="261938" indent="-261938">
              <a:lnSpc>
                <a:spcPct val="110000"/>
              </a:lnSpc>
              <a:spcBef>
                <a:spcPct val="30000"/>
              </a:spcBef>
              <a:buClr>
                <a:srgbClr val="009900"/>
              </a:buClr>
              <a:buSzPct val="70000"/>
              <a:buNone/>
            </a:pPr>
            <a:r>
              <a:rPr lang="zh-CN" altLang="en-US" sz="2400" b="1" dirty="0"/>
              <a:t>  如</a:t>
            </a:r>
            <a:r>
              <a:rPr lang="zh-CN" altLang="zh-CN" sz="2400" b="1" dirty="0">
                <a:latin typeface="Times New Roman" pitchFamily="18" charset="0"/>
              </a:rPr>
              <a:t>: </a:t>
            </a:r>
            <a:r>
              <a:rPr lang="zh-CN" altLang="zh-CN" sz="2400" b="1" dirty="0"/>
              <a:t>              for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…)</a:t>
            </a:r>
          </a:p>
          <a:p>
            <a:pPr marL="261938" indent="-261938">
              <a:lnSpc>
                <a:spcPct val="110000"/>
              </a:lnSpc>
              <a:buNone/>
            </a:pPr>
            <a:r>
              <a:rPr lang="zh-CN" altLang="zh-CN" sz="2400" b="1" dirty="0">
                <a:cs typeface="Tahoma" pitchFamily="34" charset="0"/>
              </a:rPr>
              <a:t>                     {   </a:t>
            </a:r>
            <a:r>
              <a:rPr lang="zh-CN" altLang="zh-CN" sz="2400" b="1" dirty="0"/>
              <a:t>for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…)</a:t>
            </a:r>
          </a:p>
          <a:p>
            <a:pPr marL="261938" indent="-261938">
              <a:lnSpc>
                <a:spcPct val="110000"/>
              </a:lnSpc>
              <a:buNone/>
            </a:pPr>
            <a:r>
              <a:rPr lang="zh-CN" altLang="zh-CN" sz="2400" b="1" dirty="0">
                <a:cs typeface="Tahoma" pitchFamily="34" charset="0"/>
              </a:rPr>
              <a:t>                          {   while</a:t>
            </a:r>
            <a:r>
              <a:rPr lang="zh-CN" altLang="zh-CN" sz="2400" b="1" dirty="0">
                <a:latin typeface="Times New Roman" pitchFamily="18" charset="0"/>
                <a:cs typeface="Tahoma" pitchFamily="34" charset="0"/>
              </a:rPr>
              <a:t>(…)</a:t>
            </a:r>
          </a:p>
          <a:p>
            <a:pPr marL="261938" indent="-261938">
              <a:lnSpc>
                <a:spcPct val="110000"/>
              </a:lnSpc>
              <a:buNone/>
            </a:pPr>
            <a:r>
              <a:rPr lang="zh-CN" altLang="zh-CN" sz="2400" b="1" dirty="0">
                <a:cs typeface="Tahoma" pitchFamily="34" charset="0"/>
              </a:rPr>
              <a:t>                               {  </a:t>
            </a:r>
            <a:endParaRPr lang="en-US" altLang="zh-CN" sz="2400" b="1" dirty="0">
              <a:cs typeface="Tahoma" pitchFamily="34" charset="0"/>
            </a:endParaRPr>
          </a:p>
          <a:p>
            <a:pPr marL="261938" indent="-261938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ahoma" pitchFamily="34" charset="0"/>
              </a:rPr>
              <a:t>                           Loop: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ahoma" pitchFamily="34" charset="0"/>
              </a:rPr>
              <a:t>  </a:t>
            </a:r>
            <a:endParaRPr lang="zh-CN" altLang="zh-CN" sz="2400" b="1" dirty="0">
              <a:latin typeface="Times New Roman" pitchFamily="18" charset="0"/>
              <a:cs typeface="Tahoma" pitchFamily="34" charset="0"/>
            </a:endParaRPr>
          </a:p>
          <a:p>
            <a:pPr marL="261938" indent="-2619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400" b="1" dirty="0">
                <a:cs typeface="Tahoma" pitchFamily="34" charset="0"/>
              </a:rPr>
              <a:t>                               }</a:t>
            </a:r>
            <a:endParaRPr lang="zh-CN" altLang="zh-CN" sz="2400" b="1" dirty="0"/>
          </a:p>
          <a:p>
            <a:pPr marL="261938" indent="-2619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400" dirty="0"/>
              <a:t>                         </a:t>
            </a:r>
            <a:r>
              <a:rPr lang="zh-CN" altLang="zh-CN" sz="2400" b="1" dirty="0"/>
              <a:t>}</a:t>
            </a:r>
          </a:p>
          <a:p>
            <a:pPr marL="261938" indent="-261938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zh-CN" sz="2400" b="1" dirty="0"/>
              <a:t>                      }</a:t>
            </a:r>
          </a:p>
          <a:p>
            <a:pPr marL="261938" indent="-261938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                    </a:t>
            </a:r>
            <a:r>
              <a:rPr lang="en-US" altLang="zh-CN" sz="2400" b="1" dirty="0" err="1">
                <a:solidFill>
                  <a:schemeClr val="hlink"/>
                </a:solidFill>
              </a:rPr>
              <a:t>goto</a:t>
            </a:r>
            <a:r>
              <a:rPr lang="en-US" altLang="zh-CN" sz="2400" b="1" dirty="0">
                <a:solidFill>
                  <a:schemeClr val="hlink"/>
                </a:solidFill>
              </a:rPr>
              <a:t> Loop;    </a:t>
            </a:r>
            <a:endParaRPr lang="zh-CN" altLang="zh-CN" sz="2400" b="1" dirty="0">
              <a:latin typeface="Times New Roman" pitchFamily="18" charset="0"/>
              <a:cs typeface="Tahoma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F505A4-A819-478D-BC1C-F53B4EA4720F}"/>
              </a:ext>
            </a:extLst>
          </p:cNvPr>
          <p:cNvSpPr txBox="1"/>
          <p:nvPr/>
        </p:nvSpPr>
        <p:spPr>
          <a:xfrm>
            <a:off x="4984492" y="4581128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</a:t>
            </a:r>
            <a:endParaRPr lang="zh-CN" alt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332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468688" y="103189"/>
            <a:ext cx="5562600" cy="744537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4.</a:t>
            </a:r>
            <a:r>
              <a:rPr lang="zh-CN" altLang="zh-CN" sz="3600" dirty="0">
                <a:latin typeface="楷体_GB2312" pitchFamily="49" charset="-122"/>
              </a:rPr>
              <a:t>4  </a:t>
            </a:r>
            <a:r>
              <a:rPr lang="zh-CN" altLang="en-US" sz="3600" dirty="0">
                <a:latin typeface="楷体_GB2312" pitchFamily="49" charset="-122"/>
              </a:rPr>
              <a:t>循环的嵌套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9775" y="1238251"/>
            <a:ext cx="8216900" cy="4886325"/>
          </a:xfrm>
        </p:spPr>
        <p:txBody>
          <a:bodyPr/>
          <a:lstStyle/>
          <a:p>
            <a:pPr>
              <a:lnSpc>
                <a:spcPct val="110000"/>
              </a:lnSpc>
              <a:buSzPct val="85000"/>
              <a:buFont typeface="Wingdings" pitchFamily="2" charset="2"/>
              <a:buChar char="&amp;"/>
            </a:pPr>
            <a:r>
              <a:rPr lang="zh-CN" altLang="en-US" sz="2400" b="1">
                <a:latin typeface="黑体" pitchFamily="49" charset="-122"/>
              </a:rPr>
              <a:t>在一个循环体内又包含有一个或多个完整的循环结构</a:t>
            </a:r>
            <a:r>
              <a:rPr lang="zh-CN" altLang="zh-CN" sz="2400" b="1">
                <a:latin typeface="Times New Roman" pitchFamily="18" charset="0"/>
              </a:rPr>
              <a:t>,  </a:t>
            </a:r>
            <a:r>
              <a:rPr lang="zh-CN" altLang="en-US" sz="2400" b="1">
                <a:latin typeface="黑体" pitchFamily="49" charset="-122"/>
              </a:rPr>
              <a:t>称为</a:t>
            </a:r>
            <a:r>
              <a:rPr lang="zh-CN" altLang="en-US" sz="2400" b="1">
                <a:solidFill>
                  <a:schemeClr val="hlink"/>
                </a:solidFill>
                <a:latin typeface="黑体" pitchFamily="49" charset="-122"/>
              </a:rPr>
              <a:t>循环的嵌套</a:t>
            </a:r>
            <a:r>
              <a:rPr lang="zh-CN" altLang="en-US" sz="2000" b="1">
                <a:latin typeface="黑体" pitchFamily="49" charset="-122"/>
              </a:rPr>
              <a:t>。</a:t>
            </a:r>
            <a:r>
              <a:rPr lang="zh-CN" altLang="en-US" sz="2400" b="1">
                <a:latin typeface="黑体" pitchFamily="49" charset="-122"/>
              </a:rPr>
              <a:t>内嵌的循环中还可以嵌套循环即为多重循环。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1600" b="1">
                <a:latin typeface="黑体" pitchFamily="49" charset="-122"/>
              </a:rPr>
              <a:t>   </a:t>
            </a:r>
            <a:r>
              <a:rPr lang="zh-CN" altLang="en-US" sz="2400" b="1">
                <a:latin typeface="黑体" pitchFamily="49" charset="-122"/>
              </a:rPr>
              <a:t>形式</a:t>
            </a:r>
            <a:r>
              <a:rPr lang="zh-CN" altLang="zh-CN" sz="2400" b="1">
                <a:latin typeface="Times New Roman" pitchFamily="18" charset="0"/>
              </a:rPr>
              <a:t>:</a:t>
            </a:r>
            <a:r>
              <a:rPr lang="zh-CN" altLang="en-US" sz="2400" b="1">
                <a:latin typeface="黑体" pitchFamily="49" charset="-122"/>
              </a:rPr>
              <a:t>（以双重循环为例）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rgbClr val="FF3300"/>
                </a:solidFill>
              </a:rPr>
              <a:t>                        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  <a:cs typeface="Courier New" pitchFamily="49" charset="0"/>
              </a:rPr>
              <a:t>for</a:t>
            </a:r>
            <a:r>
              <a:rPr lang="zh-CN" altLang="zh-CN" sz="2800" b="1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zh-CN" altLang="zh-CN" sz="2800" b="1">
                <a:solidFill>
                  <a:schemeClr val="hlink"/>
                </a:solidFill>
                <a:latin typeface="Times New Roman" pitchFamily="18" charset="0"/>
                <a:cs typeface="Courier New" pitchFamily="49" charset="0"/>
              </a:rPr>
              <a:t>( ;  ; )</a:t>
            </a:r>
            <a:endParaRPr lang="zh-CN" altLang="zh-CN" sz="2800" b="1">
              <a:solidFill>
                <a:schemeClr val="hlin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800" b="1">
                <a:cs typeface="Courier New" pitchFamily="49" charset="0"/>
              </a:rPr>
              <a:t>	                    </a:t>
            </a:r>
            <a:r>
              <a:rPr lang="zh-CN" altLang="zh-CN" sz="2800" b="1">
                <a:solidFill>
                  <a:schemeClr val="hlink"/>
                </a:solidFill>
                <a:cs typeface="Courier New" pitchFamily="49" charset="0"/>
              </a:rPr>
              <a:t>{</a:t>
            </a:r>
            <a:r>
              <a:rPr lang="zh-CN" altLang="zh-CN" sz="2800" b="1">
                <a:cs typeface="Courier New" pitchFamily="49" charset="0"/>
              </a:rPr>
              <a:t>     </a:t>
            </a:r>
            <a:r>
              <a:rPr lang="zh-CN" altLang="zh-CN" sz="20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┆</a:t>
            </a:r>
          </a:p>
          <a:p>
            <a:pPr algn="just"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800" b="1">
                <a:cs typeface="Courier New" pitchFamily="49" charset="0"/>
              </a:rPr>
              <a:t>                           </a:t>
            </a:r>
            <a:r>
              <a:rPr lang="zh-CN" altLang="zh-CN" sz="2800" b="1">
                <a:latin typeface="Arial" pitchFamily="34" charset="0"/>
                <a:cs typeface="Courier New" pitchFamily="49" charset="0"/>
              </a:rPr>
              <a:t>for</a:t>
            </a:r>
            <a:r>
              <a:rPr lang="zh-CN" altLang="zh-CN" sz="2800" b="1">
                <a:cs typeface="Courier New" pitchFamily="49" charset="0"/>
              </a:rPr>
              <a:t> </a:t>
            </a:r>
            <a:r>
              <a:rPr lang="zh-CN" altLang="zh-CN" sz="2800" b="1">
                <a:latin typeface="Times New Roman" pitchFamily="18" charset="0"/>
                <a:cs typeface="Courier New" pitchFamily="49" charset="0"/>
              </a:rPr>
              <a:t>( ; ; )</a:t>
            </a:r>
            <a:r>
              <a:rPr lang="zh-CN" altLang="zh-CN" sz="2800" b="1">
                <a:cs typeface="Courier New" pitchFamily="49" charset="0"/>
              </a:rPr>
              <a:t>     </a:t>
            </a:r>
          </a:p>
          <a:p>
            <a:pPr algn="just"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800" b="1">
                <a:solidFill>
                  <a:srgbClr val="FF3300"/>
                </a:solidFill>
                <a:cs typeface="Times New Roman" pitchFamily="18" charset="0"/>
              </a:rPr>
              <a:t>                             </a:t>
            </a:r>
            <a:r>
              <a:rPr lang="zh-CN" altLang="zh-CN" sz="2800">
                <a:solidFill>
                  <a:schemeClr val="bg2"/>
                </a:solidFill>
                <a:cs typeface="Times New Roman" pitchFamily="18" charset="0"/>
              </a:rPr>
              <a:t>{</a:t>
            </a:r>
            <a:r>
              <a:rPr lang="zh-CN" altLang="zh-CN" sz="2800" b="1">
                <a:solidFill>
                  <a:schemeClr val="bg2"/>
                </a:solidFill>
                <a:cs typeface="Times New Roman" pitchFamily="18" charset="0"/>
              </a:rPr>
              <a:t> </a:t>
            </a:r>
            <a:r>
              <a:rPr lang="zh-CN" altLang="zh-CN" sz="2800" b="1">
                <a:solidFill>
                  <a:schemeClr val="bg2"/>
                </a:solidFill>
                <a:latin typeface="Times New Roman" pitchFamily="18" charset="0"/>
                <a:cs typeface="Tahoma" pitchFamily="34" charset="0"/>
              </a:rPr>
              <a:t>…</a:t>
            </a:r>
            <a:r>
              <a:rPr lang="zh-CN" altLang="zh-CN" sz="2800" b="1">
                <a:solidFill>
                  <a:schemeClr val="bg2"/>
                </a:solidFill>
                <a:cs typeface="Times New Roman" pitchFamily="18" charset="0"/>
              </a:rPr>
              <a:t>  </a:t>
            </a:r>
            <a:r>
              <a:rPr lang="zh-CN" altLang="zh-CN" sz="2800">
                <a:solidFill>
                  <a:schemeClr val="bg2"/>
                </a:solidFill>
                <a:cs typeface="Times New Roman" pitchFamily="18" charset="0"/>
              </a:rPr>
              <a:t>}</a:t>
            </a:r>
            <a:r>
              <a:rPr lang="zh-CN" altLang="zh-CN" sz="2800" b="1">
                <a:solidFill>
                  <a:srgbClr val="FF3300"/>
                </a:solidFill>
                <a:cs typeface="Times New Roman" pitchFamily="18" charset="0"/>
              </a:rPr>
              <a:t>          </a:t>
            </a:r>
          </a:p>
          <a:p>
            <a:pPr algn="just">
              <a:lnSpc>
                <a:spcPct val="105000"/>
              </a:lnSpc>
              <a:buFont typeface="Wingdings" pitchFamily="2" charset="2"/>
              <a:buNone/>
            </a:pPr>
            <a:r>
              <a:rPr lang="zh-CN" altLang="zh-CN" sz="2800" b="1">
                <a:solidFill>
                  <a:srgbClr val="FF3300"/>
                </a:solidFill>
                <a:cs typeface="Times New Roman" pitchFamily="18" charset="0"/>
              </a:rPr>
              <a:t>                        }</a:t>
            </a:r>
            <a:r>
              <a:rPr lang="zh-CN" altLang="zh-CN" sz="2800" b="1">
                <a:cs typeface="Courier New" pitchFamily="49" charset="0"/>
              </a:rPr>
              <a:t>   	</a:t>
            </a:r>
          </a:p>
        </p:txBody>
      </p:sp>
    </p:spTree>
    <p:extLst>
      <p:ext uri="{BB962C8B-B14F-4D97-AF65-F5344CB8AC3E}">
        <p14:creationId xmlns:p14="http://schemas.microsoft.com/office/powerpoint/2010/main" val="533043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240736E-1A63-2719-3091-C9B97172103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9915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#include &lt;</a:t>
            </a:r>
            <a:r>
              <a:rPr lang="en-US" altLang="zh-CN" sz="2800" b="1" dirty="0" err="1">
                <a:latin typeface="黑体" pitchFamily="49" charset="-122"/>
              </a:rPr>
              <a:t>stdio.h</a:t>
            </a:r>
            <a:r>
              <a:rPr lang="en-US" altLang="zh-CN" sz="2800" b="1" dirty="0">
                <a:latin typeface="黑体" pitchFamily="49" charset="-122"/>
              </a:rPr>
              <a:t>&gt;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main()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{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	int	a=0,b=0,i,j;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	for(</a:t>
            </a:r>
            <a:r>
              <a:rPr lang="en-US" altLang="zh-CN" sz="2800" b="1" dirty="0" err="1">
                <a:latin typeface="黑体" pitchFamily="49" charset="-122"/>
              </a:rPr>
              <a:t>i</a:t>
            </a:r>
            <a:r>
              <a:rPr lang="en-US" altLang="zh-CN" sz="2800" b="1" dirty="0">
                <a:latin typeface="黑体" pitchFamily="49" charset="-122"/>
              </a:rPr>
              <a:t>=1;i&lt;=2;i++)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	{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		a++;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		for(j=1;j&lt;=3;j++)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			b++;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	}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	</a:t>
            </a:r>
            <a:r>
              <a:rPr lang="en-US" altLang="zh-CN" sz="2800" b="1" dirty="0" err="1">
                <a:latin typeface="黑体" pitchFamily="49" charset="-122"/>
              </a:rPr>
              <a:t>printf</a:t>
            </a:r>
            <a:r>
              <a:rPr lang="en-US" altLang="zh-CN" sz="2800" b="1" dirty="0">
                <a:latin typeface="黑体" pitchFamily="49" charset="-122"/>
              </a:rPr>
              <a:t>("a=%</a:t>
            </a:r>
            <a:r>
              <a:rPr lang="en-US" altLang="zh-CN" sz="2800" b="1" dirty="0" err="1">
                <a:latin typeface="黑体" pitchFamily="49" charset="-122"/>
              </a:rPr>
              <a:t>d,b</a:t>
            </a:r>
            <a:r>
              <a:rPr lang="en-US" altLang="zh-CN" sz="2800" b="1" dirty="0">
                <a:latin typeface="黑体" pitchFamily="49" charset="-122"/>
              </a:rPr>
              <a:t>=%d\n",</a:t>
            </a:r>
            <a:r>
              <a:rPr lang="en-US" altLang="zh-CN" sz="2800" b="1" dirty="0" err="1">
                <a:latin typeface="黑体" pitchFamily="49" charset="-122"/>
              </a:rPr>
              <a:t>a,b</a:t>
            </a:r>
            <a:r>
              <a:rPr lang="en-US" altLang="zh-CN" sz="2800" b="1" dirty="0">
                <a:latin typeface="黑体" pitchFamily="49" charset="-122"/>
              </a:rPr>
              <a:t>);</a:t>
            </a:r>
            <a:r>
              <a:rPr lang="zh-CN" altLang="en-US" sz="2800" b="1" dirty="0">
                <a:latin typeface="黑体" pitchFamily="49" charset="-122"/>
              </a:rPr>
              <a:t>输出</a:t>
            </a:r>
            <a:r>
              <a:rPr lang="zh-CN" altLang="en-US" sz="2800" b="1" dirty="0">
                <a:solidFill>
                  <a:srgbClr val="639EF4"/>
                </a:solidFill>
                <a:latin typeface="黑体" pitchFamily="49" charset="-122"/>
              </a:rPr>
              <a:t> </a:t>
            </a:r>
            <a:r>
              <a:rPr lang="en-US" altLang="zh-CN" sz="2800" b="1" dirty="0">
                <a:solidFill>
                  <a:srgbClr val="639EF4"/>
                </a:solidFill>
                <a:latin typeface="黑体" pitchFamily="49" charset="-122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黑体" pitchFamily="49" charset="-122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黑体" pitchFamily="49" charset="-122"/>
              </a:rPr>
              <a:t>1]</a:t>
            </a:r>
            <a:r>
              <a:rPr lang="en-US" altLang="zh-CN" sz="2800" b="1" dirty="0">
                <a:solidFill>
                  <a:srgbClr val="000000"/>
                </a:solidFill>
                <a:latin typeface="黑体" pitchFamily="49" charset="-122"/>
              </a:rPr>
              <a:t> 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endParaRPr lang="en-US" altLang="zh-CN" sz="2800" b="1" dirty="0">
              <a:latin typeface="黑体" pitchFamily="49" charset="-122"/>
            </a:endParaRP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800" b="1" dirty="0">
                <a:latin typeface="黑体" pitchFamily="49" charset="-122"/>
              </a:rPr>
              <a:t>}</a:t>
            </a:r>
            <a:endParaRPr lang="zh-CN" altLang="zh-CN" sz="3200" b="1" dirty="0">
              <a:cs typeface="Courier New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C9E092A-FD68-AD64-18AB-2C8BBFB731C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1E437E3-823C-A46C-92A3-7871567AE12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3D6BA93C-18A9-7B70-00E2-DA838CD3639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2AB6A7E2-0292-666F-02FC-4ADC98FE909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88ABC4F3-36C3-6346-5616-09148FA0D61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4893DAF-CF46-E7EC-B616-3091B665D54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D84CB70-AEAF-C5F0-5F60-AAFF0D67FC2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304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431704" y="121568"/>
            <a:ext cx="5562600" cy="744537"/>
          </a:xfrm>
        </p:spPr>
        <p:txBody>
          <a:bodyPr/>
          <a:lstStyle/>
          <a:p>
            <a:r>
              <a:rPr lang="zh-CN" altLang="en-US" sz="3600" dirty="0">
                <a:latin typeface="华文隶书" panose="02010800040101010101" pitchFamily="2" charset="-122"/>
                <a:ea typeface="华文隶书" panose="02010800040101010101" pitchFamily="2" charset="-122"/>
              </a:rPr>
              <a:t>两种循环对比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7488" y="1484784"/>
            <a:ext cx="5112568" cy="4886325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#include &lt;</a:t>
            </a:r>
            <a:r>
              <a:rPr lang="en-US" altLang="zh-CN" sz="2400" b="1" dirty="0" err="1">
                <a:latin typeface="黑体" pitchFamily="49" charset="-122"/>
              </a:rPr>
              <a:t>stdio.h</a:t>
            </a:r>
            <a:r>
              <a:rPr lang="en-US" altLang="zh-CN" sz="2400" b="1" dirty="0">
                <a:latin typeface="黑体" pitchFamily="49" charset="-122"/>
              </a:rPr>
              <a:t>&gt;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main()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{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	int	a=0,b=0,i,j;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	for(</a:t>
            </a:r>
            <a:r>
              <a:rPr lang="en-US" altLang="zh-CN" sz="2400" b="1" dirty="0" err="1">
                <a:latin typeface="黑体" pitchFamily="49" charset="-122"/>
              </a:rPr>
              <a:t>i</a:t>
            </a:r>
            <a:r>
              <a:rPr lang="en-US" altLang="zh-CN" sz="2400" b="1" dirty="0">
                <a:latin typeface="黑体" pitchFamily="49" charset="-122"/>
              </a:rPr>
              <a:t>=1;i&lt;=2;i++)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	{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		a++;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		for(j=1;j&lt;=3;j++)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			b++;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	}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	</a:t>
            </a:r>
            <a:r>
              <a:rPr lang="en-US" altLang="zh-CN" sz="2400" b="1" dirty="0" err="1">
                <a:latin typeface="黑体" pitchFamily="49" charset="-122"/>
              </a:rPr>
              <a:t>printf</a:t>
            </a:r>
            <a:r>
              <a:rPr lang="en-US" altLang="zh-CN" sz="2400" b="1" dirty="0">
                <a:latin typeface="黑体" pitchFamily="49" charset="-122"/>
              </a:rPr>
              <a:t>("a=%</a:t>
            </a:r>
            <a:r>
              <a:rPr lang="en-US" altLang="zh-CN" sz="2400" b="1" dirty="0" err="1">
                <a:latin typeface="黑体" pitchFamily="49" charset="-122"/>
              </a:rPr>
              <a:t>d,b</a:t>
            </a:r>
            <a:r>
              <a:rPr lang="en-US" altLang="zh-CN" sz="2400" b="1" dirty="0">
                <a:latin typeface="黑体" pitchFamily="49" charset="-122"/>
              </a:rPr>
              <a:t>=%d\n",</a:t>
            </a:r>
            <a:r>
              <a:rPr lang="en-US" altLang="zh-CN" sz="2400" b="1" dirty="0" err="1">
                <a:latin typeface="黑体" pitchFamily="49" charset="-122"/>
              </a:rPr>
              <a:t>a,b</a:t>
            </a:r>
            <a:r>
              <a:rPr lang="en-US" altLang="zh-CN" sz="2400" b="1" dirty="0">
                <a:latin typeface="黑体" pitchFamily="49" charset="-122"/>
              </a:rPr>
              <a:t>);</a:t>
            </a:r>
          </a:p>
          <a:p>
            <a:pPr marL="0" indent="0">
              <a:spcBef>
                <a:spcPts val="0"/>
              </a:spcBef>
              <a:buSzPct val="85000"/>
              <a:buNone/>
            </a:pPr>
            <a:endParaRPr lang="en-US" altLang="zh-CN" sz="2400" b="1" dirty="0">
              <a:latin typeface="黑体" pitchFamily="49" charset="-122"/>
            </a:endParaRPr>
          </a:p>
          <a:p>
            <a:pPr marL="0" indent="0">
              <a:spcBef>
                <a:spcPts val="0"/>
              </a:spcBef>
              <a:buSzPct val="85000"/>
              <a:buNone/>
            </a:pPr>
            <a:r>
              <a:rPr lang="en-US" altLang="zh-CN" sz="2400" b="1" dirty="0">
                <a:latin typeface="黑体" pitchFamily="49" charset="-122"/>
              </a:rPr>
              <a:t>}</a:t>
            </a:r>
            <a:endParaRPr lang="zh-CN" altLang="zh-CN" sz="2800" b="1" dirty="0">
              <a:cs typeface="Courier New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AC481-A54D-47BF-89AF-9ABDC831A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056" y="980728"/>
            <a:ext cx="5112568" cy="587727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#include &lt;</a:t>
            </a:r>
            <a:r>
              <a:rPr lang="en-US" altLang="zh-CN" sz="2400" b="1" kern="0" dirty="0" err="1">
                <a:solidFill>
                  <a:srgbClr val="0070C0"/>
                </a:solidFill>
                <a:latin typeface="黑体" pitchFamily="49" charset="-122"/>
              </a:rPr>
              <a:t>stdio.h</a:t>
            </a: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&gt;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main()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{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int	a=0,b=0,i,j;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</a:t>
            </a:r>
            <a:r>
              <a:rPr lang="en-US" altLang="zh-CN" sz="2400" b="1" kern="0" dirty="0" err="1">
                <a:solidFill>
                  <a:srgbClr val="0070C0"/>
                </a:solidFill>
                <a:latin typeface="黑体" pitchFamily="49" charset="-122"/>
              </a:rPr>
              <a:t>i</a:t>
            </a: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=1;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while(</a:t>
            </a:r>
            <a:r>
              <a:rPr lang="en-US" altLang="zh-CN" sz="2400" b="1" kern="0" dirty="0" err="1">
                <a:solidFill>
                  <a:srgbClr val="0070C0"/>
                </a:solidFill>
                <a:latin typeface="黑体" pitchFamily="49" charset="-122"/>
              </a:rPr>
              <a:t>i</a:t>
            </a: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&lt;=2)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{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	a++;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	j=1;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	while(j&lt;=3)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		b++,</a:t>
            </a:r>
            <a:r>
              <a:rPr lang="en-US" altLang="zh-CN" sz="2400" b="1" kern="0" dirty="0" err="1">
                <a:solidFill>
                  <a:srgbClr val="0070C0"/>
                </a:solidFill>
                <a:latin typeface="黑体" pitchFamily="49" charset="-122"/>
              </a:rPr>
              <a:t>j++</a:t>
            </a: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;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	</a:t>
            </a:r>
            <a:r>
              <a:rPr lang="en-US" altLang="zh-CN" sz="2400" b="1" kern="0" dirty="0" err="1">
                <a:solidFill>
                  <a:srgbClr val="0070C0"/>
                </a:solidFill>
                <a:latin typeface="黑体" pitchFamily="49" charset="-122"/>
              </a:rPr>
              <a:t>i</a:t>
            </a: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++;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}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	</a:t>
            </a:r>
            <a:r>
              <a:rPr lang="en-US" altLang="zh-CN" sz="2400" b="1" kern="0" dirty="0" err="1">
                <a:solidFill>
                  <a:srgbClr val="0070C0"/>
                </a:solidFill>
                <a:latin typeface="黑体" pitchFamily="49" charset="-122"/>
              </a:rPr>
              <a:t>printf</a:t>
            </a: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("a=%</a:t>
            </a:r>
            <a:r>
              <a:rPr lang="en-US" altLang="zh-CN" sz="2400" b="1" kern="0" dirty="0" err="1">
                <a:solidFill>
                  <a:srgbClr val="0070C0"/>
                </a:solidFill>
                <a:latin typeface="黑体" pitchFamily="49" charset="-122"/>
              </a:rPr>
              <a:t>d,b</a:t>
            </a: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=%d\n",</a:t>
            </a:r>
            <a:r>
              <a:rPr lang="en-US" altLang="zh-CN" sz="2400" b="1" kern="0" dirty="0" err="1">
                <a:solidFill>
                  <a:srgbClr val="0070C0"/>
                </a:solidFill>
                <a:latin typeface="黑体" pitchFamily="49" charset="-122"/>
              </a:rPr>
              <a:t>a,b</a:t>
            </a: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);</a:t>
            </a:r>
          </a:p>
          <a:p>
            <a:pPr marL="0" indent="0">
              <a:spcBef>
                <a:spcPts val="0"/>
              </a:spcBef>
              <a:buSzPct val="85000"/>
              <a:buFont typeface="Wingdings" pitchFamily="2" charset="2"/>
              <a:buNone/>
            </a:pPr>
            <a:r>
              <a:rPr lang="en-US" altLang="zh-CN" sz="2400" b="1" kern="0" dirty="0">
                <a:solidFill>
                  <a:srgbClr val="0070C0"/>
                </a:solidFill>
                <a:latin typeface="黑体" pitchFamily="49" charset="-122"/>
              </a:rPr>
              <a:t>}</a:t>
            </a:r>
            <a:endParaRPr lang="zh-CN" altLang="zh-CN" sz="2800" b="1" kern="0" dirty="0">
              <a:solidFill>
                <a:srgbClr val="0070C0"/>
              </a:solidFill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429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ChangeArrowheads="1"/>
          </p:cNvSpPr>
          <p:nvPr/>
        </p:nvSpPr>
        <p:spPr bwMode="auto">
          <a:xfrm>
            <a:off x="2370138" y="1028701"/>
            <a:ext cx="6324600" cy="53578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         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外循环</a:t>
            </a:r>
          </a:p>
        </p:txBody>
      </p:sp>
      <p:sp>
        <p:nvSpPr>
          <p:cNvPr id="279555" name="Rectangle 3"/>
          <p:cNvSpPr>
            <a:spLocks noChangeArrowheads="1"/>
          </p:cNvSpPr>
          <p:nvPr/>
        </p:nvSpPr>
        <p:spPr bwMode="auto">
          <a:xfrm>
            <a:off x="3508375" y="2914650"/>
            <a:ext cx="4121150" cy="232410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9556" name="Text Box 4"/>
          <p:cNvSpPr txBox="1">
            <a:spLocks noChangeArrowheads="1"/>
          </p:cNvSpPr>
          <p:nvPr/>
        </p:nvSpPr>
        <p:spPr bwMode="auto">
          <a:xfrm>
            <a:off x="3459202" y="3035539"/>
            <a:ext cx="553998" cy="1001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内循环</a:t>
            </a:r>
          </a:p>
        </p:txBody>
      </p:sp>
      <p:graphicFrame>
        <p:nvGraphicFramePr>
          <p:cNvPr id="279557" name="Object 5"/>
          <p:cNvGraphicFramePr>
            <a:graphicFrameLocks noChangeAspect="1"/>
          </p:cNvGraphicFramePr>
          <p:nvPr/>
        </p:nvGraphicFramePr>
        <p:xfrm>
          <a:off x="3081339" y="1049339"/>
          <a:ext cx="5329237" cy="533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r:id="rId3" imgW="2873057" imgH="4279709" progId="SmartDraw.2">
                  <p:embed/>
                </p:oleObj>
              </mc:Choice>
              <mc:Fallback>
                <p:oleObj r:id="rId3" imgW="2873057" imgH="4279709" progId="SmartDraw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3488" b="4651"/>
                      <a:stretch>
                        <a:fillRect/>
                      </a:stretch>
                    </p:blipFill>
                    <p:spPr bwMode="auto">
                      <a:xfrm>
                        <a:off x="3081339" y="1049339"/>
                        <a:ext cx="5329237" cy="533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8" name="Rectangle 6"/>
          <p:cNvSpPr>
            <a:spLocks noGrp="1" noChangeArrowheads="1"/>
          </p:cNvSpPr>
          <p:nvPr>
            <p:ph type="title"/>
          </p:nvPr>
        </p:nvSpPr>
        <p:spPr>
          <a:xfrm>
            <a:off x="2408239" y="136526"/>
            <a:ext cx="7793037" cy="638175"/>
          </a:xfrm>
        </p:spPr>
        <p:txBody>
          <a:bodyPr/>
          <a:lstStyle/>
          <a:p>
            <a:r>
              <a:rPr lang="zh-CN" altLang="en-US" sz="28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zh-CN" sz="28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6 </a:t>
            </a:r>
            <a:r>
              <a:rPr lang="zh-CN" altLang="zh-CN" sz="2800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打印</a:t>
            </a:r>
            <a:r>
              <a:rPr lang="zh-CN" altLang="en-US" sz="2800" dirty="0">
                <a:solidFill>
                  <a:schemeClr val="bg2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altLang="en-US" sz="28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九九表</a:t>
            </a:r>
            <a:r>
              <a:rPr lang="zh-CN" altLang="en-US" sz="2800" dirty="0">
                <a:solidFill>
                  <a:schemeClr val="bg2"/>
                </a:solidFill>
                <a:latin typeface="Times New Roman"/>
                <a:ea typeface="黑体" pitchFamily="49" charset="-122"/>
              </a:rPr>
              <a:t>”</a:t>
            </a:r>
            <a:endParaRPr lang="zh-CN" altLang="en-US" sz="2800" dirty="0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79560" name="Text Box 8"/>
          <p:cNvSpPr txBox="1">
            <a:spLocks noChangeArrowheads="1"/>
          </p:cNvSpPr>
          <p:nvPr/>
        </p:nvSpPr>
        <p:spPr bwMode="auto">
          <a:xfrm>
            <a:off x="5724525" y="3260726"/>
            <a:ext cx="273050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1600" b="1">
                <a:solidFill>
                  <a:srgbClr val="000000"/>
                </a:solidFill>
                <a:ea typeface="Dotum" pitchFamily="34" charset="-127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05714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ChangeArrowheads="1"/>
          </p:cNvSpPr>
          <p:nvPr/>
        </p:nvSpPr>
        <p:spPr bwMode="auto">
          <a:xfrm>
            <a:off x="2411413" y="1563689"/>
            <a:ext cx="7561262" cy="454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1C1C1C"/>
                </a:solidFill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#include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ea typeface="黑体" pitchFamily="49" charset="-122"/>
              </a:rPr>
              <a:t>&lt;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stdio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h</a:t>
            </a:r>
            <a:r>
              <a:rPr lang="zh-CN" altLang="zh-CN" sz="2800" dirty="0">
                <a:solidFill>
                  <a:srgbClr val="000000"/>
                </a:solidFill>
                <a:ea typeface="黑体" pitchFamily="49" charset="-122"/>
              </a:rPr>
              <a:t>&gt;</a:t>
            </a:r>
          </a:p>
          <a:p>
            <a:pPr fontAlgn="base">
              <a:spcBef>
                <a:spcPct val="15000"/>
              </a:spcBef>
              <a:spcAft>
                <a:spcPct val="0"/>
              </a:spcAft>
              <a:buClr>
                <a:srgbClr val="000099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void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main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 )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{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int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 i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j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;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000099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 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for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i=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i</a:t>
            </a:r>
            <a:r>
              <a:rPr lang="zh-CN" altLang="zh-CN" sz="2800" dirty="0">
                <a:solidFill>
                  <a:srgbClr val="000000"/>
                </a:solidFill>
                <a:ea typeface="黑体" pitchFamily="49" charset="-122"/>
              </a:rPr>
              <a:t>&lt;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=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9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i++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)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000099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  { </a:t>
            </a:r>
            <a:r>
              <a:rPr lang="zh-CN" altLang="zh-CN" sz="2800" b="1" dirty="0">
                <a:solidFill>
                  <a:srgbClr val="B400B4"/>
                </a:solidFill>
                <a:latin typeface="Arial" pitchFamily="34" charset="0"/>
              </a:rPr>
              <a:t>for</a:t>
            </a:r>
            <a:r>
              <a:rPr lang="zh-CN" altLang="zh-CN" sz="2800" b="1" dirty="0">
                <a:solidFill>
                  <a:srgbClr val="CC00CC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800" b="1" dirty="0">
                <a:solidFill>
                  <a:srgbClr val="CC00CC"/>
                </a:solidFill>
                <a:ea typeface="黑体" pitchFamily="49" charset="-122"/>
              </a:rPr>
              <a:t> j=</a:t>
            </a:r>
            <a:r>
              <a:rPr lang="zh-CN" altLang="zh-CN" sz="2800" b="1" dirty="0">
                <a:solidFill>
                  <a:srgbClr val="B400B4"/>
                </a:solidFill>
                <a:latin typeface="Arial" pitchFamily="34" charset="0"/>
              </a:rPr>
              <a:t>1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800" b="1" dirty="0">
                <a:solidFill>
                  <a:srgbClr val="CC00CC"/>
                </a:solidFill>
                <a:ea typeface="黑体" pitchFamily="49" charset="-122"/>
              </a:rPr>
              <a:t> j</a:t>
            </a:r>
            <a:r>
              <a:rPr lang="zh-CN" altLang="zh-CN" sz="2800" dirty="0">
                <a:solidFill>
                  <a:srgbClr val="CC00CC"/>
                </a:solidFill>
                <a:ea typeface="黑体" pitchFamily="49" charset="-122"/>
              </a:rPr>
              <a:t>&lt;</a:t>
            </a:r>
            <a:r>
              <a:rPr lang="zh-CN" altLang="zh-CN" sz="2800" b="1" dirty="0">
                <a:solidFill>
                  <a:srgbClr val="CC00CC"/>
                </a:solidFill>
                <a:ea typeface="黑体" pitchFamily="49" charset="-122"/>
              </a:rPr>
              <a:t>=</a:t>
            </a:r>
            <a:r>
              <a:rPr lang="zh-CN" altLang="zh-CN" sz="2800" b="1" dirty="0">
                <a:solidFill>
                  <a:srgbClr val="B400B4"/>
                </a:solidFill>
                <a:latin typeface="Arial" pitchFamily="34" charset="0"/>
              </a:rPr>
              <a:t>9</a:t>
            </a:r>
            <a:r>
              <a:rPr lang="zh-CN" altLang="zh-CN" sz="2800" b="1" dirty="0">
                <a:solidFill>
                  <a:srgbClr val="CC00CC"/>
                </a:solidFill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800" b="1" dirty="0">
                <a:solidFill>
                  <a:srgbClr val="CC00CC"/>
                </a:solidFill>
                <a:ea typeface="黑体" pitchFamily="49" charset="-122"/>
              </a:rPr>
              <a:t> j++</a:t>
            </a:r>
            <a:r>
              <a:rPr lang="zh-CN" altLang="zh-CN" sz="2800" b="1" dirty="0">
                <a:solidFill>
                  <a:srgbClr val="CC00CC"/>
                </a:solidFill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000099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     </a:t>
            </a:r>
            <a:r>
              <a:rPr lang="en-US" altLang="zh-CN" sz="2800" b="1" dirty="0">
                <a:solidFill>
                  <a:srgbClr val="000000"/>
                </a:solidFill>
                <a:ea typeface="黑体" pitchFamily="49" charset="-122"/>
              </a:rPr>
              <a:t> 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printf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(“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%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d</a:t>
            </a:r>
            <a:r>
              <a:rPr lang="zh-CN" altLang="zh-CN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%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d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=%</a:t>
            </a:r>
            <a:r>
              <a:rPr lang="en-US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5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ea typeface="黑体" pitchFamily="49" charset="-122"/>
              </a:rPr>
              <a:t>\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n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”,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i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j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i</a:t>
            </a:r>
            <a:r>
              <a:rPr lang="zh-CN" altLang="zh-CN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j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);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000099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  }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000099"/>
              </a:buClr>
              <a:buSzPct val="60000"/>
              <a:buFont typeface="Wingdings" pitchFamily="2" charset="2"/>
              <a:buNone/>
            </a:pPr>
            <a:endParaRPr lang="zh-CN" altLang="zh-CN" b="1" dirty="0">
              <a:solidFill>
                <a:srgbClr val="000000"/>
              </a:solidFill>
              <a:ea typeface="黑体" pitchFamily="49" charset="-122"/>
            </a:endParaRP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}</a:t>
            </a:r>
            <a:endParaRPr lang="zh-CN" altLang="en-US" sz="2400" b="1" dirty="0">
              <a:solidFill>
                <a:srgbClr val="000000"/>
              </a:solidFill>
              <a:ea typeface="黑体" pitchFamily="49" charset="-122"/>
            </a:endParaRP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title"/>
          </p:nvPr>
        </p:nvSpPr>
        <p:spPr>
          <a:xfrm>
            <a:off x="2376489" y="304801"/>
            <a:ext cx="5761037" cy="847725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zh-CN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6 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打印</a:t>
            </a:r>
            <a:r>
              <a:rPr lang="zh-CN" altLang="en-US" sz="2800" b="1" dirty="0">
                <a:solidFill>
                  <a:schemeClr val="bg2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九九表</a:t>
            </a:r>
            <a:r>
              <a:rPr lang="zh-CN" altLang="en-US" sz="2800" b="1" dirty="0">
                <a:solidFill>
                  <a:schemeClr val="bg2"/>
                </a:solidFill>
                <a:latin typeface="Times New Roman"/>
                <a:ea typeface="黑体" pitchFamily="49" charset="-122"/>
              </a:rPr>
              <a:t>”</a:t>
            </a:r>
            <a:endParaRPr lang="zh-CN" altLang="en-US" sz="4000" b="1" dirty="0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80580" name="Text Box 4"/>
          <p:cNvSpPr txBox="1">
            <a:spLocks noChangeArrowheads="1"/>
          </p:cNvSpPr>
          <p:nvPr/>
        </p:nvSpPr>
        <p:spPr bwMode="auto">
          <a:xfrm>
            <a:off x="5349875" y="3729038"/>
            <a:ext cx="3048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280581" name="Text Box 5"/>
          <p:cNvSpPr txBox="1">
            <a:spLocks noChangeArrowheads="1"/>
          </p:cNvSpPr>
          <p:nvPr/>
        </p:nvSpPr>
        <p:spPr bwMode="auto">
          <a:xfrm>
            <a:off x="8016953" y="4206876"/>
            <a:ext cx="711994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FF0000"/>
                </a:solidFill>
              </a:rPr>
              <a:t>j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rgbClr val="000000"/>
                </a:solidFill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280582" name="Text Box 6"/>
          <p:cNvSpPr txBox="1">
            <a:spLocks noChangeArrowheads="1"/>
          </p:cNvSpPr>
          <p:nvPr/>
        </p:nvSpPr>
        <p:spPr bwMode="auto">
          <a:xfrm>
            <a:off x="7320136" y="4299075"/>
            <a:ext cx="3683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80583" name="Text Box 7"/>
          <p:cNvSpPr txBox="1">
            <a:spLocks noChangeArrowheads="1"/>
          </p:cNvSpPr>
          <p:nvPr/>
        </p:nvSpPr>
        <p:spPr bwMode="auto">
          <a:xfrm>
            <a:off x="2714625" y="4725989"/>
            <a:ext cx="3200400" cy="9032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CC00CC"/>
                </a:solidFill>
              </a:rPr>
              <a:t>  </a:t>
            </a:r>
            <a:r>
              <a:rPr lang="zh-CN" altLang="zh-CN" sz="2800" b="1">
                <a:solidFill>
                  <a:srgbClr val="CC00CC"/>
                </a:solidFill>
                <a:latin typeface="Arial" pitchFamily="34" charset="0"/>
              </a:rPr>
              <a:t> </a:t>
            </a:r>
            <a:r>
              <a:rPr lang="zh-CN" altLang="zh-CN" sz="2800" b="1">
                <a:solidFill>
                  <a:srgbClr val="C000C0"/>
                </a:solidFill>
                <a:latin typeface="Arial" pitchFamily="34" charset="0"/>
              </a:rPr>
              <a:t>getchar</a:t>
            </a:r>
            <a:r>
              <a:rPr lang="zh-CN" altLang="zh-CN" sz="2800" b="1">
                <a:solidFill>
                  <a:srgbClr val="C000C0"/>
                </a:solidFill>
                <a:latin typeface="Times New Roman" pitchFamily="18" charset="0"/>
              </a:rPr>
              <a:t>( );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  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zh-CN" sz="2800" b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80584" name="Text Box 8"/>
          <p:cNvSpPr txBox="1">
            <a:spLocks noChangeArrowheads="1"/>
          </p:cNvSpPr>
          <p:nvPr/>
        </p:nvSpPr>
        <p:spPr bwMode="auto">
          <a:xfrm>
            <a:off x="2927648" y="4722895"/>
            <a:ext cx="3124200" cy="9032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B400B4"/>
                </a:solidFill>
              </a:rPr>
              <a:t>  </a:t>
            </a:r>
            <a:r>
              <a:rPr lang="zh-CN" altLang="zh-CN" sz="2400" b="1" dirty="0">
                <a:solidFill>
                  <a:srgbClr val="B400B4"/>
                </a:solidFill>
              </a:rPr>
              <a:t> </a:t>
            </a:r>
            <a:r>
              <a:rPr lang="zh-CN" altLang="zh-CN" sz="2800" b="1" dirty="0">
                <a:solidFill>
                  <a:srgbClr val="B400B4"/>
                </a:solidFill>
                <a:latin typeface="Arial" pitchFamily="34" charset="0"/>
              </a:rPr>
              <a:t>printf</a:t>
            </a:r>
            <a:r>
              <a:rPr lang="zh-CN" altLang="zh-CN" sz="2800" b="1" dirty="0">
                <a:solidFill>
                  <a:srgbClr val="B400B4"/>
                </a:solidFill>
                <a:latin typeface="Times New Roman" pitchFamily="18" charset="0"/>
              </a:rPr>
              <a:t>(</a:t>
            </a:r>
            <a:r>
              <a:rPr lang="zh-CN" altLang="zh-CN" sz="2800" b="1" dirty="0">
                <a:solidFill>
                  <a:srgbClr val="B400B4"/>
                </a:solidFill>
                <a:latin typeface="Times New Roman"/>
              </a:rPr>
              <a:t>”</a:t>
            </a:r>
            <a:r>
              <a:rPr lang="zh-CN" altLang="zh-CN" sz="2800" dirty="0">
                <a:solidFill>
                  <a:srgbClr val="B400B4"/>
                </a:solidFill>
              </a:rPr>
              <a:t>\</a:t>
            </a:r>
            <a:r>
              <a:rPr lang="zh-CN" altLang="zh-CN" sz="2800" b="1" dirty="0">
                <a:solidFill>
                  <a:srgbClr val="B400B4"/>
                </a:solidFill>
              </a:rPr>
              <a:t>n</a:t>
            </a:r>
            <a:r>
              <a:rPr lang="zh-CN" altLang="zh-CN" sz="2800" b="1" dirty="0">
                <a:solidFill>
                  <a:srgbClr val="B400B4"/>
                </a:solidFill>
                <a:latin typeface="Times New Roman"/>
              </a:rPr>
              <a:t>”</a:t>
            </a:r>
            <a:r>
              <a:rPr lang="zh-CN" altLang="zh-CN" sz="2800" b="1" dirty="0">
                <a:solidFill>
                  <a:srgbClr val="B400B4"/>
                </a:solidFill>
                <a:latin typeface="Times New Roman" pitchFamily="18" charset="0"/>
              </a:rPr>
              <a:t>);</a:t>
            </a:r>
            <a:r>
              <a:rPr lang="zh-CN" altLang="zh-CN" sz="2800" b="1" dirty="0">
                <a:solidFill>
                  <a:srgbClr val="FF0000"/>
                </a:solidFill>
              </a:rPr>
              <a:t> 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1C1C1C"/>
                </a:solidFill>
              </a:rPr>
              <a:t>}</a:t>
            </a:r>
          </a:p>
        </p:txBody>
      </p:sp>
      <p:sp>
        <p:nvSpPr>
          <p:cNvPr id="280585" name="AutoShape 9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1703389" y="1125539"/>
            <a:ext cx="300037" cy="223837"/>
          </a:xfrm>
          <a:prstGeom prst="actionButtonBlank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80586" name="Rectangle 10"/>
          <p:cNvSpPr>
            <a:spLocks noChangeArrowheads="1"/>
          </p:cNvSpPr>
          <p:nvPr/>
        </p:nvSpPr>
        <p:spPr bwMode="auto">
          <a:xfrm>
            <a:off x="6245225" y="-12700"/>
            <a:ext cx="4294188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1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</a:rPr>
              <a:t>1=1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1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</a:rPr>
              <a:t>2=2  2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</a:rPr>
              <a:t>2=4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1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</a:rPr>
              <a:t>3=3  2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</a:rPr>
              <a:t>3=6  3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</a:rPr>
              <a:t>3=9</a:t>
            </a:r>
          </a:p>
          <a:p>
            <a:pPr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              </a:t>
            </a:r>
            <a:r>
              <a:rPr lang="zh-CN" altLang="zh-CN" sz="1600" b="1">
                <a:solidFill>
                  <a:srgbClr val="000000"/>
                </a:solidFill>
                <a:latin typeface="Times New Roman" pitchFamily="18" charset="0"/>
              </a:rPr>
              <a:t>······</a:t>
            </a: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1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</a:rPr>
              <a:t>9=9  2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</a:rPr>
              <a:t>9=18   </a:t>
            </a:r>
            <a:r>
              <a:rPr lang="zh-CN" altLang="zh-CN" sz="2000" b="1">
                <a:solidFill>
                  <a:srgbClr val="000000"/>
                </a:solidFill>
                <a:latin typeface="Times New Roman"/>
              </a:rPr>
              <a:t>······</a:t>
            </a:r>
            <a:r>
              <a:rPr lang="zh-CN" altLang="zh-CN" sz="2000" b="1">
                <a:solidFill>
                  <a:srgbClr val="000000"/>
                </a:solidFill>
              </a:rPr>
              <a:t>      9</a:t>
            </a:r>
            <a:r>
              <a:rPr lang="zh-CN" altLang="zh-CN" sz="20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>
                <a:solidFill>
                  <a:srgbClr val="000000"/>
                </a:solidFill>
              </a:rPr>
              <a:t>9=81</a:t>
            </a:r>
          </a:p>
        </p:txBody>
      </p:sp>
    </p:spTree>
    <p:extLst>
      <p:ext uri="{BB962C8B-B14F-4D97-AF65-F5344CB8AC3E}">
        <p14:creationId xmlns:p14="http://schemas.microsoft.com/office/powerpoint/2010/main" val="114109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8" grpId="0" build="p" autoUpdateAnimBg="0"/>
      <p:bldP spid="280580" grpId="0" animBg="1" autoUpdateAnimBg="0"/>
      <p:bldP spid="280581" grpId="0" animBg="1" autoUpdateAnimBg="0"/>
      <p:bldP spid="280582" grpId="0" animBg="1" autoUpdateAnimBg="0"/>
      <p:bldP spid="280583" grpId="0" animBg="1" autoUpdateAnimBg="0"/>
      <p:bldP spid="280584" grpId="0" animBg="1" autoUpdateAnimBg="0"/>
      <p:bldP spid="28058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338388" y="217489"/>
            <a:ext cx="5249862" cy="585787"/>
          </a:xfrm>
        </p:spPr>
        <p:txBody>
          <a:bodyPr/>
          <a:lstStyle/>
          <a:p>
            <a:r>
              <a:rPr lang="zh-CN" altLang="en-US" sz="3200">
                <a:latin typeface="Times New Roman" pitchFamily="18" charset="0"/>
              </a:rPr>
              <a:t>说明</a:t>
            </a:r>
            <a:r>
              <a:rPr lang="zh-CN" altLang="zh-CN" sz="3200">
                <a:latin typeface="Times New Roman" pitchFamily="18" charset="0"/>
              </a:rPr>
              <a:t>: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7038" y="1250951"/>
            <a:ext cx="8312150" cy="4513263"/>
          </a:xfrm>
        </p:spPr>
        <p:txBody>
          <a:bodyPr/>
          <a:lstStyle/>
          <a:p>
            <a:pPr>
              <a:buSzPct val="85000"/>
              <a:buFont typeface="Wingdings" pitchFamily="2" charset="2"/>
              <a:buNone/>
            </a:pPr>
            <a:r>
              <a:rPr lang="zh-CN" altLang="zh-CN" sz="2800" b="1">
                <a:latin typeface="Times New Roman" pitchFamily="18" charset="0"/>
              </a:rPr>
              <a:t>    1) </a:t>
            </a:r>
            <a:r>
              <a:rPr lang="zh-CN" altLang="en-US" sz="2800" b="1"/>
              <a:t>嵌套要完整，</a:t>
            </a:r>
            <a:r>
              <a:rPr lang="zh-CN" altLang="en-US" sz="2800" b="1">
                <a:solidFill>
                  <a:schemeClr val="hlink"/>
                </a:solidFill>
              </a:rPr>
              <a:t>不能交叉</a:t>
            </a:r>
            <a:r>
              <a:rPr lang="zh-CN" altLang="en-US" sz="2800" b="1"/>
              <a:t>。</a:t>
            </a:r>
          </a:p>
          <a:p>
            <a:pPr>
              <a:spcBef>
                <a:spcPct val="55000"/>
              </a:spcBef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800" b="1"/>
              <a:t>           </a:t>
            </a:r>
            <a:r>
              <a:rPr lang="zh-CN" altLang="en-US" sz="2400" b="1"/>
              <a:t>外层循环开始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/>
              <a:t>             内层循环开始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endParaRPr lang="zh-CN" altLang="en-US" sz="2400" b="1"/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/>
              <a:t>             外层循环结束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/>
              <a:t>             内层循环结束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endParaRPr lang="zh-CN" altLang="zh-CN" sz="2400" b="1"/>
          </a:p>
        </p:txBody>
      </p:sp>
      <p:grpSp>
        <p:nvGrpSpPr>
          <p:cNvPr id="281604" name="Group 4"/>
          <p:cNvGrpSpPr>
            <a:grpSpLocks/>
          </p:cNvGrpSpPr>
          <p:nvPr/>
        </p:nvGrpSpPr>
        <p:grpSpPr bwMode="auto">
          <a:xfrm>
            <a:off x="2127250" y="2184400"/>
            <a:ext cx="787400" cy="1422400"/>
            <a:chOff x="0" y="0"/>
            <a:chExt cx="496" cy="1008"/>
          </a:xfrm>
        </p:grpSpPr>
        <p:sp>
          <p:nvSpPr>
            <p:cNvPr id="281605" name="Line 5"/>
            <p:cNvSpPr>
              <a:spLocks noChangeShapeType="1"/>
            </p:cNvSpPr>
            <p:nvPr/>
          </p:nvSpPr>
          <p:spPr bwMode="auto">
            <a:xfrm>
              <a:off x="0" y="0"/>
              <a:ext cx="480" cy="0"/>
            </a:xfrm>
            <a:prstGeom prst="line">
              <a:avLst/>
            </a:pr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81606" name="Line 6"/>
            <p:cNvSpPr>
              <a:spLocks noChangeShapeType="1"/>
            </p:cNvSpPr>
            <p:nvPr/>
          </p:nvSpPr>
          <p:spPr bwMode="auto">
            <a:xfrm>
              <a:off x="16" y="993"/>
              <a:ext cx="480" cy="0"/>
            </a:xfrm>
            <a:prstGeom prst="line">
              <a:avLst/>
            </a:pr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81607" name="Line 7"/>
            <p:cNvSpPr>
              <a:spLocks noChangeShapeType="1"/>
            </p:cNvSpPr>
            <p:nvPr/>
          </p:nvSpPr>
          <p:spPr bwMode="auto">
            <a:xfrm>
              <a:off x="0" y="0"/>
              <a:ext cx="0" cy="1008"/>
            </a:xfrm>
            <a:prstGeom prst="line">
              <a:avLst/>
            </a:pr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grpSp>
        <p:nvGrpSpPr>
          <p:cNvPr id="281608" name="Group 8"/>
          <p:cNvGrpSpPr>
            <a:grpSpLocks/>
          </p:cNvGrpSpPr>
          <p:nvPr/>
        </p:nvGrpSpPr>
        <p:grpSpPr bwMode="auto">
          <a:xfrm>
            <a:off x="2487614" y="2665413"/>
            <a:ext cx="388937" cy="1346200"/>
            <a:chOff x="0" y="0"/>
            <a:chExt cx="245" cy="960"/>
          </a:xfrm>
        </p:grpSpPr>
        <p:sp>
          <p:nvSpPr>
            <p:cNvPr id="281609" name="Line 9"/>
            <p:cNvSpPr>
              <a:spLocks noChangeShapeType="1"/>
            </p:cNvSpPr>
            <p:nvPr/>
          </p:nvSpPr>
          <p:spPr bwMode="auto">
            <a:xfrm>
              <a:off x="5" y="0"/>
              <a:ext cx="240" cy="0"/>
            </a:xfrm>
            <a:prstGeom prst="line">
              <a:avLst/>
            </a:pr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81610" name="Line 10"/>
            <p:cNvSpPr>
              <a:spLocks noChangeShapeType="1"/>
            </p:cNvSpPr>
            <p:nvPr/>
          </p:nvSpPr>
          <p:spPr bwMode="auto">
            <a:xfrm>
              <a:off x="0" y="944"/>
              <a:ext cx="240" cy="0"/>
            </a:xfrm>
            <a:prstGeom prst="line">
              <a:avLst/>
            </a:pr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81611" name="Line 11"/>
            <p:cNvSpPr>
              <a:spLocks noChangeShapeType="1"/>
            </p:cNvSpPr>
            <p:nvPr/>
          </p:nvSpPr>
          <p:spPr bwMode="auto">
            <a:xfrm>
              <a:off x="3" y="0"/>
              <a:ext cx="0" cy="960"/>
            </a:xfrm>
            <a:prstGeom prst="line">
              <a:avLst/>
            </a:pr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281612" name="Text Box 12"/>
          <p:cNvSpPr txBox="1">
            <a:spLocks noChangeArrowheads="1"/>
          </p:cNvSpPr>
          <p:nvPr/>
        </p:nvSpPr>
        <p:spPr bwMode="auto">
          <a:xfrm>
            <a:off x="3070225" y="4630738"/>
            <a:ext cx="1709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非法嵌套</a:t>
            </a:r>
          </a:p>
        </p:txBody>
      </p:sp>
      <p:grpSp>
        <p:nvGrpSpPr>
          <p:cNvPr id="281613" name="Group 13"/>
          <p:cNvGrpSpPr>
            <a:grpSpLocks/>
          </p:cNvGrpSpPr>
          <p:nvPr/>
        </p:nvGrpSpPr>
        <p:grpSpPr bwMode="auto">
          <a:xfrm>
            <a:off x="7015163" y="2068513"/>
            <a:ext cx="1219200" cy="2057400"/>
            <a:chOff x="0" y="0"/>
            <a:chExt cx="768" cy="1296"/>
          </a:xfrm>
        </p:grpSpPr>
        <p:grpSp>
          <p:nvGrpSpPr>
            <p:cNvPr id="281614" name="Group 14"/>
            <p:cNvGrpSpPr>
              <a:grpSpLocks/>
            </p:cNvGrpSpPr>
            <p:nvPr/>
          </p:nvGrpSpPr>
          <p:grpSpPr bwMode="auto">
            <a:xfrm>
              <a:off x="258" y="336"/>
              <a:ext cx="384" cy="624"/>
              <a:chOff x="0" y="0"/>
              <a:chExt cx="384" cy="624"/>
            </a:xfrm>
          </p:grpSpPr>
          <p:sp>
            <p:nvSpPr>
              <p:cNvPr id="281615" name="Line 15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624"/>
              </a:xfrm>
              <a:prstGeom prst="line">
                <a:avLst/>
              </a:prstGeom>
              <a:noFill/>
              <a:ln w="28575" cmpd="sng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81616" name="Line 16"/>
              <p:cNvSpPr>
                <a:spLocks noChangeShapeType="1"/>
              </p:cNvSpPr>
              <p:nvPr/>
            </p:nvSpPr>
            <p:spPr bwMode="auto">
              <a:xfrm>
                <a:off x="0" y="624"/>
                <a:ext cx="384" cy="0"/>
              </a:xfrm>
              <a:prstGeom prst="line">
                <a:avLst/>
              </a:prstGeom>
              <a:noFill/>
              <a:ln w="28575" cmpd="sng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81617" name="Line 17"/>
              <p:cNvSpPr>
                <a:spLocks noChangeShapeType="1"/>
              </p:cNvSpPr>
              <p:nvPr/>
            </p:nvSpPr>
            <p:spPr bwMode="auto">
              <a:xfrm>
                <a:off x="0" y="0"/>
                <a:ext cx="384" cy="0"/>
              </a:xfrm>
              <a:prstGeom prst="line">
                <a:avLst/>
              </a:prstGeom>
              <a:noFill/>
              <a:ln w="28575" cmpd="sng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281618" name="Line 18"/>
            <p:cNvSpPr>
              <a:spLocks noChangeShapeType="1"/>
            </p:cNvSpPr>
            <p:nvPr/>
          </p:nvSpPr>
          <p:spPr bwMode="auto">
            <a:xfrm>
              <a:off x="0" y="0"/>
              <a:ext cx="768" cy="0"/>
            </a:xfrm>
            <a:prstGeom prst="line">
              <a:avLst/>
            </a:pr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81619" name="Line 19"/>
            <p:cNvSpPr>
              <a:spLocks noChangeShapeType="1"/>
            </p:cNvSpPr>
            <p:nvPr/>
          </p:nvSpPr>
          <p:spPr bwMode="auto">
            <a:xfrm>
              <a:off x="0" y="1295"/>
              <a:ext cx="768" cy="0"/>
            </a:xfrm>
            <a:prstGeom prst="line">
              <a:avLst/>
            </a:pr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81620" name="Line 20"/>
            <p:cNvSpPr>
              <a:spLocks noChangeShapeType="1"/>
            </p:cNvSpPr>
            <p:nvPr/>
          </p:nvSpPr>
          <p:spPr bwMode="auto">
            <a:xfrm>
              <a:off x="0" y="0"/>
              <a:ext cx="0" cy="1296"/>
            </a:xfrm>
            <a:prstGeom prst="line">
              <a:avLst/>
            </a:pr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281621" name="Text Box 21"/>
          <p:cNvSpPr txBox="1">
            <a:spLocks noChangeArrowheads="1"/>
          </p:cNvSpPr>
          <p:nvPr/>
        </p:nvSpPr>
        <p:spPr bwMode="auto">
          <a:xfrm>
            <a:off x="7397751" y="2805113"/>
            <a:ext cx="1274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内循环</a:t>
            </a:r>
          </a:p>
        </p:txBody>
      </p:sp>
      <p:sp>
        <p:nvSpPr>
          <p:cNvPr id="281622" name="Text Box 22"/>
          <p:cNvSpPr txBox="1">
            <a:spLocks noChangeArrowheads="1"/>
          </p:cNvSpPr>
          <p:nvPr/>
        </p:nvSpPr>
        <p:spPr bwMode="auto">
          <a:xfrm>
            <a:off x="5883275" y="2822575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外循环</a:t>
            </a:r>
          </a:p>
        </p:txBody>
      </p:sp>
      <p:sp>
        <p:nvSpPr>
          <p:cNvPr id="281623" name="Text Box 23"/>
          <p:cNvSpPr txBox="1">
            <a:spLocks noChangeArrowheads="1"/>
          </p:cNvSpPr>
          <p:nvPr/>
        </p:nvSpPr>
        <p:spPr bwMode="auto">
          <a:xfrm>
            <a:off x="6986588" y="459105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合法嵌套</a:t>
            </a:r>
          </a:p>
        </p:txBody>
      </p:sp>
    </p:spTree>
    <p:extLst>
      <p:ext uri="{BB962C8B-B14F-4D97-AF65-F5344CB8AC3E}">
        <p14:creationId xmlns:p14="http://schemas.microsoft.com/office/powerpoint/2010/main" val="819265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59013" y="103189"/>
            <a:ext cx="4648200" cy="693737"/>
          </a:xfrm>
        </p:spPr>
        <p:txBody>
          <a:bodyPr/>
          <a:lstStyle/>
          <a:p>
            <a:r>
              <a:rPr lang="zh-CN" altLang="en-US" sz="3200">
                <a:latin typeface="Times New Roman" pitchFamily="18" charset="0"/>
              </a:rPr>
              <a:t>说明</a:t>
            </a:r>
            <a:r>
              <a:rPr lang="zh-CN" altLang="zh-CN" sz="3200">
                <a:latin typeface="Times New Roman" pitchFamily="18" charset="0"/>
              </a:rPr>
              <a:t>: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3426" y="1304926"/>
            <a:ext cx="8501063" cy="4468813"/>
          </a:xfrm>
        </p:spPr>
        <p:txBody>
          <a:bodyPr/>
          <a:lstStyle/>
          <a:p>
            <a:pPr marL="388938" indent="-388938">
              <a:buClr>
                <a:srgbClr val="FF3300"/>
              </a:buClr>
              <a:buNone/>
            </a:pPr>
            <a:r>
              <a:rPr lang="zh-CN" altLang="zh-CN" sz="2400" b="1" dirty="0">
                <a:latin typeface="Times New Roman" pitchFamily="18" charset="0"/>
              </a:rPr>
              <a:t>2) </a:t>
            </a:r>
            <a:r>
              <a:rPr lang="zh-CN" altLang="en-US" sz="2000" b="1" dirty="0"/>
              <a:t>并列的循环变量可以同名</a:t>
            </a:r>
          </a:p>
          <a:p>
            <a:pPr marL="388938" indent="-388938">
              <a:lnSpc>
                <a:spcPct val="115000"/>
              </a:lnSpc>
              <a:spcBef>
                <a:spcPct val="65000"/>
              </a:spcBef>
              <a:buClr>
                <a:srgbClr val="FF3300"/>
              </a:buClr>
              <a:buNone/>
            </a:pPr>
            <a:r>
              <a:rPr lang="zh-CN" altLang="en-US" sz="2400" b="1" dirty="0"/>
              <a:t>        </a:t>
            </a:r>
            <a:r>
              <a:rPr lang="zh-CN" altLang="zh-CN" sz="2400" b="1" dirty="0">
                <a:solidFill>
                  <a:schemeClr val="hlink"/>
                </a:solidFill>
              </a:rPr>
              <a:t>for</a:t>
            </a:r>
            <a:r>
              <a:rPr lang="zh-CN" altLang="zh-CN" sz="2400" b="1" dirty="0">
                <a:solidFill>
                  <a:schemeClr val="hlink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chemeClr val="hlink"/>
                </a:solidFill>
              </a:rPr>
              <a:t> i=0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chemeClr val="hlink"/>
                </a:solidFill>
              </a:rPr>
              <a:t> i</a:t>
            </a:r>
            <a:r>
              <a:rPr lang="zh-CN" altLang="zh-CN" sz="2400" dirty="0">
                <a:solidFill>
                  <a:schemeClr val="hlink"/>
                </a:solidFill>
              </a:rPr>
              <a:t>&lt;</a:t>
            </a:r>
            <a:r>
              <a:rPr lang="zh-CN" altLang="zh-CN" sz="2400" b="1" dirty="0">
                <a:solidFill>
                  <a:schemeClr val="hlink"/>
                </a:solidFill>
              </a:rPr>
              <a:t>10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chemeClr val="hlink"/>
                </a:solidFill>
              </a:rPr>
              <a:t> i++</a:t>
            </a:r>
            <a:r>
              <a:rPr lang="zh-CN" altLang="zh-CN" sz="2400" b="1" dirty="0">
                <a:solidFill>
                  <a:schemeClr val="hlink"/>
                </a:solidFill>
                <a:latin typeface="Times New Roman" pitchFamily="18" charset="0"/>
              </a:rPr>
              <a:t>)</a:t>
            </a:r>
          </a:p>
          <a:p>
            <a:pPr marL="388938" indent="-388938">
              <a:lnSpc>
                <a:spcPct val="115000"/>
              </a:lnSpc>
              <a:spcBef>
                <a:spcPct val="55000"/>
              </a:spcBef>
              <a:buClr>
                <a:srgbClr val="FF3300"/>
              </a:buClr>
              <a:buNone/>
            </a:pPr>
            <a:r>
              <a:rPr lang="zh-CN" altLang="zh-CN" sz="2400" b="1" dirty="0"/>
              <a:t>       {</a:t>
            </a:r>
            <a:r>
              <a:rPr lang="zh-CN" altLang="zh-CN" sz="2400" b="1" dirty="0">
                <a:solidFill>
                  <a:schemeClr val="hlink"/>
                </a:solidFill>
              </a:rPr>
              <a:t>  </a:t>
            </a:r>
            <a:r>
              <a:rPr lang="zh-CN" altLang="zh-CN" sz="2400" b="1" dirty="0"/>
              <a:t>for 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/>
              <a:t> j=0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j</a:t>
            </a:r>
            <a:r>
              <a:rPr lang="zh-CN" altLang="zh-CN" sz="2400" dirty="0"/>
              <a:t>&lt;</a:t>
            </a:r>
            <a:r>
              <a:rPr lang="zh-CN" altLang="zh-CN" sz="2400" b="1" dirty="0"/>
              <a:t>=5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j++ 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</a:p>
          <a:p>
            <a:pPr marL="388938" indent="-388938">
              <a:lnSpc>
                <a:spcPct val="115000"/>
              </a:lnSpc>
              <a:spcBef>
                <a:spcPct val="35000"/>
              </a:spcBef>
              <a:buClr>
                <a:srgbClr val="FF3300"/>
              </a:buClr>
              <a:buNone/>
            </a:pPr>
            <a:r>
              <a:rPr lang="zh-CN" altLang="zh-CN" sz="2400" b="1" dirty="0"/>
              <a:t>                 printf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b="1" dirty="0"/>
              <a:t>%d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%d</a:t>
            </a:r>
            <a:r>
              <a:rPr lang="zh-CN" altLang="zh-CN" sz="2400" dirty="0"/>
              <a:t>\</a:t>
            </a:r>
            <a:r>
              <a:rPr lang="zh-CN" altLang="zh-CN" sz="2400" b="1" dirty="0"/>
              <a:t>n</a:t>
            </a:r>
            <a:r>
              <a:rPr lang="zh-CN" altLang="zh-CN" sz="2400" b="1" dirty="0">
                <a:latin typeface="Times New Roman" pitchFamily="18" charset="0"/>
              </a:rPr>
              <a:t>”, </a:t>
            </a:r>
            <a:r>
              <a:rPr lang="zh-CN" altLang="zh-CN" sz="2400" b="1" dirty="0"/>
              <a:t>i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j 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</a:p>
          <a:p>
            <a:pPr marL="388938" indent="-388938">
              <a:lnSpc>
                <a:spcPct val="115000"/>
              </a:lnSpc>
              <a:spcBef>
                <a:spcPct val="65000"/>
              </a:spcBef>
              <a:buClr>
                <a:srgbClr val="FF3300"/>
              </a:buClr>
              <a:buNone/>
            </a:pPr>
            <a:r>
              <a:rPr lang="zh-CN" altLang="zh-CN" sz="2400" b="1" dirty="0"/>
              <a:t>           for 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/>
              <a:t> j=0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j</a:t>
            </a:r>
            <a:r>
              <a:rPr lang="zh-CN" altLang="zh-CN" sz="2400" dirty="0"/>
              <a:t>&lt;</a:t>
            </a:r>
            <a:r>
              <a:rPr lang="zh-CN" altLang="zh-CN" sz="2400" b="1" dirty="0"/>
              <a:t>=5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j++ 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</a:p>
          <a:p>
            <a:pPr marL="388938" indent="-388938">
              <a:lnSpc>
                <a:spcPct val="115000"/>
              </a:lnSpc>
              <a:spcBef>
                <a:spcPct val="35000"/>
              </a:spcBef>
              <a:buClr>
                <a:srgbClr val="FF3300"/>
              </a:buClr>
              <a:buNone/>
            </a:pPr>
            <a:r>
              <a:rPr lang="zh-CN" altLang="zh-CN" sz="2400" b="1" dirty="0"/>
              <a:t>                 printf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b="1" dirty="0"/>
              <a:t>%d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%d</a:t>
            </a:r>
            <a:r>
              <a:rPr lang="zh-CN" altLang="zh-CN" sz="2400" dirty="0"/>
              <a:t>\</a:t>
            </a:r>
            <a:r>
              <a:rPr lang="zh-CN" altLang="zh-CN" sz="2400" b="1" dirty="0"/>
              <a:t>n</a:t>
            </a:r>
            <a:r>
              <a:rPr lang="zh-CN" altLang="zh-CN" sz="2400" b="1" dirty="0">
                <a:latin typeface="Times New Roman" pitchFamily="18" charset="0"/>
              </a:rPr>
              <a:t>”, </a:t>
            </a:r>
            <a:r>
              <a:rPr lang="zh-CN" altLang="zh-CN" sz="2400" b="1" dirty="0"/>
              <a:t>i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j 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</a:p>
          <a:p>
            <a:pPr marL="388938" indent="-388938">
              <a:lnSpc>
                <a:spcPct val="115000"/>
              </a:lnSpc>
              <a:spcBef>
                <a:spcPct val="25000"/>
              </a:spcBef>
              <a:buClr>
                <a:srgbClr val="FF3300"/>
              </a:buClr>
              <a:buNone/>
            </a:pPr>
            <a:r>
              <a:rPr lang="zh-CN" altLang="zh-CN" sz="2400" b="1" dirty="0"/>
              <a:t>       }</a:t>
            </a:r>
          </a:p>
        </p:txBody>
      </p:sp>
      <p:grpSp>
        <p:nvGrpSpPr>
          <p:cNvPr id="282628" name="Group 4"/>
          <p:cNvGrpSpPr>
            <a:grpSpLocks/>
          </p:cNvGrpSpPr>
          <p:nvPr/>
        </p:nvGrpSpPr>
        <p:grpSpPr bwMode="auto">
          <a:xfrm>
            <a:off x="7445375" y="2771776"/>
            <a:ext cx="1798638" cy="688975"/>
            <a:chOff x="0" y="0"/>
            <a:chExt cx="1133" cy="434"/>
          </a:xfrm>
        </p:grpSpPr>
        <p:sp>
          <p:nvSpPr>
            <p:cNvPr id="282629" name="AutoShape 5"/>
            <p:cNvSpPr>
              <a:spLocks/>
            </p:cNvSpPr>
            <p:nvPr/>
          </p:nvSpPr>
          <p:spPr bwMode="auto">
            <a:xfrm>
              <a:off x="0" y="0"/>
              <a:ext cx="96" cy="434"/>
            </a:xfrm>
            <a:prstGeom prst="rightBrace">
              <a:avLst>
                <a:gd name="adj1" fmla="val 37674"/>
                <a:gd name="adj2" fmla="val 50000"/>
              </a:avLst>
            </a:pr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82630" name="Text Box 6"/>
            <p:cNvSpPr txBox="1">
              <a:spLocks noChangeArrowheads="1"/>
            </p:cNvSpPr>
            <p:nvPr/>
          </p:nvSpPr>
          <p:spPr bwMode="auto">
            <a:xfrm>
              <a:off x="77" y="64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00"/>
                  </a:solidFill>
                </a:rPr>
                <a:t>内循环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282631" name="Group 7"/>
          <p:cNvGrpSpPr>
            <a:grpSpLocks/>
          </p:cNvGrpSpPr>
          <p:nvPr/>
        </p:nvGrpSpPr>
        <p:grpSpPr bwMode="auto">
          <a:xfrm>
            <a:off x="7470776" y="4014789"/>
            <a:ext cx="1831975" cy="638175"/>
            <a:chOff x="0" y="0"/>
            <a:chExt cx="1154" cy="402"/>
          </a:xfrm>
        </p:grpSpPr>
        <p:sp>
          <p:nvSpPr>
            <p:cNvPr id="282632" name="AutoShape 8"/>
            <p:cNvSpPr>
              <a:spLocks/>
            </p:cNvSpPr>
            <p:nvPr/>
          </p:nvSpPr>
          <p:spPr bwMode="auto">
            <a:xfrm>
              <a:off x="0" y="0"/>
              <a:ext cx="81" cy="402"/>
            </a:xfrm>
            <a:prstGeom prst="rightBrace">
              <a:avLst>
                <a:gd name="adj1" fmla="val 41358"/>
                <a:gd name="adj2" fmla="val 50000"/>
              </a:avLst>
            </a:pr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82633" name="Text Box 9"/>
            <p:cNvSpPr txBox="1">
              <a:spLocks noChangeArrowheads="1"/>
            </p:cNvSpPr>
            <p:nvPr/>
          </p:nvSpPr>
          <p:spPr bwMode="auto">
            <a:xfrm>
              <a:off x="98" y="56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00"/>
                  </a:solidFill>
                </a:rPr>
                <a:t>内循环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zh-CN" altLang="zh-CN" sz="2400" b="1">
                  <a:solidFill>
                    <a:srgbClr val="002EC2"/>
                  </a:solidFill>
                </a:rPr>
                <a:t>         </a:t>
              </a:r>
            </a:p>
          </p:txBody>
        </p:sp>
      </p:grpSp>
      <p:sp>
        <p:nvSpPr>
          <p:cNvPr id="282637" name="Rectangle 13"/>
          <p:cNvSpPr>
            <a:spLocks noChangeArrowheads="1"/>
          </p:cNvSpPr>
          <p:nvPr/>
        </p:nvSpPr>
        <p:spPr bwMode="auto">
          <a:xfrm>
            <a:off x="3532188" y="3089275"/>
            <a:ext cx="3829050" cy="4793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5000"/>
              </a:lnSpc>
              <a:spcBef>
                <a:spcPct val="35000"/>
              </a:spcBef>
              <a:spcAft>
                <a:spcPct val="0"/>
              </a:spcAft>
              <a:buClr>
                <a:srgbClr val="FF3300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printf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%d</a:t>
            </a:r>
            <a:r>
              <a:rPr lang="zh-CN" altLang="zh-CN" sz="2400" dirty="0">
                <a:solidFill>
                  <a:srgbClr val="000000"/>
                </a:solidFill>
                <a:ea typeface="Dotum" pitchFamily="34" charset="-127"/>
              </a:rPr>
              <a:t>\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ea typeface="Dotum" pitchFamily="34" charset="-127"/>
              </a:rPr>
              <a:t>j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0004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37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A4D20E2-3AC3-98A1-532B-D08A172870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5905" y="1075735"/>
            <a:ext cx="9753600" cy="5588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388938" indent="-388938">
              <a:buClr>
                <a:srgbClr val="FF3300"/>
              </a:buClr>
              <a:buNone/>
            </a:pPr>
            <a:r>
              <a:rPr lang="en-US" altLang="zh-CN" sz="3200" b="1" dirty="0">
                <a:latin typeface="Times New Roman" pitchFamily="18" charset="0"/>
              </a:rPr>
              <a:t>3</a:t>
            </a:r>
            <a:r>
              <a:rPr lang="zh-CN" altLang="zh-CN" sz="3200" b="1" dirty="0">
                <a:latin typeface="Times New Roman" pitchFamily="18" charset="0"/>
              </a:rPr>
              <a:t>) </a:t>
            </a:r>
            <a:r>
              <a:rPr lang="zh-CN" altLang="en-US" sz="2800" b="1" dirty="0"/>
              <a:t>嵌套的循环变量同名会影响外循环</a:t>
            </a:r>
          </a:p>
          <a:p>
            <a:pPr marL="0" indent="0">
              <a:spcBef>
                <a:spcPts val="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#include &lt;</a:t>
            </a:r>
            <a:r>
              <a:rPr lang="en-US" altLang="zh-CN" sz="2800" b="1" dirty="0" err="1"/>
              <a:t>stdio.h</a:t>
            </a:r>
            <a:r>
              <a:rPr lang="en-US" altLang="zh-CN" sz="2800" b="1" dirty="0"/>
              <a:t>&gt;</a:t>
            </a:r>
          </a:p>
          <a:p>
            <a:pPr marL="0" indent="0">
              <a:spcBef>
                <a:spcPts val="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main()</a:t>
            </a:r>
          </a:p>
          <a:p>
            <a:pPr marL="0" indent="0">
              <a:spcBef>
                <a:spcPts val="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{</a:t>
            </a:r>
          </a:p>
          <a:p>
            <a:pPr marL="0" indent="0">
              <a:spcBef>
                <a:spcPts val="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	int	a=0,b=0,i,j;</a:t>
            </a:r>
          </a:p>
          <a:p>
            <a:pPr marL="0" indent="0">
              <a:spcBef>
                <a:spcPts val="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	for(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=1;i&lt;=10;i++)</a:t>
            </a:r>
          </a:p>
          <a:p>
            <a:pPr marL="0" indent="0">
              <a:spcBef>
                <a:spcPts val="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	{</a:t>
            </a:r>
          </a:p>
          <a:p>
            <a:pPr marL="0" indent="0">
              <a:spcBef>
                <a:spcPts val="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		for(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=10;i&lt;=12;i++)</a:t>
            </a:r>
          </a:p>
          <a:p>
            <a:pPr marL="0" indent="0">
              <a:spcBef>
                <a:spcPts val="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			</a:t>
            </a:r>
            <a:r>
              <a:rPr lang="en-US" altLang="zh-CN" sz="2800" b="1" dirty="0" err="1"/>
              <a:t>printf</a:t>
            </a:r>
            <a:r>
              <a:rPr lang="en-US" altLang="zh-CN" sz="2800" b="1" dirty="0"/>
              <a:t>("%d\n",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);</a:t>
            </a:r>
          </a:p>
          <a:p>
            <a:pPr marL="0" indent="0">
              <a:spcBef>
                <a:spcPts val="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	}</a:t>
            </a:r>
          </a:p>
          <a:p>
            <a:pPr marL="388938" indent="-388938">
              <a:lnSpc>
                <a:spcPct val="115000"/>
              </a:lnSpc>
              <a:spcBef>
                <a:spcPct val="6500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	</a:t>
            </a:r>
            <a:r>
              <a:rPr lang="en-US" altLang="zh-CN" sz="2800" b="1" dirty="0" err="1"/>
              <a:t>printf</a:t>
            </a:r>
            <a:r>
              <a:rPr lang="en-US" altLang="zh-CN" sz="2800" b="1" dirty="0"/>
              <a:t>(“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=%d\n”,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);</a:t>
            </a:r>
            <a:r>
              <a:rPr lang="zh-CN" altLang="en-US" sz="2800" b="1" dirty="0"/>
              <a:t>此处输出</a:t>
            </a:r>
            <a:r>
              <a:rPr lang="zh-CN" altLang="en-US" sz="2800" b="1" dirty="0">
                <a:solidFill>
                  <a:srgbClr val="639EF4"/>
                </a:solidFill>
              </a:rPr>
              <a:t> </a:t>
            </a:r>
            <a:r>
              <a:rPr lang="en-US" altLang="zh-CN" sz="2800" b="1" dirty="0">
                <a:solidFill>
                  <a:srgbClr val="639EF4"/>
                </a:solidFill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</a:rPr>
              <a:t>1]</a:t>
            </a:r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</a:p>
          <a:p>
            <a:pPr marL="388938" indent="-388938">
              <a:lnSpc>
                <a:spcPct val="115000"/>
              </a:lnSpc>
              <a:spcBef>
                <a:spcPct val="65000"/>
              </a:spcBef>
              <a:buClr>
                <a:srgbClr val="FF3300"/>
              </a:buClr>
              <a:buNone/>
            </a:pPr>
            <a:r>
              <a:rPr lang="en-US" altLang="zh-CN" sz="2800" b="1" dirty="0"/>
              <a:t>}</a:t>
            </a:r>
            <a:endParaRPr lang="zh-CN" altLang="zh-CN" sz="2800" b="1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2CA15D3-6F0C-0A61-61CD-6E5F670C1E4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C9A0ED2-1122-89CE-6880-A163C6F7A9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8048" y="1515998"/>
            <a:ext cx="4614984" cy="2122389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37BBCB0E-E302-B669-92F1-15A1696A219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84C99D92-1D1A-7225-CC50-E29254C4108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2939F2E8-0B3A-2097-AF1A-7B786A9CA0B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AE72809F-EAB2-5156-1491-AA04608E3B6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FE6097D9-14E7-1ABE-C544-0F71C821410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535C104-FF24-9832-9698-9D4074964379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97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70138" y="233363"/>
            <a:ext cx="5249862" cy="519112"/>
          </a:xfrm>
        </p:spPr>
        <p:txBody>
          <a:bodyPr/>
          <a:lstStyle/>
          <a:p>
            <a:r>
              <a:rPr lang="zh-CN" altLang="en-US" sz="3200">
                <a:latin typeface="Times New Roman" pitchFamily="18" charset="0"/>
              </a:rPr>
              <a:t>说明</a:t>
            </a:r>
            <a:r>
              <a:rPr lang="zh-CN" altLang="zh-CN" sz="3200">
                <a:latin typeface="Times New Roman" pitchFamily="18" charset="0"/>
              </a:rPr>
              <a:t>: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8989" y="1176338"/>
            <a:ext cx="8047037" cy="4767262"/>
          </a:xfrm>
        </p:spPr>
        <p:txBody>
          <a:bodyPr/>
          <a:lstStyle/>
          <a:p>
            <a:pPr marL="388938" indent="-388938" algn="just">
              <a:lnSpc>
                <a:spcPct val="1100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zh-CN" altLang="en-US" b="1" dirty="0">
                <a:latin typeface="Courier New" pitchFamily="49" charset="0"/>
              </a:rPr>
              <a:t>三种循环语句可以相互嵌套，但不允许交叉。</a:t>
            </a:r>
            <a:endParaRPr lang="en-US" altLang="zh-CN" b="1" dirty="0">
              <a:latin typeface="Courier New" pitchFamily="49" charset="0"/>
            </a:endParaRPr>
          </a:p>
          <a:p>
            <a:pPr marL="388938" indent="-388938">
              <a:lnSpc>
                <a:spcPct val="115000"/>
              </a:lnSpc>
              <a:spcBef>
                <a:spcPct val="50000"/>
              </a:spcBef>
              <a:buNone/>
            </a:pPr>
            <a:endParaRPr lang="en-US" altLang="zh-CN" b="1">
              <a:latin typeface="Times New Roman" pitchFamily="18" charset="0"/>
            </a:endParaRPr>
          </a:p>
          <a:p>
            <a:pPr marL="388938" indent="-388938">
              <a:lnSpc>
                <a:spcPct val="115000"/>
              </a:lnSpc>
              <a:spcBef>
                <a:spcPct val="50000"/>
              </a:spcBef>
              <a:buNone/>
            </a:pPr>
            <a:r>
              <a:rPr lang="en-US" altLang="zh-CN" b="1">
                <a:latin typeface="Times New Roman" pitchFamily="18" charset="0"/>
              </a:rPr>
              <a:t>5</a:t>
            </a:r>
            <a:r>
              <a:rPr lang="zh-CN" altLang="zh-CN" b="1" dirty="0">
                <a:latin typeface="Times New Roman" pitchFamily="18" charset="0"/>
              </a:rPr>
              <a:t>)  </a:t>
            </a:r>
            <a:r>
              <a:rPr lang="zh-CN" altLang="en-US" b="1" dirty="0"/>
              <a:t>循环与分支可以相互嵌套但不允许交叉。</a:t>
            </a:r>
          </a:p>
        </p:txBody>
      </p:sp>
      <p:sp>
        <p:nvSpPr>
          <p:cNvPr id="283653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703388" y="836614"/>
            <a:ext cx="360362" cy="288925"/>
          </a:xfrm>
          <a:prstGeom prst="actionButtonForwardNext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794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90315" y="1196752"/>
            <a:ext cx="7315200" cy="142584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609600" indent="-609600">
              <a:lnSpc>
                <a:spcPct val="110000"/>
              </a:lnSpc>
            </a:pPr>
            <a:r>
              <a:rPr lang="zh-CN" altLang="zh-CN" sz="2400" b="1" dirty="0"/>
              <a:t>若有</a:t>
            </a: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x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y</a:t>
            </a:r>
            <a:r>
              <a:rPr lang="zh-CN" altLang="zh-CN" sz="2400" b="1" dirty="0">
                <a:latin typeface="Times New Roman" pitchFamily="18" charset="0"/>
              </a:rPr>
              <a:t> ;</a:t>
            </a:r>
            <a:r>
              <a:rPr lang="zh-CN" altLang="zh-CN" sz="2400" b="1" dirty="0"/>
              <a:t> 且x=</a:t>
            </a:r>
            <a:r>
              <a:rPr lang="zh-CN" altLang="zh-CN" sz="2400" b="1" dirty="0">
                <a:latin typeface="Arial" pitchFamily="34" charset="0"/>
              </a:rPr>
              <a:t>20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zh-CN" sz="2400" b="1" dirty="0"/>
              <a:t>则以下关于</a:t>
            </a:r>
            <a:r>
              <a:rPr lang="zh-CN" altLang="zh-CN" sz="2400" b="1" dirty="0">
                <a:latin typeface="Times New Roman" pitchFamily="18" charset="0"/>
              </a:rPr>
              <a:t>for </a:t>
            </a:r>
            <a:r>
              <a:rPr lang="zh-CN" altLang="zh-CN" sz="2400" b="1" dirty="0"/>
              <a:t>循环语句的正确判断为 </a:t>
            </a:r>
            <a:r>
              <a:rPr lang="zh-CN" altLang="zh-CN" sz="2400" b="1" u="sng" dirty="0"/>
              <a:t>      </a:t>
            </a:r>
            <a:r>
              <a:rPr lang="zh-CN" altLang="zh-CN" sz="2400" b="1" dirty="0"/>
              <a:t> </a:t>
            </a:r>
            <a:endParaRPr lang="en-US" altLang="zh-CN" sz="2400" b="1" dirty="0"/>
          </a:p>
          <a:p>
            <a:pPr marL="609600" indent="-609600">
              <a:lnSpc>
                <a:spcPct val="110000"/>
              </a:lnSpc>
            </a:pPr>
            <a:r>
              <a:rPr lang="zh-CN" altLang="zh-CN" sz="2400" b="1" dirty="0"/>
              <a:t>    </a:t>
            </a:r>
            <a:r>
              <a:rPr lang="zh-CN" altLang="zh-CN" sz="2400" b="1" dirty="0">
                <a:latin typeface="Arial" pitchFamily="34" charset="0"/>
              </a:rPr>
              <a:t>for</a:t>
            </a:r>
            <a:r>
              <a:rPr lang="zh-CN" altLang="zh-CN" sz="2400" b="1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/>
              <a:t>y=</a:t>
            </a:r>
            <a:r>
              <a:rPr lang="zh-CN" altLang="zh-CN" sz="2400" b="1" dirty="0">
                <a:latin typeface="Arial" pitchFamily="34" charset="0"/>
              </a:rPr>
              <a:t>20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 x</a:t>
            </a:r>
            <a:r>
              <a:rPr lang="zh-CN" altLang="zh-CN" sz="2400" b="1" dirty="0">
                <a:latin typeface="Times New Roman" pitchFamily="18" charset="0"/>
              </a:rPr>
              <a:t>!</a:t>
            </a:r>
            <a:r>
              <a:rPr lang="zh-CN" altLang="zh-CN" sz="2400" b="1" dirty="0"/>
              <a:t>=y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++x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y++</a:t>
            </a:r>
            <a:r>
              <a:rPr lang="zh-CN" altLang="zh-CN" sz="2400" b="1" dirty="0">
                <a:solidFill>
                  <a:schemeClr val="bg2"/>
                </a:solidFill>
                <a:latin typeface="Times New Roman" pitchFamily="18" charset="0"/>
              </a:rPr>
              <a:t>)</a:t>
            </a:r>
            <a:r>
              <a:rPr lang="zh-CN" altLang="zh-CN" sz="2400" b="1" dirty="0">
                <a:solidFill>
                  <a:schemeClr val="bg2"/>
                </a:solidFill>
              </a:rPr>
              <a:t> 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marL="609600" indent="-609600">
              <a:lnSpc>
                <a:spcPct val="110000"/>
              </a:lnSpc>
            </a:pPr>
            <a:r>
              <a:rPr lang="en-US" altLang="zh-CN" sz="2400" b="1" dirty="0">
                <a:solidFill>
                  <a:schemeClr val="bg2"/>
                </a:solidFill>
                <a:latin typeface="Arial" pitchFamily="34" charset="0"/>
              </a:rPr>
              <a:t>            </a:t>
            </a:r>
            <a:r>
              <a:rPr lang="zh-CN" altLang="zh-CN" sz="2400" b="1" dirty="0">
                <a:latin typeface="Arial" pitchFamily="34" charset="0"/>
              </a:rPr>
              <a:t>printf</a:t>
            </a:r>
            <a:r>
              <a:rPr lang="zh-CN" altLang="zh-CN" sz="2400" b="1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chemeClr val="bg2"/>
                </a:solidFill>
                <a:latin typeface="Times New Roman"/>
              </a:rPr>
              <a:t>”</a:t>
            </a:r>
            <a:r>
              <a:rPr lang="zh-CN" altLang="zh-CN" sz="2400" b="1" dirty="0">
                <a:solidFill>
                  <a:schemeClr val="bg2"/>
                </a:solidFill>
              </a:rPr>
              <a:t>----</a:t>
            </a:r>
            <a:r>
              <a:rPr lang="zh-CN" altLang="zh-CN" sz="2400" dirty="0">
                <a:solidFill>
                  <a:schemeClr val="bg2"/>
                </a:solidFill>
              </a:rPr>
              <a:t>\</a:t>
            </a:r>
            <a:r>
              <a:rPr lang="zh-CN" altLang="zh-CN" sz="2400" b="1" dirty="0">
                <a:solidFill>
                  <a:schemeClr val="bg2"/>
                </a:solidFill>
              </a:rPr>
              <a:t>n</a:t>
            </a:r>
            <a:r>
              <a:rPr lang="zh-CN" altLang="zh-CN" sz="2400" b="1" dirty="0">
                <a:solidFill>
                  <a:schemeClr val="bg2"/>
                </a:solidFill>
                <a:latin typeface="Times New Roman"/>
              </a:rPr>
              <a:t>”</a:t>
            </a:r>
            <a:r>
              <a:rPr lang="zh-CN" altLang="zh-CN" sz="2400" b="1" dirty="0">
                <a:solidFill>
                  <a:schemeClr val="bg2"/>
                </a:solidFill>
                <a:latin typeface="Times New Roman" pitchFamily="18" charset="0"/>
              </a:rPr>
              <a:t>);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98888" y="279700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spcBef>
                <a:spcPct val="60000"/>
              </a:spcBef>
            </a:pPr>
            <a:r>
              <a:rPr lang="zh-CN" altLang="zh-CN" sz="2800" b="1" dirty="0"/>
              <a:t>输出----</a:t>
            </a:r>
            <a:endParaRPr lang="zh-CN" altLang="zh-CN" sz="2800" b="1" dirty="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死循环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spcBef>
                <a:spcPct val="60000"/>
              </a:spcBef>
            </a:pPr>
            <a:r>
              <a:rPr lang="zh-CN" altLang="zh-CN" sz="2800" b="1" dirty="0"/>
              <a:t>循环体只执行一次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 algn="just">
              <a:spcBef>
                <a:spcPct val="45000"/>
              </a:spcBef>
            </a:pPr>
            <a:r>
              <a:rPr lang="zh-CN" altLang="zh-CN" sz="2800" b="1" dirty="0"/>
              <a:t>循环体一次也不执行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28858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t=-1&quot;]}]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true,&quot;Score&quot;:1.0,&quot;answers&quot;:[&quot;5&quot;,&quot;5&quot;]}]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11&quot;]}]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a=2,b=6&quot;]}]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i=14&quot;]}]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9900"/>
      </a:hlink>
      <a:folHlink>
        <a:srgbClr val="FFCC00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3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4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5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6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whu8">
  <a:themeElements>
    <a:clrScheme name="3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whu8">
      <a:majorFont>
        <a:latin typeface="Tahoma"/>
        <a:ea typeface="楷体_GB2312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3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whu8">
  <a:themeElements>
    <a:clrScheme name="1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1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8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0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00000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1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12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4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5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6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whu8">
  <a:themeElements>
    <a:clrScheme name="whu8 11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000099"/>
      </a:folHlink>
    </a:clrScheme>
    <a:fontScheme name="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3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4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5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6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10412</TotalTime>
  <Words>2984</Words>
  <Application>Microsoft Office PowerPoint</Application>
  <PresentationFormat>宽屏</PresentationFormat>
  <Paragraphs>520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60" baseType="lpstr">
      <vt:lpstr>黑体</vt:lpstr>
      <vt:lpstr>华文隶书</vt:lpstr>
      <vt:lpstr>楷体_GB2312</vt:lpstr>
      <vt:lpstr>隶书</vt:lpstr>
      <vt:lpstr>宋体</vt:lpstr>
      <vt:lpstr>Microsoft Yahei</vt:lpstr>
      <vt:lpstr>Arial</vt:lpstr>
      <vt:lpstr>Arial Black</vt:lpstr>
      <vt:lpstr>Calibri</vt:lpstr>
      <vt:lpstr>Courier New</vt:lpstr>
      <vt:lpstr>Tahoma</vt:lpstr>
      <vt:lpstr>Times New Roman</vt:lpstr>
      <vt:lpstr>Wingdings</vt:lpstr>
      <vt:lpstr>Blends</vt:lpstr>
      <vt:lpstr>3_whu8</vt:lpstr>
      <vt:lpstr>1_whu8</vt:lpstr>
      <vt:lpstr>whu8</vt:lpstr>
      <vt:lpstr>Slide</vt:lpstr>
      <vt:lpstr>SmartDraw.2</vt:lpstr>
      <vt:lpstr>循环结构</vt:lpstr>
      <vt:lpstr>4.1 while 语句</vt:lpstr>
      <vt:lpstr>例4.1   求1+2+3+···+100的和</vt:lpstr>
      <vt:lpstr>说明:</vt:lpstr>
      <vt:lpstr>例:  指出下列语句的错误</vt:lpstr>
      <vt:lpstr>说明:</vt:lpstr>
      <vt:lpstr>例4.2 求n！</vt:lpstr>
      <vt:lpstr>PowerPoint 演示文稿</vt:lpstr>
      <vt:lpstr>PowerPoint 演示文稿</vt:lpstr>
      <vt:lpstr>PowerPoint 演示文稿</vt:lpstr>
      <vt:lpstr>PowerPoint 演示文稿</vt:lpstr>
      <vt:lpstr>4.2  do-while 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  for 语句</vt:lpstr>
      <vt:lpstr>for 语句</vt:lpstr>
      <vt:lpstr>4.3  for 语句</vt:lpstr>
      <vt:lpstr>4.3  for 语句</vt:lpstr>
      <vt:lpstr> for语句的几种格式:</vt:lpstr>
      <vt:lpstr> for语句的几种格式:</vt:lpstr>
      <vt:lpstr> for语句的几种格式:</vt:lpstr>
      <vt:lpstr> for语句的几种格式:</vt:lpstr>
      <vt:lpstr> for语句的几种格式:</vt:lpstr>
      <vt:lpstr>PowerPoint 演示文稿</vt:lpstr>
      <vt:lpstr>goto语句</vt:lpstr>
      <vt:lpstr>PowerPoint 演示文稿</vt:lpstr>
      <vt:lpstr>PowerPoint 演示文稿</vt:lpstr>
      <vt:lpstr>注意：</vt:lpstr>
      <vt:lpstr>4.4  循环的嵌套</vt:lpstr>
      <vt:lpstr>PowerPoint 演示文稿</vt:lpstr>
      <vt:lpstr>两种循环对比</vt:lpstr>
      <vt:lpstr>例4.6  打印“九九表”</vt:lpstr>
      <vt:lpstr>例4.6  打印“九九表”</vt:lpstr>
      <vt:lpstr>说明:</vt:lpstr>
      <vt:lpstr>说明:</vt:lpstr>
      <vt:lpstr>PowerPoint 演示文稿</vt:lpstr>
      <vt:lpstr>说明:</vt:lpstr>
      <vt:lpstr>PowerPoint 演示文稿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wwb</dc:creator>
  <cp:lastModifiedBy>Administrator</cp:lastModifiedBy>
  <cp:revision>53</cp:revision>
  <dcterms:created xsi:type="dcterms:W3CDTF">2020-01-07T05:33:56Z</dcterms:created>
  <dcterms:modified xsi:type="dcterms:W3CDTF">2025-01-08T01:53:25Z</dcterms:modified>
</cp:coreProperties>
</file>