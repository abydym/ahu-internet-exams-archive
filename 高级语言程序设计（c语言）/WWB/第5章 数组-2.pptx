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notesSlides/notesSlide1.xml" ContentType="application/vnd.openxmlformats-officedocument.presentationml.notesSlid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7" r:id="rId2"/>
    <p:sldMasterId id="2147483702" r:id="rId3"/>
  </p:sldMasterIdLst>
  <p:notesMasterIdLst>
    <p:notesMasterId r:id="rId48"/>
  </p:notesMasterIdLst>
  <p:sldIdLst>
    <p:sldId id="295" r:id="rId4"/>
    <p:sldId id="296" r:id="rId5"/>
    <p:sldId id="375" r:id="rId6"/>
    <p:sldId id="297" r:id="rId7"/>
    <p:sldId id="298" r:id="rId8"/>
    <p:sldId id="299" r:id="rId9"/>
    <p:sldId id="300" r:id="rId10"/>
    <p:sldId id="301" r:id="rId11"/>
    <p:sldId id="302" r:id="rId12"/>
    <p:sldId id="384" r:id="rId13"/>
    <p:sldId id="303" r:id="rId14"/>
    <p:sldId id="385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76" r:id="rId23"/>
    <p:sldId id="378" r:id="rId24"/>
    <p:sldId id="314" r:id="rId25"/>
    <p:sldId id="316" r:id="rId26"/>
    <p:sldId id="315" r:id="rId27"/>
    <p:sldId id="317" r:id="rId28"/>
    <p:sldId id="360" r:id="rId29"/>
    <p:sldId id="362" r:id="rId30"/>
    <p:sldId id="321" r:id="rId31"/>
    <p:sldId id="322" r:id="rId32"/>
    <p:sldId id="324" r:id="rId33"/>
    <p:sldId id="366" r:id="rId34"/>
    <p:sldId id="373" r:id="rId35"/>
    <p:sldId id="364" r:id="rId36"/>
    <p:sldId id="383" r:id="rId37"/>
    <p:sldId id="380" r:id="rId38"/>
    <p:sldId id="355" r:id="rId39"/>
    <p:sldId id="356" r:id="rId40"/>
    <p:sldId id="386" r:id="rId41"/>
    <p:sldId id="357" r:id="rId42"/>
    <p:sldId id="358" r:id="rId43"/>
    <p:sldId id="365" r:id="rId44"/>
    <p:sldId id="367" r:id="rId45"/>
    <p:sldId id="382" r:id="rId46"/>
    <p:sldId id="381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12" autoAdjust="0"/>
  </p:normalViewPr>
  <p:slideViewPr>
    <p:cSldViewPr>
      <p:cViewPr varScale="1">
        <p:scale>
          <a:sx n="61" d="100"/>
          <a:sy n="61" d="100"/>
        </p:scale>
        <p:origin x="86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A696-49BD-434A-A802-DB7EF9A23B33}" type="datetimeFigureOut">
              <a:rPr lang="zh-CN" altLang="en-US" smtClean="0"/>
              <a:t>2025/1/12 Sunday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1FEE13-3FA5-451F-8CB6-25B41D0E4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687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1FEE13-3FA5-451F-8CB6-25B41D0E4170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010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8195" name="Group 3"/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8196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8197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8198" name="Group 6"/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8199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8200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8201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8202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8203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8206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8207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8208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8983048-1043-48A0-91A7-076CE7E40C0F}" type="slidenum">
              <a:rPr lang="zh-CN" altLang="zh-CN">
                <a:solidFill>
                  <a:srgbClr val="1C1C1C"/>
                </a:solidFill>
              </a:rPr>
              <a:pPr/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504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4B2B16-FBDD-4EAE-AB95-5373AB5C0CD4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416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3E6996-6EDE-464C-8E18-BE44335F60A4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454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1F596E-5821-45B6-A6EF-63F03CFBAE5F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846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BD512-3F3C-4155-983F-A33568463D4C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067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32758-6A95-4D48-927D-4C88880FC40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591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FFB9EC-AED8-479A-9275-8B8565D92EFC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283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C35CE8-0CC2-46BC-B48F-F12EA735A4F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811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117B45-0F61-4AAF-9525-3C927B49F8A7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749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BA2275-0735-4A0E-A2D2-AB8D2435B978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471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06517" y="1"/>
            <a:ext cx="2743200" cy="6132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76917" y="1"/>
            <a:ext cx="8026400" cy="6132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8E90FB-48E8-4ABE-A445-897F5823ADD0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12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9000" y="0"/>
            <a:ext cx="1039071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C1BA5DFD-6254-4620-A362-1F6DB1F6BADC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541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9000" y="0"/>
            <a:ext cx="1039071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D12815D3-C6B4-450A-89A8-0A0AFE899363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166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9000" y="0"/>
            <a:ext cx="1039071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A61744CD-1CD6-44E3-8F18-5FD78C002A4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372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18435" name="Group 3"/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18436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18437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18438" name="Group 6"/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18439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18440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1844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844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18446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18447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18448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455358D-8E25-48CB-8CB6-66B66E75B304}" type="slidenum">
              <a:rPr lang="zh-CN" altLang="zh-CN">
                <a:solidFill>
                  <a:srgbClr val="1C1C1C"/>
                </a:solidFill>
              </a:rPr>
              <a:pPr/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9217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89B319-9A4E-471D-9BA0-45B76074513E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448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DCB1AB-992B-4123-8A1E-86E80AC1A1F8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6029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90651" y="1196975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73851" y="1196975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4CDC57-7F2F-4058-8AC8-34FFF73B01CB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8337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C4D167-0392-47C6-B5C4-F48DA8A0EB7B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5322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3EFF7A-5DA8-474D-87BB-C4E072B378A9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2689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FD60FC-62C2-4F89-B93E-4EA94FC2906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1863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548F2B-0EAD-426B-8640-324F2D8673C8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9353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795293-53DA-47AD-B6E6-DCE2AD8DC829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2670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CFFA64-755A-4F41-BD20-09DD8F1D1F51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5758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455151" y="-211138"/>
            <a:ext cx="2688167" cy="5522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390651" y="-211138"/>
            <a:ext cx="7861300" cy="5522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226685-D633-4545-B742-084844CE7397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1214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2600" y="-211138"/>
            <a:ext cx="10390717" cy="11414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390651" y="1196975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73851" y="1196975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FA8AB995-AEFF-49DB-A20F-7F9D063F0A01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8896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2600" y="-211138"/>
            <a:ext cx="10390717" cy="11414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390651" y="1196975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2219C0CF-3FE4-42CB-8CC0-0C107CE462D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7382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390651" y="-211138"/>
            <a:ext cx="10752667" cy="55229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C071F47E-1761-449F-91AF-A03198D4D96E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3286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Oval 2"/>
          <p:cNvSpPr>
            <a:spLocks noChangeArrowheads="1"/>
          </p:cNvSpPr>
          <p:nvPr/>
        </p:nvSpPr>
        <p:spPr bwMode="auto">
          <a:xfrm>
            <a:off x="203200" y="381000"/>
            <a:ext cx="2336800" cy="17526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625600" y="1524000"/>
            <a:ext cx="9448800" cy="76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2667000"/>
            <a:ext cx="8136467" cy="2667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0" indent="0">
              <a:buSzTx/>
              <a:buFont typeface="Wingdings" pitchFamily="2" charset="2"/>
              <a:buBlip>
                <a:blip r:embed="rId3"/>
              </a:buBlip>
              <a:defRPr sz="2400"/>
            </a:lvl1pPr>
          </a:lstStyle>
          <a:p>
            <a:pPr lvl="0"/>
            <a:r>
              <a:rPr lang="zh-CN" altLang="zh-CN" noProof="0"/>
              <a:t> </a:t>
            </a:r>
            <a:r>
              <a:rPr lang="zh-CN" noProof="0"/>
              <a:t>单击此处编辑母版副标题样式</a:t>
            </a: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1930400" y="6400800"/>
            <a:ext cx="9347200" cy="457200"/>
          </a:xfrm>
          <a:prstGeom prst="rect">
            <a:avLst/>
          </a:prstGeom>
          <a:solidFill>
            <a:srgbClr val="CBD9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latin typeface="Tahoma" pitchFamily="34" charset="0"/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26237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098798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70788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876175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143000"/>
            <a:ext cx="5588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0" y="1143000"/>
            <a:ext cx="5588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866094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648197"/>
            <a:ext cx="10972800" cy="769441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202795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669748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20623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1034990"/>
            <a:ext cx="4011084" cy="40011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782864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967228"/>
            <a:ext cx="7315200" cy="40011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274166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545719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28600"/>
            <a:ext cx="1538883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228600"/>
            <a:ext cx="833120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43564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520700" y="442913"/>
            <a:ext cx="58420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1030818" y="442913"/>
            <a:ext cx="438149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685801" y="865188"/>
            <a:ext cx="563033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1178984" y="865188"/>
            <a:ext cx="491067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133351" y="792164"/>
            <a:ext cx="747183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999067" y="179388"/>
            <a:ext cx="42333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54567" y="1125538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159000" y="0"/>
            <a:ext cx="1039071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717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717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18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9436B29-694E-46F6-AA08-27C2F585A5A7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775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459317" y="260351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969434" y="2603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624418" y="6826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1117600" y="6826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133351" y="731839"/>
            <a:ext cx="747183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937684" y="57151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514351" y="941388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-211138"/>
            <a:ext cx="10390717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741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90651" y="1196975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741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742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742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C714476-57D9-4B80-A8CD-DCBCC4D47150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66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008000"/>
        </a:buClr>
        <a:buSzPct val="45000"/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28600"/>
            <a:ext cx="10769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11379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endParaRPr lang="zh-CN" altLang="zh-CN"/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914400" y="990600"/>
            <a:ext cx="10769600" cy="0"/>
          </a:xfrm>
          <a:prstGeom prst="line">
            <a:avLst/>
          </a:prstGeom>
          <a:noFill/>
          <a:ln w="57150" cmpd="thinThick">
            <a:solidFill>
              <a:srgbClr val="0099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1828800" y="6400800"/>
            <a:ext cx="9347200" cy="457200"/>
          </a:xfrm>
          <a:prstGeom prst="rect">
            <a:avLst/>
          </a:prstGeom>
          <a:solidFill>
            <a:srgbClr val="CBD9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latin typeface="Tahoma" pitchFamily="34" charset="0"/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2027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FF0000"/>
        </a:buClr>
        <a:buSzPct val="9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006600"/>
        </a:buClr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6600CC"/>
        </a:buClr>
        <a:buFont typeface="Wingdings" pitchFamily="2" charset="2"/>
        <a:buChar char="Ø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image" Target="../media/image4.gif"/><Relationship Id="rId2" Type="http://schemas.openxmlformats.org/officeDocument/2006/relationships/slide" Target="slide2.xml"/><Relationship Id="rId1" Type="http://schemas.openxmlformats.org/officeDocument/2006/relationships/slideLayout" Target="../slideLayouts/slideLayout30.xml"/><Relationship Id="rId6" Type="http://schemas.openxmlformats.org/officeDocument/2006/relationships/slide" Target="slide1.xml"/><Relationship Id="rId5" Type="http://schemas.openxmlformats.org/officeDocument/2006/relationships/slide" Target="slide34.xml"/><Relationship Id="rId4" Type="http://schemas.openxmlformats.org/officeDocument/2006/relationships/slide" Target="slide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slide" Target="slide1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2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6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tags" Target="../tags/tag35.xml"/><Relationship Id="rId3" Type="http://schemas.openxmlformats.org/officeDocument/2006/relationships/tags" Target="../tags/tag20.xml"/><Relationship Id="rId21" Type="http://schemas.openxmlformats.org/officeDocument/2006/relationships/image" Target="../media/image6.tmp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slideLayout" Target="../slideLayouts/slideLayout21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tags" Target="../tags/tag36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slideLayout" Target="../slideLayouts/slideLayout21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19" Type="http://schemas.openxmlformats.org/officeDocument/2006/relationships/image" Target="../media/image6.tmp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18" Type="http://schemas.openxmlformats.org/officeDocument/2006/relationships/slideLayout" Target="../slideLayouts/slideLayout2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tags" Target="../tags/tag70.xml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10" Type="http://schemas.openxmlformats.org/officeDocument/2006/relationships/tags" Target="../tags/tag63.xml"/><Relationship Id="rId19" Type="http://schemas.openxmlformats.org/officeDocument/2006/relationships/image" Target="../media/image6.tmp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slide" Target="slide1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13" Type="http://schemas.openxmlformats.org/officeDocument/2006/relationships/tags" Target="../tags/tag8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tags" Target="../tags/tag82.xml"/><Relationship Id="rId17" Type="http://schemas.openxmlformats.org/officeDocument/2006/relationships/tags" Target="../tags/tag87.xml"/><Relationship Id="rId2" Type="http://schemas.openxmlformats.org/officeDocument/2006/relationships/tags" Target="../tags/tag72.xml"/><Relationship Id="rId16" Type="http://schemas.openxmlformats.org/officeDocument/2006/relationships/tags" Target="../tags/tag86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tags" Target="../tags/tag81.xml"/><Relationship Id="rId5" Type="http://schemas.openxmlformats.org/officeDocument/2006/relationships/tags" Target="../tags/tag75.xml"/><Relationship Id="rId15" Type="http://schemas.openxmlformats.org/officeDocument/2006/relationships/tags" Target="../tags/tag85.xml"/><Relationship Id="rId10" Type="http://schemas.openxmlformats.org/officeDocument/2006/relationships/tags" Target="../tags/tag80.xml"/><Relationship Id="rId19" Type="http://schemas.openxmlformats.org/officeDocument/2006/relationships/image" Target="../media/image6.tmp"/><Relationship Id="rId4" Type="http://schemas.openxmlformats.org/officeDocument/2006/relationships/tags" Target="../tags/tag74.xml"/><Relationship Id="rId9" Type="http://schemas.openxmlformats.org/officeDocument/2006/relationships/tags" Target="../tags/tag79.xml"/><Relationship Id="rId14" Type="http://schemas.openxmlformats.org/officeDocument/2006/relationships/tags" Target="../tags/tag8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tags" Target="../tags/tag10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tags" Target="../tags/tag99.xml"/><Relationship Id="rId17" Type="http://schemas.openxmlformats.org/officeDocument/2006/relationships/tags" Target="../tags/tag104.xml"/><Relationship Id="rId2" Type="http://schemas.openxmlformats.org/officeDocument/2006/relationships/tags" Target="../tags/tag89.xml"/><Relationship Id="rId16" Type="http://schemas.openxmlformats.org/officeDocument/2006/relationships/tags" Target="../tags/tag103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tags" Target="../tags/tag98.xml"/><Relationship Id="rId5" Type="http://schemas.openxmlformats.org/officeDocument/2006/relationships/tags" Target="../tags/tag92.xml"/><Relationship Id="rId15" Type="http://schemas.openxmlformats.org/officeDocument/2006/relationships/tags" Target="../tags/tag102.xml"/><Relationship Id="rId10" Type="http://schemas.openxmlformats.org/officeDocument/2006/relationships/tags" Target="../tags/tag97.xml"/><Relationship Id="rId19" Type="http://schemas.openxmlformats.org/officeDocument/2006/relationships/image" Target="../media/image6.tmp"/><Relationship Id="rId4" Type="http://schemas.openxmlformats.org/officeDocument/2006/relationships/tags" Target="../tags/tag91.xml"/><Relationship Id="rId9" Type="http://schemas.openxmlformats.org/officeDocument/2006/relationships/tags" Target="../tags/tag96.xml"/><Relationship Id="rId14" Type="http://schemas.openxmlformats.org/officeDocument/2006/relationships/tags" Target="../tags/tag10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tags" Target="../tags/tag11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07.xml"/><Relationship Id="rId7" Type="http://schemas.openxmlformats.org/officeDocument/2006/relationships/tags" Target="../tags/tag111.xml"/><Relationship Id="rId12" Type="http://schemas.openxmlformats.org/officeDocument/2006/relationships/tags" Target="../tags/tag116.xml"/><Relationship Id="rId17" Type="http://schemas.openxmlformats.org/officeDocument/2006/relationships/tags" Target="../tags/tag121.xml"/><Relationship Id="rId2" Type="http://schemas.openxmlformats.org/officeDocument/2006/relationships/tags" Target="../tags/tag106.xml"/><Relationship Id="rId16" Type="http://schemas.openxmlformats.org/officeDocument/2006/relationships/tags" Target="../tags/tag120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5" Type="http://schemas.openxmlformats.org/officeDocument/2006/relationships/tags" Target="../tags/tag109.xml"/><Relationship Id="rId15" Type="http://schemas.openxmlformats.org/officeDocument/2006/relationships/tags" Target="../tags/tag119.xml"/><Relationship Id="rId10" Type="http://schemas.openxmlformats.org/officeDocument/2006/relationships/tags" Target="../tags/tag114.xml"/><Relationship Id="rId19" Type="http://schemas.openxmlformats.org/officeDocument/2006/relationships/image" Target="../media/image6.tmp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tags" Target="../tags/tag118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10" Type="http://schemas.openxmlformats.org/officeDocument/2006/relationships/tags" Target="../tags/tag131.xml"/><Relationship Id="rId19" Type="http://schemas.openxmlformats.org/officeDocument/2006/relationships/image" Target="../media/image6.tmp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tags" Target="../tags/tag15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tags" Target="../tags/tag150.xml"/><Relationship Id="rId17" Type="http://schemas.openxmlformats.org/officeDocument/2006/relationships/tags" Target="../tags/tag155.xml"/><Relationship Id="rId2" Type="http://schemas.openxmlformats.org/officeDocument/2006/relationships/tags" Target="../tags/tag140.xml"/><Relationship Id="rId16" Type="http://schemas.openxmlformats.org/officeDocument/2006/relationships/tags" Target="../tags/tag154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tags" Target="../tags/tag149.xml"/><Relationship Id="rId5" Type="http://schemas.openxmlformats.org/officeDocument/2006/relationships/tags" Target="../tags/tag143.xml"/><Relationship Id="rId15" Type="http://schemas.openxmlformats.org/officeDocument/2006/relationships/tags" Target="../tags/tag153.xml"/><Relationship Id="rId10" Type="http://schemas.openxmlformats.org/officeDocument/2006/relationships/tags" Target="../tags/tag148.xml"/><Relationship Id="rId19" Type="http://schemas.openxmlformats.org/officeDocument/2006/relationships/image" Target="../media/image6.tmp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tags" Target="../tags/tag15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163.xml"/><Relationship Id="rId13" Type="http://schemas.openxmlformats.org/officeDocument/2006/relationships/tags" Target="../tags/tag168.xml"/><Relationship Id="rId18" Type="http://schemas.openxmlformats.org/officeDocument/2006/relationships/slideLayout" Target="../slideLayouts/slideLayout21.xml"/><Relationship Id="rId3" Type="http://schemas.openxmlformats.org/officeDocument/2006/relationships/tags" Target="../tags/tag158.xml"/><Relationship Id="rId7" Type="http://schemas.openxmlformats.org/officeDocument/2006/relationships/tags" Target="../tags/tag162.xml"/><Relationship Id="rId12" Type="http://schemas.openxmlformats.org/officeDocument/2006/relationships/tags" Target="../tags/tag167.xml"/><Relationship Id="rId17" Type="http://schemas.openxmlformats.org/officeDocument/2006/relationships/tags" Target="../tags/tag172.xml"/><Relationship Id="rId2" Type="http://schemas.openxmlformats.org/officeDocument/2006/relationships/tags" Target="../tags/tag157.xml"/><Relationship Id="rId16" Type="http://schemas.openxmlformats.org/officeDocument/2006/relationships/tags" Target="../tags/tag171.xml"/><Relationship Id="rId1" Type="http://schemas.openxmlformats.org/officeDocument/2006/relationships/tags" Target="../tags/tag156.xml"/><Relationship Id="rId6" Type="http://schemas.openxmlformats.org/officeDocument/2006/relationships/tags" Target="../tags/tag161.xml"/><Relationship Id="rId11" Type="http://schemas.openxmlformats.org/officeDocument/2006/relationships/tags" Target="../tags/tag166.xml"/><Relationship Id="rId5" Type="http://schemas.openxmlformats.org/officeDocument/2006/relationships/tags" Target="../tags/tag160.xml"/><Relationship Id="rId15" Type="http://schemas.openxmlformats.org/officeDocument/2006/relationships/tags" Target="../tags/tag170.xml"/><Relationship Id="rId10" Type="http://schemas.openxmlformats.org/officeDocument/2006/relationships/tags" Target="../tags/tag165.xml"/><Relationship Id="rId19" Type="http://schemas.openxmlformats.org/officeDocument/2006/relationships/image" Target="../media/image6.tmp"/><Relationship Id="rId4" Type="http://schemas.openxmlformats.org/officeDocument/2006/relationships/tags" Target="../tags/tag159.xml"/><Relationship Id="rId9" Type="http://schemas.openxmlformats.org/officeDocument/2006/relationships/tags" Target="../tags/tag164.xml"/><Relationship Id="rId14" Type="http://schemas.openxmlformats.org/officeDocument/2006/relationships/tags" Target="../tags/tag169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180.xml"/><Relationship Id="rId13" Type="http://schemas.openxmlformats.org/officeDocument/2006/relationships/tags" Target="../tags/tag185.xml"/><Relationship Id="rId18" Type="http://schemas.openxmlformats.org/officeDocument/2006/relationships/slideLayout" Target="../slideLayouts/slideLayout21.xml"/><Relationship Id="rId3" Type="http://schemas.openxmlformats.org/officeDocument/2006/relationships/tags" Target="../tags/tag175.xml"/><Relationship Id="rId7" Type="http://schemas.openxmlformats.org/officeDocument/2006/relationships/tags" Target="../tags/tag179.xml"/><Relationship Id="rId12" Type="http://schemas.openxmlformats.org/officeDocument/2006/relationships/tags" Target="../tags/tag184.xml"/><Relationship Id="rId17" Type="http://schemas.openxmlformats.org/officeDocument/2006/relationships/tags" Target="../tags/tag189.xml"/><Relationship Id="rId2" Type="http://schemas.openxmlformats.org/officeDocument/2006/relationships/tags" Target="../tags/tag174.xml"/><Relationship Id="rId16" Type="http://schemas.openxmlformats.org/officeDocument/2006/relationships/tags" Target="../tags/tag188.xml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1" Type="http://schemas.openxmlformats.org/officeDocument/2006/relationships/tags" Target="../tags/tag183.xml"/><Relationship Id="rId5" Type="http://schemas.openxmlformats.org/officeDocument/2006/relationships/tags" Target="../tags/tag177.xml"/><Relationship Id="rId15" Type="http://schemas.openxmlformats.org/officeDocument/2006/relationships/tags" Target="../tags/tag187.xml"/><Relationship Id="rId10" Type="http://schemas.openxmlformats.org/officeDocument/2006/relationships/tags" Target="../tags/tag182.xml"/><Relationship Id="rId19" Type="http://schemas.openxmlformats.org/officeDocument/2006/relationships/image" Target="../media/image6.tmp"/><Relationship Id="rId4" Type="http://schemas.openxmlformats.org/officeDocument/2006/relationships/tags" Target="../tags/tag176.xml"/><Relationship Id="rId9" Type="http://schemas.openxmlformats.org/officeDocument/2006/relationships/tags" Target="../tags/tag181.xml"/><Relationship Id="rId14" Type="http://schemas.openxmlformats.org/officeDocument/2006/relationships/tags" Target="../tags/tag186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197.xml"/><Relationship Id="rId13" Type="http://schemas.openxmlformats.org/officeDocument/2006/relationships/tags" Target="../tags/tag202.xml"/><Relationship Id="rId18" Type="http://schemas.openxmlformats.org/officeDocument/2006/relationships/slideLayout" Target="../slideLayouts/slideLayout21.xml"/><Relationship Id="rId3" Type="http://schemas.openxmlformats.org/officeDocument/2006/relationships/tags" Target="../tags/tag192.xml"/><Relationship Id="rId7" Type="http://schemas.openxmlformats.org/officeDocument/2006/relationships/tags" Target="../tags/tag196.xml"/><Relationship Id="rId12" Type="http://schemas.openxmlformats.org/officeDocument/2006/relationships/tags" Target="../tags/tag201.xml"/><Relationship Id="rId17" Type="http://schemas.openxmlformats.org/officeDocument/2006/relationships/tags" Target="../tags/tag206.xml"/><Relationship Id="rId2" Type="http://schemas.openxmlformats.org/officeDocument/2006/relationships/tags" Target="../tags/tag191.xml"/><Relationship Id="rId16" Type="http://schemas.openxmlformats.org/officeDocument/2006/relationships/tags" Target="../tags/tag205.xml"/><Relationship Id="rId1" Type="http://schemas.openxmlformats.org/officeDocument/2006/relationships/tags" Target="../tags/tag190.xml"/><Relationship Id="rId6" Type="http://schemas.openxmlformats.org/officeDocument/2006/relationships/tags" Target="../tags/tag195.xml"/><Relationship Id="rId11" Type="http://schemas.openxmlformats.org/officeDocument/2006/relationships/tags" Target="../tags/tag200.xml"/><Relationship Id="rId5" Type="http://schemas.openxmlformats.org/officeDocument/2006/relationships/tags" Target="../tags/tag194.xml"/><Relationship Id="rId15" Type="http://schemas.openxmlformats.org/officeDocument/2006/relationships/tags" Target="../tags/tag204.xml"/><Relationship Id="rId10" Type="http://schemas.openxmlformats.org/officeDocument/2006/relationships/tags" Target="../tags/tag199.xml"/><Relationship Id="rId19" Type="http://schemas.openxmlformats.org/officeDocument/2006/relationships/image" Target="../media/image6.tmp"/><Relationship Id="rId4" Type="http://schemas.openxmlformats.org/officeDocument/2006/relationships/tags" Target="../tags/tag193.xml"/><Relationship Id="rId9" Type="http://schemas.openxmlformats.org/officeDocument/2006/relationships/tags" Target="../tags/tag198.xml"/><Relationship Id="rId14" Type="http://schemas.openxmlformats.org/officeDocument/2006/relationships/tags" Target="../tags/tag203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214.xml"/><Relationship Id="rId13" Type="http://schemas.openxmlformats.org/officeDocument/2006/relationships/tags" Target="../tags/tag219.xml"/><Relationship Id="rId18" Type="http://schemas.openxmlformats.org/officeDocument/2006/relationships/slideLayout" Target="../slideLayouts/slideLayout21.xml"/><Relationship Id="rId3" Type="http://schemas.openxmlformats.org/officeDocument/2006/relationships/tags" Target="../tags/tag209.xml"/><Relationship Id="rId7" Type="http://schemas.openxmlformats.org/officeDocument/2006/relationships/tags" Target="../tags/tag213.xml"/><Relationship Id="rId12" Type="http://schemas.openxmlformats.org/officeDocument/2006/relationships/tags" Target="../tags/tag218.xml"/><Relationship Id="rId17" Type="http://schemas.openxmlformats.org/officeDocument/2006/relationships/tags" Target="../tags/tag223.xml"/><Relationship Id="rId2" Type="http://schemas.openxmlformats.org/officeDocument/2006/relationships/tags" Target="../tags/tag208.xml"/><Relationship Id="rId16" Type="http://schemas.openxmlformats.org/officeDocument/2006/relationships/tags" Target="../tags/tag222.xml"/><Relationship Id="rId1" Type="http://schemas.openxmlformats.org/officeDocument/2006/relationships/tags" Target="../tags/tag207.xml"/><Relationship Id="rId6" Type="http://schemas.openxmlformats.org/officeDocument/2006/relationships/tags" Target="../tags/tag212.xml"/><Relationship Id="rId11" Type="http://schemas.openxmlformats.org/officeDocument/2006/relationships/tags" Target="../tags/tag217.xml"/><Relationship Id="rId5" Type="http://schemas.openxmlformats.org/officeDocument/2006/relationships/tags" Target="../tags/tag211.xml"/><Relationship Id="rId15" Type="http://schemas.openxmlformats.org/officeDocument/2006/relationships/tags" Target="../tags/tag221.xml"/><Relationship Id="rId10" Type="http://schemas.openxmlformats.org/officeDocument/2006/relationships/tags" Target="../tags/tag216.xml"/><Relationship Id="rId19" Type="http://schemas.openxmlformats.org/officeDocument/2006/relationships/image" Target="../media/image6.tmp"/><Relationship Id="rId4" Type="http://schemas.openxmlformats.org/officeDocument/2006/relationships/tags" Target="../tags/tag210.xml"/><Relationship Id="rId9" Type="http://schemas.openxmlformats.org/officeDocument/2006/relationships/tags" Target="../tags/tag215.xml"/><Relationship Id="rId14" Type="http://schemas.openxmlformats.org/officeDocument/2006/relationships/tags" Target="../tags/tag2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3000376" y="260350"/>
            <a:ext cx="5400675" cy="641350"/>
          </a:xfrm>
        </p:spPr>
        <p:txBody>
          <a:bodyPr/>
          <a:lstStyle/>
          <a:p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5.</a:t>
            </a:r>
            <a:r>
              <a:rPr lang="zh-CN" altLang="zh-CN" sz="3600" b="1" dirty="0">
                <a:latin typeface="楷体_GB2312" pitchFamily="49" charset="-122"/>
                <a:ea typeface="楷体_GB2312" pitchFamily="49" charset="-122"/>
              </a:rPr>
              <a:t>3   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字符数组</a:t>
            </a:r>
          </a:p>
        </p:txBody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11450" y="1700214"/>
            <a:ext cx="6553200" cy="4092575"/>
          </a:xfrm>
          <a:noFill/>
          <a:ln/>
        </p:spPr>
        <p:txBody>
          <a:bodyPr/>
          <a:lstStyle/>
          <a:p>
            <a:pPr>
              <a:lnSpc>
                <a:spcPct val="13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zh-CN" dirty="0"/>
              <a:t>       </a:t>
            </a:r>
            <a:r>
              <a:rPr lang="zh-CN" altLang="zh-CN" sz="2400" dirty="0"/>
              <a:t>     </a:t>
            </a:r>
            <a:r>
              <a:rPr lang="en-US" altLang="zh-CN" dirty="0">
                <a:latin typeface="黑体" pitchFamily="49" charset="-122"/>
                <a:ea typeface="黑体" pitchFamily="49" charset="-122"/>
                <a:hlinkClick r:id="rId2" action="ppaction://hlinksldjump"/>
              </a:rPr>
              <a:t>5.</a:t>
            </a:r>
            <a:r>
              <a:rPr lang="zh-CN" altLang="zh-CN" dirty="0">
                <a:latin typeface="黑体" pitchFamily="49" charset="-122"/>
                <a:ea typeface="黑体" pitchFamily="49" charset="-122"/>
                <a:hlinkClick r:id="rId2" action="ppaction://hlinksldjump"/>
              </a:rPr>
              <a:t>3</a:t>
            </a:r>
            <a:r>
              <a:rPr lang="zh-CN" altLang="zh-CN" dirty="0">
                <a:latin typeface="Times New Roman" pitchFamily="18" charset="0"/>
                <a:ea typeface="黑体" pitchFamily="49" charset="-122"/>
                <a:hlinkClick r:id="rId2" action="ppaction://hlinksldjump"/>
              </a:rPr>
              <a:t>.</a:t>
            </a:r>
            <a:r>
              <a:rPr lang="zh-CN" altLang="zh-CN" dirty="0">
                <a:latin typeface="黑体" pitchFamily="49" charset="-122"/>
                <a:ea typeface="黑体" pitchFamily="49" charset="-122"/>
                <a:hlinkClick r:id="rId2" action="ppaction://hlinksldjump"/>
              </a:rPr>
              <a:t>1  </a:t>
            </a:r>
            <a:r>
              <a:rPr lang="zh-CN" dirty="0">
                <a:latin typeface="黑体" pitchFamily="49" charset="-122"/>
                <a:ea typeface="黑体" pitchFamily="49" charset="-122"/>
                <a:hlinkClick r:id="rId2" action="ppaction://hlinksldjump"/>
              </a:rPr>
              <a:t>字符数组的定义、初始化</a:t>
            </a:r>
            <a:endParaRPr lang="zh-CN" dirty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3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dirty="0">
                <a:latin typeface="黑体" pitchFamily="49" charset="-122"/>
                <a:ea typeface="黑体" pitchFamily="49" charset="-122"/>
              </a:rPr>
              <a:t>      </a:t>
            </a:r>
            <a:r>
              <a:rPr lang="en-US" altLang="zh-CN" dirty="0">
                <a:latin typeface="黑体" pitchFamily="49" charset="-122"/>
                <a:ea typeface="黑体" pitchFamily="49" charset="-122"/>
                <a:hlinkClick r:id="rId3" action="ppaction://hlinksldjump"/>
              </a:rPr>
              <a:t>5.</a:t>
            </a:r>
            <a:r>
              <a:rPr lang="zh-CN" altLang="zh-CN" dirty="0">
                <a:latin typeface="黑体" pitchFamily="49" charset="-122"/>
                <a:ea typeface="黑体" pitchFamily="49" charset="-122"/>
                <a:hlinkClick r:id="rId3" action="ppaction://hlinksldjump"/>
              </a:rPr>
              <a:t>3</a:t>
            </a:r>
            <a:r>
              <a:rPr lang="zh-CN" altLang="zh-CN" dirty="0">
                <a:latin typeface="Times New Roman" pitchFamily="18" charset="0"/>
                <a:ea typeface="黑体" pitchFamily="49" charset="-122"/>
                <a:hlinkClick r:id="rId3" action="ppaction://hlinksldjump"/>
              </a:rPr>
              <a:t>.</a:t>
            </a:r>
            <a:r>
              <a:rPr lang="zh-CN" altLang="zh-CN" dirty="0">
                <a:latin typeface="黑体" pitchFamily="49" charset="-122"/>
                <a:ea typeface="黑体" pitchFamily="49" charset="-122"/>
                <a:hlinkClick r:id="rId3" action="ppaction://hlinksldjump"/>
              </a:rPr>
              <a:t>2  </a:t>
            </a:r>
            <a:r>
              <a:rPr lang="zh-CN" dirty="0">
                <a:latin typeface="黑体" pitchFamily="49" charset="-122"/>
                <a:ea typeface="黑体" pitchFamily="49" charset="-122"/>
                <a:hlinkClick r:id="rId3" action="ppaction://hlinksldjump"/>
              </a:rPr>
              <a:t>字符数组的输入与输出</a:t>
            </a:r>
            <a:endParaRPr lang="zh-CN" dirty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3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dirty="0">
                <a:latin typeface="黑体" pitchFamily="49" charset="-122"/>
                <a:ea typeface="黑体" pitchFamily="49" charset="-122"/>
              </a:rPr>
              <a:t>      </a:t>
            </a:r>
            <a:r>
              <a:rPr lang="en-US" altLang="zh-CN" dirty="0">
                <a:latin typeface="黑体" pitchFamily="49" charset="-122"/>
                <a:ea typeface="黑体" pitchFamily="49" charset="-122"/>
                <a:hlinkClick r:id="rId4" action="ppaction://hlinksldjump"/>
              </a:rPr>
              <a:t>5.</a:t>
            </a:r>
            <a:r>
              <a:rPr lang="zh-CN" altLang="zh-CN" dirty="0">
                <a:latin typeface="黑体" pitchFamily="49" charset="-122"/>
                <a:ea typeface="黑体" pitchFamily="49" charset="-122"/>
                <a:hlinkClick r:id="rId4" action="ppaction://hlinksldjump"/>
              </a:rPr>
              <a:t>3</a:t>
            </a:r>
            <a:r>
              <a:rPr lang="zh-CN" altLang="zh-CN" dirty="0">
                <a:latin typeface="Times New Roman" pitchFamily="18" charset="0"/>
                <a:ea typeface="黑体" pitchFamily="49" charset="-122"/>
                <a:hlinkClick r:id="rId4" action="ppaction://hlinksldjump"/>
              </a:rPr>
              <a:t>.</a:t>
            </a:r>
            <a:r>
              <a:rPr lang="zh-CN" altLang="zh-CN" dirty="0">
                <a:latin typeface="黑体" pitchFamily="49" charset="-122"/>
                <a:ea typeface="黑体" pitchFamily="49" charset="-122"/>
                <a:hlinkClick r:id="rId4" action="ppaction://hlinksldjump"/>
              </a:rPr>
              <a:t>3  </a:t>
            </a:r>
            <a:r>
              <a:rPr lang="zh-CN" dirty="0">
                <a:latin typeface="黑体" pitchFamily="49" charset="-122"/>
                <a:ea typeface="黑体" pitchFamily="49" charset="-122"/>
                <a:hlinkClick r:id="rId4" action="ppaction://hlinksldjump"/>
              </a:rPr>
              <a:t>字符串处理函数</a:t>
            </a:r>
            <a:endParaRPr lang="zh-CN" dirty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3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dirty="0">
                <a:latin typeface="Times New Roman" pitchFamily="18" charset="0"/>
                <a:ea typeface="黑体" pitchFamily="49" charset="-122"/>
              </a:rPr>
              <a:t>            </a:t>
            </a:r>
            <a:r>
              <a:rPr lang="en-US" altLang="zh-CN" dirty="0">
                <a:latin typeface="黑体" pitchFamily="49" charset="-122"/>
                <a:ea typeface="黑体" pitchFamily="49" charset="-122"/>
                <a:hlinkClick r:id="rId5" action="ppaction://hlinksldjump"/>
              </a:rPr>
              <a:t>5.</a:t>
            </a:r>
            <a:r>
              <a:rPr lang="zh-CN" altLang="zh-CN" dirty="0">
                <a:latin typeface="黑体" pitchFamily="49" charset="-122"/>
                <a:ea typeface="黑体" pitchFamily="49" charset="-122"/>
                <a:hlinkClick r:id="rId5" action="ppaction://hlinksldjump"/>
              </a:rPr>
              <a:t>3</a:t>
            </a:r>
            <a:r>
              <a:rPr lang="zh-CN" altLang="zh-CN" dirty="0">
                <a:latin typeface="Times New Roman" pitchFamily="18" charset="0"/>
                <a:ea typeface="黑体" pitchFamily="49" charset="-122"/>
                <a:hlinkClick r:id="rId5" action="ppaction://hlinksldjump"/>
              </a:rPr>
              <a:t>.</a:t>
            </a:r>
            <a:r>
              <a:rPr lang="zh-CN" altLang="zh-CN" dirty="0">
                <a:latin typeface="黑体" pitchFamily="49" charset="-122"/>
                <a:ea typeface="黑体" pitchFamily="49" charset="-122"/>
                <a:hlinkClick r:id="rId5" action="ppaction://hlinksldjump"/>
              </a:rPr>
              <a:t>4  </a:t>
            </a:r>
            <a:r>
              <a:rPr lang="zh-CN" dirty="0">
                <a:latin typeface="黑体" pitchFamily="49" charset="-122"/>
                <a:ea typeface="黑体" pitchFamily="49" charset="-122"/>
                <a:hlinkClick r:id="rId5" action="ppaction://hlinksldjump"/>
              </a:rPr>
              <a:t>字符数组</a:t>
            </a:r>
            <a:r>
              <a:rPr lang="zh-CN" dirty="0">
                <a:latin typeface="Times New Roman" pitchFamily="18" charset="0"/>
                <a:ea typeface="黑体" pitchFamily="49" charset="-122"/>
                <a:hlinkClick r:id="rId5" action="ppaction://hlinksldjump"/>
              </a:rPr>
              <a:t>应用实例</a:t>
            </a:r>
            <a:endParaRPr lang="zh-CN" dirty="0">
              <a:latin typeface="Times New Roman" pitchFamily="18" charset="0"/>
              <a:ea typeface="黑体" pitchFamily="49" charset="-122"/>
            </a:endParaRPr>
          </a:p>
          <a:p>
            <a:pPr>
              <a:lnSpc>
                <a:spcPct val="13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400" b="0" dirty="0">
                <a:latin typeface="Times New Roman" pitchFamily="18" charset="0"/>
                <a:ea typeface="黑体" pitchFamily="49" charset="-122"/>
              </a:rPr>
              <a:t>           </a:t>
            </a:r>
          </a:p>
        </p:txBody>
      </p:sp>
      <p:pic>
        <p:nvPicPr>
          <p:cNvPr id="354308" name="Picture 4" descr="b14">
            <a:hlinkClick r:id="rId6" action="ppaction://hlinksldjump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1" y="6248400"/>
            <a:ext cx="182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3291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719513" y="228601"/>
            <a:ext cx="5715000" cy="568325"/>
          </a:xfrm>
        </p:spPr>
        <p:txBody>
          <a:bodyPr/>
          <a:lstStyle/>
          <a:p>
            <a:r>
              <a:rPr lang="zh-CN" altLang="en-US" sz="3600">
                <a:latin typeface="楷体_GB2312" pitchFamily="49" charset="-122"/>
              </a:rPr>
              <a:t>一、字符数组的定义</a:t>
            </a:r>
          </a:p>
        </p:txBody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5501" y="1144588"/>
            <a:ext cx="8518525" cy="4551362"/>
          </a:xfrm>
          <a:noFill/>
          <a:ln/>
        </p:spPr>
        <p:txBody>
          <a:bodyPr/>
          <a:lstStyle/>
          <a:p>
            <a:pPr marL="274638" indent="-274638">
              <a:lnSpc>
                <a:spcPct val="115000"/>
              </a:lnSpc>
            </a:pPr>
            <a:r>
              <a:rPr lang="zh-CN" altLang="en-US" sz="2800" b="1" dirty="0">
                <a:latin typeface="黑体" pitchFamily="49" charset="-122"/>
              </a:rPr>
              <a:t>用来存放字符型数据的数组</a:t>
            </a:r>
            <a:r>
              <a:rPr lang="zh-CN" altLang="en-US" sz="2400" b="1" dirty="0">
                <a:latin typeface="黑体" pitchFamily="49" charset="-122"/>
              </a:rPr>
              <a:t>。</a:t>
            </a:r>
            <a:r>
              <a:rPr lang="zh-CN" altLang="en-US" sz="2800" b="1" dirty="0">
                <a:latin typeface="黑体" pitchFamily="49" charset="-122"/>
              </a:rPr>
              <a:t>在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字符</a:t>
            </a:r>
            <a:r>
              <a:rPr lang="zh-CN" altLang="en-US" sz="2800" b="1" dirty="0">
                <a:latin typeface="黑体" pitchFamily="49" charset="-122"/>
              </a:rPr>
              <a:t>数组中</a:t>
            </a:r>
            <a:r>
              <a:rPr lang="zh-CN" altLang="zh-CN" sz="2800" b="1" dirty="0">
                <a:latin typeface="Times New Roman" pitchFamily="18" charset="0"/>
              </a:rPr>
              <a:t>,  </a:t>
            </a:r>
            <a:endParaRPr lang="en-US" altLang="zh-CN" sz="2800" b="1" dirty="0">
              <a:latin typeface="黑体" pitchFamily="49" charset="-122"/>
            </a:endParaRPr>
          </a:p>
          <a:p>
            <a:pPr marL="274638" indent="-274638">
              <a:lnSpc>
                <a:spcPct val="115000"/>
              </a:lnSpc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一个数组元素只能存放一个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字符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,</a:t>
            </a:r>
          </a:p>
          <a:p>
            <a:pPr marL="274638" indent="-274638">
              <a:lnSpc>
                <a:spcPct val="115000"/>
              </a:lnSpc>
            </a:pP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一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个数组可以存放多个字符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.</a:t>
            </a:r>
            <a:endParaRPr lang="zh-CN" altLang="en-US" sz="2800" b="1" dirty="0">
              <a:latin typeface="黑体" pitchFamily="49" charset="-122"/>
            </a:endParaRPr>
          </a:p>
          <a:p>
            <a:pPr marL="274638" indent="-274638">
              <a:lnSpc>
                <a:spcPct val="110000"/>
              </a:lnSpc>
              <a:spcBef>
                <a:spcPct val="30000"/>
              </a:spcBef>
            </a:pPr>
            <a:r>
              <a:rPr lang="zh-CN" altLang="en-US" sz="2800" b="1" dirty="0">
                <a:latin typeface="黑体" pitchFamily="49" charset="-122"/>
              </a:rPr>
              <a:t>格式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</a:p>
          <a:p>
            <a:pPr marL="274638" indent="-274638">
              <a:lnSpc>
                <a:spcPct val="110000"/>
              </a:lnSpc>
              <a:buNone/>
            </a:pPr>
            <a:r>
              <a:rPr lang="zh-CN" altLang="zh-CN" sz="2800" b="1" dirty="0">
                <a:latin typeface="黑体" pitchFamily="49" charset="-122"/>
              </a:rPr>
              <a:t>      </a:t>
            </a:r>
            <a:r>
              <a:rPr lang="zh-CN" altLang="zh-CN" sz="2800" b="1" dirty="0">
                <a:solidFill>
                  <a:srgbClr val="0000AC"/>
                </a:solidFill>
                <a:latin typeface="Arial" pitchFamily="34" charset="0"/>
              </a:rPr>
              <a:t>char</a:t>
            </a:r>
            <a:r>
              <a:rPr lang="zh-CN" altLang="zh-CN" sz="2800" b="1" dirty="0">
                <a:solidFill>
                  <a:srgbClr val="0000AC"/>
                </a:solidFill>
                <a:latin typeface="黑体" pitchFamily="49" charset="-122"/>
              </a:rPr>
              <a:t> </a:t>
            </a:r>
            <a:r>
              <a:rPr lang="zh-CN" altLang="en-US" sz="2800" b="1" dirty="0">
                <a:solidFill>
                  <a:srgbClr val="0000AC"/>
                </a:solidFill>
                <a:latin typeface="黑体" pitchFamily="49" charset="-122"/>
              </a:rPr>
              <a:t>数组名</a:t>
            </a:r>
            <a:r>
              <a:rPr lang="zh-CN" altLang="zh-CN" sz="2800" b="1" dirty="0">
                <a:solidFill>
                  <a:srgbClr val="0000AC"/>
                </a:solidFill>
                <a:latin typeface="黑体" pitchFamily="49" charset="-122"/>
              </a:rPr>
              <a:t>[</a:t>
            </a:r>
            <a:r>
              <a:rPr lang="zh-CN" altLang="en-US" sz="2800" b="1" dirty="0">
                <a:latin typeface="黑体" pitchFamily="49" charset="-122"/>
              </a:rPr>
              <a:t>常量表达式</a:t>
            </a:r>
            <a:r>
              <a:rPr lang="zh-CN" altLang="zh-CN" sz="2800" b="1" dirty="0">
                <a:solidFill>
                  <a:srgbClr val="0000AC"/>
                </a:solidFill>
                <a:latin typeface="黑体" pitchFamily="49" charset="-122"/>
              </a:rPr>
              <a:t>]</a:t>
            </a:r>
            <a:r>
              <a:rPr lang="zh-CN" altLang="zh-CN" sz="2800" b="1" dirty="0">
                <a:solidFill>
                  <a:srgbClr val="0000AC"/>
                </a:solidFill>
                <a:latin typeface="Times New Roman" pitchFamily="18" charset="0"/>
              </a:rPr>
              <a:t>;</a:t>
            </a:r>
          </a:p>
          <a:p>
            <a:pPr marL="274638" indent="-274638">
              <a:lnSpc>
                <a:spcPct val="110000"/>
              </a:lnSpc>
              <a:spcBef>
                <a:spcPct val="40000"/>
              </a:spcBef>
              <a:buNone/>
            </a:pPr>
            <a:r>
              <a:rPr lang="zh-CN" altLang="zh-CN" sz="2800" b="1" dirty="0">
                <a:solidFill>
                  <a:srgbClr val="0000AC"/>
                </a:solidFill>
                <a:latin typeface="黑体" pitchFamily="49" charset="-122"/>
              </a:rPr>
              <a:t>      </a:t>
            </a:r>
            <a:r>
              <a:rPr lang="zh-CN" altLang="zh-CN" sz="2800" b="1" dirty="0">
                <a:solidFill>
                  <a:srgbClr val="0000AC"/>
                </a:solidFill>
                <a:latin typeface="Arial" pitchFamily="34" charset="0"/>
              </a:rPr>
              <a:t>char</a:t>
            </a:r>
            <a:r>
              <a:rPr lang="zh-CN" altLang="zh-CN" sz="2800" b="1" dirty="0">
                <a:solidFill>
                  <a:srgbClr val="0000AC"/>
                </a:solidFill>
                <a:latin typeface="黑体" pitchFamily="49" charset="-122"/>
              </a:rPr>
              <a:t> </a:t>
            </a:r>
            <a:r>
              <a:rPr lang="zh-CN" altLang="en-US" sz="2800" b="1" dirty="0">
                <a:solidFill>
                  <a:srgbClr val="0000AC"/>
                </a:solidFill>
                <a:latin typeface="黑体" pitchFamily="49" charset="-122"/>
              </a:rPr>
              <a:t>数组名</a:t>
            </a:r>
            <a:r>
              <a:rPr lang="zh-CN" altLang="zh-CN" sz="2800" b="1" dirty="0">
                <a:solidFill>
                  <a:srgbClr val="0000AC"/>
                </a:solidFill>
                <a:latin typeface="黑体" pitchFamily="49" charset="-122"/>
              </a:rPr>
              <a:t>[</a:t>
            </a:r>
            <a:r>
              <a:rPr lang="zh-CN" altLang="en-US" sz="2800" b="1" dirty="0">
                <a:latin typeface="黑体" pitchFamily="49" charset="-122"/>
              </a:rPr>
              <a:t>常量表达式</a:t>
            </a:r>
            <a:r>
              <a:rPr lang="zh-CN" altLang="zh-CN" sz="2800" b="1" dirty="0">
                <a:latin typeface="黑体" pitchFamily="49" charset="-122"/>
              </a:rPr>
              <a:t>1</a:t>
            </a:r>
            <a:r>
              <a:rPr lang="zh-CN" altLang="zh-CN" sz="2800" b="1" dirty="0">
                <a:solidFill>
                  <a:srgbClr val="0000AC"/>
                </a:solidFill>
                <a:latin typeface="黑体" pitchFamily="49" charset="-122"/>
              </a:rPr>
              <a:t>][</a:t>
            </a:r>
            <a:r>
              <a:rPr lang="zh-CN" altLang="en-US" sz="2800" b="1" dirty="0">
                <a:latin typeface="黑体" pitchFamily="49" charset="-122"/>
              </a:rPr>
              <a:t>常量表达式</a:t>
            </a:r>
            <a:r>
              <a:rPr lang="zh-CN" altLang="zh-CN" sz="2800" b="1" dirty="0">
                <a:latin typeface="黑体" pitchFamily="49" charset="-122"/>
              </a:rPr>
              <a:t>2</a:t>
            </a:r>
            <a:r>
              <a:rPr lang="zh-CN" altLang="zh-CN" sz="2800" b="1" dirty="0">
                <a:solidFill>
                  <a:srgbClr val="0000AC"/>
                </a:solidFill>
                <a:latin typeface="黑体" pitchFamily="49" charset="-122"/>
              </a:rPr>
              <a:t>]</a:t>
            </a:r>
            <a:r>
              <a:rPr lang="zh-CN" altLang="zh-CN" sz="2800" b="1" dirty="0">
                <a:solidFill>
                  <a:srgbClr val="0000AC"/>
                </a:solidFill>
                <a:latin typeface="Times New Roman" pitchFamily="18" charset="0"/>
              </a:rPr>
              <a:t>;</a:t>
            </a:r>
          </a:p>
          <a:p>
            <a:pPr marL="274638" indent="-274638">
              <a:lnSpc>
                <a:spcPct val="130000"/>
              </a:lnSpc>
              <a:spcBef>
                <a:spcPct val="35000"/>
              </a:spcBef>
              <a:buNone/>
            </a:pPr>
            <a:r>
              <a:rPr lang="zh-CN" altLang="zh-CN" sz="2800" b="1" dirty="0">
                <a:latin typeface="黑体" pitchFamily="49" charset="-122"/>
              </a:rPr>
              <a:t>      </a:t>
            </a:r>
            <a:r>
              <a:rPr lang="zh-CN" altLang="en-US" sz="2800" b="1" dirty="0">
                <a:latin typeface="黑体" pitchFamily="49" charset="-122"/>
              </a:rPr>
              <a:t>如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  <a:r>
              <a:rPr lang="zh-CN" altLang="zh-CN" sz="2800" b="1" dirty="0">
                <a:latin typeface="黑体" pitchFamily="49" charset="-122"/>
              </a:rPr>
              <a:t>  </a:t>
            </a:r>
            <a:r>
              <a:rPr lang="zh-CN" altLang="zh-CN" sz="2800" b="1" dirty="0">
                <a:latin typeface="Arial" pitchFamily="34" charset="0"/>
              </a:rPr>
              <a:t>char</a:t>
            </a:r>
            <a:r>
              <a:rPr lang="zh-CN" altLang="zh-CN" sz="2800" b="1" dirty="0">
                <a:solidFill>
                  <a:schemeClr val="bg2"/>
                </a:solidFill>
              </a:rPr>
              <a:t>  </a:t>
            </a:r>
            <a:r>
              <a:rPr lang="zh-CN" altLang="zh-CN" sz="2800" b="1" dirty="0">
                <a:latin typeface="Arial" pitchFamily="34" charset="0"/>
              </a:rPr>
              <a:t>a</a:t>
            </a:r>
            <a:r>
              <a:rPr lang="zh-CN" altLang="zh-CN" sz="2800" b="1" dirty="0">
                <a:solidFill>
                  <a:schemeClr val="bg2"/>
                </a:solidFill>
                <a:latin typeface="黑体" pitchFamily="49" charset="-122"/>
              </a:rPr>
              <a:t>[</a:t>
            </a:r>
            <a:r>
              <a:rPr lang="zh-CN" altLang="zh-CN" sz="2800" b="1" dirty="0">
                <a:latin typeface="Arial" pitchFamily="34" charset="0"/>
              </a:rPr>
              <a:t>6</a:t>
            </a:r>
            <a:r>
              <a:rPr lang="zh-CN" altLang="zh-CN" sz="2800" b="1" dirty="0">
                <a:solidFill>
                  <a:schemeClr val="bg2"/>
                </a:solidFill>
                <a:latin typeface="黑体" pitchFamily="49" charset="-122"/>
              </a:rPr>
              <a:t>]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</a:rPr>
              <a:t>,  </a:t>
            </a:r>
            <a:r>
              <a:rPr lang="zh-CN" altLang="zh-CN" sz="2800" b="1" dirty="0">
                <a:latin typeface="Arial" pitchFamily="34" charset="0"/>
              </a:rPr>
              <a:t>b</a:t>
            </a:r>
            <a:r>
              <a:rPr lang="zh-CN" altLang="zh-CN" sz="2800" b="1" dirty="0">
                <a:solidFill>
                  <a:schemeClr val="bg2"/>
                </a:solidFill>
                <a:latin typeface="黑体" pitchFamily="49" charset="-122"/>
              </a:rPr>
              <a:t>[</a:t>
            </a:r>
            <a:r>
              <a:rPr lang="zh-CN" altLang="zh-CN" sz="2800" b="1" dirty="0">
                <a:latin typeface="Arial" pitchFamily="34" charset="0"/>
              </a:rPr>
              <a:t>5</a:t>
            </a:r>
            <a:r>
              <a:rPr lang="zh-CN" altLang="zh-CN" sz="2800" b="1" dirty="0">
                <a:latin typeface="黑体" pitchFamily="49" charset="-122"/>
              </a:rPr>
              <a:t>]</a:t>
            </a:r>
            <a:r>
              <a:rPr lang="zh-CN" altLang="zh-CN" sz="2800" b="1" dirty="0">
                <a:solidFill>
                  <a:schemeClr val="bg2"/>
                </a:solidFill>
                <a:latin typeface="黑体" pitchFamily="49" charset="-122"/>
              </a:rPr>
              <a:t>[</a:t>
            </a:r>
            <a:r>
              <a:rPr lang="zh-CN" altLang="zh-CN" sz="2800" b="1" dirty="0">
                <a:latin typeface="Arial" pitchFamily="34" charset="0"/>
              </a:rPr>
              <a:t>10</a:t>
            </a:r>
            <a:r>
              <a:rPr lang="zh-CN" altLang="zh-CN" sz="2800" b="1" dirty="0">
                <a:latin typeface="黑体" pitchFamily="49" charset="-122"/>
              </a:rPr>
              <a:t>]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</a:rPr>
              <a:t>;</a:t>
            </a:r>
            <a:r>
              <a:rPr lang="zh-CN" altLang="zh-CN" sz="2800" b="1" dirty="0">
                <a:solidFill>
                  <a:schemeClr val="bg2"/>
                </a:solidFill>
              </a:rPr>
              <a:t> </a:t>
            </a:r>
          </a:p>
          <a:p>
            <a:pPr marL="274638" indent="-274638">
              <a:lnSpc>
                <a:spcPct val="130000"/>
              </a:lnSpc>
              <a:spcBef>
                <a:spcPct val="35000"/>
              </a:spcBef>
              <a:buNone/>
            </a:pPr>
            <a:r>
              <a:rPr lang="zh-CN" altLang="zh-CN" sz="2800" b="1" dirty="0">
                <a:solidFill>
                  <a:schemeClr val="bg2"/>
                </a:solidFill>
              </a:rPr>
              <a:t>                       </a:t>
            </a:r>
            <a:endParaRPr lang="zh-CN" altLang="zh-CN" sz="28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55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719513" y="228601"/>
            <a:ext cx="5715000" cy="568325"/>
          </a:xfrm>
        </p:spPr>
        <p:txBody>
          <a:bodyPr/>
          <a:lstStyle/>
          <a:p>
            <a:r>
              <a:rPr lang="zh-CN" altLang="en-US" sz="3600">
                <a:latin typeface="楷体_GB2312" pitchFamily="49" charset="-122"/>
              </a:rPr>
              <a:t>一、字符数组的定义</a:t>
            </a:r>
          </a:p>
        </p:txBody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5501" y="1144588"/>
            <a:ext cx="8518525" cy="4551362"/>
          </a:xfrm>
          <a:noFill/>
          <a:ln/>
        </p:spPr>
        <p:txBody>
          <a:bodyPr/>
          <a:lstStyle/>
          <a:p>
            <a:pPr marL="274638" indent="-274638">
              <a:lnSpc>
                <a:spcPct val="115000"/>
              </a:lnSpc>
            </a:pPr>
            <a:r>
              <a:rPr lang="en-US" altLang="zh-CN" sz="2800" b="1" dirty="0">
                <a:latin typeface="黑体" pitchFamily="49" charset="-122"/>
              </a:rPr>
              <a:t>C</a:t>
            </a:r>
            <a:r>
              <a:rPr lang="zh-CN" altLang="en-US" sz="2800" b="1" dirty="0">
                <a:latin typeface="黑体" pitchFamily="49" charset="-122"/>
              </a:rPr>
              <a:t>语言用来存放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字符串</a:t>
            </a:r>
            <a:r>
              <a:rPr lang="zh-CN" altLang="en-US" sz="2800" b="1" dirty="0">
                <a:latin typeface="黑体" pitchFamily="49" charset="-122"/>
              </a:rPr>
              <a:t>有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两</a:t>
            </a:r>
            <a:r>
              <a:rPr lang="zh-CN" altLang="en-US" sz="2800" b="1" dirty="0">
                <a:latin typeface="黑体" pitchFamily="49" charset="-122"/>
              </a:rPr>
              <a:t>个方式</a:t>
            </a:r>
            <a:endParaRPr lang="en-US" altLang="zh-CN" sz="2800" b="1" dirty="0">
              <a:latin typeface="黑体" pitchFamily="49" charset="-122"/>
            </a:endParaRPr>
          </a:p>
          <a:p>
            <a:pPr marL="274638" indent="-274638">
              <a:lnSpc>
                <a:spcPct val="115000"/>
              </a:lnSpc>
            </a:pPr>
            <a:endParaRPr lang="en-US" altLang="zh-CN" sz="2800" b="1" dirty="0">
              <a:latin typeface="黑体" pitchFamily="49" charset="-122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altLang="zh-CN" sz="2800" b="1" dirty="0">
                <a:latin typeface="黑体" pitchFamily="49" charset="-122"/>
              </a:rPr>
              <a:t>1.</a:t>
            </a:r>
            <a:r>
              <a:rPr lang="zh-CN" altLang="en-US" sz="2800" b="1" dirty="0">
                <a:latin typeface="黑体" pitchFamily="49" charset="-122"/>
              </a:rPr>
              <a:t>使用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字符数组</a:t>
            </a:r>
            <a:r>
              <a:rPr lang="en-US" altLang="zh-CN" sz="2800" b="1" dirty="0">
                <a:latin typeface="黑体" pitchFamily="49" charset="-122"/>
              </a:rPr>
              <a:t>(</a:t>
            </a:r>
            <a:r>
              <a:rPr lang="zh-CN" altLang="en-US" sz="2800" b="1" dirty="0">
                <a:latin typeface="黑体" pitchFamily="49" charset="-122"/>
              </a:rPr>
              <a:t>注意在字符后面存放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\0</a:t>
            </a:r>
            <a:r>
              <a:rPr lang="en-US" altLang="zh-CN" sz="2800" b="1" dirty="0">
                <a:latin typeface="黑体" pitchFamily="49" charset="-122"/>
              </a:rPr>
              <a:t>),</a:t>
            </a:r>
            <a:r>
              <a:rPr lang="zh-CN" altLang="en-US" sz="2800" b="1" dirty="0">
                <a:latin typeface="黑体" pitchFamily="49" charset="-122"/>
              </a:rPr>
              <a:t>用户对数组的内容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</a:rPr>
              <a:t>可读可写</a:t>
            </a:r>
            <a:r>
              <a:rPr lang="en-US" altLang="zh-CN" sz="2800" b="1" dirty="0">
                <a:latin typeface="黑体" pitchFamily="49" charset="-122"/>
              </a:rPr>
              <a:t>.</a:t>
            </a:r>
          </a:p>
          <a:p>
            <a:pPr marL="0" indent="0">
              <a:lnSpc>
                <a:spcPct val="115000"/>
              </a:lnSpc>
              <a:buNone/>
            </a:pPr>
            <a:endParaRPr lang="en-US" altLang="zh-CN" sz="2800" b="1" dirty="0">
              <a:latin typeface="黑体" pitchFamily="49" charset="-122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altLang="zh-CN" sz="2800" b="1" dirty="0">
                <a:latin typeface="黑体" pitchFamily="49" charset="-122"/>
              </a:rPr>
              <a:t>2.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字符串常量</a:t>
            </a:r>
            <a:r>
              <a:rPr lang="en-US" altLang="zh-CN" sz="2800" b="1" dirty="0">
                <a:latin typeface="黑体" pitchFamily="49" charset="-122"/>
              </a:rPr>
              <a:t>.</a:t>
            </a:r>
            <a:r>
              <a:rPr lang="zh-CN" altLang="en-US" sz="2800" b="1" dirty="0">
                <a:latin typeface="黑体" pitchFamily="49" charset="-122"/>
              </a:rPr>
              <a:t>编译器在内存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直接存放</a:t>
            </a:r>
            <a:r>
              <a:rPr lang="zh-CN" altLang="en-US" sz="2800" b="1" dirty="0">
                <a:latin typeface="黑体" pitchFamily="49" charset="-122"/>
              </a:rPr>
              <a:t>字符串</a:t>
            </a:r>
            <a:r>
              <a:rPr lang="en-US" altLang="zh-CN" sz="2800" b="1" dirty="0">
                <a:latin typeface="黑体" pitchFamily="49" charset="-122"/>
              </a:rPr>
              <a:t>,</a:t>
            </a:r>
            <a:r>
              <a:rPr lang="zh-CN" altLang="en-US" sz="2800" b="1" dirty="0">
                <a:latin typeface="黑体" pitchFamily="49" charset="-122"/>
              </a:rPr>
              <a:t>并返回该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字符串首地址</a:t>
            </a:r>
            <a:r>
              <a:rPr lang="en-US" altLang="zh-CN" sz="2800" b="1" dirty="0">
                <a:latin typeface="黑体" pitchFamily="49" charset="-122"/>
              </a:rPr>
              <a:t>,</a:t>
            </a:r>
            <a:r>
              <a:rPr lang="zh-CN" altLang="en-US" sz="2800" b="1" dirty="0">
                <a:latin typeface="黑体" pitchFamily="49" charset="-122"/>
              </a:rPr>
              <a:t>用户对字符串常量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</a:rPr>
              <a:t>只能读不可写</a:t>
            </a:r>
            <a:r>
              <a:rPr lang="en-US" altLang="zh-CN" sz="2800" b="1" dirty="0">
                <a:latin typeface="黑体" pitchFamily="49" charset="-122"/>
              </a:rPr>
              <a:t>.</a:t>
            </a:r>
            <a:endParaRPr lang="zh-CN" altLang="zh-CN" sz="28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534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3541713" y="207964"/>
            <a:ext cx="5327650" cy="585787"/>
          </a:xfrm>
        </p:spPr>
        <p:txBody>
          <a:bodyPr/>
          <a:lstStyle/>
          <a:p>
            <a:r>
              <a:rPr lang="zh-CN" altLang="en-US" sz="3600"/>
              <a:t>二、字符数组初始化</a:t>
            </a:r>
          </a:p>
        </p:txBody>
      </p:sp>
      <p:sp>
        <p:nvSpPr>
          <p:cNvPr id="3563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85975" y="1201738"/>
            <a:ext cx="8097838" cy="4114800"/>
          </a:xfrm>
        </p:spPr>
        <p:txBody>
          <a:bodyPr/>
          <a:lstStyle/>
          <a:p>
            <a:pPr marL="182563" indent="-182563" algn="just">
              <a:lnSpc>
                <a:spcPct val="90000"/>
              </a:lnSpc>
            </a:pPr>
            <a:r>
              <a:rPr lang="zh-CN" altLang="en-US" sz="2800" b="1"/>
              <a:t>用</a:t>
            </a:r>
            <a:r>
              <a:rPr lang="zh-CN" altLang="en-US" sz="2800" b="1">
                <a:solidFill>
                  <a:schemeClr val="hlink"/>
                </a:solidFill>
              </a:rPr>
              <a:t>字符常数</a:t>
            </a:r>
            <a:r>
              <a:rPr lang="zh-CN" altLang="en-US" sz="2800" b="1"/>
              <a:t>初始化数组</a:t>
            </a:r>
          </a:p>
          <a:p>
            <a:pPr marL="182563" indent="-182563" algn="just">
              <a:lnSpc>
                <a:spcPct val="105000"/>
              </a:lnSpc>
              <a:buNone/>
            </a:pPr>
            <a:r>
              <a:rPr lang="zh-CN" altLang="en-US" sz="2800" b="1"/>
              <a:t>  例</a:t>
            </a:r>
            <a:r>
              <a:rPr lang="zh-CN" altLang="en-US" sz="2800" b="1">
                <a:latin typeface="Times New Roman" pitchFamily="18" charset="0"/>
              </a:rPr>
              <a:t>:</a:t>
            </a:r>
          </a:p>
          <a:p>
            <a:pPr marL="182563" indent="-182563"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800" b="1">
                <a:solidFill>
                  <a:srgbClr val="FF3300"/>
                </a:solidFill>
              </a:rPr>
              <a:t>          </a:t>
            </a:r>
            <a:r>
              <a:rPr lang="zh-CN" altLang="en-US" sz="2800" b="1">
                <a:latin typeface="Arial" pitchFamily="34" charset="0"/>
              </a:rPr>
              <a:t>char</a:t>
            </a:r>
            <a:r>
              <a:rPr lang="zh-CN" altLang="en-US" sz="2800" b="1"/>
              <a:t> c</a:t>
            </a:r>
            <a:r>
              <a:rPr lang="zh-CN" altLang="en-US" sz="2800"/>
              <a:t>[</a:t>
            </a:r>
            <a:r>
              <a:rPr lang="zh-CN" altLang="en-US" sz="2800" b="1">
                <a:latin typeface="Arial" pitchFamily="34" charset="0"/>
              </a:rPr>
              <a:t>5</a:t>
            </a:r>
            <a:r>
              <a:rPr lang="zh-CN" altLang="en-US" sz="2800"/>
              <a:t>]</a:t>
            </a:r>
            <a:r>
              <a:rPr lang="zh-CN" altLang="en-US" sz="2800" b="1"/>
              <a:t>=</a:t>
            </a:r>
            <a:r>
              <a:rPr lang="zh-CN" altLang="en-US" sz="2800"/>
              <a:t>{</a:t>
            </a:r>
            <a:r>
              <a:rPr lang="zh-CN" altLang="en-US" sz="2800" b="1">
                <a:latin typeface="Times New Roman" pitchFamily="18" charset="0"/>
              </a:rPr>
              <a:t>‘</a:t>
            </a:r>
            <a:r>
              <a:rPr lang="en-GB" altLang="en-US" sz="2800" b="1"/>
              <a:t>c</a:t>
            </a:r>
            <a:r>
              <a:rPr lang="en-GB" altLang="en-US" sz="2800" b="1">
                <a:latin typeface="Times New Roman" pitchFamily="18" charset="0"/>
              </a:rPr>
              <a:t>’</a:t>
            </a:r>
            <a:r>
              <a:rPr lang="zh-CN" altLang="en-US" sz="2800" b="1">
                <a:latin typeface="Times New Roman" pitchFamily="18" charset="0"/>
              </a:rPr>
              <a:t>,</a:t>
            </a:r>
            <a:r>
              <a:rPr lang="en-GB" altLang="en-US" sz="2800" b="1"/>
              <a:t> </a:t>
            </a:r>
            <a:r>
              <a:rPr lang="zh-CN" altLang="en-US" sz="2800" b="1">
                <a:latin typeface="Times New Roman" pitchFamily="18" charset="0"/>
              </a:rPr>
              <a:t>‘</a:t>
            </a:r>
            <a:r>
              <a:rPr lang="en-GB" altLang="en-US" sz="2800" b="1"/>
              <a:t>h</a:t>
            </a:r>
            <a:r>
              <a:rPr lang="en-GB" altLang="en-US" sz="2800" b="1">
                <a:latin typeface="Times New Roman" pitchFamily="18" charset="0"/>
              </a:rPr>
              <a:t>’</a:t>
            </a:r>
            <a:r>
              <a:rPr lang="zh-CN" altLang="en-US" sz="2800" b="1">
                <a:latin typeface="Times New Roman" pitchFamily="18" charset="0"/>
              </a:rPr>
              <a:t>, ‘</a:t>
            </a:r>
            <a:r>
              <a:rPr lang="en-GB" altLang="en-US" sz="2800" b="1"/>
              <a:t>i</a:t>
            </a:r>
            <a:r>
              <a:rPr lang="en-GB" altLang="en-US" sz="2800" b="1">
                <a:latin typeface="Times New Roman" pitchFamily="18" charset="0"/>
              </a:rPr>
              <a:t>’</a:t>
            </a:r>
            <a:r>
              <a:rPr lang="zh-CN" altLang="en-US" sz="2800" b="1">
                <a:latin typeface="Times New Roman" pitchFamily="18" charset="0"/>
              </a:rPr>
              <a:t>,</a:t>
            </a:r>
            <a:r>
              <a:rPr lang="zh-CN" altLang="en-US" sz="2800" b="1"/>
              <a:t> </a:t>
            </a:r>
            <a:r>
              <a:rPr lang="zh-CN" altLang="en-US" sz="2800" b="1">
                <a:latin typeface="Times New Roman" pitchFamily="18" charset="0"/>
              </a:rPr>
              <a:t>‘</a:t>
            </a:r>
            <a:r>
              <a:rPr lang="en-GB" altLang="en-US" sz="2800" b="1"/>
              <a:t>n</a:t>
            </a:r>
            <a:r>
              <a:rPr lang="en-GB" altLang="en-US" sz="2800" b="1">
                <a:latin typeface="Times New Roman" pitchFamily="18" charset="0"/>
              </a:rPr>
              <a:t>’</a:t>
            </a:r>
            <a:r>
              <a:rPr lang="zh-CN" altLang="en-US" sz="2800" b="1">
                <a:latin typeface="Times New Roman" pitchFamily="18" charset="0"/>
              </a:rPr>
              <a:t>,</a:t>
            </a:r>
            <a:r>
              <a:rPr lang="zh-CN" altLang="en-US" sz="2800" b="1"/>
              <a:t> </a:t>
            </a:r>
            <a:r>
              <a:rPr lang="zh-CN" altLang="en-US" sz="2800" b="1">
                <a:latin typeface="Times New Roman" pitchFamily="18" charset="0"/>
              </a:rPr>
              <a:t>‘</a:t>
            </a:r>
            <a:r>
              <a:rPr lang="en-GB" altLang="en-US" sz="2800" b="1"/>
              <a:t>a</a:t>
            </a:r>
            <a:r>
              <a:rPr lang="en-GB" altLang="en-US" sz="2800" b="1">
                <a:latin typeface="Times New Roman" pitchFamily="18" charset="0"/>
              </a:rPr>
              <a:t>’</a:t>
            </a:r>
            <a:r>
              <a:rPr lang="en-GB" altLang="en-US" sz="2800"/>
              <a:t>}</a:t>
            </a:r>
            <a:r>
              <a:rPr lang="en-GB" altLang="en-US" sz="2800" b="1">
                <a:latin typeface="Times New Roman" pitchFamily="18" charset="0"/>
              </a:rPr>
              <a:t>;</a:t>
            </a:r>
          </a:p>
          <a:p>
            <a:pPr marL="182563" indent="-182563" algn="just">
              <a:lnSpc>
                <a:spcPct val="125000"/>
              </a:lnSpc>
              <a:spcBef>
                <a:spcPct val="75000"/>
              </a:spcBef>
              <a:buNone/>
            </a:pPr>
            <a:r>
              <a:rPr lang="zh-CN" altLang="en-US" sz="2800" b="1"/>
              <a:t>   </a:t>
            </a:r>
            <a:r>
              <a:rPr lang="zh-CN" altLang="en-US" sz="1400" b="1"/>
              <a:t> </a:t>
            </a:r>
            <a:r>
              <a:rPr lang="zh-CN" altLang="en-US" sz="2800" b="1"/>
              <a:t>即将</a:t>
            </a:r>
            <a:r>
              <a:rPr lang="zh-CN" altLang="en-US" sz="2800" b="1">
                <a:latin typeface="Arial" pitchFamily="34" charset="0"/>
              </a:rPr>
              <a:t>5</a:t>
            </a:r>
            <a:r>
              <a:rPr lang="zh-CN" altLang="en-US" sz="2800" b="1"/>
              <a:t>个字符分别赋给c</a:t>
            </a:r>
            <a:r>
              <a:rPr lang="zh-CN" altLang="en-US" sz="2800"/>
              <a:t>[</a:t>
            </a:r>
            <a:r>
              <a:rPr lang="zh-CN" altLang="en-US" sz="2800" b="1">
                <a:latin typeface="Arial" pitchFamily="34" charset="0"/>
              </a:rPr>
              <a:t>0</a:t>
            </a:r>
            <a:r>
              <a:rPr lang="zh-CN" altLang="en-US" sz="2800"/>
              <a:t>]</a:t>
            </a:r>
            <a:r>
              <a:rPr lang="zh-CN" altLang="en-US" sz="2800" b="1"/>
              <a:t>到c</a:t>
            </a:r>
            <a:r>
              <a:rPr lang="zh-CN" altLang="en-US" sz="2800"/>
              <a:t>[</a:t>
            </a:r>
            <a:r>
              <a:rPr lang="zh-CN" altLang="en-US" sz="2800" b="1">
                <a:latin typeface="Arial" pitchFamily="34" charset="0"/>
              </a:rPr>
              <a:t>4</a:t>
            </a:r>
            <a:r>
              <a:rPr lang="zh-CN" altLang="en-US" sz="2800"/>
              <a:t>]</a:t>
            </a:r>
            <a:r>
              <a:rPr lang="zh-CN" altLang="en-US" sz="2800" b="1">
                <a:latin typeface="Arial" pitchFamily="34" charset="0"/>
              </a:rPr>
              <a:t>5</a:t>
            </a:r>
            <a:r>
              <a:rPr lang="zh-CN" altLang="en-US" sz="2800" b="1"/>
              <a:t>个数组元素</a:t>
            </a:r>
          </a:p>
          <a:p>
            <a:pPr marL="182563" indent="-182563" algn="just">
              <a:lnSpc>
                <a:spcPct val="95000"/>
              </a:lnSpc>
              <a:spcBef>
                <a:spcPct val="85000"/>
              </a:spcBef>
              <a:buNone/>
            </a:pPr>
            <a:r>
              <a:rPr lang="zh-CN" altLang="en-US" sz="2800" b="1">
                <a:latin typeface="Courier New" pitchFamily="49" charset="0"/>
              </a:rPr>
              <a:t> </a:t>
            </a:r>
            <a:r>
              <a:rPr lang="zh-CN" altLang="en-US" sz="2000" b="1">
                <a:latin typeface="Courier New" pitchFamily="49" charset="0"/>
              </a:rPr>
              <a:t> </a:t>
            </a:r>
            <a:r>
              <a:rPr lang="zh-CN" altLang="en-US" sz="2800" b="1">
                <a:latin typeface="Courier New" pitchFamily="49" charset="0"/>
              </a:rPr>
              <a:t>存储形式为</a:t>
            </a:r>
            <a:r>
              <a:rPr lang="zh-CN" altLang="en-US" sz="2800" b="1">
                <a:latin typeface="Times New Roman" pitchFamily="18" charset="0"/>
              </a:rPr>
              <a:t>:</a:t>
            </a:r>
          </a:p>
          <a:p>
            <a:pPr marL="182563" indent="-182563" algn="just">
              <a:lnSpc>
                <a:spcPct val="90000"/>
              </a:lnSpc>
              <a:spcBef>
                <a:spcPct val="60000"/>
              </a:spcBef>
              <a:buClr>
                <a:srgbClr val="2F2FBD"/>
              </a:buClr>
              <a:buSzTx/>
              <a:buNone/>
            </a:pPr>
            <a:endParaRPr lang="zh-CN" altLang="en-US" sz="2800" b="1"/>
          </a:p>
          <a:p>
            <a:pPr marL="182563" indent="-182563" algn="just">
              <a:lnSpc>
                <a:spcPct val="90000"/>
              </a:lnSpc>
              <a:buClr>
                <a:srgbClr val="2F2FBD"/>
              </a:buClr>
              <a:buSzTx/>
              <a:buNone/>
            </a:pPr>
            <a:r>
              <a:rPr lang="zh-CN" altLang="en-US" sz="2400" b="1"/>
              <a:t>            </a:t>
            </a:r>
          </a:p>
        </p:txBody>
      </p:sp>
      <p:sp>
        <p:nvSpPr>
          <p:cNvPr id="356356" name="Text Box 4"/>
          <p:cNvSpPr txBox="1">
            <a:spLocks noChangeArrowheads="1"/>
          </p:cNvSpPr>
          <p:nvPr/>
        </p:nvSpPr>
        <p:spPr bwMode="auto">
          <a:xfrm>
            <a:off x="4360863" y="2132013"/>
            <a:ext cx="266700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3333CC"/>
                </a:solidFill>
                <a:ea typeface="宋体" pitchFamily="2" charset="-122"/>
              </a:rPr>
              <a:t>4</a:t>
            </a:r>
          </a:p>
        </p:txBody>
      </p:sp>
      <p:sp>
        <p:nvSpPr>
          <p:cNvPr id="356357" name="Text Box 5"/>
          <p:cNvSpPr txBox="1">
            <a:spLocks noChangeArrowheads="1"/>
          </p:cNvSpPr>
          <p:nvPr/>
        </p:nvSpPr>
        <p:spPr bwMode="auto">
          <a:xfrm>
            <a:off x="4359275" y="2114551"/>
            <a:ext cx="2667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3200" rIns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8</a:t>
            </a:r>
          </a:p>
        </p:txBody>
      </p:sp>
      <p:graphicFrame>
        <p:nvGraphicFramePr>
          <p:cNvPr id="356358" name="Group 6"/>
          <p:cNvGraphicFramePr>
            <a:graphicFrameLocks noGrp="1"/>
          </p:cNvGraphicFramePr>
          <p:nvPr>
            <p:ph sz="half" idx="2"/>
          </p:nvPr>
        </p:nvGraphicFramePr>
        <p:xfrm>
          <a:off x="4668839" y="3810000"/>
          <a:ext cx="4364037" cy="958850"/>
        </p:xfrm>
        <a:graphic>
          <a:graphicData uri="http://schemas.openxmlformats.org/drawingml/2006/table">
            <a:tbl>
              <a:tblPr/>
              <a:tblGrid>
                <a:gridCol w="871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c[0]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c[1]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c[2]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c[3]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c[4]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‘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c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’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‘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h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’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‘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i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’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‘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n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’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‘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’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6378" name="Rectangle 26"/>
          <p:cNvSpPr>
            <a:spLocks noChangeArrowheads="1"/>
          </p:cNvSpPr>
          <p:nvPr/>
        </p:nvSpPr>
        <p:spPr bwMode="auto">
          <a:xfrm>
            <a:off x="2347913" y="2871789"/>
            <a:ext cx="7853362" cy="27514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118800">
            <a:spAutoFit/>
          </a:bodyPr>
          <a:lstStyle/>
          <a:p>
            <a:pPr marL="274638" indent="-274638" fontAlgn="base"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2800" b="1">
                <a:solidFill>
                  <a:srgbClr val="000000"/>
                </a:solidFill>
              </a:rPr>
              <a:t>若数组长度</a:t>
            </a:r>
            <a:r>
              <a:rPr lang="zh-CN" altLang="en-US" sz="2800" b="1">
                <a:solidFill>
                  <a:srgbClr val="FF0000"/>
                </a:solidFill>
              </a:rPr>
              <a:t>＜ </a:t>
            </a:r>
            <a:r>
              <a:rPr lang="zh-CN" altLang="en-US" sz="2800" b="1">
                <a:solidFill>
                  <a:srgbClr val="000000"/>
                </a:solidFill>
              </a:rPr>
              <a:t>字符个数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,  </a:t>
            </a:r>
            <a:r>
              <a:rPr lang="zh-CN" altLang="en-US" sz="2800" b="1">
                <a:solidFill>
                  <a:srgbClr val="000000"/>
                </a:solidFill>
              </a:rPr>
              <a:t>则作错误处理。</a:t>
            </a:r>
          </a:p>
          <a:p>
            <a:pPr marL="274638" indent="-274638" fontAlgn="base"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Char char="l"/>
            </a:pPr>
            <a:endParaRPr lang="zh-CN" altLang="en-US" sz="2800" b="1">
              <a:solidFill>
                <a:srgbClr val="000000"/>
              </a:solidFill>
            </a:endParaRPr>
          </a:p>
          <a:p>
            <a:pPr marL="274638" indent="-274638" fontAlgn="base"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Char char="l"/>
            </a:pPr>
            <a:endParaRPr lang="zh-CN" altLang="en-US" sz="2800" b="1">
              <a:solidFill>
                <a:srgbClr val="000000"/>
              </a:solidFill>
            </a:endParaRPr>
          </a:p>
          <a:p>
            <a:pPr marL="274638" indent="-274638" fontAlgn="base"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Char char="l"/>
            </a:pPr>
            <a:endParaRPr lang="zh-CN" altLang="en-US" sz="2800" b="1">
              <a:solidFill>
                <a:srgbClr val="000000"/>
              </a:solidFill>
            </a:endParaRPr>
          </a:p>
          <a:p>
            <a:pPr marL="274638" indent="-274638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85000"/>
              <a:buFontTx/>
              <a:buChar char="•"/>
            </a:pPr>
            <a:endParaRPr lang="zh-CN" altLang="en-US" sz="2800" b="1">
              <a:solidFill>
                <a:srgbClr val="000000"/>
              </a:solidFill>
            </a:endParaRPr>
          </a:p>
          <a:p>
            <a:pPr marL="274638" indent="-274638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85000"/>
            </a:pPr>
            <a:endParaRPr lang="zh-CN" altLang="zh-CN" sz="2800" b="1">
              <a:solidFill>
                <a:srgbClr val="000000"/>
              </a:solidFill>
            </a:endParaRPr>
          </a:p>
        </p:txBody>
      </p:sp>
      <p:sp>
        <p:nvSpPr>
          <p:cNvPr id="356379" name="Rectangle 27"/>
          <p:cNvSpPr>
            <a:spLocks noChangeArrowheads="1"/>
          </p:cNvSpPr>
          <p:nvPr/>
        </p:nvSpPr>
        <p:spPr bwMode="auto">
          <a:xfrm>
            <a:off x="2344739" y="3473450"/>
            <a:ext cx="7775575" cy="10392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74638" indent="-274638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2800" b="1">
                <a:solidFill>
                  <a:srgbClr val="000000"/>
                </a:solidFill>
              </a:rPr>
              <a:t>若数组长度</a:t>
            </a:r>
            <a:r>
              <a:rPr lang="zh-CN" altLang="en-US" sz="2800" b="1">
                <a:solidFill>
                  <a:srgbClr val="FF0000"/>
                </a:solidFill>
              </a:rPr>
              <a:t>＞</a:t>
            </a:r>
            <a:r>
              <a:rPr lang="zh-CN" altLang="en-US" sz="2800" b="1">
                <a:solidFill>
                  <a:srgbClr val="000000"/>
                </a:solidFill>
              </a:rPr>
              <a:t>字符个数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 </a:t>
            </a:r>
            <a:r>
              <a:rPr lang="zh-CN" altLang="en-US" sz="2800" b="1" dirty="0">
                <a:solidFill>
                  <a:srgbClr val="000000"/>
                </a:solidFill>
              </a:rPr>
              <a:t>则将这些字符赋给前面的元素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,  </a:t>
            </a:r>
            <a:r>
              <a:rPr lang="zh-CN" altLang="en-US" sz="2800" b="1" dirty="0">
                <a:solidFill>
                  <a:srgbClr val="000000"/>
                </a:solidFill>
              </a:rPr>
              <a:t>其余元素自动为空字符</a:t>
            </a:r>
            <a:r>
              <a:rPr lang="zh-CN" altLang="zh-CN" sz="2800" dirty="0">
                <a:solidFill>
                  <a:srgbClr val="000000"/>
                </a:solidFill>
              </a:rPr>
              <a:t>(</a:t>
            </a:r>
            <a:r>
              <a:rPr lang="zh-CN" altLang="zh-CN" sz="2800" b="1" dirty="0">
                <a:solidFill>
                  <a:srgbClr val="000000"/>
                </a:solidFill>
                <a:latin typeface="Times New Roman"/>
              </a:rPr>
              <a:t>‘</a:t>
            </a:r>
            <a:r>
              <a:rPr lang="zh-CN" altLang="zh-CN" sz="2800" dirty="0">
                <a:solidFill>
                  <a:srgbClr val="000000"/>
                </a:solidFill>
              </a:rPr>
              <a:t>\0</a:t>
            </a:r>
            <a:r>
              <a:rPr lang="zh-CN" altLang="zh-CN" sz="2800" b="1" dirty="0">
                <a:solidFill>
                  <a:srgbClr val="000000"/>
                </a:solidFill>
                <a:latin typeface="Times New Roman"/>
              </a:rPr>
              <a:t>’</a:t>
            </a:r>
            <a:r>
              <a:rPr lang="zh-CN" altLang="zh-CN" sz="2800" dirty="0">
                <a:solidFill>
                  <a:srgbClr val="000000"/>
                </a:solidFill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356380" name="Rectangle 28"/>
          <p:cNvSpPr>
            <a:spLocks noChangeArrowheads="1"/>
          </p:cNvSpPr>
          <p:nvPr/>
        </p:nvSpPr>
        <p:spPr bwMode="auto">
          <a:xfrm>
            <a:off x="2562226" y="4768851"/>
            <a:ext cx="1731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  <a:latin typeface="Courier New" pitchFamily="49" charset="0"/>
              </a:rPr>
              <a:t>存储形式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</p:txBody>
      </p:sp>
      <p:graphicFrame>
        <p:nvGraphicFramePr>
          <p:cNvPr id="35638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492059"/>
              </p:ext>
            </p:extLst>
          </p:nvPr>
        </p:nvGraphicFramePr>
        <p:xfrm>
          <a:off x="4295775" y="4868863"/>
          <a:ext cx="5805488" cy="877888"/>
        </p:xfrm>
        <a:graphic>
          <a:graphicData uri="http://schemas.openxmlformats.org/drawingml/2006/table">
            <a:tbl>
              <a:tblPr/>
              <a:tblGrid>
                <a:gridCol w="72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54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54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54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c[0]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c[1]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c[2]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c[3]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c[4]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c[5]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c[6]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c[7]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‘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c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’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‘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h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’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‘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i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’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‘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n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’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‘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’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‘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’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‘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’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‘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’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5394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6" grpId="0" animBg="1" autoUpdateAnimBg="0"/>
      <p:bldP spid="356357" grpId="0" animBg="1" autoUpdateAnimBg="0"/>
      <p:bldP spid="356378" grpId="0" animBg="1" autoUpdateAnimBg="0"/>
      <p:bldP spid="356379" grpId="0" animBg="1" autoUpdateAnimBg="0"/>
      <p:bldP spid="356380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ChangeArrowheads="1"/>
          </p:cNvSpPr>
          <p:nvPr>
            <p:ph type="title"/>
          </p:nvPr>
        </p:nvSpPr>
        <p:spPr>
          <a:xfrm>
            <a:off x="3343276" y="-22225"/>
            <a:ext cx="5834063" cy="777875"/>
          </a:xfrm>
        </p:spPr>
        <p:txBody>
          <a:bodyPr/>
          <a:lstStyle/>
          <a:p>
            <a:r>
              <a:rPr lang="zh-CN" altLang="en-US" sz="3600"/>
              <a:t>二、</a:t>
            </a:r>
            <a:r>
              <a:rPr lang="zh-CN" altLang="en-US" sz="3600">
                <a:latin typeface="楷体_GB2312" pitchFamily="49" charset="-122"/>
              </a:rPr>
              <a:t>字符数组初始化</a:t>
            </a:r>
          </a:p>
        </p:txBody>
      </p:sp>
      <p:sp>
        <p:nvSpPr>
          <p:cNvPr id="357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70100" y="1279526"/>
            <a:ext cx="8509000" cy="4625975"/>
          </a:xfrm>
        </p:spPr>
        <p:txBody>
          <a:bodyPr/>
          <a:lstStyle/>
          <a:p>
            <a:pPr marL="182563" indent="-182563" algn="just"/>
            <a:r>
              <a:rPr lang="zh-CN" altLang="en-US" sz="2800" b="1" dirty="0"/>
              <a:t>用</a:t>
            </a:r>
            <a:r>
              <a:rPr lang="zh-CN" altLang="en-US" sz="2800" b="1" dirty="0">
                <a:solidFill>
                  <a:schemeClr val="hlink"/>
                </a:solidFill>
              </a:rPr>
              <a:t>字符串</a:t>
            </a:r>
            <a:r>
              <a:rPr lang="zh-CN" altLang="en-US" sz="2800" b="1" dirty="0"/>
              <a:t>为字符数组赋初值</a:t>
            </a:r>
          </a:p>
          <a:p>
            <a:pPr marL="182563" indent="-182563" algn="just">
              <a:lnSpc>
                <a:spcPct val="115000"/>
              </a:lnSpc>
              <a:buNone/>
            </a:pPr>
            <a:r>
              <a:rPr lang="zh-CN" altLang="en-US" sz="2800" b="1" dirty="0"/>
              <a:t>  例</a:t>
            </a:r>
            <a:r>
              <a:rPr lang="zh-CN" altLang="en-US" sz="2800" b="1" dirty="0">
                <a:latin typeface="Times New Roman" pitchFamily="18" charset="0"/>
              </a:rPr>
              <a:t>:</a:t>
            </a:r>
          </a:p>
          <a:p>
            <a:pPr marL="182563" indent="-182563"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3300"/>
                </a:solidFill>
              </a:rPr>
              <a:t>          </a:t>
            </a:r>
            <a:r>
              <a:rPr lang="zh-CN" altLang="en-US" sz="2800" b="1" dirty="0">
                <a:latin typeface="Arial" pitchFamily="34" charset="0"/>
              </a:rPr>
              <a:t>char</a:t>
            </a:r>
            <a:r>
              <a:rPr lang="zh-CN" altLang="en-US" sz="2800" b="1" dirty="0">
                <a:solidFill>
                  <a:schemeClr val="bg2"/>
                </a:solidFill>
              </a:rPr>
              <a:t>  </a:t>
            </a:r>
            <a:r>
              <a:rPr lang="zh-CN" altLang="en-US" sz="2800" b="1" dirty="0">
                <a:latin typeface="Arial" pitchFamily="34" charset="0"/>
              </a:rPr>
              <a:t>a</a:t>
            </a:r>
            <a:r>
              <a:rPr lang="zh-CN" altLang="en-US" sz="2800" b="1" dirty="0">
                <a:latin typeface="黑体" pitchFamily="49" charset="-122"/>
              </a:rPr>
              <a:t>[</a:t>
            </a:r>
            <a:r>
              <a:rPr lang="zh-CN" altLang="en-US" sz="2800" b="1" dirty="0">
                <a:latin typeface="Arial" pitchFamily="34" charset="0"/>
              </a:rPr>
              <a:t>10</a:t>
            </a:r>
            <a:r>
              <a:rPr lang="zh-CN" altLang="en-US" sz="2800" b="1" dirty="0">
                <a:latin typeface="黑体" pitchFamily="49" charset="-122"/>
              </a:rPr>
              <a:t>]</a:t>
            </a:r>
            <a:r>
              <a:rPr lang="zh-CN" altLang="en-US" sz="2800" b="1" dirty="0">
                <a:solidFill>
                  <a:schemeClr val="bg2"/>
                </a:solidFill>
              </a:rPr>
              <a:t>=</a:t>
            </a:r>
            <a:r>
              <a:rPr lang="zh-CN" altLang="en-US" sz="2800" dirty="0">
                <a:solidFill>
                  <a:schemeClr val="bg2"/>
                </a:solidFill>
              </a:rPr>
              <a:t>{</a:t>
            </a:r>
            <a:r>
              <a:rPr lang="zh-CN" altLang="en-US" sz="2800" b="1" dirty="0">
                <a:latin typeface="Times New Roman" pitchFamily="18" charset="0"/>
              </a:rPr>
              <a:t>“</a:t>
            </a:r>
            <a:r>
              <a:rPr lang="en-GB" altLang="en-US" sz="2800" b="1" dirty="0">
                <a:latin typeface="Arial" pitchFamily="34" charset="0"/>
              </a:rPr>
              <a:t>china</a:t>
            </a: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”</a:t>
            </a:r>
            <a:r>
              <a:rPr lang="zh-CN" altLang="en-US" sz="2800" dirty="0">
                <a:solidFill>
                  <a:schemeClr val="bg2"/>
                </a:solidFill>
              </a:rPr>
              <a:t>}</a:t>
            </a: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;</a:t>
            </a:r>
          </a:p>
          <a:p>
            <a:pPr marL="182563" indent="-182563" algn="just">
              <a:lnSpc>
                <a:spcPct val="95000"/>
              </a:lnSpc>
              <a:spcBef>
                <a:spcPct val="0"/>
              </a:spcBef>
              <a:buNone/>
            </a:pPr>
            <a:r>
              <a:rPr lang="zh-CN" altLang="en-US" sz="2800" b="1" dirty="0"/>
              <a:t>  </a:t>
            </a:r>
            <a:r>
              <a:rPr lang="zh-CN" altLang="en-US" sz="1800" b="1" dirty="0"/>
              <a:t> </a:t>
            </a:r>
            <a:r>
              <a:rPr lang="zh-CN" altLang="en-US" sz="2800" b="1" dirty="0"/>
              <a:t>或</a:t>
            </a:r>
            <a:r>
              <a:rPr lang="zh-CN" altLang="en-US" sz="2800" b="1" dirty="0">
                <a:latin typeface="Times New Roman" pitchFamily="18" charset="0"/>
              </a:rPr>
              <a:t>:</a:t>
            </a:r>
          </a:p>
          <a:p>
            <a:pPr marL="182563" indent="-182563"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3300"/>
                </a:solidFill>
              </a:rPr>
              <a:t>          </a:t>
            </a:r>
            <a:r>
              <a:rPr lang="zh-CN" altLang="en-US" sz="2800" b="1" dirty="0">
                <a:latin typeface="Arial" pitchFamily="34" charset="0"/>
              </a:rPr>
              <a:t>char</a:t>
            </a:r>
            <a:r>
              <a:rPr lang="zh-CN" altLang="en-US" sz="2800" b="1" dirty="0"/>
              <a:t>  </a:t>
            </a:r>
            <a:r>
              <a:rPr lang="zh-CN" altLang="en-US" sz="2800" b="1" dirty="0">
                <a:latin typeface="Arial" pitchFamily="34" charset="0"/>
              </a:rPr>
              <a:t>a</a:t>
            </a:r>
            <a:r>
              <a:rPr lang="zh-CN" altLang="en-US" sz="2800" b="1" dirty="0">
                <a:latin typeface="黑体" pitchFamily="49" charset="-122"/>
              </a:rPr>
              <a:t>[ ]</a:t>
            </a:r>
            <a:r>
              <a:rPr lang="zh-CN" altLang="en-US" sz="2800" b="1" dirty="0"/>
              <a:t>=</a:t>
            </a:r>
            <a:r>
              <a:rPr lang="zh-CN" altLang="en-US" sz="2800" b="1" dirty="0">
                <a:latin typeface="Times New Roman" pitchFamily="18" charset="0"/>
              </a:rPr>
              <a:t>“</a:t>
            </a:r>
            <a:r>
              <a:rPr lang="en-GB" altLang="en-US" sz="2800" b="1" dirty="0">
                <a:latin typeface="Arial" pitchFamily="34" charset="0"/>
              </a:rPr>
              <a:t>china</a:t>
            </a:r>
            <a:r>
              <a:rPr lang="zh-CN" altLang="en-US" sz="2800" b="1" dirty="0">
                <a:latin typeface="Times New Roman" pitchFamily="18" charset="0"/>
              </a:rPr>
              <a:t>”</a:t>
            </a:r>
            <a:r>
              <a:rPr lang="zh-CN" altLang="en-US" sz="2800" b="1" dirty="0"/>
              <a:t> </a:t>
            </a:r>
            <a:r>
              <a:rPr lang="zh-CN" altLang="en-US" sz="2800" b="1" dirty="0">
                <a:latin typeface="Times New Roman" pitchFamily="18" charset="0"/>
              </a:rPr>
              <a:t>;</a:t>
            </a:r>
          </a:p>
          <a:p>
            <a:pPr marL="182563" indent="-182563" eaLnBrk="0" hangingPunct="0">
              <a:lnSpc>
                <a:spcPct val="110000"/>
              </a:lnSpc>
              <a:spcBef>
                <a:spcPct val="70000"/>
              </a:spcBef>
              <a:buClrTx/>
              <a:buSzTx/>
              <a:buNone/>
            </a:pPr>
            <a:r>
              <a:rPr lang="zh-CN" altLang="en-US" sz="2800" b="1" dirty="0">
                <a:latin typeface="黑体" pitchFamily="49" charset="-122"/>
              </a:rPr>
              <a:t>     </a:t>
            </a:r>
            <a:r>
              <a:rPr lang="zh-CN" altLang="en-US" sz="2400" b="1" dirty="0">
                <a:latin typeface="黑体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C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语言中所有字符串都是以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’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\0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’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结束</a:t>
            </a:r>
            <a:r>
              <a:rPr lang="zh-CN" altLang="en-US" sz="2800" b="1" dirty="0">
                <a:latin typeface="黑体" pitchFamily="49" charset="-122"/>
              </a:rPr>
              <a:t>。</a:t>
            </a:r>
          </a:p>
          <a:p>
            <a:pPr marL="182563" indent="-182563" eaLnBrk="0" hangingPunct="0">
              <a:lnSpc>
                <a:spcPct val="115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800" b="1" dirty="0">
                <a:latin typeface="黑体" pitchFamily="49" charset="-122"/>
              </a:rPr>
              <a:t>     </a:t>
            </a:r>
            <a:r>
              <a:rPr lang="zh-CN" altLang="en-US" sz="2400" b="1" dirty="0">
                <a:latin typeface="黑体" pitchFamily="49" charset="-122"/>
              </a:rPr>
              <a:t> </a:t>
            </a:r>
            <a:endParaRPr lang="zh-CN" altLang="en-US" sz="2800" b="1" dirty="0">
              <a:latin typeface="黑体" pitchFamily="49" charset="-122"/>
            </a:endParaRPr>
          </a:p>
        </p:txBody>
      </p:sp>
      <p:sp>
        <p:nvSpPr>
          <p:cNvPr id="357380" name="Text Box 4"/>
          <p:cNvSpPr txBox="1">
            <a:spLocks noChangeArrowheads="1"/>
          </p:cNvSpPr>
          <p:nvPr/>
        </p:nvSpPr>
        <p:spPr bwMode="auto">
          <a:xfrm>
            <a:off x="4549775" y="3036888"/>
            <a:ext cx="234950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6</a:t>
            </a:r>
          </a:p>
        </p:txBody>
      </p:sp>
      <p:sp>
        <p:nvSpPr>
          <p:cNvPr id="357381" name="Rectangle 5"/>
          <p:cNvSpPr>
            <a:spLocks noChangeArrowheads="1"/>
          </p:cNvSpPr>
          <p:nvPr/>
        </p:nvSpPr>
        <p:spPr bwMode="auto">
          <a:xfrm>
            <a:off x="2854325" y="4492626"/>
            <a:ext cx="2089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  <a:latin typeface="Courier New" pitchFamily="49" charset="0"/>
              </a:rPr>
              <a:t>存储形式为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</p:txBody>
      </p:sp>
      <p:graphicFrame>
        <p:nvGraphicFramePr>
          <p:cNvPr id="357382" name="Group 6"/>
          <p:cNvGraphicFramePr>
            <a:graphicFrameLocks noGrp="1"/>
          </p:cNvGraphicFramePr>
          <p:nvPr/>
        </p:nvGraphicFramePr>
        <p:xfrm>
          <a:off x="4984750" y="4545013"/>
          <a:ext cx="3200400" cy="541338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1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49" charset="-122"/>
                        </a:rPr>
                        <a:t>c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49" charset="-122"/>
                        </a:rPr>
                        <a:t>h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49" charset="-122"/>
                        </a:rPr>
                        <a:t>i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49" charset="-122"/>
                        </a:rPr>
                        <a:t>n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49" charset="-122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7398" name="Text Box 22"/>
          <p:cNvSpPr txBox="1">
            <a:spLocks noChangeArrowheads="1"/>
          </p:cNvSpPr>
          <p:nvPr/>
        </p:nvSpPr>
        <p:spPr bwMode="auto">
          <a:xfrm>
            <a:off x="4549775" y="3036888"/>
            <a:ext cx="234950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5</a:t>
            </a:r>
          </a:p>
        </p:txBody>
      </p:sp>
      <p:sp>
        <p:nvSpPr>
          <p:cNvPr id="357399" name="Text Box 23"/>
          <p:cNvSpPr txBox="1">
            <a:spLocks noChangeArrowheads="1"/>
          </p:cNvSpPr>
          <p:nvPr/>
        </p:nvSpPr>
        <p:spPr bwMode="auto">
          <a:xfrm>
            <a:off x="4549775" y="3036888"/>
            <a:ext cx="228600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6</a:t>
            </a:r>
          </a:p>
        </p:txBody>
      </p:sp>
      <p:sp>
        <p:nvSpPr>
          <p:cNvPr id="357400" name="AutoShape 24"/>
          <p:cNvSpPr>
            <a:spLocks noChangeArrowheads="1"/>
          </p:cNvSpPr>
          <p:nvPr/>
        </p:nvSpPr>
        <p:spPr bwMode="auto">
          <a:xfrm>
            <a:off x="8150226" y="5340350"/>
            <a:ext cx="2112963" cy="736600"/>
          </a:xfrm>
          <a:prstGeom prst="wedgeRectCallout">
            <a:avLst>
              <a:gd name="adj1" fmla="val -55634"/>
              <a:gd name="adj2" fmla="val -82759"/>
            </a:avLst>
          </a:prstGeom>
          <a:solidFill>
            <a:srgbClr val="FFCCFF"/>
          </a:solidFill>
          <a:ln w="9525" cmpd="sng">
            <a:solidFill>
              <a:srgbClr val="FF00FF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黑体" pitchFamily="49" charset="-122"/>
              </a:rPr>
              <a:t>来自字符串常量的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黑体" pitchFamily="49" charset="-122"/>
              </a:rPr>
              <a:t>结束字符 </a:t>
            </a:r>
            <a:r>
              <a:rPr lang="zh-CN" altLang="en-US" b="1">
                <a:solidFill>
                  <a:srgbClr val="000000"/>
                </a:solidFill>
                <a:latin typeface="Times New Roman"/>
              </a:rPr>
              <a:t>‘</a:t>
            </a:r>
            <a:r>
              <a:rPr lang="zh-CN" altLang="zh-CN" b="1">
                <a:solidFill>
                  <a:srgbClr val="000000"/>
                </a:solidFill>
                <a:latin typeface="黑体" pitchFamily="49" charset="-122"/>
              </a:rPr>
              <a:t>\0</a:t>
            </a:r>
            <a:r>
              <a:rPr lang="zh-CN" altLang="zh-CN" b="1">
                <a:solidFill>
                  <a:srgbClr val="000000"/>
                </a:solidFill>
                <a:latin typeface="Times New Roman"/>
              </a:rPr>
              <a:t>’</a:t>
            </a:r>
            <a:r>
              <a:rPr lang="zh-CN" altLang="zh-CN" b="1">
                <a:solidFill>
                  <a:srgbClr val="000000"/>
                </a:solidFill>
                <a:latin typeface="黑体" pitchFamily="49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黑体" pitchFamily="49" charset="-122"/>
              </a:rPr>
              <a:t>。</a:t>
            </a:r>
            <a:endParaRPr lang="zh-CN" altLang="en-US" sz="2400" b="1">
              <a:solidFill>
                <a:srgbClr val="3333FF"/>
              </a:solidFill>
              <a:latin typeface="黑体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CAA09E-D52B-8529-67E4-5275A89590DB}"/>
              </a:ext>
            </a:extLst>
          </p:cNvPr>
          <p:cNvSpPr txBox="1"/>
          <p:nvPr/>
        </p:nvSpPr>
        <p:spPr>
          <a:xfrm>
            <a:off x="7752184" y="1359762"/>
            <a:ext cx="4206601" cy="1677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本质上是编译器调用字符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串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复制函数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完成复制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只允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许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字符型数组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做这种初始化</a:t>
            </a:r>
          </a:p>
        </p:txBody>
      </p:sp>
    </p:spTree>
    <p:extLst>
      <p:ext uri="{BB962C8B-B14F-4D97-AF65-F5344CB8AC3E}">
        <p14:creationId xmlns:p14="http://schemas.microsoft.com/office/powerpoint/2010/main" val="3450232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7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7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573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380" grpId="0" animBg="1" autoUpdateAnimBg="0"/>
      <p:bldP spid="357381" grpId="0" build="p" autoUpdateAnimBg="0"/>
      <p:bldP spid="357398" grpId="0" animBg="1" autoUpdateAnimBg="0"/>
      <p:bldP spid="357399" grpId="0" animBg="1" autoUpdateAnimBg="0"/>
      <p:bldP spid="357400" grpId="0" animBg="1" autoUpdateAnimBg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>
          <a:xfrm>
            <a:off x="3525838" y="242888"/>
            <a:ext cx="5027612" cy="595312"/>
          </a:xfrm>
        </p:spPr>
        <p:txBody>
          <a:bodyPr/>
          <a:lstStyle/>
          <a:p>
            <a:r>
              <a:rPr lang="zh-CN" altLang="en-US" sz="3600"/>
              <a:t>二、</a:t>
            </a:r>
            <a:r>
              <a:rPr lang="zh-CN" altLang="en-US" sz="3600">
                <a:latin typeface="楷体_GB2312" pitchFamily="49" charset="-122"/>
              </a:rPr>
              <a:t>字符数组初始化</a:t>
            </a:r>
          </a:p>
        </p:txBody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09788" y="1220788"/>
            <a:ext cx="8223250" cy="4525962"/>
          </a:xfrm>
        </p:spPr>
        <p:txBody>
          <a:bodyPr/>
          <a:lstStyle/>
          <a:p>
            <a:pPr marL="274638" indent="-274638">
              <a:lnSpc>
                <a:spcPct val="115000"/>
              </a:lnSpc>
            </a:pP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省略下标时</a:t>
            </a:r>
            <a:r>
              <a:rPr lang="en-US" altLang="zh-CN" sz="2800" b="1"/>
              <a:t>,</a:t>
            </a:r>
            <a:r>
              <a:rPr lang="zh-CN" altLang="en-US" sz="2800" b="1"/>
              <a:t>用</a:t>
            </a:r>
            <a:r>
              <a:rPr lang="zh-CN" altLang="en-US" sz="2800" b="1" dirty="0"/>
              <a:t>字符串为字符数组赋初值比用字符常数赋值时要多占一个字节。</a:t>
            </a:r>
          </a:p>
          <a:p>
            <a:pPr marL="274638" indent="-274638">
              <a:lnSpc>
                <a:spcPct val="110000"/>
              </a:lnSpc>
              <a:spcBef>
                <a:spcPct val="40000"/>
              </a:spcBef>
              <a:buSzTx/>
              <a:buNone/>
            </a:pPr>
            <a:endParaRPr lang="en-US" altLang="zh-CN" sz="2000" b="1" dirty="0"/>
          </a:p>
          <a:p>
            <a:pPr marL="274638" indent="-274638">
              <a:lnSpc>
                <a:spcPct val="110000"/>
              </a:lnSpc>
              <a:spcBef>
                <a:spcPct val="40000"/>
              </a:spcBef>
              <a:buSzTx/>
              <a:buNone/>
            </a:pPr>
            <a:endParaRPr lang="zh-CN" altLang="en-US" sz="2000" b="1" dirty="0"/>
          </a:p>
          <a:p>
            <a:pPr marL="274638" indent="-274638" algn="just">
              <a:lnSpc>
                <a:spcPct val="110000"/>
              </a:lnSpc>
              <a:spcBef>
                <a:spcPct val="55000"/>
              </a:spcBef>
              <a:buSzTx/>
              <a:buNone/>
            </a:pPr>
            <a:r>
              <a:rPr lang="zh-CN" altLang="en-US" sz="2800" b="1" dirty="0"/>
              <a:t>    </a:t>
            </a:r>
            <a:r>
              <a:rPr lang="zh-CN" altLang="en-US" sz="2800" b="1" dirty="0">
                <a:latin typeface="Arial" pitchFamily="34" charset="0"/>
              </a:rPr>
              <a:t>char</a:t>
            </a:r>
            <a:r>
              <a:rPr lang="zh-CN" altLang="en-US" sz="2800" b="1" dirty="0">
                <a:solidFill>
                  <a:schemeClr val="bg2"/>
                </a:solidFill>
              </a:rPr>
              <a:t>  c</a:t>
            </a:r>
            <a:r>
              <a:rPr lang="zh-CN" altLang="en-US" sz="2800" dirty="0">
                <a:solidFill>
                  <a:schemeClr val="bg2"/>
                </a:solidFill>
              </a:rPr>
              <a:t>[  ]</a:t>
            </a:r>
            <a:r>
              <a:rPr lang="zh-CN" altLang="en-US" sz="2800" b="1" dirty="0">
                <a:solidFill>
                  <a:schemeClr val="bg2"/>
                </a:solidFill>
              </a:rPr>
              <a:t>=</a:t>
            </a:r>
            <a:r>
              <a:rPr lang="zh-CN" altLang="en-US" sz="2800" dirty="0">
                <a:solidFill>
                  <a:schemeClr val="bg2"/>
                </a:solidFill>
              </a:rPr>
              <a:t>{</a:t>
            </a: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‘</a:t>
            </a:r>
            <a:r>
              <a:rPr lang="en-GB" altLang="en-US" sz="2800" b="1" dirty="0">
                <a:solidFill>
                  <a:schemeClr val="bg2"/>
                </a:solidFill>
                <a:latin typeface="Arial" pitchFamily="34" charset="0"/>
              </a:rPr>
              <a:t>C</a:t>
            </a:r>
            <a:r>
              <a:rPr lang="en-GB" altLang="en-US" sz="2800" b="1" dirty="0">
                <a:solidFill>
                  <a:schemeClr val="bg2"/>
                </a:solidFill>
                <a:latin typeface="Times New Roman" pitchFamily="18" charset="0"/>
              </a:rPr>
              <a:t>’</a:t>
            </a: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en-GB" altLang="en-US" sz="2800" b="1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‘</a:t>
            </a:r>
            <a:r>
              <a:rPr lang="en-GB" altLang="en-US" sz="2800" b="1" dirty="0">
                <a:solidFill>
                  <a:schemeClr val="bg2"/>
                </a:solidFill>
                <a:latin typeface="Arial" pitchFamily="34" charset="0"/>
              </a:rPr>
              <a:t>h</a:t>
            </a:r>
            <a:r>
              <a:rPr lang="en-GB" altLang="en-US" sz="2800" b="1" dirty="0">
                <a:solidFill>
                  <a:schemeClr val="bg2"/>
                </a:solidFill>
                <a:latin typeface="Times New Roman" pitchFamily="18" charset="0"/>
              </a:rPr>
              <a:t>’</a:t>
            </a: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zh-CN" altLang="en-US" sz="2800" b="1" dirty="0">
                <a:solidFill>
                  <a:schemeClr val="bg2"/>
                </a:solidFill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‘</a:t>
            </a:r>
            <a:r>
              <a:rPr lang="en-GB" altLang="en-US" sz="2800" b="1" dirty="0">
                <a:solidFill>
                  <a:schemeClr val="bg2"/>
                </a:solidFill>
                <a:latin typeface="Arial" pitchFamily="34" charset="0"/>
              </a:rPr>
              <a:t>i</a:t>
            </a:r>
            <a:r>
              <a:rPr lang="en-GB" altLang="en-US" sz="2800" b="1" dirty="0">
                <a:solidFill>
                  <a:schemeClr val="bg2"/>
                </a:solidFill>
                <a:latin typeface="Times New Roman" pitchFamily="18" charset="0"/>
              </a:rPr>
              <a:t>’</a:t>
            </a: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, ‘</a:t>
            </a:r>
            <a:r>
              <a:rPr lang="en-GB" altLang="en-US" sz="2800" b="1" dirty="0">
                <a:solidFill>
                  <a:schemeClr val="bg2"/>
                </a:solidFill>
                <a:latin typeface="Arial" pitchFamily="34" charset="0"/>
              </a:rPr>
              <a:t>n</a:t>
            </a:r>
            <a:r>
              <a:rPr lang="en-GB" altLang="en-US" sz="2800" b="1" dirty="0">
                <a:solidFill>
                  <a:schemeClr val="bg2"/>
                </a:solidFill>
                <a:latin typeface="Times New Roman" pitchFamily="18" charset="0"/>
              </a:rPr>
              <a:t>’</a:t>
            </a: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, ‘</a:t>
            </a:r>
            <a:r>
              <a:rPr lang="en-GB" altLang="en-US" sz="2800" b="1" dirty="0">
                <a:solidFill>
                  <a:schemeClr val="bg2"/>
                </a:solidFill>
                <a:latin typeface="Arial" pitchFamily="34" charset="0"/>
              </a:rPr>
              <a:t>a</a:t>
            </a:r>
            <a:r>
              <a:rPr lang="en-GB" altLang="en-US" sz="2800" b="1" dirty="0">
                <a:solidFill>
                  <a:schemeClr val="bg2"/>
                </a:solidFill>
                <a:latin typeface="Times New Roman" pitchFamily="18" charset="0"/>
              </a:rPr>
              <a:t>’</a:t>
            </a:r>
            <a:r>
              <a:rPr lang="en-GB" altLang="en-US" sz="2800" dirty="0">
                <a:solidFill>
                  <a:schemeClr val="bg2"/>
                </a:solidFill>
              </a:rPr>
              <a:t>}</a:t>
            </a:r>
            <a:r>
              <a:rPr lang="en-GB" altLang="en-US" sz="2800" b="1" dirty="0">
                <a:solidFill>
                  <a:schemeClr val="bg2"/>
                </a:solidFill>
                <a:latin typeface="Times New Roman" pitchFamily="18" charset="0"/>
              </a:rPr>
              <a:t>;</a:t>
            </a:r>
          </a:p>
          <a:p>
            <a:pPr marL="274638" indent="-274638" algn="just">
              <a:lnSpc>
                <a:spcPct val="110000"/>
              </a:lnSpc>
              <a:spcBef>
                <a:spcPct val="55000"/>
              </a:spcBef>
              <a:buSzTx/>
              <a:buNone/>
            </a:pPr>
            <a:r>
              <a:rPr lang="zh-CN" altLang="en-US" sz="2800" b="1" dirty="0">
                <a:solidFill>
                  <a:schemeClr val="bg2"/>
                </a:solidFill>
              </a:rPr>
              <a:t>    </a:t>
            </a:r>
            <a:r>
              <a:rPr lang="zh-CN" altLang="en-US" sz="2800" b="1" dirty="0">
                <a:latin typeface="Arial" pitchFamily="34" charset="0"/>
              </a:rPr>
              <a:t>char</a:t>
            </a:r>
            <a:r>
              <a:rPr lang="zh-CN" altLang="en-US" sz="2800" b="1" dirty="0">
                <a:solidFill>
                  <a:schemeClr val="bg2"/>
                </a:solidFill>
              </a:rPr>
              <a:t>  </a:t>
            </a:r>
            <a:r>
              <a:rPr lang="zh-CN" altLang="en-US" sz="2800" b="1" dirty="0">
                <a:solidFill>
                  <a:schemeClr val="bg2"/>
                </a:solidFill>
                <a:latin typeface="Arial" pitchFamily="34" charset="0"/>
              </a:rPr>
              <a:t>a</a:t>
            </a:r>
            <a:r>
              <a:rPr lang="zh-CN" altLang="en-US" sz="2800" dirty="0">
                <a:solidFill>
                  <a:schemeClr val="bg2"/>
                </a:solidFill>
              </a:rPr>
              <a:t>[  ]</a:t>
            </a:r>
            <a:r>
              <a:rPr lang="zh-CN" altLang="en-US" sz="2800" b="1" dirty="0">
                <a:solidFill>
                  <a:schemeClr val="bg2"/>
                </a:solidFill>
              </a:rPr>
              <a:t>=</a:t>
            </a:r>
            <a:r>
              <a:rPr lang="zh-CN" altLang="en-US" sz="2800" b="1" dirty="0">
                <a:latin typeface="Times New Roman" pitchFamily="18" charset="0"/>
              </a:rPr>
              <a:t>“</a:t>
            </a:r>
            <a:r>
              <a:rPr lang="en-GB" altLang="en-US" sz="2800" b="1" dirty="0">
                <a:latin typeface="Arial" pitchFamily="34" charset="0"/>
              </a:rPr>
              <a:t>China</a:t>
            </a: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”;</a:t>
            </a:r>
          </a:p>
          <a:p>
            <a:pPr marL="274638" indent="-274638" algn="just">
              <a:lnSpc>
                <a:spcPct val="110000"/>
              </a:lnSpc>
              <a:buSzTx/>
              <a:buNone/>
            </a:pPr>
            <a:endParaRPr lang="zh-CN" altLang="en-US" sz="2800" b="1" dirty="0">
              <a:solidFill>
                <a:schemeClr val="bg2"/>
              </a:solidFill>
            </a:endParaRPr>
          </a:p>
          <a:p>
            <a:pPr marL="274638" indent="-274638">
              <a:buNone/>
            </a:pPr>
            <a:endParaRPr lang="zh-CN" altLang="en-US" sz="2800" b="1" dirty="0"/>
          </a:p>
        </p:txBody>
      </p:sp>
      <p:sp>
        <p:nvSpPr>
          <p:cNvPr id="358404" name="Rectangle 4"/>
          <p:cNvSpPr>
            <a:spLocks noChangeArrowheads="1"/>
          </p:cNvSpPr>
          <p:nvPr/>
        </p:nvSpPr>
        <p:spPr bwMode="auto">
          <a:xfrm>
            <a:off x="3813175" y="3413944"/>
            <a:ext cx="515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FF0000"/>
                </a:solidFill>
                <a:latin typeface="Arial" pitchFamily="34" charset="0"/>
                <a:ea typeface="Dotum" pitchFamily="34" charset="-127"/>
              </a:rPr>
              <a:t>5</a:t>
            </a:r>
            <a:r>
              <a:rPr lang="zh-CN" altLang="zh-CN" sz="2800" b="1" dirty="0">
                <a:solidFill>
                  <a:srgbClr val="FF0000"/>
                </a:solidFill>
                <a:ea typeface="Dotum" pitchFamily="34" charset="-127"/>
              </a:rPr>
              <a:t> </a:t>
            </a:r>
          </a:p>
        </p:txBody>
      </p:sp>
      <p:sp>
        <p:nvSpPr>
          <p:cNvPr id="358405" name="Rectangle 5"/>
          <p:cNvSpPr>
            <a:spLocks noChangeArrowheads="1"/>
          </p:cNvSpPr>
          <p:nvPr/>
        </p:nvSpPr>
        <p:spPr bwMode="auto">
          <a:xfrm>
            <a:off x="3813176" y="4061235"/>
            <a:ext cx="3825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FF0000"/>
                </a:solidFill>
                <a:latin typeface="Arial" pitchFamily="34" charset="0"/>
                <a:ea typeface="Dotum" pitchFamily="34" charset="-127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882913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4" grpId="0" autoUpdateAnimBg="0"/>
      <p:bldP spid="35840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>
          <a:xfrm>
            <a:off x="2308226" y="104775"/>
            <a:ext cx="7078663" cy="681038"/>
          </a:xfrm>
        </p:spPr>
        <p:txBody>
          <a:bodyPr/>
          <a:lstStyle/>
          <a:p>
            <a:r>
              <a:rPr lang="zh-CN" altLang="en-US" sz="2800">
                <a:solidFill>
                  <a:schemeClr val="tx1"/>
                </a:solidFill>
                <a:ea typeface="黑体" pitchFamily="49" charset="-122"/>
              </a:rPr>
              <a:t>例</a:t>
            </a:r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:</a:t>
            </a:r>
          </a:p>
        </p:txBody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5360" y="1484784"/>
            <a:ext cx="11737304" cy="4114800"/>
          </a:xfrm>
        </p:spPr>
        <p:txBody>
          <a:bodyPr/>
          <a:lstStyle/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800" b="1" dirty="0">
                <a:latin typeface="Arial" pitchFamily="34" charset="0"/>
              </a:rPr>
              <a:t>char</a:t>
            </a:r>
            <a:r>
              <a:rPr lang="zh-CN" altLang="zh-CN" sz="2800" b="1" dirty="0"/>
              <a:t>  </a:t>
            </a:r>
            <a:r>
              <a:rPr lang="zh-CN" altLang="zh-CN" sz="2800" b="1" dirty="0">
                <a:latin typeface="Arial" pitchFamily="34" charset="0"/>
              </a:rPr>
              <a:t>s1</a:t>
            </a:r>
            <a:r>
              <a:rPr lang="zh-CN" altLang="zh-CN" sz="2800" b="1" dirty="0">
                <a:latin typeface="黑体" pitchFamily="49" charset="-122"/>
              </a:rPr>
              <a:t>[10]</a:t>
            </a:r>
            <a:r>
              <a:rPr lang="zh-CN" altLang="zh-CN" sz="2800" b="1" dirty="0"/>
              <a:t>=</a:t>
            </a:r>
            <a:r>
              <a:rPr lang="zh-CN" altLang="zh-CN" sz="2800" dirty="0"/>
              <a:t>{</a:t>
            </a:r>
            <a:r>
              <a:rPr lang="zh-CN" altLang="zh-CN" sz="2800" b="1" dirty="0">
                <a:latin typeface="Times New Roman" pitchFamily="18" charset="0"/>
              </a:rPr>
              <a:t>‘</a:t>
            </a:r>
            <a:r>
              <a:rPr lang="zh-CN" altLang="zh-CN" sz="2800" b="1" dirty="0">
                <a:latin typeface="Arial" pitchFamily="34" charset="0"/>
              </a:rPr>
              <a:t>C</a:t>
            </a:r>
            <a:r>
              <a:rPr lang="zh-CN" altLang="zh-CN" sz="2800" b="1" dirty="0">
                <a:latin typeface="Times New Roman" pitchFamily="18" charset="0"/>
              </a:rPr>
              <a:t>’, ‘</a:t>
            </a:r>
            <a:r>
              <a:rPr lang="zh-CN" altLang="zh-CN" sz="2800" b="1" baseline="-25000" dirty="0"/>
              <a:t>︺</a:t>
            </a:r>
            <a:r>
              <a:rPr lang="zh-CN" altLang="zh-CN" sz="2800" b="1" dirty="0">
                <a:latin typeface="Times New Roman" pitchFamily="18" charset="0"/>
              </a:rPr>
              <a:t>’, ‘</a:t>
            </a:r>
            <a:r>
              <a:rPr lang="zh-CN" altLang="zh-CN" sz="2800" b="1" dirty="0">
                <a:latin typeface="Arial" pitchFamily="34" charset="0"/>
              </a:rPr>
              <a:t>P</a:t>
            </a:r>
            <a:r>
              <a:rPr lang="zh-CN" altLang="zh-CN" sz="2800" b="1" dirty="0">
                <a:latin typeface="Times New Roman" pitchFamily="18" charset="0"/>
              </a:rPr>
              <a:t>’, ‘</a:t>
            </a:r>
            <a:r>
              <a:rPr lang="zh-CN" altLang="zh-CN" sz="2800" b="1" dirty="0">
                <a:latin typeface="Arial" pitchFamily="34" charset="0"/>
              </a:rPr>
              <a:t>r</a:t>
            </a:r>
            <a:r>
              <a:rPr lang="zh-CN" altLang="zh-CN" sz="2800" b="1" dirty="0">
                <a:latin typeface="Times New Roman" pitchFamily="18" charset="0"/>
              </a:rPr>
              <a:t>’,‘</a:t>
            </a:r>
            <a:r>
              <a:rPr lang="zh-CN" altLang="zh-CN" sz="2800" b="1" dirty="0">
                <a:latin typeface="Arial" pitchFamily="34" charset="0"/>
              </a:rPr>
              <a:t>o</a:t>
            </a:r>
            <a:r>
              <a:rPr lang="zh-CN" altLang="zh-CN" sz="2800" b="1" dirty="0">
                <a:latin typeface="Times New Roman" pitchFamily="18" charset="0"/>
              </a:rPr>
              <a:t>’,‘</a:t>
            </a:r>
            <a:r>
              <a:rPr lang="zh-CN" altLang="zh-CN" sz="2800" b="1" dirty="0">
                <a:latin typeface="Arial" pitchFamily="34" charset="0"/>
              </a:rPr>
              <a:t>g</a:t>
            </a:r>
            <a:r>
              <a:rPr lang="zh-CN" altLang="zh-CN" sz="2800" b="1" dirty="0">
                <a:latin typeface="Times New Roman" pitchFamily="18" charset="0"/>
              </a:rPr>
              <a:t>’,‘</a:t>
            </a:r>
            <a:r>
              <a:rPr lang="zh-CN" altLang="zh-CN" sz="2800" b="1" dirty="0">
                <a:latin typeface="Arial" pitchFamily="34" charset="0"/>
              </a:rPr>
              <a:t>r</a:t>
            </a:r>
            <a:r>
              <a:rPr lang="zh-CN" altLang="zh-CN" sz="2800" b="1" dirty="0">
                <a:latin typeface="Times New Roman" pitchFamily="18" charset="0"/>
              </a:rPr>
              <a:t>’, ‘</a:t>
            </a:r>
            <a:r>
              <a:rPr lang="zh-CN" altLang="zh-CN" sz="2800" b="1" dirty="0">
                <a:latin typeface="Arial" pitchFamily="34" charset="0"/>
              </a:rPr>
              <a:t>a</a:t>
            </a:r>
            <a:r>
              <a:rPr lang="zh-CN" altLang="zh-CN" sz="2800" b="1" dirty="0">
                <a:latin typeface="Times New Roman" pitchFamily="18" charset="0"/>
              </a:rPr>
              <a:t>’, ‘</a:t>
            </a:r>
            <a:r>
              <a:rPr lang="zh-CN" altLang="zh-CN" sz="2800" b="1" dirty="0">
                <a:latin typeface="Arial" pitchFamily="34" charset="0"/>
              </a:rPr>
              <a:t>m</a:t>
            </a:r>
            <a:r>
              <a:rPr lang="zh-CN" altLang="zh-CN" sz="2800" b="1" dirty="0">
                <a:latin typeface="Times New Roman" pitchFamily="18" charset="0"/>
              </a:rPr>
              <a:t>’</a:t>
            </a:r>
            <a:r>
              <a:rPr lang="zh-CN" altLang="zh-CN" sz="2800" dirty="0"/>
              <a:t>}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25000"/>
              </a:lnSpc>
              <a:spcBef>
                <a:spcPct val="35000"/>
              </a:spcBef>
              <a:buFont typeface="Wingdings" pitchFamily="2" charset="2"/>
              <a:buNone/>
            </a:pPr>
            <a:r>
              <a:rPr lang="zh-CN" altLang="zh-CN" sz="2800" b="1" dirty="0">
                <a:latin typeface="Arial" pitchFamily="34" charset="0"/>
              </a:rPr>
              <a:t>char</a:t>
            </a:r>
            <a:r>
              <a:rPr lang="zh-CN" altLang="zh-CN" sz="2800" b="1" dirty="0"/>
              <a:t>  </a:t>
            </a:r>
            <a:r>
              <a:rPr lang="zh-CN" altLang="zh-CN" sz="2800" b="1" dirty="0">
                <a:latin typeface="Arial" pitchFamily="34" charset="0"/>
              </a:rPr>
              <a:t>s2</a:t>
            </a:r>
            <a:r>
              <a:rPr lang="zh-CN" altLang="zh-CN" sz="2800" b="1" dirty="0">
                <a:latin typeface="黑体" pitchFamily="49" charset="-122"/>
              </a:rPr>
              <a:t>[10]</a:t>
            </a:r>
            <a:r>
              <a:rPr lang="zh-CN" altLang="zh-CN" sz="2800" b="1" dirty="0"/>
              <a:t>=</a:t>
            </a:r>
            <a:r>
              <a:rPr lang="zh-CN" altLang="zh-CN" sz="2800" dirty="0"/>
              <a:t>{</a:t>
            </a:r>
            <a:r>
              <a:rPr lang="zh-CN" altLang="zh-CN" sz="2800" b="1" dirty="0">
                <a:latin typeface="Times New Roman" pitchFamily="18" charset="0"/>
              </a:rPr>
              <a:t>“</a:t>
            </a:r>
            <a:r>
              <a:rPr lang="zh-CN" altLang="zh-CN" sz="2800" b="1" dirty="0">
                <a:latin typeface="Arial" pitchFamily="34" charset="0"/>
              </a:rPr>
              <a:t>C</a:t>
            </a:r>
            <a:r>
              <a:rPr lang="zh-CN" altLang="zh-CN" sz="2800" b="1" baseline="-25000" dirty="0"/>
              <a:t>︺</a:t>
            </a:r>
            <a:r>
              <a:rPr lang="zh-CN" altLang="zh-CN" sz="2800" b="1" dirty="0">
                <a:latin typeface="Arial" pitchFamily="34" charset="0"/>
              </a:rPr>
              <a:t>Program</a:t>
            </a:r>
            <a:r>
              <a:rPr lang="zh-CN" altLang="zh-CN" sz="2800" b="1" dirty="0">
                <a:latin typeface="Times New Roman" pitchFamily="18" charset="0"/>
              </a:rPr>
              <a:t>”</a:t>
            </a:r>
            <a:r>
              <a:rPr lang="zh-CN" altLang="zh-CN" sz="2800" dirty="0"/>
              <a:t>}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25000"/>
              </a:lnSpc>
              <a:spcBef>
                <a:spcPct val="35000"/>
              </a:spcBef>
              <a:buFont typeface="Wingdings" pitchFamily="2" charset="2"/>
              <a:buNone/>
            </a:pPr>
            <a:r>
              <a:rPr lang="zh-CN" altLang="zh-CN" sz="2800" b="1" dirty="0">
                <a:latin typeface="Arial" pitchFamily="34" charset="0"/>
              </a:rPr>
              <a:t>char</a:t>
            </a:r>
            <a:r>
              <a:rPr lang="zh-CN" altLang="zh-CN" sz="2800" b="1" dirty="0"/>
              <a:t>  </a:t>
            </a:r>
            <a:r>
              <a:rPr lang="zh-CN" altLang="zh-CN" sz="2800" b="1" dirty="0">
                <a:latin typeface="Arial" pitchFamily="34" charset="0"/>
              </a:rPr>
              <a:t>s3</a:t>
            </a:r>
            <a:r>
              <a:rPr lang="zh-CN" altLang="zh-CN" sz="2800" b="1" dirty="0">
                <a:latin typeface="黑体" pitchFamily="49" charset="-122"/>
              </a:rPr>
              <a:t>[10]</a:t>
            </a:r>
            <a:r>
              <a:rPr lang="zh-CN" altLang="zh-CN" sz="2800" b="1" dirty="0"/>
              <a:t>=</a:t>
            </a:r>
            <a:r>
              <a:rPr lang="zh-CN" altLang="zh-CN" sz="2800" b="1" dirty="0">
                <a:latin typeface="Times New Roman" pitchFamily="18" charset="0"/>
              </a:rPr>
              <a:t>“</a:t>
            </a:r>
            <a:r>
              <a:rPr lang="zh-CN" altLang="zh-CN" sz="2800" b="1" dirty="0">
                <a:latin typeface="Arial" pitchFamily="34" charset="0"/>
              </a:rPr>
              <a:t>C</a:t>
            </a:r>
            <a:r>
              <a:rPr lang="zh-CN" altLang="zh-CN" sz="2800" b="1" baseline="-25000" dirty="0"/>
              <a:t>︺</a:t>
            </a:r>
            <a:r>
              <a:rPr lang="zh-CN" altLang="zh-CN" sz="2800" b="1" dirty="0">
                <a:latin typeface="Arial" pitchFamily="34" charset="0"/>
              </a:rPr>
              <a:t>Program</a:t>
            </a:r>
            <a:r>
              <a:rPr lang="zh-CN" altLang="zh-CN" sz="2800" b="1" dirty="0">
                <a:latin typeface="Times New Roman" pitchFamily="18" charset="0"/>
              </a:rPr>
              <a:t>”;</a:t>
            </a:r>
            <a:endParaRPr lang="zh-CN" altLang="zh-CN" sz="2800" b="1" dirty="0"/>
          </a:p>
          <a:p>
            <a:pPr>
              <a:lnSpc>
                <a:spcPct val="125000"/>
              </a:lnSpc>
              <a:spcBef>
                <a:spcPct val="35000"/>
              </a:spcBef>
              <a:buFont typeface="Wingdings" pitchFamily="2" charset="2"/>
              <a:buNone/>
            </a:pPr>
            <a:r>
              <a:rPr lang="zh-CN" altLang="zh-CN" sz="2800" b="1" dirty="0">
                <a:latin typeface="Arial" pitchFamily="34" charset="0"/>
              </a:rPr>
              <a:t>char</a:t>
            </a:r>
            <a:r>
              <a:rPr lang="zh-CN" altLang="zh-CN" sz="2800" b="1" dirty="0"/>
              <a:t>  </a:t>
            </a:r>
            <a:r>
              <a:rPr lang="zh-CN" altLang="zh-CN" sz="2800" b="1" dirty="0">
                <a:latin typeface="Arial" pitchFamily="34" charset="0"/>
              </a:rPr>
              <a:t>s4</a:t>
            </a:r>
            <a:r>
              <a:rPr lang="zh-CN" altLang="zh-CN" sz="2800" b="1" dirty="0">
                <a:latin typeface="黑体" pitchFamily="49" charset="-122"/>
              </a:rPr>
              <a:t>[ ]</a:t>
            </a:r>
            <a:r>
              <a:rPr lang="zh-CN" altLang="zh-CN" sz="2800" b="1" dirty="0"/>
              <a:t>=</a:t>
            </a:r>
            <a:r>
              <a:rPr lang="zh-CN" altLang="zh-CN" sz="2800" b="1" dirty="0">
                <a:latin typeface="Times New Roman" pitchFamily="18" charset="0"/>
              </a:rPr>
              <a:t>“</a:t>
            </a:r>
            <a:r>
              <a:rPr lang="zh-CN" altLang="zh-CN" sz="2800" b="1" dirty="0">
                <a:latin typeface="Arial" pitchFamily="34" charset="0"/>
              </a:rPr>
              <a:t>C</a:t>
            </a:r>
            <a:r>
              <a:rPr lang="zh-CN" altLang="zh-CN" sz="2800" b="1" baseline="-25000" dirty="0"/>
              <a:t>︺</a:t>
            </a:r>
            <a:r>
              <a:rPr lang="zh-CN" altLang="zh-CN" sz="2800" b="1" dirty="0">
                <a:latin typeface="Arial" pitchFamily="34" charset="0"/>
              </a:rPr>
              <a:t>Program</a:t>
            </a:r>
            <a:r>
              <a:rPr lang="zh-CN" altLang="zh-CN" sz="2800" b="1" dirty="0">
                <a:latin typeface="Times New Roman" pitchFamily="18" charset="0"/>
              </a:rPr>
              <a:t>”;</a:t>
            </a:r>
            <a:endParaRPr lang="zh-CN" altLang="zh-CN" sz="2800" b="1" dirty="0"/>
          </a:p>
          <a:p>
            <a:pPr>
              <a:spcBef>
                <a:spcPct val="85000"/>
              </a:spcBef>
              <a:buFont typeface="Wingdings" pitchFamily="2" charset="2"/>
              <a:buNone/>
            </a:pPr>
            <a:r>
              <a:rPr lang="zh-CN" altLang="en-US" sz="2800" b="1" dirty="0"/>
              <a:t>存储形式为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</a:p>
          <a:p>
            <a:pPr>
              <a:buFont typeface="Wingdings" pitchFamily="2" charset="2"/>
              <a:buNone/>
            </a:pPr>
            <a:endParaRPr lang="zh-CN" altLang="zh-CN" sz="2800" dirty="0">
              <a:latin typeface="Times New Roman" pitchFamily="18" charset="0"/>
            </a:endParaRPr>
          </a:p>
        </p:txBody>
      </p:sp>
      <p:graphicFrame>
        <p:nvGraphicFramePr>
          <p:cNvPr id="35942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481293"/>
              </p:ext>
            </p:extLst>
          </p:nvPr>
        </p:nvGraphicFramePr>
        <p:xfrm>
          <a:off x="4079777" y="4941168"/>
          <a:ext cx="5381625" cy="518160"/>
        </p:xfrm>
        <a:graphic>
          <a:graphicData uri="http://schemas.openxmlformats.org/drawingml/2006/table">
            <a:tbl>
              <a:tblPr/>
              <a:tblGrid>
                <a:gridCol w="51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1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91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59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C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︺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P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r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o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g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r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m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</a:t>
                      </a:r>
                      <a:r>
                        <a:rPr kumimoji="0" lang="zh-CN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8909813A-8472-432C-8753-D41BBA51B2E3}"/>
              </a:ext>
            </a:extLst>
          </p:cNvPr>
          <p:cNvSpPr txBox="1"/>
          <p:nvPr/>
        </p:nvSpPr>
        <p:spPr>
          <a:xfrm>
            <a:off x="3071665" y="334052"/>
            <a:ext cx="72250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以下几种初始化后</a:t>
            </a:r>
            <a:r>
              <a:rPr lang="en-US" altLang="zh-CN" sz="2800" dirty="0"/>
              <a:t>,</a:t>
            </a:r>
            <a:r>
              <a:rPr lang="zh-CN" altLang="en-US" sz="2800" dirty="0"/>
              <a:t>数组的存储形式是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一样</a:t>
            </a:r>
            <a:r>
              <a:rPr lang="zh-CN" altLang="en-US" sz="2800" dirty="0"/>
              <a:t>的</a:t>
            </a:r>
            <a:r>
              <a:rPr lang="en-US" altLang="zh-CN" sz="2800" dirty="0"/>
              <a:t>.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574254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>
          <a:xfrm>
            <a:off x="3584575" y="204789"/>
            <a:ext cx="6191250" cy="573087"/>
          </a:xfrm>
        </p:spPr>
        <p:txBody>
          <a:bodyPr/>
          <a:lstStyle/>
          <a:p>
            <a:r>
              <a:rPr lang="zh-CN" altLang="en-US" sz="3600"/>
              <a:t>二维</a:t>
            </a:r>
            <a:r>
              <a:rPr lang="zh-CN" altLang="en-US" sz="3600">
                <a:latin typeface="楷体_GB2312" pitchFamily="49" charset="-122"/>
              </a:rPr>
              <a:t>字符数组的初始化</a:t>
            </a:r>
          </a:p>
        </p:txBody>
      </p:sp>
      <p:sp>
        <p:nvSpPr>
          <p:cNvPr id="360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0401" y="1123100"/>
            <a:ext cx="9404151" cy="4500562"/>
          </a:xfrm>
        </p:spPr>
        <p:txBody>
          <a:bodyPr/>
          <a:lstStyle/>
          <a:p>
            <a:pPr marL="274638" indent="-274638">
              <a:buClr>
                <a:srgbClr val="009900"/>
              </a:buClr>
            </a:pPr>
            <a:r>
              <a:rPr lang="zh-CN" altLang="en-US" sz="2800" b="1" dirty="0"/>
              <a:t>对二维字符数组可以</a:t>
            </a:r>
            <a:r>
              <a:rPr lang="zh-CN" altLang="en-US" sz="2800" b="1"/>
              <a:t>看作是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字符串数组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一行存放一个字符串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74638" indent="-274638">
              <a:lnSpc>
                <a:spcPct val="115000"/>
              </a:lnSpc>
              <a:spcBef>
                <a:spcPct val="60000"/>
              </a:spcBef>
              <a:buNone/>
            </a:pPr>
            <a:r>
              <a:rPr lang="zh-CN" altLang="en-US" sz="2800" b="1" dirty="0"/>
              <a:t>        </a:t>
            </a:r>
            <a:r>
              <a:rPr lang="zh-CN" altLang="zh-CN" sz="2800" b="1" dirty="0">
                <a:latin typeface="Arial" pitchFamily="34" charset="0"/>
              </a:rPr>
              <a:t>char  str</a:t>
            </a:r>
            <a:r>
              <a:rPr lang="zh-CN" altLang="zh-CN" sz="2800" b="1" dirty="0">
                <a:latin typeface="黑体" pitchFamily="49" charset="-122"/>
              </a:rPr>
              <a:t>[</a:t>
            </a:r>
            <a:r>
              <a:rPr lang="zh-CN" altLang="zh-CN" sz="2800" b="1" dirty="0">
                <a:latin typeface="Arial" pitchFamily="34" charset="0"/>
              </a:rPr>
              <a:t>3</a:t>
            </a:r>
            <a:r>
              <a:rPr lang="zh-CN" altLang="zh-CN" sz="2800" b="1" dirty="0">
                <a:latin typeface="黑体" pitchFamily="49" charset="-122"/>
              </a:rPr>
              <a:t>][</a:t>
            </a:r>
            <a:r>
              <a:rPr lang="zh-CN" altLang="zh-CN" sz="2800" b="1" dirty="0">
                <a:latin typeface="Arial" pitchFamily="34" charset="0"/>
              </a:rPr>
              <a:t>6</a:t>
            </a:r>
            <a:r>
              <a:rPr lang="zh-CN" altLang="zh-CN" sz="2800" b="1" dirty="0">
                <a:latin typeface="黑体" pitchFamily="49" charset="-122"/>
              </a:rPr>
              <a:t>]</a:t>
            </a:r>
            <a:r>
              <a:rPr lang="zh-CN" altLang="zh-CN" sz="2800" b="1" dirty="0"/>
              <a:t>      </a:t>
            </a:r>
            <a:r>
              <a:rPr lang="zh-CN" altLang="zh-CN" sz="2400" dirty="0">
                <a:solidFill>
                  <a:srgbClr val="2F2FBD"/>
                </a:solidFill>
              </a:rPr>
              <a:t>//</a:t>
            </a:r>
            <a:r>
              <a:rPr lang="zh-CN" altLang="en-US" sz="2400" b="1" dirty="0">
                <a:solidFill>
                  <a:srgbClr val="2F2FBD"/>
                </a:solidFill>
              </a:rPr>
              <a:t>包含</a:t>
            </a:r>
            <a:r>
              <a:rPr lang="zh-CN" altLang="zh-CN" sz="2400" b="1" dirty="0">
                <a:solidFill>
                  <a:srgbClr val="2F2FBD"/>
                </a:solidFill>
              </a:rPr>
              <a:t>3</a:t>
            </a:r>
            <a:r>
              <a:rPr lang="zh-CN" altLang="en-US" sz="2400" b="1" dirty="0">
                <a:solidFill>
                  <a:srgbClr val="2F2FBD"/>
                </a:solidFill>
              </a:rPr>
              <a:t>个字符串的数组</a:t>
            </a:r>
            <a:endParaRPr lang="zh-CN" altLang="en-US" sz="2400" dirty="0">
              <a:solidFill>
                <a:srgbClr val="2F2FBD"/>
              </a:solidFill>
            </a:endParaRPr>
          </a:p>
          <a:p>
            <a:pPr marL="274638" indent="-274638">
              <a:spcBef>
                <a:spcPct val="35000"/>
              </a:spcBef>
              <a:buNone/>
            </a:pPr>
            <a:r>
              <a:rPr lang="zh-CN" altLang="en-US" sz="2800" b="1" dirty="0">
                <a:solidFill>
                  <a:schemeClr val="bg2"/>
                </a:solidFill>
              </a:rPr>
              <a:t>   初始化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</a:rPr>
              <a:t>:</a:t>
            </a:r>
          </a:p>
          <a:p>
            <a:pPr marL="274638" indent="-274638">
              <a:buNone/>
            </a:pPr>
            <a:r>
              <a:rPr lang="zh-CN" altLang="zh-CN" sz="2800" b="1" dirty="0">
                <a:solidFill>
                  <a:schemeClr val="bg2"/>
                </a:solidFill>
              </a:rPr>
              <a:t>        </a:t>
            </a:r>
            <a:r>
              <a:rPr lang="zh-CN" altLang="zh-CN" sz="2800" b="1" dirty="0">
                <a:latin typeface="Arial" pitchFamily="34" charset="0"/>
              </a:rPr>
              <a:t>char</a:t>
            </a:r>
            <a:r>
              <a:rPr lang="zh-CN" altLang="zh-CN" sz="2800" b="1" dirty="0"/>
              <a:t>  </a:t>
            </a:r>
            <a:r>
              <a:rPr lang="zh-CN" altLang="zh-CN" sz="2800" b="1" dirty="0">
                <a:latin typeface="Arial" pitchFamily="34" charset="0"/>
              </a:rPr>
              <a:t>str</a:t>
            </a:r>
            <a:r>
              <a:rPr lang="zh-CN" altLang="zh-CN" sz="2800" b="1" dirty="0">
                <a:latin typeface="黑体" pitchFamily="49" charset="-122"/>
              </a:rPr>
              <a:t>[</a:t>
            </a:r>
            <a:r>
              <a:rPr lang="zh-CN" altLang="zh-CN" sz="2800" b="1" dirty="0">
                <a:latin typeface="Arial" pitchFamily="34" charset="0"/>
              </a:rPr>
              <a:t>3</a:t>
            </a:r>
            <a:r>
              <a:rPr lang="zh-CN" altLang="zh-CN" sz="2800" b="1" dirty="0">
                <a:latin typeface="黑体" pitchFamily="49" charset="-122"/>
              </a:rPr>
              <a:t>][</a:t>
            </a:r>
            <a:r>
              <a:rPr lang="zh-CN" altLang="zh-CN" sz="2800" b="1" dirty="0">
                <a:latin typeface="Arial" pitchFamily="34" charset="0"/>
              </a:rPr>
              <a:t>6</a:t>
            </a:r>
            <a:r>
              <a:rPr lang="zh-CN" altLang="zh-CN" sz="2800" b="1" dirty="0">
                <a:latin typeface="黑体" pitchFamily="49" charset="-122"/>
              </a:rPr>
              <a:t>]</a:t>
            </a:r>
            <a:r>
              <a:rPr lang="zh-CN" altLang="zh-CN" sz="2800" b="1" dirty="0"/>
              <a:t>=</a:t>
            </a:r>
            <a:r>
              <a:rPr lang="zh-CN" altLang="zh-CN" sz="2800" dirty="0"/>
              <a:t>{</a:t>
            </a:r>
            <a:r>
              <a:rPr lang="zh-CN" altLang="zh-CN" sz="2800" b="1" dirty="0">
                <a:latin typeface="Times New Roman"/>
              </a:rPr>
              <a:t>“</a:t>
            </a:r>
            <a:r>
              <a:rPr lang="zh-CN" altLang="zh-CN" sz="2800" b="1" dirty="0">
                <a:latin typeface="Arial" pitchFamily="34" charset="0"/>
              </a:rPr>
              <a:t>wang</a:t>
            </a:r>
            <a:r>
              <a:rPr lang="zh-CN" altLang="zh-CN" sz="2800" b="1" dirty="0">
                <a:latin typeface="Times New Roman"/>
              </a:rPr>
              <a:t>”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zh-CN" sz="2800" b="1" dirty="0">
                <a:latin typeface="Times New Roman"/>
              </a:rPr>
              <a:t>“</a:t>
            </a:r>
            <a:r>
              <a:rPr lang="zh-CN" altLang="zh-CN" sz="2800" b="1" dirty="0">
                <a:latin typeface="Arial" pitchFamily="34" charset="0"/>
              </a:rPr>
              <a:t>zhang</a:t>
            </a:r>
            <a:r>
              <a:rPr lang="zh-CN" altLang="zh-CN" sz="2800" b="1" dirty="0">
                <a:latin typeface="Times New Roman"/>
              </a:rPr>
              <a:t>”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zh-CN" sz="2800" b="1" dirty="0">
                <a:latin typeface="Times New Roman"/>
              </a:rPr>
              <a:t>“</a:t>
            </a:r>
            <a:r>
              <a:rPr lang="zh-CN" altLang="zh-CN" sz="2800" b="1" dirty="0">
                <a:latin typeface="Arial" pitchFamily="34" charset="0"/>
              </a:rPr>
              <a:t>li</a:t>
            </a:r>
            <a:r>
              <a:rPr lang="zh-CN" altLang="zh-CN" sz="2800" b="1" dirty="0">
                <a:latin typeface="Times New Roman"/>
              </a:rPr>
              <a:t>”</a:t>
            </a:r>
            <a:r>
              <a:rPr lang="zh-CN" altLang="zh-CN" sz="2800" dirty="0"/>
              <a:t>}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endParaRPr lang="zh-CN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marL="274638" indent="-274638">
              <a:buNone/>
            </a:pPr>
            <a:r>
              <a:rPr lang="zh-CN" altLang="zh-CN" sz="2800" b="1" dirty="0"/>
              <a:t>   </a:t>
            </a:r>
          </a:p>
        </p:txBody>
      </p:sp>
      <p:graphicFrame>
        <p:nvGraphicFramePr>
          <p:cNvPr id="360452" name="Group 4"/>
          <p:cNvGraphicFramePr>
            <a:graphicFrameLocks noGrp="1"/>
          </p:cNvGraphicFramePr>
          <p:nvPr/>
        </p:nvGraphicFramePr>
        <p:xfrm>
          <a:off x="5224463" y="3894138"/>
          <a:ext cx="3657600" cy="1243014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F2FBD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w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F2FBD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F2FBD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F2FBD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F2FBD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F2FBD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F2FBD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F2FBD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F2FBD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F2FBD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F2FBD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0482" name="Text Box 34"/>
          <p:cNvSpPr txBox="1">
            <a:spLocks noChangeArrowheads="1"/>
          </p:cNvSpPr>
          <p:nvPr/>
        </p:nvSpPr>
        <p:spPr bwMode="auto">
          <a:xfrm>
            <a:off x="2395538" y="3794126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B4"/>
                </a:solidFill>
                <a:latin typeface="楷体_GB2312" pitchFamily="49" charset="-122"/>
                <a:ea typeface="楷体_GB2312" pitchFamily="49" charset="-122"/>
              </a:rPr>
              <a:t>存储形式</a:t>
            </a:r>
            <a:r>
              <a:rPr lang="zh-CN" altLang="zh-CN" sz="2800" b="1">
                <a:solidFill>
                  <a:srgbClr val="0000B4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pic>
        <p:nvPicPr>
          <p:cNvPr id="360483" name="Picture 35" descr="b19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01" y="6184900"/>
            <a:ext cx="182563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0484" name="Text Box 36"/>
          <p:cNvSpPr txBox="1">
            <a:spLocks noChangeArrowheads="1"/>
          </p:cNvSpPr>
          <p:nvPr/>
        </p:nvSpPr>
        <p:spPr bwMode="auto">
          <a:xfrm>
            <a:off x="4191000" y="4333876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FF0000"/>
                </a:solidFill>
                <a:ea typeface="宋体" pitchFamily="2" charset="-122"/>
              </a:rPr>
              <a:t>str[1]</a:t>
            </a:r>
          </a:p>
        </p:txBody>
      </p:sp>
      <p:sp>
        <p:nvSpPr>
          <p:cNvPr id="360485" name="Text Box 37"/>
          <p:cNvSpPr txBox="1">
            <a:spLocks noChangeArrowheads="1"/>
          </p:cNvSpPr>
          <p:nvPr/>
        </p:nvSpPr>
        <p:spPr bwMode="auto">
          <a:xfrm>
            <a:off x="4200525" y="4768851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FF0000"/>
                </a:solidFill>
                <a:ea typeface="宋体" pitchFamily="2" charset="-122"/>
              </a:rPr>
              <a:t>str[2]</a:t>
            </a:r>
          </a:p>
        </p:txBody>
      </p:sp>
      <p:sp>
        <p:nvSpPr>
          <p:cNvPr id="360486" name="Text Box 38"/>
          <p:cNvSpPr txBox="1">
            <a:spLocks noChangeArrowheads="1"/>
          </p:cNvSpPr>
          <p:nvPr/>
        </p:nvSpPr>
        <p:spPr bwMode="auto">
          <a:xfrm>
            <a:off x="4205288" y="3859214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FF0000"/>
                </a:solidFill>
                <a:ea typeface="宋体" pitchFamily="2" charset="-122"/>
              </a:rPr>
              <a:t>str[0</a:t>
            </a:r>
            <a:r>
              <a:rPr lang="zh-CN" altLang="zh-CN" sz="2000" b="1">
                <a:solidFill>
                  <a:srgbClr val="000000"/>
                </a:solidFill>
                <a:ea typeface="宋体" pitchFamily="2" charset="-122"/>
              </a:rPr>
              <a:t>]</a:t>
            </a:r>
          </a:p>
        </p:txBody>
      </p:sp>
      <p:sp>
        <p:nvSpPr>
          <p:cNvPr id="360487" name="Rectangle 39"/>
          <p:cNvSpPr>
            <a:spLocks noChangeArrowheads="1"/>
          </p:cNvSpPr>
          <p:nvPr/>
        </p:nvSpPr>
        <p:spPr bwMode="auto">
          <a:xfrm>
            <a:off x="2495550" y="5492750"/>
            <a:ext cx="63373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printf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(“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%s</a:t>
            </a:r>
            <a:r>
              <a:rPr lang="zh-CN" altLang="zh-CN" sz="2800" b="1" dirty="0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%c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”,</a:t>
            </a:r>
            <a:r>
              <a:rPr lang="zh-CN" altLang="zh-CN" sz="2800" b="1" dirty="0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str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[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0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], 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str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[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1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][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3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]) ;</a:t>
            </a:r>
          </a:p>
        </p:txBody>
      </p:sp>
      <p:sp>
        <p:nvSpPr>
          <p:cNvPr id="11" name="Rectangle 39">
            <a:extLst>
              <a:ext uri="{FF2B5EF4-FFF2-40B4-BE49-F238E27FC236}">
                <a16:creationId xmlns:a16="http://schemas.microsoft.com/office/drawing/2014/main" id="{C43A9FCA-7E1A-4811-8127-CAAD39D6A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2" y="6050120"/>
            <a:ext cx="63373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输入结果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:wang n</a:t>
            </a:r>
            <a:endParaRPr lang="zh-CN" altLang="zh-CN" sz="2800" b="1" dirty="0">
              <a:solidFill>
                <a:srgbClr val="000000"/>
              </a:solidFill>
              <a:latin typeface="Times New Roman" pitchFamily="18" charset="0"/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4306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6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482" grpId="0" autoUpdateAnimBg="0"/>
      <p:bldP spid="360484" grpId="0" autoUpdateAnimBg="0"/>
      <p:bldP spid="360485" grpId="0" autoUpdateAnimBg="0"/>
      <p:bldP spid="360486" grpId="0" autoUpdateAnimBg="0"/>
      <p:bldP spid="360487" grpId="0" autoUpdateAnimBg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>
          <a:xfrm>
            <a:off x="3490914" y="171450"/>
            <a:ext cx="6523037" cy="654050"/>
          </a:xfrm>
        </p:spPr>
        <p:txBody>
          <a:bodyPr/>
          <a:lstStyle/>
          <a:p>
            <a:r>
              <a:rPr lang="zh-CN" altLang="en-US" sz="3600">
                <a:latin typeface="楷体_GB2312" pitchFamily="49" charset="-122"/>
              </a:rPr>
              <a:t>字符数组的输入与输出</a:t>
            </a:r>
          </a:p>
        </p:txBody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85976" y="1243014"/>
            <a:ext cx="8107363" cy="4810125"/>
          </a:xfrm>
        </p:spPr>
        <p:txBody>
          <a:bodyPr/>
          <a:lstStyle/>
          <a:p>
            <a:pPr marL="0" indent="0">
              <a:lnSpc>
                <a:spcPct val="120000"/>
              </a:lnSpc>
            </a:pPr>
            <a:r>
              <a:rPr lang="zh-CN" altLang="zh-CN" b="1" dirty="0"/>
              <a:t> </a:t>
            </a:r>
            <a:r>
              <a:rPr lang="zh-CN" altLang="en-US" b="1" dirty="0"/>
              <a:t>有以下方式</a:t>
            </a:r>
            <a:r>
              <a:rPr lang="zh-CN" altLang="zh-CN" b="1" dirty="0">
                <a:latin typeface="Times New Roman" pitchFamily="18" charset="0"/>
              </a:rPr>
              <a:t>:</a:t>
            </a:r>
            <a:endParaRPr lang="zh-CN" altLang="zh-CN" dirty="0">
              <a:latin typeface="Times New Roman" pitchFamily="18" charset="0"/>
            </a:endParaRPr>
          </a:p>
          <a:p>
            <a:pPr marL="434975" lvl="1" indent="-160338">
              <a:lnSpc>
                <a:spcPct val="120000"/>
              </a:lnSpc>
              <a:spcBef>
                <a:spcPct val="50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sz="3200" b="1">
                <a:solidFill>
                  <a:srgbClr val="FF0000"/>
                </a:solidFill>
              </a:rPr>
              <a:t>逐个字符输入</a:t>
            </a:r>
            <a:endParaRPr lang="en-US" altLang="zh-CN" sz="3200" b="1">
              <a:solidFill>
                <a:srgbClr val="FF0000"/>
              </a:solidFill>
            </a:endParaRPr>
          </a:p>
          <a:p>
            <a:pPr marL="835025" lvl="2" indent="-160338">
              <a:lnSpc>
                <a:spcPct val="120000"/>
              </a:lnSpc>
              <a:spcBef>
                <a:spcPct val="50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en-US" altLang="zh-CN" sz="2800" b="1">
                <a:solidFill>
                  <a:srgbClr val="FF0000"/>
                </a:solidFill>
              </a:rPr>
              <a:t>scanf</a:t>
            </a:r>
            <a:r>
              <a:rPr lang="en-US" altLang="zh-CN" sz="2800" b="1" dirty="0">
                <a:solidFill>
                  <a:srgbClr val="FF0000"/>
                </a:solidFill>
              </a:rPr>
              <a:t>+</a:t>
            </a:r>
            <a:r>
              <a:rPr lang="zh-CN" altLang="zh-CN" sz="2800" b="1" dirty="0">
                <a:solidFill>
                  <a:srgbClr val="FF0000"/>
                </a:solidFill>
                <a:latin typeface="Arial" pitchFamily="34" charset="0"/>
              </a:rPr>
              <a:t>%c</a:t>
            </a: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</a:rPr>
              <a:t>,</a:t>
            </a:r>
            <a:r>
              <a:rPr lang="en-US" altLang="zh-CN" sz="2800" b="1" err="1">
                <a:solidFill>
                  <a:srgbClr val="FF0000"/>
                </a:solidFill>
                <a:latin typeface="Arial" pitchFamily="34" charset="0"/>
              </a:rPr>
              <a:t>getchar</a:t>
            </a:r>
            <a:r>
              <a:rPr lang="en-US" altLang="zh-CN" sz="2800" b="1">
                <a:solidFill>
                  <a:srgbClr val="FF0000"/>
                </a:solidFill>
                <a:latin typeface="Arial" pitchFamily="34" charset="0"/>
              </a:rPr>
              <a:t>()</a:t>
            </a:r>
          </a:p>
          <a:p>
            <a:pPr marL="434975" lvl="1" indent="-160338">
              <a:lnSpc>
                <a:spcPct val="120000"/>
              </a:lnSpc>
              <a:spcBef>
                <a:spcPct val="50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zh-CN" sz="3200" b="1">
                <a:solidFill>
                  <a:srgbClr val="FF0000"/>
                </a:solidFill>
              </a:rPr>
              <a:t>逐个字符输</a:t>
            </a:r>
            <a:r>
              <a:rPr lang="zh-CN" altLang="en-US" sz="3200" b="1">
                <a:solidFill>
                  <a:srgbClr val="FF0000"/>
                </a:solidFill>
              </a:rPr>
              <a:t>出</a:t>
            </a:r>
            <a:endParaRPr lang="en-US" altLang="zh-CN" sz="3200" b="1">
              <a:solidFill>
                <a:srgbClr val="FF0000"/>
              </a:solidFill>
            </a:endParaRPr>
          </a:p>
          <a:p>
            <a:pPr marL="835025" lvl="2" indent="-160338">
              <a:lnSpc>
                <a:spcPct val="120000"/>
              </a:lnSpc>
              <a:spcBef>
                <a:spcPct val="50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en-US" altLang="zh-CN" sz="2800" b="1">
                <a:solidFill>
                  <a:srgbClr val="FF0000"/>
                </a:solidFill>
                <a:latin typeface="Arial" pitchFamily="34" charset="0"/>
              </a:rPr>
              <a:t>printf</a:t>
            </a: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</a:rPr>
              <a:t>+%</a:t>
            </a:r>
            <a:r>
              <a:rPr lang="en-US" altLang="zh-CN" sz="2800" b="1" dirty="0" err="1">
                <a:solidFill>
                  <a:srgbClr val="FF0000"/>
                </a:solidFill>
                <a:latin typeface="Arial" pitchFamily="34" charset="0"/>
              </a:rPr>
              <a:t>c,putchar</a:t>
            </a: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</a:rPr>
              <a:t>()</a:t>
            </a:r>
            <a:endParaRPr lang="zh-CN" altLang="zh-CN" sz="2800" b="1" dirty="0">
              <a:solidFill>
                <a:srgbClr val="FF0000"/>
              </a:solidFill>
              <a:latin typeface="Arial" pitchFamily="34" charset="0"/>
            </a:endParaRPr>
          </a:p>
          <a:p>
            <a:pPr marL="434975" lvl="1" indent="-160338">
              <a:lnSpc>
                <a:spcPct val="120000"/>
              </a:lnSpc>
              <a:spcBef>
                <a:spcPct val="45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endParaRPr lang="zh-CN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783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1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61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61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1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61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75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>
          <a:xfrm>
            <a:off x="3490914" y="171450"/>
            <a:ext cx="6523037" cy="654050"/>
          </a:xfrm>
        </p:spPr>
        <p:txBody>
          <a:bodyPr/>
          <a:lstStyle/>
          <a:p>
            <a:r>
              <a:rPr lang="zh-CN" altLang="en-US" sz="3600">
                <a:latin typeface="楷体_GB2312" pitchFamily="49" charset="-122"/>
              </a:rPr>
              <a:t>字符数组的输入与输出</a:t>
            </a:r>
          </a:p>
        </p:txBody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85976" y="1243014"/>
            <a:ext cx="8107363" cy="4810125"/>
          </a:xfrm>
        </p:spPr>
        <p:txBody>
          <a:bodyPr/>
          <a:lstStyle/>
          <a:p>
            <a:pPr marL="434975" lvl="1" indent="-160338">
              <a:lnSpc>
                <a:spcPct val="120000"/>
              </a:lnSpc>
              <a:spcBef>
                <a:spcPct val="45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sz="4000" b="1"/>
              <a:t>作为</a:t>
            </a:r>
            <a:r>
              <a:rPr 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整体</a:t>
            </a:r>
            <a:r>
              <a:rPr lang="zh-CN" sz="4000" b="1" dirty="0"/>
              <a:t>一次输入输出 </a:t>
            </a:r>
            <a:endParaRPr lang="en-US" altLang="zh-CN" sz="4000" b="1" dirty="0"/>
          </a:p>
          <a:p>
            <a:pPr marL="1017587" lvl="2" indent="-342900">
              <a:lnSpc>
                <a:spcPct val="120000"/>
              </a:lnSpc>
              <a:spcBef>
                <a:spcPct val="45000"/>
              </a:spcBef>
              <a:buClr>
                <a:srgbClr val="008000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sz="3600" b="1" dirty="0"/>
              <a:t> </a:t>
            </a:r>
            <a:r>
              <a:rPr lang="en-US" altLang="zh-CN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zh-CN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)+</a:t>
            </a:r>
            <a:r>
              <a:rPr lang="zh-CN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%s</a:t>
            </a:r>
          </a:p>
          <a:p>
            <a:pPr marL="1017587" lvl="2" indent="-342900">
              <a:lnSpc>
                <a:spcPct val="120000"/>
              </a:lnSpc>
              <a:spcBef>
                <a:spcPct val="45000"/>
              </a:spcBef>
              <a:buClr>
                <a:srgbClr val="008000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sz="3600" b="1" dirty="0"/>
              <a:t>用字符串输入输出函数</a:t>
            </a:r>
          </a:p>
          <a:p>
            <a:pPr marL="1355725" lvl="3" indent="-284163">
              <a:lnSpc>
                <a:spcPct val="120000"/>
              </a:lnSpc>
              <a:buClr>
                <a:srgbClr val="008000"/>
              </a:buClr>
              <a:buSzPct val="80000"/>
              <a:buFont typeface="Wingdings 2" pitchFamily="18" charset="2"/>
              <a:buChar char="ô"/>
            </a:pPr>
            <a:r>
              <a:rPr lang="zh-CN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gets</a:t>
            </a:r>
            <a:r>
              <a:rPr lang="zh-CN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 )</a:t>
            </a:r>
          </a:p>
          <a:p>
            <a:pPr marL="1355725" lvl="3" indent="-284163">
              <a:lnSpc>
                <a:spcPct val="120000"/>
              </a:lnSpc>
              <a:buClr>
                <a:srgbClr val="008000"/>
              </a:buClr>
              <a:buSzPct val="80000"/>
              <a:buFont typeface="Wingdings 2" pitchFamily="18" charset="2"/>
              <a:buChar char="ô"/>
            </a:pPr>
            <a:r>
              <a:rPr lang="zh-CN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puts</a:t>
            </a:r>
            <a:r>
              <a:rPr lang="zh-CN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 )</a:t>
            </a:r>
          </a:p>
        </p:txBody>
      </p:sp>
    </p:spTree>
    <p:extLst>
      <p:ext uri="{BB962C8B-B14F-4D97-AF65-F5344CB8AC3E}">
        <p14:creationId xmlns:p14="http://schemas.microsoft.com/office/powerpoint/2010/main" val="193106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1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61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61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1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61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75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4414" y="1052514"/>
            <a:ext cx="8383587" cy="4549775"/>
          </a:xfrm>
        </p:spPr>
        <p:txBody>
          <a:bodyPr/>
          <a:lstStyle/>
          <a:p>
            <a:pPr algn="just">
              <a:lnSpc>
                <a:spcPct val="125000"/>
              </a:lnSpc>
              <a:buFont typeface="Wingdings" pitchFamily="2" charset="2"/>
              <a:buNone/>
            </a:pPr>
            <a:r>
              <a:rPr lang="zh-CN" altLang="en-US" sz="2800" b="1" dirty="0">
                <a:latin typeface="黑体" pitchFamily="49" charset="-122"/>
              </a:rPr>
              <a:t>例</a:t>
            </a:r>
            <a:r>
              <a:rPr lang="zh-CN" altLang="zh-CN" sz="2800" b="1" dirty="0">
                <a:latin typeface="Times New Roman" pitchFamily="18" charset="0"/>
              </a:rPr>
              <a:t>: </a:t>
            </a:r>
            <a:r>
              <a:rPr lang="zh-CN" altLang="zh-CN" sz="2800" b="1" dirty="0"/>
              <a:t>#</a:t>
            </a:r>
            <a:r>
              <a:rPr lang="zh-CN" altLang="zh-CN" sz="2800" b="1" dirty="0">
                <a:latin typeface="Arial" pitchFamily="34" charset="0"/>
              </a:rPr>
              <a:t>include</a:t>
            </a:r>
            <a:r>
              <a:rPr lang="zh-CN" altLang="zh-CN" sz="2800" b="1" dirty="0"/>
              <a:t> </a:t>
            </a:r>
            <a:r>
              <a:rPr lang="zh-CN" altLang="zh-CN" sz="2800" dirty="0"/>
              <a:t>&lt;</a:t>
            </a:r>
            <a:r>
              <a:rPr lang="zh-CN" altLang="zh-CN" sz="2800" b="1" dirty="0">
                <a:latin typeface="Arial" pitchFamily="34" charset="0"/>
              </a:rPr>
              <a:t>stdio</a:t>
            </a:r>
            <a:r>
              <a:rPr lang="zh-CN" altLang="zh-CN" sz="2800" b="1" dirty="0">
                <a:latin typeface="Times New Roman" pitchFamily="18" charset="0"/>
              </a:rPr>
              <a:t>.</a:t>
            </a:r>
            <a:r>
              <a:rPr lang="zh-CN" altLang="zh-CN" sz="2800" b="1" dirty="0">
                <a:latin typeface="Arial" pitchFamily="34" charset="0"/>
              </a:rPr>
              <a:t>h</a:t>
            </a:r>
            <a:r>
              <a:rPr lang="zh-CN" altLang="zh-CN" sz="2800" dirty="0"/>
              <a:t>&gt;</a:t>
            </a:r>
            <a:r>
              <a:rPr lang="zh-CN" altLang="zh-CN" sz="2800" b="1" dirty="0"/>
              <a:t> </a:t>
            </a:r>
            <a:endParaRPr lang="zh-CN" altLang="zh-CN" sz="2800" b="1" dirty="0">
              <a:latin typeface="Times New Roman" pitchFamily="18" charset="0"/>
            </a:endParaRPr>
          </a:p>
          <a:p>
            <a:pPr algn="just">
              <a:lnSpc>
                <a:spcPct val="11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800" b="1" dirty="0">
                <a:latin typeface="Arial" pitchFamily="34" charset="0"/>
              </a:rPr>
              <a:t>      void main</a:t>
            </a:r>
            <a:r>
              <a:rPr lang="zh-CN" altLang="zh-CN" sz="2800" b="1" dirty="0">
                <a:latin typeface="Times New Roman" pitchFamily="18" charset="0"/>
              </a:rPr>
              <a:t>( )</a:t>
            </a:r>
          </a:p>
        </p:txBody>
      </p:sp>
      <p:sp>
        <p:nvSpPr>
          <p:cNvPr id="362499" name="Rectangle 3"/>
          <p:cNvSpPr>
            <a:spLocks noGrp="1" noChangeArrowheads="1"/>
          </p:cNvSpPr>
          <p:nvPr/>
        </p:nvSpPr>
        <p:spPr bwMode="auto">
          <a:xfrm>
            <a:off x="2465389" y="2144714"/>
            <a:ext cx="5145087" cy="413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 { </a:t>
            </a:r>
            <a:r>
              <a:rPr lang="en-GB" altLang="en-US" sz="2800" b="1" dirty="0">
                <a:solidFill>
                  <a:srgbClr val="000000"/>
                </a:solidFill>
                <a:latin typeface="Arial" pitchFamily="34" charset="0"/>
              </a:rPr>
              <a:t>int</a:t>
            </a: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  </a:t>
            </a:r>
            <a:r>
              <a:rPr lang="en-GB" altLang="en-US" sz="2800" b="1" dirty="0" err="1">
                <a:solidFill>
                  <a:srgbClr val="000000"/>
                </a:solidFill>
                <a:ea typeface="宋体" pitchFamily="2" charset="-122"/>
              </a:rPr>
              <a:t>i</a:t>
            </a: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en-GB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    </a:t>
            </a:r>
            <a:r>
              <a:rPr lang="en-GB" altLang="en-US" sz="2800" b="1" dirty="0">
                <a:solidFill>
                  <a:srgbClr val="000000"/>
                </a:solidFill>
                <a:latin typeface="Arial" pitchFamily="34" charset="0"/>
              </a:rPr>
              <a:t>char</a:t>
            </a: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  </a:t>
            </a:r>
            <a:r>
              <a:rPr lang="en-GB" altLang="en-US" sz="2800" b="1" dirty="0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en-GB" altLang="en-US" sz="2800" dirty="0">
                <a:solidFill>
                  <a:srgbClr val="000000"/>
                </a:solidFill>
                <a:ea typeface="宋体" pitchFamily="2" charset="-122"/>
              </a:rPr>
              <a:t>[</a:t>
            </a:r>
            <a:r>
              <a:rPr lang="en-GB" altLang="en-US" sz="2800" b="1" dirty="0">
                <a:solidFill>
                  <a:srgbClr val="000000"/>
                </a:solidFill>
                <a:latin typeface="Arial" pitchFamily="34" charset="0"/>
              </a:rPr>
              <a:t>6</a:t>
            </a:r>
            <a:r>
              <a:rPr lang="en-GB" altLang="en-US" sz="2800" dirty="0">
                <a:solidFill>
                  <a:srgbClr val="000000"/>
                </a:solidFill>
                <a:ea typeface="宋体" pitchFamily="2" charset="-122"/>
              </a:rPr>
              <a:t>]</a:t>
            </a: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en-GB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algn="just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</a:pPr>
            <a:r>
              <a:rPr lang="en-GB" altLang="en-US" sz="2800" b="1" dirty="0">
                <a:solidFill>
                  <a:srgbClr val="CC0000"/>
                </a:solidFill>
                <a:ea typeface="宋体" pitchFamily="2" charset="-122"/>
              </a:rPr>
              <a:t>    </a:t>
            </a:r>
            <a:r>
              <a:rPr lang="en-GB" altLang="en-US" sz="2800" b="1" dirty="0">
                <a:solidFill>
                  <a:srgbClr val="000000"/>
                </a:solidFill>
                <a:latin typeface="Arial" pitchFamily="34" charset="0"/>
              </a:rPr>
              <a:t>for</a:t>
            </a:r>
            <a:r>
              <a:rPr lang="en-GB" altLang="en-US" sz="2800" b="1" dirty="0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( </a:t>
            </a:r>
            <a:r>
              <a:rPr lang="en-GB" altLang="en-US" sz="2800" b="1" dirty="0" err="1">
                <a:solidFill>
                  <a:srgbClr val="1C1C1C"/>
                </a:solidFill>
                <a:ea typeface="宋体" pitchFamily="2" charset="-122"/>
              </a:rPr>
              <a:t>i</a:t>
            </a:r>
            <a:r>
              <a:rPr lang="en-GB" altLang="en-US" sz="2800" b="1" dirty="0">
                <a:solidFill>
                  <a:srgbClr val="1C1C1C"/>
                </a:solidFill>
                <a:ea typeface="宋体" pitchFamily="2" charset="-122"/>
              </a:rPr>
              <a:t>=</a:t>
            </a:r>
            <a:r>
              <a:rPr lang="en-GB" altLang="en-US" sz="2800" b="1" dirty="0">
                <a:solidFill>
                  <a:srgbClr val="000000"/>
                </a:solidFill>
                <a:latin typeface="Arial" pitchFamily="34" charset="0"/>
              </a:rPr>
              <a:t>0</a:t>
            </a:r>
            <a:r>
              <a:rPr lang="en-GB" altLang="en-US" sz="2800" b="1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en-GB" altLang="en-US" sz="2800" b="1">
                <a:solidFill>
                  <a:srgbClr val="1C1C1C"/>
                </a:solidFill>
                <a:ea typeface="宋体" pitchFamily="2" charset="-122"/>
              </a:rPr>
              <a:t> i</a:t>
            </a:r>
            <a:r>
              <a:rPr lang="en-GB" altLang="en-US" sz="2800">
                <a:solidFill>
                  <a:srgbClr val="1C1C1C"/>
                </a:solidFill>
                <a:ea typeface="宋体" pitchFamily="2" charset="-122"/>
              </a:rPr>
              <a:t>&lt;</a:t>
            </a:r>
            <a:r>
              <a:rPr lang="en-GB" altLang="en-US" sz="2800" b="1">
                <a:solidFill>
                  <a:srgbClr val="000000"/>
                </a:solidFill>
                <a:latin typeface="Arial" pitchFamily="34" charset="0"/>
              </a:rPr>
              <a:t>5</a:t>
            </a:r>
            <a:r>
              <a:rPr lang="en-GB" altLang="en-US" sz="2800" b="1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en-GB" altLang="en-US" sz="2800" b="1">
                <a:solidFill>
                  <a:srgbClr val="1C1C1C"/>
                </a:solidFill>
                <a:ea typeface="宋体" pitchFamily="2" charset="-122"/>
              </a:rPr>
              <a:t> </a:t>
            </a:r>
            <a:r>
              <a:rPr lang="en-GB" altLang="en-US" sz="2800" b="1" dirty="0" err="1">
                <a:solidFill>
                  <a:srgbClr val="1C1C1C"/>
                </a:solidFill>
                <a:ea typeface="宋体" pitchFamily="2" charset="-122"/>
              </a:rPr>
              <a:t>i</a:t>
            </a:r>
            <a:r>
              <a:rPr lang="en-GB" altLang="en-US" sz="2800" b="1" dirty="0">
                <a:solidFill>
                  <a:srgbClr val="1C1C1C"/>
                </a:solidFill>
                <a:ea typeface="宋体" pitchFamily="2" charset="-122"/>
              </a:rPr>
              <a:t>++</a:t>
            </a:r>
            <a:r>
              <a:rPr lang="en-GB" altLang="en-US" sz="2800" b="1" dirty="0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GB" altLang="en-US" sz="2800" b="1" dirty="0">
                <a:solidFill>
                  <a:srgbClr val="C200C2"/>
                </a:solidFill>
                <a:ea typeface="宋体" pitchFamily="2" charset="-122"/>
              </a:rPr>
              <a:t>         </a:t>
            </a:r>
            <a:r>
              <a:rPr lang="en-GB" altLang="en-US" sz="2800" b="1" dirty="0" err="1">
                <a:solidFill>
                  <a:srgbClr val="CC00CC"/>
                </a:solidFill>
                <a:latin typeface="Arial" pitchFamily="34" charset="0"/>
                <a:ea typeface="宋体" pitchFamily="2" charset="-122"/>
              </a:rPr>
              <a:t>scanf</a:t>
            </a:r>
            <a:r>
              <a:rPr lang="en-GB" altLang="en-US" sz="2800" b="1" dirty="0">
                <a:solidFill>
                  <a:srgbClr val="CC00CC"/>
                </a:solidFill>
                <a:latin typeface="Times New Roman" pitchFamily="18" charset="0"/>
                <a:ea typeface="宋体" pitchFamily="2" charset="-122"/>
              </a:rPr>
              <a:t>(“</a:t>
            </a:r>
            <a:r>
              <a:rPr lang="en-GB" altLang="en-US" sz="2800" b="1" dirty="0">
                <a:solidFill>
                  <a:srgbClr val="CC00CC"/>
                </a:solidFill>
                <a:latin typeface="Arial" pitchFamily="34" charset="0"/>
                <a:ea typeface="宋体" pitchFamily="2" charset="-122"/>
              </a:rPr>
              <a:t>%</a:t>
            </a:r>
            <a:r>
              <a:rPr lang="en-GB" altLang="en-US" sz="2800" b="1" dirty="0">
                <a:solidFill>
                  <a:srgbClr val="CC00CC"/>
                </a:solidFill>
                <a:ea typeface="宋体" pitchFamily="2" charset="-122"/>
              </a:rPr>
              <a:t>c</a:t>
            </a:r>
            <a:r>
              <a:rPr lang="en-GB" altLang="en-US" sz="2800" b="1" dirty="0">
                <a:solidFill>
                  <a:srgbClr val="CC00CC"/>
                </a:solidFill>
                <a:latin typeface="Times New Roman" pitchFamily="18" charset="0"/>
                <a:ea typeface="宋体" pitchFamily="2" charset="-122"/>
              </a:rPr>
              <a:t>”</a:t>
            </a:r>
            <a:r>
              <a:rPr lang="en-GB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GB" altLang="en-US" sz="2800" b="1" dirty="0">
                <a:solidFill>
                  <a:srgbClr val="CC00CC"/>
                </a:solidFill>
                <a:ea typeface="宋体" pitchFamily="2" charset="-122"/>
              </a:rPr>
              <a:t> </a:t>
            </a:r>
            <a:r>
              <a:rPr lang="en-GB" altLang="en-US" sz="2800" dirty="0">
                <a:solidFill>
                  <a:srgbClr val="CC00CC"/>
                </a:solidFill>
                <a:ea typeface="宋体" pitchFamily="2" charset="-122"/>
              </a:rPr>
              <a:t>&amp;</a:t>
            </a:r>
            <a:r>
              <a:rPr lang="en-GB" altLang="en-US" sz="2800" b="1" dirty="0">
                <a:solidFill>
                  <a:srgbClr val="CC00CC"/>
                </a:solidFill>
                <a:latin typeface="Arial" pitchFamily="34" charset="0"/>
                <a:ea typeface="宋体" pitchFamily="2" charset="-122"/>
              </a:rPr>
              <a:t>a</a:t>
            </a:r>
            <a:r>
              <a:rPr lang="en-GB" altLang="en-US" sz="2800" dirty="0">
                <a:solidFill>
                  <a:srgbClr val="CC00CC"/>
                </a:solidFill>
                <a:ea typeface="宋体" pitchFamily="2" charset="-122"/>
              </a:rPr>
              <a:t>[</a:t>
            </a:r>
            <a:r>
              <a:rPr lang="en-GB" altLang="en-US" sz="2800" b="1" dirty="0" err="1">
                <a:solidFill>
                  <a:srgbClr val="CC00CC"/>
                </a:solidFill>
                <a:ea typeface="宋体" pitchFamily="2" charset="-122"/>
              </a:rPr>
              <a:t>i</a:t>
            </a:r>
            <a:r>
              <a:rPr lang="en-GB" altLang="en-US" sz="2800" dirty="0">
                <a:solidFill>
                  <a:srgbClr val="CC00CC"/>
                </a:solidFill>
                <a:ea typeface="宋体" pitchFamily="2" charset="-122"/>
              </a:rPr>
              <a:t>]</a:t>
            </a:r>
            <a:r>
              <a:rPr lang="en-GB" altLang="en-US" sz="2800" b="1" dirty="0">
                <a:solidFill>
                  <a:srgbClr val="CC00CC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GB" altLang="en-US" sz="2800" b="1" dirty="0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algn="just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0"/>
              </a:spcAft>
            </a:pPr>
            <a:r>
              <a:rPr lang="en-GB" altLang="en-US" sz="2800" b="1" dirty="0">
                <a:solidFill>
                  <a:srgbClr val="1C1C1C"/>
                </a:solidFill>
                <a:ea typeface="宋体" pitchFamily="2" charset="-122"/>
              </a:rPr>
              <a:t>    </a:t>
            </a:r>
            <a:r>
              <a:rPr lang="en-GB" altLang="en-US" sz="2800" b="1" dirty="0">
                <a:solidFill>
                  <a:srgbClr val="000000"/>
                </a:solidFill>
                <a:latin typeface="Arial" pitchFamily="34" charset="0"/>
              </a:rPr>
              <a:t>for</a:t>
            </a:r>
            <a:r>
              <a:rPr lang="en-GB" altLang="en-US" sz="2800" b="1" dirty="0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( </a:t>
            </a:r>
            <a:r>
              <a:rPr lang="en-GB" altLang="en-US" sz="2800" b="1" dirty="0" err="1">
                <a:solidFill>
                  <a:srgbClr val="1C1C1C"/>
                </a:solidFill>
                <a:ea typeface="宋体" pitchFamily="2" charset="-122"/>
              </a:rPr>
              <a:t>i</a:t>
            </a: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=</a:t>
            </a:r>
            <a:r>
              <a:rPr lang="en-GB" altLang="en-US" sz="2800" b="1" dirty="0">
                <a:solidFill>
                  <a:srgbClr val="000000"/>
                </a:solidFill>
                <a:latin typeface="Arial" pitchFamily="34" charset="0"/>
              </a:rPr>
              <a:t>0</a:t>
            </a:r>
            <a:r>
              <a:rPr lang="en-GB" altLang="en-US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en-GB" altLang="en-US" sz="2800" b="1">
                <a:solidFill>
                  <a:srgbClr val="1C1C1C"/>
                </a:solidFill>
                <a:ea typeface="宋体" pitchFamily="2" charset="-122"/>
              </a:rPr>
              <a:t> i</a:t>
            </a:r>
            <a:r>
              <a:rPr lang="en-GB" altLang="en-US" sz="2800">
                <a:solidFill>
                  <a:srgbClr val="1C1C1C"/>
                </a:solidFill>
                <a:ea typeface="宋体" pitchFamily="2" charset="-122"/>
              </a:rPr>
              <a:t>&lt;</a:t>
            </a:r>
            <a:r>
              <a:rPr lang="en-GB" altLang="en-US" sz="2800" b="1">
                <a:solidFill>
                  <a:srgbClr val="000000"/>
                </a:solidFill>
                <a:latin typeface="Arial" pitchFamily="34" charset="0"/>
              </a:rPr>
              <a:t>5</a:t>
            </a:r>
            <a:r>
              <a:rPr lang="en-GB" altLang="en-US" sz="2800" b="1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en-GB" altLang="en-US" sz="2800" b="1">
                <a:solidFill>
                  <a:srgbClr val="1C1C1C"/>
                </a:solidFill>
                <a:ea typeface="宋体" pitchFamily="2" charset="-122"/>
              </a:rPr>
              <a:t> </a:t>
            </a:r>
            <a:r>
              <a:rPr lang="en-GB" altLang="en-US" sz="2800" b="1" dirty="0" err="1">
                <a:solidFill>
                  <a:srgbClr val="1C1C1C"/>
                </a:solidFill>
                <a:ea typeface="宋体" pitchFamily="2" charset="-122"/>
              </a:rPr>
              <a:t>i</a:t>
            </a:r>
            <a:r>
              <a:rPr lang="en-GB" altLang="en-US" sz="2800" b="1" dirty="0">
                <a:solidFill>
                  <a:srgbClr val="1C1C1C"/>
                </a:solidFill>
                <a:ea typeface="宋体" pitchFamily="2" charset="-122"/>
              </a:rPr>
              <a:t>++</a:t>
            </a:r>
            <a:r>
              <a:rPr lang="en-GB" altLang="en-US" sz="2800" b="1" dirty="0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algn="just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</a:pPr>
            <a:r>
              <a:rPr lang="en-GB" altLang="en-US" sz="2800" b="1" dirty="0">
                <a:solidFill>
                  <a:srgbClr val="1C1C1C"/>
                </a:solidFill>
                <a:ea typeface="宋体" pitchFamily="2" charset="-122"/>
              </a:rPr>
              <a:t>         </a:t>
            </a:r>
            <a:r>
              <a:rPr lang="en-GB" altLang="en-US" sz="2800" b="1" dirty="0" err="1">
                <a:solidFill>
                  <a:srgbClr val="CC00CC"/>
                </a:solidFill>
                <a:latin typeface="Arial" pitchFamily="34" charset="0"/>
                <a:ea typeface="宋体" pitchFamily="2" charset="-122"/>
              </a:rPr>
              <a:t>printf</a:t>
            </a:r>
            <a:r>
              <a:rPr lang="en-GB" altLang="en-US" sz="2800" b="1" dirty="0">
                <a:solidFill>
                  <a:srgbClr val="CC00CC"/>
                </a:solidFill>
                <a:latin typeface="Times New Roman" pitchFamily="18" charset="0"/>
                <a:ea typeface="宋体" pitchFamily="2" charset="-122"/>
              </a:rPr>
              <a:t>(“</a:t>
            </a:r>
            <a:r>
              <a:rPr lang="en-GB" altLang="en-US" sz="2800" b="1" dirty="0">
                <a:solidFill>
                  <a:srgbClr val="CC00CC"/>
                </a:solidFill>
                <a:latin typeface="Arial" pitchFamily="34" charset="0"/>
                <a:ea typeface="宋体" pitchFamily="2" charset="-122"/>
              </a:rPr>
              <a:t>%</a:t>
            </a:r>
            <a:r>
              <a:rPr lang="en-GB" altLang="en-US" sz="2800" b="1" dirty="0">
                <a:solidFill>
                  <a:srgbClr val="CC00CC"/>
                </a:solidFill>
                <a:ea typeface="宋体" pitchFamily="2" charset="-122"/>
              </a:rPr>
              <a:t>c</a:t>
            </a:r>
            <a:r>
              <a:rPr lang="en-GB" altLang="en-US" sz="2800" b="1" dirty="0">
                <a:solidFill>
                  <a:srgbClr val="CC00CC"/>
                </a:solidFill>
                <a:latin typeface="Times New Roman" pitchFamily="18" charset="0"/>
                <a:ea typeface="宋体" pitchFamily="2" charset="-122"/>
              </a:rPr>
              <a:t>”</a:t>
            </a:r>
            <a:r>
              <a:rPr lang="en-GB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GB" altLang="en-US" sz="2800" b="1" dirty="0">
                <a:solidFill>
                  <a:srgbClr val="CC00CC"/>
                </a:solidFill>
                <a:ea typeface="宋体" pitchFamily="2" charset="-122"/>
              </a:rPr>
              <a:t> </a:t>
            </a:r>
            <a:r>
              <a:rPr lang="en-GB" altLang="en-US" sz="2800" b="1" dirty="0">
                <a:solidFill>
                  <a:srgbClr val="CC00CC"/>
                </a:solidFill>
                <a:latin typeface="Arial" pitchFamily="34" charset="0"/>
                <a:ea typeface="宋体" pitchFamily="2" charset="-122"/>
              </a:rPr>
              <a:t>a</a:t>
            </a:r>
            <a:r>
              <a:rPr lang="en-GB" altLang="en-US" sz="2800" dirty="0">
                <a:solidFill>
                  <a:srgbClr val="CC00CC"/>
                </a:solidFill>
                <a:ea typeface="宋体" pitchFamily="2" charset="-122"/>
              </a:rPr>
              <a:t>[</a:t>
            </a:r>
            <a:r>
              <a:rPr lang="en-GB" altLang="en-US" sz="2800" b="1" dirty="0" err="1">
                <a:solidFill>
                  <a:srgbClr val="CC00CC"/>
                </a:solidFill>
                <a:ea typeface="宋体" pitchFamily="2" charset="-122"/>
              </a:rPr>
              <a:t>i</a:t>
            </a:r>
            <a:r>
              <a:rPr lang="en-GB" altLang="en-US" sz="2800" dirty="0">
                <a:solidFill>
                  <a:srgbClr val="CC00CC"/>
                </a:solidFill>
                <a:ea typeface="宋体" pitchFamily="2" charset="-122"/>
              </a:rPr>
              <a:t>]</a:t>
            </a:r>
            <a:r>
              <a:rPr lang="en-GB" altLang="en-US" sz="2800" b="1" dirty="0">
                <a:solidFill>
                  <a:srgbClr val="CC00CC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GB" altLang="en-US" sz="2800" b="1" dirty="0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 ;</a:t>
            </a:r>
          </a:p>
          <a:p>
            <a:pPr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    </a:t>
            </a:r>
            <a:r>
              <a:rPr lang="en-GB" altLang="en-US" sz="2800" b="1" dirty="0" err="1">
                <a:solidFill>
                  <a:srgbClr val="000000"/>
                </a:solidFill>
                <a:latin typeface="Arial" pitchFamily="34" charset="0"/>
              </a:rPr>
              <a:t>printf</a:t>
            </a:r>
            <a:r>
              <a:rPr lang="en-GB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(“</a:t>
            </a:r>
            <a:r>
              <a:rPr lang="en-GB" altLang="en-US" sz="2800" dirty="0">
                <a:solidFill>
                  <a:srgbClr val="000000"/>
                </a:solidFill>
                <a:ea typeface="宋体" pitchFamily="2" charset="-122"/>
              </a:rPr>
              <a:t>\</a:t>
            </a: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n</a:t>
            </a:r>
            <a:r>
              <a:rPr lang="en-GB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”) ;</a:t>
            </a: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  </a:t>
            </a:r>
          </a:p>
          <a:p>
            <a:pPr algn="just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ea typeface="宋体" pitchFamily="2" charset="-122"/>
              </a:rPr>
              <a:t>}</a:t>
            </a:r>
            <a:endParaRPr lang="zh-CN" altLang="en-US" sz="2400" b="1" dirty="0">
              <a:solidFill>
                <a:srgbClr val="1C1C1C"/>
              </a:solidFill>
              <a:latin typeface="Times New Roman" pitchFamily="18" charset="0"/>
            </a:endParaRPr>
          </a:p>
        </p:txBody>
      </p:sp>
      <p:sp>
        <p:nvSpPr>
          <p:cNvPr id="362500" name="AutoShape 4"/>
          <p:cNvSpPr>
            <a:spLocks noChangeArrowheads="1"/>
          </p:cNvSpPr>
          <p:nvPr/>
        </p:nvSpPr>
        <p:spPr bwMode="auto">
          <a:xfrm>
            <a:off x="6867525" y="3468688"/>
            <a:ext cx="560388" cy="196850"/>
          </a:xfrm>
          <a:prstGeom prst="rightArrow">
            <a:avLst>
              <a:gd name="adj1" fmla="val 50000"/>
              <a:gd name="adj2" fmla="val 71169"/>
            </a:avLst>
          </a:prstGeom>
          <a:noFill/>
          <a:ln w="19050" cmpd="sng">
            <a:solidFill>
              <a:srgbClr val="CC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D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62501" name="Text Box 5"/>
          <p:cNvSpPr txBox="1">
            <a:spLocks noChangeArrowheads="1"/>
          </p:cNvSpPr>
          <p:nvPr/>
        </p:nvSpPr>
        <p:spPr bwMode="auto">
          <a:xfrm>
            <a:off x="7397751" y="3273426"/>
            <a:ext cx="30400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a</a:t>
            </a:r>
            <a:r>
              <a:rPr lang="zh-CN" altLang="zh-CN" sz="2800">
                <a:solidFill>
                  <a:srgbClr val="000000"/>
                </a:solidFill>
                <a:ea typeface="宋体" pitchFamily="2" charset="-122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i</a:t>
            </a:r>
            <a:r>
              <a:rPr lang="zh-CN" altLang="zh-CN" sz="2800">
                <a:solidFill>
                  <a:srgbClr val="000000"/>
                </a:solidFill>
                <a:ea typeface="宋体" pitchFamily="2" charset="-122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=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getchar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);</a:t>
            </a:r>
          </a:p>
        </p:txBody>
      </p:sp>
      <p:sp>
        <p:nvSpPr>
          <p:cNvPr id="362502" name="Rectangle 6"/>
          <p:cNvSpPr>
            <a:spLocks noChangeArrowheads="1"/>
          </p:cNvSpPr>
          <p:nvPr/>
        </p:nvSpPr>
        <p:spPr bwMode="auto">
          <a:xfrm>
            <a:off x="2352676" y="249238"/>
            <a:ext cx="7991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1.</a:t>
            </a:r>
            <a:r>
              <a:rPr lang="zh-CN" altLang="zh-CN" sz="2800" b="1">
                <a:solidFill>
                  <a:srgbClr val="000000"/>
                </a:solidFill>
              </a:rPr>
              <a:t> </a:t>
            </a:r>
            <a:r>
              <a:rPr lang="zh-CN" altLang="en-US" sz="2800" b="1">
                <a:solidFill>
                  <a:srgbClr val="000000"/>
                </a:solidFill>
              </a:rPr>
              <a:t>用</a:t>
            </a:r>
            <a:r>
              <a:rPr lang="zh-CN" altLang="zh-CN" sz="2800" b="1">
                <a:solidFill>
                  <a:srgbClr val="FF0000"/>
                </a:solidFill>
                <a:latin typeface="Arial" pitchFamily="34" charset="0"/>
              </a:rPr>
              <a:t>%c</a:t>
            </a:r>
            <a:r>
              <a:rPr lang="zh-CN" altLang="zh-CN" sz="2800" b="1">
                <a:solidFill>
                  <a:srgbClr val="FF3131"/>
                </a:solidFill>
              </a:rPr>
              <a:t> </a:t>
            </a:r>
            <a:r>
              <a:rPr lang="zh-CN" altLang="en-US" sz="2800" b="1">
                <a:solidFill>
                  <a:srgbClr val="000000"/>
                </a:solidFill>
              </a:rPr>
              <a:t>对字符数组元素逐个输入</a:t>
            </a:r>
            <a:r>
              <a:rPr lang="zh-CN" altLang="en-US" sz="2400" b="1">
                <a:solidFill>
                  <a:srgbClr val="000000"/>
                </a:solidFill>
              </a:rPr>
              <a:t>、</a:t>
            </a:r>
            <a:r>
              <a:rPr lang="zh-CN" altLang="en-US" sz="2800" b="1">
                <a:solidFill>
                  <a:srgbClr val="000000"/>
                </a:solidFill>
              </a:rPr>
              <a:t>输出字符</a:t>
            </a:r>
            <a:r>
              <a:rPr lang="zh-CN" altLang="en-US" sz="2400" b="1">
                <a:solidFill>
                  <a:srgbClr val="00000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19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500" grpId="0" animBg="1"/>
      <p:bldP spid="362501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4414" y="1052514"/>
            <a:ext cx="8383587" cy="4549775"/>
          </a:xfrm>
        </p:spPr>
        <p:txBody>
          <a:bodyPr/>
          <a:lstStyle/>
          <a:p>
            <a:pPr algn="just">
              <a:lnSpc>
                <a:spcPct val="125000"/>
              </a:lnSpc>
              <a:buFont typeface="Wingdings" pitchFamily="2" charset="2"/>
              <a:buNone/>
            </a:pPr>
            <a:r>
              <a:rPr lang="zh-CN" altLang="en-US" sz="2800" b="1" dirty="0">
                <a:latin typeface="黑体" pitchFamily="49" charset="-122"/>
              </a:rPr>
              <a:t>例</a:t>
            </a:r>
            <a:r>
              <a:rPr lang="zh-CN" altLang="zh-CN" sz="2800" b="1" dirty="0">
                <a:latin typeface="Times New Roman" pitchFamily="18" charset="0"/>
              </a:rPr>
              <a:t>: </a:t>
            </a:r>
            <a:r>
              <a:rPr lang="zh-CN" altLang="zh-CN" sz="2800" b="1" dirty="0"/>
              <a:t>#</a:t>
            </a:r>
            <a:r>
              <a:rPr lang="zh-CN" altLang="zh-CN" sz="2800" b="1" dirty="0">
                <a:latin typeface="Arial" pitchFamily="34" charset="0"/>
              </a:rPr>
              <a:t>include</a:t>
            </a:r>
            <a:r>
              <a:rPr lang="zh-CN" altLang="zh-CN" sz="2800" b="1" dirty="0"/>
              <a:t> </a:t>
            </a:r>
            <a:r>
              <a:rPr lang="zh-CN" altLang="zh-CN" sz="2800" dirty="0"/>
              <a:t>&lt;</a:t>
            </a:r>
            <a:r>
              <a:rPr lang="zh-CN" altLang="zh-CN" sz="2800" b="1" dirty="0">
                <a:latin typeface="Arial" pitchFamily="34" charset="0"/>
              </a:rPr>
              <a:t>stdio</a:t>
            </a:r>
            <a:r>
              <a:rPr lang="zh-CN" altLang="zh-CN" sz="2800" b="1" dirty="0">
                <a:latin typeface="Times New Roman" pitchFamily="18" charset="0"/>
              </a:rPr>
              <a:t>.</a:t>
            </a:r>
            <a:r>
              <a:rPr lang="zh-CN" altLang="zh-CN" sz="2800" b="1" dirty="0">
                <a:latin typeface="Arial" pitchFamily="34" charset="0"/>
              </a:rPr>
              <a:t>h</a:t>
            </a:r>
            <a:r>
              <a:rPr lang="zh-CN" altLang="zh-CN" sz="2800" dirty="0"/>
              <a:t>&gt;</a:t>
            </a:r>
            <a:r>
              <a:rPr lang="zh-CN" altLang="zh-CN" sz="2800" b="1" dirty="0"/>
              <a:t> </a:t>
            </a:r>
            <a:endParaRPr lang="zh-CN" altLang="zh-CN" sz="2800" b="1" dirty="0">
              <a:latin typeface="Times New Roman" pitchFamily="18" charset="0"/>
            </a:endParaRPr>
          </a:p>
          <a:p>
            <a:pPr algn="just">
              <a:lnSpc>
                <a:spcPct val="11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800" b="1" dirty="0">
                <a:latin typeface="Arial" pitchFamily="34" charset="0"/>
              </a:rPr>
              <a:t>      void main</a:t>
            </a:r>
            <a:r>
              <a:rPr lang="zh-CN" altLang="zh-CN" sz="2800" b="1" dirty="0">
                <a:latin typeface="Times New Roman" pitchFamily="18" charset="0"/>
              </a:rPr>
              <a:t>( )</a:t>
            </a:r>
          </a:p>
        </p:txBody>
      </p:sp>
      <p:sp>
        <p:nvSpPr>
          <p:cNvPr id="362499" name="Rectangle 3"/>
          <p:cNvSpPr>
            <a:spLocks noGrp="1" noChangeArrowheads="1"/>
          </p:cNvSpPr>
          <p:nvPr/>
        </p:nvSpPr>
        <p:spPr bwMode="auto">
          <a:xfrm>
            <a:off x="2465389" y="2144714"/>
            <a:ext cx="5145087" cy="413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 { </a:t>
            </a:r>
            <a:r>
              <a:rPr lang="en-GB" altLang="en-US" sz="2800" b="1" dirty="0">
                <a:solidFill>
                  <a:srgbClr val="000000"/>
                </a:solidFill>
                <a:latin typeface="Arial" pitchFamily="34" charset="0"/>
              </a:rPr>
              <a:t>int</a:t>
            </a: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  </a:t>
            </a:r>
            <a:r>
              <a:rPr lang="en-GB" altLang="en-US" sz="2800" b="1" dirty="0" err="1">
                <a:solidFill>
                  <a:srgbClr val="000000"/>
                </a:solidFill>
                <a:ea typeface="宋体" pitchFamily="2" charset="-122"/>
              </a:rPr>
              <a:t>i</a:t>
            </a: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en-GB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    </a:t>
            </a:r>
            <a:r>
              <a:rPr lang="en-GB" altLang="en-US" sz="2800" b="1" dirty="0">
                <a:solidFill>
                  <a:srgbClr val="000000"/>
                </a:solidFill>
                <a:latin typeface="Arial" pitchFamily="34" charset="0"/>
              </a:rPr>
              <a:t>char</a:t>
            </a: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  </a:t>
            </a:r>
            <a:r>
              <a:rPr lang="en-GB" altLang="en-US" sz="2800" b="1" dirty="0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en-GB" altLang="en-US" sz="2800" dirty="0">
                <a:solidFill>
                  <a:srgbClr val="000000"/>
                </a:solidFill>
                <a:ea typeface="宋体" pitchFamily="2" charset="-122"/>
              </a:rPr>
              <a:t>[</a:t>
            </a:r>
            <a:r>
              <a:rPr lang="en-GB" altLang="en-US" sz="2800" b="1" dirty="0">
                <a:solidFill>
                  <a:srgbClr val="000000"/>
                </a:solidFill>
                <a:latin typeface="Arial" pitchFamily="34" charset="0"/>
              </a:rPr>
              <a:t>6</a:t>
            </a:r>
            <a:r>
              <a:rPr lang="en-GB" altLang="en-US" sz="2800" dirty="0">
                <a:solidFill>
                  <a:srgbClr val="000000"/>
                </a:solidFill>
                <a:ea typeface="宋体" pitchFamily="2" charset="-122"/>
              </a:rPr>
              <a:t>]</a:t>
            </a: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en-GB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algn="just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</a:pPr>
            <a:r>
              <a:rPr lang="en-GB" altLang="en-US" sz="2800" b="1" dirty="0">
                <a:solidFill>
                  <a:srgbClr val="CC0000"/>
                </a:solidFill>
                <a:ea typeface="宋体" pitchFamily="2" charset="-122"/>
              </a:rPr>
              <a:t>    </a:t>
            </a:r>
            <a:r>
              <a:rPr lang="en-GB" altLang="en-US" sz="2800" b="1" dirty="0">
                <a:solidFill>
                  <a:srgbClr val="000000"/>
                </a:solidFill>
                <a:latin typeface="Arial" pitchFamily="34" charset="0"/>
              </a:rPr>
              <a:t>for</a:t>
            </a:r>
            <a:r>
              <a:rPr lang="en-GB" altLang="en-US" sz="2800" b="1" dirty="0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( </a:t>
            </a:r>
            <a:r>
              <a:rPr lang="en-GB" altLang="en-US" sz="2800" b="1" dirty="0" err="1">
                <a:solidFill>
                  <a:srgbClr val="1C1C1C"/>
                </a:solidFill>
                <a:ea typeface="宋体" pitchFamily="2" charset="-122"/>
              </a:rPr>
              <a:t>i</a:t>
            </a:r>
            <a:r>
              <a:rPr lang="en-GB" altLang="en-US" sz="2800" b="1" dirty="0">
                <a:solidFill>
                  <a:srgbClr val="1C1C1C"/>
                </a:solidFill>
                <a:ea typeface="宋体" pitchFamily="2" charset="-122"/>
              </a:rPr>
              <a:t>=</a:t>
            </a:r>
            <a:r>
              <a:rPr lang="en-GB" altLang="en-US" sz="2800" b="1" dirty="0">
                <a:solidFill>
                  <a:srgbClr val="000000"/>
                </a:solidFill>
                <a:latin typeface="Arial" pitchFamily="34" charset="0"/>
              </a:rPr>
              <a:t>0</a:t>
            </a:r>
            <a:r>
              <a:rPr lang="en-GB" altLang="en-US" sz="2800" b="1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en-GB" altLang="en-US" sz="2800" b="1">
                <a:solidFill>
                  <a:srgbClr val="1C1C1C"/>
                </a:solidFill>
                <a:ea typeface="宋体" pitchFamily="2" charset="-122"/>
              </a:rPr>
              <a:t> i</a:t>
            </a:r>
            <a:r>
              <a:rPr lang="en-GB" altLang="en-US" sz="2800">
                <a:solidFill>
                  <a:srgbClr val="1C1C1C"/>
                </a:solidFill>
                <a:ea typeface="宋体" pitchFamily="2" charset="-122"/>
              </a:rPr>
              <a:t>&lt;</a:t>
            </a:r>
            <a:r>
              <a:rPr lang="en-GB" altLang="en-US" sz="2800" b="1">
                <a:solidFill>
                  <a:srgbClr val="000000"/>
                </a:solidFill>
                <a:latin typeface="Arial" pitchFamily="34" charset="0"/>
              </a:rPr>
              <a:t>5</a:t>
            </a:r>
            <a:r>
              <a:rPr lang="en-GB" altLang="en-US" sz="2800" b="1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en-GB" altLang="en-US" sz="2800" b="1">
                <a:solidFill>
                  <a:srgbClr val="1C1C1C"/>
                </a:solidFill>
                <a:ea typeface="宋体" pitchFamily="2" charset="-122"/>
              </a:rPr>
              <a:t> </a:t>
            </a:r>
            <a:r>
              <a:rPr lang="en-GB" altLang="en-US" sz="2800" b="1" dirty="0" err="1">
                <a:solidFill>
                  <a:srgbClr val="1C1C1C"/>
                </a:solidFill>
                <a:ea typeface="宋体" pitchFamily="2" charset="-122"/>
              </a:rPr>
              <a:t>i</a:t>
            </a:r>
            <a:r>
              <a:rPr lang="en-GB" altLang="en-US" sz="2800" b="1" dirty="0">
                <a:solidFill>
                  <a:srgbClr val="1C1C1C"/>
                </a:solidFill>
                <a:ea typeface="宋体" pitchFamily="2" charset="-122"/>
              </a:rPr>
              <a:t>++</a:t>
            </a:r>
            <a:r>
              <a:rPr lang="en-GB" altLang="en-US" sz="2800" b="1" dirty="0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GB" altLang="en-US" sz="2800" b="1" dirty="0">
                <a:solidFill>
                  <a:srgbClr val="C200C2"/>
                </a:solidFill>
                <a:ea typeface="宋体" pitchFamily="2" charset="-122"/>
              </a:rPr>
              <a:t>         </a:t>
            </a:r>
            <a:r>
              <a:rPr lang="en-GB" altLang="en-US" sz="2800" b="1" dirty="0" err="1">
                <a:solidFill>
                  <a:srgbClr val="CC00CC"/>
                </a:solidFill>
                <a:latin typeface="Arial" pitchFamily="34" charset="0"/>
                <a:ea typeface="宋体" pitchFamily="2" charset="-122"/>
              </a:rPr>
              <a:t>scanf</a:t>
            </a:r>
            <a:r>
              <a:rPr lang="en-GB" altLang="en-US" sz="2800" b="1" dirty="0">
                <a:solidFill>
                  <a:srgbClr val="CC00CC"/>
                </a:solidFill>
                <a:latin typeface="Times New Roman" pitchFamily="18" charset="0"/>
                <a:ea typeface="宋体" pitchFamily="2" charset="-122"/>
              </a:rPr>
              <a:t>(“</a:t>
            </a:r>
            <a:r>
              <a:rPr lang="en-GB" altLang="en-US" sz="2800" b="1" dirty="0">
                <a:solidFill>
                  <a:srgbClr val="CC00CC"/>
                </a:solidFill>
                <a:latin typeface="Arial" pitchFamily="34" charset="0"/>
                <a:ea typeface="宋体" pitchFamily="2" charset="-122"/>
              </a:rPr>
              <a:t>%</a:t>
            </a:r>
            <a:r>
              <a:rPr lang="en-GB" altLang="en-US" sz="2800" b="1" dirty="0">
                <a:solidFill>
                  <a:srgbClr val="CC00CC"/>
                </a:solidFill>
                <a:ea typeface="宋体" pitchFamily="2" charset="-122"/>
              </a:rPr>
              <a:t>c</a:t>
            </a:r>
            <a:r>
              <a:rPr lang="en-GB" altLang="en-US" sz="2800" b="1" dirty="0">
                <a:solidFill>
                  <a:srgbClr val="CC00CC"/>
                </a:solidFill>
                <a:latin typeface="Times New Roman" pitchFamily="18" charset="0"/>
                <a:ea typeface="宋体" pitchFamily="2" charset="-122"/>
              </a:rPr>
              <a:t>”</a:t>
            </a:r>
            <a:r>
              <a:rPr lang="en-GB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GB" altLang="en-US" sz="2800" b="1" dirty="0">
                <a:solidFill>
                  <a:srgbClr val="CC00CC"/>
                </a:solidFill>
                <a:ea typeface="宋体" pitchFamily="2" charset="-122"/>
              </a:rPr>
              <a:t> </a:t>
            </a:r>
            <a:r>
              <a:rPr lang="en-GB" altLang="en-US" sz="2800" dirty="0">
                <a:solidFill>
                  <a:srgbClr val="CC00CC"/>
                </a:solidFill>
                <a:ea typeface="宋体" pitchFamily="2" charset="-122"/>
              </a:rPr>
              <a:t>&amp;</a:t>
            </a:r>
            <a:r>
              <a:rPr lang="en-GB" altLang="en-US" sz="2800" b="1" dirty="0">
                <a:solidFill>
                  <a:srgbClr val="CC00CC"/>
                </a:solidFill>
                <a:latin typeface="Arial" pitchFamily="34" charset="0"/>
                <a:ea typeface="宋体" pitchFamily="2" charset="-122"/>
              </a:rPr>
              <a:t>a</a:t>
            </a:r>
            <a:r>
              <a:rPr lang="en-GB" altLang="en-US" sz="2800" dirty="0">
                <a:solidFill>
                  <a:srgbClr val="CC00CC"/>
                </a:solidFill>
                <a:ea typeface="宋体" pitchFamily="2" charset="-122"/>
              </a:rPr>
              <a:t>[</a:t>
            </a:r>
            <a:r>
              <a:rPr lang="en-GB" altLang="en-US" sz="2800" b="1" dirty="0" err="1">
                <a:solidFill>
                  <a:srgbClr val="CC00CC"/>
                </a:solidFill>
                <a:ea typeface="宋体" pitchFamily="2" charset="-122"/>
              </a:rPr>
              <a:t>i</a:t>
            </a:r>
            <a:r>
              <a:rPr lang="en-GB" altLang="en-US" sz="2800" dirty="0">
                <a:solidFill>
                  <a:srgbClr val="CC00CC"/>
                </a:solidFill>
                <a:ea typeface="宋体" pitchFamily="2" charset="-122"/>
              </a:rPr>
              <a:t>]</a:t>
            </a:r>
            <a:r>
              <a:rPr lang="en-GB" altLang="en-US" sz="2800" b="1" dirty="0">
                <a:solidFill>
                  <a:srgbClr val="CC00CC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GB" altLang="en-US" sz="2800" b="1" dirty="0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algn="just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0"/>
              </a:spcAft>
            </a:pPr>
            <a:r>
              <a:rPr lang="en-GB" altLang="en-US" sz="2800" b="1">
                <a:solidFill>
                  <a:srgbClr val="1C1C1C"/>
                </a:solidFill>
                <a:ea typeface="宋体" pitchFamily="2" charset="-122"/>
              </a:rPr>
              <a:t>    a[5]=‘\0’;</a:t>
            </a:r>
          </a:p>
          <a:p>
            <a:pPr algn="just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0"/>
              </a:spcAft>
            </a:pPr>
            <a:r>
              <a:rPr lang="en-GB" altLang="en-US" sz="2800" b="1">
                <a:solidFill>
                  <a:srgbClr val="1C1C1C"/>
                </a:solidFill>
                <a:latin typeface="Arial" pitchFamily="34" charset="0"/>
                <a:ea typeface="宋体" pitchFamily="2" charset="-122"/>
              </a:rPr>
              <a:t>    </a:t>
            </a:r>
            <a:r>
              <a:rPr lang="en-GB" altLang="en-US" sz="2800" b="1">
                <a:solidFill>
                  <a:srgbClr val="000000"/>
                </a:solidFill>
                <a:latin typeface="Arial" pitchFamily="34" charset="0"/>
              </a:rPr>
              <a:t>for</a:t>
            </a:r>
            <a:r>
              <a:rPr lang="en-GB" altLang="en-US" sz="2800" b="1" dirty="0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( </a:t>
            </a:r>
            <a:r>
              <a:rPr lang="en-GB" altLang="en-US" sz="2800" b="1" dirty="0" err="1">
                <a:solidFill>
                  <a:srgbClr val="1C1C1C"/>
                </a:solidFill>
                <a:ea typeface="宋体" pitchFamily="2" charset="-122"/>
              </a:rPr>
              <a:t>i</a:t>
            </a: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=</a:t>
            </a:r>
            <a:r>
              <a:rPr lang="en-GB" altLang="en-US" sz="2800" b="1" dirty="0">
                <a:solidFill>
                  <a:srgbClr val="000000"/>
                </a:solidFill>
                <a:latin typeface="Arial" pitchFamily="34" charset="0"/>
              </a:rPr>
              <a:t>0</a:t>
            </a:r>
            <a:r>
              <a:rPr lang="en-GB" altLang="en-US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en-GB" altLang="en-US" sz="2800" b="1">
                <a:solidFill>
                  <a:srgbClr val="1C1C1C"/>
                </a:solidFill>
                <a:ea typeface="宋体" pitchFamily="2" charset="-122"/>
              </a:rPr>
              <a:t> a[i]!=‘\0’</a:t>
            </a:r>
            <a:r>
              <a:rPr lang="en-GB" altLang="en-US" sz="2800" b="1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en-GB" altLang="en-US" sz="2800" b="1">
                <a:solidFill>
                  <a:srgbClr val="1C1C1C"/>
                </a:solidFill>
                <a:ea typeface="宋体" pitchFamily="2" charset="-122"/>
              </a:rPr>
              <a:t> </a:t>
            </a:r>
            <a:r>
              <a:rPr lang="en-GB" altLang="en-US" sz="2800" b="1" dirty="0" err="1">
                <a:solidFill>
                  <a:srgbClr val="1C1C1C"/>
                </a:solidFill>
                <a:ea typeface="宋体" pitchFamily="2" charset="-122"/>
              </a:rPr>
              <a:t>i</a:t>
            </a:r>
            <a:r>
              <a:rPr lang="en-GB" altLang="en-US" sz="2800" b="1" dirty="0">
                <a:solidFill>
                  <a:srgbClr val="1C1C1C"/>
                </a:solidFill>
                <a:ea typeface="宋体" pitchFamily="2" charset="-122"/>
              </a:rPr>
              <a:t>++</a:t>
            </a:r>
            <a:r>
              <a:rPr lang="en-GB" altLang="en-US" sz="2800" b="1" dirty="0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algn="just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</a:pPr>
            <a:r>
              <a:rPr lang="en-GB" altLang="en-US" sz="2800" b="1" dirty="0">
                <a:solidFill>
                  <a:srgbClr val="1C1C1C"/>
                </a:solidFill>
                <a:ea typeface="宋体" pitchFamily="2" charset="-122"/>
              </a:rPr>
              <a:t>         </a:t>
            </a:r>
            <a:r>
              <a:rPr lang="en-GB" altLang="en-US" sz="2800" b="1" dirty="0" err="1">
                <a:solidFill>
                  <a:srgbClr val="CC00CC"/>
                </a:solidFill>
                <a:latin typeface="Arial" pitchFamily="34" charset="0"/>
                <a:ea typeface="宋体" pitchFamily="2" charset="-122"/>
              </a:rPr>
              <a:t>printf</a:t>
            </a:r>
            <a:r>
              <a:rPr lang="en-GB" altLang="en-US" sz="2800" b="1" dirty="0">
                <a:solidFill>
                  <a:srgbClr val="CC00CC"/>
                </a:solidFill>
                <a:latin typeface="Times New Roman" pitchFamily="18" charset="0"/>
                <a:ea typeface="宋体" pitchFamily="2" charset="-122"/>
              </a:rPr>
              <a:t>(“</a:t>
            </a:r>
            <a:r>
              <a:rPr lang="en-GB" altLang="en-US" sz="2800" b="1" dirty="0">
                <a:solidFill>
                  <a:srgbClr val="CC00CC"/>
                </a:solidFill>
                <a:latin typeface="Arial" pitchFamily="34" charset="0"/>
                <a:ea typeface="宋体" pitchFamily="2" charset="-122"/>
              </a:rPr>
              <a:t>%</a:t>
            </a:r>
            <a:r>
              <a:rPr lang="en-GB" altLang="en-US" sz="2800" b="1" dirty="0">
                <a:solidFill>
                  <a:srgbClr val="CC00CC"/>
                </a:solidFill>
                <a:ea typeface="宋体" pitchFamily="2" charset="-122"/>
              </a:rPr>
              <a:t>c</a:t>
            </a:r>
            <a:r>
              <a:rPr lang="en-GB" altLang="en-US" sz="2800" b="1" dirty="0">
                <a:solidFill>
                  <a:srgbClr val="CC00CC"/>
                </a:solidFill>
                <a:latin typeface="Times New Roman" pitchFamily="18" charset="0"/>
                <a:ea typeface="宋体" pitchFamily="2" charset="-122"/>
              </a:rPr>
              <a:t>”</a:t>
            </a:r>
            <a:r>
              <a:rPr lang="en-GB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GB" altLang="en-US" sz="2800" b="1" dirty="0">
                <a:solidFill>
                  <a:srgbClr val="CC00CC"/>
                </a:solidFill>
                <a:ea typeface="宋体" pitchFamily="2" charset="-122"/>
              </a:rPr>
              <a:t> </a:t>
            </a:r>
            <a:r>
              <a:rPr lang="en-GB" altLang="en-US" sz="2800" b="1" dirty="0">
                <a:solidFill>
                  <a:srgbClr val="CC00CC"/>
                </a:solidFill>
                <a:latin typeface="Arial" pitchFamily="34" charset="0"/>
                <a:ea typeface="宋体" pitchFamily="2" charset="-122"/>
              </a:rPr>
              <a:t>a</a:t>
            </a:r>
            <a:r>
              <a:rPr lang="en-GB" altLang="en-US" sz="2800" dirty="0">
                <a:solidFill>
                  <a:srgbClr val="CC00CC"/>
                </a:solidFill>
                <a:ea typeface="宋体" pitchFamily="2" charset="-122"/>
              </a:rPr>
              <a:t>[</a:t>
            </a:r>
            <a:r>
              <a:rPr lang="en-GB" altLang="en-US" sz="2800" b="1" dirty="0" err="1">
                <a:solidFill>
                  <a:srgbClr val="CC00CC"/>
                </a:solidFill>
                <a:ea typeface="宋体" pitchFamily="2" charset="-122"/>
              </a:rPr>
              <a:t>i</a:t>
            </a:r>
            <a:r>
              <a:rPr lang="en-GB" altLang="en-US" sz="2800" dirty="0">
                <a:solidFill>
                  <a:srgbClr val="CC00CC"/>
                </a:solidFill>
                <a:ea typeface="宋体" pitchFamily="2" charset="-122"/>
              </a:rPr>
              <a:t>]</a:t>
            </a:r>
            <a:r>
              <a:rPr lang="en-GB" altLang="en-US" sz="2800" b="1" dirty="0">
                <a:solidFill>
                  <a:srgbClr val="CC00CC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GB" altLang="en-US" sz="2800" b="1" dirty="0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 ;</a:t>
            </a:r>
          </a:p>
          <a:p>
            <a:pPr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    </a:t>
            </a:r>
            <a:r>
              <a:rPr lang="en-GB" altLang="en-US" sz="2800" b="1" dirty="0" err="1">
                <a:solidFill>
                  <a:srgbClr val="000000"/>
                </a:solidFill>
                <a:latin typeface="Arial" pitchFamily="34" charset="0"/>
              </a:rPr>
              <a:t>printf</a:t>
            </a:r>
            <a:r>
              <a:rPr lang="en-GB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(“</a:t>
            </a:r>
            <a:r>
              <a:rPr lang="en-GB" altLang="en-US" sz="2800" dirty="0">
                <a:solidFill>
                  <a:srgbClr val="000000"/>
                </a:solidFill>
                <a:ea typeface="宋体" pitchFamily="2" charset="-122"/>
              </a:rPr>
              <a:t>\</a:t>
            </a: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n</a:t>
            </a:r>
            <a:r>
              <a:rPr lang="en-GB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”) ;</a:t>
            </a: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  </a:t>
            </a:r>
          </a:p>
          <a:p>
            <a:pPr algn="just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lang="en-GB" altLang="en-US" sz="2800" b="1" dirty="0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ea typeface="宋体" pitchFamily="2" charset="-122"/>
              </a:rPr>
              <a:t>}</a:t>
            </a:r>
            <a:endParaRPr lang="zh-CN" altLang="en-US" sz="2400" b="1" dirty="0">
              <a:solidFill>
                <a:srgbClr val="1C1C1C"/>
              </a:solidFill>
              <a:latin typeface="Times New Roman" pitchFamily="18" charset="0"/>
            </a:endParaRPr>
          </a:p>
        </p:txBody>
      </p:sp>
      <p:sp>
        <p:nvSpPr>
          <p:cNvPr id="362500" name="AutoShape 4"/>
          <p:cNvSpPr>
            <a:spLocks noChangeArrowheads="1"/>
          </p:cNvSpPr>
          <p:nvPr/>
        </p:nvSpPr>
        <p:spPr bwMode="auto">
          <a:xfrm>
            <a:off x="6867525" y="3468688"/>
            <a:ext cx="560388" cy="196850"/>
          </a:xfrm>
          <a:prstGeom prst="rightArrow">
            <a:avLst>
              <a:gd name="adj1" fmla="val 50000"/>
              <a:gd name="adj2" fmla="val 71169"/>
            </a:avLst>
          </a:prstGeom>
          <a:noFill/>
          <a:ln w="19050" cmpd="sng">
            <a:solidFill>
              <a:srgbClr val="CC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D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62501" name="Text Box 5"/>
          <p:cNvSpPr txBox="1">
            <a:spLocks noChangeArrowheads="1"/>
          </p:cNvSpPr>
          <p:nvPr/>
        </p:nvSpPr>
        <p:spPr bwMode="auto">
          <a:xfrm>
            <a:off x="7397751" y="3273426"/>
            <a:ext cx="30400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a</a:t>
            </a:r>
            <a:r>
              <a:rPr lang="zh-CN" altLang="zh-CN" sz="2800">
                <a:solidFill>
                  <a:srgbClr val="000000"/>
                </a:solidFill>
                <a:ea typeface="宋体" pitchFamily="2" charset="-122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i</a:t>
            </a:r>
            <a:r>
              <a:rPr lang="zh-CN" altLang="zh-CN" sz="2800">
                <a:solidFill>
                  <a:srgbClr val="000000"/>
                </a:solidFill>
                <a:ea typeface="宋体" pitchFamily="2" charset="-122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=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getchar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);</a:t>
            </a:r>
          </a:p>
        </p:txBody>
      </p:sp>
      <p:sp>
        <p:nvSpPr>
          <p:cNvPr id="362502" name="Rectangle 6"/>
          <p:cNvSpPr>
            <a:spLocks noChangeArrowheads="1"/>
          </p:cNvSpPr>
          <p:nvPr/>
        </p:nvSpPr>
        <p:spPr bwMode="auto">
          <a:xfrm>
            <a:off x="2352676" y="249238"/>
            <a:ext cx="7991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1.</a:t>
            </a:r>
            <a:r>
              <a:rPr lang="zh-CN" altLang="zh-CN" sz="2800" b="1">
                <a:solidFill>
                  <a:srgbClr val="000000"/>
                </a:solidFill>
              </a:rPr>
              <a:t> </a:t>
            </a:r>
            <a:r>
              <a:rPr lang="zh-CN" altLang="en-US" sz="2800" b="1">
                <a:solidFill>
                  <a:srgbClr val="000000"/>
                </a:solidFill>
              </a:rPr>
              <a:t>用</a:t>
            </a:r>
            <a:r>
              <a:rPr lang="zh-CN" altLang="zh-CN" sz="2800" b="1">
                <a:solidFill>
                  <a:srgbClr val="FF0000"/>
                </a:solidFill>
                <a:latin typeface="Arial" pitchFamily="34" charset="0"/>
              </a:rPr>
              <a:t>%c</a:t>
            </a:r>
            <a:r>
              <a:rPr lang="zh-CN" altLang="zh-CN" sz="2800" b="1">
                <a:solidFill>
                  <a:srgbClr val="FF3131"/>
                </a:solidFill>
              </a:rPr>
              <a:t> </a:t>
            </a:r>
            <a:r>
              <a:rPr lang="zh-CN" altLang="en-US" sz="2800" b="1">
                <a:solidFill>
                  <a:srgbClr val="000000"/>
                </a:solidFill>
              </a:rPr>
              <a:t>对字符数组元素逐个输入</a:t>
            </a:r>
            <a:r>
              <a:rPr lang="zh-CN" altLang="en-US" sz="2400" b="1">
                <a:solidFill>
                  <a:srgbClr val="000000"/>
                </a:solidFill>
              </a:rPr>
              <a:t>、</a:t>
            </a:r>
            <a:r>
              <a:rPr lang="zh-CN" altLang="en-US" sz="2800" b="1">
                <a:solidFill>
                  <a:srgbClr val="000000"/>
                </a:solidFill>
              </a:rPr>
              <a:t>输出字符</a:t>
            </a:r>
            <a:r>
              <a:rPr lang="zh-CN" altLang="en-US" sz="2400" b="1">
                <a:solidFill>
                  <a:srgbClr val="00000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08917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500" grpId="0" animBg="1"/>
      <p:bldP spid="362501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>
          <a:xfrm>
            <a:off x="2378076" y="104776"/>
            <a:ext cx="8328025" cy="690563"/>
          </a:xfrm>
        </p:spPr>
        <p:txBody>
          <a:bodyPr/>
          <a:lstStyle/>
          <a:p>
            <a:r>
              <a:rPr lang="zh-CN" altLang="zh-CN" sz="2800">
                <a:latin typeface="Times New Roman" pitchFamily="18" charset="0"/>
                <a:ea typeface="黑体" pitchFamily="49" charset="-122"/>
              </a:rPr>
              <a:t>2.</a:t>
            </a:r>
            <a:r>
              <a:rPr lang="zh-CN" altLang="zh-CN" sz="2800">
                <a:ea typeface="黑体" pitchFamily="49" charset="-122"/>
              </a:rPr>
              <a:t> </a:t>
            </a:r>
            <a:r>
              <a:rPr lang="zh-CN" altLang="en-US" sz="2800">
                <a:ea typeface="黑体" pitchFamily="49" charset="-122"/>
              </a:rPr>
              <a:t>用</a:t>
            </a:r>
            <a:r>
              <a:rPr lang="zh-CN" altLang="zh-CN" sz="2800">
                <a:solidFill>
                  <a:schemeClr val="hlink"/>
                </a:solidFill>
                <a:latin typeface="Arial" pitchFamily="34" charset="0"/>
                <a:ea typeface="黑体" pitchFamily="49" charset="-122"/>
              </a:rPr>
              <a:t>%s</a:t>
            </a:r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zh-CN" sz="16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ea typeface="黑体" pitchFamily="49" charset="-122"/>
              </a:rPr>
              <a:t>对</a:t>
            </a:r>
            <a:r>
              <a:rPr lang="zh-CN" altLang="en-US" sz="2800">
                <a:ea typeface="黑体" pitchFamily="49" charset="-122"/>
              </a:rPr>
              <a:t>字符数组</a:t>
            </a:r>
            <a:r>
              <a:rPr lang="zh-CN" altLang="en-US" sz="2800">
                <a:solidFill>
                  <a:schemeClr val="tx1"/>
                </a:solidFill>
                <a:latin typeface="Courier New" pitchFamily="49" charset="0"/>
                <a:ea typeface="黑体" pitchFamily="49" charset="-122"/>
              </a:rPr>
              <a:t>整体输入或输出字符串</a:t>
            </a:r>
            <a:r>
              <a:rPr lang="zh-CN" altLang="en-US" sz="2400">
                <a:solidFill>
                  <a:schemeClr val="tx1"/>
                </a:solidFill>
                <a:latin typeface="Courier New" pitchFamily="49" charset="0"/>
              </a:rPr>
              <a:t>。</a:t>
            </a:r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70125" y="1138239"/>
            <a:ext cx="8223250" cy="4613275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dirty="0"/>
              <a:t>例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</a:p>
          <a:p>
            <a:pPr algn="just">
              <a:lnSpc>
                <a:spcPct val="8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800" b="1" dirty="0"/>
              <a:t>      </a:t>
            </a:r>
            <a:r>
              <a:rPr lang="zh-CN" altLang="zh-CN" sz="2800" b="1" dirty="0">
                <a:latin typeface="Arial" pitchFamily="34" charset="0"/>
              </a:rPr>
              <a:t>#include</a:t>
            </a:r>
            <a:r>
              <a:rPr lang="zh-CN" altLang="zh-CN" sz="2800" b="1" dirty="0"/>
              <a:t> </a:t>
            </a:r>
            <a:r>
              <a:rPr lang="zh-CN" altLang="zh-CN" sz="2800" dirty="0"/>
              <a:t>&lt;</a:t>
            </a:r>
            <a:r>
              <a:rPr lang="zh-CN" altLang="zh-CN" sz="2800" b="1" dirty="0">
                <a:latin typeface="Arial" pitchFamily="34" charset="0"/>
              </a:rPr>
              <a:t>stdio</a:t>
            </a:r>
            <a:r>
              <a:rPr lang="zh-CN" altLang="zh-CN" sz="2800" b="1" dirty="0">
                <a:latin typeface="Times New Roman" pitchFamily="18" charset="0"/>
              </a:rPr>
              <a:t>.</a:t>
            </a:r>
            <a:r>
              <a:rPr lang="zh-CN" altLang="zh-CN" sz="2800" b="1" dirty="0">
                <a:latin typeface="Arial" pitchFamily="34" charset="0"/>
              </a:rPr>
              <a:t>h</a:t>
            </a:r>
            <a:r>
              <a:rPr lang="zh-CN" altLang="zh-CN" sz="2800" dirty="0"/>
              <a:t>&gt;</a:t>
            </a:r>
            <a:r>
              <a:rPr lang="zh-CN" altLang="zh-CN" sz="2800" b="1" dirty="0"/>
              <a:t> </a:t>
            </a:r>
          </a:p>
          <a:p>
            <a:pPr algn="just">
              <a:buFont typeface="Wingdings" pitchFamily="2" charset="2"/>
              <a:buNone/>
            </a:pPr>
            <a:r>
              <a:rPr lang="en-US" altLang="zh-CN" sz="2800" b="1">
                <a:latin typeface="Arial" pitchFamily="34" charset="0"/>
              </a:rPr>
              <a:t>    </a:t>
            </a:r>
            <a:r>
              <a:rPr lang="zh-CN" altLang="zh-CN" sz="2800" b="1">
                <a:latin typeface="Arial" pitchFamily="34" charset="0"/>
              </a:rPr>
              <a:t>main</a:t>
            </a:r>
            <a:r>
              <a:rPr lang="zh-CN" altLang="zh-CN" sz="2800" b="1" dirty="0">
                <a:latin typeface="Times New Roman" pitchFamily="18" charset="0"/>
              </a:rPr>
              <a:t>( )</a:t>
            </a:r>
          </a:p>
          <a:p>
            <a:pPr algn="just">
              <a:lnSpc>
                <a:spcPct val="11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zh-CN" altLang="zh-CN" sz="2800" b="1" dirty="0"/>
              <a:t>    { </a:t>
            </a:r>
            <a:r>
              <a:rPr lang="zh-CN" altLang="zh-CN" sz="2800" b="1" dirty="0">
                <a:latin typeface="Arial" pitchFamily="34" charset="0"/>
              </a:rPr>
              <a:t>char</a:t>
            </a:r>
            <a:r>
              <a:rPr lang="zh-CN" altLang="zh-CN" sz="2800" b="1" dirty="0"/>
              <a:t>  </a:t>
            </a:r>
            <a:r>
              <a:rPr lang="zh-CN" altLang="zh-CN" sz="2800" b="1" dirty="0">
                <a:latin typeface="Arial" pitchFamily="34" charset="0"/>
              </a:rPr>
              <a:t>a</a:t>
            </a:r>
            <a:r>
              <a:rPr lang="zh-CN" altLang="zh-CN" sz="2800" b="1" dirty="0">
                <a:latin typeface="黑体" pitchFamily="49" charset="-122"/>
              </a:rPr>
              <a:t>[</a:t>
            </a:r>
            <a:r>
              <a:rPr lang="zh-CN" altLang="zh-CN" sz="2800" b="1" dirty="0">
                <a:latin typeface="Arial" pitchFamily="34" charset="0"/>
              </a:rPr>
              <a:t>6</a:t>
            </a:r>
            <a:r>
              <a:rPr lang="zh-CN" altLang="zh-CN" sz="2800" b="1" dirty="0">
                <a:latin typeface="黑体" pitchFamily="49" charset="-122"/>
              </a:rPr>
              <a:t>]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 algn="just">
              <a:lnSpc>
                <a:spcPct val="11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zh-CN" altLang="zh-CN" sz="2800" b="1" dirty="0"/>
              <a:t>       </a:t>
            </a:r>
            <a:r>
              <a:rPr lang="zh-CN" altLang="zh-CN" sz="2800" b="1" dirty="0">
                <a:latin typeface="Arial" pitchFamily="34" charset="0"/>
              </a:rPr>
              <a:t>scanf</a:t>
            </a:r>
            <a:r>
              <a:rPr lang="zh-CN" altLang="zh-CN" sz="2800" b="1" dirty="0">
                <a:latin typeface="Times New Roman" pitchFamily="18" charset="0"/>
              </a:rPr>
              <a:t>(“</a:t>
            </a:r>
            <a:r>
              <a:rPr lang="zh-CN" altLang="zh-CN" sz="2800" b="1" dirty="0">
                <a:latin typeface="Arial" pitchFamily="34" charset="0"/>
              </a:rPr>
              <a:t>%s</a:t>
            </a:r>
            <a:r>
              <a:rPr lang="zh-CN" altLang="zh-CN" sz="2800" b="1" dirty="0">
                <a:latin typeface="Times New Roman" pitchFamily="18" charset="0"/>
              </a:rPr>
              <a:t>”,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Arial" pitchFamily="34" charset="0"/>
              </a:rPr>
              <a:t>a</a:t>
            </a:r>
            <a:r>
              <a:rPr lang="zh-CN" altLang="zh-CN" sz="2800" b="1" dirty="0">
                <a:latin typeface="Times New Roman" pitchFamily="18" charset="0"/>
              </a:rPr>
              <a:t>);</a:t>
            </a:r>
            <a:r>
              <a:rPr lang="zh-CN" altLang="zh-CN" sz="2800" b="1" dirty="0"/>
              <a:t>   </a:t>
            </a:r>
            <a:r>
              <a:rPr lang="zh-CN" altLang="zh-CN" sz="2400" dirty="0">
                <a:solidFill>
                  <a:srgbClr val="00009E"/>
                </a:solidFill>
              </a:rPr>
              <a:t>/</a:t>
            </a:r>
            <a:r>
              <a:rPr lang="zh-CN" altLang="zh-CN" sz="2400" b="1" dirty="0">
                <a:solidFill>
                  <a:srgbClr val="00009E"/>
                </a:solidFill>
                <a:latin typeface="黑体" pitchFamily="49" charset="-122"/>
              </a:rPr>
              <a:t>*</a:t>
            </a:r>
            <a:r>
              <a:rPr lang="zh-CN" altLang="en-US" sz="2400" b="1" dirty="0">
                <a:solidFill>
                  <a:srgbClr val="00009E"/>
                </a:solidFill>
                <a:latin typeface="黑体" pitchFamily="49" charset="-122"/>
              </a:rPr>
              <a:t>数组名代表数组的首地址*</a:t>
            </a:r>
            <a:r>
              <a:rPr lang="zh-CN" altLang="zh-CN" sz="2400" dirty="0">
                <a:solidFill>
                  <a:srgbClr val="00009E"/>
                </a:solidFill>
              </a:rPr>
              <a:t>/</a:t>
            </a:r>
          </a:p>
          <a:p>
            <a:pPr algn="just">
              <a:lnSpc>
                <a:spcPct val="11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zh-CN" altLang="zh-CN" sz="2800" b="1" dirty="0"/>
              <a:t>       </a:t>
            </a:r>
            <a:r>
              <a:rPr lang="zh-CN" altLang="zh-CN" sz="2800" b="1" dirty="0">
                <a:latin typeface="Arial" pitchFamily="34" charset="0"/>
              </a:rPr>
              <a:t>printf</a:t>
            </a:r>
            <a:r>
              <a:rPr lang="zh-CN" altLang="zh-CN" sz="2800" b="1" dirty="0">
                <a:latin typeface="Times New Roman" pitchFamily="18" charset="0"/>
              </a:rPr>
              <a:t>(“</a:t>
            </a:r>
            <a:r>
              <a:rPr lang="zh-CN" altLang="zh-CN" sz="2800" b="1" dirty="0">
                <a:latin typeface="Arial" pitchFamily="34" charset="0"/>
              </a:rPr>
              <a:t>%s</a:t>
            </a:r>
            <a:r>
              <a:rPr lang="zh-CN" altLang="zh-CN" sz="2800" b="1" dirty="0">
                <a:latin typeface="Times New Roman" pitchFamily="18" charset="0"/>
              </a:rPr>
              <a:t>”,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Arial" pitchFamily="34" charset="0"/>
              </a:rPr>
              <a:t>a</a:t>
            </a:r>
            <a:r>
              <a:rPr lang="zh-CN" altLang="zh-CN" sz="2800" b="1" dirty="0">
                <a:latin typeface="Times New Roman" pitchFamily="18" charset="0"/>
              </a:rPr>
              <a:t>);</a:t>
            </a:r>
          </a:p>
          <a:p>
            <a:pPr algn="just">
              <a:lnSpc>
                <a:spcPct val="11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zh-CN" altLang="zh-CN" sz="2800" b="1" dirty="0"/>
              <a:t>       </a:t>
            </a:r>
            <a:r>
              <a:rPr lang="zh-CN" altLang="zh-CN" sz="2800" b="1" dirty="0">
                <a:latin typeface="Arial" pitchFamily="34" charset="0"/>
              </a:rPr>
              <a:t>printf</a:t>
            </a:r>
            <a:r>
              <a:rPr lang="zh-CN" altLang="zh-CN" sz="2800" b="1" dirty="0">
                <a:latin typeface="Times New Roman" pitchFamily="18" charset="0"/>
              </a:rPr>
              <a:t>(“</a:t>
            </a:r>
            <a:r>
              <a:rPr lang="zh-CN" altLang="zh-CN" sz="2800" dirty="0"/>
              <a:t>\</a:t>
            </a:r>
            <a:r>
              <a:rPr lang="zh-CN" altLang="zh-CN" sz="2800" b="1" dirty="0"/>
              <a:t>n</a:t>
            </a:r>
            <a:r>
              <a:rPr lang="zh-CN" altLang="zh-CN" sz="2800" b="1" dirty="0">
                <a:latin typeface="Times New Roman" pitchFamily="18" charset="0"/>
              </a:rPr>
              <a:t>”);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800" b="1" dirty="0"/>
              <a:t>    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zh-CN" altLang="zh-CN" sz="2800" b="1" dirty="0"/>
          </a:p>
        </p:txBody>
      </p:sp>
      <p:sp>
        <p:nvSpPr>
          <p:cNvPr id="363524" name="Text Box 4"/>
          <p:cNvSpPr txBox="1">
            <a:spLocks noChangeArrowheads="1"/>
          </p:cNvSpPr>
          <p:nvPr/>
        </p:nvSpPr>
        <p:spPr bwMode="auto">
          <a:xfrm>
            <a:off x="6168008" y="3861049"/>
            <a:ext cx="4320480" cy="1034129"/>
          </a:xfrm>
          <a:prstGeom prst="rect">
            <a:avLst/>
          </a:prstGeom>
          <a:solidFill>
            <a:srgbClr val="FFCCFF"/>
          </a:solidFill>
          <a:ln w="9525" cmpd="sng">
            <a:solidFill>
              <a:srgbClr val="FF00FF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 rIns="18000">
            <a:spAutoFit/>
          </a:bodyPr>
          <a:lstStyle>
            <a:lvl1pPr marL="182563" indent="-182563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lnSpc>
                <a:spcPct val="115000"/>
              </a:lnSpc>
              <a:spcBef>
                <a:spcPct val="2500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输入和输出项都是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数组名</a:t>
            </a:r>
          </a:p>
          <a:p>
            <a:pPr fontAlgn="base">
              <a:lnSpc>
                <a:spcPct val="115000"/>
              </a:lnSpc>
              <a:spcBef>
                <a:spcPct val="2500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在输出时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遇到</a:t>
            </a:r>
            <a:r>
              <a:rPr lang="zh-CN" altLang="en-US" b="1" dirty="0">
                <a:solidFill>
                  <a:srgbClr val="000000"/>
                </a:solidFill>
                <a:ea typeface="黑体" pitchFamily="49" charset="-122"/>
              </a:rPr>
              <a:t>’</a:t>
            </a:r>
            <a:r>
              <a:rPr lang="zh-CN" altLang="zh-CN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\0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’ </a:t>
            </a:r>
            <a:r>
              <a:rPr lang="zh-CN" altLang="en-US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就结束</a:t>
            </a:r>
            <a:r>
              <a:rPr lang="zh-CN" altLang="en-US"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63525" name="AutoShape 5"/>
          <p:cNvSpPr>
            <a:spLocks noChangeArrowheads="1"/>
          </p:cNvSpPr>
          <p:nvPr/>
        </p:nvSpPr>
        <p:spPr bwMode="auto">
          <a:xfrm>
            <a:off x="6096001" y="1519238"/>
            <a:ext cx="4206875" cy="1491472"/>
          </a:xfrm>
          <a:prstGeom prst="flowChartAlternateProcess">
            <a:avLst/>
          </a:prstGeom>
          <a:solidFill>
            <a:srgbClr val="FFFF00"/>
          </a:solidFill>
          <a:ln w="12700" cmpd="sng">
            <a:solidFill>
              <a:schemeClr val="tx1"/>
            </a:solidFill>
            <a:miter lim="800000"/>
            <a:headEnd/>
            <a:tailEnd/>
          </a:ln>
          <a:effectLst>
            <a:outerShdw dist="71842" dir="189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just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运行情况如下:</a:t>
            </a:r>
          </a:p>
          <a:p>
            <a:pPr algn="just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输入:  </a:t>
            </a:r>
            <a:r>
              <a:rPr lang="zh-CN" altLang="en-US" sz="2400" b="1">
                <a:solidFill>
                  <a:srgbClr val="2F2FBD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China</a:t>
            </a:r>
            <a:r>
              <a:rPr lang="zh-CN" altLang="en-US" sz="2400" b="1">
                <a:solidFill>
                  <a:srgbClr val="000000"/>
                </a:solidFill>
                <a:ea typeface="宋体" pitchFamily="2" charset="-122"/>
              </a:rPr>
              <a:t>↙</a:t>
            </a:r>
          </a:p>
          <a:p>
            <a:pPr algn="just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ea typeface="楷体_GB2312" pitchFamily="49" charset="-122"/>
              </a:rPr>
              <a:t>  </a:t>
            </a:r>
            <a:r>
              <a:rPr lang="zh-CN" altLang="en-US" sz="2400" b="1">
                <a:solidFill>
                  <a:srgbClr val="000000"/>
                </a:solidFill>
                <a:ea typeface="楷体_GB2312" pitchFamily="49" charset="-122"/>
              </a:rPr>
              <a:t>输出结果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:</a:t>
            </a:r>
            <a:r>
              <a:rPr lang="zh-CN" altLang="en-US" sz="2400" b="1">
                <a:solidFill>
                  <a:srgbClr val="FF3300"/>
                </a:solidFill>
                <a:ea typeface="宋体" pitchFamily="2" charset="-122"/>
              </a:rPr>
              <a:t>  </a:t>
            </a:r>
            <a:r>
              <a:rPr lang="zh-CN" altLang="en-US" sz="2400" b="1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China</a:t>
            </a:r>
            <a:endParaRPr lang="zh-CN" altLang="en-US" sz="2400">
              <a:solidFill>
                <a:srgbClr val="FF0000"/>
              </a:solidFill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980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4" grpId="0" animBg="1" autoUpdateAnimBg="0"/>
      <p:bldP spid="363525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>
          <a:xfrm>
            <a:off x="2354263" y="150814"/>
            <a:ext cx="7620000" cy="631825"/>
          </a:xfrm>
        </p:spPr>
        <p:txBody>
          <a:bodyPr/>
          <a:lstStyle/>
          <a:p>
            <a:r>
              <a:rPr lang="zh-CN" altLang="en-US" sz="3200">
                <a:latin typeface="楷体_GB2312" pitchFamily="49" charset="-122"/>
              </a:rPr>
              <a:t>注意</a:t>
            </a:r>
            <a:r>
              <a:rPr lang="zh-CN" altLang="zh-CN" sz="3200">
                <a:latin typeface="楷体_GB2312" pitchFamily="49" charset="-122"/>
              </a:rPr>
              <a:t>:</a:t>
            </a:r>
          </a:p>
        </p:txBody>
      </p:sp>
      <p:sp>
        <p:nvSpPr>
          <p:cNvPr id="364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03439" y="1225550"/>
            <a:ext cx="8529065" cy="4560888"/>
          </a:xfrm>
        </p:spPr>
        <p:txBody>
          <a:bodyPr/>
          <a:lstStyle/>
          <a:p>
            <a:pPr marL="274638" indent="-274638">
              <a:lnSpc>
                <a:spcPct val="115000"/>
              </a:lnSpc>
              <a:spcBef>
                <a:spcPct val="0"/>
              </a:spcBef>
            </a:pP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scanf</a:t>
            </a:r>
            <a:r>
              <a:rPr lang="zh-CN" altLang="en-US" sz="2800" b="1" dirty="0"/>
              <a:t>函数参数要求的是地址</a:t>
            </a:r>
            <a:r>
              <a:rPr lang="zh-CN" altLang="zh-CN" sz="2800" b="1" dirty="0">
                <a:latin typeface="Times New Roman" pitchFamily="18" charset="0"/>
              </a:rPr>
              <a:t>,  </a:t>
            </a:r>
            <a:r>
              <a:rPr lang="zh-CN" altLang="en-US" sz="2800" b="1" dirty="0"/>
              <a:t>故直接用字符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数组名</a:t>
            </a:r>
            <a:r>
              <a:rPr lang="zh-CN" altLang="en-US" sz="2800" b="1" dirty="0"/>
              <a:t>进行操作。</a:t>
            </a:r>
            <a:endParaRPr lang="zh-CN" altLang="en-US" sz="2800" b="1" dirty="0">
              <a:latin typeface="黑体" pitchFamily="49" charset="-122"/>
            </a:endParaRPr>
          </a:p>
          <a:p>
            <a:pPr marL="274638" indent="-274638" algn="just">
              <a:lnSpc>
                <a:spcPct val="125000"/>
              </a:lnSpc>
              <a:spcBef>
                <a:spcPct val="35000"/>
              </a:spcBef>
            </a:pPr>
            <a:r>
              <a:rPr lang="zh-CN" altLang="en-US" sz="2800" b="1" dirty="0">
                <a:latin typeface="黑体" pitchFamily="49" charset="-122"/>
              </a:rPr>
              <a:t>输出字符不包括结束符</a:t>
            </a:r>
            <a:r>
              <a:rPr lang="zh-CN" altLang="en-US" sz="2800" b="1" dirty="0">
                <a:latin typeface="Times New Roman" pitchFamily="18" charset="0"/>
              </a:rPr>
              <a:t>‘</a:t>
            </a:r>
            <a:r>
              <a:rPr lang="zh-CN" altLang="zh-CN" sz="2800" b="1" dirty="0">
                <a:latin typeface="黑体" pitchFamily="49" charset="-122"/>
              </a:rPr>
              <a:t>\0</a:t>
            </a:r>
            <a:r>
              <a:rPr lang="zh-CN" altLang="zh-CN" sz="2800" b="1" dirty="0">
                <a:latin typeface="Times New Roman" pitchFamily="18" charset="0"/>
              </a:rPr>
              <a:t>’</a:t>
            </a:r>
            <a:r>
              <a:rPr lang="zh-CN" altLang="en-US" sz="2800" b="1" dirty="0">
                <a:latin typeface="黑体" pitchFamily="49" charset="-122"/>
              </a:rPr>
              <a:t>。</a:t>
            </a:r>
          </a:p>
          <a:p>
            <a:pPr marL="274638" indent="-274638" algn="just">
              <a:lnSpc>
                <a:spcPct val="125000"/>
              </a:lnSpc>
              <a:spcBef>
                <a:spcPct val="50000"/>
              </a:spcBef>
            </a:pPr>
            <a:r>
              <a:rPr lang="zh-CN" altLang="en-US" sz="2800" b="1" dirty="0">
                <a:latin typeface="黑体" pitchFamily="49" charset="-122"/>
              </a:rPr>
              <a:t>用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%s</a:t>
            </a:r>
            <a:r>
              <a:rPr lang="zh-CN" altLang="en-US" sz="2800" b="1" dirty="0">
                <a:latin typeface="黑体" pitchFamily="49" charset="-122"/>
              </a:rPr>
              <a:t>格式符输出字符串时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en-US" sz="2800" b="1" dirty="0">
                <a:latin typeface="Times New Roman" pitchFamily="18" charset="0"/>
              </a:rPr>
              <a:t>其对应的输出项是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地址</a:t>
            </a:r>
            <a:endParaRPr lang="en-US" altLang="zh-CN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 marL="274638" indent="-274638" algn="just">
              <a:lnSpc>
                <a:spcPct val="125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</a:rPr>
              <a:t>所以可以</a:t>
            </a:r>
            <a:r>
              <a:rPr lang="zh-CN" altLang="en-US" sz="2800" b="1" dirty="0">
                <a:latin typeface="黑体" pitchFamily="49" charset="-122"/>
              </a:rPr>
              <a:t>字符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</a:rPr>
              <a:t>数组名</a:t>
            </a:r>
            <a:r>
              <a:rPr lang="zh-CN" altLang="zh-CN" sz="2800" b="1" dirty="0">
                <a:solidFill>
                  <a:srgbClr val="FF0000"/>
                </a:solidFill>
                <a:latin typeface="Times New Roman" pitchFamily="18" charset="0"/>
              </a:rPr>
              <a:t>,</a:t>
            </a:r>
            <a:r>
              <a:rPr lang="zh-CN" altLang="zh-CN" sz="2800" b="1" dirty="0">
                <a:latin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</a:rPr>
              <a:t>或是某个数组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元素的地址</a:t>
            </a:r>
            <a:r>
              <a:rPr lang="en-US" altLang="zh-CN" sz="2800" b="1" dirty="0">
                <a:latin typeface="Times New Roman" pitchFamily="18" charset="0"/>
              </a:rPr>
              <a:t>,</a:t>
            </a:r>
            <a:r>
              <a:rPr lang="zh-CN" altLang="en-US" sz="2800" b="1" dirty="0">
                <a:latin typeface="黑体" pitchFamily="49" charset="-122"/>
              </a:rPr>
              <a:t>不能是数组元素名。</a:t>
            </a:r>
          </a:p>
          <a:p>
            <a:pPr marL="274638" indent="-274638" algn="just">
              <a:lnSpc>
                <a:spcPct val="125000"/>
              </a:lnSpc>
              <a:spcBef>
                <a:spcPct val="50000"/>
              </a:spcBef>
              <a:buSzPct val="85000"/>
              <a:buNone/>
            </a:pPr>
            <a:r>
              <a:rPr lang="zh-CN" altLang="en-US" sz="2800" b="1" dirty="0">
                <a:latin typeface="黑体" pitchFamily="49" charset="-122"/>
              </a:rPr>
              <a:t>          </a:t>
            </a: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printf</a:t>
            </a:r>
            <a:r>
              <a:rPr lang="zh-CN" altLang="zh-CN" sz="2800" b="1" dirty="0">
                <a:latin typeface="Times New Roman" pitchFamily="18" charset="0"/>
                <a:cs typeface="Courier New" pitchFamily="49" charset="0"/>
              </a:rPr>
              <a:t>(“</a:t>
            </a: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%s</a:t>
            </a:r>
            <a:r>
              <a:rPr lang="zh-CN" altLang="zh-CN" sz="2800" dirty="0">
                <a:cs typeface="Courier New" pitchFamily="49" charset="0"/>
              </a:rPr>
              <a:t>\</a:t>
            </a: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n</a:t>
            </a:r>
            <a:r>
              <a:rPr lang="zh-CN" altLang="zh-CN" sz="2800" b="1" dirty="0">
                <a:latin typeface="Times New Roman" pitchFamily="18" charset="0"/>
                <a:cs typeface="Courier New" pitchFamily="49" charset="0"/>
              </a:rPr>
              <a:t>” ,</a:t>
            </a:r>
            <a:r>
              <a:rPr lang="zh-CN" altLang="zh-CN" sz="2800" b="1" dirty="0">
                <a:cs typeface="Courier New" pitchFamily="49" charset="0"/>
              </a:rPr>
              <a:t> </a:t>
            </a: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a</a:t>
            </a:r>
            <a:r>
              <a:rPr lang="zh-CN" altLang="zh-CN" sz="2800" b="1" dirty="0">
                <a:latin typeface="黑体" pitchFamily="49" charset="-122"/>
              </a:rPr>
              <a:t>[</a:t>
            </a: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0</a:t>
            </a:r>
            <a:r>
              <a:rPr lang="zh-CN" altLang="zh-CN" sz="2800" b="1" dirty="0">
                <a:latin typeface="黑体" pitchFamily="49" charset="-122"/>
              </a:rPr>
              <a:t>]</a:t>
            </a:r>
            <a:r>
              <a:rPr lang="zh-CN" altLang="zh-CN" sz="2800" b="1" dirty="0">
                <a:latin typeface="Times New Roman" pitchFamily="18" charset="0"/>
                <a:cs typeface="Courier New" pitchFamily="49" charset="0"/>
              </a:rPr>
              <a:t>);</a:t>
            </a:r>
            <a:endParaRPr lang="zh-CN" altLang="zh-CN" sz="2800" b="1" dirty="0">
              <a:latin typeface="Times New Roman" pitchFamily="18" charset="0"/>
            </a:endParaRPr>
          </a:p>
          <a:p>
            <a:pPr marL="274638" indent="-274638" algn="just">
              <a:lnSpc>
                <a:spcPct val="130000"/>
              </a:lnSpc>
              <a:buClrTx/>
              <a:buSzTx/>
              <a:buNone/>
            </a:pPr>
            <a:r>
              <a:rPr lang="zh-CN" altLang="zh-CN" sz="2800" b="1" dirty="0">
                <a:latin typeface="黑体" pitchFamily="49" charset="-122"/>
              </a:rPr>
              <a:t>       </a:t>
            </a:r>
          </a:p>
        </p:txBody>
      </p:sp>
      <p:sp>
        <p:nvSpPr>
          <p:cNvPr id="364548" name="Text Box 4"/>
          <p:cNvSpPr txBox="1">
            <a:spLocks noChangeArrowheads="1"/>
          </p:cNvSpPr>
          <p:nvPr/>
        </p:nvSpPr>
        <p:spPr bwMode="auto">
          <a:xfrm>
            <a:off x="6744072" y="6021288"/>
            <a:ext cx="5334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4000" b="1" dirty="0">
                <a:solidFill>
                  <a:srgbClr val="FF0000"/>
                </a:solidFill>
                <a:ea typeface="宋体" pitchFamily="2" charset="-122"/>
              </a:rPr>
              <a:t>×</a:t>
            </a:r>
          </a:p>
        </p:txBody>
      </p:sp>
    </p:spTree>
    <p:extLst>
      <p:ext uri="{BB962C8B-B14F-4D97-AF65-F5344CB8AC3E}">
        <p14:creationId xmlns:p14="http://schemas.microsoft.com/office/powerpoint/2010/main" val="387517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36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4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>
          <a:xfrm>
            <a:off x="2379663" y="-15875"/>
            <a:ext cx="7924800" cy="776288"/>
          </a:xfrm>
        </p:spPr>
        <p:txBody>
          <a:bodyPr/>
          <a:lstStyle/>
          <a:p>
            <a:r>
              <a:rPr lang="zh-CN" altLang="en-US" sz="3200">
                <a:latin typeface="楷体_GB2312" pitchFamily="49" charset="-122"/>
              </a:rPr>
              <a:t>注意</a:t>
            </a:r>
            <a:r>
              <a:rPr lang="zh-CN" altLang="zh-CN" sz="3200">
                <a:latin typeface="楷体_GB2312" pitchFamily="49" charset="-122"/>
              </a:rPr>
              <a:t>:</a:t>
            </a:r>
          </a:p>
        </p:txBody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0425" y="1073151"/>
            <a:ext cx="8466138" cy="4716463"/>
          </a:xfrm>
        </p:spPr>
        <p:txBody>
          <a:bodyPr/>
          <a:lstStyle/>
          <a:p>
            <a:pPr marL="182563" indent="-182563">
              <a:lnSpc>
                <a:spcPct val="120000"/>
              </a:lnSpc>
              <a:spcBef>
                <a:spcPct val="10000"/>
              </a:spcBef>
            </a:pPr>
            <a:r>
              <a:rPr lang="zh-CN" altLang="zh-CN" sz="2800" b="1" dirty="0">
                <a:latin typeface="Times New Roman" pitchFamily="18" charset="0"/>
              </a:rPr>
              <a:t>%</a:t>
            </a:r>
            <a:r>
              <a:rPr lang="zh-CN" altLang="zh-CN" sz="2800" dirty="0"/>
              <a:t>s </a:t>
            </a:r>
            <a:r>
              <a:rPr lang="zh-CN" altLang="en-US" sz="2800" b="1" dirty="0"/>
              <a:t>输入字符串时</a:t>
            </a:r>
            <a:r>
              <a:rPr lang="zh-CN" altLang="zh-CN" sz="2000" b="1" dirty="0">
                <a:latin typeface="Times New Roman" pitchFamily="18" charset="0"/>
              </a:rPr>
              <a:t>,</a:t>
            </a:r>
            <a:r>
              <a:rPr lang="zh-CN" altLang="zh-CN" sz="1600" b="1" dirty="0">
                <a:latin typeface="Times New Roman" pitchFamily="18" charset="0"/>
              </a:rPr>
              <a:t>   </a:t>
            </a:r>
            <a:r>
              <a:rPr lang="zh-CN" altLang="en-US" sz="2800" b="1" dirty="0"/>
              <a:t>遇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空格</a:t>
            </a:r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回车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(\n)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Tab</a:t>
            </a:r>
            <a:r>
              <a:rPr lang="zh-CN" altLang="en-US" sz="2800" b="1" dirty="0"/>
              <a:t>结束输入</a:t>
            </a:r>
            <a:r>
              <a:rPr lang="zh-CN" altLang="en-US" sz="2400" b="1" dirty="0">
                <a:latin typeface="黑体" pitchFamily="49" charset="-122"/>
              </a:rPr>
              <a:t>。</a:t>
            </a:r>
          </a:p>
          <a:p>
            <a:pPr marL="182563" indent="-182563" algn="just">
              <a:lnSpc>
                <a:spcPct val="110000"/>
              </a:lnSpc>
              <a:spcBef>
                <a:spcPct val="0"/>
              </a:spcBef>
              <a:buSzPct val="85000"/>
              <a:buNone/>
            </a:pPr>
            <a:r>
              <a:rPr lang="zh-CN" altLang="en-US" sz="2800" b="1" dirty="0">
                <a:latin typeface="黑体" pitchFamily="49" charset="-122"/>
              </a:rPr>
              <a:t>    </a:t>
            </a:r>
            <a:r>
              <a:rPr lang="zh-CN" altLang="en-US" sz="1200" b="1" dirty="0">
                <a:latin typeface="黑体" pitchFamily="49" charset="-122"/>
              </a:rPr>
              <a:t> </a:t>
            </a:r>
            <a:r>
              <a:rPr lang="zh-CN" altLang="en-US" sz="2800" b="1" dirty="0">
                <a:latin typeface="黑体" pitchFamily="49" charset="-122"/>
              </a:rPr>
              <a:t>不能接收空格。</a:t>
            </a:r>
            <a:r>
              <a:rPr lang="zh-CN" b="1" dirty="0">
                <a:latin typeface="宋体" pitchFamily="2" charset="-122"/>
              </a:rPr>
              <a:t> </a:t>
            </a:r>
            <a:endParaRPr lang="zh-CN" altLang="en-US" sz="2800" b="1" dirty="0"/>
          </a:p>
          <a:p>
            <a:pPr marL="182563" indent="-182563">
              <a:spcBef>
                <a:spcPct val="50000"/>
              </a:spcBef>
              <a:buNone/>
            </a:pPr>
            <a:r>
              <a:rPr lang="zh-CN" altLang="en-US" sz="2800" b="1" dirty="0"/>
              <a:t>       </a:t>
            </a:r>
            <a:r>
              <a:rPr lang="zh-CN" altLang="en-US" sz="2000" b="1" dirty="0"/>
              <a:t>  </a:t>
            </a:r>
            <a:r>
              <a:rPr lang="zh-CN" altLang="en-US" sz="2800" b="1" dirty="0"/>
              <a:t>例</a:t>
            </a:r>
            <a:r>
              <a:rPr lang="zh-CN" altLang="zh-CN" sz="2800" b="1" dirty="0">
                <a:latin typeface="Times New Roman" pitchFamily="18" charset="0"/>
              </a:rPr>
              <a:t>: </a:t>
            </a:r>
            <a:r>
              <a:rPr lang="zh-CN" altLang="zh-CN" sz="2800" b="1" dirty="0"/>
              <a:t>  </a:t>
            </a:r>
            <a:r>
              <a:rPr lang="zh-CN" altLang="zh-CN" sz="2800" b="1" dirty="0">
                <a:latin typeface="Arial" pitchFamily="34" charset="0"/>
              </a:rPr>
              <a:t>char</a:t>
            </a:r>
            <a:r>
              <a:rPr lang="zh-CN" altLang="zh-CN" sz="2800" b="1" dirty="0"/>
              <a:t>  c</a:t>
            </a:r>
            <a:r>
              <a:rPr lang="zh-CN" altLang="zh-CN" sz="2800" b="1" dirty="0">
                <a:latin typeface="黑体" pitchFamily="49" charset="-122"/>
              </a:rPr>
              <a:t>[</a:t>
            </a:r>
            <a:r>
              <a:rPr lang="zh-CN" altLang="zh-CN" sz="2800" b="1" dirty="0">
                <a:latin typeface="Arial" pitchFamily="34" charset="0"/>
              </a:rPr>
              <a:t>6</a:t>
            </a:r>
            <a:r>
              <a:rPr lang="zh-CN" altLang="zh-CN" sz="2800" b="1" dirty="0">
                <a:latin typeface="黑体" pitchFamily="49" charset="-122"/>
              </a:rPr>
              <a:t>]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 marL="182563" indent="-182563" algn="just">
              <a:spcBef>
                <a:spcPct val="25000"/>
              </a:spcBef>
              <a:buNone/>
            </a:pPr>
            <a:r>
              <a:rPr lang="zh-CN" altLang="zh-CN" sz="2800" b="1" dirty="0"/>
              <a:t>                </a:t>
            </a:r>
            <a:r>
              <a:rPr lang="zh-CN" altLang="zh-CN" sz="2800" b="1" dirty="0">
                <a:latin typeface="Arial" pitchFamily="34" charset="0"/>
              </a:rPr>
              <a:t>scanf</a:t>
            </a:r>
            <a:r>
              <a:rPr lang="zh-CN" altLang="zh-CN" sz="2800" b="1" dirty="0">
                <a:latin typeface="Times New Roman" pitchFamily="18" charset="0"/>
              </a:rPr>
              <a:t>(“</a:t>
            </a:r>
            <a:r>
              <a:rPr lang="zh-CN" altLang="zh-CN" sz="2800" b="1" dirty="0"/>
              <a:t>%s</a:t>
            </a:r>
            <a:r>
              <a:rPr lang="zh-CN" altLang="zh-CN" sz="2800" b="1" dirty="0">
                <a:latin typeface="Times New Roman" pitchFamily="18" charset="0"/>
              </a:rPr>
              <a:t>”,</a:t>
            </a:r>
            <a:r>
              <a:rPr lang="zh-CN" altLang="zh-CN" sz="2800" b="1" dirty="0"/>
              <a:t> c </a:t>
            </a:r>
            <a:r>
              <a:rPr lang="zh-CN" altLang="zh-CN" sz="2800" b="1" dirty="0">
                <a:latin typeface="Times New Roman" pitchFamily="18" charset="0"/>
              </a:rPr>
              <a:t>) ;</a:t>
            </a:r>
          </a:p>
          <a:p>
            <a:pPr marL="182563" indent="-182563" algn="just">
              <a:spcBef>
                <a:spcPct val="0"/>
              </a:spcBef>
              <a:buNone/>
            </a:pPr>
            <a:r>
              <a:rPr lang="zh-CN" altLang="zh-CN" b="1" dirty="0"/>
              <a:t>        </a:t>
            </a:r>
          </a:p>
        </p:txBody>
      </p:sp>
      <p:sp>
        <p:nvSpPr>
          <p:cNvPr id="365572" name="Rectangle 4"/>
          <p:cNvSpPr>
            <a:spLocks noChangeArrowheads="1"/>
          </p:cNvSpPr>
          <p:nvPr/>
        </p:nvSpPr>
        <p:spPr bwMode="auto">
          <a:xfrm>
            <a:off x="2894013" y="3686175"/>
            <a:ext cx="7059612" cy="177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</a:rPr>
              <a:t>若输入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FFCF01"/>
                </a:solidFill>
              </a:rPr>
              <a:t>          </a:t>
            </a:r>
            <a:r>
              <a:rPr lang="zh-CN" altLang="zh-CN" sz="2800" b="1">
                <a:solidFill>
                  <a:srgbClr val="2F2FBD"/>
                </a:solidFill>
              </a:rPr>
              <a:t>very</a:t>
            </a:r>
            <a:r>
              <a:rPr lang="zh-CN" altLang="zh-CN" sz="2800" baseline="-30000">
                <a:solidFill>
                  <a:srgbClr val="2F2FBD"/>
                </a:solidFill>
              </a:rPr>
              <a:t>︺</a:t>
            </a:r>
            <a:r>
              <a:rPr lang="zh-CN" altLang="zh-CN" sz="2800" b="1">
                <a:solidFill>
                  <a:srgbClr val="2F2FBD"/>
                </a:solidFill>
              </a:rPr>
              <a:t>good</a:t>
            </a:r>
            <a:r>
              <a:rPr lang="zh-CN" altLang="zh-CN" sz="2800" b="1">
                <a:solidFill>
                  <a:srgbClr val="000000"/>
                </a:solidFill>
              </a:rPr>
              <a:t>↙</a:t>
            </a:r>
          </a:p>
          <a:p>
            <a:pPr fontAlgn="base">
              <a:spcBef>
                <a:spcPct val="5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</a:rPr>
              <a:t>则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</a:rPr>
              <a:t>          c</a:t>
            </a:r>
            <a:r>
              <a:rPr lang="zh-CN" altLang="en-US" sz="2800" b="1">
                <a:solidFill>
                  <a:srgbClr val="000000"/>
                </a:solidFill>
              </a:rPr>
              <a:t>存放的有效字符为</a:t>
            </a:r>
            <a:r>
              <a:rPr lang="zh-CN" altLang="en-US" sz="2800" b="1">
                <a:solidFill>
                  <a:srgbClr val="000000"/>
                </a:solidFill>
                <a:latin typeface="Times New Roman" pitchFamily="18" charset="0"/>
              </a:rPr>
              <a:t>“</a:t>
            </a:r>
            <a:r>
              <a:rPr lang="zh-CN" altLang="zh-CN" sz="2800" b="1">
                <a:solidFill>
                  <a:srgbClr val="2F2FBD"/>
                </a:solidFill>
              </a:rPr>
              <a:t>very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”</a:t>
            </a:r>
            <a:r>
              <a:rPr lang="zh-CN" altLang="en-US" sz="2800" b="1">
                <a:solidFill>
                  <a:srgbClr val="000000"/>
                </a:solidFill>
              </a:rPr>
              <a:t>和</a:t>
            </a:r>
            <a:r>
              <a:rPr lang="zh-CN" altLang="en-US" sz="2800" b="1">
                <a:solidFill>
                  <a:srgbClr val="000000"/>
                </a:solidFill>
                <a:latin typeface="Times New Roman" pitchFamily="18" charset="0"/>
              </a:rPr>
              <a:t>‘</a:t>
            </a:r>
            <a:r>
              <a:rPr lang="zh-CN" altLang="zh-CN" sz="2800">
                <a:solidFill>
                  <a:srgbClr val="000000"/>
                </a:solidFill>
              </a:rPr>
              <a:t>\0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’</a:t>
            </a:r>
            <a:r>
              <a:rPr lang="zh-CN" altLang="zh-CN" sz="2800" b="1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365573" name="Text Box 5"/>
          <p:cNvSpPr txBox="1">
            <a:spLocks noChangeArrowheads="1"/>
          </p:cNvSpPr>
          <p:nvPr/>
        </p:nvSpPr>
        <p:spPr bwMode="auto">
          <a:xfrm>
            <a:off x="2894013" y="2332038"/>
            <a:ext cx="6819900" cy="3255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00"/>
                </a:solidFill>
              </a:rPr>
              <a:t>若    </a:t>
            </a:r>
            <a:r>
              <a:rPr lang="zh-CN" altLang="zh-CN" sz="2800" b="1" dirty="0">
                <a:solidFill>
                  <a:srgbClr val="C200C2"/>
                </a:solidFill>
                <a:latin typeface="Arial" pitchFamily="34" charset="0"/>
              </a:rPr>
              <a:t>char</a:t>
            </a:r>
            <a:r>
              <a:rPr lang="zh-CN" altLang="zh-CN" sz="2800" b="1" dirty="0">
                <a:solidFill>
                  <a:srgbClr val="C200C2"/>
                </a:solidFill>
              </a:rPr>
              <a:t>  </a:t>
            </a:r>
            <a:r>
              <a:rPr lang="zh-CN" altLang="zh-CN" sz="2800" b="1" dirty="0">
                <a:solidFill>
                  <a:srgbClr val="C200C2"/>
                </a:solidFill>
                <a:latin typeface="Arial" pitchFamily="34" charset="0"/>
              </a:rPr>
              <a:t>c1</a:t>
            </a:r>
            <a:r>
              <a:rPr lang="zh-CN" altLang="zh-CN" sz="2800" b="1" dirty="0">
                <a:solidFill>
                  <a:srgbClr val="C200C2"/>
                </a:solidFill>
                <a:latin typeface="黑体" pitchFamily="49" charset="-122"/>
              </a:rPr>
              <a:t>[</a:t>
            </a:r>
            <a:r>
              <a:rPr lang="zh-CN" altLang="zh-CN" sz="2800" b="1" dirty="0">
                <a:solidFill>
                  <a:srgbClr val="C200C2"/>
                </a:solidFill>
                <a:latin typeface="Arial" pitchFamily="34" charset="0"/>
              </a:rPr>
              <a:t>6</a:t>
            </a:r>
            <a:r>
              <a:rPr lang="zh-CN" altLang="zh-CN" sz="2800" b="1" dirty="0">
                <a:solidFill>
                  <a:srgbClr val="C200C2"/>
                </a:solidFill>
                <a:latin typeface="黑体" pitchFamily="49" charset="-122"/>
              </a:rPr>
              <a:t>]</a:t>
            </a:r>
            <a:r>
              <a:rPr lang="zh-CN" altLang="zh-CN" sz="2800" b="1" dirty="0">
                <a:solidFill>
                  <a:srgbClr val="C200C2"/>
                </a:solidFill>
              </a:rPr>
              <a:t> 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800" b="1" dirty="0">
                <a:solidFill>
                  <a:srgbClr val="C200C2"/>
                </a:solidFill>
                <a:latin typeface="Times New Roman" pitchFamily="18" charset="0"/>
              </a:rPr>
              <a:t> </a:t>
            </a:r>
            <a:r>
              <a:rPr lang="zh-CN" altLang="zh-CN" sz="2800" b="1" dirty="0">
                <a:solidFill>
                  <a:srgbClr val="C200C2"/>
                </a:solidFill>
                <a:latin typeface="Arial" pitchFamily="34" charset="0"/>
              </a:rPr>
              <a:t>c2</a:t>
            </a:r>
            <a:r>
              <a:rPr lang="zh-CN" altLang="zh-CN" sz="2800" b="1" dirty="0">
                <a:solidFill>
                  <a:srgbClr val="C200C2"/>
                </a:solidFill>
                <a:latin typeface="黑体" pitchFamily="49" charset="-122"/>
              </a:rPr>
              <a:t>[</a:t>
            </a:r>
            <a:r>
              <a:rPr lang="zh-CN" altLang="zh-CN" sz="2800" b="1" dirty="0">
                <a:solidFill>
                  <a:srgbClr val="C200C2"/>
                </a:solidFill>
                <a:latin typeface="Arial" pitchFamily="34" charset="0"/>
              </a:rPr>
              <a:t>6</a:t>
            </a:r>
            <a:r>
              <a:rPr lang="zh-CN" altLang="zh-CN" sz="2800" b="1" dirty="0">
                <a:solidFill>
                  <a:srgbClr val="C200C2"/>
                </a:solidFill>
                <a:latin typeface="黑体" pitchFamily="49" charset="-122"/>
              </a:rPr>
              <a:t>]</a:t>
            </a:r>
            <a:r>
              <a:rPr lang="zh-CN" altLang="zh-CN" sz="2800" b="1" dirty="0">
                <a:solidFill>
                  <a:srgbClr val="C200C2"/>
                </a:solidFill>
              </a:rPr>
              <a:t> 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  <a:p>
            <a:pPr algn="just" fontAlgn="base">
              <a:spcBef>
                <a:spcPct val="2000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C200C2"/>
                </a:solidFill>
              </a:rPr>
              <a:t>      </a:t>
            </a:r>
            <a:r>
              <a:rPr lang="zh-CN" altLang="zh-CN" b="1" dirty="0">
                <a:solidFill>
                  <a:srgbClr val="C200C2"/>
                </a:solidFill>
              </a:rPr>
              <a:t>  </a:t>
            </a:r>
            <a:r>
              <a:rPr lang="zh-CN" altLang="zh-CN" sz="2800" b="1" dirty="0">
                <a:solidFill>
                  <a:srgbClr val="C200C2"/>
                </a:solidFill>
                <a:latin typeface="Arial" pitchFamily="34" charset="0"/>
              </a:rPr>
              <a:t>scanf</a:t>
            </a:r>
            <a:r>
              <a:rPr lang="zh-CN" altLang="zh-CN" sz="2800" b="1" dirty="0">
                <a:solidFill>
                  <a:srgbClr val="C200C2"/>
                </a:solidFill>
                <a:latin typeface="Times New Roman" pitchFamily="18" charset="0"/>
              </a:rPr>
              <a:t>(“</a:t>
            </a:r>
            <a:r>
              <a:rPr lang="zh-CN" altLang="zh-CN" sz="2800" b="1" dirty="0">
                <a:solidFill>
                  <a:srgbClr val="C200C2"/>
                </a:solidFill>
                <a:latin typeface="Arial" pitchFamily="34" charset="0"/>
              </a:rPr>
              <a:t>%s%s</a:t>
            </a:r>
            <a:r>
              <a:rPr lang="zh-CN" altLang="zh-CN" sz="2800" b="1" dirty="0">
                <a:solidFill>
                  <a:srgbClr val="C200C2"/>
                </a:solidFill>
                <a:latin typeface="Times New Roman" pitchFamily="18" charset="0"/>
              </a:rPr>
              <a:t>”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800" b="1" dirty="0">
                <a:solidFill>
                  <a:srgbClr val="C200C2"/>
                </a:solidFill>
              </a:rPr>
              <a:t> </a:t>
            </a:r>
            <a:r>
              <a:rPr lang="zh-CN" altLang="zh-CN" sz="2800" b="1" dirty="0">
                <a:solidFill>
                  <a:srgbClr val="C200C2"/>
                </a:solidFill>
                <a:latin typeface="Arial" pitchFamily="34" charset="0"/>
              </a:rPr>
              <a:t>c1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800" b="1" dirty="0">
                <a:solidFill>
                  <a:srgbClr val="C200C2"/>
                </a:solidFill>
              </a:rPr>
              <a:t> </a:t>
            </a:r>
            <a:r>
              <a:rPr lang="zh-CN" altLang="zh-CN" sz="2800" b="1" dirty="0">
                <a:solidFill>
                  <a:srgbClr val="C200C2"/>
                </a:solidFill>
                <a:latin typeface="Arial" pitchFamily="34" charset="0"/>
              </a:rPr>
              <a:t>c2</a:t>
            </a:r>
            <a:r>
              <a:rPr lang="zh-CN" altLang="zh-CN" sz="2800" b="1" dirty="0">
                <a:solidFill>
                  <a:srgbClr val="C200C2"/>
                </a:solidFill>
                <a:latin typeface="Times New Roman" pitchFamily="18" charset="0"/>
              </a:rPr>
              <a:t>) 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  <a:p>
            <a:pPr algn="just" fontAlgn="base">
              <a:lnSpc>
                <a:spcPct val="95000"/>
              </a:lnSpc>
              <a:spcBef>
                <a:spcPct val="1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00"/>
                </a:solidFill>
              </a:rPr>
              <a:t>输入</a:t>
            </a:r>
            <a:r>
              <a:rPr lang="zh-CN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FFCF01"/>
                </a:solidFill>
              </a:rPr>
              <a:t>        </a:t>
            </a:r>
            <a:r>
              <a:rPr lang="zh-CN" altLang="zh-CN" sz="2800" b="1" dirty="0">
                <a:solidFill>
                  <a:srgbClr val="2F2FBD"/>
                </a:solidFill>
                <a:latin typeface="Arial" pitchFamily="34" charset="0"/>
                <a:ea typeface="Dotum" pitchFamily="34" charset="-127"/>
              </a:rPr>
              <a:t>a</a:t>
            </a:r>
            <a:r>
              <a:rPr lang="zh-CN" altLang="zh-CN" sz="2800" b="1" baseline="-30000" dirty="0">
                <a:solidFill>
                  <a:srgbClr val="2F2FBD"/>
                </a:solidFill>
              </a:rPr>
              <a:t>︺</a:t>
            </a:r>
            <a:r>
              <a:rPr lang="zh-CN" altLang="zh-CN" sz="2800" b="1" dirty="0">
                <a:solidFill>
                  <a:srgbClr val="2F2FBD"/>
                </a:solidFill>
                <a:latin typeface="Arial" pitchFamily="34" charset="0"/>
                <a:ea typeface="Dotum" pitchFamily="34" charset="-127"/>
              </a:rPr>
              <a:t>good</a:t>
            </a:r>
            <a:r>
              <a:rPr lang="zh-CN" altLang="zh-CN" sz="2800" b="1" baseline="-25000" dirty="0">
                <a:solidFill>
                  <a:srgbClr val="2F2FBD"/>
                </a:solidFill>
                <a:ea typeface="Dotum" pitchFamily="34" charset="-127"/>
              </a:rPr>
              <a:t>︺</a:t>
            </a:r>
            <a:r>
              <a:rPr lang="zh-CN" altLang="zh-CN" sz="2800" b="1" dirty="0">
                <a:solidFill>
                  <a:srgbClr val="2F2FBD"/>
                </a:solidFill>
                <a:latin typeface="Arial" pitchFamily="34" charset="0"/>
                <a:ea typeface="Dotum" pitchFamily="34" charset="-127"/>
              </a:rPr>
              <a:t>book</a:t>
            </a:r>
            <a:r>
              <a:rPr lang="zh-CN" altLang="zh-CN" sz="2800" b="1" dirty="0">
                <a:solidFill>
                  <a:srgbClr val="2F2FBD"/>
                </a:solidFill>
              </a:rPr>
              <a:t>↙</a:t>
            </a:r>
          </a:p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 sz="2800" b="1" dirty="0">
              <a:solidFill>
                <a:srgbClr val="2F2FBD"/>
              </a:solidFill>
            </a:endParaRPr>
          </a:p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 sz="2800" b="1" dirty="0">
              <a:solidFill>
                <a:srgbClr val="2F2FBD"/>
              </a:solidFill>
            </a:endParaRPr>
          </a:p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 sz="2800" b="1" dirty="0">
              <a:solidFill>
                <a:srgbClr val="2F2FBD"/>
              </a:solidFill>
            </a:endParaRPr>
          </a:p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 sz="2800" b="1" dirty="0">
              <a:solidFill>
                <a:srgbClr val="2F2FBD"/>
              </a:solidFill>
            </a:endParaRPr>
          </a:p>
        </p:txBody>
      </p:sp>
      <p:sp>
        <p:nvSpPr>
          <p:cNvPr id="365574" name="Rectangle 6"/>
          <p:cNvSpPr>
            <a:spLocks noChangeArrowheads="1"/>
          </p:cNvSpPr>
          <p:nvPr/>
        </p:nvSpPr>
        <p:spPr bwMode="auto">
          <a:xfrm>
            <a:off x="2851150" y="4249738"/>
            <a:ext cx="6096000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9900"/>
              </a:buClr>
              <a:buFont typeface="Wingdings" pitchFamily="2" charset="2"/>
              <a:buNone/>
            </a:pPr>
            <a:r>
              <a:rPr lang="zh-CN" altLang="zh-CN" sz="2800" b="1">
                <a:solidFill>
                  <a:srgbClr val="000000"/>
                </a:solidFill>
                <a:ea typeface="Dotum" pitchFamily="34" charset="-127"/>
              </a:rPr>
              <a:t>      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printf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(“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%</a:t>
            </a:r>
            <a:r>
              <a:rPr lang="zh-CN" altLang="zh-CN" sz="2800" b="1">
                <a:solidFill>
                  <a:srgbClr val="000000"/>
                </a:solidFill>
                <a:ea typeface="Dotum" pitchFamily="34" charset="-127"/>
              </a:rPr>
              <a:t>s</a:t>
            </a:r>
            <a:r>
              <a:rPr lang="zh-CN" altLang="zh-CN" sz="2000" b="1">
                <a:solidFill>
                  <a:srgbClr val="000000"/>
                </a:solidFill>
                <a:ea typeface="Dotum" pitchFamily="34" charset="-127"/>
              </a:rPr>
              <a:t> 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%</a:t>
            </a:r>
            <a:r>
              <a:rPr lang="zh-CN" altLang="zh-CN" sz="2800" b="1">
                <a:solidFill>
                  <a:srgbClr val="000000"/>
                </a:solidFill>
                <a:ea typeface="Dotum" pitchFamily="34" charset="-127"/>
              </a:rPr>
              <a:t>s</a:t>
            </a:r>
            <a:r>
              <a:rPr lang="zh-CN" altLang="zh-CN" sz="2800">
                <a:solidFill>
                  <a:srgbClr val="000000"/>
                </a:solidFill>
                <a:ea typeface="Dotum" pitchFamily="34" charset="-127"/>
              </a:rPr>
              <a:t>\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n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”,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c1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,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c2</a:t>
            </a:r>
            <a:r>
              <a:rPr lang="zh-CN" altLang="zh-CN" sz="2800" b="1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);      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9900"/>
              </a:buClr>
              <a:buFont typeface="Wingdings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  <a:latin typeface="黑体" pitchFamily="49" charset="-122"/>
              </a:rPr>
              <a:t>输出</a:t>
            </a:r>
            <a:r>
              <a:rPr lang="zh-CN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zh-CN" sz="9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 </a:t>
            </a:r>
            <a:r>
              <a:rPr lang="zh-CN" altLang="zh-CN" sz="2800" b="1">
                <a:solidFill>
                  <a:srgbClr val="2F2FBD"/>
                </a:solidFill>
                <a:latin typeface="Arial" pitchFamily="34" charset="0"/>
                <a:ea typeface="Dotum" pitchFamily="34" charset="-127"/>
              </a:rPr>
              <a:t>a good</a:t>
            </a:r>
          </a:p>
        </p:txBody>
      </p:sp>
      <p:graphicFrame>
        <p:nvGraphicFramePr>
          <p:cNvPr id="365575" name="Group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278702"/>
              </p:ext>
            </p:extLst>
          </p:nvPr>
        </p:nvGraphicFramePr>
        <p:xfrm>
          <a:off x="6507163" y="5051425"/>
          <a:ext cx="3657600" cy="828676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57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34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F2FBD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F2FBD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不定</a:t>
                      </a:r>
                      <a:endParaRPr kumimoji="0" 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不定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不定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不定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F2FBD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g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F2FBD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F2FBD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F2FBD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F2FBD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不定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5598" name="Text Box 30"/>
          <p:cNvSpPr txBox="1">
            <a:spLocks noChangeArrowheads="1"/>
          </p:cNvSpPr>
          <p:nvPr/>
        </p:nvSpPr>
        <p:spPr bwMode="auto">
          <a:xfrm>
            <a:off x="5880100" y="5478464"/>
            <a:ext cx="889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ea typeface="宋体" pitchFamily="2" charset="-122"/>
              </a:rPr>
              <a:t>c2</a:t>
            </a:r>
          </a:p>
        </p:txBody>
      </p:sp>
      <p:sp>
        <p:nvSpPr>
          <p:cNvPr id="365599" name="Text Box 31"/>
          <p:cNvSpPr txBox="1">
            <a:spLocks noChangeArrowheads="1"/>
          </p:cNvSpPr>
          <p:nvPr/>
        </p:nvSpPr>
        <p:spPr bwMode="auto">
          <a:xfrm>
            <a:off x="5868989" y="5054601"/>
            <a:ext cx="803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ea typeface="宋体" pitchFamily="2" charset="-122"/>
              </a:rPr>
              <a:t>c1</a:t>
            </a:r>
          </a:p>
        </p:txBody>
      </p:sp>
    </p:spTree>
    <p:extLst>
      <p:ext uri="{BB962C8B-B14F-4D97-AF65-F5344CB8AC3E}">
        <p14:creationId xmlns:p14="http://schemas.microsoft.com/office/powerpoint/2010/main" val="292433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2" grpId="0" build="p" autoUpdateAnimBg="0"/>
      <p:bldP spid="365573" grpId="0" build="p" animBg="1" autoUpdateAnimBg="0"/>
      <p:bldP spid="365574" grpId="0" build="p" autoUpdateAnimBg="0"/>
      <p:bldP spid="365598" grpId="0" autoUpdateAnimBg="0"/>
      <p:bldP spid="36559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/>
          <p:cNvSpPr>
            <a:spLocks noGrp="1" noChangeArrowheads="1"/>
          </p:cNvSpPr>
          <p:nvPr>
            <p:ph type="title"/>
          </p:nvPr>
        </p:nvSpPr>
        <p:spPr>
          <a:xfrm>
            <a:off x="2359025" y="100014"/>
            <a:ext cx="7848600" cy="676275"/>
          </a:xfrm>
        </p:spPr>
        <p:txBody>
          <a:bodyPr/>
          <a:lstStyle/>
          <a:p>
            <a:r>
              <a:rPr lang="zh-CN" altLang="en-US" sz="3200">
                <a:latin typeface="楷体_GB2312" pitchFamily="49" charset="-122"/>
              </a:rPr>
              <a:t>注意</a:t>
            </a:r>
            <a:r>
              <a:rPr lang="zh-CN" altLang="zh-CN" sz="3200">
                <a:latin typeface="楷体_GB2312" pitchFamily="49" charset="-122"/>
              </a:rPr>
              <a:t>:</a:t>
            </a:r>
          </a:p>
        </p:txBody>
      </p:sp>
      <p:sp>
        <p:nvSpPr>
          <p:cNvPr id="366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00263" y="1073150"/>
            <a:ext cx="8081962" cy="5213350"/>
          </a:xfrm>
        </p:spPr>
        <p:txBody>
          <a:bodyPr/>
          <a:lstStyle/>
          <a:p>
            <a:pPr marL="274638" indent="-274638">
              <a:lnSpc>
                <a:spcPct val="115000"/>
              </a:lnSpc>
            </a:pPr>
            <a:r>
              <a:rPr lang="zh-CN" altLang="en-US" sz="2800" b="1" dirty="0">
                <a:latin typeface="黑体" pitchFamily="49" charset="-122"/>
              </a:rPr>
              <a:t>若一个字符数组中含有一个或多个</a:t>
            </a:r>
            <a:r>
              <a:rPr lang="zh-CN" altLang="en-US" sz="2800" b="1" dirty="0">
                <a:latin typeface="Times New Roman"/>
              </a:rPr>
              <a:t>“</a:t>
            </a:r>
            <a:r>
              <a:rPr lang="zh-CN" altLang="zh-CN" sz="2800" b="1" dirty="0">
                <a:latin typeface="黑体" pitchFamily="49" charset="-122"/>
              </a:rPr>
              <a:t>\0</a:t>
            </a:r>
            <a:r>
              <a:rPr lang="zh-CN" altLang="zh-CN" sz="2800" b="1" dirty="0">
                <a:latin typeface="Times New Roman"/>
              </a:rPr>
              <a:t>”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en-US" sz="2800" b="1" dirty="0">
                <a:latin typeface="黑体" pitchFamily="49" charset="-122"/>
              </a:rPr>
              <a:t>则遇到第一个</a:t>
            </a:r>
            <a:r>
              <a:rPr lang="zh-CN" altLang="en-US" sz="2800" b="1" dirty="0">
                <a:latin typeface="Times New Roman"/>
              </a:rPr>
              <a:t>“</a:t>
            </a:r>
            <a:r>
              <a:rPr lang="zh-CN" altLang="zh-CN" sz="2800" b="1" dirty="0">
                <a:latin typeface="黑体" pitchFamily="49" charset="-122"/>
              </a:rPr>
              <a:t>\0</a:t>
            </a:r>
            <a:r>
              <a:rPr lang="zh-CN" altLang="zh-CN" sz="2800" b="1" dirty="0">
                <a:latin typeface="Times New Roman"/>
              </a:rPr>
              <a:t>”</a:t>
            </a:r>
            <a:r>
              <a:rPr lang="zh-CN" altLang="en-US" sz="2800" b="1" dirty="0">
                <a:latin typeface="黑体" pitchFamily="49" charset="-122"/>
              </a:rPr>
              <a:t>时结束输出。</a:t>
            </a:r>
          </a:p>
          <a:p>
            <a:pPr marL="274638" indent="-274638" algn="just">
              <a:lnSpc>
                <a:spcPct val="110000"/>
              </a:lnSpc>
              <a:spcBef>
                <a:spcPct val="40000"/>
              </a:spcBef>
              <a:buClrTx/>
              <a:buSzTx/>
              <a:buNone/>
            </a:pPr>
            <a:r>
              <a:rPr lang="zh-CN" altLang="en-US" sz="2800" b="1" dirty="0">
                <a:latin typeface="Arial" pitchFamily="34" charset="0"/>
              </a:rPr>
              <a:t>      </a:t>
            </a:r>
            <a:r>
              <a:rPr lang="zh-CN" altLang="zh-CN" sz="2800" b="1" dirty="0">
                <a:latin typeface="Arial" pitchFamily="34" charset="0"/>
              </a:rPr>
              <a:t>#include</a:t>
            </a:r>
            <a:r>
              <a:rPr lang="zh-CN" altLang="zh-CN" sz="2800" b="1" dirty="0"/>
              <a:t> </a:t>
            </a:r>
            <a:r>
              <a:rPr lang="zh-CN" altLang="zh-CN" sz="2800" dirty="0"/>
              <a:t>&lt;</a:t>
            </a:r>
            <a:r>
              <a:rPr lang="zh-CN" altLang="zh-CN" sz="2800" b="1" dirty="0">
                <a:latin typeface="Arial" pitchFamily="34" charset="0"/>
              </a:rPr>
              <a:t>stdio</a:t>
            </a:r>
            <a:r>
              <a:rPr lang="zh-CN" altLang="zh-CN" sz="2800" b="1" dirty="0">
                <a:latin typeface="Times New Roman" pitchFamily="18" charset="0"/>
              </a:rPr>
              <a:t>.</a:t>
            </a:r>
            <a:r>
              <a:rPr lang="zh-CN" altLang="zh-CN" sz="2800" b="1" dirty="0">
                <a:latin typeface="Arial" pitchFamily="34" charset="0"/>
              </a:rPr>
              <a:t>h</a:t>
            </a:r>
            <a:r>
              <a:rPr lang="zh-CN" altLang="zh-CN" sz="2800" dirty="0"/>
              <a:t>&gt;</a:t>
            </a:r>
            <a:r>
              <a:rPr lang="zh-CN" altLang="zh-CN" sz="2800" b="1" dirty="0">
                <a:latin typeface="Times New Roman" pitchFamily="18" charset="0"/>
                <a:cs typeface="Courier New" pitchFamily="49" charset="0"/>
              </a:rPr>
              <a:t> </a:t>
            </a:r>
          </a:p>
          <a:p>
            <a:pPr marL="274638" indent="-274638" algn="just">
              <a:lnSpc>
                <a:spcPct val="110000"/>
              </a:lnSpc>
              <a:spcBef>
                <a:spcPct val="5000"/>
              </a:spcBef>
              <a:buClrTx/>
              <a:buSzTx/>
              <a:buNone/>
            </a:pPr>
            <a:r>
              <a:rPr lang="en-US" altLang="zh-CN" sz="2800" b="1" dirty="0">
                <a:latin typeface="Arial" pitchFamily="34" charset="0"/>
                <a:cs typeface="Courier New" pitchFamily="49" charset="0"/>
              </a:rPr>
              <a:t>      </a:t>
            </a: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main</a:t>
            </a:r>
            <a:r>
              <a:rPr lang="zh-CN" altLang="zh-CN" sz="2800" b="1" dirty="0">
                <a:latin typeface="Times New Roman" pitchFamily="18" charset="0"/>
                <a:cs typeface="Courier New" pitchFamily="49" charset="0"/>
              </a:rPr>
              <a:t>( )</a:t>
            </a:r>
          </a:p>
          <a:p>
            <a:pPr marL="274638" indent="-274638" algn="just">
              <a:lnSpc>
                <a:spcPct val="110000"/>
              </a:lnSpc>
              <a:spcBef>
                <a:spcPct val="15000"/>
              </a:spcBef>
              <a:buClrTx/>
              <a:buSzTx/>
              <a:buNone/>
            </a:pPr>
            <a:r>
              <a:rPr lang="zh-CN" altLang="zh-CN" sz="2800" b="1" dirty="0">
                <a:cs typeface="Courier New" pitchFamily="49" charset="0"/>
              </a:rPr>
              <a:t>      { </a:t>
            </a: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char</a:t>
            </a:r>
            <a:r>
              <a:rPr lang="zh-CN" altLang="zh-CN" sz="2800" b="1" dirty="0">
                <a:cs typeface="Courier New" pitchFamily="49" charset="0"/>
              </a:rPr>
              <a:t>  </a:t>
            </a: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a</a:t>
            </a:r>
            <a:r>
              <a:rPr lang="zh-CN" altLang="zh-CN" sz="2800" b="1" dirty="0">
                <a:latin typeface="黑体" pitchFamily="49" charset="-122"/>
              </a:rPr>
              <a:t>[</a:t>
            </a: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10</a:t>
            </a:r>
            <a:r>
              <a:rPr lang="zh-CN" altLang="zh-CN" sz="2800" b="1" dirty="0">
                <a:latin typeface="黑体" pitchFamily="49" charset="-122"/>
              </a:rPr>
              <a:t>]</a:t>
            </a:r>
            <a:r>
              <a:rPr lang="zh-CN" altLang="zh-CN" sz="2800" b="1" dirty="0">
                <a:cs typeface="Courier New" pitchFamily="49" charset="0"/>
              </a:rPr>
              <a:t>=</a:t>
            </a:r>
            <a:r>
              <a:rPr lang="zh-CN" altLang="zh-CN" sz="2800" dirty="0">
                <a:cs typeface="Courier New" pitchFamily="49" charset="0"/>
              </a:rPr>
              <a:t>{</a:t>
            </a:r>
            <a:r>
              <a:rPr lang="zh-CN" altLang="zh-CN" sz="2800" b="1" dirty="0">
                <a:latin typeface="Times New Roman" pitchFamily="18" charset="0"/>
                <a:cs typeface="Courier New" pitchFamily="49" charset="0"/>
              </a:rPr>
              <a:t>“</a:t>
            </a: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Boy</a:t>
            </a:r>
            <a:r>
              <a:rPr lang="zh-CN" altLang="zh-CN" sz="2800" dirty="0">
                <a:solidFill>
                  <a:schemeClr val="hlink"/>
                </a:solidFill>
                <a:cs typeface="Courier New" pitchFamily="49" charset="0"/>
              </a:rPr>
              <a:t>\0</a:t>
            </a: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abc</a:t>
            </a:r>
            <a:r>
              <a:rPr lang="zh-CN" altLang="zh-CN" sz="2800" b="1" dirty="0">
                <a:latin typeface="Times New Roman" pitchFamily="18" charset="0"/>
                <a:cs typeface="Courier New" pitchFamily="49" charset="0"/>
              </a:rPr>
              <a:t>”</a:t>
            </a:r>
            <a:r>
              <a:rPr lang="zh-CN" altLang="zh-CN" sz="2800" dirty="0">
                <a:cs typeface="Courier New" pitchFamily="49" charset="0"/>
              </a:rPr>
              <a:t>}</a:t>
            </a:r>
            <a:r>
              <a:rPr lang="zh-CN" altLang="zh-CN" sz="2800" b="1" dirty="0">
                <a:latin typeface="Times New Roman" pitchFamily="18" charset="0"/>
                <a:cs typeface="Courier New" pitchFamily="49" charset="0"/>
              </a:rPr>
              <a:t>;</a:t>
            </a:r>
          </a:p>
          <a:p>
            <a:pPr marL="274638" indent="-274638" algn="just">
              <a:lnSpc>
                <a:spcPct val="115000"/>
              </a:lnSpc>
              <a:buClrTx/>
              <a:buSzTx/>
              <a:buNone/>
            </a:pPr>
            <a:r>
              <a:rPr lang="zh-CN" altLang="zh-CN" sz="2800" b="1" dirty="0">
                <a:cs typeface="Courier New" pitchFamily="49" charset="0"/>
              </a:rPr>
              <a:t>         </a:t>
            </a: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printf</a:t>
            </a:r>
            <a:r>
              <a:rPr lang="zh-CN" altLang="zh-CN" sz="2800" b="1" dirty="0">
                <a:latin typeface="Times New Roman" pitchFamily="18" charset="0"/>
                <a:cs typeface="Courier New" pitchFamily="49" charset="0"/>
              </a:rPr>
              <a:t>(“</a:t>
            </a: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%</a:t>
            </a:r>
            <a:r>
              <a:rPr lang="zh-CN" altLang="zh-CN" sz="2800" b="1" dirty="0">
                <a:cs typeface="Courier New" pitchFamily="49" charset="0"/>
              </a:rPr>
              <a:t>s</a:t>
            </a:r>
            <a:r>
              <a:rPr lang="zh-CN" altLang="zh-CN" sz="2800" b="1" dirty="0">
                <a:latin typeface="Times New Roman" pitchFamily="18" charset="0"/>
                <a:cs typeface="Courier New" pitchFamily="49" charset="0"/>
              </a:rPr>
              <a:t>”, </a:t>
            </a: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a</a:t>
            </a:r>
            <a:r>
              <a:rPr lang="zh-CN" altLang="zh-CN" sz="2800" b="1" dirty="0">
                <a:cs typeface="Courier New" pitchFamily="49" charset="0"/>
              </a:rPr>
              <a:t> </a:t>
            </a:r>
            <a:r>
              <a:rPr lang="zh-CN" altLang="zh-CN" sz="2800" b="1" dirty="0">
                <a:latin typeface="Times New Roman" pitchFamily="18" charset="0"/>
                <a:cs typeface="Courier New" pitchFamily="49" charset="0"/>
              </a:rPr>
              <a:t>);</a:t>
            </a:r>
          </a:p>
          <a:p>
            <a:pPr marL="274638" indent="-274638" algn="just">
              <a:lnSpc>
                <a:spcPct val="115000"/>
              </a:lnSpc>
              <a:buClrTx/>
              <a:buSzTx/>
              <a:buNone/>
            </a:pPr>
            <a:r>
              <a:rPr lang="zh-CN" altLang="zh-CN" sz="2800" b="1" dirty="0">
                <a:cs typeface="Courier New" pitchFamily="49" charset="0"/>
              </a:rPr>
              <a:t>         </a:t>
            </a: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printf</a:t>
            </a:r>
            <a:r>
              <a:rPr lang="zh-CN" altLang="zh-CN" sz="2800" b="1" dirty="0">
                <a:latin typeface="Times New Roman" pitchFamily="18" charset="0"/>
                <a:cs typeface="Courier New" pitchFamily="49" charset="0"/>
              </a:rPr>
              <a:t>(“</a:t>
            </a:r>
            <a:r>
              <a:rPr lang="zh-CN" altLang="zh-CN" sz="2800" dirty="0">
                <a:cs typeface="Courier New" pitchFamily="49" charset="0"/>
              </a:rPr>
              <a:t>\</a:t>
            </a: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n</a:t>
            </a:r>
            <a:r>
              <a:rPr lang="zh-CN" altLang="zh-CN" sz="2800" b="1" dirty="0">
                <a:latin typeface="Times New Roman" pitchFamily="18" charset="0"/>
                <a:cs typeface="Courier New" pitchFamily="49" charset="0"/>
              </a:rPr>
              <a:t>”);</a:t>
            </a:r>
          </a:p>
          <a:p>
            <a:pPr marL="274638" indent="-274638" algn="just">
              <a:lnSpc>
                <a:spcPct val="120000"/>
              </a:lnSpc>
              <a:spcBef>
                <a:spcPct val="10000"/>
              </a:spcBef>
              <a:buClrTx/>
              <a:buSzTx/>
              <a:buNone/>
            </a:pPr>
            <a:r>
              <a:rPr lang="zh-CN" altLang="zh-CN" sz="2800" b="1" dirty="0">
                <a:cs typeface="Courier New" pitchFamily="49" charset="0"/>
              </a:rPr>
              <a:t>       } </a:t>
            </a:r>
            <a:r>
              <a:rPr lang="zh-CN" altLang="en-US" sz="2400" b="1" dirty="0">
                <a:solidFill>
                  <a:srgbClr val="00009E"/>
                </a:solidFill>
                <a:latin typeface="楷体_GB2312" pitchFamily="49" charset="-122"/>
                <a:ea typeface="楷体_GB2312" pitchFamily="49" charset="-122"/>
              </a:rPr>
              <a:t>输出结果</a:t>
            </a:r>
            <a:r>
              <a:rPr lang="zh-CN" altLang="zh-CN" sz="2400" b="1" dirty="0">
                <a:solidFill>
                  <a:srgbClr val="00009E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zh-CN" sz="2800" b="1" dirty="0">
                <a:solidFill>
                  <a:srgbClr val="0000AC"/>
                </a:solidFill>
                <a:latin typeface="Times New Roman" pitchFamily="18" charset="0"/>
              </a:rPr>
              <a:t>  </a:t>
            </a:r>
            <a:r>
              <a:rPr lang="zh-CN" altLang="zh-CN" sz="2800" b="1" dirty="0">
                <a:solidFill>
                  <a:srgbClr val="0000AC"/>
                </a:solidFill>
              </a:rPr>
              <a:t>Boy</a:t>
            </a:r>
          </a:p>
        </p:txBody>
      </p:sp>
    </p:spTree>
    <p:extLst>
      <p:ext uri="{BB962C8B-B14F-4D97-AF65-F5344CB8AC3E}">
        <p14:creationId xmlns:p14="http://schemas.microsoft.com/office/powerpoint/2010/main" val="2468284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>
          <a:xfrm>
            <a:off x="2325689" y="153988"/>
            <a:ext cx="7793037" cy="647700"/>
          </a:xfrm>
        </p:spPr>
        <p:txBody>
          <a:bodyPr/>
          <a:lstStyle/>
          <a:p>
            <a:r>
              <a:rPr lang="zh-CN" altLang="zh-CN" sz="28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.  </a:t>
            </a: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黑体" pitchFamily="49" charset="-122"/>
              </a:rPr>
              <a:t>字符串专用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  <a:ea typeface="黑体" pitchFamily="49" charset="-122"/>
              </a:rPr>
              <a:t>的输入和输出</a:t>
            </a:r>
            <a:r>
              <a:rPr lang="zh-CN" altLang="en-US" sz="28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函数</a:t>
            </a:r>
            <a:endParaRPr lang="zh-CN" altLang="en-US" sz="2800">
              <a:solidFill>
                <a:schemeClr val="tx1"/>
              </a:solidFill>
              <a:latin typeface="宋体" pitchFamily="2" charset="-122"/>
              <a:ea typeface="黑体" pitchFamily="49" charset="-122"/>
            </a:endParaRPr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00251" y="980728"/>
            <a:ext cx="8443912" cy="4899025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ct val="30000"/>
              </a:spcBef>
              <a:buSzPct val="50000"/>
            </a:pPr>
            <a:r>
              <a:rPr lang="zh-CN" altLang="zh-CN" sz="2800" b="1" dirty="0">
                <a:latin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</a:rPr>
              <a:t>字符串输入函数</a:t>
            </a:r>
          </a:p>
          <a:p>
            <a:pPr marL="533400" lvl="1" indent="-258763">
              <a:lnSpc>
                <a:spcPct val="115000"/>
              </a:lnSpc>
              <a:spcBef>
                <a:spcPct val="40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b="1" dirty="0">
                <a:latin typeface="Arial" pitchFamily="34" charset="0"/>
              </a:rPr>
              <a:t>格式</a:t>
            </a:r>
            <a:r>
              <a:rPr lang="zh-CN" altLang="zh-CN" b="1" dirty="0">
                <a:latin typeface="Times New Roman" pitchFamily="18" charset="0"/>
              </a:rPr>
              <a:t>:</a:t>
            </a:r>
            <a:r>
              <a:rPr lang="zh-CN" altLang="zh-CN" b="1" dirty="0">
                <a:solidFill>
                  <a:srgbClr val="000099"/>
                </a:solidFill>
                <a:latin typeface="Arial" pitchFamily="34" charset="0"/>
              </a:rPr>
              <a:t>       </a:t>
            </a:r>
          </a:p>
          <a:p>
            <a:pPr marL="533400" lvl="1" indent="-258763">
              <a:lnSpc>
                <a:spcPct val="85000"/>
              </a:lnSpc>
              <a:spcBef>
                <a:spcPct val="0"/>
              </a:spcBef>
              <a:buClr>
                <a:srgbClr val="008000"/>
              </a:buClr>
              <a:buSzPct val="85000"/>
              <a:buNone/>
            </a:pPr>
            <a:r>
              <a:rPr lang="zh-CN" altLang="zh-CN" b="1" dirty="0">
                <a:solidFill>
                  <a:srgbClr val="000099"/>
                </a:solidFill>
                <a:latin typeface="Arial" pitchFamily="34" charset="0"/>
              </a:rPr>
              <a:t>                     gets</a:t>
            </a:r>
            <a:r>
              <a:rPr lang="zh-CN" altLang="zh-CN" b="1" dirty="0">
                <a:solidFill>
                  <a:srgbClr val="000099"/>
                </a:solidFill>
                <a:latin typeface="Times New Roman" pitchFamily="18" charset="0"/>
              </a:rPr>
              <a:t>(</a:t>
            </a:r>
            <a:r>
              <a:rPr lang="zh-CN" altLang="en-US" b="1" dirty="0">
                <a:solidFill>
                  <a:srgbClr val="00009E"/>
                </a:solidFill>
                <a:latin typeface="Times New Roman" pitchFamily="18" charset="0"/>
              </a:rPr>
              <a:t>字符数组名</a:t>
            </a:r>
            <a:r>
              <a:rPr lang="zh-CN" altLang="zh-CN" b="1" dirty="0">
                <a:solidFill>
                  <a:srgbClr val="000099"/>
                </a:solidFill>
                <a:latin typeface="Times New Roman" pitchFamily="18" charset="0"/>
              </a:rPr>
              <a:t>)</a:t>
            </a:r>
            <a:r>
              <a:rPr lang="zh-CN" altLang="zh-CN" b="1" dirty="0">
                <a:latin typeface="Times New Roman" pitchFamily="18" charset="0"/>
              </a:rPr>
              <a:t>;</a:t>
            </a:r>
          </a:p>
          <a:p>
            <a:pPr marL="533400" lvl="1" indent="-258763">
              <a:lnSpc>
                <a:spcPct val="120000"/>
              </a:lnSpc>
              <a:spcBef>
                <a:spcPct val="70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b="1" dirty="0">
                <a:latin typeface="黑体" pitchFamily="49" charset="-122"/>
              </a:rPr>
              <a:t>作用</a:t>
            </a:r>
            <a:r>
              <a:rPr lang="zh-CN" altLang="zh-CN" b="1" dirty="0">
                <a:latin typeface="Times New Roman" pitchFamily="18" charset="0"/>
              </a:rPr>
              <a:t>:  </a:t>
            </a:r>
            <a:r>
              <a:rPr lang="zh-CN" altLang="en-US" b="1" dirty="0">
                <a:latin typeface="黑体" pitchFamily="49" charset="-122"/>
              </a:rPr>
              <a:t>将输入的字符串赋给字符数组。输入时</a:t>
            </a:r>
            <a:r>
              <a:rPr lang="zh-CN" altLang="zh-CN" b="1" dirty="0">
                <a:latin typeface="Times New Roman" pitchFamily="18" charset="0"/>
              </a:rPr>
              <a:t>,  </a:t>
            </a:r>
            <a:r>
              <a:rPr lang="zh-CN" altLang="en-US" b="1" dirty="0">
                <a:latin typeface="黑体" pitchFamily="49" charset="-122"/>
              </a:rPr>
              <a:t>遇</a:t>
            </a:r>
            <a:r>
              <a:rPr 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第一个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换行</a:t>
            </a:r>
            <a:r>
              <a:rPr 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符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（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\n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）</a:t>
            </a:r>
            <a:r>
              <a:rPr lang="zh-CN" altLang="en-US" b="1" dirty="0">
                <a:latin typeface="黑体" pitchFamily="49" charset="-122"/>
              </a:rPr>
              <a:t>结束输入。</a:t>
            </a:r>
            <a:r>
              <a:rPr lang="zh-CN" altLang="en-US" b="1" dirty="0">
                <a:latin typeface="宋体" pitchFamily="2" charset="-122"/>
              </a:rPr>
              <a:t>可接收</a:t>
            </a:r>
            <a:r>
              <a:rPr lang="zh-CN" altLang="en-US" b="1" dirty="0">
                <a:solidFill>
                  <a:srgbClr val="FF0000"/>
                </a:solidFill>
                <a:latin typeface="宋体" pitchFamily="2" charset="-122"/>
              </a:rPr>
              <a:t>空格</a:t>
            </a:r>
            <a:r>
              <a:rPr lang="zh-CN" altLang="en-US" b="1" dirty="0">
                <a:solidFill>
                  <a:srgbClr val="FF0000"/>
                </a:solidFill>
              </a:rPr>
              <a:t>、制表符</a:t>
            </a:r>
            <a:r>
              <a:rPr lang="zh-CN" altLang="en-US" b="1" dirty="0">
                <a:solidFill>
                  <a:srgbClr val="FF0000"/>
                </a:solidFill>
                <a:latin typeface="宋体" pitchFamily="2" charset="-122"/>
              </a:rPr>
              <a:t>。</a:t>
            </a:r>
          </a:p>
          <a:p>
            <a:pPr marL="0" indent="0" algn="just">
              <a:spcBef>
                <a:spcPct val="40000"/>
              </a:spcBef>
              <a:buClrTx/>
              <a:buSzTx/>
              <a:buNone/>
            </a:pPr>
            <a:r>
              <a:rPr lang="zh-CN" altLang="en-US" sz="2800" b="1" dirty="0">
                <a:latin typeface="宋体" pitchFamily="2" charset="-122"/>
              </a:rPr>
              <a:t>     </a:t>
            </a:r>
            <a:endParaRPr lang="zh-CN" altLang="en-US" sz="2800" b="1" dirty="0">
              <a:latin typeface="Times New Roman" pitchFamily="18" charset="0"/>
            </a:endParaRPr>
          </a:p>
        </p:txBody>
      </p:sp>
      <p:sp>
        <p:nvSpPr>
          <p:cNvPr id="367620" name="Rectangle 4"/>
          <p:cNvSpPr>
            <a:spLocks noChangeArrowheads="1"/>
          </p:cNvSpPr>
          <p:nvPr/>
        </p:nvSpPr>
        <p:spPr bwMode="auto">
          <a:xfrm>
            <a:off x="2308832" y="4437112"/>
            <a:ext cx="8666855" cy="2311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74638" indent="-274638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gets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(  )</a:t>
            </a:r>
            <a:r>
              <a:rPr lang="zh-CN" altLang="en-US" sz="2800" b="1">
                <a:solidFill>
                  <a:srgbClr val="000000"/>
                </a:solidFill>
                <a:latin typeface="Arial" pitchFamily="34" charset="0"/>
              </a:rPr>
              <a:t>函数同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scanf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(  )</a:t>
            </a:r>
            <a:r>
              <a:rPr lang="zh-CN" altLang="en-US" sz="2800" b="1">
                <a:solidFill>
                  <a:srgbClr val="000000"/>
                </a:solidFill>
                <a:latin typeface="Arial" pitchFamily="34" charset="0"/>
              </a:rPr>
              <a:t>函数一样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,  </a:t>
            </a:r>
            <a:r>
              <a:rPr lang="zh-CN" altLang="en-US" sz="2800" b="1">
                <a:solidFill>
                  <a:srgbClr val="000000"/>
                </a:solidFill>
                <a:latin typeface="Arial" pitchFamily="34" charset="0"/>
              </a:rPr>
              <a:t>在读入一个字符串后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,  </a:t>
            </a:r>
            <a:r>
              <a:rPr lang="zh-CN" altLang="en-US" sz="2800" b="1">
                <a:solidFill>
                  <a:srgbClr val="000000"/>
                </a:solidFill>
                <a:latin typeface="Arial" pitchFamily="34" charset="0"/>
              </a:rPr>
              <a:t>系统自动在字符串后加上一个字符串结束标志</a:t>
            </a:r>
            <a:r>
              <a:rPr lang="zh-CN" altLang="en-US" sz="2800" b="1">
                <a:solidFill>
                  <a:srgbClr val="000000"/>
                </a:solidFill>
                <a:latin typeface="Times New Roman" pitchFamily="18" charset="0"/>
              </a:rPr>
              <a:t>’</a:t>
            </a:r>
            <a:r>
              <a:rPr lang="zh-CN" altLang="zh-CN" sz="2800">
                <a:solidFill>
                  <a:srgbClr val="000000"/>
                </a:solidFill>
                <a:latin typeface="Arial" pitchFamily="34" charset="0"/>
              </a:rPr>
              <a:t>\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0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’</a:t>
            </a:r>
            <a:r>
              <a:rPr lang="zh-CN" altLang="en-US" sz="2800" b="1">
                <a:solidFill>
                  <a:srgbClr val="000000"/>
                </a:solidFill>
                <a:latin typeface="Arial" pitchFamily="34" charset="0"/>
              </a:rPr>
              <a:t>。 </a:t>
            </a:r>
          </a:p>
          <a:p>
            <a:pPr marL="274638" indent="-274638" fontAlgn="base">
              <a:lnSpc>
                <a:spcPct val="120000"/>
              </a:lnSpc>
              <a:spcBef>
                <a:spcPct val="3500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2800" b="1">
                <a:solidFill>
                  <a:srgbClr val="000000"/>
                </a:solidFill>
                <a:latin typeface="黑体" pitchFamily="49" charset="-122"/>
              </a:rPr>
              <a:t>函数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gets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( )</a:t>
            </a:r>
            <a:r>
              <a:rPr lang="zh-CN" altLang="en-US" sz="2800" b="1">
                <a:solidFill>
                  <a:srgbClr val="000000"/>
                </a:solidFill>
                <a:latin typeface="黑体" pitchFamily="49" charset="-122"/>
              </a:rPr>
              <a:t>只能一次输入一个字符串。</a:t>
            </a:r>
          </a:p>
        </p:txBody>
      </p:sp>
    </p:spTree>
    <p:extLst>
      <p:ext uri="{BB962C8B-B14F-4D97-AF65-F5344CB8AC3E}">
        <p14:creationId xmlns:p14="http://schemas.microsoft.com/office/powerpoint/2010/main" val="405548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2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>
          <a:xfrm>
            <a:off x="2351089" y="174626"/>
            <a:ext cx="7793037" cy="581025"/>
          </a:xfrm>
        </p:spPr>
        <p:txBody>
          <a:bodyPr/>
          <a:lstStyle/>
          <a:p>
            <a:r>
              <a:rPr lang="zh-CN" altLang="en-US" sz="28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例：</a:t>
            </a:r>
            <a:r>
              <a:rPr lang="zh-CN" altLang="en-US"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rPr>
              <a:t>函数</a:t>
            </a:r>
            <a:r>
              <a:rPr lang="zh-CN" altLang="zh-CN"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rPr>
              <a:t>gets</a:t>
            </a:r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( )</a:t>
            </a:r>
            <a:r>
              <a:rPr lang="zh-CN" altLang="en-US"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rPr>
              <a:t>与</a:t>
            </a:r>
            <a:r>
              <a:rPr lang="zh-CN" altLang="zh-CN"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rPr>
              <a:t>scanf</a:t>
            </a:r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( )</a:t>
            </a:r>
            <a:r>
              <a:rPr lang="zh-CN" altLang="en-US"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rPr>
              <a:t>的区别</a:t>
            </a: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63789" y="1230313"/>
            <a:ext cx="7577137" cy="51689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zh-CN" sz="2400" b="1"/>
              <a:t>#include </a:t>
            </a:r>
            <a:r>
              <a:rPr lang="zh-CN" altLang="zh-CN" sz="2400"/>
              <a:t>&lt;</a:t>
            </a:r>
            <a:r>
              <a:rPr lang="zh-CN" altLang="zh-CN" sz="2400" b="1"/>
              <a:t>stdio</a:t>
            </a:r>
            <a:r>
              <a:rPr lang="zh-CN" altLang="zh-CN" sz="2400" b="1">
                <a:latin typeface="Times New Roman" pitchFamily="18" charset="0"/>
              </a:rPr>
              <a:t>.</a:t>
            </a:r>
            <a:r>
              <a:rPr lang="zh-CN" altLang="zh-CN" sz="2400" b="1"/>
              <a:t>h</a:t>
            </a:r>
            <a:r>
              <a:rPr lang="zh-CN" altLang="zh-CN" sz="2400"/>
              <a:t>&gt;</a:t>
            </a:r>
          </a:p>
          <a:p>
            <a:pPr>
              <a:buFont typeface="Wingdings" pitchFamily="2" charset="2"/>
              <a:buNone/>
            </a:pPr>
            <a:r>
              <a:rPr lang="zh-CN" altLang="zh-CN" sz="2400" b="1"/>
              <a:t>main</a:t>
            </a:r>
            <a:r>
              <a:rPr lang="zh-CN" altLang="zh-CN" sz="2400" b="1">
                <a:latin typeface="Times New Roman" pitchFamily="18" charset="0"/>
              </a:rPr>
              <a:t>( )</a:t>
            </a:r>
            <a:r>
              <a:rPr lang="zh-CN" altLang="zh-CN" sz="2400" b="1"/>
              <a:t>    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400" b="1"/>
              <a:t>{ char  str1[20]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zh-CN" altLang="zh-CN" sz="2400" b="1"/>
              <a:t>str2[20]</a:t>
            </a:r>
            <a:r>
              <a:rPr lang="zh-CN" altLang="zh-CN" sz="2400" b="1">
                <a:latin typeface="Times New Roman" pitchFamily="18" charset="0"/>
              </a:rPr>
              <a:t>;</a:t>
            </a:r>
          </a:p>
          <a:p>
            <a:pPr>
              <a:lnSpc>
                <a:spcPct val="115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zh-CN" sz="2400" b="1"/>
              <a:t>   </a:t>
            </a:r>
            <a:r>
              <a:rPr lang="zh-CN" altLang="zh-CN" sz="2400" b="1">
                <a:solidFill>
                  <a:srgbClr val="CC0066"/>
                </a:solidFill>
              </a:rPr>
              <a:t>gets</a:t>
            </a:r>
            <a:r>
              <a:rPr lang="zh-CN" altLang="zh-CN" sz="2400" b="1">
                <a:solidFill>
                  <a:srgbClr val="CC0066"/>
                </a:solidFill>
                <a:latin typeface="Times New Roman" pitchFamily="18" charset="0"/>
              </a:rPr>
              <a:t>(</a:t>
            </a:r>
            <a:r>
              <a:rPr lang="zh-CN" altLang="zh-CN" sz="2400" b="1">
                <a:solidFill>
                  <a:srgbClr val="CC0066"/>
                </a:solidFill>
              </a:rPr>
              <a:t>str1</a:t>
            </a:r>
            <a:r>
              <a:rPr lang="zh-CN" altLang="zh-CN" sz="2400" b="1">
                <a:solidFill>
                  <a:srgbClr val="CC0066"/>
                </a:solidFill>
                <a:latin typeface="Times New Roman" pitchFamily="18" charset="0"/>
              </a:rPr>
              <a:t>);</a:t>
            </a:r>
          </a:p>
          <a:p>
            <a:pPr>
              <a:lnSpc>
                <a:spcPct val="115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zh-CN" sz="2400" b="1">
                <a:solidFill>
                  <a:srgbClr val="CC0066"/>
                </a:solidFill>
              </a:rPr>
              <a:t>   scanf</a:t>
            </a:r>
            <a:r>
              <a:rPr lang="zh-CN" altLang="zh-CN" sz="2400" b="1">
                <a:solidFill>
                  <a:srgbClr val="CC0066"/>
                </a:solidFill>
                <a:latin typeface="Times New Roman" pitchFamily="18" charset="0"/>
              </a:rPr>
              <a:t>(“</a:t>
            </a:r>
            <a:r>
              <a:rPr lang="zh-CN" altLang="zh-CN" sz="2400" b="1">
                <a:solidFill>
                  <a:srgbClr val="CC0066"/>
                </a:solidFill>
              </a:rPr>
              <a:t>%s</a:t>
            </a:r>
            <a:r>
              <a:rPr lang="zh-CN" altLang="zh-CN" sz="2400" b="1">
                <a:solidFill>
                  <a:srgbClr val="CC0066"/>
                </a:solidFill>
                <a:latin typeface="Times New Roman" pitchFamily="18" charset="0"/>
              </a:rPr>
              <a:t>”, </a:t>
            </a:r>
            <a:r>
              <a:rPr lang="zh-CN" altLang="zh-CN" sz="2400" b="1">
                <a:solidFill>
                  <a:srgbClr val="CC0066"/>
                </a:solidFill>
              </a:rPr>
              <a:t>str2</a:t>
            </a:r>
            <a:r>
              <a:rPr lang="zh-CN" altLang="zh-CN" sz="2400" b="1">
                <a:solidFill>
                  <a:srgbClr val="CC0066"/>
                </a:solidFill>
                <a:latin typeface="Times New Roman" pitchFamily="18" charset="0"/>
              </a:rPr>
              <a:t>);</a:t>
            </a:r>
          </a:p>
          <a:p>
            <a:pPr>
              <a:lnSpc>
                <a:spcPct val="115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zh-CN" sz="2400" b="1"/>
              <a:t>   printf</a:t>
            </a:r>
            <a:r>
              <a:rPr lang="zh-CN" altLang="zh-CN" sz="2400" b="1">
                <a:latin typeface="Times New Roman" pitchFamily="18" charset="0"/>
              </a:rPr>
              <a:t>(“</a:t>
            </a:r>
            <a:r>
              <a:rPr lang="zh-CN" altLang="zh-CN" sz="2400" b="1"/>
              <a:t>str1</a:t>
            </a:r>
            <a:r>
              <a:rPr lang="zh-CN" altLang="zh-CN" sz="2400" b="1">
                <a:latin typeface="Times New Roman" pitchFamily="18" charset="0"/>
              </a:rPr>
              <a:t>:</a:t>
            </a:r>
            <a:r>
              <a:rPr lang="zh-CN" altLang="zh-CN" sz="2400" b="1"/>
              <a:t> %s</a:t>
            </a:r>
            <a:r>
              <a:rPr lang="zh-CN" altLang="zh-CN" sz="2400"/>
              <a:t>\</a:t>
            </a:r>
            <a:r>
              <a:rPr lang="zh-CN" altLang="zh-CN" sz="2400" b="1"/>
              <a:t>n</a:t>
            </a:r>
            <a:r>
              <a:rPr lang="zh-CN" altLang="zh-CN" sz="2400" b="1">
                <a:latin typeface="Times New Roman" pitchFamily="18" charset="0"/>
              </a:rPr>
              <a:t>”, </a:t>
            </a:r>
            <a:r>
              <a:rPr lang="zh-CN" altLang="zh-CN" sz="2400" b="1"/>
              <a:t>str1</a:t>
            </a:r>
            <a:r>
              <a:rPr lang="zh-CN" altLang="zh-CN" sz="2400" b="1">
                <a:latin typeface="Times New Roman" pitchFamily="18" charset="0"/>
              </a:rPr>
              <a:t>);</a:t>
            </a:r>
          </a:p>
          <a:p>
            <a:pPr>
              <a:lnSpc>
                <a:spcPct val="115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zh-CN" sz="2400" b="1"/>
              <a:t>   printf</a:t>
            </a:r>
            <a:r>
              <a:rPr lang="zh-CN" altLang="zh-CN" sz="2400" b="1">
                <a:latin typeface="Times New Roman" pitchFamily="18" charset="0"/>
              </a:rPr>
              <a:t>(“</a:t>
            </a:r>
            <a:r>
              <a:rPr lang="zh-CN" altLang="zh-CN" sz="2400" b="1"/>
              <a:t>str2</a:t>
            </a:r>
            <a:r>
              <a:rPr lang="zh-CN" altLang="zh-CN" sz="2400" b="1">
                <a:latin typeface="Times New Roman" pitchFamily="18" charset="0"/>
              </a:rPr>
              <a:t>: </a:t>
            </a:r>
            <a:r>
              <a:rPr lang="zh-CN" altLang="zh-CN" sz="2400" b="1"/>
              <a:t>%s</a:t>
            </a:r>
            <a:r>
              <a:rPr lang="zh-CN" altLang="zh-CN" sz="2400"/>
              <a:t>\</a:t>
            </a:r>
            <a:r>
              <a:rPr lang="zh-CN" altLang="zh-CN" sz="2400" b="1"/>
              <a:t>n</a:t>
            </a:r>
            <a:r>
              <a:rPr lang="zh-CN" altLang="zh-CN" sz="2400" b="1">
                <a:latin typeface="Times New Roman" pitchFamily="18" charset="0"/>
              </a:rPr>
              <a:t>”, </a:t>
            </a:r>
            <a:r>
              <a:rPr lang="zh-CN" altLang="zh-CN" sz="2400" b="1"/>
              <a:t>str2</a:t>
            </a:r>
            <a:r>
              <a:rPr lang="zh-CN" altLang="zh-CN" sz="2400" b="1">
                <a:latin typeface="Times New Roman" pitchFamily="18" charset="0"/>
              </a:rPr>
              <a:t>);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400" b="1"/>
              <a:t>}</a:t>
            </a:r>
          </a:p>
          <a:p>
            <a:pPr>
              <a:buFont typeface="Wingdings" pitchFamily="2" charset="2"/>
              <a:buNone/>
            </a:pPr>
            <a:endParaRPr lang="zh-CN" altLang="zh-CN" sz="2400"/>
          </a:p>
        </p:txBody>
      </p:sp>
      <p:sp>
        <p:nvSpPr>
          <p:cNvPr id="368644" name="Rectangle 4"/>
          <p:cNvSpPr>
            <a:spLocks noChangeArrowheads="1"/>
          </p:cNvSpPr>
          <p:nvPr/>
        </p:nvSpPr>
        <p:spPr bwMode="auto">
          <a:xfrm>
            <a:off x="6959601" y="2352675"/>
            <a:ext cx="3325813" cy="93345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CC0066"/>
            </a:solidFill>
            <a:miter lim="800000"/>
            <a:headEnd/>
            <a:tailEnd/>
          </a:ln>
          <a:effectLst>
            <a:outerShdw dist="71842" dir="18900000" algn="ctr" rotWithShape="0">
              <a:schemeClr val="bg2">
                <a:alpha val="50000"/>
              </a:schemeClr>
            </a:outerShdw>
          </a:effectLst>
        </p:spPr>
        <p:txBody>
          <a:bodyPr rIns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9900"/>
              </a:buClr>
              <a:buFont typeface="Wingdings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输入：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program  C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↙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itchFamily="2" charset="2"/>
              <a:buNone/>
            </a:pP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program  C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↙</a:t>
            </a:r>
          </a:p>
        </p:txBody>
      </p:sp>
      <p:sp>
        <p:nvSpPr>
          <p:cNvPr id="368645" name="Rectangle 5"/>
          <p:cNvSpPr>
            <a:spLocks noChangeArrowheads="1"/>
          </p:cNvSpPr>
          <p:nvPr/>
        </p:nvSpPr>
        <p:spPr bwMode="auto">
          <a:xfrm>
            <a:off x="6959601" y="3594101"/>
            <a:ext cx="3325813" cy="969963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CC0066"/>
            </a:solidFill>
            <a:miter lim="800000"/>
            <a:headEnd/>
            <a:tailEnd/>
          </a:ln>
          <a:effectLst>
            <a:outerShdw dist="71842" dir="18900000" algn="ctr" rotWithShape="0">
              <a:schemeClr val="bg2">
                <a:alpha val="50000"/>
              </a:schemeClr>
            </a:outerShdw>
          </a:effectLst>
        </p:spPr>
        <p:txBody>
          <a:bodyPr rIns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9900"/>
              </a:buClr>
              <a:buFont typeface="Wingdings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输出：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str1: program  C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  <a:buClr>
                <a:srgbClr val="009900"/>
              </a:buClr>
              <a:buFont typeface="Wingdings" pitchFamily="2" charset="2"/>
              <a:buNone/>
            </a:pP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str2: program</a:t>
            </a:r>
          </a:p>
        </p:txBody>
      </p:sp>
    </p:spTree>
    <p:extLst>
      <p:ext uri="{BB962C8B-B14F-4D97-AF65-F5344CB8AC3E}">
        <p14:creationId xmlns:p14="http://schemas.microsoft.com/office/powerpoint/2010/main" val="88805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86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8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68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5" grpId="0" build="p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97114" y="125413"/>
            <a:ext cx="7793037" cy="671512"/>
          </a:xfrm>
        </p:spPr>
        <p:txBody>
          <a:bodyPr/>
          <a:lstStyle/>
          <a:p>
            <a:pPr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en-US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字符串输出函数</a:t>
            </a:r>
          </a:p>
        </p:txBody>
      </p:sp>
      <p:sp>
        <p:nvSpPr>
          <p:cNvPr id="369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340768"/>
            <a:ext cx="9379645" cy="4533106"/>
          </a:xfrm>
        </p:spPr>
        <p:txBody>
          <a:bodyPr/>
          <a:lstStyle/>
          <a:p>
            <a:pPr marL="274638" indent="-274638">
              <a:lnSpc>
                <a:spcPct val="110000"/>
              </a:lnSpc>
              <a:spcBef>
                <a:spcPct val="30000"/>
              </a:spcBef>
              <a:buSzPct val="85000"/>
              <a:buFont typeface="Tahoma" pitchFamily="34" charset="0"/>
              <a:buChar char="−"/>
            </a:pPr>
            <a:r>
              <a:rPr lang="zh-CN" altLang="en-US" sz="2800" b="1" dirty="0">
                <a:latin typeface="Arial" pitchFamily="34" charset="0"/>
              </a:rPr>
              <a:t>格式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</a:p>
          <a:p>
            <a:pPr marL="274638" indent="-274638">
              <a:lnSpc>
                <a:spcPct val="110000"/>
              </a:lnSpc>
              <a:spcBef>
                <a:spcPct val="15000"/>
              </a:spcBef>
              <a:buSzPct val="85000"/>
              <a:buNone/>
            </a:pPr>
            <a:r>
              <a:rPr lang="zh-CN" altLang="zh-CN" sz="2800" b="1" dirty="0">
                <a:solidFill>
                  <a:srgbClr val="000099"/>
                </a:solidFill>
                <a:latin typeface="Arial" pitchFamily="34" charset="0"/>
              </a:rPr>
              <a:t>            puts</a:t>
            </a:r>
            <a:r>
              <a:rPr lang="zh-CN" altLang="zh-CN" sz="2800" b="1" dirty="0">
                <a:solidFill>
                  <a:srgbClr val="000099"/>
                </a:solidFill>
                <a:latin typeface="Times New Roman" pitchFamily="18" charset="0"/>
              </a:rPr>
              <a:t>(</a:t>
            </a:r>
            <a:r>
              <a:rPr lang="zh-CN" altLang="en-US" sz="2800" b="1" dirty="0">
                <a:solidFill>
                  <a:srgbClr val="00009E"/>
                </a:solidFill>
                <a:latin typeface="Times New Roman" pitchFamily="18" charset="0"/>
              </a:rPr>
              <a:t>字符数组名</a:t>
            </a:r>
            <a:r>
              <a:rPr lang="zh-CN" altLang="zh-CN" sz="2800" b="1" dirty="0">
                <a:solidFill>
                  <a:srgbClr val="000099"/>
                </a:solidFill>
                <a:latin typeface="Times New Roman" pitchFamily="18" charset="0"/>
              </a:rPr>
              <a:t>)</a:t>
            </a:r>
            <a:r>
              <a:rPr lang="zh-CN" altLang="zh-CN" sz="2800" b="1" dirty="0">
                <a:latin typeface="Times New Roman" pitchFamily="18" charset="0"/>
              </a:rPr>
              <a:t>;    </a:t>
            </a:r>
            <a:r>
              <a:rPr lang="zh-CN" altLang="en-US" sz="2800" b="1" dirty="0">
                <a:latin typeface="Times New Roman" pitchFamily="18" charset="0"/>
              </a:rPr>
              <a:t>或    </a:t>
            </a:r>
            <a:r>
              <a:rPr lang="zh-CN" altLang="zh-CN" sz="2800" b="1" dirty="0">
                <a:solidFill>
                  <a:srgbClr val="00009E"/>
                </a:solidFill>
                <a:latin typeface="Arial" pitchFamily="34" charset="0"/>
              </a:rPr>
              <a:t>puts</a:t>
            </a:r>
            <a:r>
              <a:rPr lang="zh-CN" altLang="zh-CN" sz="2800" b="1" dirty="0">
                <a:solidFill>
                  <a:srgbClr val="00009E"/>
                </a:solidFill>
                <a:latin typeface="Times New Roman" pitchFamily="18" charset="0"/>
              </a:rPr>
              <a:t>(</a:t>
            </a:r>
            <a:r>
              <a:rPr lang="zh-CN" altLang="en-US" sz="2800" b="1" dirty="0">
                <a:solidFill>
                  <a:srgbClr val="00009E"/>
                </a:solidFill>
                <a:latin typeface="Arial" pitchFamily="34" charset="0"/>
              </a:rPr>
              <a:t>字符串</a:t>
            </a:r>
            <a:r>
              <a:rPr lang="zh-CN" altLang="zh-CN" sz="2800" b="1" dirty="0">
                <a:solidFill>
                  <a:srgbClr val="00009E"/>
                </a:solidFill>
                <a:latin typeface="Times New Roman" pitchFamily="18" charset="0"/>
              </a:rPr>
              <a:t>)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 marL="274638" indent="-274638">
              <a:lnSpc>
                <a:spcPct val="125000"/>
              </a:lnSpc>
              <a:spcBef>
                <a:spcPct val="75000"/>
              </a:spcBef>
              <a:buSzPct val="85000"/>
              <a:buFont typeface="Tahoma" pitchFamily="34" charset="0"/>
              <a:buChar char="−"/>
            </a:pPr>
            <a:r>
              <a:rPr lang="zh-CN" altLang="en-US" sz="2800" b="1" dirty="0">
                <a:latin typeface="黑体" pitchFamily="49" charset="-122"/>
              </a:rPr>
              <a:t>作用</a:t>
            </a:r>
            <a:r>
              <a:rPr lang="zh-CN" altLang="zh-CN" sz="2800" b="1" dirty="0">
                <a:latin typeface="Times New Roman" pitchFamily="18" charset="0"/>
              </a:rPr>
              <a:t>:  </a:t>
            </a:r>
            <a:r>
              <a:rPr lang="zh-CN" altLang="en-US" sz="2800" b="1" dirty="0">
                <a:latin typeface="黑体" pitchFamily="49" charset="-122"/>
              </a:rPr>
              <a:t>输出字符数组的值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en-US" sz="2800" b="1" dirty="0">
                <a:latin typeface="黑体" pitchFamily="49" charset="-122"/>
              </a:rPr>
              <a:t>遇</a:t>
            </a:r>
            <a:r>
              <a:rPr lang="zh-CN" altLang="en-US" sz="2800" b="1" dirty="0">
                <a:latin typeface="Times New Roman" pitchFamily="18" charset="0"/>
              </a:rPr>
              <a:t>’</a:t>
            </a:r>
            <a:r>
              <a:rPr lang="zh-CN" altLang="zh-CN" sz="2800" b="1" dirty="0">
                <a:latin typeface="黑体" pitchFamily="49" charset="-122"/>
              </a:rPr>
              <a:t>\0</a:t>
            </a:r>
            <a:r>
              <a:rPr lang="zh-CN" altLang="zh-CN" sz="2800" b="1" dirty="0">
                <a:latin typeface="Times New Roman" pitchFamily="18" charset="0"/>
              </a:rPr>
              <a:t>’</a:t>
            </a:r>
            <a:r>
              <a:rPr lang="zh-CN" altLang="en-US" sz="2800" b="1" dirty="0">
                <a:latin typeface="黑体" pitchFamily="49" charset="-122"/>
              </a:rPr>
              <a:t>结束输出。</a:t>
            </a:r>
          </a:p>
          <a:p>
            <a:pPr marL="0" indent="0">
              <a:lnSpc>
                <a:spcPct val="120000"/>
              </a:lnSpc>
              <a:spcBef>
                <a:spcPct val="60000"/>
              </a:spcBef>
              <a:buSzPct val="85000"/>
              <a:buNone/>
            </a:pPr>
            <a:r>
              <a:rPr lang="zh-CN" altLang="en-US" b="1" dirty="0">
                <a:solidFill>
                  <a:srgbClr val="FF0000"/>
                </a:solidFill>
                <a:latin typeface="Arial" pitchFamily="34" charset="0"/>
              </a:rPr>
              <a:t>注意</a:t>
            </a:r>
            <a:r>
              <a:rPr lang="zh-CN" altLang="zh-CN" b="1">
                <a:solidFill>
                  <a:srgbClr val="FF0000"/>
                </a:solidFill>
                <a:latin typeface="Times New Roman" pitchFamily="18" charset="0"/>
              </a:rPr>
              <a:t>:  </a:t>
            </a:r>
            <a:endParaRPr lang="en-US" altLang="zh-CN" b="1">
              <a:solidFill>
                <a:srgbClr val="FF0000"/>
              </a:solidFill>
              <a:latin typeface="Times New Roman" pitchFamily="18" charset="0"/>
            </a:endParaRPr>
          </a:p>
          <a:p>
            <a:pPr marL="274638" indent="-274638">
              <a:lnSpc>
                <a:spcPct val="120000"/>
              </a:lnSpc>
              <a:spcBef>
                <a:spcPct val="60000"/>
              </a:spcBef>
              <a:buSzPct val="85000"/>
              <a:buFont typeface="Tahoma" pitchFamily="34" charset="0"/>
              <a:buChar char="−"/>
            </a:pPr>
            <a:r>
              <a:rPr lang="zh-CN" altLang="zh-CN" sz="2800" b="1">
                <a:latin typeface="Arial" pitchFamily="34" charset="0"/>
              </a:rPr>
              <a:t>puts</a:t>
            </a:r>
            <a:r>
              <a:rPr lang="zh-CN" altLang="zh-CN" sz="2800" b="1" dirty="0">
                <a:latin typeface="Times New Roman" pitchFamily="18" charset="0"/>
              </a:rPr>
              <a:t>( )</a:t>
            </a:r>
            <a:r>
              <a:rPr lang="zh-CN" altLang="en-US" sz="2800" b="1" dirty="0"/>
              <a:t>一次只能输出一个</a:t>
            </a:r>
            <a:r>
              <a:rPr lang="zh-CN" altLang="en-US" sz="2800" b="1"/>
              <a:t>字符串。</a:t>
            </a:r>
            <a:endParaRPr lang="en-US" altLang="zh-CN" sz="2800" b="1"/>
          </a:p>
          <a:p>
            <a:pPr marL="274638" indent="-274638">
              <a:lnSpc>
                <a:spcPct val="120000"/>
              </a:lnSpc>
              <a:spcBef>
                <a:spcPct val="60000"/>
              </a:spcBef>
              <a:buSzPct val="85000"/>
              <a:buFont typeface="Tahoma" pitchFamily="34" charset="0"/>
              <a:buChar char="−"/>
            </a:pPr>
            <a:r>
              <a:rPr lang="zh-CN" altLang="en-US" sz="2800" b="1">
                <a:latin typeface="Times New Roman" pitchFamily="18" charset="0"/>
              </a:rPr>
              <a:t>输出</a:t>
            </a:r>
            <a:r>
              <a:rPr lang="zh-CN" altLang="en-US" sz="2800" b="1" dirty="0">
                <a:latin typeface="Times New Roman" pitchFamily="18" charset="0"/>
              </a:rPr>
              <a:t>字符串后自动换行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</a:rPr>
              <a:t>(\n</a:t>
            </a:r>
            <a:r>
              <a:rPr lang="en-US" altLang="zh-CN" sz="2800" b="1">
                <a:latin typeface="Times New Roman" pitchFamily="18" charset="0"/>
              </a:rPr>
              <a:t>)</a:t>
            </a:r>
            <a:r>
              <a:rPr lang="zh-CN" altLang="en-US" sz="2800" b="1">
                <a:latin typeface="Times New Roman" pitchFamily="18" charset="0"/>
              </a:rPr>
              <a:t>。</a:t>
            </a:r>
            <a:endParaRPr lang="zh-CN" altLang="en-US" sz="28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358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67" grpId="0" build="p" bldLvl="2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0A626CE-614F-5443-56D5-52AFEE2B9BB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90249" y="964733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char s[10]=“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abcd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”;</a:t>
            </a:r>
          </a:p>
          <a:p>
            <a:pPr>
              <a:lnSpc>
                <a:spcPct val="200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则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(“%s\</a:t>
            </a:r>
            <a:r>
              <a:rPr lang="en-US" altLang="zh-CN" sz="260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”,&amp;s[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1]);  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9C0AEF-0A78-7EC4-CFB3-9A6E9051595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685336" y="4285381"/>
            <a:ext cx="1857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abcd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9F2F2FB-C909-BA3F-3172-34547E193A9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685336" y="5142631"/>
            <a:ext cx="1857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bcd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1906E0-B052-77F4-D671-CCA44B2C5B9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8517984" y="4221088"/>
            <a:ext cx="1857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6CE272-5360-12B4-2234-A0B0D8C3F26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517984" y="5078338"/>
            <a:ext cx="1857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编译出错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9DD5A33-D589-30FD-2ED3-6838F48A8939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818561" y="4349674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EF236C9-2F2C-079B-0912-C984551CBD6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818561" y="5206924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4522192-F94F-62D0-19B7-562894C60DB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7651209" y="4285381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C7F5E75-4843-3995-EF5E-BEFDBCA4514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7651209" y="5142631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CC3C1FD-D1EB-C2C2-893D-B28C0B425E9A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761AF8D-A2D3-D96A-8616-CC071E4C5BEE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2FAE992C-F792-FC60-752F-5C3F763BF0F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21005DEB-000C-DC0E-F2CB-5C2143F9E07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0EF17DDB-3AD3-F84C-FE21-25CCDB28E7C5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2A78519C-F724-A88C-FB20-B2462D6FEE1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656F833-3EE0-FC70-19EC-C379F288439E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790313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05421C3-E49D-ED87-B20E-6E648883874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ea typeface="黑体" pitchFamily="49" charset="-122"/>
              </a:rPr>
              <a:t>下面是对数组进行初始化的语句</a:t>
            </a:r>
            <a:r>
              <a:rPr lang="zh-CN" altLang="zh-CN" sz="24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,  </a:t>
            </a:r>
            <a:r>
              <a:rPr lang="zh-CN" altLang="en-US" sz="2400" b="1" dirty="0">
                <a:solidFill>
                  <a:schemeClr val="tx1"/>
                </a:solidFill>
                <a:ea typeface="黑体" pitchFamily="49" charset="-122"/>
              </a:rPr>
              <a:t>哪些是错误的</a:t>
            </a:r>
            <a:r>
              <a:rPr lang="en-US" altLang="zh-CN" sz="2400" b="1" dirty="0">
                <a:solidFill>
                  <a:schemeClr val="tx1"/>
                </a:solidFill>
                <a:ea typeface="黑体" pitchFamily="49" charset="-122"/>
              </a:rPr>
              <a:t>(</a:t>
            </a:r>
            <a:r>
              <a:rPr lang="zh-CN" altLang="en-US" sz="2400" b="1" dirty="0">
                <a:solidFill>
                  <a:schemeClr val="tx1"/>
                </a:solidFill>
                <a:ea typeface="黑体" pitchFamily="49" charset="-122"/>
              </a:rPr>
              <a:t>多选</a:t>
            </a:r>
            <a:r>
              <a:rPr lang="en-US" altLang="zh-CN" sz="2400" b="1" dirty="0">
                <a:solidFill>
                  <a:schemeClr val="tx1"/>
                </a:solidFill>
                <a:ea typeface="黑体" pitchFamily="49" charset="-122"/>
              </a:rPr>
              <a:t>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885B3E-6FA7-34D9-D639-74E4A5BC0B3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buFont typeface="Wingdings" pitchFamily="2" charset="2"/>
              <a:buNone/>
            </a:pPr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int</a:t>
            </a:r>
            <a:r>
              <a:rPr lang="zh-CN" altLang="zh-CN" sz="2400" b="1" dirty="0">
                <a:ea typeface="黑体" pitchFamily="49" charset="-122"/>
              </a:rPr>
              <a:t>  </a:t>
            </a:r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m</a:t>
            </a:r>
            <a:r>
              <a:rPr lang="zh-CN" altLang="zh-CN" sz="2400" b="1" dirty="0">
                <a:latin typeface="黑体" pitchFamily="49" charset="-122"/>
                <a:ea typeface="黑体" pitchFamily="49" charset="-122"/>
              </a:rPr>
              <a:t>[ ]</a:t>
            </a:r>
            <a:r>
              <a:rPr lang="zh-CN" altLang="zh-CN" sz="2400" b="1" dirty="0">
                <a:ea typeface="黑体" pitchFamily="49" charset="-122"/>
              </a:rPr>
              <a:t>=</a:t>
            </a:r>
            <a:r>
              <a:rPr lang="zh-CN" altLang="zh-CN" sz="2400" dirty="0">
                <a:ea typeface="黑体" pitchFamily="49" charset="-122"/>
              </a:rPr>
              <a:t>{</a:t>
            </a:r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1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400" b="1" dirty="0">
                <a:ea typeface="黑体" pitchFamily="49" charset="-122"/>
              </a:rPr>
              <a:t> </a:t>
            </a:r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2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400" b="1" dirty="0">
                <a:ea typeface="黑体" pitchFamily="49" charset="-122"/>
              </a:rPr>
              <a:t> </a:t>
            </a:r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3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400" b="1" dirty="0">
                <a:ea typeface="黑体" pitchFamily="49" charset="-122"/>
              </a:rPr>
              <a:t> </a:t>
            </a:r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4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400" b="1" dirty="0">
                <a:ea typeface="黑体" pitchFamily="49" charset="-122"/>
              </a:rPr>
              <a:t> </a:t>
            </a:r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5</a:t>
            </a:r>
            <a:r>
              <a:rPr lang="zh-CN" altLang="zh-CN" sz="2400" dirty="0">
                <a:ea typeface="黑体" pitchFamily="49" charset="-122"/>
              </a:rPr>
              <a:t>}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;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B07E7C-ACDB-04B0-F7A8-65229874729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char</a:t>
            </a:r>
            <a:r>
              <a:rPr lang="zh-CN" altLang="zh-CN" sz="2400" b="1" dirty="0">
                <a:ea typeface="黑体" pitchFamily="49" charset="-122"/>
              </a:rPr>
              <a:t>  </a:t>
            </a:r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str</a:t>
            </a:r>
            <a:r>
              <a:rPr lang="zh-CN" altLang="zh-CN" sz="2400" b="1" dirty="0">
                <a:latin typeface="黑体" pitchFamily="49" charset="-122"/>
                <a:ea typeface="黑体" pitchFamily="49" charset="-122"/>
              </a:rPr>
              <a:t>[</a:t>
            </a:r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2</a:t>
            </a:r>
            <a:r>
              <a:rPr lang="zh-CN" altLang="zh-CN" sz="2400" b="1" dirty="0">
                <a:latin typeface="黑体" pitchFamily="49" charset="-122"/>
                <a:ea typeface="黑体" pitchFamily="49" charset="-122"/>
              </a:rPr>
              <a:t>][ ]</a:t>
            </a:r>
            <a:r>
              <a:rPr lang="zh-CN" altLang="zh-CN" sz="2400" b="1" dirty="0">
                <a:ea typeface="黑体" pitchFamily="49" charset="-122"/>
              </a:rPr>
              <a:t>=</a:t>
            </a:r>
            <a:r>
              <a:rPr lang="zh-CN" altLang="zh-CN" sz="2400" dirty="0">
                <a:ea typeface="黑体" pitchFamily="49" charset="-122"/>
              </a:rPr>
              <a:t>{</a:t>
            </a:r>
            <a:r>
              <a:rPr lang="zh-CN" altLang="zh-CN" sz="2400" b="1" dirty="0">
                <a:latin typeface="Times New Roman"/>
                <a:ea typeface="黑体" pitchFamily="49" charset="-122"/>
              </a:rPr>
              <a:t>“</a:t>
            </a:r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boys</a:t>
            </a:r>
            <a:r>
              <a:rPr lang="zh-CN" altLang="zh-CN" sz="2400" b="1" dirty="0">
                <a:latin typeface="Times New Roman"/>
                <a:ea typeface="黑体" pitchFamily="49" charset="-122"/>
              </a:rPr>
              <a:t>”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zh-CN" sz="2400" b="1" dirty="0">
                <a:latin typeface="Times New Roman"/>
                <a:ea typeface="黑体" pitchFamily="49" charset="-122"/>
              </a:rPr>
              <a:t>“</a:t>
            </a:r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girls</a:t>
            </a:r>
            <a:r>
              <a:rPr lang="zh-CN" altLang="zh-CN" sz="2400" b="1" dirty="0">
                <a:latin typeface="Times New Roman"/>
                <a:ea typeface="黑体" pitchFamily="49" charset="-122"/>
              </a:rPr>
              <a:t>”</a:t>
            </a:r>
            <a:r>
              <a:rPr lang="zh-CN" altLang="zh-CN" sz="2400" dirty="0">
                <a:ea typeface="黑体" pitchFamily="49" charset="-122"/>
              </a:rPr>
              <a:t>}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;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56F144-CADB-07F4-55D5-D661F87C998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30000"/>
              </a:lnSpc>
              <a:spcBef>
                <a:spcPct val="60000"/>
              </a:spcBef>
              <a:buFont typeface="Wingdings" pitchFamily="2" charset="2"/>
              <a:buNone/>
            </a:pPr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int</a:t>
            </a:r>
            <a:r>
              <a:rPr lang="zh-CN" altLang="zh-CN" sz="2400" b="1" dirty="0">
                <a:ea typeface="黑体" pitchFamily="49" charset="-122"/>
              </a:rPr>
              <a:t>  n</a:t>
            </a:r>
            <a:r>
              <a:rPr lang="zh-CN" altLang="zh-CN" sz="2400" b="1" dirty="0">
                <a:latin typeface="黑体" pitchFamily="49" charset="-122"/>
                <a:ea typeface="黑体" pitchFamily="49" charset="-122"/>
              </a:rPr>
              <a:t>[ ][ ]</a:t>
            </a:r>
            <a:r>
              <a:rPr lang="zh-CN" altLang="zh-CN" sz="2400" b="1" dirty="0">
                <a:ea typeface="黑体" pitchFamily="49" charset="-122"/>
              </a:rPr>
              <a:t>=</a:t>
            </a:r>
            <a:r>
              <a:rPr lang="zh-CN" altLang="zh-CN" sz="2400" dirty="0">
                <a:ea typeface="黑体" pitchFamily="49" charset="-122"/>
              </a:rPr>
              <a:t>{{</a:t>
            </a:r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1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400" b="1" dirty="0">
                <a:ea typeface="黑体" pitchFamily="49" charset="-122"/>
              </a:rPr>
              <a:t> </a:t>
            </a:r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2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400" b="1" dirty="0">
                <a:ea typeface="黑体" pitchFamily="49" charset="-122"/>
              </a:rPr>
              <a:t> </a:t>
            </a:r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3</a:t>
            </a:r>
            <a:r>
              <a:rPr lang="zh-CN" altLang="zh-CN" sz="2400" dirty="0">
                <a:ea typeface="黑体" pitchFamily="49" charset="-122"/>
              </a:rPr>
              <a:t>}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400" dirty="0">
                <a:ea typeface="黑体" pitchFamily="49" charset="-122"/>
              </a:rPr>
              <a:t>{</a:t>
            </a:r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5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400" b="1" dirty="0">
                <a:ea typeface="黑体" pitchFamily="49" charset="-122"/>
              </a:rPr>
              <a:t> </a:t>
            </a:r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6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400" b="1" dirty="0">
                <a:ea typeface="黑体" pitchFamily="49" charset="-122"/>
              </a:rPr>
              <a:t> </a:t>
            </a:r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7</a:t>
            </a:r>
            <a:r>
              <a:rPr lang="zh-CN" altLang="zh-CN" sz="2400" dirty="0">
                <a:ea typeface="黑体" pitchFamily="49" charset="-122"/>
              </a:rPr>
              <a:t>}}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5AD967F-607C-6E22-456C-32FB826A8D1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48434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char</a:t>
            </a:r>
            <a:r>
              <a:rPr lang="zh-CN" altLang="zh-CN" sz="2400" b="1" dirty="0">
                <a:ea typeface="黑体" pitchFamily="49" charset="-122"/>
              </a:rPr>
              <a:t>  </a:t>
            </a:r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str</a:t>
            </a:r>
            <a:r>
              <a:rPr lang="zh-CN" altLang="zh-CN" sz="2400" b="1" dirty="0">
                <a:latin typeface="黑体" pitchFamily="49" charset="-122"/>
                <a:ea typeface="黑体" pitchFamily="49" charset="-122"/>
              </a:rPr>
              <a:t>[</a:t>
            </a:r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20</a:t>
            </a:r>
            <a:r>
              <a:rPr lang="zh-CN" altLang="zh-CN" sz="2400" b="1" dirty="0">
                <a:latin typeface="黑体" pitchFamily="49" charset="-122"/>
                <a:ea typeface="黑体" pitchFamily="49" charset="-122"/>
              </a:rPr>
              <a:t>]</a:t>
            </a:r>
            <a:r>
              <a:rPr lang="zh-CN" altLang="zh-CN" sz="2400" b="1" dirty="0">
                <a:ea typeface="黑体" pitchFamily="49" charset="-122"/>
              </a:rPr>
              <a:t>=</a:t>
            </a:r>
            <a:r>
              <a:rPr lang="zh-CN" altLang="zh-CN" sz="2400" b="1" dirty="0">
                <a:latin typeface="Times New Roman"/>
                <a:ea typeface="黑体" pitchFamily="49" charset="-122"/>
              </a:rPr>
              <a:t>“</a:t>
            </a:r>
            <a:r>
              <a:rPr lang="zh-CN" altLang="zh-CN" sz="2400" b="1" dirty="0">
                <a:latin typeface="Arial" pitchFamily="34" charset="0"/>
                <a:ea typeface="黑体" pitchFamily="49" charset="-122"/>
              </a:rPr>
              <a:t>I am a student</a:t>
            </a:r>
            <a:r>
              <a:rPr lang="zh-CN" altLang="zh-CN" sz="2400" b="1" dirty="0">
                <a:latin typeface="Times New Roman"/>
                <a:ea typeface="黑体" pitchFamily="49" charset="-122"/>
              </a:rPr>
              <a:t>”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;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8C4579-703C-C190-D3AC-17BB42EAC34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rect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3A8BF7-EE3A-6CF5-905F-9DDBC387416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536156"/>
            <a:ext cx="514350" cy="514350"/>
          </a:xfrm>
          <a:prstGeom prst="rect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9E4640-5C1F-9246-DC17-3B8DEA3700E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221956"/>
            <a:ext cx="514350" cy="514350"/>
          </a:xfrm>
          <a:prstGeom prst="rect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6806C96-ECA2-BD92-1316-193988CCA10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4907756"/>
            <a:ext cx="514350" cy="514350"/>
          </a:xfrm>
          <a:prstGeom prst="rect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6F7BA16-28E7-DA71-7EA8-1F27E31D4255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A2FD006-D644-9C71-81D9-4E34F00C3436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2438400" y="5539756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 b="1">
                <a:latin typeface="Arial" pitchFamily="34" charset="0"/>
                <a:ea typeface="黑体" pitchFamily="49" charset="-122"/>
              </a:defRPr>
            </a:lvl1pPr>
          </a:lstStyle>
          <a:p>
            <a:r>
              <a:rPr lang="en-US" altLang="zh-CN" dirty="0">
                <a:sym typeface="Microsoft Yahei" panose="020B0503020204020204" pitchFamily="34" charset="-122"/>
              </a:rPr>
              <a:t>int     str[20]=</a:t>
            </a:r>
            <a:r>
              <a:rPr lang="zh-CN" altLang="zh-CN" dirty="0"/>
              <a:t> “I am a student”;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9885F0F-483B-D244-922D-E3A9A25D6A6F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>
            <a:off x="1571625" y="5593556"/>
            <a:ext cx="514350" cy="514350"/>
          </a:xfrm>
          <a:prstGeom prst="rect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2A847DA-D55F-F279-ECBD-9E9C5E0E1153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F7287743-6112-E252-97DA-9376A952E371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3B85E5E1-1D4B-D0C2-2771-28895741A236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BD2942F4-C802-7141-4365-6356AEA0B485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DCC85F1B-86F9-410A-65DD-71E7A33D527F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339CF2F-3CE1-DD2A-9A97-7C51E2DD2186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366107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>
          <a:xfrm>
            <a:off x="3965575" y="204788"/>
            <a:ext cx="5786438" cy="588962"/>
          </a:xfrm>
        </p:spPr>
        <p:txBody>
          <a:bodyPr/>
          <a:lstStyle/>
          <a:p>
            <a:r>
              <a:rPr lang="zh-CN" altLang="en-US" sz="3600">
                <a:latin typeface="楷体_GB2312" pitchFamily="49" charset="-122"/>
              </a:rPr>
              <a:t>字符串处理函数</a:t>
            </a:r>
          </a:p>
        </p:txBody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1975" y="1222375"/>
            <a:ext cx="6762750" cy="4572000"/>
          </a:xfrm>
        </p:spPr>
        <p:txBody>
          <a:bodyPr/>
          <a:lstStyle/>
          <a:p>
            <a:pPr>
              <a:lnSpc>
                <a:spcPct val="115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zh-CN" sz="2800" b="1" dirty="0">
                <a:solidFill>
                  <a:srgbClr val="00009E"/>
                </a:solidFill>
                <a:latin typeface="Arial" pitchFamily="34" charset="0"/>
              </a:rPr>
              <a:t>#include</a:t>
            </a:r>
            <a:r>
              <a:rPr lang="zh-CN" altLang="zh-CN" sz="2800" b="1" dirty="0">
                <a:solidFill>
                  <a:srgbClr val="00009E"/>
                </a:solidFill>
              </a:rPr>
              <a:t>  </a:t>
            </a:r>
            <a:r>
              <a:rPr lang="zh-CN" altLang="zh-CN" sz="2800" b="1" dirty="0">
                <a:solidFill>
                  <a:srgbClr val="00009E"/>
                </a:solidFill>
                <a:latin typeface="Times New Roman" pitchFamily="18" charset="0"/>
              </a:rPr>
              <a:t>“</a:t>
            </a:r>
            <a:r>
              <a:rPr lang="zh-CN" altLang="zh-CN" sz="2800" b="1" dirty="0">
                <a:solidFill>
                  <a:srgbClr val="00009E"/>
                </a:solidFill>
                <a:latin typeface="Arial" pitchFamily="34" charset="0"/>
              </a:rPr>
              <a:t>string</a:t>
            </a:r>
            <a:r>
              <a:rPr lang="zh-CN" altLang="zh-CN" sz="2800" b="1" dirty="0">
                <a:solidFill>
                  <a:srgbClr val="00009E"/>
                </a:solidFill>
                <a:latin typeface="Times New Roman" pitchFamily="18" charset="0"/>
              </a:rPr>
              <a:t>.</a:t>
            </a:r>
            <a:r>
              <a:rPr lang="zh-CN" altLang="zh-CN" sz="2800" b="1" dirty="0">
                <a:solidFill>
                  <a:srgbClr val="00009E"/>
                </a:solidFill>
                <a:latin typeface="Arial" pitchFamily="34" charset="0"/>
              </a:rPr>
              <a:t>h</a:t>
            </a:r>
            <a:r>
              <a:rPr lang="zh-CN" altLang="zh-CN" sz="2800" b="1" dirty="0">
                <a:solidFill>
                  <a:srgbClr val="00009E"/>
                </a:solidFill>
                <a:latin typeface="Times New Roman" pitchFamily="18" charset="0"/>
              </a:rPr>
              <a:t>”</a:t>
            </a:r>
          </a:p>
          <a:p>
            <a:pPr>
              <a:lnSpc>
                <a:spcPct val="115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zh-CN" sz="2800" b="1" dirty="0">
                <a:latin typeface="Arial" pitchFamily="34" charset="0"/>
              </a:rPr>
              <a:t>strcat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</a:rPr>
              <a:t>字符数组</a:t>
            </a:r>
            <a:r>
              <a:rPr lang="zh-CN" altLang="zh-CN" sz="2800" b="1" dirty="0">
                <a:solidFill>
                  <a:srgbClr val="FF0000"/>
                </a:solidFill>
                <a:latin typeface="Arial" pitchFamily="34" charset="0"/>
              </a:rPr>
              <a:t>1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en-US" sz="2800" b="1" dirty="0"/>
              <a:t>字符串</a:t>
            </a:r>
            <a:r>
              <a:rPr lang="zh-CN" altLang="zh-CN" sz="2800" b="1" dirty="0">
                <a:latin typeface="Arial" pitchFamily="34" charset="0"/>
              </a:rPr>
              <a:t>2</a:t>
            </a:r>
            <a:r>
              <a:rPr lang="zh-CN" altLang="zh-CN" sz="2800" b="1" dirty="0">
                <a:latin typeface="Times New Roman" pitchFamily="18" charset="0"/>
              </a:rPr>
              <a:t>) ;</a:t>
            </a:r>
            <a:r>
              <a:rPr lang="zh-CN" altLang="zh-CN" sz="2800" b="1" dirty="0"/>
              <a:t> </a:t>
            </a:r>
          </a:p>
          <a:p>
            <a:pPr>
              <a:lnSpc>
                <a:spcPct val="115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zh-CN" sz="2800" b="1" dirty="0">
                <a:latin typeface="Arial" pitchFamily="34" charset="0"/>
              </a:rPr>
              <a:t>strcpy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</a:rPr>
              <a:t>字符数组</a:t>
            </a:r>
            <a:r>
              <a:rPr lang="zh-CN" altLang="zh-CN" sz="2800" b="1" dirty="0">
                <a:solidFill>
                  <a:srgbClr val="FF0000"/>
                </a:solidFill>
                <a:latin typeface="Arial" pitchFamily="34" charset="0"/>
              </a:rPr>
              <a:t>1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en-US" sz="2800" b="1" dirty="0"/>
              <a:t>字符串</a:t>
            </a:r>
            <a:r>
              <a:rPr lang="zh-CN" altLang="zh-CN" sz="2800" b="1" dirty="0">
                <a:latin typeface="Arial" pitchFamily="34" charset="0"/>
              </a:rPr>
              <a:t>2</a:t>
            </a:r>
            <a:r>
              <a:rPr lang="zh-CN" altLang="zh-CN" sz="2800" b="1" dirty="0">
                <a:latin typeface="Times New Roman" pitchFamily="18" charset="0"/>
              </a:rPr>
              <a:t>) ;</a:t>
            </a:r>
          </a:p>
          <a:p>
            <a:pPr>
              <a:lnSpc>
                <a:spcPct val="115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zh-CN" sz="2800" b="1" dirty="0">
                <a:latin typeface="Arial" pitchFamily="34" charset="0"/>
              </a:rPr>
              <a:t>strlen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en-US" sz="2800" b="1" dirty="0"/>
              <a:t>字符串</a:t>
            </a:r>
            <a:r>
              <a:rPr lang="zh-CN" altLang="zh-CN" sz="2800" b="1" dirty="0">
                <a:latin typeface="Times New Roman" pitchFamily="18" charset="0"/>
              </a:rPr>
              <a:t>) ;</a:t>
            </a:r>
          </a:p>
          <a:p>
            <a:pPr>
              <a:lnSpc>
                <a:spcPct val="115000"/>
              </a:lnSpc>
              <a:spcBef>
                <a:spcPct val="40000"/>
              </a:spcBef>
              <a:buClr>
                <a:srgbClr val="009900"/>
              </a:buClr>
              <a:buSzPct val="85000"/>
              <a:buFont typeface="Wingdings" pitchFamily="2" charset="2"/>
              <a:buNone/>
            </a:pPr>
            <a:r>
              <a:rPr lang="zh-CN" altLang="zh-CN" sz="2800" b="1" dirty="0">
                <a:latin typeface="Arial" pitchFamily="34" charset="0"/>
              </a:rPr>
              <a:t>strlwr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en-US" sz="2800" b="1" dirty="0"/>
              <a:t>字符串</a:t>
            </a:r>
            <a:r>
              <a:rPr lang="zh-CN" altLang="zh-CN" sz="2800" b="1" dirty="0">
                <a:latin typeface="Times New Roman" pitchFamily="18" charset="0"/>
              </a:rPr>
              <a:t>) ;</a:t>
            </a:r>
          </a:p>
          <a:p>
            <a:pPr>
              <a:lnSpc>
                <a:spcPct val="115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zh-CN" sz="2800" b="1" dirty="0">
                <a:latin typeface="Arial" pitchFamily="34" charset="0"/>
              </a:rPr>
              <a:t>strupr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en-US" sz="2800" b="1" dirty="0"/>
              <a:t>字符串</a:t>
            </a:r>
            <a:r>
              <a:rPr lang="zh-CN" altLang="zh-CN" sz="2800" b="1" dirty="0">
                <a:latin typeface="Times New Roman" pitchFamily="18" charset="0"/>
              </a:rPr>
              <a:t>) ;</a:t>
            </a:r>
          </a:p>
          <a:p>
            <a:pPr>
              <a:lnSpc>
                <a:spcPct val="115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zh-CN" sz="2800" b="1" dirty="0">
                <a:latin typeface="Arial" pitchFamily="34" charset="0"/>
              </a:rPr>
              <a:t>strcmp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en-US" sz="2800" b="1" dirty="0"/>
              <a:t>字符串</a:t>
            </a:r>
            <a:r>
              <a:rPr lang="zh-CN" altLang="zh-CN" sz="2800" b="1" dirty="0">
                <a:latin typeface="Arial" pitchFamily="34" charset="0"/>
              </a:rPr>
              <a:t>1</a:t>
            </a:r>
            <a:r>
              <a:rPr lang="zh-CN" altLang="zh-CN" sz="2800" b="1" dirty="0">
                <a:latin typeface="Times New Roman" pitchFamily="18" charset="0"/>
              </a:rPr>
              <a:t>,  </a:t>
            </a:r>
            <a:r>
              <a:rPr lang="zh-CN" altLang="en-US" sz="2800" b="1" dirty="0"/>
              <a:t>字符串</a:t>
            </a:r>
            <a:r>
              <a:rPr lang="zh-CN" altLang="zh-CN" sz="2800" b="1" dirty="0">
                <a:latin typeface="Arial" pitchFamily="34" charset="0"/>
              </a:rPr>
              <a:t>2</a:t>
            </a:r>
            <a:r>
              <a:rPr lang="zh-CN" altLang="zh-CN" sz="2800" b="1" dirty="0">
                <a:latin typeface="Times New Roman" pitchFamily="18" charset="0"/>
              </a:rPr>
              <a:t>) ;</a:t>
            </a:r>
          </a:p>
        </p:txBody>
      </p:sp>
    </p:spTree>
    <p:extLst>
      <p:ext uri="{BB962C8B-B14F-4D97-AF65-F5344CB8AC3E}">
        <p14:creationId xmlns:p14="http://schemas.microsoft.com/office/powerpoint/2010/main" val="2394711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62175" y="1131888"/>
            <a:ext cx="8242300" cy="4716462"/>
          </a:xfrm>
        </p:spPr>
        <p:txBody>
          <a:bodyPr/>
          <a:lstStyle/>
          <a:p>
            <a:pPr marL="274638" indent="-274638">
              <a:lnSpc>
                <a:spcPct val="115000"/>
              </a:lnSpc>
              <a:spcBef>
                <a:spcPct val="50000"/>
              </a:spcBef>
              <a:buSzPct val="85000"/>
              <a:buFont typeface="Tahoma" pitchFamily="34" charset="0"/>
              <a:buChar char="−"/>
            </a:pPr>
            <a:r>
              <a:rPr lang="zh-CN" altLang="en-US" sz="2800" b="1" dirty="0"/>
              <a:t>格式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  <a:r>
              <a:rPr lang="zh-CN" altLang="zh-CN" sz="2800" b="1" dirty="0"/>
              <a:t>   </a:t>
            </a:r>
            <a:r>
              <a:rPr lang="zh-CN" altLang="zh-CN" sz="2800" b="1" dirty="0">
                <a:solidFill>
                  <a:srgbClr val="0000C4"/>
                </a:solidFill>
                <a:latin typeface="Arial" pitchFamily="34" charset="0"/>
              </a:rPr>
              <a:t>strcpy</a:t>
            </a:r>
            <a:r>
              <a:rPr lang="zh-CN" altLang="zh-CN" sz="2800" b="1" dirty="0">
                <a:latin typeface="Times New Roman" pitchFamily="18" charset="0"/>
              </a:rPr>
              <a:t>(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字符数组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1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en-US" sz="2800" b="1" dirty="0"/>
              <a:t>字符串</a:t>
            </a:r>
            <a:r>
              <a:rPr lang="zh-CN" altLang="zh-CN" sz="2800" b="1" dirty="0">
                <a:solidFill>
                  <a:srgbClr val="0000B8"/>
                </a:solidFill>
                <a:latin typeface="Arial" pitchFamily="34" charset="0"/>
              </a:rPr>
              <a:t>2</a:t>
            </a:r>
            <a:r>
              <a:rPr lang="zh-CN" altLang="zh-CN" sz="2800" b="1" dirty="0">
                <a:solidFill>
                  <a:srgbClr val="000099"/>
                </a:solidFill>
              </a:rPr>
              <a:t> </a:t>
            </a:r>
            <a:r>
              <a:rPr lang="zh-CN" altLang="zh-CN" sz="2800" b="1" dirty="0">
                <a:latin typeface="Times New Roman" pitchFamily="18" charset="0"/>
              </a:rPr>
              <a:t>);</a:t>
            </a:r>
          </a:p>
          <a:p>
            <a:pPr marL="274638" indent="-274638">
              <a:lnSpc>
                <a:spcPct val="120000"/>
              </a:lnSpc>
              <a:spcBef>
                <a:spcPct val="60000"/>
              </a:spcBef>
              <a:buSzPct val="85000"/>
              <a:buFont typeface="Tahoma" pitchFamily="34" charset="0"/>
              <a:buChar char="−"/>
            </a:pPr>
            <a:r>
              <a:rPr lang="zh-CN" altLang="en-US" sz="2800" b="1" dirty="0"/>
              <a:t>作用</a:t>
            </a:r>
            <a:r>
              <a:rPr lang="zh-CN" altLang="zh-CN" sz="2800" b="1" dirty="0">
                <a:latin typeface="Times New Roman" pitchFamily="18" charset="0"/>
              </a:rPr>
              <a:t>:  </a:t>
            </a:r>
            <a:r>
              <a:rPr lang="zh-CN" altLang="en-US" sz="2800" b="1" dirty="0"/>
              <a:t>将字符串</a:t>
            </a:r>
            <a:r>
              <a:rPr lang="zh-CN" altLang="zh-CN" sz="2800" b="1" dirty="0">
                <a:latin typeface="黑体" pitchFamily="49" charset="-122"/>
              </a:rPr>
              <a:t>2</a:t>
            </a:r>
            <a:r>
              <a:rPr lang="zh-CN" altLang="en-US" sz="2800" b="1" dirty="0"/>
              <a:t>拷贝到字符数组</a:t>
            </a:r>
            <a:r>
              <a:rPr lang="zh-CN" altLang="zh-CN" sz="2800" b="1" dirty="0">
                <a:latin typeface="黑体" pitchFamily="49" charset="-122"/>
              </a:rPr>
              <a:t>1</a:t>
            </a:r>
            <a:r>
              <a:rPr lang="zh-CN" altLang="en-US" sz="2800" b="1"/>
              <a:t>中。</a:t>
            </a:r>
            <a:endParaRPr lang="en-US" altLang="zh-CN" sz="2800" b="1"/>
          </a:p>
          <a:p>
            <a:pPr marL="274638" indent="-274638">
              <a:lnSpc>
                <a:spcPct val="120000"/>
              </a:lnSpc>
              <a:spcBef>
                <a:spcPct val="60000"/>
              </a:spcBef>
              <a:buSzPct val="85000"/>
              <a:buFont typeface="Tahoma" pitchFamily="34" charset="0"/>
              <a:buChar char="−"/>
            </a:pP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只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复制第一个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’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\0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’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前的内容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含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’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\0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’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)</a:t>
            </a:r>
            <a:r>
              <a:rPr lang="zh-CN" altLang="en-US" sz="2800" b="1" dirty="0">
                <a:latin typeface="黑体" pitchFamily="49" charset="-122"/>
              </a:rPr>
              <a:t>。</a:t>
            </a:r>
            <a:endParaRPr lang="zh-CN" altLang="en-US" sz="2800" b="1" dirty="0">
              <a:latin typeface="Times New Roman" pitchFamily="18" charset="0"/>
            </a:endParaRPr>
          </a:p>
          <a:p>
            <a:pPr marL="274638" indent="-274638">
              <a:lnSpc>
                <a:spcPct val="115000"/>
              </a:lnSpc>
              <a:spcBef>
                <a:spcPct val="50000"/>
              </a:spcBef>
              <a:buSzPct val="85000"/>
              <a:buFont typeface="Tahoma" pitchFamily="34" charset="0"/>
              <a:buChar char="−"/>
            </a:pPr>
            <a:r>
              <a:rPr lang="zh-CN" altLang="en-US" sz="2800" b="1" dirty="0"/>
              <a:t>例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  <a:r>
              <a:rPr lang="zh-CN" altLang="zh-CN" sz="2800" b="1" dirty="0"/>
              <a:t>    </a:t>
            </a:r>
            <a:r>
              <a:rPr lang="zh-CN" altLang="zh-CN" sz="2800" b="1" dirty="0">
                <a:latin typeface="Arial" pitchFamily="34" charset="0"/>
              </a:rPr>
              <a:t>char</a:t>
            </a:r>
            <a:r>
              <a:rPr lang="zh-CN" altLang="zh-CN" sz="2800" b="1" dirty="0"/>
              <a:t>  </a:t>
            </a:r>
            <a:r>
              <a:rPr lang="zh-CN" altLang="zh-CN" sz="2800" b="1" dirty="0">
                <a:latin typeface="Arial" pitchFamily="34" charset="0"/>
              </a:rPr>
              <a:t>a</a:t>
            </a:r>
            <a:r>
              <a:rPr lang="zh-CN" altLang="zh-CN" sz="2800" b="1" dirty="0">
                <a:latin typeface="黑体" pitchFamily="49" charset="-122"/>
              </a:rPr>
              <a:t>[</a:t>
            </a:r>
            <a:r>
              <a:rPr lang="zh-CN" altLang="zh-CN" sz="2800" b="1" dirty="0">
                <a:latin typeface="Arial" pitchFamily="34" charset="0"/>
              </a:rPr>
              <a:t>20</a:t>
            </a:r>
            <a:r>
              <a:rPr lang="zh-CN" altLang="zh-CN" sz="2800" b="1" dirty="0">
                <a:latin typeface="黑体" pitchFamily="49" charset="-122"/>
              </a:rPr>
              <a:t>]</a:t>
            </a:r>
            <a:r>
              <a:rPr lang="zh-CN" altLang="zh-CN" sz="2800" b="1" dirty="0"/>
              <a:t>= </a:t>
            </a:r>
            <a:r>
              <a:rPr lang="zh-CN" altLang="zh-CN" sz="2800" b="1" dirty="0">
                <a:latin typeface="Times New Roman"/>
              </a:rPr>
              <a:t>“</a:t>
            </a:r>
            <a:r>
              <a:rPr lang="zh-CN" altLang="zh-CN" sz="2800" b="1" dirty="0">
                <a:latin typeface="Arial" pitchFamily="34" charset="0"/>
              </a:rPr>
              <a:t>Hello</a:t>
            </a:r>
            <a:r>
              <a:rPr lang="zh-CN" altLang="zh-CN" sz="2800" b="1" dirty="0">
                <a:latin typeface="Times New Roman"/>
              </a:rPr>
              <a:t>”</a:t>
            </a:r>
            <a:r>
              <a:rPr lang="zh-CN" altLang="zh-CN" sz="2800" b="1" dirty="0">
                <a:latin typeface="Times New Roman" pitchFamily="18" charset="0"/>
              </a:rPr>
              <a:t>; </a:t>
            </a:r>
          </a:p>
          <a:p>
            <a:pPr marL="274638" indent="-274638">
              <a:lnSpc>
                <a:spcPct val="120000"/>
              </a:lnSpc>
              <a:buNone/>
            </a:pPr>
            <a:r>
              <a:rPr lang="zh-CN" altLang="zh-CN" sz="2800" b="1" dirty="0"/>
              <a:t>           </a:t>
            </a:r>
            <a:r>
              <a:rPr lang="zh-CN" altLang="zh-CN" sz="2800" b="1" dirty="0">
                <a:solidFill>
                  <a:srgbClr val="0000B8"/>
                </a:solidFill>
                <a:latin typeface="Arial" pitchFamily="34" charset="0"/>
              </a:rPr>
              <a:t>strcpy</a:t>
            </a:r>
            <a:r>
              <a:rPr lang="zh-CN" altLang="zh-CN" sz="2800" b="1" dirty="0">
                <a:solidFill>
                  <a:srgbClr val="00009E"/>
                </a:solidFill>
                <a:latin typeface="Times New Roman" pitchFamily="18" charset="0"/>
              </a:rPr>
              <a:t>( </a:t>
            </a:r>
            <a:r>
              <a:rPr lang="zh-CN" altLang="zh-CN" sz="2800" b="1" dirty="0">
                <a:solidFill>
                  <a:srgbClr val="0000B8"/>
                </a:solidFill>
                <a:latin typeface="Arial" pitchFamily="34" charset="0"/>
              </a:rPr>
              <a:t>a</a:t>
            </a:r>
            <a:r>
              <a:rPr lang="zh-CN" altLang="zh-CN" sz="2800" b="1" dirty="0">
                <a:solidFill>
                  <a:srgbClr val="00009E"/>
                </a:solidFill>
                <a:latin typeface="Times New Roman" pitchFamily="18" charset="0"/>
              </a:rPr>
              <a:t>, </a:t>
            </a:r>
            <a:r>
              <a:rPr lang="zh-CN" altLang="zh-CN" sz="2800" b="1" dirty="0">
                <a:solidFill>
                  <a:srgbClr val="00009E"/>
                </a:solidFill>
                <a:latin typeface="Times New Roman"/>
              </a:rPr>
              <a:t>“</a:t>
            </a:r>
            <a:r>
              <a:rPr lang="zh-CN" altLang="zh-CN" sz="2800" b="1" dirty="0">
                <a:solidFill>
                  <a:srgbClr val="0000B8"/>
                </a:solidFill>
                <a:latin typeface="Arial" pitchFamily="34" charset="0"/>
              </a:rPr>
              <a:t>world</a:t>
            </a:r>
            <a:r>
              <a:rPr lang="zh-CN" altLang="zh-CN" sz="2800" b="1" dirty="0">
                <a:solidFill>
                  <a:srgbClr val="00009E"/>
                </a:solidFill>
                <a:latin typeface="Times New Roman"/>
              </a:rPr>
              <a:t>”</a:t>
            </a:r>
            <a:r>
              <a:rPr lang="zh-CN" altLang="zh-CN" sz="2800" b="1" dirty="0">
                <a:solidFill>
                  <a:srgbClr val="00009E"/>
                </a:solidFill>
                <a:latin typeface="Times New Roman" pitchFamily="18" charset="0"/>
              </a:rPr>
              <a:t>);</a:t>
            </a:r>
          </a:p>
          <a:p>
            <a:pPr marL="274638" indent="-274638">
              <a:lnSpc>
                <a:spcPct val="120000"/>
              </a:lnSpc>
              <a:buNone/>
            </a:pPr>
            <a:r>
              <a:rPr lang="zh-CN" altLang="zh-CN" sz="2800" b="1" dirty="0"/>
              <a:t>           </a:t>
            </a:r>
            <a:r>
              <a:rPr lang="zh-CN" altLang="zh-CN" sz="2800" b="1" dirty="0">
                <a:latin typeface="Arial" pitchFamily="34" charset="0"/>
              </a:rPr>
              <a:t>printf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>
                <a:latin typeface="Times New Roman"/>
              </a:rPr>
              <a:t>“</a:t>
            </a:r>
            <a:r>
              <a:rPr lang="zh-CN" altLang="zh-CN" sz="2800" b="1" dirty="0"/>
              <a:t>%s</a:t>
            </a:r>
            <a:r>
              <a:rPr lang="zh-CN" altLang="zh-CN" sz="2800" b="1" dirty="0">
                <a:latin typeface="Times New Roman"/>
              </a:rPr>
              <a:t>”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zh-CN" sz="2800" b="1" dirty="0">
                <a:latin typeface="Arial" pitchFamily="34" charset="0"/>
              </a:rPr>
              <a:t>a</a:t>
            </a:r>
            <a:r>
              <a:rPr lang="zh-CN" altLang="zh-CN" sz="2800" b="1" dirty="0">
                <a:latin typeface="Times New Roman" pitchFamily="18" charset="0"/>
              </a:rPr>
              <a:t>);</a:t>
            </a:r>
          </a:p>
          <a:p>
            <a:pPr marL="274638" indent="-274638">
              <a:lnSpc>
                <a:spcPct val="120000"/>
              </a:lnSpc>
              <a:spcBef>
                <a:spcPct val="35000"/>
              </a:spcBef>
              <a:buNone/>
            </a:pPr>
            <a:r>
              <a:rPr lang="zh-CN" altLang="zh-CN" sz="2800" b="1" dirty="0">
                <a:solidFill>
                  <a:srgbClr val="00009E"/>
                </a:solidFill>
              </a:rPr>
              <a:t>           </a:t>
            </a:r>
            <a:r>
              <a:rPr lang="zh-CN" altLang="en-US" sz="2800" b="1" dirty="0">
                <a:solidFill>
                  <a:srgbClr val="00009E"/>
                </a:solidFill>
                <a:latin typeface="楷体_GB2312" pitchFamily="49" charset="-122"/>
                <a:ea typeface="楷体_GB2312" pitchFamily="49" charset="-122"/>
              </a:rPr>
              <a:t>输出</a:t>
            </a:r>
            <a:r>
              <a:rPr lang="zh-CN" altLang="zh-CN" sz="2800" b="1" dirty="0">
                <a:solidFill>
                  <a:srgbClr val="00009E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zh-CN" sz="2800" b="1" dirty="0"/>
              <a:t> </a:t>
            </a:r>
          </a:p>
          <a:p>
            <a:pPr marL="274638" indent="-274638">
              <a:lnSpc>
                <a:spcPct val="85000"/>
              </a:lnSpc>
              <a:spcBef>
                <a:spcPct val="0"/>
              </a:spcBef>
              <a:buNone/>
            </a:pPr>
            <a:r>
              <a:rPr lang="zh-CN" altLang="zh-CN" sz="2800" b="1" dirty="0"/>
              <a:t>                     </a:t>
            </a:r>
            <a:r>
              <a:rPr lang="zh-CN" altLang="zh-CN" sz="2800" b="1" dirty="0">
                <a:latin typeface="Arial" pitchFamily="34" charset="0"/>
              </a:rPr>
              <a:t>world</a:t>
            </a:r>
          </a:p>
        </p:txBody>
      </p:sp>
      <p:sp>
        <p:nvSpPr>
          <p:cNvPr id="375811" name="Rectangle 3"/>
          <p:cNvSpPr>
            <a:spLocks noGrp="1" noChangeArrowheads="1"/>
          </p:cNvSpPr>
          <p:nvPr>
            <p:ph type="title"/>
          </p:nvPr>
        </p:nvSpPr>
        <p:spPr>
          <a:xfrm>
            <a:off x="2233613" y="107951"/>
            <a:ext cx="5105400" cy="639763"/>
          </a:xfrm>
          <a:noFill/>
          <a:ln/>
        </p:spPr>
        <p:txBody>
          <a:bodyPr/>
          <a:lstStyle/>
          <a:p>
            <a:pPr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en-US" sz="2800">
                <a:solidFill>
                  <a:schemeClr val="tx1"/>
                </a:solidFill>
                <a:ea typeface="黑体" pitchFamily="49" charset="-122"/>
              </a:rPr>
              <a:t>字符串拷贝函数</a:t>
            </a:r>
          </a:p>
        </p:txBody>
      </p:sp>
    </p:spTree>
    <p:extLst>
      <p:ext uri="{BB962C8B-B14F-4D97-AF65-F5344CB8AC3E}">
        <p14:creationId xmlns:p14="http://schemas.microsoft.com/office/powerpoint/2010/main" val="2670028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title"/>
          </p:nvPr>
        </p:nvSpPr>
        <p:spPr>
          <a:xfrm>
            <a:off x="2301875" y="203201"/>
            <a:ext cx="4064000" cy="581025"/>
          </a:xfrm>
          <a:noFill/>
          <a:ln/>
        </p:spPr>
        <p:txBody>
          <a:bodyPr/>
          <a:lstStyle/>
          <a:p>
            <a:pPr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en-US" sz="28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字符串连接函数</a:t>
            </a:r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1864" y="1144589"/>
            <a:ext cx="8123237" cy="3119437"/>
          </a:xfrm>
        </p:spPr>
        <p:txBody>
          <a:bodyPr/>
          <a:lstStyle/>
          <a:p>
            <a:pPr marL="182563" indent="-182563">
              <a:buSzPct val="85000"/>
              <a:buFont typeface="Tahoma" pitchFamily="34" charset="0"/>
              <a:buChar char="−"/>
            </a:pPr>
            <a:r>
              <a:rPr lang="zh-CN" altLang="en-US" sz="2400" b="1" dirty="0"/>
              <a:t>格式</a:t>
            </a:r>
            <a:r>
              <a:rPr lang="zh-CN" altLang="zh-CN" sz="2400" b="1" dirty="0">
                <a:latin typeface="Times New Roman" pitchFamily="18" charset="0"/>
              </a:rPr>
              <a:t>:</a:t>
            </a:r>
            <a:r>
              <a:rPr lang="zh-CN" altLang="zh-CN" sz="2400" b="1" dirty="0"/>
              <a:t>  </a:t>
            </a:r>
            <a:r>
              <a:rPr lang="zh-CN" altLang="zh-CN" sz="2400" b="1" dirty="0">
                <a:solidFill>
                  <a:srgbClr val="0000C4"/>
                </a:solidFill>
              </a:rPr>
              <a:t>strcat</a:t>
            </a:r>
            <a:r>
              <a:rPr lang="zh-CN" altLang="zh-CN" sz="2400" b="1" dirty="0">
                <a:latin typeface="Times New Roman" pitchFamily="18" charset="0"/>
              </a:rPr>
              <a:t>( 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字符数组</a:t>
            </a:r>
            <a:r>
              <a:rPr lang="zh-CN" altLang="zh-CN" sz="2400" b="1" dirty="0">
                <a:solidFill>
                  <a:srgbClr val="0000C4"/>
                </a:solidFill>
              </a:rPr>
              <a:t>1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en-US" sz="2400" b="1" dirty="0"/>
              <a:t>字符串</a:t>
            </a:r>
            <a:r>
              <a:rPr lang="zh-CN" altLang="zh-CN" sz="2400" b="1" dirty="0">
                <a:latin typeface="Arial" pitchFamily="34" charset="0"/>
              </a:rPr>
              <a:t>2</a:t>
            </a:r>
            <a:r>
              <a:rPr lang="zh-CN" altLang="zh-CN" sz="2400" b="1" dirty="0">
                <a:latin typeface="Times New Roman" pitchFamily="18" charset="0"/>
              </a:rPr>
              <a:t>);</a:t>
            </a:r>
          </a:p>
          <a:p>
            <a:pPr marL="182563" indent="-182563">
              <a:lnSpc>
                <a:spcPct val="120000"/>
              </a:lnSpc>
              <a:spcBef>
                <a:spcPct val="45000"/>
              </a:spcBef>
              <a:buSzPct val="85000"/>
              <a:buFont typeface="Tahoma" pitchFamily="34" charset="0"/>
              <a:buChar char="−"/>
            </a:pPr>
            <a:r>
              <a:rPr lang="zh-CN" altLang="en-US" sz="2400" b="1" dirty="0"/>
              <a:t>作用</a:t>
            </a:r>
            <a:r>
              <a:rPr lang="zh-CN" altLang="zh-CN" sz="2400" b="1" dirty="0">
                <a:latin typeface="Times New Roman" pitchFamily="18" charset="0"/>
              </a:rPr>
              <a:t>:  </a:t>
            </a:r>
            <a:r>
              <a:rPr lang="zh-CN" altLang="en-US" sz="2400" b="1" dirty="0">
                <a:solidFill>
                  <a:srgbClr val="0000C4"/>
                </a:solidFill>
              </a:rPr>
              <a:t>连接</a:t>
            </a:r>
            <a:r>
              <a:rPr lang="zh-CN" altLang="en-US" sz="2400" b="1" dirty="0"/>
              <a:t>两个字符数组中的字符串</a:t>
            </a:r>
            <a:r>
              <a:rPr lang="zh-CN" altLang="zh-CN" sz="2400" b="1" dirty="0">
                <a:latin typeface="Times New Roman" pitchFamily="18" charset="0"/>
              </a:rPr>
              <a:t>,  </a:t>
            </a:r>
            <a:r>
              <a:rPr lang="zh-CN" altLang="en-US" sz="2400" b="1" dirty="0"/>
              <a:t>将字符串</a:t>
            </a:r>
            <a:r>
              <a:rPr lang="zh-CN" altLang="zh-CN" sz="2400" b="1" dirty="0">
                <a:latin typeface="黑体" pitchFamily="49" charset="-122"/>
              </a:rPr>
              <a:t>2</a:t>
            </a:r>
            <a:r>
              <a:rPr lang="zh-CN" altLang="en-US" sz="2400" b="1" dirty="0">
                <a:latin typeface="黑体" pitchFamily="49" charset="-122"/>
              </a:rPr>
              <a:t>连接到字符数组</a:t>
            </a:r>
            <a:r>
              <a:rPr lang="zh-CN" altLang="zh-CN" sz="2400" b="1" dirty="0">
                <a:latin typeface="黑体" pitchFamily="49" charset="-122"/>
              </a:rPr>
              <a:t>1</a:t>
            </a:r>
            <a:r>
              <a:rPr lang="zh-CN" altLang="en-US" sz="2400" b="1" dirty="0">
                <a:latin typeface="黑体" pitchFamily="49" charset="-122"/>
              </a:rPr>
              <a:t>的后面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>
                <a:latin typeface="黑体" pitchFamily="49" charset="-122"/>
              </a:rPr>
              <a:t> </a:t>
            </a:r>
            <a:r>
              <a:rPr lang="zh-CN" altLang="en-US" sz="2400" b="1" dirty="0">
                <a:latin typeface="黑体" pitchFamily="49" charset="-122"/>
              </a:rPr>
              <a:t>结果放在字符数组</a:t>
            </a:r>
            <a:r>
              <a:rPr lang="zh-CN" altLang="zh-CN" sz="2400" b="1" dirty="0">
                <a:latin typeface="黑体" pitchFamily="49" charset="-122"/>
              </a:rPr>
              <a:t>1</a:t>
            </a:r>
            <a:r>
              <a:rPr lang="zh-CN" altLang="en-US" sz="2400" b="1" dirty="0">
                <a:latin typeface="黑体" pitchFamily="49" charset="-122"/>
              </a:rPr>
              <a:t>中。</a:t>
            </a:r>
          </a:p>
          <a:p>
            <a:pPr marL="182563" indent="-182563">
              <a:spcBef>
                <a:spcPct val="50000"/>
              </a:spcBef>
              <a:buSzPct val="85000"/>
              <a:buFont typeface="Tahoma" pitchFamily="34" charset="0"/>
              <a:buChar char="−"/>
            </a:pPr>
            <a:r>
              <a:rPr lang="zh-CN" altLang="en-US" sz="2400" b="1" dirty="0"/>
              <a:t>例</a:t>
            </a:r>
            <a:r>
              <a:rPr lang="zh-CN" altLang="zh-CN" sz="2400" b="1" dirty="0">
                <a:latin typeface="Times New Roman" pitchFamily="18" charset="0"/>
              </a:rPr>
              <a:t>:    </a:t>
            </a:r>
            <a:r>
              <a:rPr lang="zh-CN" altLang="zh-CN" sz="2400" b="1" dirty="0"/>
              <a:t>char  a</a:t>
            </a:r>
            <a:r>
              <a:rPr lang="zh-CN" altLang="zh-CN" sz="2400" b="1" dirty="0">
                <a:latin typeface="黑体" pitchFamily="49" charset="-122"/>
              </a:rPr>
              <a:t>[</a:t>
            </a:r>
            <a:r>
              <a:rPr lang="zh-CN" altLang="zh-CN" sz="2400" b="1" dirty="0"/>
              <a:t>15</a:t>
            </a:r>
            <a:r>
              <a:rPr lang="zh-CN" altLang="zh-CN" sz="2400" b="1" dirty="0">
                <a:latin typeface="黑体" pitchFamily="49" charset="-122"/>
              </a:rPr>
              <a:t>]</a:t>
            </a:r>
            <a:r>
              <a:rPr lang="zh-CN" altLang="zh-CN" sz="2400" b="1" dirty="0"/>
              <a:t>= </a:t>
            </a:r>
            <a:r>
              <a:rPr lang="zh-CN" altLang="zh-CN" sz="2400" b="1" dirty="0">
                <a:latin typeface="Times New Roman"/>
              </a:rPr>
              <a:t>“</a:t>
            </a:r>
            <a:r>
              <a:rPr lang="zh-CN" altLang="zh-CN" sz="2400" b="1" dirty="0"/>
              <a:t>Hello</a:t>
            </a:r>
            <a:r>
              <a:rPr lang="zh-CN" altLang="zh-CN" sz="2400" b="1" dirty="0">
                <a:latin typeface="Times New Roman"/>
              </a:rPr>
              <a:t>”</a:t>
            </a:r>
            <a:r>
              <a:rPr lang="zh-CN" altLang="zh-CN" sz="2400" b="1" dirty="0">
                <a:latin typeface="Times New Roman" pitchFamily="18" charset="0"/>
              </a:rPr>
              <a:t>; </a:t>
            </a:r>
          </a:p>
          <a:p>
            <a:pPr marL="182563" indent="-182563">
              <a:spcBef>
                <a:spcPct val="30000"/>
              </a:spcBef>
              <a:buNone/>
            </a:pPr>
            <a:r>
              <a:rPr lang="zh-CN" altLang="zh-CN" sz="2400" b="1" dirty="0"/>
              <a:t>          strcat</a:t>
            </a:r>
            <a:r>
              <a:rPr lang="zh-CN" altLang="zh-CN" sz="2400" b="1" dirty="0">
                <a:latin typeface="Times New Roman" pitchFamily="18" charset="0"/>
              </a:rPr>
              <a:t>( </a:t>
            </a:r>
            <a:r>
              <a:rPr lang="zh-CN" altLang="zh-CN" sz="2400" b="1" dirty="0"/>
              <a:t>a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Times New Roman"/>
              </a:rPr>
              <a:t>“</a:t>
            </a:r>
            <a:r>
              <a:rPr lang="zh-CN" altLang="zh-CN" sz="2400" b="1" baseline="-25000" dirty="0"/>
              <a:t>︺</a:t>
            </a:r>
            <a:r>
              <a:rPr lang="zh-CN" altLang="zh-CN" sz="2400" b="1" dirty="0"/>
              <a:t>world</a:t>
            </a:r>
            <a:r>
              <a:rPr lang="zh-CN" altLang="zh-CN" sz="2400" b="1" dirty="0">
                <a:latin typeface="Times New Roman"/>
              </a:rPr>
              <a:t>”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Times New Roman" pitchFamily="18" charset="0"/>
              </a:rPr>
              <a:t>);</a:t>
            </a:r>
            <a:r>
              <a:rPr lang="zh-CN" altLang="zh-CN" sz="2400" b="1" dirty="0"/>
              <a:t> </a:t>
            </a:r>
          </a:p>
          <a:p>
            <a:pPr marL="182563" indent="-182563">
              <a:spcBef>
                <a:spcPct val="30000"/>
              </a:spcBef>
              <a:buNone/>
            </a:pPr>
            <a:r>
              <a:rPr lang="zh-CN" altLang="zh-CN" sz="2400" b="1" dirty="0"/>
              <a:t>          printf</a:t>
            </a:r>
            <a:r>
              <a:rPr lang="zh-CN" altLang="zh-CN" sz="2400" b="1" dirty="0">
                <a:latin typeface="Times New Roman" pitchFamily="18" charset="0"/>
              </a:rPr>
              <a:t>(</a:t>
            </a:r>
            <a:r>
              <a:rPr lang="zh-CN" altLang="zh-CN" sz="2400" b="1" dirty="0">
                <a:latin typeface="Times New Roman"/>
              </a:rPr>
              <a:t>“</a:t>
            </a:r>
            <a:r>
              <a:rPr lang="zh-CN" altLang="zh-CN" sz="2400" b="1" dirty="0"/>
              <a:t>%s</a:t>
            </a:r>
            <a:r>
              <a:rPr lang="zh-CN" altLang="zh-CN" sz="2400" b="1" dirty="0">
                <a:latin typeface="Times New Roman"/>
              </a:rPr>
              <a:t>”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zh-CN" sz="2400" b="1" dirty="0"/>
              <a:t>a</a:t>
            </a:r>
            <a:r>
              <a:rPr lang="zh-CN" altLang="zh-CN" sz="2400" b="1" dirty="0">
                <a:latin typeface="Times New Roman" pitchFamily="18" charset="0"/>
              </a:rPr>
              <a:t>);</a:t>
            </a:r>
            <a:r>
              <a:rPr lang="zh-CN" altLang="zh-CN" sz="2000" b="1" dirty="0"/>
              <a:t>          </a:t>
            </a:r>
          </a:p>
        </p:txBody>
      </p:sp>
      <p:sp>
        <p:nvSpPr>
          <p:cNvPr id="374788" name="Rectangle 4"/>
          <p:cNvSpPr>
            <a:spLocks noChangeArrowheads="1"/>
          </p:cNvSpPr>
          <p:nvPr/>
        </p:nvSpPr>
        <p:spPr bwMode="auto">
          <a:xfrm>
            <a:off x="7896226" y="361951"/>
            <a:ext cx="1997075" cy="720725"/>
          </a:xfrm>
          <a:prstGeom prst="rect">
            <a:avLst/>
          </a:prstGeom>
          <a:solidFill>
            <a:schemeClr val="bg1"/>
          </a:solidFill>
          <a:ln w="19050" cmpd="sng">
            <a:solidFill>
              <a:srgbClr val="0000B8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B8"/>
                </a:solidFill>
                <a:latin typeface="楷体_GB2312" pitchFamily="49" charset="-122"/>
                <a:ea typeface="楷体_GB2312" pitchFamily="49" charset="-122"/>
              </a:rPr>
              <a:t>输出</a:t>
            </a:r>
            <a:r>
              <a:rPr lang="zh-CN" altLang="zh-CN" sz="2000" b="1">
                <a:solidFill>
                  <a:srgbClr val="0000B8"/>
                </a:solidFill>
                <a:latin typeface="楷体_GB2312" pitchFamily="49" charset="-122"/>
                <a:ea typeface="楷体_GB2312" pitchFamily="49" charset="-122"/>
              </a:rPr>
              <a:t>: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B8"/>
                </a:solidFill>
                <a:ea typeface="Dotum" pitchFamily="34" charset="-127"/>
              </a:rPr>
              <a:t>   Hello world</a:t>
            </a:r>
          </a:p>
        </p:txBody>
      </p:sp>
      <p:graphicFrame>
        <p:nvGraphicFramePr>
          <p:cNvPr id="374789" name="Group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94813992"/>
              </p:ext>
            </p:extLst>
          </p:nvPr>
        </p:nvGraphicFramePr>
        <p:xfrm>
          <a:off x="3168650" y="4513264"/>
          <a:ext cx="6159500" cy="1920876"/>
        </p:xfrm>
        <a:graphic>
          <a:graphicData uri="http://schemas.openxmlformats.org/drawingml/2006/table">
            <a:tbl>
              <a:tblPr/>
              <a:tblGrid>
                <a:gridCol w="41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6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70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11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︺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w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 gridSpan="1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229758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︺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w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4864" name="Text Box 80"/>
          <p:cNvSpPr txBox="1">
            <a:spLocks noChangeArrowheads="1"/>
          </p:cNvSpPr>
          <p:nvPr/>
        </p:nvSpPr>
        <p:spPr bwMode="auto">
          <a:xfrm>
            <a:off x="7024606" y="3139617"/>
            <a:ext cx="3325812" cy="1239502"/>
          </a:xfrm>
          <a:prstGeom prst="rect">
            <a:avLst/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square" rIns="54000" bIns="82800">
            <a:spAutoFit/>
          </a:bodyPr>
          <a:lstStyle/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黑体" pitchFamily="49" charset="-122"/>
              </a:rPr>
              <a:t>字符数组</a:t>
            </a:r>
            <a:r>
              <a:rPr lang="zh-CN" altLang="zh-CN" sz="2000" b="1" dirty="0">
                <a:solidFill>
                  <a:srgbClr val="000000"/>
                </a:solidFill>
                <a:latin typeface="黑体" pitchFamily="49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黑体" pitchFamily="49" charset="-122"/>
              </a:rPr>
              <a:t>不能是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字符串常量</a:t>
            </a:r>
            <a:r>
              <a:rPr lang="zh-CN" altLang="zh-CN" sz="2000" b="1" dirty="0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en-US" sz="2000" b="1" dirty="0">
                <a:solidFill>
                  <a:srgbClr val="000000"/>
                </a:solidFill>
                <a:latin typeface="黑体" pitchFamily="49" charset="-122"/>
              </a:rPr>
              <a:t>并且必须足够大</a:t>
            </a:r>
            <a:r>
              <a:rPr lang="zh-CN" altLang="zh-CN" sz="2000" b="1" dirty="0">
                <a:solidFill>
                  <a:srgbClr val="000000"/>
                </a:solidFill>
                <a:latin typeface="Times New Roman" pitchFamily="18" charset="0"/>
              </a:rPr>
              <a:t>,   </a:t>
            </a:r>
            <a:r>
              <a:rPr lang="zh-CN" altLang="en-US" sz="2000" b="1" dirty="0">
                <a:solidFill>
                  <a:srgbClr val="000000"/>
                </a:solidFill>
                <a:latin typeface="黑体" pitchFamily="49" charset="-122"/>
              </a:rPr>
              <a:t>以便可以容纳连接后的内容</a:t>
            </a:r>
            <a:r>
              <a:rPr lang="zh-CN" altLang="en-US" sz="1000" b="1" dirty="0">
                <a:solidFill>
                  <a:srgbClr val="000000"/>
                </a:solidFill>
                <a:latin typeface="黑体" pitchFamily="49" charset="-122"/>
              </a:rPr>
              <a:t>。</a:t>
            </a:r>
          </a:p>
        </p:txBody>
      </p:sp>
      <p:sp>
        <p:nvSpPr>
          <p:cNvPr id="374865" name="Text Box 81"/>
          <p:cNvSpPr txBox="1">
            <a:spLocks noChangeArrowheads="1"/>
          </p:cNvSpPr>
          <p:nvPr/>
        </p:nvSpPr>
        <p:spPr bwMode="auto">
          <a:xfrm>
            <a:off x="7024606" y="3140075"/>
            <a:ext cx="3751915" cy="1111903"/>
          </a:xfrm>
          <a:prstGeom prst="rect">
            <a:avLst/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square" rIns="54000" bIns="82800">
            <a:spAutoFit/>
          </a:bodyPr>
          <a:lstStyle/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黑体" pitchFamily="49" charset="-122"/>
              </a:rPr>
              <a:t>字符数组</a:t>
            </a:r>
            <a:r>
              <a:rPr lang="zh-CN" altLang="zh-CN" sz="2000" b="1" dirty="0">
                <a:solidFill>
                  <a:srgbClr val="000000"/>
                </a:solidFill>
                <a:latin typeface="黑体" pitchFamily="49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黑体" pitchFamily="49" charset="-122"/>
              </a:rPr>
              <a:t>的</a:t>
            </a:r>
            <a:r>
              <a:rPr lang="zh-CN" altLang="en-US" sz="2000" b="1" dirty="0">
                <a:solidFill>
                  <a:srgbClr val="000000"/>
                </a:solidFill>
                <a:latin typeface="Times New Roman" pitchFamily="18" charset="0"/>
              </a:rPr>
              <a:t>’</a:t>
            </a:r>
            <a:r>
              <a:rPr lang="zh-CN" altLang="zh-CN" sz="2000" b="1" dirty="0">
                <a:solidFill>
                  <a:srgbClr val="000000"/>
                </a:solidFill>
                <a:latin typeface="黑体" pitchFamily="49" charset="-122"/>
              </a:rPr>
              <a:t>\0</a:t>
            </a:r>
            <a:r>
              <a:rPr lang="zh-CN" altLang="zh-CN" sz="2000" b="1" dirty="0">
                <a:solidFill>
                  <a:srgbClr val="000000"/>
                </a:solidFill>
                <a:latin typeface="Times New Roman" pitchFamily="18" charset="0"/>
              </a:rPr>
              <a:t>’</a:t>
            </a:r>
            <a:r>
              <a:rPr lang="zh-CN" altLang="en-US" sz="2000" b="1" dirty="0">
                <a:solidFill>
                  <a:srgbClr val="000000"/>
                </a:solidFill>
                <a:latin typeface="黑体" pitchFamily="49" charset="-122"/>
              </a:rPr>
              <a:t>将被字符串</a:t>
            </a:r>
            <a:r>
              <a:rPr lang="zh-CN" altLang="zh-CN" sz="2000" b="1" dirty="0">
                <a:solidFill>
                  <a:srgbClr val="000000"/>
                </a:solidFill>
                <a:latin typeface="黑体" pitchFamily="49" charset="-122"/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  <a:latin typeface="黑体" pitchFamily="49" charset="-122"/>
              </a:rPr>
              <a:t>覆盖</a:t>
            </a:r>
            <a:r>
              <a:rPr lang="zh-CN" altLang="zh-CN" sz="2000" b="1" dirty="0">
                <a:solidFill>
                  <a:srgbClr val="000000"/>
                </a:solidFill>
                <a:latin typeface="Times New Roman" pitchFamily="18" charset="0"/>
              </a:rPr>
              <a:t>,  </a:t>
            </a:r>
            <a:r>
              <a:rPr lang="zh-CN" altLang="en-US" sz="2000" b="1" dirty="0">
                <a:solidFill>
                  <a:srgbClr val="000000"/>
                </a:solidFill>
                <a:latin typeface="黑体" pitchFamily="49" charset="-122"/>
              </a:rPr>
              <a:t>连接后生成的新的字符串的最后保留一个</a:t>
            </a:r>
            <a:r>
              <a:rPr lang="zh-CN" altLang="en-US" sz="2000" b="1" dirty="0">
                <a:solidFill>
                  <a:srgbClr val="000000"/>
                </a:solidFill>
                <a:latin typeface="Times New Roman" pitchFamily="18" charset="0"/>
              </a:rPr>
              <a:t>’</a:t>
            </a:r>
            <a:r>
              <a:rPr lang="zh-CN" altLang="zh-CN" sz="2000" b="1" dirty="0">
                <a:solidFill>
                  <a:srgbClr val="000000"/>
                </a:solidFill>
                <a:latin typeface="黑体" pitchFamily="49" charset="-122"/>
              </a:rPr>
              <a:t>\0</a:t>
            </a:r>
            <a:r>
              <a:rPr lang="zh-CN" altLang="zh-CN" sz="2000" b="1" dirty="0">
                <a:solidFill>
                  <a:srgbClr val="000000"/>
                </a:solidFill>
                <a:latin typeface="Times New Roman" pitchFamily="18" charset="0"/>
              </a:rPr>
              <a:t>’</a:t>
            </a:r>
            <a:r>
              <a:rPr lang="zh-CN" altLang="en-US" sz="2000" b="1" dirty="0">
                <a:solidFill>
                  <a:srgbClr val="000000"/>
                </a:solidFill>
                <a:latin typeface="黑体" pitchFamily="49" charset="-122"/>
              </a:rPr>
              <a:t>。</a:t>
            </a:r>
            <a:r>
              <a:rPr lang="zh-CN" altLang="en-US" sz="2000" b="1" dirty="0">
                <a:solidFill>
                  <a:srgbClr val="000000"/>
                </a:solidFill>
              </a:rPr>
              <a:t>   </a:t>
            </a:r>
            <a:endParaRPr lang="zh-CN" altLang="en-US" sz="2000" b="1" dirty="0">
              <a:solidFill>
                <a:srgbClr val="000000"/>
              </a:solidFill>
              <a:latin typeface="黑体" pitchFamily="49" charset="-122"/>
            </a:endParaRPr>
          </a:p>
        </p:txBody>
      </p:sp>
      <p:sp>
        <p:nvSpPr>
          <p:cNvPr id="374866" name="Text Box 82"/>
          <p:cNvSpPr txBox="1">
            <a:spLocks noChangeArrowheads="1"/>
          </p:cNvSpPr>
          <p:nvPr/>
        </p:nvSpPr>
        <p:spPr bwMode="auto">
          <a:xfrm>
            <a:off x="2711451" y="4494213"/>
            <a:ext cx="396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a</a:t>
            </a:r>
          </a:p>
        </p:txBody>
      </p:sp>
      <p:sp>
        <p:nvSpPr>
          <p:cNvPr id="374867" name="Text Box 83"/>
          <p:cNvSpPr txBox="1">
            <a:spLocks noChangeArrowheads="1"/>
          </p:cNvSpPr>
          <p:nvPr/>
        </p:nvSpPr>
        <p:spPr bwMode="auto">
          <a:xfrm>
            <a:off x="2563149" y="5976940"/>
            <a:ext cx="396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07330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4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788" grpId="0" animBg="1" autoUpdateAnimBg="0"/>
      <p:bldP spid="374864" grpId="0" animBg="1" autoUpdateAnimBg="0"/>
      <p:bldP spid="374865" grpId="0" animBg="1" autoUpdateAnimBg="0"/>
      <p:bldP spid="374866" grpId="0" autoUpdateAnimBg="0"/>
      <p:bldP spid="374867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27263" y="1133476"/>
            <a:ext cx="8355012" cy="4614863"/>
          </a:xfrm>
        </p:spPr>
        <p:txBody>
          <a:bodyPr/>
          <a:lstStyle/>
          <a:p>
            <a:pPr marL="274638" indent="-274638">
              <a:lnSpc>
                <a:spcPct val="115000"/>
              </a:lnSpc>
              <a:spcBef>
                <a:spcPct val="50000"/>
              </a:spcBef>
              <a:buSzPct val="85000"/>
              <a:buFont typeface="Tahoma" pitchFamily="34" charset="0"/>
              <a:buChar char="−"/>
            </a:pPr>
            <a:r>
              <a:rPr lang="zh-CN" altLang="en-US" sz="2800" b="1" dirty="0"/>
              <a:t>格式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  <a:r>
              <a:rPr lang="zh-CN" altLang="zh-CN" sz="2800" b="1" dirty="0"/>
              <a:t>   </a:t>
            </a:r>
            <a:r>
              <a:rPr lang="zh-CN" altLang="zh-CN" sz="2800" b="1" dirty="0">
                <a:latin typeface="Arial" pitchFamily="34" charset="0"/>
              </a:rPr>
              <a:t>strlen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en-US" sz="2800" b="1" dirty="0"/>
              <a:t>字符串</a:t>
            </a:r>
            <a:r>
              <a:rPr lang="zh-CN" altLang="zh-CN" sz="2800" b="1" dirty="0">
                <a:latin typeface="Times New Roman" pitchFamily="18" charset="0"/>
              </a:rPr>
              <a:t>) ;</a:t>
            </a:r>
          </a:p>
          <a:p>
            <a:pPr marL="274638" indent="-274638">
              <a:lnSpc>
                <a:spcPct val="120000"/>
              </a:lnSpc>
              <a:spcBef>
                <a:spcPct val="45000"/>
              </a:spcBef>
              <a:buClr>
                <a:srgbClr val="009900"/>
              </a:buClr>
              <a:buSzPct val="85000"/>
              <a:buFont typeface="Tahoma" pitchFamily="34" charset="0"/>
              <a:buChar char="−"/>
            </a:pPr>
            <a:r>
              <a:rPr lang="zh-CN" altLang="en-US" sz="2800" b="1" dirty="0">
                <a:latin typeface="Times New Roman" pitchFamily="18" charset="0"/>
              </a:rPr>
              <a:t>作用</a:t>
            </a:r>
            <a:r>
              <a:rPr lang="zh-CN" altLang="zh-CN" sz="2800" b="1" dirty="0">
                <a:latin typeface="Times New Roman" pitchFamily="18" charset="0"/>
              </a:rPr>
              <a:t>:  </a:t>
            </a:r>
            <a:r>
              <a:rPr lang="zh-CN" altLang="en-US" sz="2800" b="1" dirty="0"/>
              <a:t>返回字符串中有效字符的个数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en-US" sz="2800" b="1" dirty="0"/>
              <a:t>不包括结束</a:t>
            </a:r>
          </a:p>
          <a:p>
            <a:pPr marL="274638" indent="-274638">
              <a:lnSpc>
                <a:spcPct val="120000"/>
              </a:lnSpc>
              <a:spcBef>
                <a:spcPct val="0"/>
              </a:spcBef>
              <a:buClr>
                <a:srgbClr val="009900"/>
              </a:buClr>
              <a:buSzPct val="85000"/>
              <a:buNone/>
            </a:pPr>
            <a:r>
              <a:rPr lang="zh-CN" altLang="en-US" sz="2800" b="1" dirty="0"/>
              <a:t>           </a:t>
            </a:r>
            <a:r>
              <a:rPr lang="zh-CN" altLang="en-US" sz="1800" b="1" dirty="0"/>
              <a:t>  </a:t>
            </a:r>
            <a:r>
              <a:rPr lang="zh-CN" altLang="en-US" sz="2800" b="1" dirty="0"/>
              <a:t>符</a:t>
            </a:r>
            <a:r>
              <a:rPr lang="zh-CN" altLang="en-US" sz="2800" b="1" dirty="0">
                <a:latin typeface="Times New Roman" pitchFamily="18" charset="0"/>
              </a:rPr>
              <a:t>‘</a:t>
            </a:r>
            <a:r>
              <a:rPr lang="zh-CN" altLang="zh-CN" sz="2800" dirty="0"/>
              <a:t>\</a:t>
            </a:r>
            <a:r>
              <a:rPr lang="zh-CN" altLang="zh-CN" sz="2800" b="1" dirty="0">
                <a:latin typeface="Arial" pitchFamily="34" charset="0"/>
              </a:rPr>
              <a:t>0</a:t>
            </a:r>
            <a:r>
              <a:rPr lang="zh-CN" altLang="zh-CN" sz="2800" b="1" dirty="0">
                <a:latin typeface="Times New Roman" pitchFamily="18" charset="0"/>
              </a:rPr>
              <a:t>’</a:t>
            </a:r>
            <a:r>
              <a:rPr lang="zh-CN" altLang="en-US" sz="2400" b="1" dirty="0"/>
              <a:t>。</a:t>
            </a:r>
            <a:endParaRPr lang="zh-CN" altLang="en-US" sz="2400" b="1" dirty="0">
              <a:latin typeface="Times New Roman" pitchFamily="18" charset="0"/>
            </a:endParaRPr>
          </a:p>
          <a:p>
            <a:pPr marL="274638" indent="-274638">
              <a:lnSpc>
                <a:spcPct val="120000"/>
              </a:lnSpc>
              <a:spcBef>
                <a:spcPct val="25000"/>
              </a:spcBef>
              <a:buSzPct val="85000"/>
              <a:buFont typeface="Tahoma" pitchFamily="34" charset="0"/>
              <a:buChar char="−"/>
            </a:pPr>
            <a:r>
              <a:rPr lang="zh-CN" altLang="en-US" sz="2800" b="1" dirty="0"/>
              <a:t>例</a:t>
            </a:r>
            <a:r>
              <a:rPr lang="zh-CN" altLang="zh-CN" sz="2800" b="1" dirty="0">
                <a:latin typeface="Times New Roman" pitchFamily="18" charset="0"/>
              </a:rPr>
              <a:t>1:</a:t>
            </a:r>
            <a:r>
              <a:rPr lang="zh-CN" altLang="zh-CN" sz="2800" b="1" dirty="0"/>
              <a:t> </a:t>
            </a:r>
          </a:p>
          <a:p>
            <a:pPr marL="274638" indent="-274638">
              <a:lnSpc>
                <a:spcPct val="85000"/>
              </a:lnSpc>
              <a:spcBef>
                <a:spcPct val="0"/>
              </a:spcBef>
              <a:buNone/>
            </a:pPr>
            <a:r>
              <a:rPr lang="zh-CN" altLang="zh-CN" sz="2800" b="1" dirty="0"/>
              <a:t>            </a:t>
            </a:r>
            <a:r>
              <a:rPr lang="zh-CN" altLang="zh-CN" sz="2800" b="1" dirty="0">
                <a:latin typeface="Arial" pitchFamily="34" charset="0"/>
              </a:rPr>
              <a:t>char</a:t>
            </a:r>
            <a:r>
              <a:rPr lang="zh-CN" altLang="zh-CN" sz="2800" b="1" dirty="0"/>
              <a:t>  </a:t>
            </a:r>
            <a:r>
              <a:rPr lang="zh-CN" altLang="zh-CN" sz="2800" b="1" dirty="0">
                <a:latin typeface="Arial" pitchFamily="34" charset="0"/>
              </a:rPr>
              <a:t>str</a:t>
            </a:r>
            <a:r>
              <a:rPr lang="zh-CN" altLang="zh-CN" sz="2800" b="1" dirty="0">
                <a:latin typeface="黑体" pitchFamily="49" charset="-122"/>
              </a:rPr>
              <a:t>[</a:t>
            </a:r>
            <a:r>
              <a:rPr lang="zh-CN" altLang="zh-CN" sz="2800" b="1" dirty="0">
                <a:latin typeface="Arial" pitchFamily="34" charset="0"/>
              </a:rPr>
              <a:t>10</a:t>
            </a:r>
            <a:r>
              <a:rPr lang="zh-CN" altLang="zh-CN" sz="2800" b="1" dirty="0">
                <a:latin typeface="黑体" pitchFamily="49" charset="-122"/>
              </a:rPr>
              <a:t>]</a:t>
            </a:r>
            <a:r>
              <a:rPr lang="zh-CN" altLang="zh-CN" sz="2800" b="1" dirty="0"/>
              <a:t>=</a:t>
            </a:r>
            <a:r>
              <a:rPr lang="zh-CN" altLang="zh-CN" sz="2800" b="1" dirty="0">
                <a:latin typeface="Times New Roman"/>
              </a:rPr>
              <a:t>“</a:t>
            </a:r>
            <a:r>
              <a:rPr lang="zh-CN" altLang="zh-CN" sz="2800" b="1" dirty="0">
                <a:latin typeface="Arial" pitchFamily="34" charset="0"/>
              </a:rPr>
              <a:t>abcdefgh</a:t>
            </a:r>
            <a:r>
              <a:rPr lang="zh-CN" altLang="zh-CN" sz="2800" b="1" dirty="0">
                <a:latin typeface="Times New Roman"/>
              </a:rPr>
              <a:t>”</a:t>
            </a:r>
            <a:r>
              <a:rPr lang="zh-CN" altLang="zh-CN" sz="2800" b="1" dirty="0">
                <a:latin typeface="Times New Roman" pitchFamily="18" charset="0"/>
              </a:rPr>
              <a:t>; </a:t>
            </a:r>
          </a:p>
          <a:p>
            <a:pPr marL="274638" indent="-274638">
              <a:lnSpc>
                <a:spcPct val="120000"/>
              </a:lnSpc>
              <a:spcBef>
                <a:spcPct val="40000"/>
              </a:spcBef>
              <a:buNone/>
            </a:pPr>
            <a:r>
              <a:rPr lang="zh-CN" altLang="zh-CN" sz="2800" b="1" dirty="0">
                <a:latin typeface="Times New Roman" pitchFamily="18" charset="0"/>
              </a:rPr>
              <a:t>              </a:t>
            </a:r>
            <a:r>
              <a:rPr lang="zh-CN" altLang="zh-CN" sz="2800" b="1" dirty="0">
                <a:latin typeface="Arial" pitchFamily="34" charset="0"/>
              </a:rPr>
              <a:t>printf</a:t>
            </a:r>
            <a:r>
              <a:rPr lang="zh-CN" altLang="zh-CN" sz="2800" b="1" dirty="0">
                <a:latin typeface="Times New Roman" pitchFamily="18" charset="0"/>
              </a:rPr>
              <a:t>(“</a:t>
            </a:r>
            <a:r>
              <a:rPr lang="zh-CN" altLang="zh-CN" sz="2800" b="1" dirty="0">
                <a:latin typeface="Arial" pitchFamily="34" charset="0"/>
              </a:rPr>
              <a:t>%d</a:t>
            </a:r>
            <a:r>
              <a:rPr lang="zh-CN" altLang="zh-CN" sz="2800" dirty="0"/>
              <a:t>\</a:t>
            </a:r>
            <a:r>
              <a:rPr lang="zh-CN" altLang="zh-CN" sz="2800" b="1" dirty="0"/>
              <a:t>n</a:t>
            </a:r>
            <a:r>
              <a:rPr lang="zh-CN" altLang="zh-CN" sz="2800" b="1" dirty="0">
                <a:latin typeface="Times New Roman" pitchFamily="18" charset="0"/>
              </a:rPr>
              <a:t>”, </a:t>
            </a:r>
            <a:r>
              <a:rPr lang="zh-CN" altLang="zh-CN" sz="2800" b="1" dirty="0">
                <a:latin typeface="Arial" pitchFamily="34" charset="0"/>
              </a:rPr>
              <a:t>strlen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>
                <a:latin typeface="Arial" pitchFamily="34" charset="0"/>
              </a:rPr>
              <a:t>str</a:t>
            </a:r>
            <a:r>
              <a:rPr lang="zh-CN" altLang="zh-CN" sz="2800" b="1" dirty="0">
                <a:latin typeface="Times New Roman" pitchFamily="18" charset="0"/>
              </a:rPr>
              <a:t>));            </a:t>
            </a:r>
          </a:p>
        </p:txBody>
      </p:sp>
      <p:sp>
        <p:nvSpPr>
          <p:cNvPr id="376835" name="Rectangle 3"/>
          <p:cNvSpPr>
            <a:spLocks noGrp="1" noChangeArrowheads="1"/>
          </p:cNvSpPr>
          <p:nvPr>
            <p:ph type="title"/>
          </p:nvPr>
        </p:nvSpPr>
        <p:spPr>
          <a:xfrm>
            <a:off x="2266950" y="79376"/>
            <a:ext cx="6173788" cy="638175"/>
          </a:xfrm>
          <a:noFill/>
          <a:ln/>
        </p:spPr>
        <p:txBody>
          <a:bodyPr/>
          <a:lstStyle/>
          <a:p>
            <a:pPr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en-US"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rPr>
              <a:t>测字符串长度函数</a:t>
            </a:r>
          </a:p>
        </p:txBody>
      </p:sp>
      <p:sp>
        <p:nvSpPr>
          <p:cNvPr id="376836" name="Rectangle 4"/>
          <p:cNvSpPr>
            <a:spLocks noChangeArrowheads="1"/>
          </p:cNvSpPr>
          <p:nvPr/>
        </p:nvSpPr>
        <p:spPr bwMode="auto">
          <a:xfrm>
            <a:off x="3454400" y="4811713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输出 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9819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836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3200" b="1" dirty="0">
                <a:latin typeface="Arial" pitchFamily="34" charset="0"/>
              </a:rPr>
              <a:t>char</a:t>
            </a:r>
            <a:r>
              <a:rPr lang="zh-CN" altLang="zh-CN" sz="3200" b="1" dirty="0"/>
              <a:t>  </a:t>
            </a:r>
            <a:r>
              <a:rPr lang="zh-CN" altLang="zh-CN" sz="3200" b="1" dirty="0">
                <a:latin typeface="Arial" pitchFamily="34" charset="0"/>
              </a:rPr>
              <a:t>sp</a:t>
            </a:r>
            <a:r>
              <a:rPr lang="zh-CN" altLang="zh-CN" sz="3200" b="1" dirty="0">
                <a:latin typeface="黑体" pitchFamily="49" charset="-122"/>
              </a:rPr>
              <a:t>[]</a:t>
            </a:r>
            <a:r>
              <a:rPr lang="zh-CN" altLang="zh-CN" sz="3200" b="1" dirty="0"/>
              <a:t>=</a:t>
            </a:r>
            <a:r>
              <a:rPr lang="zh-CN" altLang="zh-CN" sz="3200" b="1" dirty="0">
                <a:latin typeface="Times New Roman"/>
              </a:rPr>
              <a:t>“</a:t>
            </a:r>
            <a:r>
              <a:rPr lang="zh-CN" altLang="zh-CN" sz="3200" dirty="0"/>
              <a:t>\</a:t>
            </a:r>
            <a:r>
              <a:rPr lang="zh-CN" altLang="zh-CN" sz="3200" b="1" dirty="0">
                <a:latin typeface="Arial" pitchFamily="34" charset="0"/>
              </a:rPr>
              <a:t>t</a:t>
            </a:r>
            <a:r>
              <a:rPr lang="zh-CN" altLang="zh-CN" sz="3200" dirty="0"/>
              <a:t>\</a:t>
            </a:r>
            <a:r>
              <a:rPr lang="zh-CN" altLang="zh-CN" sz="3200" b="1" dirty="0">
                <a:latin typeface="Arial" pitchFamily="34" charset="0"/>
              </a:rPr>
              <a:t>v</a:t>
            </a:r>
            <a:r>
              <a:rPr lang="zh-CN" altLang="zh-CN" sz="3200" dirty="0"/>
              <a:t>\\\</a:t>
            </a:r>
            <a:r>
              <a:rPr lang="zh-CN" altLang="zh-CN" sz="3200" b="1" dirty="0">
                <a:latin typeface="Arial" pitchFamily="34" charset="0"/>
              </a:rPr>
              <a:t>0will</a:t>
            </a:r>
            <a:r>
              <a:rPr lang="zh-CN" altLang="zh-CN" sz="3200" dirty="0"/>
              <a:t>\</a:t>
            </a:r>
            <a:r>
              <a:rPr lang="zh-CN" altLang="zh-CN" sz="3200" b="1" dirty="0"/>
              <a:t>n</a:t>
            </a:r>
            <a:r>
              <a:rPr lang="zh-CN" altLang="zh-CN" sz="3200" b="1" dirty="0">
                <a:latin typeface="Times New Roman"/>
              </a:rPr>
              <a:t>”</a:t>
            </a:r>
            <a:r>
              <a:rPr lang="zh-CN" altLang="zh-CN" sz="3200" b="1" dirty="0">
                <a:latin typeface="Times New Roman" pitchFamily="18" charset="0"/>
              </a:rPr>
              <a:t>; </a:t>
            </a:r>
          </a:p>
          <a:p>
            <a:pPr>
              <a:lnSpc>
                <a:spcPct val="12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zh-CN" altLang="zh-CN" sz="3200" b="1">
                <a:latin typeface="Arial" pitchFamily="34" charset="0"/>
              </a:rPr>
              <a:t>printf</a:t>
            </a:r>
            <a:r>
              <a:rPr lang="zh-CN" altLang="zh-CN" sz="3200" b="1" dirty="0">
                <a:latin typeface="Times New Roman" pitchFamily="18" charset="0"/>
              </a:rPr>
              <a:t>(“</a:t>
            </a:r>
            <a:r>
              <a:rPr lang="zh-CN" altLang="zh-CN" sz="3200" b="1" dirty="0">
                <a:latin typeface="Arial" pitchFamily="34" charset="0"/>
              </a:rPr>
              <a:t>%d</a:t>
            </a:r>
            <a:r>
              <a:rPr lang="zh-CN" altLang="zh-CN" sz="3200" dirty="0"/>
              <a:t>\</a:t>
            </a:r>
            <a:r>
              <a:rPr lang="zh-CN" altLang="zh-CN" sz="3200" b="1" dirty="0">
                <a:latin typeface="Arial" pitchFamily="34" charset="0"/>
              </a:rPr>
              <a:t>n</a:t>
            </a:r>
            <a:r>
              <a:rPr lang="zh-CN" altLang="zh-CN" sz="3200" b="1" dirty="0">
                <a:latin typeface="Times New Roman" pitchFamily="18" charset="0"/>
              </a:rPr>
              <a:t>”,  </a:t>
            </a:r>
            <a:r>
              <a:rPr lang="zh-CN" altLang="zh-CN" sz="3200" b="1" dirty="0">
                <a:latin typeface="Arial" pitchFamily="34" charset="0"/>
              </a:rPr>
              <a:t>strlen</a:t>
            </a:r>
            <a:r>
              <a:rPr lang="zh-CN" altLang="zh-CN" sz="3200" b="1" dirty="0">
                <a:latin typeface="Times New Roman" pitchFamily="18" charset="0"/>
              </a:rPr>
              <a:t>(</a:t>
            </a:r>
            <a:r>
              <a:rPr lang="zh-CN" altLang="zh-CN" sz="3200" b="1" dirty="0">
                <a:latin typeface="Arial" pitchFamily="34" charset="0"/>
              </a:rPr>
              <a:t>sp</a:t>
            </a:r>
            <a:r>
              <a:rPr lang="zh-CN" altLang="zh-CN" sz="3200" b="1" dirty="0">
                <a:latin typeface="Times New Roman" pitchFamily="18" charset="0"/>
              </a:rPr>
              <a:t>));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434072" y="3964780"/>
            <a:ext cx="15910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14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434072" y="4822030"/>
            <a:ext cx="15910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3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7896200" y="3900487"/>
            <a:ext cx="15910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9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7896200" y="4757737"/>
            <a:ext cx="15910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不定值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719697" y="4029073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719697" y="4886323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7181825" y="3964780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7181825" y="4822030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7749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415480" y="635001"/>
            <a:ext cx="833812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spcBef>
                <a:spcPct val="100000"/>
              </a:spcBef>
              <a:buFont typeface="Wingdings" pitchFamily="2" charset="2"/>
              <a:buNone/>
            </a:pPr>
            <a:r>
              <a:rPr lang="zh-CN" altLang="zh-CN" sz="3200" b="1" dirty="0">
                <a:latin typeface="Arial" pitchFamily="34" charset="0"/>
              </a:rPr>
              <a:t>char</a:t>
            </a:r>
            <a:r>
              <a:rPr lang="zh-CN" altLang="zh-CN" sz="3200" b="1" dirty="0"/>
              <a:t>  </a:t>
            </a:r>
            <a:r>
              <a:rPr lang="zh-CN" altLang="zh-CN" sz="3200" b="1" dirty="0">
                <a:latin typeface="Arial" pitchFamily="34" charset="0"/>
              </a:rPr>
              <a:t>st</a:t>
            </a:r>
            <a:r>
              <a:rPr lang="zh-CN" altLang="zh-CN" sz="3200" b="1" dirty="0">
                <a:latin typeface="黑体" pitchFamily="49" charset="-122"/>
              </a:rPr>
              <a:t>[ </a:t>
            </a:r>
            <a:r>
              <a:rPr lang="zh-CN" altLang="zh-CN" sz="3200" b="1">
                <a:latin typeface="黑体" pitchFamily="49" charset="-122"/>
              </a:rPr>
              <a:t>]</a:t>
            </a:r>
            <a:r>
              <a:rPr lang="zh-CN" altLang="zh-CN" sz="3200" b="1"/>
              <a:t>={</a:t>
            </a:r>
            <a:r>
              <a:rPr lang="zh-CN" altLang="zh-CN" sz="3200" b="1">
                <a:latin typeface="Times New Roman"/>
              </a:rPr>
              <a:t>“</a:t>
            </a:r>
            <a:r>
              <a:rPr lang="zh-CN" altLang="zh-CN" sz="3200" b="1">
                <a:solidFill>
                  <a:srgbClr val="0000B8"/>
                </a:solidFill>
                <a:latin typeface="Arial" pitchFamily="34" charset="0"/>
              </a:rPr>
              <a:t>hello</a:t>
            </a:r>
            <a:r>
              <a:rPr lang="zh-CN" altLang="zh-CN" sz="3200">
                <a:solidFill>
                  <a:srgbClr val="0000B8"/>
                </a:solidFill>
              </a:rPr>
              <a:t>\</a:t>
            </a:r>
            <a:r>
              <a:rPr lang="zh-CN" altLang="zh-CN" sz="3200" b="1">
                <a:solidFill>
                  <a:srgbClr val="0000B8"/>
                </a:solidFill>
                <a:latin typeface="Arial" pitchFamily="34" charset="0"/>
              </a:rPr>
              <a:t>0</a:t>
            </a:r>
            <a:r>
              <a:rPr lang="zh-CN" altLang="zh-CN" sz="3200">
                <a:solidFill>
                  <a:srgbClr val="0000B8"/>
                </a:solidFill>
              </a:rPr>
              <a:t>\</a:t>
            </a:r>
            <a:r>
              <a:rPr lang="zh-CN" altLang="zh-CN" sz="3200" b="1">
                <a:solidFill>
                  <a:srgbClr val="0000B8"/>
                </a:solidFill>
                <a:latin typeface="Arial" pitchFamily="34" charset="0"/>
              </a:rPr>
              <a:t>t</a:t>
            </a:r>
            <a:r>
              <a:rPr lang="zh-CN" altLang="zh-CN" sz="3200">
                <a:solidFill>
                  <a:srgbClr val="0000B8"/>
                </a:solidFill>
              </a:rPr>
              <a:t>\</a:t>
            </a:r>
            <a:r>
              <a:rPr lang="zh-CN" altLang="zh-CN" sz="3200" b="1">
                <a:solidFill>
                  <a:srgbClr val="0000B8"/>
                </a:solidFill>
                <a:latin typeface="Arial" pitchFamily="34" charset="0"/>
              </a:rPr>
              <a:t>n</a:t>
            </a:r>
            <a:r>
              <a:rPr lang="zh-CN" altLang="zh-CN" sz="3200" b="1">
                <a:latin typeface="Times New Roman"/>
              </a:rPr>
              <a:t>”</a:t>
            </a:r>
            <a:r>
              <a:rPr lang="zh-CN" altLang="zh-CN" sz="3200" b="1" dirty="0"/>
              <a:t>}</a:t>
            </a:r>
            <a:r>
              <a:rPr lang="zh-CN" altLang="zh-CN" sz="3200" b="1" dirty="0">
                <a:latin typeface="Times New Roman" pitchFamily="18" charset="0"/>
              </a:rPr>
              <a:t>;</a:t>
            </a:r>
            <a:r>
              <a:rPr lang="zh-CN" altLang="zh-CN" sz="3200" b="1" dirty="0"/>
              <a:t> </a:t>
            </a:r>
          </a:p>
          <a:p>
            <a:pPr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zh-CN" sz="3200" b="1">
                <a:latin typeface="Arial" pitchFamily="34" charset="0"/>
              </a:rPr>
              <a:t>printf</a:t>
            </a:r>
            <a:r>
              <a:rPr lang="zh-CN" altLang="zh-CN" sz="3200" b="1" dirty="0">
                <a:latin typeface="Times New Roman" pitchFamily="18" charset="0"/>
              </a:rPr>
              <a:t>(“</a:t>
            </a:r>
            <a:r>
              <a:rPr lang="zh-CN" altLang="zh-CN" sz="3200" b="1">
                <a:latin typeface="Arial" pitchFamily="34" charset="0"/>
              </a:rPr>
              <a:t>%d</a:t>
            </a:r>
            <a:r>
              <a:rPr lang="en-US" altLang="zh-CN" sz="3200" b="1">
                <a:latin typeface="Arial" pitchFamily="34" charset="0"/>
              </a:rPr>
              <a:t>,%d</a:t>
            </a:r>
            <a:r>
              <a:rPr lang="zh-CN" altLang="zh-CN" sz="3200"/>
              <a:t>\</a:t>
            </a:r>
            <a:r>
              <a:rPr lang="zh-CN" altLang="zh-CN" sz="3200" b="1">
                <a:latin typeface="Arial" pitchFamily="34" charset="0"/>
              </a:rPr>
              <a:t>n</a:t>
            </a:r>
            <a:r>
              <a:rPr lang="zh-CN" altLang="zh-CN" sz="3200" b="1" dirty="0">
                <a:latin typeface="Times New Roman" pitchFamily="18" charset="0"/>
              </a:rPr>
              <a:t>”</a:t>
            </a:r>
            <a:r>
              <a:rPr lang="zh-CN" altLang="zh-CN" sz="3200" b="1">
                <a:latin typeface="Arial" pitchFamily="34" charset="0"/>
              </a:rPr>
              <a:t>, </a:t>
            </a:r>
            <a:r>
              <a:rPr lang="en-US" altLang="zh-CN" sz="3200" b="1">
                <a:latin typeface="Arial" pitchFamily="34" charset="0"/>
              </a:rPr>
              <a:t>strlen(st),</a:t>
            </a:r>
            <a:r>
              <a:rPr lang="zh-CN" altLang="zh-CN" sz="3200" b="1">
                <a:latin typeface="Arial" pitchFamily="34" charset="0"/>
              </a:rPr>
              <a:t>sizeof</a:t>
            </a:r>
            <a:r>
              <a:rPr lang="zh-CN" altLang="zh-CN" sz="3200" b="1" dirty="0">
                <a:latin typeface="Times New Roman" pitchFamily="18" charset="0"/>
              </a:rPr>
              <a:t>(</a:t>
            </a:r>
            <a:r>
              <a:rPr lang="zh-CN" altLang="zh-CN" sz="3200" b="1" dirty="0">
                <a:latin typeface="Arial" pitchFamily="34" charset="0"/>
              </a:rPr>
              <a:t>st</a:t>
            </a:r>
            <a:r>
              <a:rPr lang="zh-CN" altLang="zh-CN" sz="3200" b="1" dirty="0">
                <a:latin typeface="Times New Roman" pitchFamily="18" charset="0"/>
              </a:rPr>
              <a:t>));</a:t>
            </a:r>
            <a:r>
              <a:rPr lang="zh-CN" altLang="zh-CN" sz="3200" b="1" dirty="0"/>
              <a:t>  </a:t>
            </a:r>
            <a:endParaRPr lang="zh-CN" altLang="zh-CN" sz="3200" b="1" dirty="0">
              <a:latin typeface="Times New Roman" pitchFamily="18" charset="0"/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359696" y="3822699"/>
            <a:ext cx="11590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8,9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359696" y="4679949"/>
            <a:ext cx="11590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5,8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8184232" y="3758406"/>
            <a:ext cx="11590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5,9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8184232" y="4615656"/>
            <a:ext cx="11590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9,9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45321" y="3886992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7416107" y="3807140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61842" y="4743412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7469857" y="4679949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859774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55838" y="41275"/>
            <a:ext cx="4792662" cy="730250"/>
          </a:xfrm>
        </p:spPr>
        <p:txBody>
          <a:bodyPr/>
          <a:lstStyle/>
          <a:p>
            <a:pPr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en-US" sz="28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字符串比较函数</a:t>
            </a:r>
          </a:p>
        </p:txBody>
      </p:sp>
      <p:sp>
        <p:nvSpPr>
          <p:cNvPr id="380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14563" y="1136651"/>
            <a:ext cx="8229600" cy="4518025"/>
          </a:xfrm>
        </p:spPr>
        <p:txBody>
          <a:bodyPr/>
          <a:lstStyle/>
          <a:p>
            <a:pPr marL="274638" indent="-274638">
              <a:lnSpc>
                <a:spcPct val="115000"/>
              </a:lnSpc>
              <a:spcBef>
                <a:spcPct val="50000"/>
              </a:spcBef>
              <a:buSzPct val="85000"/>
              <a:buFont typeface="Tahoma" pitchFamily="34" charset="0"/>
              <a:buChar char="−"/>
            </a:pPr>
            <a:r>
              <a:rPr lang="zh-CN" altLang="en-US" sz="2800" b="1"/>
              <a:t>格式</a:t>
            </a:r>
            <a:r>
              <a:rPr lang="zh-CN" altLang="zh-CN" sz="2800" b="1">
                <a:latin typeface="Times New Roman" pitchFamily="18" charset="0"/>
              </a:rPr>
              <a:t>:</a:t>
            </a:r>
            <a:r>
              <a:rPr lang="zh-CN" altLang="zh-CN" sz="2800" b="1"/>
              <a:t>  </a:t>
            </a:r>
            <a:r>
              <a:rPr lang="zh-CN" altLang="zh-CN" sz="2800" b="1">
                <a:latin typeface="Arial" pitchFamily="34" charset="0"/>
              </a:rPr>
              <a:t>strcmp</a:t>
            </a:r>
            <a:r>
              <a:rPr lang="zh-CN" altLang="zh-CN" sz="2800" b="1">
                <a:latin typeface="Times New Roman" pitchFamily="18" charset="0"/>
              </a:rPr>
              <a:t>( </a:t>
            </a:r>
            <a:r>
              <a:rPr lang="zh-CN" altLang="en-US" sz="2800" b="1"/>
              <a:t>字符串</a:t>
            </a:r>
            <a:r>
              <a:rPr lang="zh-CN" altLang="zh-CN" sz="2800" b="1">
                <a:latin typeface="Arial" pitchFamily="34" charset="0"/>
              </a:rPr>
              <a:t>1</a:t>
            </a:r>
            <a:r>
              <a:rPr lang="zh-CN" altLang="zh-CN" sz="2800" b="1">
                <a:latin typeface="Times New Roman" pitchFamily="18" charset="0"/>
              </a:rPr>
              <a:t>,  </a:t>
            </a:r>
            <a:r>
              <a:rPr lang="zh-CN" altLang="en-US" sz="2800" b="1"/>
              <a:t>字符串</a:t>
            </a:r>
            <a:r>
              <a:rPr lang="zh-CN" altLang="zh-CN" sz="2800" b="1">
                <a:latin typeface="Arial" pitchFamily="34" charset="0"/>
              </a:rPr>
              <a:t>2</a:t>
            </a:r>
            <a:r>
              <a:rPr lang="zh-CN" altLang="zh-CN" sz="2800" b="1"/>
              <a:t> </a:t>
            </a:r>
            <a:r>
              <a:rPr lang="zh-CN" altLang="zh-CN" sz="2800" b="1">
                <a:latin typeface="Times New Roman" pitchFamily="18" charset="0"/>
              </a:rPr>
              <a:t>);</a:t>
            </a:r>
            <a:endParaRPr lang="zh-CN" altLang="zh-CN" sz="2800" b="1"/>
          </a:p>
          <a:p>
            <a:pPr marL="274638" indent="-274638">
              <a:lnSpc>
                <a:spcPct val="120000"/>
              </a:lnSpc>
              <a:spcBef>
                <a:spcPct val="55000"/>
              </a:spcBef>
              <a:buSzPct val="85000"/>
              <a:buFont typeface="Tahoma" pitchFamily="34" charset="0"/>
              <a:buChar char="−"/>
            </a:pPr>
            <a:r>
              <a:rPr lang="zh-CN" altLang="en-US" sz="2800" b="1">
                <a:latin typeface="Times New Roman" pitchFamily="18" charset="0"/>
              </a:rPr>
              <a:t>作用</a:t>
            </a:r>
            <a:r>
              <a:rPr lang="zh-CN" altLang="zh-CN" sz="2800" b="1">
                <a:latin typeface="Times New Roman" pitchFamily="18" charset="0"/>
              </a:rPr>
              <a:t>:  </a:t>
            </a:r>
            <a:r>
              <a:rPr lang="zh-CN" altLang="en-US" sz="2800" b="1">
                <a:latin typeface="Times New Roman" pitchFamily="18" charset="0"/>
              </a:rPr>
              <a:t>比较</a:t>
            </a:r>
            <a:r>
              <a:rPr lang="zh-CN" altLang="en-US" sz="2800" b="1"/>
              <a:t>字符串</a:t>
            </a:r>
            <a:r>
              <a:rPr lang="zh-CN" altLang="zh-CN" sz="2800" b="1">
                <a:latin typeface="Arial" pitchFamily="34" charset="0"/>
              </a:rPr>
              <a:t>1</a:t>
            </a:r>
            <a:r>
              <a:rPr lang="zh-CN" altLang="en-US" sz="2800" b="1"/>
              <a:t>和字符串</a:t>
            </a:r>
            <a:r>
              <a:rPr lang="zh-CN" altLang="zh-CN" sz="2800" b="1">
                <a:latin typeface="Arial" pitchFamily="34" charset="0"/>
              </a:rPr>
              <a:t>2</a:t>
            </a:r>
          </a:p>
          <a:p>
            <a:pPr marL="274638" indent="-274638">
              <a:lnSpc>
                <a:spcPct val="125000"/>
              </a:lnSpc>
              <a:spcBef>
                <a:spcPct val="50000"/>
              </a:spcBef>
              <a:buNone/>
            </a:pPr>
            <a:r>
              <a:rPr lang="zh-CN" altLang="zh-CN" sz="2800" b="1"/>
              <a:t>   </a:t>
            </a:r>
            <a:r>
              <a:rPr lang="zh-CN" altLang="zh-CN" sz="900" b="1"/>
              <a:t> </a:t>
            </a:r>
            <a:r>
              <a:rPr lang="zh-CN" altLang="zh-CN" sz="2800" b="1"/>
              <a:t>   </a:t>
            </a:r>
            <a:r>
              <a:rPr lang="zh-CN" altLang="en-US" sz="2800" b="1"/>
              <a:t>如</a:t>
            </a:r>
            <a:r>
              <a:rPr lang="zh-CN" altLang="zh-CN" sz="2800" b="1">
                <a:latin typeface="Times New Roman" pitchFamily="18" charset="0"/>
              </a:rPr>
              <a:t>:</a:t>
            </a:r>
            <a:r>
              <a:rPr lang="zh-CN" altLang="zh-CN" sz="2800" b="1"/>
              <a:t>  </a:t>
            </a:r>
            <a:r>
              <a:rPr lang="zh-CN" altLang="zh-CN" sz="2800" b="1">
                <a:solidFill>
                  <a:srgbClr val="00009E"/>
                </a:solidFill>
                <a:latin typeface="Arial" pitchFamily="34" charset="0"/>
              </a:rPr>
              <a:t>strcmp</a:t>
            </a:r>
            <a:r>
              <a:rPr lang="zh-CN" altLang="zh-CN" sz="2800" b="1">
                <a:solidFill>
                  <a:srgbClr val="00009E"/>
                </a:solidFill>
                <a:latin typeface="Times New Roman" pitchFamily="18" charset="0"/>
              </a:rPr>
              <a:t>(“</a:t>
            </a:r>
            <a:r>
              <a:rPr lang="zh-CN" altLang="zh-CN" sz="2800" b="1">
                <a:solidFill>
                  <a:srgbClr val="00009E"/>
                </a:solidFill>
                <a:latin typeface="Arial" pitchFamily="34" charset="0"/>
              </a:rPr>
              <a:t>china</a:t>
            </a:r>
            <a:r>
              <a:rPr lang="zh-CN" altLang="zh-CN" sz="2800" b="1">
                <a:solidFill>
                  <a:srgbClr val="00009E"/>
                </a:solidFill>
                <a:latin typeface="Times New Roman" pitchFamily="18" charset="0"/>
              </a:rPr>
              <a:t>”, “</a:t>
            </a:r>
            <a:r>
              <a:rPr lang="zh-CN" altLang="zh-CN" sz="2800" b="1">
                <a:solidFill>
                  <a:srgbClr val="00009E"/>
                </a:solidFill>
                <a:latin typeface="Arial" pitchFamily="34" charset="0"/>
              </a:rPr>
              <a:t>Beiging</a:t>
            </a:r>
            <a:r>
              <a:rPr lang="zh-CN" altLang="zh-CN" sz="2800" b="1">
                <a:solidFill>
                  <a:srgbClr val="00009E"/>
                </a:solidFill>
                <a:latin typeface="Times New Roman" pitchFamily="18" charset="0"/>
              </a:rPr>
              <a:t>”);</a:t>
            </a:r>
          </a:p>
          <a:p>
            <a:pPr marL="274638" indent="-274638">
              <a:lnSpc>
                <a:spcPct val="125000"/>
              </a:lnSpc>
              <a:spcBef>
                <a:spcPct val="75000"/>
              </a:spcBef>
              <a:buNone/>
            </a:pPr>
            <a:r>
              <a:rPr lang="zh-CN" altLang="zh-CN" sz="2800" b="1">
                <a:latin typeface="黑体" pitchFamily="49" charset="-122"/>
              </a:rPr>
              <a:t>       </a:t>
            </a:r>
            <a:r>
              <a:rPr lang="zh-CN" altLang="en-US" sz="2800" b="1">
                <a:latin typeface="黑体" pitchFamily="49" charset="-122"/>
              </a:rPr>
              <a:t>两个字符串从左至右逐个字符比较</a:t>
            </a:r>
            <a:r>
              <a:rPr lang="zh-CN" altLang="zh-CN" sz="2800" b="1">
                <a:latin typeface="黑体" pitchFamily="49" charset="-122"/>
              </a:rPr>
              <a:t>(</a:t>
            </a:r>
            <a:r>
              <a:rPr lang="zh-CN" altLang="en-US" sz="2800" b="1">
                <a:latin typeface="黑体" pitchFamily="49" charset="-122"/>
              </a:rPr>
              <a:t>按字</a:t>
            </a:r>
          </a:p>
          <a:p>
            <a:pPr marL="274638" indent="-274638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2800" b="1">
                <a:latin typeface="黑体" pitchFamily="49" charset="-122"/>
              </a:rPr>
              <a:t>       符的</a:t>
            </a:r>
            <a:r>
              <a:rPr lang="zh-CN" altLang="zh-CN" sz="2800" b="1">
                <a:latin typeface="黑体" pitchFamily="49" charset="-122"/>
              </a:rPr>
              <a:t>ASCII</a:t>
            </a:r>
            <a:r>
              <a:rPr lang="zh-CN" altLang="en-US" sz="2800" b="1">
                <a:latin typeface="黑体" pitchFamily="49" charset="-122"/>
              </a:rPr>
              <a:t>码值大小</a:t>
            </a:r>
            <a:r>
              <a:rPr lang="zh-CN" altLang="zh-CN" sz="2800" b="1">
                <a:latin typeface="黑体" pitchFamily="49" charset="-122"/>
              </a:rPr>
              <a:t>) </a:t>
            </a:r>
            <a:r>
              <a:rPr lang="zh-CN" altLang="en-US" sz="2800" b="1">
                <a:latin typeface="黑体" pitchFamily="49" charset="-122"/>
              </a:rPr>
              <a:t>直到字符不同或遇</a:t>
            </a:r>
          </a:p>
          <a:p>
            <a:pPr marL="274638" indent="-274638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2800" b="1">
                <a:latin typeface="黑体" pitchFamily="49" charset="-122"/>
              </a:rPr>
              <a:t>       见</a:t>
            </a:r>
            <a:r>
              <a:rPr lang="zh-CN" altLang="en-US" sz="2800" b="1">
                <a:latin typeface="Times New Roman"/>
              </a:rPr>
              <a:t>’</a:t>
            </a:r>
            <a:r>
              <a:rPr lang="zh-CN" altLang="zh-CN" sz="2800" b="1">
                <a:latin typeface="黑体" pitchFamily="49" charset="-122"/>
              </a:rPr>
              <a:t>\0</a:t>
            </a:r>
            <a:r>
              <a:rPr lang="zh-CN" altLang="zh-CN" sz="2800" b="1">
                <a:latin typeface="Times New Roman"/>
              </a:rPr>
              <a:t>’</a:t>
            </a:r>
            <a:r>
              <a:rPr lang="zh-CN" altLang="en-US" sz="2800" b="1">
                <a:latin typeface="黑体" pitchFamily="49" charset="-122"/>
              </a:rPr>
              <a:t>为止。</a:t>
            </a:r>
          </a:p>
        </p:txBody>
      </p:sp>
      <p:sp>
        <p:nvSpPr>
          <p:cNvPr id="380932" name="Rectangle 4"/>
          <p:cNvSpPr>
            <a:spLocks noChangeArrowheads="1"/>
          </p:cNvSpPr>
          <p:nvPr/>
        </p:nvSpPr>
        <p:spPr bwMode="auto">
          <a:xfrm>
            <a:off x="2490788" y="3351214"/>
            <a:ext cx="7696200" cy="23336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82575" indent="-282575" fontAlgn="base">
              <a:lnSpc>
                <a:spcPct val="75000"/>
              </a:lnSpc>
              <a:spcBef>
                <a:spcPct val="15000"/>
              </a:spcBef>
              <a:spcAft>
                <a:spcPct val="0"/>
              </a:spcAft>
              <a:buClr>
                <a:srgbClr val="008000"/>
              </a:buClr>
              <a:buSzPct val="80000"/>
              <a:buFont typeface="Tahoma" pitchFamily="34" charset="0"/>
              <a:buChar char="−"/>
            </a:pPr>
            <a:endParaRPr lang="zh-CN" altLang="zh-CN" sz="2800" b="1">
              <a:solidFill>
                <a:srgbClr val="000000"/>
              </a:solidFill>
            </a:endParaRPr>
          </a:p>
          <a:p>
            <a:pPr marL="282575" indent="-282575" fontAlgn="base"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Wingdings 2" pitchFamily="18" charset="2"/>
              <a:buChar char="ô"/>
            </a:pPr>
            <a:r>
              <a:rPr lang="zh-CN" altLang="en-US" sz="2800" b="1">
                <a:solidFill>
                  <a:srgbClr val="000000"/>
                </a:solidFill>
              </a:rPr>
              <a:t>字符串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1</a:t>
            </a:r>
            <a:r>
              <a:rPr lang="zh-CN" altLang="zh-CN" sz="2800">
                <a:solidFill>
                  <a:srgbClr val="FF0000"/>
                </a:solidFill>
              </a:rPr>
              <a:t>==</a:t>
            </a:r>
            <a:r>
              <a:rPr lang="zh-CN" altLang="en-US" sz="2800" b="1">
                <a:solidFill>
                  <a:srgbClr val="000000"/>
                </a:solidFill>
              </a:rPr>
              <a:t>字符串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2</a:t>
            </a:r>
            <a:r>
              <a:rPr lang="zh-CN" altLang="en-US" sz="2800" b="1">
                <a:solidFill>
                  <a:srgbClr val="000000"/>
                </a:solidFill>
              </a:rPr>
              <a:t>，函数返回值为</a:t>
            </a:r>
            <a:r>
              <a:rPr lang="zh-CN" altLang="zh-CN" sz="2800" b="1">
                <a:solidFill>
                  <a:srgbClr val="FF0000"/>
                </a:solidFill>
                <a:latin typeface="Arial" pitchFamily="34" charset="0"/>
              </a:rPr>
              <a:t>0</a:t>
            </a:r>
            <a:r>
              <a:rPr lang="zh-CN" altLang="en-US" sz="2800" b="1">
                <a:solidFill>
                  <a:srgbClr val="000000"/>
                </a:solidFill>
              </a:rPr>
              <a:t>。</a:t>
            </a:r>
          </a:p>
          <a:p>
            <a:pPr marL="282575" indent="-282575" fontAlgn="base">
              <a:lnSpc>
                <a:spcPct val="115000"/>
              </a:lnSpc>
              <a:spcBef>
                <a:spcPct val="3500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Wingdings 2" pitchFamily="18" charset="2"/>
              <a:buChar char="ô"/>
            </a:pPr>
            <a:r>
              <a:rPr lang="zh-CN" altLang="en-US" sz="2800" b="1">
                <a:solidFill>
                  <a:srgbClr val="000000"/>
                </a:solidFill>
              </a:rPr>
              <a:t>字符串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1</a:t>
            </a:r>
            <a:r>
              <a:rPr lang="zh-CN" altLang="zh-CN" sz="2800">
                <a:solidFill>
                  <a:srgbClr val="FF0000"/>
                </a:solidFill>
              </a:rPr>
              <a:t>&gt;</a:t>
            </a:r>
            <a:r>
              <a:rPr lang="zh-CN" altLang="en-US" sz="2800" b="1">
                <a:solidFill>
                  <a:srgbClr val="000000"/>
                </a:solidFill>
              </a:rPr>
              <a:t>字符串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2</a:t>
            </a:r>
            <a:r>
              <a:rPr lang="zh-CN" altLang="en-US" sz="2800" b="1">
                <a:solidFill>
                  <a:srgbClr val="000000"/>
                </a:solidFill>
              </a:rPr>
              <a:t>，函数返回值为 </a:t>
            </a:r>
            <a:r>
              <a:rPr lang="zh-CN" altLang="zh-CN" sz="2800" b="1">
                <a:solidFill>
                  <a:srgbClr val="FF0000"/>
                </a:solidFill>
                <a:latin typeface="Arial" pitchFamily="34" charset="0"/>
              </a:rPr>
              <a:t>1</a:t>
            </a:r>
            <a:r>
              <a:rPr lang="zh-CN" altLang="en-US" sz="2800" b="1">
                <a:solidFill>
                  <a:srgbClr val="000000"/>
                </a:solidFill>
              </a:rPr>
              <a:t>。</a:t>
            </a:r>
          </a:p>
          <a:p>
            <a:pPr marL="282575" indent="-282575" fontAlgn="base">
              <a:lnSpc>
                <a:spcPct val="115000"/>
              </a:lnSpc>
              <a:spcBef>
                <a:spcPct val="3500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Wingdings 2" pitchFamily="18" charset="2"/>
              <a:buChar char="ô"/>
            </a:pPr>
            <a:r>
              <a:rPr lang="zh-CN" altLang="en-US" sz="2800" b="1">
                <a:solidFill>
                  <a:srgbClr val="000000"/>
                </a:solidFill>
              </a:rPr>
              <a:t>字符串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1</a:t>
            </a:r>
            <a:r>
              <a:rPr lang="zh-CN" altLang="zh-CN" sz="2800">
                <a:solidFill>
                  <a:srgbClr val="FF0000"/>
                </a:solidFill>
              </a:rPr>
              <a:t>&lt;</a:t>
            </a:r>
            <a:r>
              <a:rPr lang="zh-CN" altLang="en-US" sz="2800" b="1">
                <a:solidFill>
                  <a:srgbClr val="000000"/>
                </a:solidFill>
              </a:rPr>
              <a:t>字符串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2</a:t>
            </a:r>
            <a:r>
              <a:rPr lang="zh-CN" altLang="en-US" sz="2800" b="1">
                <a:solidFill>
                  <a:srgbClr val="000000"/>
                </a:solidFill>
              </a:rPr>
              <a:t>，函数返回值为</a:t>
            </a:r>
            <a:r>
              <a:rPr lang="zh-CN" altLang="zh-CN" sz="2800" b="1">
                <a:solidFill>
                  <a:srgbClr val="FF0000"/>
                </a:solidFill>
              </a:rPr>
              <a:t>-</a:t>
            </a:r>
            <a:r>
              <a:rPr lang="zh-CN" altLang="zh-CN" sz="2800" b="1">
                <a:solidFill>
                  <a:srgbClr val="FF0000"/>
                </a:solidFill>
                <a:latin typeface="Arial" pitchFamily="34" charset="0"/>
              </a:rPr>
              <a:t>1</a:t>
            </a:r>
            <a:r>
              <a:rPr lang="zh-CN" altLang="zh-CN" sz="2800" b="1">
                <a:solidFill>
                  <a:srgbClr val="000000"/>
                </a:solidFill>
              </a:rPr>
              <a:t> </a:t>
            </a:r>
            <a:r>
              <a:rPr lang="zh-CN" altLang="en-US" sz="2800" b="1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380933" name="Rectangle 5"/>
          <p:cNvSpPr>
            <a:spLocks noChangeArrowheads="1"/>
          </p:cNvSpPr>
          <p:nvPr/>
        </p:nvSpPr>
        <p:spPr bwMode="auto">
          <a:xfrm>
            <a:off x="2508250" y="2547939"/>
            <a:ext cx="8027988" cy="114492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printf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(“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%d</a:t>
            </a:r>
            <a:r>
              <a:rPr lang="zh-CN" altLang="zh-CN" sz="2400" dirty="0">
                <a:solidFill>
                  <a:srgbClr val="000000"/>
                </a:solidFill>
                <a:ea typeface="Dotum" pitchFamily="34" charset="-127"/>
              </a:rPr>
              <a:t>\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n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”,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strcmp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(“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ea typeface="Dotum" pitchFamily="34" charset="-127"/>
              </a:rPr>
              <a:t>c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”, “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ea typeface="Dotum" pitchFamily="34" charset="-127"/>
              </a:rPr>
              <a:t>c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”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));</a:t>
            </a:r>
          </a:p>
          <a:p>
            <a:pPr fontAlgn="base">
              <a:lnSpc>
                <a:spcPct val="120000"/>
              </a:lnSpc>
              <a:spcBef>
                <a:spcPct val="45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printf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(“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%d</a:t>
            </a:r>
            <a:r>
              <a:rPr lang="zh-CN" altLang="zh-CN" sz="2400" dirty="0">
                <a:solidFill>
                  <a:srgbClr val="000000"/>
                </a:solidFill>
                <a:ea typeface="Dotum" pitchFamily="34" charset="-127"/>
              </a:rPr>
              <a:t>\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n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”,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strcmp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(“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ea typeface="Dotum" pitchFamily="34" charset="-127"/>
              </a:rPr>
              <a:t>c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”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, “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f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”));	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	</a:t>
            </a:r>
          </a:p>
        </p:txBody>
      </p:sp>
      <p:sp>
        <p:nvSpPr>
          <p:cNvPr id="380934" name="Rectangle 6"/>
          <p:cNvSpPr>
            <a:spLocks noChangeArrowheads="1"/>
          </p:cNvSpPr>
          <p:nvPr/>
        </p:nvSpPr>
        <p:spPr bwMode="auto">
          <a:xfrm>
            <a:off x="8405813" y="2638425"/>
            <a:ext cx="9957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输出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0</a:t>
            </a:r>
          </a:p>
        </p:txBody>
      </p:sp>
      <p:sp>
        <p:nvSpPr>
          <p:cNvPr id="380935" name="Rectangle 7"/>
          <p:cNvSpPr>
            <a:spLocks noChangeArrowheads="1"/>
          </p:cNvSpPr>
          <p:nvPr/>
        </p:nvSpPr>
        <p:spPr bwMode="auto">
          <a:xfrm>
            <a:off x="8413751" y="3200400"/>
            <a:ext cx="2130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输出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-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7832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09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0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09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09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1" grpId="0" build="p" bldLvl="2" autoUpdateAnimBg="0"/>
      <p:bldP spid="380932" grpId="0" build="p" animBg="1" autoUpdateAnimBg="0"/>
      <p:bldP spid="380933" grpId="0" animBg="1" autoUpdateAnimBg="0"/>
      <p:bldP spid="380934" grpId="0" autoUpdateAnimBg="0"/>
      <p:bldP spid="380935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4033838" y="104775"/>
            <a:ext cx="5326062" cy="717550"/>
          </a:xfrm>
        </p:spPr>
        <p:txBody>
          <a:bodyPr/>
          <a:lstStyle/>
          <a:p>
            <a:r>
              <a:rPr lang="zh-CN" altLang="en-US" sz="3600">
                <a:latin typeface="楷体_GB2312" pitchFamily="49" charset="-122"/>
              </a:rPr>
              <a:t>字符串处理函数</a:t>
            </a:r>
          </a:p>
        </p:txBody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22488" y="1220788"/>
            <a:ext cx="9662144" cy="4114800"/>
          </a:xfrm>
        </p:spPr>
        <p:txBody>
          <a:bodyPr/>
          <a:lstStyle/>
          <a:p>
            <a:pPr marL="274638" indent="-274638">
              <a:spcBef>
                <a:spcPct val="30000"/>
              </a:spcBef>
            </a:pPr>
            <a:r>
              <a:rPr lang="zh-CN" altLang="en-US" sz="2800" b="1"/>
              <a:t>注意</a:t>
            </a:r>
            <a:r>
              <a:rPr lang="zh-CN" altLang="zh-CN" sz="2800" b="1">
                <a:latin typeface="Times New Roman" pitchFamily="18" charset="0"/>
              </a:rPr>
              <a:t>:</a:t>
            </a:r>
          </a:p>
          <a:p>
            <a:pPr marL="274638" indent="-274638">
              <a:spcBef>
                <a:spcPct val="50000"/>
              </a:spcBef>
              <a:buClr>
                <a:srgbClr val="009900"/>
              </a:buClr>
              <a:buSzPct val="85000"/>
              <a:buNone/>
            </a:pPr>
            <a:r>
              <a:rPr lang="zh-CN" altLang="zh-CN" sz="2800" b="1"/>
              <a:t>    </a:t>
            </a:r>
            <a:r>
              <a:rPr lang="zh-CN" altLang="en-US" sz="2800" b="1"/>
              <a:t>对两个字符串比较，不能用以下形式</a:t>
            </a:r>
            <a:r>
              <a:rPr lang="zh-CN" altLang="zh-CN" sz="2800" b="1">
                <a:latin typeface="Times New Roman" pitchFamily="18" charset="0"/>
              </a:rPr>
              <a:t>:</a:t>
            </a:r>
          </a:p>
          <a:p>
            <a:pPr marL="274638" indent="-274638">
              <a:spcBef>
                <a:spcPct val="50000"/>
              </a:spcBef>
              <a:buClr>
                <a:srgbClr val="009900"/>
              </a:buClr>
              <a:buSzPct val="85000"/>
              <a:buNone/>
            </a:pPr>
            <a:r>
              <a:rPr lang="zh-CN" altLang="zh-CN" sz="2800" b="1"/>
              <a:t>            </a:t>
            </a:r>
            <a:r>
              <a:rPr lang="zh-CN" altLang="zh-CN" sz="2800" b="1">
                <a:latin typeface="Arial" pitchFamily="34" charset="0"/>
              </a:rPr>
              <a:t>if</a:t>
            </a:r>
            <a:r>
              <a:rPr lang="zh-CN" altLang="zh-CN" sz="2800" b="1">
                <a:latin typeface="Times New Roman" pitchFamily="18" charset="0"/>
              </a:rPr>
              <a:t>( </a:t>
            </a:r>
            <a:r>
              <a:rPr lang="zh-CN" altLang="zh-CN" sz="2800" b="1">
                <a:latin typeface="Arial" pitchFamily="34" charset="0"/>
              </a:rPr>
              <a:t>str1</a:t>
            </a:r>
            <a:r>
              <a:rPr lang="zh-CN" altLang="zh-CN" sz="2800" b="1"/>
              <a:t>==</a:t>
            </a:r>
            <a:r>
              <a:rPr lang="zh-CN" altLang="zh-CN" sz="2800" b="1">
                <a:latin typeface="Arial" pitchFamily="34" charset="0"/>
              </a:rPr>
              <a:t>str2</a:t>
            </a:r>
            <a:r>
              <a:rPr lang="zh-CN" altLang="zh-CN" sz="2800" b="1"/>
              <a:t> </a:t>
            </a:r>
            <a:r>
              <a:rPr lang="zh-CN" altLang="zh-CN" sz="2800" b="1">
                <a:latin typeface="Times New Roman" pitchFamily="18" charset="0"/>
              </a:rPr>
              <a:t>)</a:t>
            </a:r>
            <a:r>
              <a:rPr lang="zh-CN" altLang="zh-CN" sz="2800" b="1">
                <a:latin typeface="Arial" pitchFamily="34" charset="0"/>
              </a:rPr>
              <a:t>printf</a:t>
            </a:r>
            <a:r>
              <a:rPr lang="zh-CN" altLang="zh-CN" sz="2800" b="1">
                <a:latin typeface="Times New Roman" pitchFamily="18" charset="0"/>
              </a:rPr>
              <a:t>(“</a:t>
            </a:r>
            <a:r>
              <a:rPr lang="zh-CN" altLang="zh-CN" sz="2800" b="1">
                <a:latin typeface="Arial" pitchFamily="34" charset="0"/>
              </a:rPr>
              <a:t>yes</a:t>
            </a:r>
            <a:r>
              <a:rPr lang="zh-CN" altLang="zh-CN" sz="2800" b="1">
                <a:latin typeface="Times New Roman" pitchFamily="18" charset="0"/>
              </a:rPr>
              <a:t>”);</a:t>
            </a:r>
          </a:p>
          <a:p>
            <a:pPr marL="274638" indent="-274638">
              <a:spcBef>
                <a:spcPct val="60000"/>
              </a:spcBef>
              <a:buClr>
                <a:srgbClr val="009900"/>
              </a:buClr>
              <a:buSzPct val="85000"/>
              <a:buNone/>
            </a:pPr>
            <a:r>
              <a:rPr lang="zh-CN" altLang="zh-CN" sz="2800" b="1">
                <a:latin typeface="Times New Roman" pitchFamily="18" charset="0"/>
              </a:rPr>
              <a:t>     </a:t>
            </a:r>
            <a:r>
              <a:rPr lang="zh-CN" altLang="en-US" sz="2800" b="1">
                <a:latin typeface="Times New Roman" pitchFamily="18" charset="0"/>
              </a:rPr>
              <a:t>而只能用</a:t>
            </a:r>
            <a:r>
              <a:rPr lang="zh-CN" altLang="zh-CN" sz="2800" b="1">
                <a:latin typeface="Times New Roman" pitchFamily="18" charset="0"/>
              </a:rPr>
              <a:t>:</a:t>
            </a:r>
          </a:p>
          <a:p>
            <a:pPr marL="830263" lvl="1">
              <a:spcBef>
                <a:spcPct val="60000"/>
              </a:spcBef>
              <a:buClr>
                <a:srgbClr val="009900"/>
              </a:buClr>
              <a:buSzPct val="65000"/>
              <a:buNone/>
            </a:pPr>
            <a:r>
              <a:rPr lang="zh-CN" altLang="zh-CN" sz="3600" b="1">
                <a:latin typeface="Arial" pitchFamily="34" charset="0"/>
              </a:rPr>
              <a:t>if</a:t>
            </a:r>
            <a:r>
              <a:rPr lang="zh-CN" altLang="zh-CN" sz="3600" b="1">
                <a:latin typeface="Times New Roman" pitchFamily="18" charset="0"/>
              </a:rPr>
              <a:t>( </a:t>
            </a:r>
            <a:r>
              <a:rPr lang="zh-CN" altLang="zh-CN" sz="3600" b="1">
                <a:solidFill>
                  <a:srgbClr val="0000B4"/>
                </a:solidFill>
                <a:latin typeface="Arial" pitchFamily="34" charset="0"/>
              </a:rPr>
              <a:t>strcmp</a:t>
            </a:r>
            <a:r>
              <a:rPr lang="zh-CN" altLang="zh-CN" sz="3600" b="1">
                <a:latin typeface="Times New Roman" pitchFamily="18" charset="0"/>
              </a:rPr>
              <a:t>(</a:t>
            </a:r>
            <a:r>
              <a:rPr lang="zh-CN" altLang="zh-CN" sz="3600" b="1">
                <a:solidFill>
                  <a:srgbClr val="0000B4"/>
                </a:solidFill>
                <a:latin typeface="Arial" pitchFamily="34" charset="0"/>
              </a:rPr>
              <a:t>str1</a:t>
            </a:r>
            <a:r>
              <a:rPr lang="zh-CN" altLang="zh-CN" sz="3600" b="1">
                <a:solidFill>
                  <a:srgbClr val="0000B4"/>
                </a:solidFill>
                <a:latin typeface="Times New Roman" pitchFamily="18" charset="0"/>
              </a:rPr>
              <a:t>, </a:t>
            </a:r>
            <a:r>
              <a:rPr lang="zh-CN" altLang="zh-CN" sz="3600" b="1">
                <a:solidFill>
                  <a:srgbClr val="0000B4"/>
                </a:solidFill>
                <a:latin typeface="Arial" pitchFamily="34" charset="0"/>
              </a:rPr>
              <a:t>str2</a:t>
            </a:r>
            <a:r>
              <a:rPr lang="zh-CN" altLang="zh-CN" sz="3600" b="1">
                <a:latin typeface="Times New Roman" pitchFamily="18" charset="0"/>
              </a:rPr>
              <a:t>)</a:t>
            </a:r>
            <a:r>
              <a:rPr lang="zh-CN" altLang="zh-CN" sz="3600"/>
              <a:t>==</a:t>
            </a:r>
            <a:r>
              <a:rPr lang="zh-CN" altLang="zh-CN" sz="3600" b="1">
                <a:latin typeface="Arial" pitchFamily="34" charset="0"/>
              </a:rPr>
              <a:t>0</a:t>
            </a:r>
            <a:r>
              <a:rPr lang="zh-CN" altLang="zh-CN" sz="3600" b="1">
                <a:latin typeface="Times New Roman" pitchFamily="18" charset="0"/>
              </a:rPr>
              <a:t>) </a:t>
            </a:r>
            <a:r>
              <a:rPr lang="en-US" altLang="zh-CN" sz="3600" b="1">
                <a:latin typeface="Times New Roman" pitchFamily="18" charset="0"/>
              </a:rPr>
              <a:t>  </a:t>
            </a:r>
            <a:br>
              <a:rPr lang="en-US" altLang="zh-CN" sz="3600" b="1">
                <a:latin typeface="Times New Roman" pitchFamily="18" charset="0"/>
              </a:rPr>
            </a:br>
            <a:r>
              <a:rPr lang="en-US" altLang="zh-CN" sz="3600" b="1">
                <a:latin typeface="Times New Roman" pitchFamily="18" charset="0"/>
              </a:rPr>
              <a:t>      p</a:t>
            </a:r>
            <a:r>
              <a:rPr lang="zh-CN" altLang="zh-CN" sz="3600" b="1">
                <a:latin typeface="Arial" pitchFamily="34" charset="0"/>
              </a:rPr>
              <a:t>rintf</a:t>
            </a:r>
            <a:r>
              <a:rPr lang="zh-CN" altLang="zh-CN" sz="3600" b="1">
                <a:latin typeface="Times New Roman" pitchFamily="18" charset="0"/>
              </a:rPr>
              <a:t>(“</a:t>
            </a:r>
            <a:r>
              <a:rPr lang="zh-CN" altLang="zh-CN" sz="3600" b="1">
                <a:latin typeface="Arial" pitchFamily="34" charset="0"/>
              </a:rPr>
              <a:t>yes</a:t>
            </a:r>
            <a:r>
              <a:rPr lang="zh-CN" altLang="zh-CN" sz="3600" b="1">
                <a:latin typeface="Times New Roman" pitchFamily="18" charset="0"/>
              </a:rPr>
              <a:t>”);</a:t>
            </a:r>
            <a:endParaRPr lang="zh-CN" altLang="zh-CN" sz="3600" b="1"/>
          </a:p>
          <a:p>
            <a:pPr marL="274638" indent="-274638"/>
            <a:endParaRPr lang="zh-CN" altLang="zh-CN" sz="2800"/>
          </a:p>
        </p:txBody>
      </p:sp>
      <p:sp>
        <p:nvSpPr>
          <p:cNvPr id="381956" name="Rectangle 4"/>
          <p:cNvSpPr>
            <a:spLocks noChangeArrowheads="1"/>
          </p:cNvSpPr>
          <p:nvPr/>
        </p:nvSpPr>
        <p:spPr bwMode="auto">
          <a:xfrm>
            <a:off x="8760296" y="2204864"/>
            <a:ext cx="75052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5400" b="1">
                <a:solidFill>
                  <a:srgbClr val="FF0000"/>
                </a:solidFill>
                <a:ea typeface="Dotum" pitchFamily="34" charset="-127"/>
              </a:rPr>
              <a:t>×</a:t>
            </a:r>
          </a:p>
        </p:txBody>
      </p:sp>
    </p:spTree>
    <p:extLst>
      <p:ext uri="{BB962C8B-B14F-4D97-AF65-F5344CB8AC3E}">
        <p14:creationId xmlns:p14="http://schemas.microsoft.com/office/powerpoint/2010/main" val="1079831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56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55440" y="1320556"/>
            <a:ext cx="10297144" cy="5124450"/>
          </a:xfrm>
        </p:spPr>
        <p:txBody>
          <a:bodyPr/>
          <a:lstStyle/>
          <a:p>
            <a:pPr marL="274638" indent="-274638">
              <a:lnSpc>
                <a:spcPct val="115000"/>
              </a:lnSpc>
              <a:spcBef>
                <a:spcPct val="50000"/>
              </a:spcBef>
              <a:buSzPct val="50000"/>
            </a:pPr>
            <a:r>
              <a:rPr lang="zh-CN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strlwr</a:t>
            </a:r>
            <a:r>
              <a:rPr lang="zh-CN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字符数组名</a:t>
            </a:r>
            <a:r>
              <a:rPr lang="zh-CN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);</a:t>
            </a:r>
          </a:p>
          <a:p>
            <a:pPr marL="274638" indent="-274638">
              <a:spcBef>
                <a:spcPct val="60000"/>
              </a:spcBef>
              <a:buNone/>
            </a:pPr>
            <a:r>
              <a:rPr lang="zh-CN" altLang="zh-CN" b="1">
                <a:latin typeface="Times New Roman" pitchFamily="18" charset="0"/>
              </a:rPr>
              <a:t>    </a:t>
            </a:r>
            <a:r>
              <a:rPr lang="zh-CN" altLang="en-US" b="1">
                <a:latin typeface="Times New Roman" pitchFamily="18" charset="0"/>
              </a:rPr>
              <a:t>作用</a:t>
            </a:r>
            <a:r>
              <a:rPr lang="zh-CN" altLang="zh-CN" b="1">
                <a:latin typeface="Times New Roman" pitchFamily="18" charset="0"/>
              </a:rPr>
              <a:t>:  </a:t>
            </a:r>
            <a:r>
              <a:rPr lang="zh-CN" altLang="en-US" b="1">
                <a:latin typeface="Times New Roman" pitchFamily="18" charset="0"/>
              </a:rPr>
              <a:t>将</a:t>
            </a:r>
            <a:r>
              <a:rPr lang="zh-CN" altLang="en-US" b="1"/>
              <a:t>字符数组中大写字母转换成小写字母</a:t>
            </a:r>
          </a:p>
          <a:p>
            <a:pPr marL="274638" indent="-274638">
              <a:lnSpc>
                <a:spcPct val="115000"/>
              </a:lnSpc>
              <a:spcBef>
                <a:spcPct val="70000"/>
              </a:spcBef>
              <a:buSzPct val="50000"/>
            </a:pPr>
            <a:r>
              <a:rPr lang="zh-CN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strupr</a:t>
            </a:r>
            <a:r>
              <a:rPr lang="zh-CN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字符数组名</a:t>
            </a:r>
            <a:r>
              <a:rPr lang="zh-CN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);</a:t>
            </a:r>
          </a:p>
          <a:p>
            <a:pPr marL="274638" indent="-274638">
              <a:spcBef>
                <a:spcPct val="60000"/>
              </a:spcBef>
              <a:buNone/>
            </a:pPr>
            <a:r>
              <a:rPr lang="zh-CN" altLang="zh-CN" b="1">
                <a:latin typeface="Times New Roman" pitchFamily="18" charset="0"/>
              </a:rPr>
              <a:t>    </a:t>
            </a:r>
            <a:r>
              <a:rPr lang="zh-CN" altLang="en-US" b="1">
                <a:latin typeface="Times New Roman" pitchFamily="18" charset="0"/>
              </a:rPr>
              <a:t>作用</a:t>
            </a:r>
            <a:r>
              <a:rPr lang="zh-CN" altLang="zh-CN" b="1">
                <a:latin typeface="Times New Roman" pitchFamily="18" charset="0"/>
              </a:rPr>
              <a:t>:  </a:t>
            </a:r>
            <a:r>
              <a:rPr lang="zh-CN" altLang="en-US" b="1">
                <a:latin typeface="Times New Roman" pitchFamily="18" charset="0"/>
              </a:rPr>
              <a:t>将</a:t>
            </a:r>
            <a:r>
              <a:rPr lang="zh-CN" altLang="en-US" b="1"/>
              <a:t>字符数组中小写字母转换成大写字母</a:t>
            </a:r>
          </a:p>
          <a:p>
            <a:pPr marL="274638" indent="-274638">
              <a:spcBef>
                <a:spcPct val="60000"/>
              </a:spcBef>
              <a:buNone/>
            </a:pPr>
            <a:r>
              <a:rPr lang="zh-CN" altLang="en-US" b="1">
                <a:latin typeface="黑体" pitchFamily="49" charset="-122"/>
              </a:rPr>
              <a:t>  例</a:t>
            </a:r>
            <a:r>
              <a:rPr lang="zh-CN" altLang="zh-CN" b="1">
                <a:latin typeface="Times New Roman" pitchFamily="18" charset="0"/>
              </a:rPr>
              <a:t>:</a:t>
            </a:r>
            <a:r>
              <a:rPr lang="zh-CN" altLang="zh-CN" b="1">
                <a:latin typeface="黑体" pitchFamily="49" charset="-122"/>
              </a:rPr>
              <a:t>   </a:t>
            </a:r>
            <a:r>
              <a:rPr lang="zh-CN" altLang="zh-CN" b="1"/>
              <a:t>char  a</a:t>
            </a:r>
            <a:r>
              <a:rPr lang="zh-CN" altLang="zh-CN" b="1">
                <a:latin typeface="黑体" pitchFamily="49" charset="-122"/>
              </a:rPr>
              <a:t>[</a:t>
            </a:r>
            <a:r>
              <a:rPr lang="zh-CN" altLang="zh-CN" b="1"/>
              <a:t>20</a:t>
            </a:r>
            <a:r>
              <a:rPr lang="zh-CN" altLang="zh-CN" b="1">
                <a:latin typeface="黑体" pitchFamily="49" charset="-122"/>
              </a:rPr>
              <a:t>]</a:t>
            </a:r>
            <a:r>
              <a:rPr lang="zh-CN" altLang="zh-CN" b="1"/>
              <a:t>= </a:t>
            </a:r>
            <a:r>
              <a:rPr lang="zh-CN" altLang="zh-CN" b="1">
                <a:latin typeface="Times New Roman"/>
              </a:rPr>
              <a:t>“</a:t>
            </a:r>
            <a:r>
              <a:rPr lang="zh-CN" altLang="zh-CN" b="1"/>
              <a:t>Hello</a:t>
            </a:r>
            <a:r>
              <a:rPr lang="zh-CN" altLang="zh-CN" b="1">
                <a:latin typeface="Times New Roman"/>
              </a:rPr>
              <a:t>”</a:t>
            </a:r>
            <a:r>
              <a:rPr lang="zh-CN" altLang="zh-CN" b="1">
                <a:latin typeface="Times New Roman" pitchFamily="18" charset="0"/>
              </a:rPr>
              <a:t>; </a:t>
            </a:r>
          </a:p>
          <a:p>
            <a:pPr marL="274638" indent="-274638">
              <a:spcBef>
                <a:spcPct val="35000"/>
              </a:spcBef>
              <a:buNone/>
            </a:pPr>
            <a:r>
              <a:rPr lang="zh-CN" altLang="zh-CN" b="1"/>
              <a:t>              printf</a:t>
            </a:r>
            <a:r>
              <a:rPr lang="zh-CN" altLang="zh-CN" b="1">
                <a:latin typeface="Times New Roman" pitchFamily="18" charset="0"/>
              </a:rPr>
              <a:t>(</a:t>
            </a:r>
            <a:r>
              <a:rPr lang="zh-CN" altLang="zh-CN" b="1">
                <a:latin typeface="Times New Roman"/>
              </a:rPr>
              <a:t>“</a:t>
            </a:r>
            <a:r>
              <a:rPr lang="zh-CN" altLang="zh-CN" b="1"/>
              <a:t>%s</a:t>
            </a:r>
            <a:r>
              <a:rPr lang="zh-CN" altLang="zh-CN" b="1">
                <a:latin typeface="Times New Roman" pitchFamily="18" charset="0"/>
              </a:rPr>
              <a:t>, </a:t>
            </a:r>
            <a:r>
              <a:rPr lang="zh-CN" altLang="zh-CN" b="1"/>
              <a:t>%s</a:t>
            </a:r>
            <a:r>
              <a:rPr lang="zh-CN" altLang="zh-CN" b="1">
                <a:latin typeface="Times New Roman"/>
              </a:rPr>
              <a:t>”</a:t>
            </a:r>
            <a:r>
              <a:rPr lang="zh-CN" altLang="zh-CN" b="1">
                <a:latin typeface="Times New Roman" pitchFamily="18" charset="0"/>
              </a:rPr>
              <a:t>,</a:t>
            </a:r>
            <a:r>
              <a:rPr lang="zh-CN" altLang="zh-CN" b="1"/>
              <a:t> strlwr</a:t>
            </a:r>
            <a:r>
              <a:rPr lang="zh-CN" altLang="zh-CN" b="1">
                <a:latin typeface="Times New Roman" pitchFamily="18" charset="0"/>
              </a:rPr>
              <a:t>(</a:t>
            </a:r>
            <a:r>
              <a:rPr lang="zh-CN" altLang="zh-CN" b="1"/>
              <a:t>a</a:t>
            </a:r>
            <a:r>
              <a:rPr lang="zh-CN" altLang="zh-CN" b="1">
                <a:latin typeface="Times New Roman" pitchFamily="18" charset="0"/>
              </a:rPr>
              <a:t>), </a:t>
            </a:r>
            <a:r>
              <a:rPr lang="zh-CN" altLang="zh-CN" b="1"/>
              <a:t>strupr</a:t>
            </a:r>
            <a:r>
              <a:rPr lang="zh-CN" altLang="zh-CN" b="1">
                <a:latin typeface="Times New Roman" pitchFamily="18" charset="0"/>
              </a:rPr>
              <a:t>(</a:t>
            </a:r>
            <a:r>
              <a:rPr lang="zh-CN" altLang="zh-CN" b="1"/>
              <a:t>a</a:t>
            </a:r>
            <a:r>
              <a:rPr lang="zh-CN" altLang="zh-CN" b="1">
                <a:latin typeface="Times New Roman" pitchFamily="18" charset="0"/>
              </a:rPr>
              <a:t>) );</a:t>
            </a:r>
            <a:r>
              <a:rPr lang="zh-CN" altLang="zh-CN" b="1"/>
              <a:t>              </a:t>
            </a:r>
            <a:r>
              <a:rPr lang="en-US" altLang="zh-CN" b="1"/>
              <a:t>   </a:t>
            </a:r>
            <a:r>
              <a:rPr lang="zh-CN" altLang="en-US" b="1">
                <a:solidFill>
                  <a:srgbClr val="FF0000"/>
                </a:solidFill>
                <a:ea typeface="楷体_GB2312" pitchFamily="49" charset="-122"/>
              </a:rPr>
              <a:t>输出</a:t>
            </a:r>
            <a:r>
              <a:rPr lang="zh-CN" altLang="zh-CN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:    </a:t>
            </a:r>
            <a:r>
              <a:rPr lang="zh-CN" altLang="zh-CN" b="1">
                <a:solidFill>
                  <a:srgbClr val="FF0000"/>
                </a:solidFill>
              </a:rPr>
              <a:t>hello</a:t>
            </a:r>
            <a:r>
              <a:rPr lang="zh-CN" altLang="zh-CN" b="1">
                <a:solidFill>
                  <a:srgbClr val="FF0000"/>
                </a:solidFill>
                <a:latin typeface="Times New Roman" pitchFamily="18" charset="0"/>
              </a:rPr>
              <a:t>, </a:t>
            </a:r>
            <a:r>
              <a:rPr lang="zh-CN" altLang="zh-CN" b="1">
                <a:solidFill>
                  <a:srgbClr val="FF0000"/>
                </a:solidFill>
              </a:rPr>
              <a:t>HELLO</a:t>
            </a:r>
          </a:p>
          <a:p>
            <a:pPr marL="274638" indent="-274638">
              <a:spcBef>
                <a:spcPct val="40000"/>
              </a:spcBef>
              <a:buNone/>
            </a:pPr>
            <a:r>
              <a:rPr lang="zh-CN" altLang="zh-CN" sz="3600" b="1"/>
              <a:t>       </a:t>
            </a:r>
          </a:p>
        </p:txBody>
      </p:sp>
      <p:sp>
        <p:nvSpPr>
          <p:cNvPr id="384003" name="Rectangle 3"/>
          <p:cNvSpPr>
            <a:spLocks noGrp="1" noChangeArrowheads="1"/>
          </p:cNvSpPr>
          <p:nvPr>
            <p:ph type="title"/>
          </p:nvPr>
        </p:nvSpPr>
        <p:spPr>
          <a:xfrm>
            <a:off x="4162425" y="69850"/>
            <a:ext cx="4419600" cy="750888"/>
          </a:xfrm>
          <a:noFill/>
          <a:ln/>
        </p:spPr>
        <p:txBody>
          <a:bodyPr/>
          <a:lstStyle/>
          <a:p>
            <a:r>
              <a:rPr lang="zh-CN" altLang="en-US" sz="3600">
                <a:latin typeface="楷体_GB2312" pitchFamily="49" charset="-122"/>
              </a:rPr>
              <a:t>字符串处理函数</a:t>
            </a:r>
          </a:p>
        </p:txBody>
      </p:sp>
      <p:pic>
        <p:nvPicPr>
          <p:cNvPr id="384004" name="Picture 4" descr="b19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3788" y="6308725"/>
            <a:ext cx="182562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46349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847528" y="1087437"/>
            <a:ext cx="7963272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40000"/>
              </a:lnSpc>
              <a:spcBef>
                <a:spcPct val="90000"/>
              </a:spcBef>
              <a:buFont typeface="Wingdings" pitchFamily="2" charset="2"/>
              <a:buNone/>
            </a:pPr>
            <a:r>
              <a:rPr lang="zh-CN" altLang="zh-CN" sz="3200" b="1" dirty="0"/>
              <a:t>设有</a:t>
            </a:r>
            <a:r>
              <a:rPr lang="zh-CN" altLang="zh-CN" sz="3200" b="1" dirty="0">
                <a:latin typeface="Times New Roman" pitchFamily="18" charset="0"/>
              </a:rPr>
              <a:t>:  </a:t>
            </a:r>
            <a:r>
              <a:rPr lang="zh-CN" altLang="zh-CN" sz="3200" b="1" dirty="0">
                <a:latin typeface="Arial" pitchFamily="34" charset="0"/>
              </a:rPr>
              <a:t>int</a:t>
            </a:r>
            <a:r>
              <a:rPr lang="zh-CN" altLang="zh-CN" sz="3200" b="1" dirty="0"/>
              <a:t>  </a:t>
            </a:r>
            <a:r>
              <a:rPr lang="zh-CN" altLang="zh-CN" sz="3200" b="1" dirty="0">
                <a:latin typeface="Arial" pitchFamily="34" charset="0"/>
              </a:rPr>
              <a:t>a</a:t>
            </a:r>
            <a:r>
              <a:rPr lang="zh-CN" altLang="zh-CN" sz="3200" b="1" dirty="0">
                <a:latin typeface="黑体" pitchFamily="49" charset="-122"/>
              </a:rPr>
              <a:t>[ ]</a:t>
            </a:r>
            <a:r>
              <a:rPr lang="zh-CN" altLang="zh-CN" sz="3200" dirty="0"/>
              <a:t>[</a:t>
            </a:r>
            <a:r>
              <a:rPr lang="zh-CN" altLang="zh-CN" sz="3200" b="1" dirty="0">
                <a:latin typeface="Arial" pitchFamily="34" charset="0"/>
              </a:rPr>
              <a:t>3</a:t>
            </a:r>
            <a:r>
              <a:rPr lang="zh-CN" altLang="zh-CN" sz="3200" b="1" dirty="0">
                <a:latin typeface="黑体" pitchFamily="49" charset="-122"/>
              </a:rPr>
              <a:t>]</a:t>
            </a:r>
            <a:r>
              <a:rPr lang="zh-CN" altLang="zh-CN" sz="3200" b="1" dirty="0"/>
              <a:t>=</a:t>
            </a:r>
            <a:r>
              <a:rPr lang="zh-CN" altLang="zh-CN" sz="3200" dirty="0"/>
              <a:t>{{</a:t>
            </a:r>
            <a:r>
              <a:rPr lang="zh-CN" altLang="zh-CN" sz="3200" b="1" dirty="0">
                <a:latin typeface="Arial" pitchFamily="34" charset="0"/>
              </a:rPr>
              <a:t>1</a:t>
            </a:r>
            <a:r>
              <a:rPr lang="zh-CN" altLang="zh-CN" sz="3200" b="1" dirty="0">
                <a:latin typeface="Times New Roman" pitchFamily="18" charset="0"/>
              </a:rPr>
              <a:t>,</a:t>
            </a:r>
            <a:r>
              <a:rPr lang="zh-CN" altLang="zh-CN" sz="3200" b="1" dirty="0">
                <a:latin typeface="Arial" pitchFamily="34" charset="0"/>
              </a:rPr>
              <a:t>2</a:t>
            </a:r>
            <a:r>
              <a:rPr lang="zh-CN" altLang="zh-CN" sz="3200" b="1" dirty="0">
                <a:latin typeface="Times New Roman" pitchFamily="18" charset="0"/>
              </a:rPr>
              <a:t>,</a:t>
            </a:r>
            <a:r>
              <a:rPr lang="zh-CN" altLang="zh-CN" sz="3200" b="1" dirty="0">
                <a:latin typeface="Arial" pitchFamily="34" charset="0"/>
              </a:rPr>
              <a:t>3</a:t>
            </a:r>
            <a:r>
              <a:rPr lang="zh-CN" altLang="zh-CN" sz="3200" dirty="0"/>
              <a:t>}</a:t>
            </a:r>
            <a:r>
              <a:rPr lang="zh-CN" altLang="zh-CN" sz="3200" b="1" dirty="0">
                <a:latin typeface="Times New Roman" pitchFamily="18" charset="0"/>
              </a:rPr>
              <a:t>,</a:t>
            </a:r>
            <a:r>
              <a:rPr lang="zh-CN" altLang="zh-CN" sz="3200" dirty="0"/>
              <a:t>{</a:t>
            </a:r>
            <a:r>
              <a:rPr lang="zh-CN" altLang="zh-CN" sz="3200" b="1" dirty="0">
                <a:latin typeface="Arial" pitchFamily="34" charset="0"/>
              </a:rPr>
              <a:t>4</a:t>
            </a:r>
            <a:r>
              <a:rPr lang="zh-CN" altLang="zh-CN" sz="3200" b="1" dirty="0">
                <a:latin typeface="Times New Roman" pitchFamily="18" charset="0"/>
              </a:rPr>
              <a:t>,</a:t>
            </a:r>
            <a:r>
              <a:rPr lang="zh-CN" altLang="zh-CN" sz="3200" b="1" dirty="0">
                <a:latin typeface="Arial" pitchFamily="34" charset="0"/>
              </a:rPr>
              <a:t>5</a:t>
            </a:r>
            <a:r>
              <a:rPr lang="zh-CN" altLang="zh-CN" sz="3200" b="1" dirty="0">
                <a:latin typeface="Times New Roman" pitchFamily="18" charset="0"/>
              </a:rPr>
              <a:t>,</a:t>
            </a:r>
            <a:r>
              <a:rPr lang="zh-CN" altLang="zh-CN" sz="3200" b="1" dirty="0">
                <a:latin typeface="Arial" pitchFamily="34" charset="0"/>
              </a:rPr>
              <a:t>6</a:t>
            </a:r>
            <a:r>
              <a:rPr lang="zh-CN" altLang="zh-CN" sz="3200" dirty="0"/>
              <a:t>}</a:t>
            </a:r>
            <a:r>
              <a:rPr lang="zh-CN" altLang="zh-CN" sz="3200" b="1" dirty="0">
                <a:latin typeface="Times New Roman" pitchFamily="18" charset="0"/>
              </a:rPr>
              <a:t>,</a:t>
            </a:r>
            <a:r>
              <a:rPr lang="zh-CN" altLang="zh-CN" sz="3200" dirty="0"/>
              <a:t>{</a:t>
            </a:r>
            <a:r>
              <a:rPr lang="zh-CN" altLang="zh-CN" sz="3200" b="1" dirty="0">
                <a:latin typeface="Arial" pitchFamily="34" charset="0"/>
              </a:rPr>
              <a:t>7</a:t>
            </a:r>
            <a:r>
              <a:rPr lang="zh-CN" altLang="zh-CN" sz="3200" b="1" dirty="0">
                <a:latin typeface="Times New Roman" pitchFamily="18" charset="0"/>
              </a:rPr>
              <a:t>,</a:t>
            </a:r>
            <a:r>
              <a:rPr lang="zh-CN" altLang="zh-CN" sz="3200" b="1" dirty="0">
                <a:latin typeface="Arial" pitchFamily="34" charset="0"/>
              </a:rPr>
              <a:t>8</a:t>
            </a:r>
            <a:r>
              <a:rPr lang="zh-CN" altLang="zh-CN" sz="3200" b="1" dirty="0">
                <a:latin typeface="Times New Roman" pitchFamily="18" charset="0"/>
              </a:rPr>
              <a:t>,</a:t>
            </a:r>
            <a:r>
              <a:rPr lang="zh-CN" altLang="zh-CN" sz="3200" b="1" dirty="0">
                <a:latin typeface="Arial" pitchFamily="34" charset="0"/>
              </a:rPr>
              <a:t>9</a:t>
            </a:r>
            <a:r>
              <a:rPr lang="zh-CN" altLang="zh-CN" sz="3200" dirty="0"/>
              <a:t>}}</a:t>
            </a:r>
            <a:r>
              <a:rPr lang="zh-CN" altLang="zh-CN" sz="3200" b="1" dirty="0">
                <a:latin typeface="Times New Roman" pitchFamily="18" charset="0"/>
              </a:rPr>
              <a:t>;</a:t>
            </a:r>
            <a:r>
              <a:rPr lang="zh-CN" altLang="zh-CN" sz="3200" b="1" dirty="0"/>
              <a:t> </a:t>
            </a:r>
          </a:p>
          <a:p>
            <a:pPr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zh-CN" sz="3200" b="1" dirty="0"/>
              <a:t>则</a:t>
            </a:r>
            <a:r>
              <a:rPr lang="zh-CN" altLang="zh-CN" sz="3200" b="1" dirty="0">
                <a:solidFill>
                  <a:srgbClr val="00009E"/>
                </a:solidFill>
                <a:latin typeface="Arial" pitchFamily="34" charset="0"/>
              </a:rPr>
              <a:t>a</a:t>
            </a:r>
            <a:r>
              <a:rPr lang="zh-CN" altLang="zh-CN" sz="3200" dirty="0">
                <a:solidFill>
                  <a:srgbClr val="00009E"/>
                </a:solidFill>
              </a:rPr>
              <a:t>[</a:t>
            </a:r>
            <a:r>
              <a:rPr lang="zh-CN" altLang="zh-CN" sz="3200" b="1" dirty="0">
                <a:solidFill>
                  <a:srgbClr val="00009E"/>
                </a:solidFill>
                <a:latin typeface="Arial" pitchFamily="34" charset="0"/>
              </a:rPr>
              <a:t>1</a:t>
            </a:r>
            <a:r>
              <a:rPr lang="zh-CN" altLang="zh-CN" sz="3200" dirty="0">
                <a:solidFill>
                  <a:srgbClr val="00009E"/>
                </a:solidFill>
              </a:rPr>
              <a:t>][</a:t>
            </a:r>
            <a:r>
              <a:rPr lang="zh-CN" altLang="zh-CN" sz="3200" b="1" dirty="0">
                <a:solidFill>
                  <a:srgbClr val="00009E"/>
                </a:solidFill>
                <a:latin typeface="Arial" pitchFamily="34" charset="0"/>
              </a:rPr>
              <a:t>2</a:t>
            </a:r>
            <a:r>
              <a:rPr lang="zh-CN" altLang="zh-CN" sz="3200" dirty="0">
                <a:solidFill>
                  <a:srgbClr val="00009E"/>
                </a:solidFill>
              </a:rPr>
              <a:t>]</a:t>
            </a:r>
            <a:r>
              <a:rPr lang="zh-CN" altLang="zh-CN" sz="3200" b="1" dirty="0"/>
              <a:t>的值为</a:t>
            </a:r>
            <a:r>
              <a:rPr lang="zh-CN" altLang="zh-CN" sz="3200" b="1" dirty="0">
                <a:latin typeface="Times New Roman" pitchFamily="18" charset="0"/>
              </a:rPr>
              <a:t>: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716286" y="4087812"/>
            <a:ext cx="11590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7464152" y="4079875"/>
            <a:ext cx="11590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716286" y="5048249"/>
            <a:ext cx="11590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6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7464152" y="5010722"/>
            <a:ext cx="11590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8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3001911" y="4152105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749777" y="4144168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3001911" y="5150894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749777" y="5075015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71629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1778000" y="635000"/>
            <a:ext cx="7975600" cy="380211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indent="-246063" algn="just"/>
            <a:r>
              <a:rPr lang="zh-CN" altLang="zh-CN" sz="2400" b="1" dirty="0"/>
              <a:t>以下程序的输出结果是</a:t>
            </a:r>
          </a:p>
          <a:p>
            <a:pPr indent="-246063" algn="just">
              <a:spcBef>
                <a:spcPct val="35000"/>
              </a:spcBef>
            </a:pPr>
            <a:r>
              <a:rPr lang="zh-CN" altLang="zh-CN" sz="2400" b="1" dirty="0">
                <a:latin typeface="Arial" pitchFamily="34" charset="0"/>
              </a:rPr>
              <a:t>main</a:t>
            </a:r>
            <a:r>
              <a:rPr lang="zh-CN" altLang="zh-CN" sz="2400" b="1" dirty="0">
                <a:latin typeface="Times New Roman" pitchFamily="18" charset="0"/>
              </a:rPr>
              <a:t>( )</a:t>
            </a:r>
          </a:p>
          <a:p>
            <a:pPr indent="-246063" algn="just"/>
            <a:r>
              <a:rPr lang="zh-CN" altLang="zh-CN" sz="2400" b="1" dirty="0"/>
              <a:t>   { </a:t>
            </a:r>
            <a:r>
              <a:rPr lang="zh-CN" altLang="zh-CN" sz="2400" b="1" dirty="0">
                <a:latin typeface="Arial" pitchFamily="34" charset="0"/>
              </a:rPr>
              <a:t>char</a:t>
            </a:r>
            <a:r>
              <a:rPr lang="zh-CN" altLang="zh-CN" sz="2400" b="1" dirty="0"/>
              <a:t>  </a:t>
            </a:r>
            <a:r>
              <a:rPr lang="zh-CN" altLang="zh-CN" sz="2400" b="1" dirty="0">
                <a:latin typeface="Arial" pitchFamily="34" charset="0"/>
              </a:rPr>
              <a:t>ch</a:t>
            </a:r>
            <a:r>
              <a:rPr lang="zh-CN" altLang="zh-CN" sz="2400" b="1" dirty="0">
                <a:latin typeface="黑体" pitchFamily="49" charset="-122"/>
              </a:rPr>
              <a:t>[</a:t>
            </a:r>
            <a:r>
              <a:rPr lang="zh-CN" altLang="zh-CN" sz="2400" b="1" dirty="0">
                <a:latin typeface="Arial" pitchFamily="34" charset="0"/>
              </a:rPr>
              <a:t>3</a:t>
            </a:r>
            <a:r>
              <a:rPr lang="zh-CN" altLang="zh-CN" sz="2400" b="1" dirty="0">
                <a:latin typeface="黑体" pitchFamily="49" charset="-122"/>
              </a:rPr>
              <a:t>][</a:t>
            </a:r>
            <a:r>
              <a:rPr lang="zh-CN" altLang="zh-CN" sz="2400" b="1" dirty="0">
                <a:latin typeface="Arial" pitchFamily="34" charset="0"/>
              </a:rPr>
              <a:t>5</a:t>
            </a:r>
            <a:r>
              <a:rPr lang="zh-CN" altLang="zh-CN" sz="2400" b="1" dirty="0">
                <a:latin typeface="黑体" pitchFamily="49" charset="-122"/>
              </a:rPr>
              <a:t>]</a:t>
            </a:r>
            <a:r>
              <a:rPr lang="zh-CN" altLang="zh-CN" sz="2400" b="1" dirty="0"/>
              <a:t>=</a:t>
            </a:r>
            <a:r>
              <a:rPr lang="zh-CN" altLang="zh-CN" sz="2400" dirty="0"/>
              <a:t>{</a:t>
            </a:r>
            <a:r>
              <a:rPr lang="zh-CN" altLang="zh-CN" sz="2400" b="1" dirty="0">
                <a:latin typeface="Times New Roman" pitchFamily="18" charset="0"/>
              </a:rPr>
              <a:t>“</a:t>
            </a:r>
            <a:r>
              <a:rPr lang="zh-CN" altLang="zh-CN" sz="2400" b="1" dirty="0">
                <a:latin typeface="Arial" pitchFamily="34" charset="0"/>
              </a:rPr>
              <a:t>AAAA</a:t>
            </a:r>
            <a:r>
              <a:rPr lang="zh-CN" altLang="zh-CN" sz="2400" b="1" dirty="0">
                <a:latin typeface="Times New Roman" pitchFamily="18" charset="0"/>
              </a:rPr>
              <a:t>”, “</a:t>
            </a:r>
            <a:r>
              <a:rPr lang="zh-CN" altLang="zh-CN" sz="2400" b="1" dirty="0">
                <a:latin typeface="Arial" pitchFamily="34" charset="0"/>
              </a:rPr>
              <a:t>BBB</a:t>
            </a:r>
            <a:r>
              <a:rPr lang="zh-CN" altLang="zh-CN" sz="2400" b="1" dirty="0">
                <a:latin typeface="Times New Roman" pitchFamily="18" charset="0"/>
              </a:rPr>
              <a:t>”, “</a:t>
            </a:r>
            <a:r>
              <a:rPr lang="zh-CN" altLang="zh-CN" sz="2400" b="1" dirty="0"/>
              <a:t>CC</a:t>
            </a:r>
            <a:r>
              <a:rPr lang="zh-CN" altLang="zh-CN" sz="2400" b="1" dirty="0">
                <a:latin typeface="Times New Roman" pitchFamily="18" charset="0"/>
              </a:rPr>
              <a:t>”</a:t>
            </a:r>
            <a:r>
              <a:rPr lang="zh-CN" altLang="zh-CN" sz="2400" dirty="0"/>
              <a:t>}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  <a:p>
            <a:pPr indent="-246063" algn="just">
              <a:spcBef>
                <a:spcPct val="30000"/>
              </a:spcBef>
            </a:pPr>
            <a:r>
              <a:rPr lang="zh-CN" altLang="zh-CN" sz="2400" b="1" dirty="0"/>
              <a:t>      </a:t>
            </a:r>
            <a:r>
              <a:rPr lang="zh-CN" altLang="zh-CN" sz="2400" b="1">
                <a:latin typeface="Arial" pitchFamily="34" charset="0"/>
              </a:rPr>
              <a:t>printf</a:t>
            </a:r>
            <a:r>
              <a:rPr lang="zh-CN" altLang="zh-CN" sz="2400" b="1">
                <a:latin typeface="Times New Roman" pitchFamily="18" charset="0"/>
              </a:rPr>
              <a:t>(</a:t>
            </a:r>
            <a:r>
              <a:rPr lang="en-US" altLang="zh-CN" sz="2400" b="1">
                <a:latin typeface="Times New Roman" pitchFamily="18" charset="0"/>
              </a:rPr>
              <a:t>"\"%s\"\n"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zh-CN" altLang="zh-CN" sz="2400" b="1" dirty="0">
                <a:latin typeface="Arial" pitchFamily="34" charset="0"/>
              </a:rPr>
              <a:t>ch</a:t>
            </a:r>
            <a:r>
              <a:rPr lang="zh-CN" altLang="zh-CN" sz="2400" b="1" dirty="0">
                <a:latin typeface="黑体" pitchFamily="49" charset="-122"/>
              </a:rPr>
              <a:t>[</a:t>
            </a:r>
            <a:r>
              <a:rPr lang="zh-CN" altLang="zh-CN" sz="2400" b="1" dirty="0">
                <a:latin typeface="Arial" pitchFamily="34" charset="0"/>
              </a:rPr>
              <a:t>1</a:t>
            </a:r>
            <a:r>
              <a:rPr lang="zh-CN" altLang="zh-CN" sz="2400" b="1" dirty="0">
                <a:latin typeface="黑体" pitchFamily="49" charset="-122"/>
              </a:rPr>
              <a:t>]</a:t>
            </a:r>
            <a:r>
              <a:rPr lang="zh-CN" altLang="zh-CN" sz="2400" b="1" dirty="0">
                <a:latin typeface="Times New Roman" pitchFamily="18" charset="0"/>
              </a:rPr>
              <a:t>);</a:t>
            </a:r>
          </a:p>
          <a:p>
            <a:pPr indent="-246063" algn="just"/>
            <a:r>
              <a:rPr lang="zh-CN" altLang="zh-CN" sz="2400" b="1" dirty="0"/>
              <a:t>    }</a:t>
            </a: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3152775" y="4501405"/>
            <a:ext cx="238316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latin typeface="Times New Roman" pitchFamily="18" charset="0"/>
              </a:rPr>
              <a:t>“</a:t>
            </a:r>
            <a:r>
              <a:rPr lang="zh-CN" altLang="zh-CN" sz="2400" dirty="0"/>
              <a:t>AAAA</a:t>
            </a:r>
            <a:r>
              <a:rPr lang="zh-CN" altLang="zh-CN" sz="2400" b="1" dirty="0">
                <a:latin typeface="Times New Roman" pitchFamily="18" charset="0"/>
              </a:rPr>
              <a:t>”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7176120" y="4437112"/>
            <a:ext cx="180709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latin typeface="Times New Roman" pitchFamily="18" charset="0"/>
              </a:rPr>
              <a:t>“</a:t>
            </a:r>
            <a:r>
              <a:rPr lang="zh-CN" altLang="zh-CN" sz="2400" dirty="0"/>
              <a:t>BBB</a:t>
            </a:r>
            <a:r>
              <a:rPr lang="zh-CN" altLang="zh-CN" sz="2400" b="1" dirty="0">
                <a:latin typeface="Times New Roman" pitchFamily="18" charset="0"/>
              </a:rPr>
              <a:t>”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3152775" y="5357811"/>
            <a:ext cx="2743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latin typeface="Times New Roman" pitchFamily="18" charset="0"/>
              </a:rPr>
              <a:t>“</a:t>
            </a:r>
            <a:r>
              <a:rPr lang="zh-CN" altLang="zh-CN" sz="2400" dirty="0"/>
              <a:t>BBBCC</a:t>
            </a:r>
            <a:r>
              <a:rPr lang="zh-CN" altLang="zh-CN" sz="2400" b="1" dirty="0">
                <a:latin typeface="Times New Roman" pitchFamily="18" charset="0"/>
              </a:rPr>
              <a:t>”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7176120" y="5293518"/>
            <a:ext cx="29592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indent="-246063" algn="just">
              <a:spcBef>
                <a:spcPct val="70000"/>
              </a:spcBef>
            </a:pPr>
            <a:r>
              <a:rPr lang="zh-CN" altLang="zh-CN" sz="2400" b="1" dirty="0">
                <a:latin typeface="Times New Roman" pitchFamily="18" charset="0"/>
              </a:rPr>
              <a:t>“</a:t>
            </a:r>
            <a:r>
              <a:rPr lang="zh-CN" altLang="zh-CN" sz="2400" dirty="0"/>
              <a:t>CC</a:t>
            </a:r>
            <a:r>
              <a:rPr lang="zh-CN" altLang="zh-CN" sz="2400" b="1" dirty="0">
                <a:latin typeface="Times New Roman" pitchFamily="18" charset="0"/>
              </a:rPr>
              <a:t>”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438400" y="4565698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461745" y="4501405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438400" y="5422104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461745" y="5357811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1891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buFont typeface="Wingdings" pitchFamily="2" charset="2"/>
              <a:buNone/>
            </a:pPr>
            <a:r>
              <a:rPr lang="zh-CN" altLang="zh-CN" sz="2400" b="1" dirty="0"/>
              <a:t>若定义数组并初始化   </a:t>
            </a:r>
            <a:r>
              <a:rPr lang="zh-CN" altLang="zh-CN" sz="2400" b="1" dirty="0">
                <a:latin typeface="Arial" pitchFamily="34" charset="0"/>
              </a:rPr>
              <a:t>int</a:t>
            </a:r>
            <a:r>
              <a:rPr lang="zh-CN" altLang="zh-CN" sz="2400" b="1" dirty="0"/>
              <a:t>  </a:t>
            </a:r>
            <a:r>
              <a:rPr lang="zh-CN" altLang="zh-CN" sz="2400" b="1" dirty="0">
                <a:latin typeface="Arial" pitchFamily="34" charset="0"/>
              </a:rPr>
              <a:t>a</a:t>
            </a:r>
            <a:r>
              <a:rPr lang="zh-CN" altLang="zh-CN" sz="2400" b="1" dirty="0">
                <a:latin typeface="黑体" pitchFamily="49" charset="-122"/>
              </a:rPr>
              <a:t>[</a:t>
            </a:r>
            <a:r>
              <a:rPr lang="zh-CN" altLang="zh-CN" sz="2400" b="1" dirty="0">
                <a:latin typeface="Arial" pitchFamily="34" charset="0"/>
              </a:rPr>
              <a:t>10</a:t>
            </a:r>
            <a:r>
              <a:rPr lang="zh-CN" altLang="zh-CN" sz="2400" b="1" dirty="0">
                <a:latin typeface="黑体" pitchFamily="49" charset="-122"/>
              </a:rPr>
              <a:t>]</a:t>
            </a:r>
            <a:r>
              <a:rPr lang="zh-CN" altLang="zh-CN" sz="2400" b="1" dirty="0"/>
              <a:t>={ </a:t>
            </a:r>
            <a:r>
              <a:rPr lang="zh-CN" altLang="zh-CN" sz="2400" b="1" dirty="0">
                <a:latin typeface="Arial" pitchFamily="34" charset="0"/>
              </a:rPr>
              <a:t>1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>
                <a:latin typeface="Arial" pitchFamily="34" charset="0"/>
              </a:rPr>
              <a:t>2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>
                <a:latin typeface="Arial" pitchFamily="34" charset="0"/>
              </a:rPr>
              <a:t>3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>
                <a:latin typeface="Arial" pitchFamily="34" charset="0"/>
              </a:rPr>
              <a:t>4 </a:t>
            </a:r>
            <a:r>
              <a:rPr lang="zh-CN" altLang="zh-CN" sz="2400" b="1" dirty="0"/>
              <a:t>}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  <a:p>
            <a:pPr>
              <a:buFont typeface="Wingdings" pitchFamily="2" charset="2"/>
              <a:buNone/>
            </a:pPr>
            <a:endParaRPr lang="en-US" altLang="zh-CN" sz="2400" b="1" dirty="0"/>
          </a:p>
          <a:p>
            <a:pPr>
              <a:buFont typeface="Wingdings" pitchFamily="2" charset="2"/>
              <a:buNone/>
            </a:pPr>
            <a:r>
              <a:rPr lang="zh-CN" altLang="zh-CN" sz="2400" b="1" dirty="0"/>
              <a:t>以下语句哪一个成立？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/>
              <a:t>若引用</a:t>
            </a:r>
            <a:r>
              <a:rPr lang="zh-CN" altLang="zh-CN" sz="2400" b="1" dirty="0">
                <a:latin typeface="Arial" pitchFamily="34" charset="0"/>
              </a:rPr>
              <a:t>a</a:t>
            </a:r>
            <a:r>
              <a:rPr lang="zh-CN" altLang="zh-CN" sz="2400" b="1" dirty="0">
                <a:latin typeface="黑体" pitchFamily="49" charset="-122"/>
              </a:rPr>
              <a:t>[</a:t>
            </a:r>
            <a:r>
              <a:rPr lang="zh-CN" altLang="zh-CN" sz="2400" b="1" dirty="0">
                <a:latin typeface="Arial" pitchFamily="34" charset="0"/>
              </a:rPr>
              <a:t>10</a:t>
            </a:r>
            <a:r>
              <a:rPr lang="zh-CN" altLang="zh-CN" sz="2400" b="1" dirty="0">
                <a:latin typeface="黑体" pitchFamily="49" charset="-122"/>
              </a:rPr>
              <a:t>]</a:t>
            </a:r>
            <a:r>
              <a:rPr lang="zh-CN" altLang="zh-CN" sz="2400" b="1" dirty="0"/>
              <a:t>，编译时报错。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15000"/>
              </a:lnSpc>
              <a:spcBef>
                <a:spcPct val="45000"/>
              </a:spcBef>
              <a:buFont typeface="Wingdings" pitchFamily="2" charset="2"/>
              <a:buNone/>
            </a:pPr>
            <a:r>
              <a:rPr lang="zh-CN" altLang="zh-CN" sz="2400" b="1" dirty="0"/>
              <a:t>若引用</a:t>
            </a:r>
            <a:r>
              <a:rPr lang="zh-CN" altLang="zh-CN" sz="2400" b="1" dirty="0">
                <a:latin typeface="Arial" pitchFamily="34" charset="0"/>
              </a:rPr>
              <a:t>a</a:t>
            </a:r>
            <a:r>
              <a:rPr lang="zh-CN" altLang="zh-CN" sz="2400" b="1" dirty="0">
                <a:latin typeface="黑体" pitchFamily="49" charset="-122"/>
              </a:rPr>
              <a:t>[</a:t>
            </a:r>
            <a:r>
              <a:rPr lang="zh-CN" altLang="zh-CN" sz="2400" b="1" dirty="0">
                <a:latin typeface="Arial" pitchFamily="34" charset="0"/>
              </a:rPr>
              <a:t>10</a:t>
            </a:r>
            <a:r>
              <a:rPr lang="zh-CN" altLang="zh-CN" sz="2400" b="1" dirty="0">
                <a:latin typeface="黑体" pitchFamily="49" charset="-122"/>
              </a:rPr>
              <a:t>]</a:t>
            </a:r>
            <a:r>
              <a:rPr lang="zh-CN" altLang="zh-CN" sz="2400" b="1" dirty="0"/>
              <a:t>，连接时报错。</a:t>
            </a: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15000"/>
              </a:lnSpc>
              <a:spcBef>
                <a:spcPct val="45000"/>
              </a:spcBef>
              <a:buFont typeface="Wingdings" pitchFamily="2" charset="2"/>
              <a:buNone/>
            </a:pPr>
            <a:r>
              <a:rPr lang="zh-CN" altLang="zh-CN" sz="2400" b="1" dirty="0"/>
              <a:t>若引用</a:t>
            </a:r>
            <a:r>
              <a:rPr lang="zh-CN" altLang="zh-CN" sz="2400" b="1" dirty="0">
                <a:latin typeface="Arial" pitchFamily="34" charset="0"/>
              </a:rPr>
              <a:t>a</a:t>
            </a:r>
            <a:r>
              <a:rPr lang="zh-CN" altLang="zh-CN" sz="2400" b="1" dirty="0">
                <a:latin typeface="黑体" pitchFamily="49" charset="-122"/>
              </a:rPr>
              <a:t>[</a:t>
            </a:r>
            <a:r>
              <a:rPr lang="zh-CN" altLang="zh-CN" sz="2400" b="1" dirty="0">
                <a:latin typeface="Arial" pitchFamily="34" charset="0"/>
              </a:rPr>
              <a:t>10</a:t>
            </a:r>
            <a:r>
              <a:rPr lang="zh-CN" altLang="zh-CN" sz="2400" b="1" dirty="0">
                <a:latin typeface="黑体" pitchFamily="49" charset="-122"/>
              </a:rPr>
              <a:t>]</a:t>
            </a:r>
            <a:r>
              <a:rPr lang="zh-CN" altLang="zh-CN" sz="2400" b="1" dirty="0"/>
              <a:t>，运行时出错。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15000"/>
              </a:lnSpc>
              <a:spcBef>
                <a:spcPct val="45000"/>
              </a:spcBef>
              <a:buFont typeface="Wingdings" pitchFamily="2" charset="2"/>
              <a:buNone/>
            </a:pPr>
            <a:r>
              <a:rPr lang="zh-CN" altLang="zh-CN" sz="2400" b="1" dirty="0"/>
              <a:t>若引用</a:t>
            </a:r>
            <a:r>
              <a:rPr lang="zh-CN" altLang="zh-CN" sz="2400" b="1" dirty="0">
                <a:latin typeface="Arial" pitchFamily="34" charset="0"/>
              </a:rPr>
              <a:t>a</a:t>
            </a:r>
            <a:r>
              <a:rPr lang="zh-CN" altLang="zh-CN" sz="2400" b="1" dirty="0">
                <a:latin typeface="黑体" pitchFamily="49" charset="-122"/>
              </a:rPr>
              <a:t>[</a:t>
            </a:r>
            <a:r>
              <a:rPr lang="zh-CN" altLang="zh-CN" sz="2400" b="1" dirty="0">
                <a:latin typeface="Arial" pitchFamily="34" charset="0"/>
              </a:rPr>
              <a:t>10</a:t>
            </a:r>
            <a:r>
              <a:rPr lang="zh-CN" altLang="zh-CN" sz="2400" b="1" dirty="0">
                <a:latin typeface="黑体" pitchFamily="49" charset="-122"/>
              </a:rPr>
              <a:t>]</a:t>
            </a:r>
            <a:r>
              <a:rPr lang="zh-CN" altLang="zh-CN" sz="2400" b="1" dirty="0"/>
              <a:t>，系统不报错。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28503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37076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5648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5422106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551366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12FB9FE-8817-17A0-26C7-55953C59FCE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43472" y="986788"/>
            <a:ext cx="9753600" cy="394902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以下程序的输出结果是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#include &lt;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stdio.h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&gt;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#include &lt;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string.h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&gt;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	int x;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x=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strcmp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("29","129");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("%d\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n",x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);	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9FC104-7310-E5CD-445F-2824F490A61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582416" y="4825010"/>
            <a:ext cx="20014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AD607D-23D6-28C2-98A2-E0AE6613D77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392144" y="4889303"/>
            <a:ext cx="20014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8E107B-699F-D3D6-1B2B-2CCFE9769CB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582416" y="5845574"/>
            <a:ext cx="20014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-1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2778E7-313B-63EF-68D9-19EC27E6017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392144" y="5781279"/>
            <a:ext cx="20014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非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144F83C-891F-586B-D947-1B7A4BF22AC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715641" y="4889303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C38B390-2EF7-A965-97DF-F5F59380A6A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525369" y="4953596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AC9DEB5-82C7-BAE2-DB7B-186013A9721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715641" y="5909867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660AC2B-1B19-BC51-101E-093A8803ADBB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525369" y="5845572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D75122F-27C4-C7E3-F408-A5A217B332C8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9BF00CC-BAD6-3285-65A7-D0D97422279E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30624302-7CB9-D4DF-5FDC-77A5A3C1FE5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9F29BFC7-F750-25DB-9BE7-177DB93366E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3C77E79A-76F3-BA19-CED0-FC76DF75DDE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D17F407E-B700-6FE0-C3B4-21E5B0A19C6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3D30CBE-3A45-87D0-33B0-0FA8CF0B899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628797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14FC32E-850C-C19D-A50F-D8BFCF4E94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以下给字符数组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定义和赋值</a:t>
            </a:r>
            <a:r>
              <a:rPr lang="zh-CN" altLang="en-US" sz="2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AC3A627-9902-2CFF-00BA-9DB73D6140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char str[6]; str={"China"};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1DA12B-6778-4162-0791-5125C061DB5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char str[ ]={"China"};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6BC98D-E100-1113-DA14-427F1DA2770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char str[6];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strcpy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str,"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abcdefgh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");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2D3F7C1-71A7-4D81-300D-97DCE971A56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char str[6]={"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abcdefgh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"};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AE9B842-FC15-FEA6-1197-B03CFA32BC6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B015317-DCA2-C11B-CAE1-CA151E66F70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707606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8DED193-2818-3E29-1BA0-FDB9CBF86F5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5648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0414455-28A6-7FC3-DFDE-19264C0C4EF8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54221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36B7F6D-F9F5-3636-3DA0-6765AA40ED35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345F5BE-1C3F-C26B-BBF6-4C201009D8DE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F81A8615-7DC5-282C-07C6-4E1FACFC086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5E5FBAE4-8E6A-886B-1F51-00A57E0B3D3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C6D3BB2E-1B97-14D1-D72B-E9C13F468A3D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05574C26-914D-FAAF-9BCD-43D2B9B60EBF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435DBA5-9587-6B8A-FA07-1FBFEEAAC607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898596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2495600" y="27145"/>
            <a:ext cx="763428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000" dirty="0">
                <a:ea typeface="微软雅黑" pitchFamily="34" charset="-122"/>
              </a:rPr>
              <a:t>输入一个字符串</a:t>
            </a:r>
            <a:r>
              <a:rPr lang="en-US" altLang="zh-CN" sz="2000" dirty="0">
                <a:ea typeface="微软雅黑" pitchFamily="34" charset="-122"/>
              </a:rPr>
              <a:t>,</a:t>
            </a:r>
            <a:r>
              <a:rPr lang="zh-CN" altLang="en-US" sz="2000" dirty="0">
                <a:ea typeface="微软雅黑" pitchFamily="34" charset="-122"/>
              </a:rPr>
              <a:t>编写程序判断该字符串是否为回文</a:t>
            </a:r>
            <a:r>
              <a:rPr lang="en-US" altLang="zh-CN" sz="2000" dirty="0">
                <a:ea typeface="微软雅黑" pitchFamily="34" charset="-122"/>
              </a:rPr>
              <a:t>,</a:t>
            </a:r>
            <a:r>
              <a:rPr lang="zh-CN" altLang="en-US" sz="2000" dirty="0">
                <a:ea typeface="微软雅黑" pitchFamily="34" charset="-122"/>
              </a:rPr>
              <a:t>即第一个字符和倒数第一个字符相同</a:t>
            </a:r>
            <a:r>
              <a:rPr lang="en-US" altLang="zh-CN" sz="2000" dirty="0">
                <a:ea typeface="微软雅黑" pitchFamily="34" charset="-122"/>
              </a:rPr>
              <a:t>,</a:t>
            </a:r>
            <a:r>
              <a:rPr lang="zh-CN" altLang="en-US" sz="2000" dirty="0">
                <a:ea typeface="微软雅黑" pitchFamily="34" charset="-122"/>
              </a:rPr>
              <a:t>第二个字符和倒数第二个字符相同</a:t>
            </a:r>
            <a:r>
              <a:rPr lang="en-US" altLang="zh-CN" sz="2000" dirty="0">
                <a:ea typeface="微软雅黑" pitchFamily="34" charset="-122"/>
              </a:rPr>
              <a:t>,</a:t>
            </a:r>
            <a:r>
              <a:rPr lang="zh-CN" altLang="en-US" sz="2000" dirty="0">
                <a:ea typeface="微软雅黑" pitchFamily="34" charset="-122"/>
              </a:rPr>
              <a:t>依此类推。例如</a:t>
            </a:r>
            <a:r>
              <a:rPr lang="en-US" altLang="zh-CN" sz="2000" dirty="0">
                <a:ea typeface="微软雅黑" pitchFamily="34" charset="-122"/>
              </a:rPr>
              <a:t>,“ABCBA”</a:t>
            </a:r>
            <a:r>
              <a:rPr lang="zh-CN" altLang="en-US" sz="2000" dirty="0">
                <a:ea typeface="微软雅黑" pitchFamily="34" charset="-122"/>
              </a:rPr>
              <a:t>是回文。</a:t>
            </a:r>
          </a:p>
        </p:txBody>
      </p:sp>
      <p:sp>
        <p:nvSpPr>
          <p:cNvPr id="63491" name="矩形 1"/>
          <p:cNvSpPr>
            <a:spLocks noChangeArrowheads="1"/>
          </p:cNvSpPr>
          <p:nvPr/>
        </p:nvSpPr>
        <p:spPr bwMode="auto">
          <a:xfrm>
            <a:off x="983432" y="1196752"/>
            <a:ext cx="10776520" cy="599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itchFamily="18" charset="0"/>
                <a:ea typeface="微软雅黑" pitchFamily="34" charset="-122"/>
              </a:rPr>
              <a:t>#include &lt;stdio.h&gt;</a:t>
            </a: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itchFamily="18" charset="0"/>
                <a:ea typeface="微软雅黑" pitchFamily="34" charset="-122"/>
              </a:rPr>
              <a:t>#include &lt;</a:t>
            </a:r>
            <a:r>
              <a:rPr lang="en-US" altLang="zh-CN" sz="2800" b="1" dirty="0" err="1">
                <a:latin typeface="Times New Roman" pitchFamily="18" charset="0"/>
                <a:ea typeface="微软雅黑" pitchFamily="34" charset="-122"/>
              </a:rPr>
              <a:t>string.h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</a:rPr>
              <a:t>&gt;</a:t>
            </a:r>
          </a:p>
          <a:p>
            <a:pPr>
              <a:lnSpc>
                <a:spcPct val="90000"/>
              </a:lnSpc>
            </a:pPr>
            <a:r>
              <a:rPr lang="en-US" altLang="zh-CN" sz="2800" b="1">
                <a:latin typeface="Times New Roman" pitchFamily="18" charset="0"/>
                <a:ea typeface="微软雅黑" pitchFamily="34" charset="-122"/>
              </a:rPr>
              <a:t>   main 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</a:rPr>
              <a:t>() {</a:t>
            </a:r>
          </a:p>
          <a:p>
            <a:r>
              <a:rPr lang="en-US" altLang="zh-CN" sz="2800" b="1" dirty="0">
                <a:latin typeface="Times New Roman" pitchFamily="18" charset="0"/>
                <a:ea typeface="微软雅黑" pitchFamily="34" charset="-122"/>
              </a:rPr>
              <a:t>   </a:t>
            </a:r>
            <a:r>
              <a:rPr lang="en-US" altLang="en-US" sz="2800" b="1" dirty="0">
                <a:latin typeface="Times New Roman" pitchFamily="18" charset="0"/>
                <a:ea typeface="华文仿宋" pitchFamily="2" charset="-122"/>
              </a:rPr>
              <a:t>char str[20];</a:t>
            </a:r>
          </a:p>
          <a:p>
            <a:r>
              <a:rPr lang="en-US" altLang="zh-CN" sz="28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800" b="1" dirty="0">
                <a:latin typeface="Times New Roman" pitchFamily="18" charset="0"/>
                <a:ea typeface="华文仿宋" pitchFamily="2" charset="-122"/>
              </a:rPr>
              <a:t>int i,j,n;</a:t>
            </a:r>
          </a:p>
          <a:p>
            <a:r>
              <a:rPr lang="en-US" altLang="zh-CN" sz="28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800" b="1" dirty="0">
                <a:latin typeface="Times New Roman" pitchFamily="18" charset="0"/>
                <a:ea typeface="华文仿宋" pitchFamily="2" charset="-122"/>
              </a:rPr>
              <a:t>printf("please input a string!\n");</a:t>
            </a:r>
          </a:p>
          <a:p>
            <a:r>
              <a:rPr lang="en-US" altLang="zh-CN" sz="28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800" b="1" dirty="0">
                <a:latin typeface="Times New Roman" pitchFamily="18" charset="0"/>
                <a:ea typeface="华文仿宋" pitchFamily="2" charset="-122"/>
              </a:rPr>
              <a:t>gets(str);</a:t>
            </a:r>
          </a:p>
          <a:p>
            <a:r>
              <a:rPr lang="en-US" altLang="zh-CN" sz="28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800" b="1" dirty="0">
                <a:latin typeface="Times New Roman" pitchFamily="18" charset="0"/>
                <a:ea typeface="华文仿宋" pitchFamily="2" charset="-122"/>
              </a:rPr>
              <a:t>n=strlen(str);               //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itchFamily="18" charset="0"/>
                <a:ea typeface="华文仿宋" pitchFamily="2" charset="-122"/>
              </a:rPr>
              <a:t>计算字符串长度</a:t>
            </a:r>
            <a:endParaRPr lang="en-US" altLang="en-US" sz="2800" b="1" dirty="0">
              <a:solidFill>
                <a:srgbClr val="00B050"/>
              </a:solidFill>
              <a:latin typeface="Times New Roman" pitchFamily="18" charset="0"/>
              <a:ea typeface="华文仿宋" pitchFamily="2" charset="-122"/>
            </a:endParaRPr>
          </a:p>
          <a:p>
            <a:r>
              <a:rPr lang="zh-CN" altLang="en-US" sz="28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800" b="1" dirty="0">
                <a:latin typeface="Times New Roman" pitchFamily="18" charset="0"/>
                <a:ea typeface="华文仿宋" pitchFamily="2" charset="-122"/>
              </a:rPr>
              <a:t>for(i=0,j=n-1;i&lt;</a:t>
            </a:r>
            <a:r>
              <a:rPr lang="en-US" altLang="en-US" sz="2800" b="1" dirty="0" err="1">
                <a:latin typeface="Times New Roman" pitchFamily="18" charset="0"/>
                <a:ea typeface="华文仿宋" pitchFamily="2" charset="-122"/>
              </a:rPr>
              <a:t>j;i</a:t>
            </a:r>
            <a:r>
              <a:rPr lang="en-US" altLang="en-US" sz="2800" b="1" dirty="0">
                <a:latin typeface="Times New Roman" pitchFamily="18" charset="0"/>
                <a:ea typeface="华文仿宋" pitchFamily="2" charset="-122"/>
              </a:rPr>
              <a:t>++,j--)</a:t>
            </a:r>
          </a:p>
          <a:p>
            <a:r>
              <a:rPr lang="en-US" altLang="zh-CN" sz="2800" b="1" dirty="0">
                <a:latin typeface="Times New Roman" pitchFamily="18" charset="0"/>
                <a:ea typeface="华文仿宋" pitchFamily="2" charset="-122"/>
              </a:rPr>
              <a:t>       </a:t>
            </a:r>
            <a:r>
              <a:rPr lang="en-US" altLang="en-US" sz="2800" b="1" dirty="0">
                <a:latin typeface="Times New Roman" pitchFamily="18" charset="0"/>
                <a:ea typeface="华文仿宋" pitchFamily="2" charset="-122"/>
              </a:rPr>
              <a:t>if(str[i]!=str[j]) </a:t>
            </a:r>
            <a:r>
              <a:rPr lang="en-US" altLang="zh-CN" sz="2800" b="1" dirty="0">
                <a:latin typeface="Times New Roman" pitchFamily="18" charset="0"/>
                <a:ea typeface="华文仿宋" pitchFamily="2" charset="-122"/>
              </a:rPr>
              <a:t> </a:t>
            </a:r>
            <a:r>
              <a:rPr lang="en-US" altLang="en-US" sz="2800" b="1" dirty="0">
                <a:latin typeface="Times New Roman" pitchFamily="18" charset="0"/>
                <a:ea typeface="华文仿宋" pitchFamily="2" charset="-122"/>
              </a:rPr>
              <a:t> break;   //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itchFamily="18" charset="0"/>
                <a:ea typeface="华文仿宋" pitchFamily="2" charset="-122"/>
              </a:rPr>
              <a:t>若前后对应位置上的字符不同</a:t>
            </a:r>
            <a:r>
              <a:rPr lang="en-US" altLang="zh-CN" sz="2800" b="1" dirty="0" err="1">
                <a:solidFill>
                  <a:srgbClr val="00B050"/>
                </a:solidFill>
                <a:latin typeface="Times New Roman" pitchFamily="18" charset="0"/>
                <a:ea typeface="华文仿宋" pitchFamily="2" charset="-122"/>
              </a:rPr>
              <a:t>,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itchFamily="18" charset="0"/>
                <a:ea typeface="华文仿宋" pitchFamily="2" charset="-122"/>
              </a:rPr>
              <a:t>则终止循环</a:t>
            </a:r>
            <a:endParaRPr lang="en-US" altLang="en-US" sz="2800" b="1" dirty="0">
              <a:solidFill>
                <a:srgbClr val="00B050"/>
              </a:solidFill>
              <a:latin typeface="Times New Roman" pitchFamily="18" charset="0"/>
              <a:ea typeface="华文仿宋" pitchFamily="2" charset="-122"/>
            </a:endParaRPr>
          </a:p>
          <a:p>
            <a:r>
              <a:rPr lang="zh-CN" altLang="en-US" sz="28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800" b="1" dirty="0">
                <a:latin typeface="Times New Roman" pitchFamily="18" charset="0"/>
                <a:ea typeface="华文仿宋" pitchFamily="2" charset="-122"/>
              </a:rPr>
              <a:t>if(i&gt;=j) </a:t>
            </a:r>
            <a:r>
              <a:rPr lang="en-US" altLang="zh-CN" sz="2800" b="1" dirty="0">
                <a:latin typeface="Times New Roman" pitchFamily="18" charset="0"/>
                <a:ea typeface="华文仿宋" pitchFamily="2" charset="-122"/>
              </a:rPr>
              <a:t> </a:t>
            </a:r>
            <a:r>
              <a:rPr lang="en-US" altLang="en-US" sz="2800" b="1" dirty="0">
                <a:latin typeface="Times New Roman" pitchFamily="18" charset="0"/>
                <a:ea typeface="华文仿宋" pitchFamily="2" charset="-122"/>
              </a:rPr>
              <a:t> printf("</a:t>
            </a:r>
            <a:r>
              <a:rPr lang="en-US" altLang="en-US" sz="2800" b="1" dirty="0" err="1">
                <a:latin typeface="Times New Roman" pitchFamily="18" charset="0"/>
                <a:ea typeface="华文仿宋" pitchFamily="2" charset="-122"/>
              </a:rPr>
              <a:t>该字符串是回文</a:t>
            </a:r>
            <a:r>
              <a:rPr lang="en-US" altLang="en-US" sz="2800" b="1" dirty="0">
                <a:latin typeface="Times New Roman" pitchFamily="18" charset="0"/>
                <a:ea typeface="华文仿宋" pitchFamily="2" charset="-122"/>
              </a:rPr>
              <a:t>！"); </a:t>
            </a:r>
            <a:r>
              <a:rPr lang="en-US" altLang="zh-CN" sz="2800" b="1" dirty="0">
                <a:latin typeface="Times New Roman" pitchFamily="18" charset="0"/>
                <a:ea typeface="华文仿宋" pitchFamily="2" charset="-122"/>
              </a:rPr>
              <a:t>  </a:t>
            </a:r>
            <a:r>
              <a:rPr lang="en-US" altLang="en-US" sz="2800" b="1" dirty="0">
                <a:latin typeface="Times New Roman" pitchFamily="18" charset="0"/>
                <a:ea typeface="华文仿宋" pitchFamily="2" charset="-122"/>
              </a:rPr>
              <a:t> //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itchFamily="18" charset="0"/>
                <a:ea typeface="华文仿宋" pitchFamily="2" charset="-122"/>
              </a:rPr>
              <a:t>若正常结束循环</a:t>
            </a:r>
            <a:r>
              <a:rPr lang="en-US" altLang="zh-CN" sz="2800" b="1" dirty="0" err="1">
                <a:solidFill>
                  <a:srgbClr val="00B050"/>
                </a:solidFill>
                <a:latin typeface="Times New Roman" pitchFamily="18" charset="0"/>
                <a:ea typeface="华文仿宋" pitchFamily="2" charset="-122"/>
              </a:rPr>
              <a:t>,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itchFamily="18" charset="0"/>
                <a:ea typeface="华文仿宋" pitchFamily="2" charset="-122"/>
              </a:rPr>
              <a:t>是回文</a:t>
            </a:r>
            <a:endParaRPr lang="en-US" altLang="en-US" sz="2800" b="1" dirty="0">
              <a:solidFill>
                <a:srgbClr val="00B050"/>
              </a:solidFill>
              <a:latin typeface="Times New Roman" pitchFamily="18" charset="0"/>
              <a:ea typeface="华文仿宋" pitchFamily="2" charset="-122"/>
            </a:endParaRPr>
          </a:p>
          <a:p>
            <a:r>
              <a:rPr lang="zh-CN" altLang="en-US" sz="2800" b="1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800" b="1">
                <a:latin typeface="Times New Roman" pitchFamily="18" charset="0"/>
                <a:ea typeface="华文仿宋" pitchFamily="2" charset="-122"/>
              </a:rPr>
              <a:t>else  </a:t>
            </a:r>
            <a:r>
              <a:rPr lang="en-US" altLang="zh-CN" sz="2800" b="1">
                <a:latin typeface="Times New Roman" pitchFamily="18" charset="0"/>
                <a:ea typeface="华文仿宋" pitchFamily="2" charset="-122"/>
              </a:rPr>
              <a:t>  </a:t>
            </a:r>
            <a:r>
              <a:rPr lang="en-US" altLang="en-US" sz="2800" b="1" dirty="0">
                <a:latin typeface="Times New Roman" pitchFamily="18" charset="0"/>
                <a:ea typeface="华文仿宋" pitchFamily="2" charset="-122"/>
              </a:rPr>
              <a:t>printf("</a:t>
            </a:r>
            <a:r>
              <a:rPr lang="en-US" altLang="en-US" sz="2800" b="1" dirty="0" err="1">
                <a:latin typeface="Times New Roman" pitchFamily="18" charset="0"/>
                <a:ea typeface="华文仿宋" pitchFamily="2" charset="-122"/>
              </a:rPr>
              <a:t>该字符串不是回文</a:t>
            </a:r>
            <a:r>
              <a:rPr lang="en-US" altLang="en-US" sz="2800" b="1" dirty="0">
                <a:latin typeface="Times New Roman" pitchFamily="18" charset="0"/>
                <a:ea typeface="华文仿宋" pitchFamily="2" charset="-122"/>
              </a:rPr>
              <a:t>！"); </a:t>
            </a:r>
          </a:p>
          <a:p>
            <a:r>
              <a:rPr lang="en-US" altLang="zh-CN" sz="2800" b="1" dirty="0">
                <a:latin typeface="Times New Roman" pitchFamily="18" charset="0"/>
                <a:ea typeface="微软雅黑" pitchFamily="34" charset="-122"/>
              </a:rPr>
              <a:t>}     </a:t>
            </a:r>
          </a:p>
        </p:txBody>
      </p:sp>
    </p:spTree>
    <p:extLst>
      <p:ext uri="{BB962C8B-B14F-4D97-AF65-F5344CB8AC3E}">
        <p14:creationId xmlns:p14="http://schemas.microsoft.com/office/powerpoint/2010/main" val="33436650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1847528" y="548680"/>
            <a:ext cx="763428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 dirty="0">
                <a:ea typeface="微软雅黑" pitchFamily="34" charset="-122"/>
              </a:rPr>
              <a:t>回文的第</a:t>
            </a:r>
            <a:r>
              <a:rPr lang="en-US" altLang="zh-CN" sz="3200" dirty="0">
                <a:ea typeface="微软雅黑" pitchFamily="34" charset="-122"/>
              </a:rPr>
              <a:t>2</a:t>
            </a:r>
            <a:r>
              <a:rPr lang="zh-CN" altLang="en-US" sz="3200" dirty="0">
                <a:ea typeface="微软雅黑" pitchFamily="34" charset="-122"/>
              </a:rPr>
              <a:t>种算法。</a:t>
            </a:r>
          </a:p>
        </p:txBody>
      </p:sp>
      <p:sp>
        <p:nvSpPr>
          <p:cNvPr id="64515" name="矩形 1"/>
          <p:cNvSpPr>
            <a:spLocks noChangeArrowheads="1"/>
          </p:cNvSpPr>
          <p:nvPr/>
        </p:nvSpPr>
        <p:spPr bwMode="auto">
          <a:xfrm>
            <a:off x="1271464" y="1268760"/>
            <a:ext cx="10225136" cy="5152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#include &lt;stdio.h&gt;</a:t>
            </a: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#include &lt;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</a:rPr>
              <a:t>string.h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&gt;</a:t>
            </a: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void main () </a:t>
            </a:r>
          </a:p>
          <a:p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{</a:t>
            </a:r>
          </a:p>
          <a:p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char str[20];</a:t>
            </a:r>
          </a:p>
          <a:p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int </a:t>
            </a:r>
            <a:r>
              <a:rPr lang="en-US" altLang="en-US" sz="2400" b="1" dirty="0" err="1">
                <a:latin typeface="Times New Roman" pitchFamily="18" charset="0"/>
                <a:ea typeface="华文仿宋" pitchFamily="2" charset="-122"/>
              </a:rPr>
              <a:t>i,n,num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=0;</a:t>
            </a:r>
          </a:p>
          <a:p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printf("please input a string!\n");</a:t>
            </a:r>
          </a:p>
          <a:p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gets(str);</a:t>
            </a:r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</a:t>
            </a:r>
            <a:endParaRPr lang="en-US" altLang="en-US" sz="2400" b="1" dirty="0">
              <a:latin typeface="Times New Roman" pitchFamily="18" charset="0"/>
              <a:ea typeface="华文仿宋" pitchFamily="2" charset="-122"/>
            </a:endParaRPr>
          </a:p>
          <a:p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n=strlen(str);</a:t>
            </a:r>
          </a:p>
          <a:p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for(i=0;i&lt;n/2;i++)      //</a:t>
            </a:r>
            <a:r>
              <a:rPr lang="en-US" altLang="en-US" sz="2400" b="1" dirty="0" err="1">
                <a:latin typeface="Times New Roman" pitchFamily="18" charset="0"/>
                <a:ea typeface="华文仿宋" pitchFamily="2" charset="-122"/>
              </a:rPr>
              <a:t>循环n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/2 次</a:t>
            </a:r>
          </a:p>
          <a:p>
            <a:r>
              <a:rPr lang="zh-CN" altLang="en-US" sz="2400" b="1" dirty="0">
                <a:latin typeface="Times New Roman" pitchFamily="18" charset="0"/>
                <a:ea typeface="华文仿宋" pitchFamily="2" charset="-122"/>
              </a:rPr>
              <a:t>    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if(str[i]==str[n-1-i])  num++; </a:t>
            </a:r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</a:t>
            </a:r>
            <a:r>
              <a:rPr lang="en-US" altLang="en-US" sz="2400" b="1" dirty="0">
                <a:solidFill>
                  <a:srgbClr val="00B050"/>
                </a:solidFill>
                <a:latin typeface="Times New Roman" pitchFamily="18" charset="0"/>
                <a:ea typeface="华文仿宋" pitchFamily="2" charset="-122"/>
              </a:rPr>
              <a:t>//若前后对应位置的字符相同</a:t>
            </a:r>
            <a:r>
              <a:rPr lang="en-US" altLang="zh-CN" sz="2400" b="1" dirty="0">
                <a:solidFill>
                  <a:srgbClr val="00B050"/>
                </a:solidFill>
                <a:latin typeface="Times New Roman" pitchFamily="18" charset="0"/>
                <a:ea typeface="华文仿宋" pitchFamily="2" charset="-122"/>
              </a:rPr>
              <a:t>,</a:t>
            </a:r>
            <a:r>
              <a:rPr lang="en-US" altLang="en-US" sz="2400" b="1" dirty="0">
                <a:solidFill>
                  <a:srgbClr val="00B050"/>
                </a:solidFill>
                <a:latin typeface="Times New Roman" pitchFamily="18" charset="0"/>
                <a:ea typeface="华文仿宋" pitchFamily="2" charset="-122"/>
              </a:rPr>
              <a:t>则计数器加1</a:t>
            </a:r>
          </a:p>
          <a:p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if(num==n/2) printf("</a:t>
            </a:r>
            <a:r>
              <a:rPr lang="en-US" altLang="en-US" sz="2400" b="1" dirty="0" err="1">
                <a:latin typeface="Times New Roman" pitchFamily="18" charset="0"/>
                <a:ea typeface="华文仿宋" pitchFamily="2" charset="-122"/>
              </a:rPr>
              <a:t>该字符串是回文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！");  </a:t>
            </a:r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//</a:t>
            </a:r>
            <a:r>
              <a:rPr lang="en-US" altLang="en-US" sz="2400" b="1" dirty="0" err="1">
                <a:solidFill>
                  <a:srgbClr val="00B050"/>
                </a:solidFill>
                <a:latin typeface="Times New Roman" pitchFamily="18" charset="0"/>
                <a:ea typeface="华文仿宋" pitchFamily="2" charset="-122"/>
              </a:rPr>
              <a:t>相同次数等于n</a:t>
            </a:r>
            <a:r>
              <a:rPr lang="en-US" altLang="en-US" sz="2400" b="1" dirty="0">
                <a:solidFill>
                  <a:srgbClr val="00B050"/>
                </a:solidFill>
                <a:latin typeface="Times New Roman" pitchFamily="18" charset="0"/>
                <a:ea typeface="华文仿宋" pitchFamily="2" charset="-122"/>
              </a:rPr>
              <a:t>/2</a:t>
            </a:r>
            <a:r>
              <a:rPr lang="en-US" altLang="zh-CN" sz="2400" b="1" dirty="0">
                <a:solidFill>
                  <a:srgbClr val="00B050"/>
                </a:solidFill>
                <a:latin typeface="Times New Roman" pitchFamily="18" charset="0"/>
                <a:ea typeface="华文仿宋" pitchFamily="2" charset="-122"/>
              </a:rPr>
              <a:t>, </a:t>
            </a:r>
            <a:r>
              <a:rPr lang="en-US" altLang="en-US" sz="2400" b="1" dirty="0" err="1">
                <a:solidFill>
                  <a:srgbClr val="00B050"/>
                </a:solidFill>
                <a:latin typeface="Times New Roman" pitchFamily="18" charset="0"/>
                <a:ea typeface="华文仿宋" pitchFamily="2" charset="-122"/>
              </a:rPr>
              <a:t>是回文</a:t>
            </a:r>
            <a:endParaRPr lang="en-US" altLang="en-US" sz="2400" b="1" dirty="0">
              <a:solidFill>
                <a:srgbClr val="00B050"/>
              </a:solidFill>
              <a:latin typeface="Times New Roman" pitchFamily="18" charset="0"/>
              <a:ea typeface="华文仿宋" pitchFamily="2" charset="-122"/>
            </a:endParaRPr>
          </a:p>
          <a:p>
            <a:r>
              <a:rPr lang="zh-CN" altLang="en-US" sz="24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else</a:t>
            </a:r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 printf("</a:t>
            </a:r>
            <a:r>
              <a:rPr lang="en-US" altLang="en-US" sz="2400" b="1" dirty="0" err="1">
                <a:latin typeface="Times New Roman" pitchFamily="18" charset="0"/>
                <a:ea typeface="华文仿宋" pitchFamily="2" charset="-122"/>
              </a:rPr>
              <a:t>该字符串不是回文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！");</a:t>
            </a:r>
          </a:p>
          <a:p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}     </a:t>
            </a:r>
          </a:p>
        </p:txBody>
      </p:sp>
    </p:spTree>
    <p:extLst>
      <p:ext uri="{BB962C8B-B14F-4D97-AF65-F5344CB8AC3E}">
        <p14:creationId xmlns:p14="http://schemas.microsoft.com/office/powerpoint/2010/main" val="951480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1847528" y="548680"/>
            <a:ext cx="763428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ea typeface="微软雅黑" pitchFamily="34" charset="-122"/>
              </a:rPr>
              <a:t>判断一个正</a:t>
            </a: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itchFamily="34" charset="-122"/>
              </a:rPr>
              <a:t>整数</a:t>
            </a:r>
            <a:r>
              <a:rPr lang="zh-CN" altLang="en-US" sz="3200">
                <a:ea typeface="微软雅黑" pitchFamily="34" charset="-122"/>
              </a:rPr>
              <a:t>是否回文数</a:t>
            </a:r>
            <a:endParaRPr lang="zh-CN" altLang="en-US" sz="3200" dirty="0">
              <a:ea typeface="微软雅黑" pitchFamily="34" charset="-122"/>
            </a:endParaRPr>
          </a:p>
        </p:txBody>
      </p:sp>
      <p:sp>
        <p:nvSpPr>
          <p:cNvPr id="64515" name="矩形 1"/>
          <p:cNvSpPr>
            <a:spLocks noChangeArrowheads="1"/>
          </p:cNvSpPr>
          <p:nvPr/>
        </p:nvSpPr>
        <p:spPr bwMode="auto">
          <a:xfrm>
            <a:off x="1631504" y="1161976"/>
            <a:ext cx="10225136" cy="574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b="1">
                <a:latin typeface="Times New Roman" pitchFamily="18" charset="0"/>
                <a:ea typeface="微软雅黑" pitchFamily="34" charset="-122"/>
              </a:rPr>
              <a:t>#include &lt;stdio.h&gt;</a:t>
            </a:r>
          </a:p>
          <a:p>
            <a:pPr>
              <a:lnSpc>
                <a:spcPct val="90000"/>
              </a:lnSpc>
            </a:pPr>
            <a:r>
              <a:rPr lang="en-US" altLang="zh-CN" sz="2400" b="1">
                <a:latin typeface="Times New Roman" pitchFamily="18" charset="0"/>
                <a:ea typeface="微软雅黑" pitchFamily="34" charset="-122"/>
              </a:rPr>
              <a:t>main()</a:t>
            </a:r>
          </a:p>
          <a:p>
            <a:pPr>
              <a:lnSpc>
                <a:spcPct val="90000"/>
              </a:lnSpc>
            </a:pPr>
            <a:r>
              <a:rPr lang="en-US" altLang="zh-CN" sz="2400" b="1">
                <a:latin typeface="Times New Roman" pitchFamily="18" charset="0"/>
                <a:ea typeface="微软雅黑" pitchFamily="34" charset="-122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zh-CN" sz="2400" b="1">
                <a:latin typeface="Times New Roman" pitchFamily="18" charset="0"/>
                <a:ea typeface="微软雅黑" pitchFamily="34" charset="-122"/>
              </a:rPr>
              <a:t>	int x,x1,y;</a:t>
            </a:r>
          </a:p>
          <a:p>
            <a:pPr>
              <a:lnSpc>
                <a:spcPct val="90000"/>
              </a:lnSpc>
            </a:pPr>
            <a:r>
              <a:rPr lang="en-US" altLang="zh-CN" sz="2400" b="1">
                <a:latin typeface="Times New Roman" pitchFamily="18" charset="0"/>
                <a:ea typeface="微软雅黑" pitchFamily="34" charset="-122"/>
              </a:rPr>
              <a:t>	printf("x=");</a:t>
            </a:r>
          </a:p>
          <a:p>
            <a:pPr>
              <a:lnSpc>
                <a:spcPct val="90000"/>
              </a:lnSpc>
            </a:pPr>
            <a:r>
              <a:rPr lang="en-US" altLang="zh-CN" sz="2400" b="1">
                <a:latin typeface="Times New Roman" pitchFamily="18" charset="0"/>
                <a:ea typeface="微软雅黑" pitchFamily="34" charset="-122"/>
              </a:rPr>
              <a:t>	scanf("%d",&amp;x);</a:t>
            </a:r>
          </a:p>
          <a:p>
            <a:pPr>
              <a:lnSpc>
                <a:spcPct val="90000"/>
              </a:lnSpc>
            </a:pPr>
            <a:r>
              <a:rPr lang="en-US" altLang="zh-CN" sz="2400" b="1">
                <a:latin typeface="Times New Roman" pitchFamily="18" charset="0"/>
                <a:ea typeface="微软雅黑" pitchFamily="34" charset="-122"/>
              </a:rPr>
              <a:t>	x1=x;y=0;</a:t>
            </a:r>
          </a:p>
          <a:p>
            <a:pPr>
              <a:lnSpc>
                <a:spcPct val="90000"/>
              </a:lnSpc>
            </a:pPr>
            <a:r>
              <a:rPr lang="en-US" altLang="zh-CN" sz="2400" b="1">
                <a:latin typeface="Times New Roman" pitchFamily="18" charset="0"/>
                <a:ea typeface="微软雅黑" pitchFamily="34" charset="-122"/>
              </a:rPr>
              <a:t>	while(x1!=0)</a:t>
            </a:r>
            <a:r>
              <a:rPr lang="zh-CN" altLang="en-US" sz="2400" b="1">
                <a:latin typeface="Times New Roman" pitchFamily="18" charset="0"/>
                <a:ea typeface="微软雅黑" pitchFamily="34" charset="-122"/>
              </a:rPr>
              <a:t>  </a:t>
            </a:r>
            <a:r>
              <a:rPr lang="en-US" altLang="zh-CN" sz="2400" b="1">
                <a:latin typeface="Times New Roman" pitchFamily="18" charset="0"/>
                <a:ea typeface="微软雅黑" pitchFamily="34" charset="-122"/>
              </a:rPr>
              <a:t>//</a:t>
            </a:r>
            <a:r>
              <a:rPr lang="zh-CN" altLang="en-US" sz="2400" b="1">
                <a:solidFill>
                  <a:srgbClr val="00B050"/>
                </a:solidFill>
                <a:latin typeface="Times New Roman" pitchFamily="18" charset="0"/>
                <a:ea typeface="微软雅黑" pitchFamily="34" charset="-122"/>
              </a:rPr>
              <a:t>将</a:t>
            </a:r>
            <a:r>
              <a:rPr lang="en-US" altLang="zh-CN" sz="2400" b="1">
                <a:solidFill>
                  <a:srgbClr val="00B050"/>
                </a:solidFill>
                <a:latin typeface="Times New Roman" pitchFamily="18" charset="0"/>
                <a:ea typeface="微软雅黑" pitchFamily="34" charset="-122"/>
              </a:rPr>
              <a:t>x1</a:t>
            </a:r>
            <a:r>
              <a:rPr lang="zh-CN" altLang="en-US" sz="2400" b="1">
                <a:solidFill>
                  <a:srgbClr val="00B050"/>
                </a:solidFill>
                <a:latin typeface="Times New Roman" pitchFamily="18" charset="0"/>
                <a:ea typeface="微软雅黑" pitchFamily="34" charset="-122"/>
              </a:rPr>
              <a:t>逆序存放到</a:t>
            </a:r>
            <a:r>
              <a:rPr lang="en-US" altLang="zh-CN" sz="2400" b="1">
                <a:solidFill>
                  <a:srgbClr val="00B050"/>
                </a:solidFill>
                <a:latin typeface="Times New Roman" pitchFamily="18" charset="0"/>
                <a:ea typeface="微软雅黑" pitchFamily="34" charset="-122"/>
              </a:rPr>
              <a:t>y</a:t>
            </a:r>
            <a:r>
              <a:rPr lang="zh-CN" altLang="en-US" sz="2400" b="1">
                <a:solidFill>
                  <a:srgbClr val="00B050"/>
                </a:solidFill>
                <a:latin typeface="Times New Roman" pitchFamily="18" charset="0"/>
                <a:ea typeface="微软雅黑" pitchFamily="34" charset="-122"/>
              </a:rPr>
              <a:t>中</a:t>
            </a:r>
            <a:endParaRPr lang="en-US" altLang="zh-CN" sz="2400" b="1">
              <a:solidFill>
                <a:srgbClr val="00B050"/>
              </a:solidFill>
              <a:latin typeface="Times New Roman" pitchFamily="18" charset="0"/>
              <a:ea typeface="微软雅黑" pitchFamily="34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b="1">
                <a:latin typeface="Times New Roman" pitchFamily="18" charset="0"/>
                <a:ea typeface="微软雅黑" pitchFamily="34" charset="-122"/>
              </a:rPr>
              <a:t>	{</a:t>
            </a:r>
          </a:p>
          <a:p>
            <a:pPr>
              <a:lnSpc>
                <a:spcPct val="90000"/>
              </a:lnSpc>
            </a:pPr>
            <a:r>
              <a:rPr lang="en-US" altLang="zh-CN" sz="2400" b="1">
                <a:latin typeface="Times New Roman" pitchFamily="18" charset="0"/>
                <a:ea typeface="微软雅黑" pitchFamily="34" charset="-122"/>
              </a:rPr>
              <a:t>		y=y*10+x1%10;</a:t>
            </a:r>
          </a:p>
          <a:p>
            <a:pPr>
              <a:lnSpc>
                <a:spcPct val="90000"/>
              </a:lnSpc>
            </a:pPr>
            <a:r>
              <a:rPr lang="en-US" altLang="zh-CN" sz="2400" b="1">
                <a:latin typeface="Times New Roman" pitchFamily="18" charset="0"/>
                <a:ea typeface="微软雅黑" pitchFamily="34" charset="-122"/>
              </a:rPr>
              <a:t>		x1/=10;</a:t>
            </a:r>
          </a:p>
          <a:p>
            <a:pPr>
              <a:lnSpc>
                <a:spcPct val="90000"/>
              </a:lnSpc>
            </a:pPr>
            <a:r>
              <a:rPr lang="en-US" altLang="zh-CN" sz="2400" b="1">
                <a:latin typeface="Times New Roman" pitchFamily="18" charset="0"/>
                <a:ea typeface="微软雅黑" pitchFamily="34" charset="-122"/>
              </a:rPr>
              <a:t>	}</a:t>
            </a:r>
          </a:p>
          <a:p>
            <a:pPr>
              <a:lnSpc>
                <a:spcPct val="90000"/>
              </a:lnSpc>
            </a:pPr>
            <a:r>
              <a:rPr lang="en-US" altLang="zh-CN" sz="2400" b="1">
                <a:latin typeface="Times New Roman" pitchFamily="18" charset="0"/>
                <a:ea typeface="微软雅黑" pitchFamily="34" charset="-122"/>
              </a:rPr>
              <a:t>	if(x==y)</a:t>
            </a:r>
          </a:p>
          <a:p>
            <a:pPr>
              <a:lnSpc>
                <a:spcPct val="90000"/>
              </a:lnSpc>
            </a:pPr>
            <a:r>
              <a:rPr lang="en-US" altLang="zh-CN" sz="2400" b="1">
                <a:latin typeface="Times New Roman" pitchFamily="18" charset="0"/>
                <a:ea typeface="微软雅黑" pitchFamily="34" charset="-122"/>
              </a:rPr>
              <a:t>		printf("Y\n");</a:t>
            </a:r>
          </a:p>
          <a:p>
            <a:pPr>
              <a:lnSpc>
                <a:spcPct val="90000"/>
              </a:lnSpc>
            </a:pPr>
            <a:r>
              <a:rPr lang="en-US" altLang="zh-CN" sz="2400" b="1">
                <a:latin typeface="Times New Roman" pitchFamily="18" charset="0"/>
                <a:ea typeface="微软雅黑" pitchFamily="34" charset="-122"/>
              </a:rPr>
              <a:t>	else</a:t>
            </a:r>
          </a:p>
          <a:p>
            <a:pPr>
              <a:lnSpc>
                <a:spcPct val="90000"/>
              </a:lnSpc>
            </a:pPr>
            <a:r>
              <a:rPr lang="en-US" altLang="zh-CN" sz="2400" b="1">
                <a:latin typeface="Times New Roman" pitchFamily="18" charset="0"/>
                <a:ea typeface="微软雅黑" pitchFamily="34" charset="-122"/>
              </a:rPr>
              <a:t>		printf("N\n");	</a:t>
            </a:r>
          </a:p>
          <a:p>
            <a:pPr>
              <a:lnSpc>
                <a:spcPct val="90000"/>
              </a:lnSpc>
            </a:pPr>
            <a:r>
              <a:rPr lang="en-US" altLang="zh-CN" sz="2400" b="1">
                <a:latin typeface="Times New Roman" pitchFamily="18" charset="0"/>
                <a:ea typeface="微软雅黑" pitchFamily="34" charset="-122"/>
              </a:rPr>
              <a:t>}</a:t>
            </a:r>
            <a:endParaRPr lang="en-US" altLang="zh-CN" sz="2400" b="1" dirty="0">
              <a:latin typeface="Times New Roman" pitchFamily="18" charset="0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5372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2063552" y="162984"/>
            <a:ext cx="842898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dirty="0">
                <a:ea typeface="微软雅黑" pitchFamily="34" charset="-122"/>
              </a:rPr>
              <a:t>输入一个字符串和一个字符</a:t>
            </a:r>
            <a:r>
              <a:rPr lang="en-US" altLang="zh-CN" sz="2400" dirty="0">
                <a:ea typeface="微软雅黑" pitchFamily="34" charset="-122"/>
              </a:rPr>
              <a:t>,</a:t>
            </a:r>
            <a:r>
              <a:rPr lang="zh-CN" altLang="en-US" sz="2400" dirty="0">
                <a:ea typeface="微软雅黑" pitchFamily="34" charset="-122"/>
              </a:rPr>
              <a:t>删除该字符串中出现的所有指定字符。</a:t>
            </a:r>
          </a:p>
        </p:txBody>
      </p:sp>
      <p:sp>
        <p:nvSpPr>
          <p:cNvPr id="65539" name="矩形 1"/>
          <p:cNvSpPr>
            <a:spLocks noChangeArrowheads="1"/>
          </p:cNvSpPr>
          <p:nvPr/>
        </p:nvSpPr>
        <p:spPr bwMode="auto">
          <a:xfrm>
            <a:off x="2063552" y="1196752"/>
            <a:ext cx="8209854" cy="5558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#include &lt;stdio.h&gt;</a:t>
            </a: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void main ( ) {</a:t>
            </a:r>
          </a:p>
          <a:p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char str[20];</a:t>
            </a:r>
          </a:p>
          <a:p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int i,</a:t>
            </a:r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j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;</a:t>
            </a:r>
          </a:p>
          <a:p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printf("please input a string</a:t>
            </a:r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: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");</a:t>
            </a:r>
          </a:p>
          <a:p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gets(str);</a:t>
            </a:r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</a:t>
            </a:r>
            <a:endParaRPr lang="en-US" altLang="en-US" sz="2400" b="1" dirty="0">
              <a:latin typeface="Times New Roman" pitchFamily="18" charset="0"/>
              <a:ea typeface="华文仿宋" pitchFamily="2" charset="-122"/>
            </a:endParaRPr>
          </a:p>
          <a:p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printf("please input a char：");</a:t>
            </a:r>
          </a:p>
          <a:p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c=</a:t>
            </a:r>
            <a:r>
              <a:rPr lang="en-US" altLang="en-US" sz="2400" b="1" dirty="0" err="1">
                <a:latin typeface="Times New Roman" pitchFamily="18" charset="0"/>
                <a:ea typeface="华文仿宋" pitchFamily="2" charset="-122"/>
              </a:rPr>
              <a:t>getchar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( );</a:t>
            </a:r>
          </a:p>
          <a:p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for(i=0;str[i]!='\0';i++)   //</a:t>
            </a:r>
            <a:r>
              <a:rPr lang="en-US" altLang="en-US" sz="2400" b="1" dirty="0" err="1">
                <a:latin typeface="Times New Roman" pitchFamily="18" charset="0"/>
                <a:ea typeface="华文仿宋" pitchFamily="2" charset="-122"/>
              </a:rPr>
              <a:t>遍历字符串，查找指定字符</a:t>
            </a:r>
            <a:endParaRPr lang="en-US" altLang="en-US" sz="2400" b="1" dirty="0">
              <a:latin typeface="Times New Roman" pitchFamily="18" charset="0"/>
              <a:ea typeface="华文仿宋" pitchFamily="2" charset="-122"/>
            </a:endParaRPr>
          </a:p>
          <a:p>
            <a:r>
              <a:rPr lang="zh-CN" altLang="en-US" sz="2400" b="1" dirty="0">
                <a:latin typeface="Times New Roman" pitchFamily="18" charset="0"/>
                <a:ea typeface="华文仿宋" pitchFamily="2" charset="-122"/>
              </a:rPr>
              <a:t>   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  if(str[i]==c)     //</a:t>
            </a:r>
            <a:r>
              <a:rPr lang="en-US" altLang="en-US" sz="2400" b="1" dirty="0" err="1">
                <a:latin typeface="Times New Roman" pitchFamily="18" charset="0"/>
                <a:ea typeface="华文仿宋" pitchFamily="2" charset="-122"/>
              </a:rPr>
              <a:t>找到指定字符</a:t>
            </a:r>
            <a:endParaRPr lang="en-US" altLang="en-US" sz="2400" b="1" dirty="0">
              <a:latin typeface="Times New Roman" pitchFamily="18" charset="0"/>
              <a:ea typeface="华文仿宋" pitchFamily="2" charset="-122"/>
            </a:endParaRPr>
          </a:p>
          <a:p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zh-CN" altLang="en-US" sz="2400" b="1" dirty="0">
                <a:latin typeface="Times New Roman" pitchFamily="18" charset="0"/>
                <a:ea typeface="华文仿宋" pitchFamily="2" charset="-122"/>
              </a:rPr>
              <a:t>   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 {</a:t>
            </a:r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for(j=</a:t>
            </a:r>
            <a:r>
              <a:rPr lang="en-US" altLang="en-US" sz="2400" b="1" dirty="0" err="1">
                <a:latin typeface="Times New Roman" pitchFamily="18" charset="0"/>
                <a:ea typeface="华文仿宋" pitchFamily="2" charset="-122"/>
              </a:rPr>
              <a:t>i;str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[j]!='\0';j++)   //</a:t>
            </a:r>
            <a:r>
              <a:rPr lang="en-US" altLang="en-US" sz="2400" b="1" dirty="0" err="1">
                <a:latin typeface="Times New Roman" pitchFamily="18" charset="0"/>
                <a:ea typeface="华文仿宋" pitchFamily="2" charset="-122"/>
              </a:rPr>
              <a:t>后续字符串逐个向前移动</a:t>
            </a:r>
            <a:endParaRPr lang="en-US" altLang="en-US" sz="2400" b="1" dirty="0">
              <a:latin typeface="Times New Roman" pitchFamily="18" charset="0"/>
              <a:ea typeface="华文仿宋" pitchFamily="2" charset="-122"/>
            </a:endParaRPr>
          </a:p>
          <a:p>
            <a:r>
              <a:rPr lang="zh-CN" altLang="en-US" sz="2400" b="1" dirty="0">
                <a:latin typeface="Times New Roman" pitchFamily="18" charset="0"/>
                <a:ea typeface="华文仿宋" pitchFamily="2" charset="-122"/>
              </a:rPr>
              <a:t>              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str[j]=str[j+1];</a:t>
            </a:r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  </a:t>
            </a:r>
            <a:endParaRPr lang="en-US" altLang="en-US" sz="2400" b="1" dirty="0">
              <a:latin typeface="Times New Roman" pitchFamily="18" charset="0"/>
              <a:ea typeface="华文仿宋" pitchFamily="2" charset="-122"/>
            </a:endParaRPr>
          </a:p>
          <a:p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     </a:t>
            </a:r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   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 i--;    //</a:t>
            </a:r>
            <a:r>
              <a:rPr lang="en-US" altLang="en-US" sz="2400" b="1" dirty="0" err="1">
                <a:latin typeface="Times New Roman" pitchFamily="18" charset="0"/>
                <a:ea typeface="华文仿宋" pitchFamily="2" charset="-122"/>
              </a:rPr>
              <a:t>准备下一次比较</a:t>
            </a:r>
            <a:endParaRPr lang="en-US" altLang="en-US" sz="2400" b="1" dirty="0">
              <a:latin typeface="Times New Roman" pitchFamily="18" charset="0"/>
              <a:ea typeface="华文仿宋" pitchFamily="2" charset="-122"/>
            </a:endParaRPr>
          </a:p>
          <a:p>
            <a:r>
              <a:rPr lang="zh-CN" altLang="en-US" sz="2400" b="1" dirty="0">
                <a:latin typeface="Times New Roman" pitchFamily="18" charset="0"/>
                <a:ea typeface="华文仿宋" pitchFamily="2" charset="-122"/>
              </a:rPr>
              <a:t>  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     }</a:t>
            </a:r>
          </a:p>
          <a:p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 </a:t>
            </a:r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puts(str);  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}     </a:t>
            </a:r>
          </a:p>
        </p:txBody>
      </p:sp>
    </p:spTree>
    <p:extLst>
      <p:ext uri="{BB962C8B-B14F-4D97-AF65-F5344CB8AC3E}">
        <p14:creationId xmlns:p14="http://schemas.microsoft.com/office/powerpoint/2010/main" val="31423555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/>
          <p:cNvSpPr>
            <a:spLocks noChangeArrowheads="1"/>
          </p:cNvSpPr>
          <p:nvPr/>
        </p:nvSpPr>
        <p:spPr bwMode="auto">
          <a:xfrm>
            <a:off x="2279576" y="162985"/>
            <a:ext cx="82129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dirty="0">
                <a:ea typeface="微软雅黑" pitchFamily="34" charset="-122"/>
              </a:rPr>
              <a:t>另一种算法</a:t>
            </a:r>
          </a:p>
        </p:txBody>
      </p:sp>
      <p:sp>
        <p:nvSpPr>
          <p:cNvPr id="66563" name="矩形 2"/>
          <p:cNvSpPr>
            <a:spLocks noChangeArrowheads="1"/>
          </p:cNvSpPr>
          <p:nvPr/>
        </p:nvSpPr>
        <p:spPr bwMode="auto">
          <a:xfrm>
            <a:off x="2349500" y="1507068"/>
            <a:ext cx="7922964" cy="4819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#include &lt;stdio.h&gt;</a:t>
            </a: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void main () </a:t>
            </a:r>
          </a:p>
          <a:p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{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char str[20];</a:t>
            </a:r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int i,</a:t>
            </a:r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j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;</a:t>
            </a:r>
          </a:p>
          <a:p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printf("please input a string</a:t>
            </a:r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: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");</a:t>
            </a:r>
          </a:p>
          <a:p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printf("please input a char：");</a:t>
            </a:r>
          </a:p>
          <a:p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   gets(str);</a:t>
            </a:r>
          </a:p>
          <a:p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c=</a:t>
            </a:r>
            <a:r>
              <a:rPr lang="en-US" altLang="en-US" sz="2400" b="1" dirty="0" err="1">
                <a:latin typeface="Times New Roman" pitchFamily="18" charset="0"/>
                <a:ea typeface="华文仿宋" pitchFamily="2" charset="-122"/>
              </a:rPr>
              <a:t>getchar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( );</a:t>
            </a:r>
          </a:p>
          <a:p>
            <a:r>
              <a:rPr lang="en-US" altLang="zh-CN" sz="24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for(i=0,j=0;str[i]!='\0';i++)     //</a:t>
            </a:r>
            <a:r>
              <a:rPr lang="en-US" altLang="en-US" sz="2400" b="1" dirty="0" err="1">
                <a:latin typeface="Times New Roman" pitchFamily="18" charset="0"/>
                <a:ea typeface="华文仿宋" pitchFamily="2" charset="-122"/>
              </a:rPr>
              <a:t>遍历字符串</a:t>
            </a:r>
            <a:endParaRPr lang="en-US" altLang="en-US" sz="2400" b="1" dirty="0">
              <a:latin typeface="Times New Roman" pitchFamily="18" charset="0"/>
              <a:ea typeface="华文仿宋" pitchFamily="2" charset="-122"/>
            </a:endParaRPr>
          </a:p>
          <a:p>
            <a:r>
              <a:rPr lang="zh-CN" altLang="en-US" sz="2400" b="1" dirty="0">
                <a:latin typeface="Times New Roman" pitchFamily="18" charset="0"/>
                <a:ea typeface="华文仿宋" pitchFamily="2" charset="-122"/>
              </a:rPr>
              <a:t>     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if(str[i]!=c)                          //</a:t>
            </a:r>
            <a:r>
              <a:rPr lang="en-US" altLang="en-US" sz="2400" b="1" dirty="0" err="1">
                <a:latin typeface="Times New Roman" pitchFamily="18" charset="0"/>
                <a:ea typeface="华文仿宋" pitchFamily="2" charset="-122"/>
              </a:rPr>
              <a:t>遇到非指定字符</a:t>
            </a:r>
            <a:endParaRPr lang="en-US" altLang="en-US" sz="2400" b="1" dirty="0">
              <a:latin typeface="Times New Roman" pitchFamily="18" charset="0"/>
              <a:ea typeface="华文仿宋" pitchFamily="2" charset="-122"/>
            </a:endParaRPr>
          </a:p>
          <a:p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    </a:t>
            </a:r>
            <a:r>
              <a:rPr lang="zh-CN" altLang="en-US" sz="2400" b="1" dirty="0">
                <a:latin typeface="Times New Roman" pitchFamily="18" charset="0"/>
                <a:ea typeface="华文仿宋" pitchFamily="2" charset="-122"/>
              </a:rPr>
              <a:t>       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{ str[j]=str[i]; j++; }      //</a:t>
            </a:r>
            <a:r>
              <a:rPr lang="en-US" altLang="en-US" sz="2400" b="1" dirty="0" err="1">
                <a:latin typeface="Times New Roman" pitchFamily="18" charset="0"/>
                <a:ea typeface="华文仿宋" pitchFamily="2" charset="-122"/>
              </a:rPr>
              <a:t>已查字符串增加一个字符</a:t>
            </a:r>
            <a:endParaRPr lang="en-US" altLang="en-US" sz="2400" b="1" dirty="0">
              <a:latin typeface="Times New Roman" pitchFamily="18" charset="0"/>
              <a:ea typeface="华文仿宋" pitchFamily="2" charset="-122"/>
            </a:endParaRPr>
          </a:p>
          <a:p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  </a:t>
            </a:r>
            <a:r>
              <a:rPr lang="zh-CN" altLang="en-US" sz="2400" b="1" dirty="0">
                <a:latin typeface="Times New Roman" pitchFamily="18" charset="0"/>
                <a:ea typeface="华文仿宋" pitchFamily="2" charset="-122"/>
              </a:rPr>
              <a:t>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str[j]= '\0';                              //</a:t>
            </a:r>
            <a:r>
              <a:rPr lang="en-US" altLang="en-US" sz="2400" b="1" dirty="0" err="1">
                <a:latin typeface="Times New Roman" pitchFamily="18" charset="0"/>
                <a:ea typeface="华文仿宋" pitchFamily="2" charset="-122"/>
              </a:rPr>
              <a:t>已查字符串加结束符</a:t>
            </a:r>
            <a:endParaRPr lang="en-US" altLang="en-US" sz="2400" b="1" dirty="0">
              <a:latin typeface="Times New Roman" pitchFamily="18" charset="0"/>
              <a:ea typeface="华文仿宋" pitchFamily="2" charset="-122"/>
            </a:endParaRPr>
          </a:p>
          <a:p>
            <a:r>
              <a:rPr lang="zh-CN" altLang="en-US" sz="2400" b="1" dirty="0">
                <a:latin typeface="Times New Roman" pitchFamily="18" charset="0"/>
                <a:ea typeface="华文仿宋" pitchFamily="2" charset="-122"/>
              </a:rPr>
              <a:t> </a:t>
            </a:r>
            <a:r>
              <a:rPr lang="en-US" altLang="en-US" sz="2400" b="1" dirty="0">
                <a:latin typeface="Times New Roman" pitchFamily="18" charset="0"/>
                <a:ea typeface="华文仿宋" pitchFamily="2" charset="-122"/>
              </a:rPr>
              <a:t>  puts(str);</a:t>
            </a:r>
          </a:p>
          <a:p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}     </a:t>
            </a:r>
          </a:p>
        </p:txBody>
      </p:sp>
    </p:spTree>
    <p:extLst>
      <p:ext uri="{BB962C8B-B14F-4D97-AF65-F5344CB8AC3E}">
        <p14:creationId xmlns:p14="http://schemas.microsoft.com/office/powerpoint/2010/main" val="39999181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buFont typeface="Wingdings" pitchFamily="2" charset="2"/>
              <a:buNone/>
            </a:pPr>
            <a:r>
              <a:rPr lang="zh-CN" altLang="zh-CN" sz="2400" b="1" dirty="0"/>
              <a:t>设有</a:t>
            </a:r>
            <a:r>
              <a:rPr lang="zh-CN" altLang="zh-CN" sz="2400" b="1" dirty="0">
                <a:latin typeface="Times New Roman" pitchFamily="18" charset="0"/>
              </a:rPr>
              <a:t>:  </a:t>
            </a:r>
            <a:r>
              <a:rPr lang="zh-CN" altLang="zh-CN" sz="2400" b="1" dirty="0">
                <a:latin typeface="Arial" pitchFamily="34" charset="0"/>
              </a:rPr>
              <a:t> int </a:t>
            </a:r>
            <a:r>
              <a:rPr lang="zh-CN" altLang="zh-CN" sz="2400" b="1" dirty="0"/>
              <a:t> x</a:t>
            </a:r>
            <a:r>
              <a:rPr lang="zh-CN" altLang="zh-CN" sz="2400" b="1" dirty="0">
                <a:latin typeface="黑体" pitchFamily="49" charset="-122"/>
              </a:rPr>
              <a:t>[</a:t>
            </a:r>
            <a:r>
              <a:rPr lang="zh-CN" altLang="zh-CN" sz="2400" b="1" dirty="0">
                <a:latin typeface="Arial" pitchFamily="34" charset="0"/>
              </a:rPr>
              <a:t>2</a:t>
            </a:r>
            <a:r>
              <a:rPr lang="zh-CN" altLang="zh-CN" sz="2400" b="1" dirty="0">
                <a:latin typeface="黑体" pitchFamily="49" charset="-122"/>
              </a:rPr>
              <a:t>][</a:t>
            </a:r>
            <a:r>
              <a:rPr lang="zh-CN" altLang="zh-CN" sz="2400" b="1" dirty="0">
                <a:latin typeface="Arial" pitchFamily="34" charset="0"/>
              </a:rPr>
              <a:t>4</a:t>
            </a:r>
            <a:r>
              <a:rPr lang="zh-CN" altLang="zh-CN" sz="2400" b="1" dirty="0">
                <a:latin typeface="黑体" pitchFamily="49" charset="-122"/>
              </a:rPr>
              <a:t>]</a:t>
            </a:r>
            <a:r>
              <a:rPr lang="zh-CN" altLang="zh-CN" sz="2400" b="1" dirty="0"/>
              <a:t>=</a:t>
            </a:r>
            <a:r>
              <a:rPr lang="zh-CN" altLang="zh-CN" sz="2400" dirty="0"/>
              <a:t>{</a:t>
            </a:r>
            <a:r>
              <a:rPr lang="zh-CN" altLang="zh-CN" sz="2400" b="1" dirty="0">
                <a:latin typeface="Arial" pitchFamily="34" charset="0"/>
              </a:rPr>
              <a:t>1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Arial" pitchFamily="34" charset="0"/>
              </a:rPr>
              <a:t>2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Arial" pitchFamily="34" charset="0"/>
              </a:rPr>
              <a:t>3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Arial" pitchFamily="34" charset="0"/>
              </a:rPr>
              <a:t>4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zh-CN" sz="2400" b="1" dirty="0">
                <a:latin typeface="Arial" pitchFamily="34" charset="0"/>
              </a:rPr>
              <a:t>5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Arial" pitchFamily="34" charset="0"/>
              </a:rPr>
              <a:t>6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Arial" pitchFamily="34" charset="0"/>
              </a:rPr>
              <a:t>7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Arial" pitchFamily="34" charset="0"/>
              </a:rPr>
              <a:t>8</a:t>
            </a:r>
            <a:r>
              <a:rPr lang="zh-CN" altLang="zh-CN" sz="2400" dirty="0"/>
              <a:t>}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2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zh-CN" altLang="zh-CN" sz="2400" b="1" dirty="0"/>
              <a:t>              </a:t>
            </a:r>
            <a:r>
              <a:rPr lang="zh-CN" altLang="zh-CN" sz="2400" b="1" dirty="0">
                <a:latin typeface="Arial" pitchFamily="34" charset="0"/>
              </a:rPr>
              <a:t>printf</a:t>
            </a:r>
            <a:r>
              <a:rPr lang="zh-CN" altLang="zh-CN" sz="2400" b="1" dirty="0">
                <a:latin typeface="Times New Roman" pitchFamily="18" charset="0"/>
              </a:rPr>
              <a:t>(</a:t>
            </a:r>
            <a:r>
              <a:rPr lang="zh-CN" altLang="zh-CN" sz="2400" b="1" dirty="0">
                <a:latin typeface="Times New Roman"/>
              </a:rPr>
              <a:t>“</a:t>
            </a:r>
            <a:r>
              <a:rPr lang="zh-CN" altLang="zh-CN" sz="2400" b="1" dirty="0">
                <a:latin typeface="Arial" pitchFamily="34" charset="0"/>
              </a:rPr>
              <a:t>%d</a:t>
            </a:r>
            <a:r>
              <a:rPr lang="zh-CN" altLang="zh-CN" sz="2400" b="1" dirty="0">
                <a:latin typeface="Times New Roman"/>
              </a:rPr>
              <a:t>”</a:t>
            </a:r>
            <a:r>
              <a:rPr lang="zh-CN" altLang="zh-CN" sz="2400" b="1" dirty="0">
                <a:latin typeface="Times New Roman" pitchFamily="18" charset="0"/>
              </a:rPr>
              <a:t>,  </a:t>
            </a:r>
            <a:r>
              <a:rPr lang="zh-CN" altLang="zh-CN" sz="2400" b="1" dirty="0"/>
              <a:t>x</a:t>
            </a:r>
            <a:r>
              <a:rPr lang="zh-CN" altLang="zh-CN" sz="2400" b="1" dirty="0">
                <a:latin typeface="黑体" pitchFamily="49" charset="-122"/>
              </a:rPr>
              <a:t>[</a:t>
            </a:r>
            <a:r>
              <a:rPr lang="zh-CN" altLang="zh-CN" sz="2400" b="1" dirty="0">
                <a:latin typeface="Arial" pitchFamily="34" charset="0"/>
              </a:rPr>
              <a:t>2</a:t>
            </a:r>
            <a:r>
              <a:rPr lang="zh-CN" altLang="zh-CN" sz="2400" b="1" dirty="0">
                <a:latin typeface="黑体" pitchFamily="49" charset="-122"/>
              </a:rPr>
              <a:t>][</a:t>
            </a:r>
            <a:r>
              <a:rPr lang="zh-CN" altLang="zh-CN" sz="2400" b="1" dirty="0">
                <a:latin typeface="Arial" pitchFamily="34" charset="0"/>
              </a:rPr>
              <a:t>4</a:t>
            </a:r>
            <a:r>
              <a:rPr lang="zh-CN" altLang="zh-CN" sz="2400" b="1" dirty="0">
                <a:latin typeface="黑体" pitchFamily="49" charset="-122"/>
              </a:rPr>
              <a:t>]</a:t>
            </a:r>
            <a:r>
              <a:rPr lang="zh-CN" altLang="zh-CN" sz="2400" b="1" dirty="0">
                <a:latin typeface="Times New Roman" pitchFamily="18" charset="0"/>
              </a:rPr>
              <a:t>);</a:t>
            </a:r>
            <a:r>
              <a:rPr lang="zh-CN" altLang="zh-CN" sz="2400" b="1" dirty="0"/>
              <a:t> 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8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/>
              <a:t>不定值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/>
              <a:t>语法检查出错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28503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37076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564856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54221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95854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buFont typeface="Wingdings" pitchFamily="2" charset="2"/>
              <a:buNone/>
            </a:pPr>
            <a:r>
              <a:rPr lang="zh-CN" altLang="zh-CN" sz="2400" b="1" dirty="0"/>
              <a:t>合法的数组定义是</a:t>
            </a:r>
            <a:r>
              <a:rPr lang="zh-CN" altLang="zh-CN" sz="2400" b="1" dirty="0">
                <a:latin typeface="Times New Roman" pitchFamily="18" charset="0"/>
              </a:rPr>
              <a:t>:</a:t>
            </a: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ct val="60000"/>
              </a:spcBef>
              <a:buFont typeface="Wingdings" pitchFamily="2" charset="2"/>
              <a:buNone/>
            </a:pPr>
            <a:r>
              <a:rPr lang="zh-CN" altLang="zh-CN" sz="2400" b="1" dirty="0">
                <a:latin typeface="Arial" pitchFamily="34" charset="0"/>
              </a:rPr>
              <a:t>int</a:t>
            </a:r>
            <a:r>
              <a:rPr lang="zh-CN" altLang="zh-CN" sz="2400" b="1" dirty="0"/>
              <a:t>  </a:t>
            </a:r>
            <a:r>
              <a:rPr lang="zh-CN" altLang="zh-CN" sz="2400" b="1" dirty="0">
                <a:latin typeface="Arial" pitchFamily="34" charset="0"/>
              </a:rPr>
              <a:t>a</a:t>
            </a:r>
            <a:r>
              <a:rPr lang="zh-CN" altLang="zh-CN" sz="2400" b="1" dirty="0">
                <a:latin typeface="黑体" pitchFamily="49" charset="-122"/>
              </a:rPr>
              <a:t>[ ]</a:t>
            </a:r>
            <a:r>
              <a:rPr lang="zh-CN" altLang="zh-CN" sz="2400" b="1" dirty="0"/>
              <a:t> = </a:t>
            </a:r>
            <a:r>
              <a:rPr lang="zh-CN" altLang="zh-CN" sz="2400" b="1" dirty="0">
                <a:latin typeface="Times New Roman"/>
              </a:rPr>
              <a:t>“</a:t>
            </a:r>
            <a:r>
              <a:rPr lang="zh-CN" altLang="zh-CN" sz="2400" b="1" dirty="0">
                <a:latin typeface="Arial" pitchFamily="34" charset="0"/>
              </a:rPr>
              <a:t>string</a:t>
            </a:r>
            <a:r>
              <a:rPr lang="zh-CN" altLang="zh-CN" sz="2400" b="1" dirty="0">
                <a:latin typeface="Times New Roman"/>
              </a:rPr>
              <a:t>”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r>
              <a:rPr lang="zh-CN" altLang="zh-CN" sz="2400" b="1" dirty="0"/>
              <a:t> </a:t>
            </a: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zh-CN" sz="2400" b="1" dirty="0">
                <a:latin typeface="Arial" pitchFamily="34" charset="0"/>
              </a:rPr>
              <a:t>int</a:t>
            </a:r>
            <a:r>
              <a:rPr lang="zh-CN" altLang="zh-CN" sz="2400" b="1" dirty="0"/>
              <a:t>  </a:t>
            </a:r>
            <a:r>
              <a:rPr lang="zh-CN" altLang="zh-CN" sz="2400" b="1" dirty="0">
                <a:latin typeface="Arial" pitchFamily="34" charset="0"/>
              </a:rPr>
              <a:t>a</a:t>
            </a:r>
            <a:r>
              <a:rPr lang="zh-CN" altLang="zh-CN" sz="2400" b="1" dirty="0">
                <a:latin typeface="黑体" pitchFamily="49" charset="-122"/>
              </a:rPr>
              <a:t>[</a:t>
            </a:r>
            <a:r>
              <a:rPr lang="zh-CN" altLang="zh-CN" sz="2400" b="1" dirty="0">
                <a:latin typeface="Arial" pitchFamily="34" charset="0"/>
              </a:rPr>
              <a:t>5</a:t>
            </a:r>
            <a:r>
              <a:rPr lang="zh-CN" altLang="zh-CN" sz="2400" b="1" dirty="0">
                <a:latin typeface="黑体" pitchFamily="49" charset="-122"/>
              </a:rPr>
              <a:t>]</a:t>
            </a:r>
            <a:r>
              <a:rPr lang="zh-CN" altLang="zh-CN" sz="2400" b="1" dirty="0"/>
              <a:t>={</a:t>
            </a:r>
            <a:r>
              <a:rPr lang="zh-CN" altLang="zh-CN" sz="2400" b="1" dirty="0">
                <a:latin typeface="Arial" pitchFamily="34" charset="0"/>
              </a:rPr>
              <a:t>0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>
                <a:latin typeface="Arial" pitchFamily="34" charset="0"/>
              </a:rPr>
              <a:t>1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>
                <a:latin typeface="Arial" pitchFamily="34" charset="0"/>
              </a:rPr>
              <a:t>2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>
                <a:latin typeface="Arial" pitchFamily="34" charset="0"/>
              </a:rPr>
              <a:t>3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>
                <a:latin typeface="Arial" pitchFamily="34" charset="0"/>
              </a:rPr>
              <a:t>4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>
                <a:latin typeface="Arial" pitchFamily="34" charset="0"/>
              </a:rPr>
              <a:t>5</a:t>
            </a:r>
            <a:r>
              <a:rPr lang="zh-CN" altLang="zh-CN" sz="2400" b="1" dirty="0"/>
              <a:t>}</a:t>
            </a:r>
            <a:r>
              <a:rPr lang="zh-CN" altLang="zh-CN" sz="2400" b="1" dirty="0">
                <a:latin typeface="Times New Roman" pitchFamily="18" charset="0"/>
              </a:rPr>
              <a:t>; </a:t>
            </a: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zh-CN" sz="2400" b="1" dirty="0">
                <a:latin typeface="Arial" pitchFamily="34" charset="0"/>
              </a:rPr>
              <a:t>char</a:t>
            </a:r>
            <a:r>
              <a:rPr lang="zh-CN" altLang="zh-CN" sz="2400" b="1" dirty="0"/>
              <a:t>  </a:t>
            </a:r>
            <a:r>
              <a:rPr lang="zh-CN" altLang="zh-CN" sz="2400" b="1" dirty="0">
                <a:latin typeface="Arial" pitchFamily="34" charset="0"/>
              </a:rPr>
              <a:t>a</a:t>
            </a:r>
            <a:r>
              <a:rPr lang="zh-CN" altLang="zh-CN" sz="2400" b="1" dirty="0"/>
              <a:t>= </a:t>
            </a:r>
            <a:r>
              <a:rPr lang="zh-CN" altLang="zh-CN" sz="2400" b="1" dirty="0">
                <a:latin typeface="Times New Roman"/>
              </a:rPr>
              <a:t>“</a:t>
            </a:r>
            <a:r>
              <a:rPr lang="zh-CN" altLang="zh-CN" sz="2400" b="1" dirty="0">
                <a:latin typeface="Arial" pitchFamily="34" charset="0"/>
              </a:rPr>
              <a:t>string</a:t>
            </a:r>
            <a:r>
              <a:rPr lang="zh-CN" altLang="zh-CN" sz="2400" b="1" dirty="0">
                <a:latin typeface="Times New Roman"/>
              </a:rPr>
              <a:t>”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r>
              <a:rPr lang="zh-CN" altLang="zh-CN" sz="2400" b="1" dirty="0"/>
              <a:t> </a:t>
            </a: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None/>
            </a:pPr>
            <a:r>
              <a:rPr lang="zh-CN" altLang="zh-CN" sz="2400" b="1" dirty="0">
                <a:latin typeface="Arial" pitchFamily="34" charset="0"/>
              </a:rPr>
              <a:t>char</a:t>
            </a:r>
            <a:r>
              <a:rPr lang="zh-CN" altLang="zh-CN" sz="2400" b="1" dirty="0"/>
              <a:t>  </a:t>
            </a:r>
            <a:r>
              <a:rPr lang="zh-CN" altLang="zh-CN" sz="2400" b="1" dirty="0">
                <a:latin typeface="Arial" pitchFamily="34" charset="0"/>
              </a:rPr>
              <a:t>a</a:t>
            </a:r>
            <a:r>
              <a:rPr lang="zh-CN" altLang="zh-CN" sz="2400" b="1" dirty="0">
                <a:latin typeface="黑体" pitchFamily="49" charset="-122"/>
              </a:rPr>
              <a:t>[ ]</a:t>
            </a:r>
            <a:r>
              <a:rPr lang="zh-CN" altLang="zh-CN" sz="2400" b="1" dirty="0"/>
              <a:t>=</a:t>
            </a:r>
            <a:r>
              <a:rPr lang="zh-CN" altLang="zh-CN" sz="2400" b="1" dirty="0">
                <a:latin typeface="Times New Roman"/>
              </a:rPr>
              <a:t> “</a:t>
            </a:r>
            <a:r>
              <a:rPr lang="zh-CN" altLang="zh-CN" sz="2400" b="1" dirty="0">
                <a:latin typeface="Arial" pitchFamily="34" charset="0"/>
              </a:rPr>
              <a:t>string</a:t>
            </a:r>
            <a:r>
              <a:rPr lang="zh-CN" altLang="zh-CN" sz="2400" b="1" dirty="0">
                <a:latin typeface="Times New Roman"/>
              </a:rPr>
              <a:t>”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28503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37076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5648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5422106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243271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12FB9FE-8817-17A0-26C7-55953C59FCE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43472" y="986788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当接受用户输入的含有空格的字符串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整体输入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时，应使用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函数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9FC104-7310-E5CD-445F-2824F490A61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582416" y="3668396"/>
            <a:ext cx="20014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gets()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AD607D-23D6-28C2-98A2-E0AE6613D77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392144" y="3732689"/>
            <a:ext cx="20014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getchar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8E107B-699F-D3D6-1B2B-2CCFE9769CB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582416" y="4997135"/>
            <a:ext cx="20014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scanf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2778E7-313B-63EF-68D9-19EC27E6017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392144" y="4932840"/>
            <a:ext cx="20014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144F83C-891F-586B-D947-1B7A4BF22AC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715641" y="3732689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C38B390-2EF7-A965-97DF-F5F59380A6A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525369" y="3796982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AC9DEB5-82C7-BAE2-DB7B-186013A9721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715641" y="5061428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660AC2B-1B19-BC51-101E-093A8803ADBB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525369" y="4997133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D75122F-27C4-C7E3-F408-A5A217B332C8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9BF00CC-BAD6-3285-65A7-D0D97422279E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30624302-7CB9-D4DF-5FDC-77A5A3C1FE5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9F29BFC7-F750-25DB-9BE7-177DB93366E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3C77E79A-76F3-BA19-CED0-FC76DF75DDE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D17F407E-B700-6FE0-C3B4-21E5B0A19C6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3D30CBE-3A45-87D0-33B0-0FA8CF0B899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67192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12FB9FE-8817-17A0-26C7-55953C59FCE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43472" y="986788"/>
            <a:ext cx="9753600" cy="394902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以下程序的输出结果是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 )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   int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i,p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=0,a[10]={1,5,9,0,-3,8,7,0,1,2};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for(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=1;i&lt;10;i++)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if(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a[</a:t>
            </a:r>
            <a:r>
              <a:rPr lang="en-US" altLang="zh-CN" sz="2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]&lt;a[p])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p=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("%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d,%d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\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n",a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[p],p);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9FC104-7310-E5CD-445F-2824F490A61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582416" y="4825010"/>
            <a:ext cx="20014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-3,4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AD607D-23D6-28C2-98A2-E0AE6613D77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392144" y="4889303"/>
            <a:ext cx="20014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0,1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8E107B-699F-D3D6-1B2B-2CCFE9769CB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582416" y="5845574"/>
            <a:ext cx="20014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9,2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2778E7-313B-63EF-68D9-19EC27E6017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392144" y="5781279"/>
            <a:ext cx="20014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2,9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144F83C-891F-586B-D947-1B7A4BF22AC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715641" y="4889303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C38B390-2EF7-A965-97DF-F5F59380A6A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525369" y="495359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AC9DEB5-82C7-BAE2-DB7B-186013A9721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715641" y="5909867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660AC2B-1B19-BC51-101E-093A8803ADBB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525369" y="5845572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D75122F-27C4-C7E3-F408-A5A217B332C8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9BF00CC-BAD6-3285-65A7-D0D97422279E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30624302-7CB9-D4DF-5FDC-77A5A3C1FE5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9F29BFC7-F750-25DB-9BE7-177DB93366E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3C77E79A-76F3-BA19-CED0-FC76DF75DDE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D17F407E-B700-6FE0-C3B4-21E5B0A19C6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3D30CBE-3A45-87D0-33B0-0FA8CF0B899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054356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whu8">
  <a:themeElements>
    <a:clrScheme name="1_whu8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whu8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1_whu8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hu8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hu8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8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9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0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000000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1">
        <a:dk1>
          <a:srgbClr val="C0C0C0"/>
        </a:dk1>
        <a:lt1>
          <a:srgbClr val="FFFFFF"/>
        </a:lt1>
        <a:dk2>
          <a:srgbClr val="7979A5"/>
        </a:dk2>
        <a:lt2>
          <a:srgbClr val="FFFF00"/>
        </a:lt2>
        <a:accent1>
          <a:srgbClr val="7499D0"/>
        </a:accent1>
        <a:accent2>
          <a:srgbClr val="CCCCFF"/>
        </a:accent2>
        <a:accent3>
          <a:srgbClr val="BEBECF"/>
        </a:accent3>
        <a:accent4>
          <a:srgbClr val="DADADA"/>
        </a:accent4>
        <a:accent5>
          <a:srgbClr val="BCCAE4"/>
        </a:accent5>
        <a:accent6>
          <a:srgbClr val="B9B9E7"/>
        </a:accent6>
        <a:hlink>
          <a:srgbClr val="FFFFFF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hu8 12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7D7D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4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5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6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99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whu8">
  <a:themeElements>
    <a:clrScheme name="3_whu8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3_whu8">
      <a:majorFont>
        <a:latin typeface="Tahoma"/>
        <a:ea typeface="楷体_GB2312"/>
        <a:cs typeface=""/>
      </a:majorFont>
      <a:minorFont>
        <a:latin typeface="Tahom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3_whu8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whu8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whu8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8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9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10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11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99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0">
  <a:themeElements>
    <a:clrScheme name="1_0 9">
      <a:dk1>
        <a:srgbClr val="000000"/>
      </a:dk1>
      <a:lt1>
        <a:srgbClr val="FFFFFF"/>
      </a:lt1>
      <a:dk2>
        <a:srgbClr val="FFCC00"/>
      </a:dk2>
      <a:lt2>
        <a:srgbClr val="000000"/>
      </a:lt2>
      <a:accent1>
        <a:srgbClr val="808000"/>
      </a:accent1>
      <a:accent2>
        <a:srgbClr val="CC9900"/>
      </a:accent2>
      <a:accent3>
        <a:srgbClr val="FFFFFF"/>
      </a:accent3>
      <a:accent4>
        <a:srgbClr val="000000"/>
      </a:accent4>
      <a:accent5>
        <a:srgbClr val="C0C0AA"/>
      </a:accent5>
      <a:accent6>
        <a:srgbClr val="B98A00"/>
      </a:accent6>
      <a:hlink>
        <a:srgbClr val="B85C00"/>
      </a:hlink>
      <a:folHlink>
        <a:srgbClr val="7D7D7D"/>
      </a:folHlink>
    </a:clrScheme>
    <a:fontScheme name="1_0">
      <a:majorFont>
        <a:latin typeface="Arial"/>
        <a:ea typeface="隶书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1_0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8080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C0C0AA"/>
        </a:accent5>
        <a:accent6>
          <a:srgbClr val="B98A00"/>
        </a:accent6>
        <a:hlink>
          <a:srgbClr val="CC66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0 2">
        <a:dk1>
          <a:srgbClr val="660033"/>
        </a:dk1>
        <a:lt1>
          <a:srgbClr val="FFFFFF"/>
        </a:lt1>
        <a:dk2>
          <a:srgbClr val="B60009"/>
        </a:dk2>
        <a:lt2>
          <a:srgbClr val="B2B2B2"/>
        </a:lt2>
        <a:accent1>
          <a:srgbClr val="CCCC00"/>
        </a:accent1>
        <a:accent2>
          <a:srgbClr val="DE9ABC"/>
        </a:accent2>
        <a:accent3>
          <a:srgbClr val="FFFFFF"/>
        </a:accent3>
        <a:accent4>
          <a:srgbClr val="56002A"/>
        </a:accent4>
        <a:accent5>
          <a:srgbClr val="E2E2AA"/>
        </a:accent5>
        <a:accent6>
          <a:srgbClr val="C98BAA"/>
        </a:accent6>
        <a:hlink>
          <a:srgbClr val="FFAFA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 3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80808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 4">
        <a:dk1>
          <a:srgbClr val="2C2C42"/>
        </a:dk1>
        <a:lt1>
          <a:srgbClr val="FFFFCC"/>
        </a:lt1>
        <a:dk2>
          <a:srgbClr val="666699"/>
        </a:dk2>
        <a:lt2>
          <a:srgbClr val="FFCC00"/>
        </a:lt2>
        <a:accent1>
          <a:srgbClr val="FF9933"/>
        </a:accent1>
        <a:accent2>
          <a:srgbClr val="808000"/>
        </a:accent2>
        <a:accent3>
          <a:srgbClr val="B8B8CA"/>
        </a:accent3>
        <a:accent4>
          <a:srgbClr val="DADAAE"/>
        </a:accent4>
        <a:accent5>
          <a:srgbClr val="FFCAAD"/>
        </a:accent5>
        <a:accent6>
          <a:srgbClr val="737300"/>
        </a:accent6>
        <a:hlink>
          <a:srgbClr val="CC6600"/>
        </a:hlink>
        <a:folHlink>
          <a:srgbClr val="33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0 5">
        <a:dk1>
          <a:srgbClr val="50000F"/>
        </a:dk1>
        <a:lt1>
          <a:srgbClr val="FFCC00"/>
        </a:lt1>
        <a:dk2>
          <a:srgbClr val="800000"/>
        </a:dk2>
        <a:lt2>
          <a:srgbClr val="FFFFCC"/>
        </a:lt2>
        <a:accent1>
          <a:srgbClr val="808000"/>
        </a:accent1>
        <a:accent2>
          <a:srgbClr val="993366"/>
        </a:accent2>
        <a:accent3>
          <a:srgbClr val="C0AAAA"/>
        </a:accent3>
        <a:accent4>
          <a:srgbClr val="DAAE00"/>
        </a:accent4>
        <a:accent5>
          <a:srgbClr val="C0C0AA"/>
        </a:accent5>
        <a:accent6>
          <a:srgbClr val="8A2D5C"/>
        </a:accent6>
        <a:hlink>
          <a:srgbClr val="FF5050"/>
        </a:hlink>
        <a:folHlink>
          <a:srgbClr val="99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0 6">
        <a:dk1>
          <a:srgbClr val="333300"/>
        </a:dk1>
        <a:lt1>
          <a:srgbClr val="FFCC00"/>
        </a:lt1>
        <a:dk2>
          <a:srgbClr val="666633"/>
        </a:dk2>
        <a:lt2>
          <a:srgbClr val="FFFFCC"/>
        </a:lt2>
        <a:accent1>
          <a:srgbClr val="8F7401"/>
        </a:accent1>
        <a:accent2>
          <a:srgbClr val="CC6600"/>
        </a:accent2>
        <a:accent3>
          <a:srgbClr val="B8B8AD"/>
        </a:accent3>
        <a:accent4>
          <a:srgbClr val="DAAE00"/>
        </a:accent4>
        <a:accent5>
          <a:srgbClr val="C6BCAA"/>
        </a:accent5>
        <a:accent6>
          <a:srgbClr val="B95C00"/>
        </a:accent6>
        <a:hlink>
          <a:srgbClr val="666699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0 7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0 8">
        <a:dk1>
          <a:srgbClr val="C0C0C0"/>
        </a:dk1>
        <a:lt1>
          <a:srgbClr val="FFFFFF"/>
        </a:lt1>
        <a:dk2>
          <a:srgbClr val="7979A5"/>
        </a:dk2>
        <a:lt2>
          <a:srgbClr val="FFFF00"/>
        </a:lt2>
        <a:accent1>
          <a:srgbClr val="7499D0"/>
        </a:accent1>
        <a:accent2>
          <a:srgbClr val="CCCCFF"/>
        </a:accent2>
        <a:accent3>
          <a:srgbClr val="BEBECF"/>
        </a:accent3>
        <a:accent4>
          <a:srgbClr val="DADADA"/>
        </a:accent4>
        <a:accent5>
          <a:srgbClr val="BCCAE4"/>
        </a:accent5>
        <a:accent6>
          <a:srgbClr val="B9B9E7"/>
        </a:accent6>
        <a:hlink>
          <a:srgbClr val="FFFFFF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0 9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7D7D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 10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 11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 1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 1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99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7208</TotalTime>
  <Words>3631</Words>
  <Application>Microsoft Office PowerPoint</Application>
  <PresentationFormat>宽屏</PresentationFormat>
  <Paragraphs>630</Paragraphs>
  <Slides>44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44</vt:i4>
      </vt:variant>
    </vt:vector>
  </HeadingPairs>
  <TitlesOfParts>
    <vt:vector size="58" baseType="lpstr">
      <vt:lpstr>黑体</vt:lpstr>
      <vt:lpstr>楷体_GB2312</vt:lpstr>
      <vt:lpstr>宋体</vt:lpstr>
      <vt:lpstr>Microsoft Yahei</vt:lpstr>
      <vt:lpstr>Arial</vt:lpstr>
      <vt:lpstr>Calibri</vt:lpstr>
      <vt:lpstr>Courier New</vt:lpstr>
      <vt:lpstr>Tahoma</vt:lpstr>
      <vt:lpstr>Times New Roman</vt:lpstr>
      <vt:lpstr>Wingdings</vt:lpstr>
      <vt:lpstr>Wingdings 2</vt:lpstr>
      <vt:lpstr>1_whu8</vt:lpstr>
      <vt:lpstr>3_whu8</vt:lpstr>
      <vt:lpstr>1_0</vt:lpstr>
      <vt:lpstr>5.3   字符数组</vt:lpstr>
      <vt:lpstr>一、字符数组的定义</vt:lpstr>
      <vt:lpstr>一、字符数组的定义</vt:lpstr>
      <vt:lpstr>二、字符数组初始化</vt:lpstr>
      <vt:lpstr>二、字符数组初始化</vt:lpstr>
      <vt:lpstr>二、字符数组初始化</vt:lpstr>
      <vt:lpstr>例:</vt:lpstr>
      <vt:lpstr>二维字符数组的初始化</vt:lpstr>
      <vt:lpstr>字符数组的输入与输出</vt:lpstr>
      <vt:lpstr>字符数组的输入与输出</vt:lpstr>
      <vt:lpstr>PowerPoint 演示文稿</vt:lpstr>
      <vt:lpstr>PowerPoint 演示文稿</vt:lpstr>
      <vt:lpstr>2. 用%s,  对字符数组整体输入或输出字符串。</vt:lpstr>
      <vt:lpstr>注意:</vt:lpstr>
      <vt:lpstr>注意:</vt:lpstr>
      <vt:lpstr>注意:</vt:lpstr>
      <vt:lpstr>3.  字符串专用的输入和输出函数</vt:lpstr>
      <vt:lpstr>例：函数gets( )与scanf( )的区别</vt:lpstr>
      <vt:lpstr>字符串输出函数</vt:lpstr>
      <vt:lpstr>PowerPoint 演示文稿</vt:lpstr>
      <vt:lpstr>PowerPoint 演示文稿</vt:lpstr>
      <vt:lpstr>字符串处理函数</vt:lpstr>
      <vt:lpstr>字符串拷贝函数</vt:lpstr>
      <vt:lpstr>字符串连接函数</vt:lpstr>
      <vt:lpstr>测字符串长度函数</vt:lpstr>
      <vt:lpstr>PowerPoint 演示文稿</vt:lpstr>
      <vt:lpstr>PowerPoint 演示文稿</vt:lpstr>
      <vt:lpstr>字符串比较函数</vt:lpstr>
      <vt:lpstr>字符串处理函数</vt:lpstr>
      <vt:lpstr>字符串处理函数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第六章  数组与结构 </dc:title>
  <dc:creator>wwb</dc:creator>
  <cp:lastModifiedBy>Administrator</cp:lastModifiedBy>
  <cp:revision>75</cp:revision>
  <dcterms:created xsi:type="dcterms:W3CDTF">2020-01-09T02:41:32Z</dcterms:created>
  <dcterms:modified xsi:type="dcterms:W3CDTF">2025-01-12T08:33:43Z</dcterms:modified>
</cp:coreProperties>
</file>