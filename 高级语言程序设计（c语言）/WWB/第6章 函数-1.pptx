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4.xml" ContentType="application/vnd.openxmlformats-officedocument.themeOverr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ink/ink1.xml" ContentType="application/inkml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7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7" r:id="rId3"/>
    <p:sldMasterId id="2147483702" r:id="rId4"/>
    <p:sldMasterId id="2147483714" r:id="rId5"/>
  </p:sldMasterIdLst>
  <p:notesMasterIdLst>
    <p:notesMasterId r:id="rId73"/>
  </p:notesMasterIdLst>
  <p:sldIdLst>
    <p:sldId id="256" r:id="rId6"/>
    <p:sldId id="257" r:id="rId7"/>
    <p:sldId id="258" r:id="rId8"/>
    <p:sldId id="259" r:id="rId9"/>
    <p:sldId id="414" r:id="rId10"/>
    <p:sldId id="415" r:id="rId11"/>
    <p:sldId id="413" r:id="rId12"/>
    <p:sldId id="260" r:id="rId13"/>
    <p:sldId id="390" r:id="rId14"/>
    <p:sldId id="261" r:id="rId15"/>
    <p:sldId id="262" r:id="rId16"/>
    <p:sldId id="263" r:id="rId17"/>
    <p:sldId id="264" r:id="rId18"/>
    <p:sldId id="266" r:id="rId19"/>
    <p:sldId id="412" r:id="rId20"/>
    <p:sldId id="268" r:id="rId21"/>
    <p:sldId id="269" r:id="rId22"/>
    <p:sldId id="395" r:id="rId23"/>
    <p:sldId id="386" r:id="rId24"/>
    <p:sldId id="270" r:id="rId25"/>
    <p:sldId id="271" r:id="rId26"/>
    <p:sldId id="394" r:id="rId27"/>
    <p:sldId id="273" r:id="rId28"/>
    <p:sldId id="274" r:id="rId29"/>
    <p:sldId id="278" r:id="rId30"/>
    <p:sldId id="279" r:id="rId31"/>
    <p:sldId id="396" r:id="rId32"/>
    <p:sldId id="280" r:id="rId33"/>
    <p:sldId id="281" r:id="rId34"/>
    <p:sldId id="283" r:id="rId35"/>
    <p:sldId id="284" r:id="rId36"/>
    <p:sldId id="398" r:id="rId37"/>
    <p:sldId id="399" r:id="rId38"/>
    <p:sldId id="286" r:id="rId39"/>
    <p:sldId id="288" r:id="rId40"/>
    <p:sldId id="408" r:id="rId41"/>
    <p:sldId id="289" r:id="rId42"/>
    <p:sldId id="291" r:id="rId43"/>
    <p:sldId id="409" r:id="rId44"/>
    <p:sldId id="290" r:id="rId45"/>
    <p:sldId id="292" r:id="rId46"/>
    <p:sldId id="293" r:id="rId47"/>
    <p:sldId id="391" r:id="rId48"/>
    <p:sldId id="410" r:id="rId49"/>
    <p:sldId id="308" r:id="rId50"/>
    <p:sldId id="309" r:id="rId51"/>
    <p:sldId id="392" r:id="rId52"/>
    <p:sldId id="393" r:id="rId53"/>
    <p:sldId id="400" r:id="rId54"/>
    <p:sldId id="401" r:id="rId55"/>
    <p:sldId id="402" r:id="rId56"/>
    <p:sldId id="310" r:id="rId57"/>
    <p:sldId id="365" r:id="rId58"/>
    <p:sldId id="366" r:id="rId59"/>
    <p:sldId id="312" r:id="rId60"/>
    <p:sldId id="314" r:id="rId61"/>
    <p:sldId id="368" r:id="rId62"/>
    <p:sldId id="367" r:id="rId63"/>
    <p:sldId id="369" r:id="rId64"/>
    <p:sldId id="370" r:id="rId65"/>
    <p:sldId id="407" r:id="rId66"/>
    <p:sldId id="371" r:id="rId67"/>
    <p:sldId id="411" r:id="rId68"/>
    <p:sldId id="403" r:id="rId69"/>
    <p:sldId id="404" r:id="rId70"/>
    <p:sldId id="385" r:id="rId71"/>
    <p:sldId id="387" r:id="rId7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76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slide" Target="slides/slide5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28.36565" units="1/cm"/>
          <inkml:channelProperty channel="Y" name="resolution" value="28.33948" units="1/cm"/>
        </inkml:channelProperties>
      </inkml:inkSource>
      <inkml:timestamp xml:id="ts0" timeString="2020-12-29T11:43:35.7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10616 18455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B3ADB-2B50-4377-BA3E-6D0334767C69}" type="datetimeFigureOut">
              <a:rPr lang="zh-CN" altLang="en-US" smtClean="0"/>
              <a:t>2025/5/17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62CEE-203B-4D13-93CD-EFFBBC16D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170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4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5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2CEE-203B-4D13-93CD-EFFBBC16D7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572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>
                <a:ea typeface="黑体" pitchFamily="49" charset="-122"/>
              </a:rPr>
              <a:t>函数</a:t>
            </a:r>
            <a:r>
              <a:rPr lang="zh-CN" b="1">
                <a:latin typeface="黑体" pitchFamily="49" charset="-122"/>
                <a:ea typeface="黑体" pitchFamily="49" charset="-122"/>
              </a:rPr>
              <a:t>类型是指返回给调用函数的结果的数据类型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/>
              <a:t>1</a:t>
            </a:r>
            <a:r>
              <a:rPr lang="zh-CN" b="1"/>
              <a:t>、形式参数是在定义函数时放在函数名后括号中的参数。在未进行函数调用时，并不对形式参数分配内存单元。在发生函数调用时，立刻给形式参数分配内存单元。调用结束后，释放掉行参所占的内存单元。</a:t>
            </a:r>
          </a:p>
          <a:p>
            <a:r>
              <a:rPr lang="zh-CN" altLang="zh-CN" b="1"/>
              <a:t>2</a:t>
            </a:r>
            <a:r>
              <a:rPr lang="zh-CN" b="1"/>
              <a:t>、因此，形参变量属于局部变量，其作用域在它所在的函数体内。</a:t>
            </a:r>
          </a:p>
          <a:p>
            <a:endParaRPr lang="zh-CN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2CEE-203B-4D13-93CD-EFFBBC16D71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232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/>
              <a:t>实在参数是一个具有确定值的表达式。函数在调用时，将实在参数赋给形式参数。</a:t>
            </a:r>
          </a:p>
          <a:p>
            <a:r>
              <a:rPr lang="zh-CN" b="1"/>
              <a:t>比如，主函数调用</a:t>
            </a:r>
            <a:r>
              <a:rPr lang="zh-CN" altLang="zh-CN" b="1"/>
              <a:t>max(a,b)</a:t>
            </a:r>
            <a:r>
              <a:rPr lang="zh-CN" b="1"/>
              <a:t>，这时，</a:t>
            </a:r>
            <a:r>
              <a:rPr lang="zh-CN" altLang="zh-CN" b="1"/>
              <a:t>a,b</a:t>
            </a:r>
            <a:r>
              <a:rPr lang="zh-CN" b="1"/>
              <a:t>为实在参数，</a:t>
            </a:r>
            <a:r>
              <a:rPr lang="zh-CN" altLang="zh-CN" b="1"/>
              <a:t>a</a:t>
            </a:r>
            <a:r>
              <a:rPr lang="zh-CN" b="1"/>
              <a:t>的值为</a:t>
            </a:r>
            <a:r>
              <a:rPr lang="zh-CN" altLang="zh-CN" b="1"/>
              <a:t>6</a:t>
            </a:r>
            <a:r>
              <a:rPr lang="zh-CN" b="1"/>
              <a:t>，</a:t>
            </a:r>
            <a:r>
              <a:rPr lang="zh-CN" altLang="zh-CN" b="1"/>
              <a:t>b</a:t>
            </a:r>
            <a:r>
              <a:rPr lang="zh-CN" b="1"/>
              <a:t>的值为</a:t>
            </a:r>
            <a:r>
              <a:rPr lang="zh-CN" altLang="zh-CN" b="1"/>
              <a:t>4</a:t>
            </a:r>
            <a:r>
              <a:rPr lang="zh-CN" b="1"/>
              <a:t>。在被调用函数定义中，</a:t>
            </a:r>
            <a:r>
              <a:rPr lang="zh-CN" altLang="zh-CN" b="1"/>
              <a:t>int max(x,y)</a:t>
            </a:r>
            <a:r>
              <a:rPr lang="zh-CN" b="1"/>
              <a:t>中的</a:t>
            </a:r>
            <a:r>
              <a:rPr lang="zh-CN" altLang="zh-CN" b="1"/>
              <a:t>x,y</a:t>
            </a:r>
            <a:r>
              <a:rPr lang="zh-CN" b="1"/>
              <a:t>为形式参数，在</a:t>
            </a:r>
            <a:r>
              <a:rPr lang="zh-CN" altLang="zh-CN" b="1"/>
              <a:t>max</a:t>
            </a:r>
            <a:r>
              <a:rPr lang="zh-CN" b="1"/>
              <a:t>被调用时，系统给</a:t>
            </a:r>
            <a:r>
              <a:rPr lang="zh-CN" altLang="zh-CN" b="1"/>
              <a:t>x,y</a:t>
            </a:r>
            <a:r>
              <a:rPr lang="zh-CN" b="1"/>
              <a:t>这两个形式参数分配了内存单元。之后，</a:t>
            </a:r>
            <a:r>
              <a:rPr lang="zh-CN" altLang="zh-CN" b="1"/>
              <a:t>a</a:t>
            </a:r>
            <a:r>
              <a:rPr lang="zh-CN" b="1"/>
              <a:t>的值</a:t>
            </a:r>
            <a:r>
              <a:rPr lang="zh-CN" altLang="zh-CN" b="1"/>
              <a:t>6</a:t>
            </a:r>
            <a:r>
              <a:rPr lang="zh-CN" b="1"/>
              <a:t>赋给</a:t>
            </a:r>
            <a:r>
              <a:rPr lang="zh-CN" altLang="zh-CN" b="1"/>
              <a:t>x</a:t>
            </a:r>
            <a:r>
              <a:rPr lang="zh-CN" b="1"/>
              <a:t>，</a:t>
            </a:r>
            <a:r>
              <a:rPr lang="zh-CN" altLang="zh-CN" b="1"/>
              <a:t>b</a:t>
            </a:r>
            <a:r>
              <a:rPr lang="zh-CN" b="1"/>
              <a:t>的值</a:t>
            </a:r>
            <a:r>
              <a:rPr lang="zh-CN" altLang="zh-CN" b="1"/>
              <a:t>4</a:t>
            </a:r>
            <a:r>
              <a:rPr lang="zh-CN" b="1"/>
              <a:t>赋给</a:t>
            </a:r>
            <a:r>
              <a:rPr lang="zh-CN" altLang="zh-CN" b="1"/>
              <a:t>y</a:t>
            </a:r>
            <a:r>
              <a:rPr lang="zh-CN" b="1"/>
              <a:t>。</a:t>
            </a:r>
          </a:p>
          <a:p>
            <a:r>
              <a:rPr lang="zh-CN" b="1">
                <a:ea typeface="黑体" pitchFamily="49" charset="-122"/>
              </a:rPr>
              <a:t>被调用函数在其形式参数被赋值之后，开始执行函数体，</a:t>
            </a:r>
          </a:p>
        </p:txBody>
      </p:sp>
    </p:spTree>
    <p:extLst>
      <p:ext uri="{BB962C8B-B14F-4D97-AF65-F5344CB8AC3E}">
        <p14:creationId xmlns:p14="http://schemas.microsoft.com/office/powerpoint/2010/main" val="469574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/>
              <a:t>实在参数是一个具有确定值的表达式。函数在调用时，将实在参数赋给形式参数。</a:t>
            </a:r>
          </a:p>
          <a:p>
            <a:r>
              <a:rPr lang="zh-CN" b="1"/>
              <a:t>比如，主函数调用</a:t>
            </a:r>
            <a:r>
              <a:rPr lang="zh-CN" altLang="zh-CN" b="1"/>
              <a:t>max(a,b)</a:t>
            </a:r>
            <a:r>
              <a:rPr lang="zh-CN" b="1"/>
              <a:t>，这时，</a:t>
            </a:r>
            <a:r>
              <a:rPr lang="zh-CN" altLang="zh-CN" b="1"/>
              <a:t>a,b</a:t>
            </a:r>
            <a:r>
              <a:rPr lang="zh-CN" b="1"/>
              <a:t>为实在参数，</a:t>
            </a:r>
            <a:r>
              <a:rPr lang="zh-CN" altLang="zh-CN" b="1"/>
              <a:t>a</a:t>
            </a:r>
            <a:r>
              <a:rPr lang="zh-CN" b="1"/>
              <a:t>的值为</a:t>
            </a:r>
            <a:r>
              <a:rPr lang="zh-CN" altLang="zh-CN" b="1"/>
              <a:t>6</a:t>
            </a:r>
            <a:r>
              <a:rPr lang="zh-CN" b="1"/>
              <a:t>，</a:t>
            </a:r>
            <a:r>
              <a:rPr lang="zh-CN" altLang="zh-CN" b="1"/>
              <a:t>b</a:t>
            </a:r>
            <a:r>
              <a:rPr lang="zh-CN" b="1"/>
              <a:t>的值为</a:t>
            </a:r>
            <a:r>
              <a:rPr lang="zh-CN" altLang="zh-CN" b="1"/>
              <a:t>4</a:t>
            </a:r>
            <a:r>
              <a:rPr lang="zh-CN" b="1"/>
              <a:t>。在被调用函数定义中，</a:t>
            </a:r>
            <a:r>
              <a:rPr lang="zh-CN" altLang="zh-CN" b="1"/>
              <a:t>int max(x,y)</a:t>
            </a:r>
            <a:r>
              <a:rPr lang="zh-CN" b="1"/>
              <a:t>中的</a:t>
            </a:r>
            <a:r>
              <a:rPr lang="zh-CN" altLang="zh-CN" b="1"/>
              <a:t>x,y</a:t>
            </a:r>
            <a:r>
              <a:rPr lang="zh-CN" b="1"/>
              <a:t>为形式参数，在</a:t>
            </a:r>
            <a:r>
              <a:rPr lang="zh-CN" altLang="zh-CN" b="1"/>
              <a:t>max</a:t>
            </a:r>
            <a:r>
              <a:rPr lang="zh-CN" b="1"/>
              <a:t>被调用时，系统给</a:t>
            </a:r>
            <a:r>
              <a:rPr lang="zh-CN" altLang="zh-CN" b="1"/>
              <a:t>x,y</a:t>
            </a:r>
            <a:r>
              <a:rPr lang="zh-CN" b="1"/>
              <a:t>这两个形式参数分配了内存单元。之后，</a:t>
            </a:r>
            <a:r>
              <a:rPr lang="zh-CN" altLang="zh-CN" b="1"/>
              <a:t>a</a:t>
            </a:r>
            <a:r>
              <a:rPr lang="zh-CN" b="1"/>
              <a:t>的值</a:t>
            </a:r>
            <a:r>
              <a:rPr lang="zh-CN" altLang="zh-CN" b="1"/>
              <a:t>6</a:t>
            </a:r>
            <a:r>
              <a:rPr lang="zh-CN" b="1"/>
              <a:t>赋给</a:t>
            </a:r>
            <a:r>
              <a:rPr lang="zh-CN" altLang="zh-CN" b="1"/>
              <a:t>x</a:t>
            </a:r>
            <a:r>
              <a:rPr lang="zh-CN" b="1"/>
              <a:t>，</a:t>
            </a:r>
            <a:r>
              <a:rPr lang="zh-CN" altLang="zh-CN" b="1"/>
              <a:t>b</a:t>
            </a:r>
            <a:r>
              <a:rPr lang="zh-CN" b="1"/>
              <a:t>的值</a:t>
            </a:r>
            <a:r>
              <a:rPr lang="zh-CN" altLang="zh-CN" b="1"/>
              <a:t>4</a:t>
            </a:r>
            <a:r>
              <a:rPr lang="zh-CN" b="1"/>
              <a:t>赋给</a:t>
            </a:r>
            <a:r>
              <a:rPr lang="zh-CN" altLang="zh-CN" b="1"/>
              <a:t>y</a:t>
            </a:r>
            <a:r>
              <a:rPr lang="zh-CN" b="1"/>
              <a:t>。</a:t>
            </a:r>
          </a:p>
          <a:p>
            <a:r>
              <a:rPr lang="zh-CN" b="1">
                <a:ea typeface="黑体" pitchFamily="49" charset="-122"/>
              </a:rPr>
              <a:t>被调用函数在其形式参数被赋值之后，开始执行函数体，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b="1"/>
              <a:t>欲求</a:t>
            </a:r>
            <a:r>
              <a:rPr lang="zh-CN" altLang="zh-CN" b="1"/>
              <a:t>fact(3)</a:t>
            </a:r>
            <a:r>
              <a:rPr lang="zh-CN" b="1"/>
              <a:t>，先要求</a:t>
            </a:r>
            <a:r>
              <a:rPr lang="zh-CN" altLang="zh-CN" b="1"/>
              <a:t>fact(2)</a:t>
            </a:r>
            <a:r>
              <a:rPr lang="zh-CN" b="1"/>
              <a:t>；要求</a:t>
            </a:r>
            <a:r>
              <a:rPr lang="zh-CN" altLang="zh-CN" b="1"/>
              <a:t>fact(2)</a:t>
            </a:r>
            <a:r>
              <a:rPr lang="zh-CN" b="1"/>
              <a:t>先求</a:t>
            </a:r>
            <a:r>
              <a:rPr lang="zh-CN" altLang="zh-CN" b="1"/>
              <a:t>fact(1)</a:t>
            </a:r>
            <a:r>
              <a:rPr lang="zh-CN" b="1"/>
              <a:t>。就象剥一颗圆白菜，从外向里，一层层剥下来，到了菜心，遇到</a:t>
            </a:r>
            <a:r>
              <a:rPr lang="zh-CN" altLang="zh-CN" b="1"/>
              <a:t>1</a:t>
            </a:r>
            <a:r>
              <a:rPr lang="zh-CN" b="1"/>
              <a:t>的阶乘，其值为</a:t>
            </a:r>
            <a:r>
              <a:rPr lang="zh-CN" altLang="zh-CN" b="1"/>
              <a:t>1</a:t>
            </a:r>
            <a:r>
              <a:rPr lang="zh-CN" b="1"/>
              <a:t>，到达了递归的边界。然后再用</a:t>
            </a:r>
            <a:r>
              <a:rPr lang="zh-CN" altLang="zh-CN" b="1">
                <a:solidFill>
                  <a:schemeClr val="tx2"/>
                </a:solidFill>
              </a:rPr>
              <a:t>fact(n)=n*fact(n-1)</a:t>
            </a:r>
            <a:r>
              <a:rPr lang="zh-CN" b="1"/>
              <a:t>这个普遍公式，从里向外倒推回去得到</a:t>
            </a:r>
            <a:r>
              <a:rPr lang="zh-CN" altLang="zh-CN" b="1"/>
              <a:t>fact(n)</a:t>
            </a:r>
            <a:r>
              <a:rPr lang="zh-CN" b="1"/>
              <a:t>的值。</a:t>
            </a:r>
          </a:p>
          <a:p>
            <a:endParaRPr lang="zh-CN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32159B-9A72-4BBE-BBBA-DBF51CCABEAB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71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DD2A-230B-401A-AE0E-0EE3B44163EB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71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DD2A-230B-401A-AE0E-0EE3B44163EB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71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7918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2051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2054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A7907A8-E1C4-4031-B347-1DCF0767F498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36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7A9C6-F5D2-4D44-9989-B4657DACAA1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42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F3E003-80A4-4C8C-B06F-807840F78FC2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9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79135B-0C6E-4C18-A3DA-361A75A1C02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14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A5D0E0-23EC-437E-9CD6-560AC2F521D2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44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59AE20-38FE-4CB4-978D-1BFE65AB12F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066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AF952F-D3D6-423B-A4BA-CB00674456C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888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8E3559-67D4-49F2-AC8E-CC58AFBB87F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56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D5C3E3-D819-47A0-A9D8-37C18EBFC10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42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BA0FC2-A077-400D-9331-CAEF06836DB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75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354A1-5E10-490F-B237-DB076D86C56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751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1843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843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3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1843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843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4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844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61292DD-A47D-4B7E-909A-A553C05F65EB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604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B17199-184A-4EEC-8B3E-1DBADF50ED1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239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C6F9CC-D3B7-4F2A-A89D-358BBA3E43A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036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33D1F6-3AAE-47FE-9C4E-C3464D6283B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889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7154C-76FD-456E-AF4F-37C5ED853E6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322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B19C8-09E6-4934-8DA1-5489EA6F59E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3790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4CE2C9-B25A-4316-9153-A22D26002D9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758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4012E-41BB-43DE-92B7-1C92BE22E8E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341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A3F65-20EC-432A-9DE9-4B0545A3D6B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7783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DB10A2-9B5E-4BA9-81D7-7CE5CF8090B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819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55151" y="-211138"/>
            <a:ext cx="2688167" cy="5522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-211138"/>
            <a:ext cx="7861300" cy="5522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25C2-EEBA-465E-B21F-86C92F11CAB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633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67B379C-8B60-4EC8-A816-B007D8469C6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835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90651" y="1196975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51F08E59-21E4-4B9F-A224-80F4BA2A94F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809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390651" y="-211138"/>
            <a:ext cx="10752667" cy="55229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D6F253E3-56D9-4D43-A2DB-6D9B537ECC3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8934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284" y="333375"/>
            <a:ext cx="103632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719667" y="1341438"/>
            <a:ext cx="10752667" cy="475456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4008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C0087D98-6EEE-474C-95D5-898DBE9D359D}" type="datetime1">
              <a:rPr lang="zh-CN" altLang="en-US"/>
              <a:pPr/>
              <a:t>2025/5/17 Saturday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01584" y="631348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3584" y="631348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6CAC1AFD-53E1-471D-BF88-57DDE6AB09C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0841859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819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19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819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819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20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42A830B-C527-4E23-B5BD-6905B235D174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514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34F2A5-19F1-434D-B3B9-D0A3EC516CA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1883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8D571D-8E3E-40D7-A69D-EBA861571D4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7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7F21D-F91E-4C59-B419-95078F7507B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3969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5D24E6-8A5A-4F65-BE1A-377C5AF46E5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735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9C0703-8CA6-4C2B-8BCB-4B835929783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3523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8E56C-1C40-45CA-B759-F2616DF1F72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9233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5193A9-99F5-4BD5-AFD0-28456ED74F8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05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B24785-E2B6-4D3D-AFDE-1285DF9A6E4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3544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9E6838-3E8C-46C5-BF95-4ED53D4B4FA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01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06517" y="1"/>
            <a:ext cx="2743200" cy="6132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917" y="1"/>
            <a:ext cx="8026400" cy="6132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15B19B-F976-42D7-9768-A0E748235FF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4929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B15834F-8DB0-451B-A131-964ACA8F3EC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2948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7F0CC653-36A2-42FE-96A3-E56D7CE9A15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0989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EB025821-0589-4DDB-84FE-8539F5DC160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414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70850B95-7084-4A0B-AED8-763BB0F073A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9137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65A54A-70E6-4E40-955C-9E01611A0AB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1640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2DF947-44B8-4917-836D-5CCC8092AC1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898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2168" y="1752601"/>
            <a:ext cx="5592233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752601"/>
            <a:ext cx="5592233" cy="4270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2CC796-C1EF-4FD8-8385-F24E781E8DB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502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A270A-7BBF-421E-9D62-FE436402FC6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0474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C8AE32-B70C-4C96-9AFE-4C07EB0EF5D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4132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5A5D96-B59F-4DC0-A081-90FBE8DE38E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4174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D9DBB4-1275-4BEE-90ED-820F4720A16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8231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33C7E-337A-4065-829C-D743BFB1777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7699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32F3C-3506-4046-9B49-3F82450C909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786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2918" y="381001"/>
            <a:ext cx="2846916" cy="5641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2167" y="381001"/>
            <a:ext cx="8337551" cy="5641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DE83AB-041B-416C-AC49-49287D005D8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3124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6147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6148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6149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6150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6151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6152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6153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154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155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616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6D1F215-0424-4696-B6C7-D8ACD415938A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4639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7E5E6-6780-4963-9D72-B5C629DB526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9405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EB2C0C-730C-4CE7-8F9F-C5920ED49B3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4249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0A4D35-E1FE-4F85-BE1E-558718F221F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1439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C328AD-DE7D-4823-8CDB-DB07A3065EA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3095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5F7E4B-A111-413A-89B0-5A613A9A19D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1678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6AD7A4-AB9A-4CE3-9424-061BBAE78AE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7254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D8BEF5-CE42-485C-AEFC-4600F415A24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6474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329FB9-620C-4617-9C1F-A704EF7F4F1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8140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D90A6-8D99-43BC-B5E3-65BDD4295D0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7364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089953-155B-4EA0-AF33-7273BBF86FF2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4280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5769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5769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A7D2AC8C-F134-4499-BCE5-A8AD5BE1CD4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93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B49F112-4BE4-443F-97E7-9E4CAA475D1A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88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593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694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244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176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33351" y="73183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937684" y="5715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14351" y="94138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-211138"/>
            <a:ext cx="10390717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7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90651" y="1196975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F9E9B1-7FB9-42D9-9F67-8F598B7BF34E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89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739" r:id="rId15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8000"/>
        </a:buClr>
        <a:buSzPct val="45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520700" y="442913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30818" y="442913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5801" y="865188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178984" y="865188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33351" y="792164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999067" y="17938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54567" y="112553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59000" y="0"/>
            <a:ext cx="1039071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7048732-062D-4A7D-9B21-EA2F206CF0EF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3810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752601"/>
            <a:ext cx="11387667" cy="427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172200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172200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8D4E75A-B24A-4E05-9EF8-5FACE43F3F78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57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15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20700" y="706438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1030818" y="706438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685801" y="1128713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1178984" y="1128713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133351" y="105568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999067" y="442913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554567" y="13890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EAF46F-C05E-4B1A-8F73-AF84C837EA2A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62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6.xml"/><Relationship Id="rId5" Type="http://schemas.openxmlformats.org/officeDocument/2006/relationships/slide" Target="slide21.xml"/><Relationship Id="rId4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22.xml"/><Relationship Id="rId4" Type="http://schemas.openxmlformats.org/officeDocument/2006/relationships/slide" Target="slide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5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5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7" Type="http://schemas.openxmlformats.org/officeDocument/2006/relationships/image" Target="../media/image6.gif"/><Relationship Id="rId2" Type="http://schemas.openxmlformats.org/officeDocument/2006/relationships/slide" Target="slide22.xml"/><Relationship Id="rId1" Type="http://schemas.openxmlformats.org/officeDocument/2006/relationships/slideLayout" Target="../slideLayouts/slideLayout42.xml"/><Relationship Id="rId6" Type="http://schemas.openxmlformats.org/officeDocument/2006/relationships/slide" Target="slide1.xml"/><Relationship Id="rId5" Type="http://schemas.openxmlformats.org/officeDocument/2006/relationships/slide" Target="slide38.xml"/><Relationship Id="rId4" Type="http://schemas.openxmlformats.org/officeDocument/2006/relationships/slide" Target="slide3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gif"/><Relationship Id="rId5" Type="http://schemas.openxmlformats.org/officeDocument/2006/relationships/slide" Target="slide21.xml"/><Relationship Id="rId4" Type="http://schemas.openxmlformats.org/officeDocument/2006/relationships/image" Target="../media/image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5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5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21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2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21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21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5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5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image" Target="../media/image5.tmp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gif"/><Relationship Id="rId5" Type="http://schemas.openxmlformats.org/officeDocument/2006/relationships/slide" Target="slide1.xml"/><Relationship Id="rId4" Type="http://schemas.openxmlformats.org/officeDocument/2006/relationships/image" Target="../media/image14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tags" Target="../tags/tag132.xml"/><Relationship Id="rId18" Type="http://schemas.openxmlformats.org/officeDocument/2006/relationships/slideLayout" Target="../slideLayouts/slideLayout58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tags" Target="../tags/tag131.xml"/><Relationship Id="rId17" Type="http://schemas.openxmlformats.org/officeDocument/2006/relationships/tags" Target="../tags/tag136.xml"/><Relationship Id="rId2" Type="http://schemas.openxmlformats.org/officeDocument/2006/relationships/tags" Target="../tags/tag121.xml"/><Relationship Id="rId16" Type="http://schemas.openxmlformats.org/officeDocument/2006/relationships/tags" Target="../tags/tag135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10" Type="http://schemas.openxmlformats.org/officeDocument/2006/relationships/tags" Target="../tags/tag129.xml"/><Relationship Id="rId19" Type="http://schemas.openxmlformats.org/officeDocument/2006/relationships/image" Target="../media/image5.tmp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tags" Target="../tags/tag149.xml"/><Relationship Id="rId18" Type="http://schemas.openxmlformats.org/officeDocument/2006/relationships/slideLayout" Target="../slideLayouts/slideLayout58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2" Type="http://schemas.openxmlformats.org/officeDocument/2006/relationships/tags" Target="../tags/tag138.xml"/><Relationship Id="rId16" Type="http://schemas.openxmlformats.org/officeDocument/2006/relationships/tags" Target="../tags/tag152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5" Type="http://schemas.openxmlformats.org/officeDocument/2006/relationships/tags" Target="../tags/tag151.xml"/><Relationship Id="rId10" Type="http://schemas.openxmlformats.org/officeDocument/2006/relationships/tags" Target="../tags/tag146.xml"/><Relationship Id="rId19" Type="http://schemas.openxmlformats.org/officeDocument/2006/relationships/image" Target="../media/image5.tmp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tags" Target="../tags/tag150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12" Type="http://schemas.openxmlformats.org/officeDocument/2006/relationships/image" Target="../media/image5.tmp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slideLayout" Target="../slideLayouts/slideLayout58.xml"/><Relationship Id="rId5" Type="http://schemas.openxmlformats.org/officeDocument/2006/relationships/tags" Target="../tags/tag158.xml"/><Relationship Id="rId10" Type="http://schemas.openxmlformats.org/officeDocument/2006/relationships/tags" Target="../tags/tag163.xml"/><Relationship Id="rId4" Type="http://schemas.openxmlformats.org/officeDocument/2006/relationships/tags" Target="../tags/tag157.xml"/><Relationship Id="rId9" Type="http://schemas.openxmlformats.org/officeDocument/2006/relationships/tags" Target="../tags/tag16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image" Target="../media/image5.tmp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slideLayout" Target="../slideLayouts/slideLayout58.xml"/><Relationship Id="rId5" Type="http://schemas.openxmlformats.org/officeDocument/2006/relationships/tags" Target="../tags/tag168.xml"/><Relationship Id="rId10" Type="http://schemas.openxmlformats.org/officeDocument/2006/relationships/tags" Target="../tags/tag173.xml"/><Relationship Id="rId4" Type="http://schemas.openxmlformats.org/officeDocument/2006/relationships/tags" Target="../tags/tag167.xml"/><Relationship Id="rId9" Type="http://schemas.openxmlformats.org/officeDocument/2006/relationships/tags" Target="../tags/tag1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3" y="-12700"/>
            <a:ext cx="12141198" cy="689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4483" name="Rectangle 3"/>
          <p:cNvSpPr>
            <a:spLocks noGrp="1" noChangeArrowheads="1"/>
          </p:cNvSpPr>
          <p:nvPr>
            <p:ph type="title"/>
          </p:nvPr>
        </p:nvSpPr>
        <p:spPr>
          <a:xfrm>
            <a:off x="3189288" y="336550"/>
            <a:ext cx="5143500" cy="844550"/>
          </a:xfrm>
        </p:spPr>
        <p:txBody>
          <a:bodyPr/>
          <a:lstStyle/>
          <a:p>
            <a:r>
              <a:rPr lang="zh-CN" b="1" dirty="0">
                <a:solidFill>
                  <a:schemeClr val="accent2"/>
                </a:solidFill>
                <a:latin typeface="幼圆" pitchFamily="49" charset="-122"/>
                <a:ea typeface="幼圆" pitchFamily="49" charset="-122"/>
              </a:rPr>
              <a:t>第</a:t>
            </a:r>
            <a:r>
              <a:rPr lang="zh-CN" altLang="en-US" b="1" dirty="0">
                <a:solidFill>
                  <a:schemeClr val="accent2"/>
                </a:solidFill>
                <a:latin typeface="幼圆" pitchFamily="49" charset="-122"/>
                <a:ea typeface="幼圆" pitchFamily="49" charset="-122"/>
              </a:rPr>
              <a:t>六</a:t>
            </a:r>
            <a:r>
              <a:rPr lang="zh-CN" b="1" dirty="0">
                <a:solidFill>
                  <a:schemeClr val="accent2"/>
                </a:solidFill>
                <a:latin typeface="幼圆" pitchFamily="49" charset="-122"/>
                <a:ea typeface="幼圆" pitchFamily="49" charset="-122"/>
              </a:rPr>
              <a:t>章   </a:t>
            </a:r>
            <a:r>
              <a:rPr lang="zh-CN" b="1" dirty="0">
                <a:solidFill>
                  <a:schemeClr val="accent2"/>
                </a:solidFill>
                <a:latin typeface="Times New Roman" pitchFamily="18" charset="0"/>
                <a:ea typeface="幼圆" pitchFamily="49" charset="-122"/>
              </a:rPr>
              <a:t>函数</a:t>
            </a:r>
            <a:endParaRPr lang="zh-CN" altLang="en-US" sz="48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4044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89264" y="1571625"/>
            <a:ext cx="6491287" cy="4826000"/>
          </a:xfrm>
        </p:spPr>
        <p:txBody>
          <a:bodyPr/>
          <a:lstStyle/>
          <a:p>
            <a:pPr algn="just">
              <a:lnSpc>
                <a:spcPct val="115000"/>
              </a:lnSpc>
              <a:spcBef>
                <a:spcPct val="65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1"/>
                </a:solidFill>
                <a:ea typeface="黑体" pitchFamily="49" charset="-122"/>
              </a:rPr>
              <a:t>6.</a:t>
            </a:r>
            <a:r>
              <a:rPr lang="zh-CN" altLang="zh-CN" sz="2800" dirty="0">
                <a:solidFill>
                  <a:schemeClr val="bg1"/>
                </a:solidFill>
                <a:ea typeface="黑体" pitchFamily="49" charset="-122"/>
              </a:rPr>
              <a:t>1   </a:t>
            </a:r>
            <a:r>
              <a:rPr lang="zh-CN" altLang="en-US" sz="2800" b="1" dirty="0">
                <a:solidFill>
                  <a:schemeClr val="bg1"/>
                </a:solidFill>
                <a:ea typeface="黑体" pitchFamily="49" charset="-122"/>
                <a:hlinkClick r:id="rId3" action="ppaction://hlinksldjump"/>
              </a:rPr>
              <a:t>函数概述</a:t>
            </a:r>
            <a:endParaRPr lang="zh-CN" altLang="en-US" sz="2800" b="1" dirty="0">
              <a:solidFill>
                <a:schemeClr val="bg1"/>
              </a:solidFill>
              <a:ea typeface="黑体" pitchFamily="49" charset="-122"/>
            </a:endParaRPr>
          </a:p>
          <a:p>
            <a:pPr algn="just">
              <a:lnSpc>
                <a:spcPct val="115000"/>
              </a:lnSpc>
              <a:spcBef>
                <a:spcPct val="65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1"/>
                </a:solidFill>
                <a:ea typeface="黑体" pitchFamily="49" charset="-122"/>
              </a:rPr>
              <a:t>6.</a:t>
            </a:r>
            <a:r>
              <a:rPr lang="zh-CN" altLang="zh-CN" sz="2800" dirty="0">
                <a:solidFill>
                  <a:schemeClr val="bg1"/>
                </a:solidFill>
                <a:ea typeface="黑体" pitchFamily="49" charset="-122"/>
              </a:rPr>
              <a:t>2   </a:t>
            </a:r>
            <a:r>
              <a:rPr lang="zh-CN" altLang="en-US" sz="2800" b="1" dirty="0">
                <a:solidFill>
                  <a:schemeClr val="bg1"/>
                </a:solidFill>
                <a:ea typeface="黑体" pitchFamily="49" charset="-122"/>
                <a:hlinkClick r:id="rId4" action="ppaction://hlinksldjump"/>
              </a:rPr>
              <a:t>函数的分类与定义</a:t>
            </a:r>
            <a:endParaRPr lang="zh-CN" altLang="en-US" sz="2800" b="1" dirty="0">
              <a:solidFill>
                <a:schemeClr val="bg1"/>
              </a:solidFill>
              <a:ea typeface="黑体" pitchFamily="49" charset="-122"/>
            </a:endParaRPr>
          </a:p>
          <a:p>
            <a:pPr algn="just">
              <a:lnSpc>
                <a:spcPct val="115000"/>
              </a:lnSpc>
              <a:spcBef>
                <a:spcPct val="65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1"/>
                </a:solidFill>
                <a:ea typeface="黑体" pitchFamily="49" charset="-122"/>
              </a:rPr>
              <a:t>6.</a:t>
            </a:r>
            <a:r>
              <a:rPr lang="zh-CN" altLang="zh-CN" sz="2800" dirty="0">
                <a:solidFill>
                  <a:schemeClr val="bg1"/>
                </a:solidFill>
                <a:ea typeface="黑体" pitchFamily="49" charset="-122"/>
              </a:rPr>
              <a:t>3   </a:t>
            </a:r>
            <a:r>
              <a:rPr lang="zh-CN" altLang="en-US" sz="2800" b="1" dirty="0">
                <a:solidFill>
                  <a:schemeClr val="bg1"/>
                </a:solidFill>
                <a:ea typeface="黑体" pitchFamily="49" charset="-122"/>
                <a:hlinkClick r:id="rId5" action="ppaction://hlinksldjump"/>
              </a:rPr>
              <a:t>函数调用</a:t>
            </a:r>
            <a:endParaRPr lang="zh-CN" altLang="en-US" sz="2800" b="1" dirty="0">
              <a:solidFill>
                <a:schemeClr val="bg1"/>
              </a:solidFill>
              <a:ea typeface="黑体" pitchFamily="49" charset="-122"/>
            </a:endParaRPr>
          </a:p>
          <a:p>
            <a:pPr algn="just">
              <a:lnSpc>
                <a:spcPct val="115000"/>
              </a:lnSpc>
              <a:spcBef>
                <a:spcPct val="65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1"/>
                </a:solidFill>
                <a:ea typeface="黑体" pitchFamily="49" charset="-122"/>
              </a:rPr>
              <a:t>6.</a:t>
            </a:r>
            <a:r>
              <a:rPr lang="zh-CN" altLang="zh-CN" sz="2800" dirty="0">
                <a:solidFill>
                  <a:schemeClr val="bg1"/>
                </a:solidFill>
                <a:ea typeface="黑体" pitchFamily="49" charset="-122"/>
              </a:rPr>
              <a:t>4   </a:t>
            </a:r>
            <a:r>
              <a:rPr lang="zh-CN" altLang="en-US" sz="2800" b="1" dirty="0">
                <a:solidFill>
                  <a:schemeClr val="bg1"/>
                </a:solidFill>
                <a:ea typeface="黑体" pitchFamily="49" charset="-122"/>
                <a:hlinkClick r:id="rId6" action="ppaction://hlinksldjump"/>
              </a:rPr>
              <a:t>函数的嵌套调用和递归调用</a:t>
            </a:r>
            <a:endParaRPr lang="zh-CN" altLang="en-US" sz="2800" b="1" dirty="0">
              <a:solidFill>
                <a:schemeClr val="bg1"/>
              </a:solidFill>
              <a:ea typeface="黑体" pitchFamily="49" charset="-122"/>
            </a:endParaRPr>
          </a:p>
          <a:p>
            <a:pPr algn="just">
              <a:lnSpc>
                <a:spcPct val="115000"/>
              </a:lnSpc>
              <a:spcBef>
                <a:spcPct val="65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1"/>
                </a:solidFill>
                <a:ea typeface="黑体" pitchFamily="49" charset="-122"/>
              </a:rPr>
              <a:t>6.</a:t>
            </a:r>
            <a:r>
              <a:rPr lang="zh-CN" altLang="zh-CN" sz="2800" dirty="0">
                <a:solidFill>
                  <a:schemeClr val="bg1"/>
                </a:solidFill>
                <a:ea typeface="黑体" pitchFamily="49" charset="-122"/>
              </a:rPr>
              <a:t>5   </a:t>
            </a:r>
            <a:r>
              <a:rPr lang="zh-CN" altLang="en-US" sz="2800" b="1" dirty="0">
                <a:solidFill>
                  <a:schemeClr val="bg1"/>
                </a:solidFill>
                <a:ea typeface="黑体" pitchFamily="49" charset="-122"/>
                <a:hlinkClick r:id="" action="ppaction://noaction"/>
              </a:rPr>
              <a:t>变量的作用域和生存期</a:t>
            </a:r>
            <a:endParaRPr lang="zh-CN" altLang="en-US" sz="2800" b="1" dirty="0">
              <a:solidFill>
                <a:schemeClr val="bg1"/>
              </a:solidFill>
              <a:ea typeface="黑体" pitchFamily="49" charset="-122"/>
            </a:endParaRPr>
          </a:p>
          <a:p>
            <a:pPr>
              <a:lnSpc>
                <a:spcPct val="115000"/>
              </a:lnSpc>
              <a:spcBef>
                <a:spcPct val="65000"/>
              </a:spcBef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6.</a:t>
            </a:r>
            <a:r>
              <a:rPr lang="zh-CN" altLang="zh-CN" sz="2800" dirty="0">
                <a:solidFill>
                  <a:schemeClr val="bg1"/>
                </a:solidFill>
              </a:rPr>
              <a:t>6</a:t>
            </a:r>
            <a:r>
              <a:rPr lang="zh-CN" altLang="zh-CN" sz="2800" dirty="0">
                <a:solidFill>
                  <a:schemeClr val="bg1"/>
                </a:solidFill>
                <a:latin typeface="Courier New" pitchFamily="49" charset="0"/>
              </a:rPr>
              <a:t> </a:t>
            </a:r>
            <a:r>
              <a:rPr lang="zh-CN" altLang="zh-CN" sz="1400" dirty="0">
                <a:solidFill>
                  <a:schemeClr val="bg1"/>
                </a:solidFill>
                <a:latin typeface="Courier New" pitchFamily="49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Courier New" pitchFamily="49" charset="0"/>
                <a:ea typeface="黑体" pitchFamily="49" charset="-122"/>
                <a:hlinkClick r:id="" action="ppaction://noaction"/>
              </a:rPr>
              <a:t>内部函数和外部函数</a:t>
            </a:r>
            <a:endParaRPr lang="zh-CN" altLang="en-US" sz="2800" b="1" dirty="0">
              <a:solidFill>
                <a:schemeClr val="bg1"/>
              </a:solidFill>
              <a:latin typeface="Courier New" pitchFamily="49" charset="0"/>
              <a:ea typeface="黑体" pitchFamily="49" charset="-122"/>
            </a:endParaRPr>
          </a:p>
        </p:txBody>
      </p:sp>
      <p:sp>
        <p:nvSpPr>
          <p:cNvPr id="404485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9090025" y="6424613"/>
            <a:ext cx="838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8000"/>
                </a:solidFill>
                <a:latin typeface="幼圆" pitchFamily="49" charset="-122"/>
                <a:ea typeface="幼圆" pitchFamily="49" charset="-122"/>
              </a:rPr>
              <a:t>下一章</a:t>
            </a:r>
          </a:p>
        </p:txBody>
      </p:sp>
      <p:sp>
        <p:nvSpPr>
          <p:cNvPr id="404486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51825" y="6424613"/>
            <a:ext cx="838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8000"/>
                </a:solidFill>
                <a:latin typeface="幼圆" pitchFamily="49" charset="-122"/>
                <a:ea typeface="幼圆" pitchFamily="49" charset="-122"/>
              </a:rPr>
              <a:t>上一章</a:t>
            </a:r>
          </a:p>
        </p:txBody>
      </p:sp>
      <p:sp>
        <p:nvSpPr>
          <p:cNvPr id="404487" name="Text Box 7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7413625" y="6424613"/>
            <a:ext cx="838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8000"/>
                </a:solidFill>
                <a:latin typeface="幼圆" pitchFamily="49" charset="-122"/>
                <a:ea typeface="幼圆" pitchFamily="49" charset="-122"/>
              </a:rPr>
              <a:t>目 录</a:t>
            </a:r>
          </a:p>
        </p:txBody>
      </p:sp>
      <p:sp>
        <p:nvSpPr>
          <p:cNvPr id="404488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9928225" y="6424613"/>
            <a:ext cx="838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8000"/>
                </a:solidFill>
                <a:latin typeface="幼圆" pitchFamily="49" charset="-122"/>
                <a:ea typeface="幼圆" pitchFamily="49" charset="-122"/>
              </a:rPr>
              <a:t>习题</a:t>
            </a:r>
          </a:p>
        </p:txBody>
      </p:sp>
    </p:spTree>
    <p:extLst>
      <p:ext uri="{BB962C8B-B14F-4D97-AF65-F5344CB8AC3E}">
        <p14:creationId xmlns:p14="http://schemas.microsoft.com/office/powerpoint/2010/main" val="177557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7939" y="47626"/>
            <a:ext cx="4549775" cy="80962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1  </a:t>
            </a:r>
            <a:r>
              <a:rPr lang="zh-CN" altLang="en-US" sz="3600" dirty="0">
                <a:latin typeface="楷体_GB2312" pitchFamily="49" charset="-122"/>
              </a:rPr>
              <a:t>函数概述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4214" y="1268413"/>
            <a:ext cx="8277225" cy="4425950"/>
          </a:xfrm>
        </p:spPr>
        <p:txBody>
          <a:bodyPr/>
          <a:lstStyle/>
          <a:p>
            <a:pPr>
              <a:lnSpc>
                <a:spcPct val="110000"/>
              </a:lnSpc>
              <a:buSzPct val="85000"/>
              <a:buFont typeface="Wingdings" pitchFamily="2" charset="2"/>
              <a:buChar char="&amp;"/>
            </a:pPr>
            <a:r>
              <a:rPr lang="zh-CN" altLang="zh-CN" sz="2800" b="1">
                <a:latin typeface="黑体" pitchFamily="49" charset="-122"/>
              </a:rPr>
              <a:t>C</a:t>
            </a:r>
            <a:r>
              <a:rPr lang="zh-CN" altLang="en-US" sz="2800" b="1">
                <a:latin typeface="黑体" pitchFamily="49" charset="-122"/>
              </a:rPr>
              <a:t>语言的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程序模块</a:t>
            </a:r>
            <a:r>
              <a:rPr lang="zh-CN" altLang="en-US" sz="2800" b="1">
                <a:latin typeface="黑体" pitchFamily="49" charset="-122"/>
              </a:rPr>
              <a:t>称为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函数</a:t>
            </a:r>
            <a:r>
              <a:rPr lang="zh-CN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,</a:t>
            </a:r>
            <a:r>
              <a:rPr lang="zh-CN" altLang="zh-CN" sz="2800" b="1">
                <a:latin typeface="Times New Roman" pitchFamily="18" charset="0"/>
              </a:rPr>
              <a:t>  </a:t>
            </a:r>
            <a:r>
              <a:rPr lang="zh-CN" altLang="en-US" sz="2800" b="1">
                <a:latin typeface="黑体" pitchFamily="49" charset="-122"/>
              </a:rPr>
              <a:t>利用函数可建立模块化程序。</a:t>
            </a:r>
          </a:p>
          <a:p>
            <a:pPr marL="690563" lvl="1" indent="-233363">
              <a:lnSpc>
                <a:spcPct val="110000"/>
              </a:lnSpc>
              <a:spcBef>
                <a:spcPct val="45000"/>
              </a:spcBef>
              <a:spcAft>
                <a:spcPct val="3500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函数</a:t>
            </a:r>
            <a:r>
              <a:rPr lang="zh-CN" b="1">
                <a:latin typeface="Times New Roman" pitchFamily="18" charset="0"/>
              </a:rPr>
              <a:t>是一个独立的具有特定功能的程序模块。</a:t>
            </a:r>
          </a:p>
          <a:p>
            <a:pPr marL="971550" lvl="1" indent="-514350">
              <a:lnSpc>
                <a:spcPct val="110000"/>
              </a:lnSpc>
              <a:spcBef>
                <a:spcPct val="35000"/>
              </a:spcBef>
              <a:buClr>
                <a:srgbClr val="FF0000"/>
              </a:buClr>
              <a:buSzPct val="104000"/>
              <a:buFont typeface="+mj-lt"/>
              <a:buAutoNum type="arabicPeriod"/>
            </a:pPr>
            <a:r>
              <a:rPr lang="zh-CN" b="1">
                <a:latin typeface="黑体" pitchFamily="49" charset="-122"/>
              </a:rPr>
              <a:t>程序的</a:t>
            </a:r>
            <a:r>
              <a:rPr lang="zh-CN" b="1">
                <a:latin typeface="Times New Roman"/>
              </a:rPr>
              <a:t>“</a:t>
            </a:r>
            <a:r>
              <a:rPr lang="zh-CN" b="1">
                <a:latin typeface="黑体" pitchFamily="49" charset="-122"/>
              </a:rPr>
              <a:t>细化</a:t>
            </a:r>
            <a:r>
              <a:rPr lang="zh-CN" b="1">
                <a:latin typeface="Times New Roman"/>
              </a:rPr>
              <a:t>”</a:t>
            </a:r>
            <a:r>
              <a:rPr lang="zh-CN" b="1">
                <a:latin typeface="黑体" pitchFamily="49" charset="-122"/>
              </a:rPr>
              <a:t>开发方式使程序更易于管理</a:t>
            </a:r>
            <a:r>
              <a:rPr lang="zh-CN" altLang="zh-CN" b="1">
                <a:latin typeface="Times New Roman" pitchFamily="18" charset="0"/>
              </a:rPr>
              <a:t>, </a:t>
            </a:r>
            <a:r>
              <a:rPr lang="zh-CN" b="1">
                <a:latin typeface="黑体" pitchFamily="49" charset="-122"/>
              </a:rPr>
              <a:t>提高程序的</a:t>
            </a:r>
            <a:r>
              <a:rPr lang="zh-CN" b="1">
                <a:solidFill>
                  <a:schemeClr val="hlink"/>
                </a:solidFill>
                <a:latin typeface="黑体" pitchFamily="49" charset="-122"/>
              </a:rPr>
              <a:t>可读性</a:t>
            </a:r>
            <a:r>
              <a:rPr lang="zh-CN" b="1">
                <a:latin typeface="黑体" pitchFamily="49" charset="-122"/>
              </a:rPr>
              <a:t>。</a:t>
            </a:r>
          </a:p>
          <a:p>
            <a:pPr marL="971550" lvl="1" indent="-514350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SzPct val="104000"/>
              <a:buFont typeface="+mj-lt"/>
              <a:buAutoNum type="arabicPeriod"/>
            </a:pPr>
            <a:r>
              <a:rPr lang="zh-CN" altLang="en-US" b="1">
                <a:latin typeface="Times New Roman" pitchFamily="18" charset="0"/>
              </a:rPr>
              <a:t>提高</a:t>
            </a:r>
            <a:r>
              <a:rPr lang="zh-CN" b="1">
                <a:latin typeface="Times New Roman" pitchFamily="18" charset="0"/>
              </a:rPr>
              <a:t>软件的可</a:t>
            </a:r>
            <a:r>
              <a:rPr 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重用性</a:t>
            </a:r>
            <a:r>
              <a:rPr lang="zh-CN" b="1">
                <a:latin typeface="Times New Roman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312024" y="4005064"/>
                <a:ext cx="3400744" cy="835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2400" i="1" kern="0">
                              <a:solidFill>
                                <a:srgbClr val="2F2F2F"/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sSubSupPr>
                        <m:e>
                          <m:r>
                            <a:rPr lang="en-US" altLang="zh-CN" sz="2400" i="1" kern="0">
                              <a:solidFill>
                                <a:srgbClr val="2F2F2F"/>
                              </a:solidFill>
                              <a:latin typeface="Cambria Math"/>
                              <a:cs typeface="+mj-cs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 kern="0">
                              <a:solidFill>
                                <a:srgbClr val="2F2F2F"/>
                              </a:solidFill>
                              <a:latin typeface="Cambria Math"/>
                              <a:cs typeface="+mj-cs"/>
                            </a:rPr>
                            <m:t>𝑁</m:t>
                          </m:r>
                        </m:sub>
                        <m:sup>
                          <m:r>
                            <a:rPr lang="en-US" altLang="zh-CN" sz="2400" i="1" kern="0">
                              <a:solidFill>
                                <a:srgbClr val="2F2F2F"/>
                              </a:solidFill>
                              <a:latin typeface="Cambria Math"/>
                              <a:cs typeface="+mj-cs"/>
                            </a:rPr>
                            <m:t>𝑀</m:t>
                          </m:r>
                        </m:sup>
                      </m:sSubSup>
                      <m:r>
                        <a:rPr lang="en-US" altLang="zh-CN" sz="2400" i="1" kern="0">
                          <a:solidFill>
                            <a:srgbClr val="2F2F2F"/>
                          </a:solidFill>
                          <a:latin typeface="Cambria Math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0">
                              <a:solidFill>
                                <a:srgbClr val="2F2F2F"/>
                              </a:solidFill>
                              <a:latin typeface="Cambria Math" panose="02040503050406030204" pitchFamily="18" charset="0"/>
                              <a:cs typeface="+mj-cs"/>
                            </a:rPr>
                          </m:ctrlPr>
                        </m:fPr>
                        <m:num>
                          <m:r>
                            <a:rPr lang="en-US" altLang="zh-CN" sz="2400" i="1" kern="0">
                              <a:solidFill>
                                <a:srgbClr val="2F2F2F"/>
                              </a:solidFill>
                              <a:latin typeface="Cambria Math"/>
                              <a:cs typeface="+mj-cs"/>
                            </a:rPr>
                            <m:t>𝑁</m:t>
                          </m:r>
                          <m:r>
                            <a:rPr lang="en-US" altLang="zh-CN" sz="2400" i="1" kern="0">
                              <a:solidFill>
                                <a:srgbClr val="2F2F2F"/>
                              </a:solidFill>
                              <a:latin typeface="Cambria Math"/>
                              <a:cs typeface="+mj-cs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400" i="1" kern="0">
                              <a:solidFill>
                                <a:srgbClr val="2F2F2F"/>
                              </a:solidFill>
                              <a:latin typeface="Cambria Math"/>
                              <a:cs typeface="+mj-cs"/>
                            </a:rPr>
                            <m:t>𝑀</m:t>
                          </m:r>
                          <m:r>
                            <a:rPr lang="en-US" altLang="zh-CN" sz="2400" i="1" kern="0">
                              <a:solidFill>
                                <a:srgbClr val="2F2F2F"/>
                              </a:solidFill>
                              <a:latin typeface="Cambria Math"/>
                              <a:cs typeface="+mj-cs"/>
                            </a:rPr>
                            <m:t>!</m:t>
                          </m:r>
                          <m:d>
                            <m:dPr>
                              <m:ctrlPr>
                                <a:rPr lang="zh-CN" altLang="zh-CN" sz="2400" i="1" kern="0">
                                  <a:solidFill>
                                    <a:srgbClr val="2F2F2F"/>
                                  </a:solidFill>
                                  <a:latin typeface="Cambria Math" panose="02040503050406030204" pitchFamily="18" charset="0"/>
                                  <a:cs typeface="+mj-cs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kern="0">
                                  <a:solidFill>
                                    <a:srgbClr val="2F2F2F"/>
                                  </a:solidFill>
                                  <a:latin typeface="Cambria Math"/>
                                  <a:cs typeface="+mj-cs"/>
                                </a:rPr>
                                <m:t>N</m:t>
                              </m:r>
                              <m:r>
                                <a:rPr lang="en-US" altLang="zh-CN" sz="2400" i="1" kern="0">
                                  <a:solidFill>
                                    <a:srgbClr val="2F2F2F"/>
                                  </a:solidFill>
                                  <a:latin typeface="Cambria Math"/>
                                  <a:cs typeface="+mj-cs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kern="0">
                                  <a:solidFill>
                                    <a:srgbClr val="2F2F2F"/>
                                  </a:solidFill>
                                  <a:latin typeface="Cambria Math"/>
                                  <a:cs typeface="+mj-cs"/>
                                </a:rPr>
                                <m:t>M</m:t>
                              </m:r>
                            </m:e>
                          </m:d>
                          <m:r>
                            <a:rPr lang="en-US" altLang="zh-CN" sz="2400" kern="0">
                              <a:solidFill>
                                <a:srgbClr val="2F2F2F"/>
                              </a:solidFill>
                              <a:latin typeface="Cambria Math"/>
                              <a:cs typeface="+mj-cs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105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24" y="4005064"/>
                <a:ext cx="3400744" cy="835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62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0" y="104776"/>
            <a:ext cx="6159500" cy="754063"/>
          </a:xfrm>
        </p:spPr>
        <p:txBody>
          <a:bodyPr/>
          <a:lstStyle/>
          <a:p>
            <a:pPr algn="ctr"/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1  </a:t>
            </a:r>
            <a:r>
              <a:rPr lang="zh-CN" altLang="en-US" sz="3600" dirty="0">
                <a:latin typeface="楷体_GB2312" pitchFamily="49" charset="-122"/>
              </a:rPr>
              <a:t>函数概述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039519"/>
            <a:ext cx="9073008" cy="4367213"/>
          </a:xfrm>
        </p:spPr>
        <p:txBody>
          <a:bodyPr/>
          <a:lstStyle/>
          <a:p>
            <a:pPr marL="625475" lvl="1" indent="-260350">
              <a:lnSpc>
                <a:spcPct val="120000"/>
              </a:lnSpc>
              <a:spcBef>
                <a:spcPct val="55000"/>
              </a:spcBef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b="1" dirty="0">
                <a:latin typeface="黑体" pitchFamily="49" charset="-122"/>
              </a:rPr>
              <a:t>一个</a:t>
            </a:r>
            <a:r>
              <a:rPr lang="zh-CN" altLang="zh-CN" b="1" dirty="0">
                <a:latin typeface="黑体" pitchFamily="49" charset="-122"/>
              </a:rPr>
              <a:t>C</a:t>
            </a:r>
            <a:r>
              <a:rPr lang="zh-CN" altLang="en-US" b="1" dirty="0">
                <a:latin typeface="黑体" pitchFamily="49" charset="-122"/>
              </a:rPr>
              <a:t>程序可由一个主</a:t>
            </a:r>
            <a:r>
              <a:rPr lang="zh-CN" altLang="en-US" sz="3600" b="1" dirty="0">
                <a:latin typeface="黑体" pitchFamily="49" charset="-122"/>
              </a:rPr>
              <a:t>函数</a:t>
            </a:r>
            <a:r>
              <a:rPr lang="zh-CN" altLang="en-US" b="1" dirty="0">
                <a:latin typeface="黑体" pitchFamily="49" charset="-122"/>
              </a:rPr>
              <a:t>和若干个其他函数组成</a:t>
            </a:r>
            <a:r>
              <a:rPr lang="en-US" altLang="zh-CN" b="1" dirty="0">
                <a:latin typeface="黑体" pitchFamily="49" charset="-122"/>
              </a:rPr>
              <a:t>(0</a:t>
            </a:r>
            <a:r>
              <a:rPr lang="zh-CN" altLang="en-US" b="1" dirty="0">
                <a:latin typeface="黑体" pitchFamily="49" charset="-122"/>
              </a:rPr>
              <a:t>或多个）</a:t>
            </a:r>
          </a:p>
          <a:p>
            <a:pPr marL="625475" lvl="1" indent="-260350">
              <a:lnSpc>
                <a:spcPct val="120000"/>
              </a:lnSpc>
              <a:spcBef>
                <a:spcPct val="70000"/>
              </a:spcBef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b="1" dirty="0">
                <a:latin typeface="黑体" pitchFamily="49" charset="-122"/>
              </a:rPr>
              <a:t>程序执行时从</a:t>
            </a:r>
            <a:r>
              <a:rPr lang="zh-CN" altLang="zh-CN" b="1" dirty="0">
                <a:latin typeface="Times New Roman" pitchFamily="18" charset="0"/>
              </a:rPr>
              <a:t>main</a:t>
            </a:r>
            <a:r>
              <a:rPr lang="zh-CN" altLang="en-US" b="1" dirty="0">
                <a:latin typeface="黑体" pitchFamily="49" charset="-122"/>
              </a:rPr>
              <a:t>函数开始</a:t>
            </a:r>
            <a:r>
              <a:rPr lang="zh-CN" altLang="zh-CN" b="1" dirty="0">
                <a:latin typeface="Times New Roman" pitchFamily="18" charset="0"/>
              </a:rPr>
              <a:t>,  </a:t>
            </a:r>
            <a:r>
              <a:rPr lang="zh-CN" altLang="en-US" b="1" dirty="0">
                <a:latin typeface="Times New Roman" pitchFamily="18" charset="0"/>
              </a:rPr>
              <a:t>在</a:t>
            </a:r>
            <a:r>
              <a:rPr lang="en-US" altLang="zh-CN" b="1" dirty="0">
                <a:latin typeface="Times New Roman" pitchFamily="18" charset="0"/>
              </a:rPr>
              <a:t>main</a:t>
            </a:r>
            <a:r>
              <a:rPr lang="zh-CN" altLang="en-US" b="1" dirty="0">
                <a:latin typeface="Times New Roman" pitchFamily="18" charset="0"/>
              </a:rPr>
              <a:t>函数中结束</a:t>
            </a:r>
            <a:endParaRPr lang="en-US" altLang="zh-CN" b="1" dirty="0">
              <a:latin typeface="黑体" pitchFamily="49" charset="-122"/>
            </a:endParaRPr>
          </a:p>
          <a:p>
            <a:pPr marL="625475" lvl="1" indent="-260350">
              <a:lnSpc>
                <a:spcPct val="120000"/>
              </a:lnSpc>
              <a:spcBef>
                <a:spcPct val="70000"/>
              </a:spcBef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zh-CN" b="1" dirty="0">
                <a:solidFill>
                  <a:srgbClr val="FF0000"/>
                </a:solidFill>
                <a:latin typeface="Times New Roman" pitchFamily="18" charset="0"/>
              </a:rPr>
              <a:t>main</a:t>
            </a:r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</a:rPr>
              <a:t>函数调用其他函数</a:t>
            </a:r>
            <a:r>
              <a:rPr lang="zh-CN" altLang="zh-CN" b="1" dirty="0">
                <a:latin typeface="Times New Roman" pitchFamily="18" charset="0"/>
              </a:rPr>
              <a:t>,  </a:t>
            </a:r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</a:rPr>
              <a:t>其他函数也可以互相调用</a:t>
            </a:r>
            <a:r>
              <a:rPr lang="en-US" altLang="zh-CN" b="1" dirty="0">
                <a:solidFill>
                  <a:srgbClr val="FF0000"/>
                </a:solidFill>
                <a:latin typeface="黑体" pitchFamily="49" charset="-122"/>
              </a:rPr>
              <a:t>,</a:t>
            </a:r>
            <a:r>
              <a:rPr lang="zh-CN" altLang="zh-CN" b="1" dirty="0">
                <a:latin typeface="黑体" pitchFamily="49" charset="-122"/>
              </a:rPr>
              <a:t>其他函数</a:t>
            </a:r>
            <a:r>
              <a:rPr lang="zh-CN" altLang="en-US" b="1" dirty="0">
                <a:latin typeface="黑体" pitchFamily="49" charset="-122"/>
              </a:rPr>
              <a:t>不能调用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zh-CN" altLang="en-US" b="1" dirty="0">
                <a:latin typeface="黑体" pitchFamily="49" charset="-122"/>
              </a:rPr>
              <a:t>函数</a:t>
            </a:r>
            <a:r>
              <a:rPr lang="zh-CN" altLang="en-US" b="1" dirty="0">
                <a:latin typeface="Times New Roman" pitchFamily="18" charset="0"/>
              </a:rPr>
              <a:t>。 </a:t>
            </a:r>
          </a:p>
        </p:txBody>
      </p:sp>
      <p:grpSp>
        <p:nvGrpSpPr>
          <p:cNvPr id="406532" name="Group 4"/>
          <p:cNvGrpSpPr>
            <a:grpSpLocks/>
          </p:cNvGrpSpPr>
          <p:nvPr/>
        </p:nvGrpSpPr>
        <p:grpSpPr bwMode="auto">
          <a:xfrm>
            <a:off x="3575720" y="4630943"/>
            <a:ext cx="4200525" cy="1912937"/>
            <a:chOff x="0" y="0"/>
            <a:chExt cx="2749" cy="1260"/>
          </a:xfrm>
        </p:grpSpPr>
        <p:sp>
          <p:nvSpPr>
            <p:cNvPr id="406533" name="Rectangle 5"/>
            <p:cNvSpPr>
              <a:spLocks noChangeArrowheads="1"/>
            </p:cNvSpPr>
            <p:nvPr/>
          </p:nvSpPr>
          <p:spPr bwMode="auto">
            <a:xfrm>
              <a:off x="0" y="993"/>
              <a:ext cx="586" cy="267"/>
            </a:xfrm>
            <a:prstGeom prst="rect">
              <a:avLst/>
            </a:prstGeom>
            <a:noFill/>
            <a:ln w="22225" cmpd="sng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fun4</a:t>
              </a:r>
            </a:p>
          </p:txBody>
        </p:sp>
        <p:sp>
          <p:nvSpPr>
            <p:cNvPr id="406534" name="Rectangle 6"/>
            <p:cNvSpPr>
              <a:spLocks noChangeArrowheads="1"/>
            </p:cNvSpPr>
            <p:nvPr/>
          </p:nvSpPr>
          <p:spPr bwMode="auto">
            <a:xfrm>
              <a:off x="806" y="984"/>
              <a:ext cx="586" cy="267"/>
            </a:xfrm>
            <a:prstGeom prst="rect">
              <a:avLst/>
            </a:prstGeom>
            <a:noFill/>
            <a:ln w="22225" cmpd="sng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fun5</a:t>
              </a:r>
            </a:p>
          </p:txBody>
        </p:sp>
        <p:grpSp>
          <p:nvGrpSpPr>
            <p:cNvPr id="406535" name="Group 7"/>
            <p:cNvGrpSpPr>
              <a:grpSpLocks/>
            </p:cNvGrpSpPr>
            <p:nvPr/>
          </p:nvGrpSpPr>
          <p:grpSpPr bwMode="auto">
            <a:xfrm>
              <a:off x="427" y="0"/>
              <a:ext cx="2322" cy="765"/>
              <a:chOff x="0" y="0"/>
              <a:chExt cx="2322" cy="765"/>
            </a:xfrm>
          </p:grpSpPr>
          <p:sp>
            <p:nvSpPr>
              <p:cNvPr id="406536" name="Rectangle 8"/>
              <p:cNvSpPr>
                <a:spLocks noChangeArrowheads="1"/>
              </p:cNvSpPr>
              <p:nvPr/>
            </p:nvSpPr>
            <p:spPr bwMode="auto">
              <a:xfrm>
                <a:off x="0" y="497"/>
                <a:ext cx="586" cy="267"/>
              </a:xfrm>
              <a:prstGeom prst="rect">
                <a:avLst/>
              </a:prstGeom>
              <a:noFill/>
              <a:ln w="22225" cmpd="sng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99FF">
                        <a:alpha val="50000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10800" rIns="18000" bIns="10800"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400" b="1" dirty="0">
                    <a:solidFill>
                      <a:srgbClr val="000000"/>
                    </a:solidFill>
                    <a:latin typeface="Arial" pitchFamily="34" charset="0"/>
                    <a:ea typeface="宋体" pitchFamily="2" charset="-122"/>
                  </a:rPr>
                  <a:t>fun1</a:t>
                </a:r>
              </a:p>
            </p:txBody>
          </p:sp>
          <p:grpSp>
            <p:nvGrpSpPr>
              <p:cNvPr id="406537" name="Group 9"/>
              <p:cNvGrpSpPr>
                <a:grpSpLocks/>
              </p:cNvGrpSpPr>
              <p:nvPr/>
            </p:nvGrpSpPr>
            <p:grpSpPr bwMode="auto">
              <a:xfrm>
                <a:off x="891" y="0"/>
                <a:ext cx="1431" cy="765"/>
                <a:chOff x="0" y="0"/>
                <a:chExt cx="1431" cy="765"/>
              </a:xfrm>
            </p:grpSpPr>
            <p:sp>
              <p:nvSpPr>
                <p:cNvPr id="406538" name="Rectangle 10"/>
                <p:cNvSpPr>
                  <a:spLocks noChangeArrowheads="1"/>
                </p:cNvSpPr>
                <p:nvPr/>
              </p:nvSpPr>
              <p:spPr bwMode="auto">
                <a:xfrm>
                  <a:off x="845" y="498"/>
                  <a:ext cx="586" cy="267"/>
                </a:xfrm>
                <a:prstGeom prst="rect">
                  <a:avLst/>
                </a:prstGeom>
                <a:noFill/>
                <a:ln w="22225" cmpd="sng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99FF">
                          <a:alpha val="50000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18000" tIns="10800" rIns="18000" bIns="10800" anchor="ctr" anchorCtr="1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zh-CN" sz="2400" b="1">
                      <a:solidFill>
                        <a:srgbClr val="000000"/>
                      </a:solidFill>
                      <a:latin typeface="Arial" pitchFamily="34" charset="0"/>
                      <a:ea typeface="宋体" pitchFamily="2" charset="-122"/>
                    </a:rPr>
                    <a:t>fun3</a:t>
                  </a:r>
                </a:p>
              </p:txBody>
            </p:sp>
            <p:grpSp>
              <p:nvGrpSpPr>
                <p:cNvPr id="406539" name="Group 11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99" cy="762"/>
                  <a:chOff x="0" y="0"/>
                  <a:chExt cx="599" cy="762"/>
                </a:xfrm>
              </p:grpSpPr>
              <p:sp>
                <p:nvSpPr>
                  <p:cNvPr id="406540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13" y="0"/>
                    <a:ext cx="586" cy="267"/>
                  </a:xfrm>
                  <a:prstGeom prst="rect">
                    <a:avLst/>
                  </a:prstGeom>
                  <a:noFill/>
                  <a:ln w="22225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99FF">
                            <a:alpha val="50000"/>
                          </a:srgbClr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18000" tIns="10800" rIns="18000" bIns="10800" anchor="ctr" anchorCtr="1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zh-CN" altLang="zh-CN" sz="2400" b="1">
                        <a:solidFill>
                          <a:srgbClr val="000000"/>
                        </a:solidFill>
                        <a:latin typeface="Arial" pitchFamily="34" charset="0"/>
                        <a:ea typeface="宋体" pitchFamily="2" charset="-122"/>
                      </a:rPr>
                      <a:t>main</a:t>
                    </a:r>
                  </a:p>
                </p:txBody>
              </p:sp>
              <p:sp>
                <p:nvSpPr>
                  <p:cNvPr id="406541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0" y="495"/>
                    <a:ext cx="586" cy="267"/>
                  </a:xfrm>
                  <a:prstGeom prst="rect">
                    <a:avLst/>
                  </a:prstGeom>
                  <a:noFill/>
                  <a:ln w="22225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C99FF">
                            <a:alpha val="50000"/>
                          </a:srgbClr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18000" tIns="10800" rIns="18000" bIns="10800" anchor="ctr" anchorCtr="1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zh-CN" altLang="zh-CN" sz="2400" b="1">
                        <a:solidFill>
                          <a:srgbClr val="000000"/>
                        </a:solidFill>
                        <a:latin typeface="Arial" pitchFamily="34" charset="0"/>
                        <a:ea typeface="宋体" pitchFamily="2" charset="-122"/>
                      </a:rPr>
                      <a:t>fun2</a:t>
                    </a:r>
                  </a:p>
                </p:txBody>
              </p:sp>
              <p:sp>
                <p:nvSpPr>
                  <p:cNvPr id="406542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1" y="263"/>
                    <a:ext cx="4" cy="234"/>
                  </a:xfrm>
                  <a:prstGeom prst="line">
                    <a:avLst/>
                  </a:prstGeom>
                  <a:noFill/>
                  <a:ln w="22225" cmpd="sng">
                    <a:solidFill>
                      <a:srgbClr val="008000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400">
                      <a:solidFill>
                        <a:srgbClr val="000000"/>
                      </a:solidFill>
                      <a:ea typeface="Dotum" pitchFamily="34" charset="-127"/>
                    </a:endParaRPr>
                  </a:p>
                </p:txBody>
              </p:sp>
            </p:grpSp>
            <p:sp>
              <p:nvSpPr>
                <p:cNvPr id="406543" name="Line 15"/>
                <p:cNvSpPr>
                  <a:spLocks noChangeShapeType="1"/>
                </p:cNvSpPr>
                <p:nvPr/>
              </p:nvSpPr>
              <p:spPr bwMode="auto">
                <a:xfrm>
                  <a:off x="597" y="248"/>
                  <a:ext cx="528" cy="240"/>
                </a:xfrm>
                <a:prstGeom prst="line">
                  <a:avLst/>
                </a:prstGeom>
                <a:noFill/>
                <a:ln w="22225" cmpd="sng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srgbClr val="000000"/>
                    </a:solidFill>
                    <a:ea typeface="Dotum" pitchFamily="34" charset="-127"/>
                  </a:endParaRPr>
                </a:p>
              </p:txBody>
            </p:sp>
          </p:grpSp>
          <p:sp>
            <p:nvSpPr>
              <p:cNvPr id="406544" name="Line 16"/>
              <p:cNvSpPr>
                <a:spLocks noChangeShapeType="1"/>
              </p:cNvSpPr>
              <p:nvPr/>
            </p:nvSpPr>
            <p:spPr bwMode="auto">
              <a:xfrm flipH="1">
                <a:off x="280" y="240"/>
                <a:ext cx="624" cy="240"/>
              </a:xfrm>
              <a:prstGeom prst="line">
                <a:avLst/>
              </a:prstGeom>
              <a:noFill/>
              <a:ln w="22225" cmpd="sng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406545" name="Line 17"/>
            <p:cNvSpPr>
              <a:spLocks noChangeShapeType="1"/>
            </p:cNvSpPr>
            <p:nvPr/>
          </p:nvSpPr>
          <p:spPr bwMode="auto">
            <a:xfrm flipH="1">
              <a:off x="280" y="774"/>
              <a:ext cx="263" cy="222"/>
            </a:xfrm>
            <a:prstGeom prst="line">
              <a:avLst/>
            </a:prstGeom>
            <a:noFill/>
            <a:ln w="22225" cmpd="sng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406546" name="Line 18"/>
            <p:cNvSpPr>
              <a:spLocks noChangeShapeType="1"/>
            </p:cNvSpPr>
            <p:nvPr/>
          </p:nvSpPr>
          <p:spPr bwMode="auto">
            <a:xfrm>
              <a:off x="849" y="765"/>
              <a:ext cx="266" cy="222"/>
            </a:xfrm>
            <a:prstGeom prst="line">
              <a:avLst/>
            </a:prstGeom>
            <a:noFill/>
            <a:ln w="22225" cmpd="sng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8226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5" name="Rectangle 3"/>
          <p:cNvSpPr>
            <a:spLocks noGrp="1" noChangeArrowheads="1"/>
          </p:cNvSpPr>
          <p:nvPr>
            <p:ph type="title"/>
          </p:nvPr>
        </p:nvSpPr>
        <p:spPr>
          <a:xfrm>
            <a:off x="1559496" y="3212976"/>
            <a:ext cx="7966075" cy="801688"/>
          </a:xfrm>
        </p:spPr>
        <p:txBody>
          <a:bodyPr/>
          <a:lstStyle/>
          <a:p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6</a:t>
            </a:r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</a:rPr>
              <a:t>-1】</a:t>
            </a:r>
            <a:r>
              <a:rPr lang="zh-CN" altLang="en-US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输出以下的结果，用函数调用实现。</a:t>
            </a:r>
            <a:br>
              <a:rPr lang="zh-CN" altLang="en-US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</a:br>
            <a:r>
              <a:rPr lang="zh-CN" altLang="en-US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       ******************</a:t>
            </a:r>
            <a:br>
              <a:rPr lang="zh-CN" altLang="en-US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</a:br>
            <a:r>
              <a:rPr lang="zh-CN" altLang="en-US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            </a:t>
            </a:r>
            <a:r>
              <a:rPr lang="en-US" altLang="zh-CN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How do you do!</a:t>
            </a:r>
            <a:br>
              <a:rPr lang="en-US" altLang="zh-CN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</a:br>
            <a:r>
              <a:rPr lang="en-US" altLang="zh-CN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       ******************</a:t>
            </a:r>
            <a:br>
              <a:rPr lang="en-US" altLang="zh-CN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</a:br>
            <a:endParaRPr lang="zh-CN" altLang="en-US" sz="2800" dirty="0">
              <a:solidFill>
                <a:schemeClr val="tx1"/>
              </a:solidFill>
              <a:ea typeface="文鼎书宋简" charset="-122"/>
            </a:endParaRPr>
          </a:p>
        </p:txBody>
      </p:sp>
      <p:pic>
        <p:nvPicPr>
          <p:cNvPr id="407558" name="Picture 6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61722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360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5" name="Rectangle 3"/>
          <p:cNvSpPr>
            <a:spLocks noGrp="1" noChangeArrowheads="1"/>
          </p:cNvSpPr>
          <p:nvPr>
            <p:ph type="title"/>
          </p:nvPr>
        </p:nvSpPr>
        <p:spPr>
          <a:xfrm>
            <a:off x="1559496" y="1556792"/>
            <a:ext cx="8422705" cy="562691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  <a:t>解题思路：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1.</a:t>
            </a:r>
            <a: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  <a:t>在输出的文字上下分别有一行“*”号，显然不必重复写这段代码，用一个函数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itchFamily="18" charset="0"/>
              </a:rPr>
              <a:t>print_star</a:t>
            </a:r>
            <a: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  <a:t>来实现输出一行“*”号的功能。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b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2.</a:t>
            </a:r>
            <a: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  <a:t>再写一个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itchFamily="18" charset="0"/>
              </a:rPr>
              <a:t>print_message</a:t>
            </a:r>
            <a: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  <a:t>函数来输出中间一行文字信息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b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3.</a:t>
            </a:r>
            <a: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  <a:t>用主函数分别调用这两个函数</a:t>
            </a:r>
            <a:b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</a:br>
            <a:endParaRPr lang="zh-CN" altLang="en-US" sz="2800" b="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407558" name="Picture 6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61722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7549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5" name="Rectangle 3"/>
          <p:cNvSpPr>
            <a:spLocks noGrp="1" noChangeArrowheads="1"/>
          </p:cNvSpPr>
          <p:nvPr>
            <p:ph type="title"/>
          </p:nvPr>
        </p:nvSpPr>
        <p:spPr>
          <a:xfrm>
            <a:off x="479377" y="1556792"/>
            <a:ext cx="5976664" cy="562691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#include &lt;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itchFamily="18" charset="0"/>
              </a:rPr>
              <a:t>stdio.h</a:t>
            </a: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void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itchFamily="18" charset="0"/>
              </a:rPr>
              <a:t>print_star</a:t>
            </a: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()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{ 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itchFamily="18" charset="0"/>
              </a:rPr>
              <a:t>printf</a:t>
            </a: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(“******************\n”); 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}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void </a:t>
            </a:r>
            <a:r>
              <a:rPr lang="en-US" altLang="zh-CN" sz="2800" b="0" dirty="0" err="1">
                <a:solidFill>
                  <a:schemeClr val="tx1"/>
                </a:solidFill>
                <a:latin typeface="Times New Roman" pitchFamily="18" charset="0"/>
              </a:rPr>
              <a:t>print_message</a:t>
            </a: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() 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{  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 err="1">
                <a:solidFill>
                  <a:schemeClr val="tx1"/>
                </a:solidFill>
                <a:latin typeface="Times New Roman" pitchFamily="18" charset="0"/>
              </a:rPr>
              <a:t>printf</a:t>
            </a: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(“  How do you do!\n”); </a:t>
            </a:r>
            <a:b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</a:rPr>
              <a:t> }</a:t>
            </a:r>
            <a:b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</a:rPr>
            </a:br>
            <a:endParaRPr lang="zh-CN" altLang="en-US" sz="2800" b="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407558" name="Picture 6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61722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C925550-C170-4391-B908-A74B3DCE15A3}"/>
              </a:ext>
            </a:extLst>
          </p:cNvPr>
          <p:cNvSpPr txBox="1"/>
          <p:nvPr/>
        </p:nvSpPr>
        <p:spPr>
          <a:xfrm>
            <a:off x="6672064" y="1340768"/>
            <a:ext cx="63367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int main()</a:t>
            </a:r>
            <a:b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{ </a:t>
            </a:r>
            <a:b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   </a:t>
            </a:r>
            <a:r>
              <a:rPr lang="en-US" altLang="zh-CN" sz="3600" b="0" dirty="0" err="1">
                <a:solidFill>
                  <a:schemeClr val="tx1"/>
                </a:solidFill>
                <a:latin typeface="Times New Roman" pitchFamily="18" charset="0"/>
              </a:rPr>
              <a:t>print_star</a:t>
            </a:r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();  </a:t>
            </a:r>
            <a:b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   </a:t>
            </a:r>
            <a:r>
              <a:rPr lang="en-US" altLang="zh-CN" sz="3600" b="0" dirty="0" err="1">
                <a:solidFill>
                  <a:schemeClr val="tx1"/>
                </a:solidFill>
                <a:latin typeface="Times New Roman" pitchFamily="18" charset="0"/>
              </a:rPr>
              <a:t>print_message</a:t>
            </a:r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();   </a:t>
            </a:r>
            <a:b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   </a:t>
            </a:r>
            <a:r>
              <a:rPr lang="en-US" altLang="zh-CN" sz="3600" b="0" dirty="0" err="1">
                <a:solidFill>
                  <a:schemeClr val="tx1"/>
                </a:solidFill>
                <a:latin typeface="Times New Roman" pitchFamily="18" charset="0"/>
              </a:rPr>
              <a:t>print_star</a:t>
            </a:r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();           </a:t>
            </a:r>
            <a:b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   return 0;</a:t>
            </a:r>
            <a:b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</a:br>
            <a: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  <a:t>}</a:t>
            </a:r>
            <a:br>
              <a:rPr lang="en-US" altLang="zh-CN" sz="3600" b="0" dirty="0">
                <a:solidFill>
                  <a:schemeClr val="tx1"/>
                </a:solidFill>
                <a:latin typeface="Times New Roman" pitchFamily="18" charset="0"/>
              </a:rPr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03224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ChangeArrowheads="1"/>
          </p:cNvSpPr>
          <p:nvPr/>
        </p:nvSpPr>
        <p:spPr bwMode="auto">
          <a:xfrm>
            <a:off x="2355851" y="1012825"/>
            <a:ext cx="3205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#include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stdio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h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&gt; 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title"/>
          </p:nvPr>
        </p:nvSpPr>
        <p:spPr>
          <a:xfrm>
            <a:off x="2127251" y="12700"/>
            <a:ext cx="7966075" cy="801688"/>
          </a:xfrm>
        </p:spPr>
        <p:txBody>
          <a:bodyPr/>
          <a:lstStyle/>
          <a:p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6</a:t>
            </a:r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</a:rPr>
              <a:t>-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</a:rPr>
              <a:t>2</a:t>
            </a:r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</a:rPr>
              <a:t>】</a:t>
            </a:r>
            <a:r>
              <a:rPr lang="zh-CN" altLang="en-US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输入两个整数</a:t>
            </a:r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,  </a:t>
            </a:r>
            <a:r>
              <a:rPr lang="zh-CN" altLang="en-US" sz="2800" dirty="0">
                <a:solidFill>
                  <a:schemeClr val="tx1"/>
                </a:solidFill>
                <a:latin typeface="Courier New" pitchFamily="49" charset="0"/>
                <a:ea typeface="黑体" pitchFamily="49" charset="-122"/>
              </a:rPr>
              <a:t>输出其中较大的数</a:t>
            </a:r>
            <a:r>
              <a:rPr lang="zh-CN" altLang="en-US" sz="2800" dirty="0">
                <a:solidFill>
                  <a:schemeClr val="tx1"/>
                </a:solidFill>
                <a:latin typeface="Courier New" pitchFamily="49" charset="0"/>
              </a:rPr>
              <a:t>。</a:t>
            </a:r>
            <a:endParaRPr lang="zh-CN" altLang="en-US" sz="2800" dirty="0">
              <a:solidFill>
                <a:schemeClr val="tx1"/>
              </a:solidFill>
              <a:ea typeface="文鼎书宋简" charset="-122"/>
            </a:endParaRPr>
          </a:p>
        </p:txBody>
      </p:sp>
      <p:sp>
        <p:nvSpPr>
          <p:cNvPr id="407556" name="Text Box 4"/>
          <p:cNvSpPr txBox="1">
            <a:spLocks noGrp="1" noChangeArrowheads="1"/>
          </p:cNvSpPr>
          <p:nvPr>
            <p:ph type="body" idx="1"/>
          </p:nvPr>
        </p:nvSpPr>
        <p:spPr>
          <a:xfrm>
            <a:off x="2127251" y="3345579"/>
            <a:ext cx="6934200" cy="3284537"/>
          </a:xfrm>
          <a:noFill/>
          <a:ln/>
        </p:spPr>
        <p:txBody>
          <a:bodyPr/>
          <a:lstStyle/>
          <a:p>
            <a:pPr eaLnBrk="0" hangingPunct="0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b="1"/>
              <a:t>main</a:t>
            </a:r>
            <a:r>
              <a:rPr lang="zh-CN" altLang="zh-CN" sz="2400" b="1">
                <a:latin typeface="Times New Roman" pitchFamily="18" charset="0"/>
              </a:rPr>
              <a:t>( )</a:t>
            </a:r>
          </a:p>
          <a:p>
            <a:pPr eaLnBrk="0" hangingPunct="0">
              <a:lnSpc>
                <a:spcPct val="11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zh-CN" sz="2400" b="1"/>
              <a:t>   { int  a</a:t>
            </a:r>
            <a:r>
              <a:rPr lang="zh-CN" altLang="zh-CN" sz="2400" b="1">
                <a:latin typeface="Times New Roman" pitchFamily="18" charset="0"/>
              </a:rPr>
              <a:t>,</a:t>
            </a:r>
            <a:r>
              <a:rPr lang="zh-CN" altLang="zh-CN" sz="2400" b="1"/>
              <a:t> b</a:t>
            </a:r>
            <a:r>
              <a:rPr lang="zh-CN" altLang="zh-CN" sz="2400" b="1">
                <a:latin typeface="Times New Roman" pitchFamily="18" charset="0"/>
              </a:rPr>
              <a:t>,</a:t>
            </a:r>
            <a:r>
              <a:rPr lang="zh-CN" altLang="zh-CN" sz="2400" b="1"/>
              <a:t> c  </a:t>
            </a:r>
            <a:r>
              <a:rPr lang="zh-CN" altLang="zh-CN" sz="2400" b="1">
                <a:latin typeface="Times New Roman" pitchFamily="18" charset="0"/>
              </a:rPr>
              <a:t>;</a:t>
            </a:r>
          </a:p>
          <a:p>
            <a:pPr eaLnBrk="0" hangingPunct="0">
              <a:lnSpc>
                <a:spcPct val="11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zh-CN" sz="2400" b="1"/>
              <a:t>      printf</a:t>
            </a:r>
            <a:r>
              <a:rPr lang="zh-CN" altLang="zh-CN" sz="2400" b="1">
                <a:latin typeface="Times New Roman" pitchFamily="18" charset="0"/>
              </a:rPr>
              <a:t>(”</a:t>
            </a:r>
            <a:r>
              <a:rPr lang="zh-CN" altLang="zh-CN" sz="2400" b="1"/>
              <a:t>input two numbers</a:t>
            </a:r>
            <a:r>
              <a:rPr lang="zh-CN" altLang="zh-CN" sz="2400" b="1">
                <a:latin typeface="Times New Roman" pitchFamily="18" charset="0"/>
              </a:rPr>
              <a:t>: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”);</a:t>
            </a:r>
          </a:p>
          <a:p>
            <a:pPr eaLnBrk="0" hangingPunct="0">
              <a:lnSpc>
                <a:spcPct val="11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zh-CN" sz="2400">
                <a:solidFill>
                  <a:schemeClr val="hlink"/>
                </a:solidFill>
              </a:rPr>
              <a:t>      </a:t>
            </a:r>
            <a:r>
              <a:rPr lang="zh-CN" altLang="zh-CN" sz="2400" b="1">
                <a:solidFill>
                  <a:srgbClr val="CC0000"/>
                </a:solidFill>
              </a:rPr>
              <a:t>scanf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(”</a:t>
            </a:r>
            <a:r>
              <a:rPr lang="zh-CN" altLang="zh-CN" sz="2400" b="1">
                <a:solidFill>
                  <a:srgbClr val="CC0000"/>
                </a:solidFill>
              </a:rPr>
              <a:t>%d%d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”,</a:t>
            </a:r>
            <a:r>
              <a:rPr lang="zh-CN" altLang="zh-CN" sz="2400" b="1">
                <a:solidFill>
                  <a:srgbClr val="CC0000"/>
                </a:solidFill>
              </a:rPr>
              <a:t> </a:t>
            </a:r>
            <a:r>
              <a:rPr lang="zh-CN" altLang="zh-CN" sz="2400">
                <a:solidFill>
                  <a:srgbClr val="CC0000"/>
                </a:solidFill>
              </a:rPr>
              <a:t>&amp;</a:t>
            </a:r>
            <a:r>
              <a:rPr lang="zh-CN" altLang="zh-CN" sz="2400" b="1">
                <a:solidFill>
                  <a:srgbClr val="CC0000"/>
                </a:solidFill>
              </a:rPr>
              <a:t>a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,</a:t>
            </a:r>
            <a:r>
              <a:rPr lang="zh-CN" altLang="zh-CN" sz="2400" b="1">
                <a:solidFill>
                  <a:srgbClr val="CC0000"/>
                </a:solidFill>
              </a:rPr>
              <a:t> </a:t>
            </a:r>
            <a:r>
              <a:rPr lang="zh-CN" altLang="zh-CN" sz="2400">
                <a:solidFill>
                  <a:srgbClr val="CC0000"/>
                </a:solidFill>
              </a:rPr>
              <a:t>&amp;</a:t>
            </a:r>
            <a:r>
              <a:rPr lang="zh-CN" altLang="zh-CN" sz="2400" b="1">
                <a:solidFill>
                  <a:srgbClr val="CC0000"/>
                </a:solidFill>
              </a:rPr>
              <a:t>b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);</a:t>
            </a:r>
          </a:p>
          <a:p>
            <a:pPr eaLnBrk="0" hangingPunct="0">
              <a:lnSpc>
                <a:spcPct val="11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zh-CN" sz="2400" b="1">
                <a:solidFill>
                  <a:srgbClr val="CC0000"/>
                </a:solidFill>
              </a:rPr>
              <a:t>      c=max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(</a:t>
            </a:r>
            <a:r>
              <a:rPr lang="zh-CN" altLang="zh-CN" sz="2400" b="1">
                <a:solidFill>
                  <a:srgbClr val="CC0000"/>
                </a:solidFill>
              </a:rPr>
              <a:t>a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, </a:t>
            </a:r>
            <a:r>
              <a:rPr lang="zh-CN" altLang="zh-CN" sz="2400" b="1">
                <a:solidFill>
                  <a:srgbClr val="CC0000"/>
                </a:solidFill>
              </a:rPr>
              <a:t>b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);     </a:t>
            </a:r>
            <a:endParaRPr lang="zh-CN" altLang="zh-CN" sz="2400" b="1">
              <a:solidFill>
                <a:srgbClr val="CC0000"/>
              </a:solidFill>
              <a:latin typeface="黑体" pitchFamily="49" charset="-122"/>
            </a:endParaRPr>
          </a:p>
          <a:p>
            <a:pPr eaLnBrk="0" hangingPunct="0">
              <a:lnSpc>
                <a:spcPct val="11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zh-CN" sz="2400" b="1"/>
              <a:t>      printf</a:t>
            </a:r>
            <a:r>
              <a:rPr lang="zh-CN" altLang="zh-CN" sz="2400" b="1">
                <a:latin typeface="Times New Roman" pitchFamily="18" charset="0"/>
              </a:rPr>
              <a:t>(”</a:t>
            </a:r>
            <a:r>
              <a:rPr lang="zh-CN" altLang="zh-CN" sz="2400" b="1"/>
              <a:t>max=%d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”, </a:t>
            </a:r>
            <a:r>
              <a:rPr lang="zh-CN" altLang="zh-CN" sz="2400" b="1"/>
              <a:t>c</a:t>
            </a:r>
            <a:r>
              <a:rPr lang="zh-CN" altLang="zh-CN" sz="2400" b="1">
                <a:latin typeface="Times New Roman" pitchFamily="18" charset="0"/>
              </a:rPr>
              <a:t>);</a:t>
            </a:r>
          </a:p>
          <a:p>
            <a:pPr eaLnBrk="0" hangingPunct="0">
              <a:lnSpc>
                <a:spcPct val="11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zh-CN" sz="2400" b="1"/>
              <a:t>   }</a:t>
            </a:r>
          </a:p>
        </p:txBody>
      </p:sp>
      <p:sp>
        <p:nvSpPr>
          <p:cNvPr id="407557" name="Text Box 5"/>
          <p:cNvSpPr txBox="1">
            <a:spLocks noChangeArrowheads="1"/>
          </p:cNvSpPr>
          <p:nvPr/>
        </p:nvSpPr>
        <p:spPr bwMode="auto">
          <a:xfrm>
            <a:off x="2460626" y="1473200"/>
            <a:ext cx="7667625" cy="164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int  max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int</a:t>
            </a:r>
            <a:r>
              <a:rPr lang="zh-CN" altLang="zh-CN" b="1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int</a:t>
            </a:r>
            <a:r>
              <a:rPr lang="zh-CN" altLang="zh-CN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y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eaLnBrk="0" fontAlgn="base" hangingPunct="0">
              <a:spcBef>
                <a:spcPct val="2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{ if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x</a:t>
            </a:r>
            <a:r>
              <a:rPr lang="zh-CN" altLang="zh-CN" sz="2400">
                <a:solidFill>
                  <a:srgbClr val="000000"/>
                </a:solidFill>
                <a:ea typeface="宋体" pitchFamily="2" charset="-122"/>
              </a:rPr>
              <a:t>&gt;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y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return x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         </a:t>
            </a:r>
            <a:endParaRPr lang="zh-CN" altLang="zh-CN" sz="2000" b="1">
              <a:solidFill>
                <a:srgbClr val="000000"/>
              </a:solidFill>
              <a:latin typeface="Times New Roman" pitchFamily="18" charset="0"/>
            </a:endParaRPr>
          </a:p>
          <a:p>
            <a:pPr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else  return y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              //</a:t>
            </a: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</a:rPr>
              <a:t>使用</a:t>
            </a: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return</a:t>
            </a:r>
            <a:r>
              <a:rPr lang="zh-CN" altLang="en-US" sz="2000" b="1">
                <a:solidFill>
                  <a:srgbClr val="000000"/>
                </a:solidFill>
              </a:rPr>
              <a:t>把结果返回主调函数</a:t>
            </a:r>
            <a:endParaRPr lang="zh-CN" altLang="en-US" sz="2400" b="1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}</a:t>
            </a:r>
          </a:p>
        </p:txBody>
      </p:sp>
      <p:pic>
        <p:nvPicPr>
          <p:cNvPr id="407558" name="Picture 6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61722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7559" name="AutoShape 7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74825" y="765176"/>
            <a:ext cx="304800" cy="295275"/>
          </a:xfrm>
          <a:prstGeom prst="actionButtonForwardNext">
            <a:avLst/>
          </a:prstGeom>
          <a:noFill/>
          <a:ln w="0" cmpd="sng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07560" name="Line 8"/>
          <p:cNvSpPr>
            <a:spLocks noChangeShapeType="1"/>
          </p:cNvSpPr>
          <p:nvPr/>
        </p:nvSpPr>
        <p:spPr bwMode="auto">
          <a:xfrm flipV="1">
            <a:off x="3205163" y="5435601"/>
            <a:ext cx="1308100" cy="15875"/>
          </a:xfrm>
          <a:prstGeom prst="line">
            <a:avLst/>
          </a:prstGeom>
          <a:noFill/>
          <a:ln w="38100" cmpd="sng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07561" name="Text Box 9"/>
          <p:cNvSpPr txBox="1">
            <a:spLocks noChangeArrowheads="1"/>
          </p:cNvSpPr>
          <p:nvPr/>
        </p:nvSpPr>
        <p:spPr bwMode="auto">
          <a:xfrm>
            <a:off x="5929314" y="5070475"/>
            <a:ext cx="1190625" cy="412750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82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函数调用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407562" name="Line 10"/>
          <p:cNvSpPr>
            <a:spLocks noChangeShapeType="1"/>
          </p:cNvSpPr>
          <p:nvPr/>
        </p:nvSpPr>
        <p:spPr bwMode="auto">
          <a:xfrm flipH="1">
            <a:off x="4848225" y="5213350"/>
            <a:ext cx="1100138" cy="58738"/>
          </a:xfrm>
          <a:prstGeom prst="line">
            <a:avLst/>
          </a:prstGeom>
          <a:noFill/>
          <a:ln w="19050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07563" name="Text Box 11"/>
          <p:cNvSpPr txBox="1">
            <a:spLocks noChangeArrowheads="1"/>
          </p:cNvSpPr>
          <p:nvPr/>
        </p:nvSpPr>
        <p:spPr bwMode="auto">
          <a:xfrm>
            <a:off x="6959601" y="1557338"/>
            <a:ext cx="1190625" cy="412750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bIns="82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函数定义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407564" name="Rectangle 12"/>
          <p:cNvSpPr>
            <a:spLocks noChangeArrowheads="1"/>
          </p:cNvSpPr>
          <p:nvPr/>
        </p:nvSpPr>
        <p:spPr bwMode="auto">
          <a:xfrm>
            <a:off x="2446338" y="1519238"/>
            <a:ext cx="3581400" cy="1655762"/>
          </a:xfrm>
          <a:prstGeom prst="rect">
            <a:avLst/>
          </a:prstGeom>
          <a:noFill/>
          <a:ln w="19050" cmpd="sng">
            <a:solidFill>
              <a:srgbClr val="008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07565" name="Line 13"/>
          <p:cNvSpPr>
            <a:spLocks noChangeShapeType="1"/>
          </p:cNvSpPr>
          <p:nvPr/>
        </p:nvSpPr>
        <p:spPr bwMode="auto">
          <a:xfrm flipH="1">
            <a:off x="6097588" y="1789114"/>
            <a:ext cx="863600" cy="358775"/>
          </a:xfrm>
          <a:prstGeom prst="line">
            <a:avLst/>
          </a:prstGeom>
          <a:noFill/>
          <a:ln w="19050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07566" name="AutoShape 14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282826" y="750889"/>
            <a:ext cx="360363" cy="287337"/>
          </a:xfrm>
          <a:prstGeom prst="actionButtonEnd">
            <a:avLst/>
          </a:prstGeom>
          <a:noFill/>
          <a:ln w="0" cmpd="sng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332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0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0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60" grpId="0" animBg="1"/>
      <p:bldP spid="407561" grpId="0" animBg="1" autoUpdateAnimBg="0"/>
      <p:bldP spid="407562" grpId="0" animBg="1"/>
      <p:bldP spid="407563" grpId="0" animBg="1" autoUpdateAnimBg="0"/>
      <p:bldP spid="407564" grpId="0" animBg="1"/>
      <p:bldP spid="40756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338389" y="55564"/>
            <a:ext cx="5184775" cy="638175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.  </a:t>
            </a:r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函数的分类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2963" y="1131888"/>
            <a:ext cx="8045450" cy="5041900"/>
          </a:xfrm>
        </p:spPr>
        <p:txBody>
          <a:bodyPr/>
          <a:lstStyle/>
          <a:p>
            <a:pPr marL="0" indent="0">
              <a:lnSpc>
                <a:spcPct val="110000"/>
              </a:lnSpc>
            </a:pPr>
            <a:r>
              <a:rPr lang="zh-CN" altLang="zh-CN" sz="2800" b="1" dirty="0">
                <a:latin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</a:rPr>
              <a:t>从用户的观点分为</a:t>
            </a:r>
            <a:r>
              <a:rPr lang="zh-CN" altLang="zh-CN" sz="2800" b="1" dirty="0">
                <a:latin typeface="Times New Roman" pitchFamily="18" charset="0"/>
              </a:rPr>
              <a:t>: </a:t>
            </a:r>
          </a:p>
          <a:p>
            <a:pPr marL="533400" lvl="1" indent="-258763">
              <a:lnSpc>
                <a:spcPct val="115000"/>
              </a:lnSpc>
              <a:spcBef>
                <a:spcPct val="3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zh-CN" b="1" dirty="0">
                <a:latin typeface="黑体" pitchFamily="49" charset="-122"/>
              </a:rPr>
              <a:t>C</a:t>
            </a:r>
            <a:r>
              <a:rPr lang="zh-CN" altLang="en-US" b="1" dirty="0">
                <a:latin typeface="黑体" pitchFamily="49" charset="-122"/>
              </a:rPr>
              <a:t>编译系统提供的标准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库函数</a:t>
            </a:r>
          </a:p>
          <a:p>
            <a:pPr marL="533400" lvl="1" indent="-258763">
              <a:lnSpc>
                <a:spcPct val="115000"/>
              </a:lnSpc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latin typeface="黑体" pitchFamily="49" charset="-122"/>
              </a:rPr>
              <a:t>用户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自定义函数</a:t>
            </a:r>
            <a:r>
              <a:rPr lang="zh-CN" altLang="en-US" b="1" dirty="0">
                <a:latin typeface="黑体" pitchFamily="49" charset="-122"/>
              </a:rPr>
              <a:t>；</a:t>
            </a:r>
          </a:p>
          <a:p>
            <a:pPr marL="0" indent="0">
              <a:lnSpc>
                <a:spcPct val="110000"/>
              </a:lnSpc>
              <a:spcBef>
                <a:spcPct val="65000"/>
              </a:spcBef>
            </a:pPr>
            <a:r>
              <a:rPr lang="zh-CN" altLang="en-US" sz="2800" b="1" dirty="0">
                <a:latin typeface="黑体" pitchFamily="49" charset="-122"/>
              </a:rPr>
              <a:t> 从函数间数据传送的关系分为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533400" lvl="1" indent="-258763">
              <a:lnSpc>
                <a:spcPct val="115000"/>
              </a:lnSpc>
              <a:spcBef>
                <a:spcPct val="3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有参函数、无参函数</a:t>
            </a:r>
          </a:p>
          <a:p>
            <a:pPr marL="533400" lvl="1" indent="-258763">
              <a:lnSpc>
                <a:spcPct val="115000"/>
              </a:lnSpc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有返回值函数、无返回值函数；</a:t>
            </a:r>
          </a:p>
          <a:p>
            <a:pPr marL="0" indent="0">
              <a:lnSpc>
                <a:spcPct val="110000"/>
              </a:lnSpc>
              <a:spcBef>
                <a:spcPct val="65000"/>
              </a:spcBef>
            </a:pPr>
            <a:r>
              <a:rPr lang="zh-CN" altLang="en-US" sz="2800" b="1" dirty="0">
                <a:latin typeface="黑体" pitchFamily="49" charset="-122"/>
              </a:rPr>
              <a:t> 从函数的调用分为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533400" lvl="1" indent="-258763">
              <a:lnSpc>
                <a:spcPct val="115000"/>
              </a:lnSpc>
              <a:spcBef>
                <a:spcPct val="3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内部函数和外部函数。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172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420938" y="325439"/>
            <a:ext cx="6096000" cy="446087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.  </a:t>
            </a:r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函数的定义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2963" y="1236664"/>
            <a:ext cx="8382000" cy="4498975"/>
          </a:xfrm>
        </p:spPr>
        <p:txBody>
          <a:bodyPr/>
          <a:lstStyle/>
          <a:p>
            <a:pPr marL="274638" indent="-274638"/>
            <a:r>
              <a:rPr lang="zh-CN" altLang="en-US" sz="2800" b="1" dirty="0"/>
              <a:t>形式</a:t>
            </a:r>
            <a:r>
              <a:rPr lang="en-US" altLang="zh-CN" sz="2800" b="1" dirty="0"/>
              <a:t>1(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建议使用</a:t>
            </a:r>
            <a:r>
              <a:rPr lang="zh-CN" altLang="en-US" sz="2800" b="1" dirty="0"/>
              <a:t>）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274638" indent="-274638">
              <a:spcBef>
                <a:spcPct val="6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 dirty="0"/>
              <a:t>       </a:t>
            </a:r>
            <a:r>
              <a:rPr lang="zh-CN" altLang="en-US" sz="2800" b="1" dirty="0"/>
              <a:t>函数类型   函数名</a:t>
            </a:r>
            <a:r>
              <a:rPr lang="zh-CN" altLang="zh-CN" sz="2800" b="1" dirty="0">
                <a:latin typeface="黑体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参数表</a:t>
            </a:r>
            <a:r>
              <a:rPr lang="zh-CN" altLang="zh-CN" sz="2800" b="1" dirty="0">
                <a:latin typeface="黑体" pitchFamily="49" charset="-122"/>
              </a:rPr>
              <a:t>)</a:t>
            </a:r>
          </a:p>
          <a:p>
            <a:pPr marL="274638" indent="-274638" algn="just">
              <a:spcBef>
                <a:spcPct val="30000"/>
              </a:spcBef>
              <a:buNone/>
            </a:pPr>
            <a:r>
              <a:rPr lang="zh-CN" altLang="en-US" sz="2800" b="1" dirty="0"/>
              <a:t>       </a:t>
            </a:r>
            <a:endParaRPr lang="en-US" altLang="zh-CN" sz="2800" b="1" dirty="0"/>
          </a:p>
          <a:p>
            <a:pPr marL="274638" indent="-274638" algn="just">
              <a:spcBef>
                <a:spcPct val="30000"/>
              </a:spcBef>
              <a:buNone/>
            </a:pPr>
            <a:r>
              <a:rPr lang="en-US" altLang="zh-CN" sz="2800" b="1" dirty="0"/>
              <a:t>      </a:t>
            </a:r>
            <a:r>
              <a:rPr lang="zh-CN" altLang="zh-CN" sz="2800" b="1" dirty="0"/>
              <a:t>{</a:t>
            </a:r>
          </a:p>
          <a:p>
            <a:pPr marL="274638" indent="-274638" algn="just">
              <a:spcBef>
                <a:spcPct val="30000"/>
              </a:spcBef>
              <a:buNone/>
            </a:pPr>
            <a:r>
              <a:rPr lang="zh-CN" altLang="zh-CN" sz="2800" b="1" dirty="0"/>
              <a:t>           </a:t>
            </a:r>
            <a:r>
              <a:rPr lang="zh-CN" altLang="en-US" sz="2800" b="1" dirty="0"/>
              <a:t>数据说明</a:t>
            </a:r>
          </a:p>
          <a:p>
            <a:pPr marL="274638" indent="-274638" algn="just">
              <a:spcBef>
                <a:spcPct val="30000"/>
              </a:spcBef>
              <a:buNone/>
            </a:pPr>
            <a:r>
              <a:rPr lang="zh-CN" altLang="en-US" sz="2800" b="1" dirty="0"/>
              <a:t>           执行语句</a:t>
            </a:r>
          </a:p>
          <a:p>
            <a:pPr marL="274638" indent="-274638" algn="just">
              <a:spcBef>
                <a:spcPct val="30000"/>
              </a:spcBef>
              <a:buNone/>
            </a:pPr>
            <a:r>
              <a:rPr lang="zh-CN" altLang="en-US" sz="2800" b="1" dirty="0"/>
              <a:t>       </a:t>
            </a:r>
            <a:r>
              <a:rPr lang="zh-CN" altLang="zh-CN" sz="2800" b="1" dirty="0"/>
              <a:t>}</a:t>
            </a:r>
          </a:p>
        </p:txBody>
      </p:sp>
      <p:sp>
        <p:nvSpPr>
          <p:cNvPr id="409604" name="Text Box 4"/>
          <p:cNvSpPr txBox="1">
            <a:spLocks noChangeArrowheads="1"/>
          </p:cNvSpPr>
          <p:nvPr/>
        </p:nvSpPr>
        <p:spPr bwMode="auto">
          <a:xfrm>
            <a:off x="8264525" y="195897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函数头</a:t>
            </a:r>
            <a:endParaRPr lang="zh-CN" altLang="en-US" sz="280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409605" name="AutoShape 5"/>
          <p:cNvSpPr>
            <a:spLocks/>
          </p:cNvSpPr>
          <p:nvPr/>
        </p:nvSpPr>
        <p:spPr bwMode="auto">
          <a:xfrm>
            <a:off x="4800600" y="3441700"/>
            <a:ext cx="127000" cy="1600200"/>
          </a:xfrm>
          <a:prstGeom prst="rightBrace">
            <a:avLst>
              <a:gd name="adj1" fmla="val 105000"/>
              <a:gd name="adj2" fmla="val 50000"/>
            </a:avLst>
          </a:prstGeom>
          <a:noFill/>
          <a:ln w="28575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09606" name="Text Box 6"/>
          <p:cNvSpPr txBox="1">
            <a:spLocks noChangeArrowheads="1"/>
          </p:cNvSpPr>
          <p:nvPr/>
        </p:nvSpPr>
        <p:spPr bwMode="auto">
          <a:xfrm>
            <a:off x="4953000" y="39751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函数体</a:t>
            </a:r>
          </a:p>
        </p:txBody>
      </p:sp>
      <p:sp>
        <p:nvSpPr>
          <p:cNvPr id="409607" name="Line 7"/>
          <p:cNvSpPr>
            <a:spLocks noChangeShapeType="1"/>
          </p:cNvSpPr>
          <p:nvPr/>
        </p:nvSpPr>
        <p:spPr bwMode="auto">
          <a:xfrm>
            <a:off x="7323138" y="2222500"/>
            <a:ext cx="990600" cy="0"/>
          </a:xfrm>
          <a:prstGeom prst="line">
            <a:avLst/>
          </a:prstGeom>
          <a:noFill/>
          <a:ln w="28575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09608" name="Comment 8"/>
          <p:cNvSpPr>
            <a:spLocks noChangeArrowheads="1"/>
          </p:cNvSpPr>
          <p:nvPr/>
        </p:nvSpPr>
        <p:spPr bwMode="auto">
          <a:xfrm>
            <a:off x="6376989" y="3054351"/>
            <a:ext cx="3438525" cy="1900095"/>
          </a:xfrm>
          <a:prstGeom prst="flowChartAlternateProcess">
            <a:avLst/>
          </a:prstGeom>
          <a:solidFill>
            <a:srgbClr val="FBFF61"/>
          </a:solidFill>
          <a:ln w="9525" cmpd="sng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int  max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x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y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{ if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x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&gt;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y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return x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  else return y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}</a:t>
            </a:r>
            <a:endParaRPr lang="zh-CN" altLang="zh-CN" sz="1600" dirty="0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697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9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4" grpId="0" build="p" autoUpdateAnimBg="0" advAuto="0"/>
      <p:bldP spid="409605" grpId="0" animBg="1" autoUpdateAnimBg="0"/>
      <p:bldP spid="409606" grpId="0" build="p" autoUpdateAnimBg="0" advAuto="0"/>
      <p:bldP spid="409607" grpId="0" animBg="1"/>
      <p:bldP spid="40960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420938" y="325439"/>
            <a:ext cx="6096000" cy="446087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.  </a:t>
            </a:r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函数的定义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2963" y="1236664"/>
            <a:ext cx="8382000" cy="4498975"/>
          </a:xfrm>
        </p:spPr>
        <p:txBody>
          <a:bodyPr/>
          <a:lstStyle/>
          <a:p>
            <a:pPr marL="274638" indent="-274638"/>
            <a:r>
              <a:rPr lang="zh-CN" altLang="en-US" sz="2800" b="1" dirty="0"/>
              <a:t>形式</a:t>
            </a:r>
            <a:r>
              <a:rPr lang="en-US" altLang="zh-CN" sz="2800" b="1" dirty="0"/>
              <a:t>2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en-US" altLang="zh-CN" sz="2800" b="1" dirty="0">
                <a:latin typeface="Times New Roman" pitchFamily="18" charset="0"/>
              </a:rPr>
              <a:t>(</a:t>
            </a:r>
            <a:r>
              <a:rPr lang="zh-CN" altLang="en-US" sz="2800" b="1" dirty="0">
                <a:latin typeface="Times New Roman" pitchFamily="18" charset="0"/>
              </a:rPr>
              <a:t>传统方式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>
                <a:latin typeface="Times New Roman" pitchFamily="18" charset="0"/>
              </a:rPr>
              <a:t>今天一般不用</a:t>
            </a:r>
            <a:r>
              <a:rPr lang="en-US" altLang="zh-CN" sz="2800" b="1" dirty="0">
                <a:latin typeface="Times New Roman" pitchFamily="18" charset="0"/>
              </a:rPr>
              <a:t>)</a:t>
            </a:r>
            <a:endParaRPr lang="zh-CN" altLang="zh-CN" sz="2800" b="1" dirty="0">
              <a:latin typeface="Times New Roman" pitchFamily="18" charset="0"/>
            </a:endParaRPr>
          </a:p>
          <a:p>
            <a:pPr marL="274638" indent="-274638">
              <a:spcBef>
                <a:spcPct val="6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 dirty="0"/>
              <a:t>       </a:t>
            </a:r>
            <a:r>
              <a:rPr lang="zh-CN" altLang="en-US" sz="2800" b="1" dirty="0"/>
              <a:t>函数类型   函数名</a:t>
            </a:r>
            <a:r>
              <a:rPr lang="zh-CN" altLang="zh-CN" sz="2800" b="1" dirty="0">
                <a:latin typeface="黑体" pitchFamily="49" charset="-122"/>
              </a:rPr>
              <a:t>(</a:t>
            </a:r>
            <a:r>
              <a:rPr lang="zh-CN" altLang="en-US" sz="2800" b="1" dirty="0">
                <a:latin typeface="黑体" pitchFamily="49" charset="-122"/>
              </a:rPr>
              <a:t>参数表</a:t>
            </a:r>
            <a:r>
              <a:rPr lang="zh-CN" altLang="zh-CN" sz="2800" b="1" dirty="0">
                <a:latin typeface="黑体" pitchFamily="49" charset="-122"/>
              </a:rPr>
              <a:t>)</a:t>
            </a:r>
          </a:p>
          <a:p>
            <a:pPr marL="274638" indent="-274638" algn="just">
              <a:spcBef>
                <a:spcPct val="45000"/>
              </a:spcBef>
              <a:buNone/>
            </a:pPr>
            <a:r>
              <a:rPr lang="zh-CN" altLang="zh-CN" sz="2800" b="1" dirty="0"/>
              <a:t>       </a:t>
            </a:r>
            <a:r>
              <a:rPr lang="zh-CN" altLang="en-US" sz="2800" b="1" dirty="0">
                <a:solidFill>
                  <a:srgbClr val="C00000"/>
                </a:solidFill>
              </a:rPr>
              <a:t>参数说明</a:t>
            </a:r>
          </a:p>
          <a:p>
            <a:pPr marL="274638" indent="-274638" algn="just">
              <a:spcBef>
                <a:spcPct val="30000"/>
              </a:spcBef>
              <a:buNone/>
            </a:pPr>
            <a:r>
              <a:rPr lang="zh-CN" altLang="en-US" sz="2800" b="1" dirty="0"/>
              <a:t>       </a:t>
            </a:r>
            <a:r>
              <a:rPr lang="zh-CN" altLang="zh-CN" sz="2800" b="1" dirty="0"/>
              <a:t>{</a:t>
            </a:r>
          </a:p>
          <a:p>
            <a:pPr marL="274638" indent="-274638" algn="just">
              <a:spcBef>
                <a:spcPct val="30000"/>
              </a:spcBef>
              <a:buNone/>
            </a:pPr>
            <a:r>
              <a:rPr lang="zh-CN" altLang="zh-CN" sz="2800" b="1" dirty="0"/>
              <a:t>           </a:t>
            </a:r>
            <a:r>
              <a:rPr lang="zh-CN" altLang="en-US" sz="2800" b="1" dirty="0"/>
              <a:t>数据说明</a:t>
            </a:r>
          </a:p>
          <a:p>
            <a:pPr marL="274638" indent="-274638" algn="just">
              <a:spcBef>
                <a:spcPct val="30000"/>
              </a:spcBef>
              <a:buNone/>
            </a:pPr>
            <a:r>
              <a:rPr lang="zh-CN" altLang="en-US" sz="2800" b="1" dirty="0"/>
              <a:t>           执行语句</a:t>
            </a:r>
          </a:p>
          <a:p>
            <a:pPr marL="274638" indent="-274638" algn="just">
              <a:spcBef>
                <a:spcPct val="30000"/>
              </a:spcBef>
              <a:buNone/>
            </a:pPr>
            <a:r>
              <a:rPr lang="zh-CN" altLang="en-US" sz="2800" b="1" dirty="0"/>
              <a:t>       </a:t>
            </a:r>
            <a:r>
              <a:rPr lang="zh-CN" altLang="zh-CN" sz="2800" b="1" dirty="0"/>
              <a:t>}</a:t>
            </a:r>
          </a:p>
        </p:txBody>
      </p:sp>
      <p:sp>
        <p:nvSpPr>
          <p:cNvPr id="409604" name="Text Box 4"/>
          <p:cNvSpPr txBox="1">
            <a:spLocks noChangeArrowheads="1"/>
          </p:cNvSpPr>
          <p:nvPr/>
        </p:nvSpPr>
        <p:spPr bwMode="auto">
          <a:xfrm>
            <a:off x="8264525" y="195897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函数头</a:t>
            </a:r>
            <a:endParaRPr lang="zh-CN" altLang="en-US" sz="280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409605" name="AutoShape 5"/>
          <p:cNvSpPr>
            <a:spLocks/>
          </p:cNvSpPr>
          <p:nvPr/>
        </p:nvSpPr>
        <p:spPr bwMode="auto">
          <a:xfrm>
            <a:off x="4800600" y="3441700"/>
            <a:ext cx="127000" cy="1600200"/>
          </a:xfrm>
          <a:prstGeom prst="rightBrace">
            <a:avLst>
              <a:gd name="adj1" fmla="val 105000"/>
              <a:gd name="adj2" fmla="val 50000"/>
            </a:avLst>
          </a:prstGeom>
          <a:noFill/>
          <a:ln w="28575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09606" name="Text Box 6"/>
          <p:cNvSpPr txBox="1">
            <a:spLocks noChangeArrowheads="1"/>
          </p:cNvSpPr>
          <p:nvPr/>
        </p:nvSpPr>
        <p:spPr bwMode="auto">
          <a:xfrm>
            <a:off x="4953000" y="39751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函数体</a:t>
            </a:r>
          </a:p>
        </p:txBody>
      </p:sp>
      <p:sp>
        <p:nvSpPr>
          <p:cNvPr id="409607" name="Line 7"/>
          <p:cNvSpPr>
            <a:spLocks noChangeShapeType="1"/>
          </p:cNvSpPr>
          <p:nvPr/>
        </p:nvSpPr>
        <p:spPr bwMode="auto">
          <a:xfrm>
            <a:off x="7323138" y="2222500"/>
            <a:ext cx="990600" cy="0"/>
          </a:xfrm>
          <a:prstGeom prst="line">
            <a:avLst/>
          </a:prstGeom>
          <a:noFill/>
          <a:ln w="28575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09608" name="Comment 8"/>
          <p:cNvSpPr>
            <a:spLocks noChangeArrowheads="1"/>
          </p:cNvSpPr>
          <p:nvPr/>
        </p:nvSpPr>
        <p:spPr bwMode="auto">
          <a:xfrm>
            <a:off x="6376989" y="3054350"/>
            <a:ext cx="3438525" cy="2390442"/>
          </a:xfrm>
          <a:prstGeom prst="flowChartAlternateProcess">
            <a:avLst/>
          </a:prstGeom>
          <a:solidFill>
            <a:srgbClr val="FBFF61"/>
          </a:solidFill>
          <a:ln w="9525" cmpd="sng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int  max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y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int  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y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{ if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x</a:t>
            </a:r>
            <a:r>
              <a:rPr lang="zh-CN" altLang="zh-CN" sz="2400">
                <a:solidFill>
                  <a:srgbClr val="000000"/>
                </a:solidFill>
                <a:ea typeface="宋体" pitchFamily="2" charset="-122"/>
              </a:rPr>
              <a:t>&gt;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y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return x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else return y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}</a:t>
            </a:r>
            <a:endParaRPr lang="zh-CN" altLang="zh-CN" sz="1600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894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9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4" grpId="0" build="p" autoUpdateAnimBg="0" advAuto="0"/>
      <p:bldP spid="409605" grpId="0" animBg="1" autoUpdateAnimBg="0"/>
      <p:bldP spid="409606" grpId="0" build="p" autoUpdateAnimBg="0" advAuto="0"/>
      <p:bldP spid="409607" grpId="0" animBg="1"/>
      <p:bldP spid="409608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2927649" y="616497"/>
            <a:ext cx="61499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CC"/>
                </a:solidFill>
                <a:latin typeface="楷体_GB2312" pitchFamily="49" charset="-122"/>
                <a:ea typeface="楷体_GB2312" pitchFamily="49" charset="-122"/>
              </a:rPr>
              <a:t>函数类型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函数名</a:t>
            </a:r>
            <a:r>
              <a:rPr lang="zh-CN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参数表</a:t>
            </a:r>
            <a:r>
              <a:rPr lang="zh-CN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3900" y="1330325"/>
            <a:ext cx="8497888" cy="4572000"/>
          </a:xfrm>
        </p:spPr>
        <p:txBody>
          <a:bodyPr/>
          <a:lstStyle/>
          <a:p>
            <a:pPr marL="609600" indent="-609600">
              <a:buNone/>
            </a:pPr>
            <a:r>
              <a:rPr lang="zh-CN" altLang="zh-CN" sz="36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1)</a:t>
            </a:r>
            <a:r>
              <a:rPr lang="zh-CN" altLang="en-US" sz="2800" b="1" dirty="0">
                <a:ea typeface="黑体" pitchFamily="49" charset="-122"/>
              </a:rPr>
              <a:t>函数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类型是指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函数返回值的数据类型</a:t>
            </a:r>
          </a:p>
          <a:p>
            <a:pPr marL="609600" indent="-609600">
              <a:lnSpc>
                <a:spcPct val="120000"/>
              </a:lnSpc>
              <a:spcBef>
                <a:spcPct val="55000"/>
              </a:spcBef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14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如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: </a:t>
            </a:r>
            <a:r>
              <a:rPr lang="zh-CN" altLang="zh-CN" sz="2800" b="1" dirty="0">
                <a:ea typeface="黑体" pitchFamily="49" charset="-122"/>
              </a:rPr>
              <a:t>  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int</a:t>
            </a:r>
            <a:r>
              <a:rPr lang="zh-CN" altLang="zh-CN" sz="2800" b="1" dirty="0">
                <a:ea typeface="黑体" pitchFamily="49" charset="-122"/>
              </a:rPr>
              <a:t>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 max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800" b="1" dirty="0">
                <a:ea typeface="黑体" pitchFamily="49" charset="-122"/>
              </a:rPr>
              <a:t>x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800" b="1" dirty="0">
                <a:ea typeface="黑体" pitchFamily="49" charset="-122"/>
              </a:rPr>
              <a:t> y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) </a:t>
            </a:r>
            <a:r>
              <a:rPr lang="zh-CN" altLang="zh-CN" sz="2800" b="1" dirty="0">
                <a:ea typeface="黑体" pitchFamily="49" charset="-122"/>
              </a:rPr>
              <a:t>             </a:t>
            </a:r>
            <a:r>
              <a:rPr lang="zh-CN" altLang="en-US" sz="2400" b="1" dirty="0">
                <a:solidFill>
                  <a:srgbClr val="0000AC"/>
                </a:solidFill>
                <a:ea typeface="楷体_GB2312" pitchFamily="49" charset="-122"/>
              </a:rPr>
              <a:t>返回值为整型</a:t>
            </a:r>
          </a:p>
          <a:p>
            <a:pPr marL="609600" indent="-609600">
              <a:lnSpc>
                <a:spcPct val="110000"/>
              </a:lnSpc>
              <a:spcBef>
                <a:spcPct val="45000"/>
              </a:spcBef>
              <a:buNone/>
            </a:pPr>
            <a:r>
              <a:rPr lang="zh-CN" altLang="en-US" sz="2800" b="1" dirty="0">
                <a:ea typeface="黑体" pitchFamily="49" charset="-122"/>
              </a:rPr>
              <a:t>               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char</a:t>
            </a:r>
            <a:r>
              <a:rPr lang="zh-CN" altLang="zh-CN" sz="2800" b="1" dirty="0">
                <a:ea typeface="黑体" pitchFamily="49" charset="-122"/>
              </a:rPr>
              <a:t>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letter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c1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800" b="1" dirty="0">
                <a:ea typeface="黑体" pitchFamily="49" charset="-122"/>
              </a:rPr>
              <a:t>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c2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zh-CN" sz="2800" b="1" dirty="0">
                <a:ea typeface="黑体" pitchFamily="49" charset="-122"/>
              </a:rPr>
              <a:t>              </a:t>
            </a:r>
            <a:r>
              <a:rPr lang="zh-CN" altLang="en-US" sz="2400" b="1" dirty="0">
                <a:solidFill>
                  <a:srgbClr val="0000AC"/>
                </a:solidFill>
                <a:ea typeface="楷体_GB2312" pitchFamily="49" charset="-122"/>
              </a:rPr>
              <a:t>字符型</a:t>
            </a:r>
            <a:endParaRPr lang="zh-CN" altLang="en-US" sz="2400" b="1" dirty="0">
              <a:solidFill>
                <a:srgbClr val="0000AC"/>
              </a:solidFill>
              <a:latin typeface="黑体" pitchFamily="49" charset="-122"/>
              <a:ea typeface="楷体_GB2312" pitchFamily="49" charset="-122"/>
            </a:endParaRPr>
          </a:p>
          <a:p>
            <a:pPr marL="609600" indent="-609600">
              <a:lnSpc>
                <a:spcPct val="110000"/>
              </a:lnSpc>
              <a:spcBef>
                <a:spcPct val="45000"/>
              </a:spcBef>
              <a:buNone/>
            </a:pPr>
            <a:r>
              <a:rPr lang="zh-CN" altLang="en-US" sz="2800" b="1" dirty="0">
                <a:solidFill>
                  <a:schemeClr val="bg2"/>
                </a:solidFill>
                <a:ea typeface="黑体" pitchFamily="49" charset="-122"/>
              </a:rPr>
              <a:t>               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double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min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 y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              </a:t>
            </a:r>
            <a:r>
              <a:rPr lang="zh-CN" altLang="en-US" sz="2400" b="1" dirty="0">
                <a:solidFill>
                  <a:srgbClr val="0000AC"/>
                </a:solidFill>
                <a:ea typeface="楷体_GB2312" pitchFamily="49" charset="-122"/>
              </a:rPr>
              <a:t>双精度型</a:t>
            </a:r>
          </a:p>
          <a:p>
            <a:pPr marL="609600" indent="-609600">
              <a:lnSpc>
                <a:spcPct val="110000"/>
              </a:lnSpc>
              <a:spcBef>
                <a:spcPct val="65000"/>
              </a:spcBef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  </a:t>
            </a:r>
          </a:p>
        </p:txBody>
      </p:sp>
      <p:sp>
        <p:nvSpPr>
          <p:cNvPr id="410628" name="Rectangle 4"/>
          <p:cNvSpPr>
            <a:spLocks noChangeArrowheads="1"/>
          </p:cNvSpPr>
          <p:nvPr/>
        </p:nvSpPr>
        <p:spPr bwMode="auto">
          <a:xfrm>
            <a:off x="2392364" y="2065339"/>
            <a:ext cx="7989887" cy="311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6000">
            <a:spAutoFit/>
          </a:bodyPr>
          <a:lstStyle/>
          <a:p>
            <a:pPr marL="274638" indent="-274638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</a:rPr>
              <a:t>void─ </a:t>
            </a:r>
            <a:r>
              <a:rPr lang="zh-CN" altLang="en-US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表示</a:t>
            </a:r>
            <a:r>
              <a:rPr lang="zh-CN" altLang="en-US" sz="2800" b="1" dirty="0">
                <a:solidFill>
                  <a:srgbClr val="000000"/>
                </a:solidFill>
                <a:ea typeface="黑体" pitchFamily="49" charset="-122"/>
              </a:rPr>
              <a:t>函数不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返回任何值</a:t>
            </a:r>
            <a:endParaRPr lang="zh-CN" altLang="en-US" sz="2800" b="1" dirty="0">
              <a:solidFill>
                <a:srgbClr val="000000"/>
              </a:solidFill>
              <a:latin typeface="Times New Roman" pitchFamily="18" charset="0"/>
              <a:ea typeface="黑体" pitchFamily="49" charset="-122"/>
            </a:endParaRPr>
          </a:p>
          <a:p>
            <a:pPr marL="274638" indent="-274638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称</a:t>
            </a:r>
            <a:r>
              <a:rPr lang="zh-CN" altLang="en-US" sz="2800" b="1" dirty="0">
                <a:solidFill>
                  <a:srgbClr val="000000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无类型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”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或</a:t>
            </a:r>
            <a:r>
              <a:rPr lang="zh-CN" altLang="en-US" sz="2800" b="1" dirty="0">
                <a:solidFill>
                  <a:srgbClr val="000000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空类型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”</a:t>
            </a:r>
            <a:endParaRPr lang="zh-CN" altLang="en-US" sz="2800" b="1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 marL="274638" indent="-274638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85000"/>
              <a:buFontTx/>
              <a:buChar char="•"/>
            </a:pPr>
            <a:endParaRPr lang="zh-CN" altLang="en-US" sz="2800" b="1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 marL="274638" indent="-274638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85000"/>
              <a:buFontTx/>
              <a:buChar char="•"/>
            </a:pPr>
            <a:endParaRPr lang="zh-CN" altLang="en-US" sz="2800" b="1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  <a:p>
            <a:pPr marL="274638" indent="-274638" fontAlgn="base">
              <a:spcBef>
                <a:spcPct val="45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   </a:t>
            </a:r>
          </a:p>
        </p:txBody>
      </p:sp>
      <p:sp>
        <p:nvSpPr>
          <p:cNvPr id="410629" name="Rectangle 5"/>
          <p:cNvSpPr>
            <a:spLocks noChangeArrowheads="1"/>
          </p:cNvSpPr>
          <p:nvPr/>
        </p:nvSpPr>
        <p:spPr bwMode="auto">
          <a:xfrm>
            <a:off x="2705100" y="3317875"/>
            <a:ext cx="784225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ea typeface="黑体" pitchFamily="49" charset="-122"/>
              </a:rPr>
              <a:t>     </a:t>
            </a:r>
            <a:r>
              <a:rPr lang="zh-CN" altLang="zh-CN" sz="2000" b="1">
                <a:solidFill>
                  <a:srgbClr val="FF0000"/>
                </a:solidFill>
                <a:ea typeface="黑体" pitchFamily="49" charset="-122"/>
              </a:rPr>
              <a:t>   </a:t>
            </a:r>
            <a:r>
              <a:rPr lang="zh-CN" altLang="zh-CN" sz="2400" b="1">
                <a:solidFill>
                  <a:srgbClr val="000099"/>
                </a:solidFill>
                <a:latin typeface="Arial" pitchFamily="34" charset="0"/>
                <a:ea typeface="黑体" pitchFamily="49" charset="-122"/>
              </a:rPr>
              <a:t>void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  time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 long  a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           </a:t>
            </a:r>
            <a:r>
              <a:rPr lang="zh-CN" altLang="zh-CN" sz="2000">
                <a:solidFill>
                  <a:srgbClr val="002BB6"/>
                </a:solidFill>
                <a:ea typeface="黑体" pitchFamily="49" charset="-122"/>
              </a:rPr>
              <a:t>/</a:t>
            </a:r>
            <a:r>
              <a:rPr lang="zh-CN" altLang="zh-CN" sz="2000" b="1">
                <a:solidFill>
                  <a:srgbClr val="002BB6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en-US" sz="2000" b="1">
                <a:solidFill>
                  <a:srgbClr val="002BB6"/>
                </a:solidFill>
                <a:latin typeface="黑体" pitchFamily="49" charset="-122"/>
                <a:ea typeface="黑体" pitchFamily="49" charset="-122"/>
              </a:rPr>
              <a:t>无返回值*</a:t>
            </a:r>
            <a:r>
              <a:rPr lang="zh-CN" altLang="zh-CN" sz="2000">
                <a:solidFill>
                  <a:srgbClr val="002BB6"/>
                </a:solidFill>
                <a:ea typeface="黑体" pitchFamily="49" charset="-122"/>
              </a:rPr>
              <a:t>/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       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{ int  i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           for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 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i=1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; 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i</a:t>
            </a:r>
            <a:r>
              <a:rPr lang="zh-CN" altLang="zh-CN" sz="2400">
                <a:solidFill>
                  <a:srgbClr val="000000"/>
                </a:solidFill>
                <a:ea typeface="黑体" pitchFamily="49" charset="-122"/>
              </a:rPr>
              <a:t>&lt;=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 i++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) ;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}  </a:t>
            </a:r>
            <a:r>
              <a:rPr lang="zh-CN" altLang="zh-CN" sz="2000">
                <a:solidFill>
                  <a:srgbClr val="002BB6"/>
                </a:solidFill>
                <a:ea typeface="黑体" pitchFamily="49" charset="-122"/>
              </a:rPr>
              <a:t>/</a:t>
            </a:r>
            <a:r>
              <a:rPr lang="zh-CN" altLang="zh-CN" sz="2000" b="1">
                <a:solidFill>
                  <a:srgbClr val="002BB6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en-US" sz="2000" b="1">
                <a:solidFill>
                  <a:srgbClr val="002BB6"/>
                </a:solidFill>
                <a:latin typeface="黑体" pitchFamily="49" charset="-122"/>
                <a:ea typeface="黑体" pitchFamily="49" charset="-122"/>
              </a:rPr>
              <a:t>延迟一个小的时间片*</a:t>
            </a:r>
            <a:r>
              <a:rPr lang="zh-CN" altLang="zh-CN" sz="2000">
                <a:solidFill>
                  <a:srgbClr val="002BB6"/>
                </a:solidFill>
                <a:ea typeface="黑体" pitchFamily="49" charset="-122"/>
              </a:rPr>
              <a:t>/</a:t>
            </a:r>
            <a:endParaRPr lang="zh-CN" altLang="zh-CN" sz="2800" b="1">
              <a:solidFill>
                <a:srgbClr val="000000"/>
              </a:solidFill>
              <a:ea typeface="黑体" pitchFamily="49" charset="-122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SzPct val="60000"/>
            </a:pP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       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void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main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 )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SzPct val="60000"/>
            </a:pP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       {  time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( 1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0000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 );</a:t>
            </a:r>
            <a:r>
              <a:rPr lang="zh-CN" altLang="zh-CN" sz="2400" b="1">
                <a:solidFill>
                  <a:srgbClr val="000000"/>
                </a:solidFill>
                <a:ea typeface="黑体" pitchFamily="49" charset="-122"/>
              </a:rPr>
              <a:t>   }</a:t>
            </a:r>
          </a:p>
        </p:txBody>
      </p:sp>
      <p:sp>
        <p:nvSpPr>
          <p:cNvPr id="410630" name="Text Box 6"/>
          <p:cNvSpPr txBox="1">
            <a:spLocks noChangeArrowheads="1"/>
          </p:cNvSpPr>
          <p:nvPr/>
        </p:nvSpPr>
        <p:spPr bwMode="auto">
          <a:xfrm>
            <a:off x="2411414" y="3352800"/>
            <a:ext cx="7800975" cy="28563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0">
            <a:spAutoFit/>
          </a:bodyPr>
          <a:lstStyle>
            <a:lvl1pPr marL="274638" indent="-27463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44513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75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如果省略函数类型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,  </a:t>
            </a:r>
            <a:r>
              <a:rPr lang="zh-CN" altLang="en-US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则默认为</a:t>
            </a:r>
            <a:r>
              <a:rPr lang="zh-CN" altLang="en-US" sz="1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</a:rPr>
              <a:t>int</a:t>
            </a:r>
            <a:r>
              <a:rPr lang="zh-CN" altLang="zh-CN" b="1" dirty="0">
                <a:solidFill>
                  <a:srgbClr val="00009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型。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002BB6"/>
              </a:buClr>
              <a:buSzPct val="85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如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2BB6"/>
              </a:buClr>
              <a:buSzPct val="85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   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int</a:t>
            </a:r>
            <a:r>
              <a:rPr lang="zh-CN" altLang="zh-CN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max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(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int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x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int</a:t>
            </a:r>
            <a:r>
              <a:rPr lang="zh-CN" altLang="zh-CN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y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)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>
                <a:srgbClr val="002BB6"/>
              </a:buClr>
              <a:buSzPct val="85000"/>
              <a:buFont typeface="Wingdings" pitchFamily="2" charset="2"/>
              <a:buNone/>
            </a:pPr>
            <a:endParaRPr lang="zh-CN" altLang="zh-CN" sz="2800" b="1" dirty="0">
              <a:solidFill>
                <a:srgbClr val="000000"/>
              </a:solidFill>
              <a:latin typeface="Tahoma" pitchFamily="34" charset="0"/>
              <a:ea typeface="黑体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CC66FF"/>
              </a:buClr>
              <a:buSzPct val="85000"/>
              <a:buFont typeface="Wingdings" pitchFamily="2" charset="2"/>
              <a:buNone/>
            </a:pPr>
            <a:endParaRPr lang="zh-CN" altLang="zh-CN" sz="2800" b="1" dirty="0">
              <a:solidFill>
                <a:srgbClr val="000000"/>
              </a:solidFill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410631" name="Text Box 7"/>
          <p:cNvSpPr txBox="1">
            <a:spLocks noChangeArrowheads="1"/>
          </p:cNvSpPr>
          <p:nvPr/>
        </p:nvSpPr>
        <p:spPr bwMode="auto">
          <a:xfrm>
            <a:off x="3833813" y="4513263"/>
            <a:ext cx="685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410632" name="Text Box 8"/>
          <p:cNvSpPr txBox="1">
            <a:spLocks noChangeArrowheads="1"/>
          </p:cNvSpPr>
          <p:nvPr/>
        </p:nvSpPr>
        <p:spPr bwMode="auto">
          <a:xfrm>
            <a:off x="3789364" y="4491038"/>
            <a:ext cx="619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latin typeface="Arial" pitchFamily="34" charset="0"/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142353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8" grpId="0" build="p" animBg="1" autoUpdateAnimBg="0"/>
      <p:bldP spid="410629" grpId="0" autoUpdateAnimBg="0"/>
      <p:bldP spid="410630" grpId="0" animBg="1" autoUpdateAnimBg="0"/>
      <p:bldP spid="410631" grpId="0" animBg="1" autoUpdateAnimBg="0"/>
      <p:bldP spid="41063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38351" y="1392239"/>
            <a:ext cx="8221663" cy="4645025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800" b="1" dirty="0">
                <a:latin typeface="Times New Roman" pitchFamily="18" charset="0"/>
              </a:rPr>
              <a:t> </a:t>
            </a:r>
            <a:r>
              <a:rPr lang="zh-CN" altLang="zh-CN" sz="2400" b="1" dirty="0">
                <a:latin typeface="Times New Roman" pitchFamily="18" charset="0"/>
              </a:rPr>
              <a:t>2)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函数名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: 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黑体" pitchFamily="49" charset="-122"/>
              </a:rPr>
              <a:t>可以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是任何有效的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标识符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。</a:t>
            </a:r>
          </a:p>
          <a:p>
            <a:pPr marL="808038" lvl="2" indent="-274638">
              <a:lnSpc>
                <a:spcPct val="110000"/>
              </a:lnSpc>
              <a:spcBef>
                <a:spcPct val="35000"/>
              </a:spcBef>
              <a:buClr>
                <a:srgbClr val="009900"/>
              </a:buClr>
              <a:buSzPct val="45000"/>
              <a:buFont typeface="Wingdings" pitchFamily="2" charset="2"/>
              <a:buChar char="l"/>
            </a:pPr>
            <a:r>
              <a:rPr lang="zh-CN" b="1" dirty="0">
                <a:latin typeface="黑体" pitchFamily="49" charset="-122"/>
                <a:ea typeface="黑体" pitchFamily="49" charset="-122"/>
              </a:rPr>
              <a:t>在一个程序中除了主函数外其余函数的名字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是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用户定义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的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,  </a:t>
            </a:r>
            <a:r>
              <a:rPr lang="zh-CN" altLang="en-US" b="1" dirty="0">
                <a:latin typeface="Times New Roman" pitchFamily="18" charset="0"/>
                <a:ea typeface="黑体" pitchFamily="49" charset="-122"/>
              </a:rPr>
              <a:t>给函数命名时最好是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49" charset="-122"/>
              </a:rPr>
              <a:t>见名知义</a:t>
            </a:r>
            <a:r>
              <a:rPr lang="zh-CN" b="1" dirty="0">
                <a:latin typeface="黑体" pitchFamily="49" charset="-122"/>
                <a:ea typeface="黑体" pitchFamily="49" charset="-122"/>
              </a:rPr>
              <a:t>。</a:t>
            </a:r>
          </a:p>
          <a:p>
            <a:pPr marL="808038" lvl="2" indent="-274638">
              <a:lnSpc>
                <a:spcPct val="105000"/>
              </a:lnSpc>
              <a:spcBef>
                <a:spcPct val="40000"/>
              </a:spcBef>
              <a:buClr>
                <a:srgbClr val="009900"/>
              </a:buClr>
              <a:buSzPct val="45000"/>
              <a:buFont typeface="Wingdings" pitchFamily="2" charset="2"/>
              <a:buChar char="l"/>
            </a:pPr>
            <a:r>
              <a:rPr 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黑体" pitchFamily="49" charset="-122"/>
              </a:rPr>
              <a:t>“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49" charset="-122"/>
              </a:rPr>
              <a:t>( )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黑体" pitchFamily="49" charset="-122"/>
              </a:rPr>
              <a:t>”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 </a:t>
            </a:r>
            <a:r>
              <a:rPr lang="zh-CN" b="1" dirty="0">
                <a:latin typeface="黑体" pitchFamily="49" charset="-122"/>
                <a:ea typeface="黑体" pitchFamily="49" charset="-122"/>
              </a:rPr>
              <a:t>函数标志</a:t>
            </a: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2927649" y="513090"/>
            <a:ext cx="6600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函数类型  </a:t>
            </a:r>
            <a:r>
              <a:rPr lang="zh-CN" altLang="en-US" sz="2800" b="1" dirty="0">
                <a:solidFill>
                  <a:srgbClr val="3333CC"/>
                </a:solidFill>
                <a:latin typeface="楷体_GB2312" pitchFamily="49" charset="-122"/>
                <a:ea typeface="楷体_GB2312" pitchFamily="49" charset="-122"/>
              </a:rPr>
              <a:t>函数名</a:t>
            </a:r>
            <a:r>
              <a:rPr lang="zh-CN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参数表</a:t>
            </a:r>
            <a:r>
              <a:rPr lang="zh-CN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1752600" y="4419601"/>
            <a:ext cx="8382000" cy="5032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       </a:t>
            </a:r>
            <a:endParaRPr lang="zh-CN" altLang="zh-CN" sz="2800">
              <a:solidFill>
                <a:srgbClr val="000000"/>
              </a:solidFill>
              <a:ea typeface="黑体" pitchFamily="49" charset="-122"/>
            </a:endParaRPr>
          </a:p>
        </p:txBody>
      </p:sp>
      <p:sp>
        <p:nvSpPr>
          <p:cNvPr id="412677" name="Comment 5"/>
          <p:cNvSpPr>
            <a:spLocks noChangeArrowheads="1"/>
          </p:cNvSpPr>
          <p:nvPr/>
        </p:nvSpPr>
        <p:spPr bwMode="auto">
          <a:xfrm>
            <a:off x="3417889" y="3675064"/>
            <a:ext cx="4937125" cy="1901825"/>
          </a:xfrm>
          <a:prstGeom prst="flowChartAlternateProcess">
            <a:avLst/>
          </a:prstGeom>
          <a:solidFill>
            <a:srgbClr val="D9E8FF"/>
          </a:solidFill>
          <a:ln w="9525" cmpd="sng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int  </a:t>
            </a:r>
            <a:r>
              <a:rPr lang="zh-CN" altLang="zh-CN" sz="2400" b="1" dirty="0">
                <a:solidFill>
                  <a:srgbClr val="FF0000"/>
                </a:solidFill>
              </a:rPr>
              <a:t>max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000000"/>
                </a:solidFill>
              </a:rPr>
              <a:t>int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</a:rPr>
              <a:t>x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</a:rPr>
              <a:t> int y 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{  if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</a:rPr>
              <a:t>x</a:t>
            </a:r>
            <a:r>
              <a:rPr lang="zh-CN" altLang="zh-CN" sz="2400" dirty="0">
                <a:solidFill>
                  <a:srgbClr val="000000"/>
                </a:solidFill>
              </a:rPr>
              <a:t>&gt;</a:t>
            </a:r>
            <a:r>
              <a:rPr lang="zh-CN" altLang="zh-CN" sz="2400" b="1" dirty="0">
                <a:solidFill>
                  <a:srgbClr val="000000"/>
                </a:solidFill>
              </a:rPr>
              <a:t>y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zh-CN" sz="2400" b="1" dirty="0">
                <a:solidFill>
                  <a:srgbClr val="000000"/>
                </a:solidFill>
              </a:rPr>
              <a:t> return x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   else  return y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  </a:t>
            </a:r>
            <a:r>
              <a:rPr lang="zh-CN" altLang="zh-CN" sz="2400" b="1" dirty="0">
                <a:solidFill>
                  <a:srgbClr val="000000"/>
                </a:solidFill>
              </a:rPr>
              <a:t>}</a:t>
            </a:r>
            <a:endParaRPr lang="zh-CN" altLang="zh-CN" sz="2400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2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6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ChangeArrowheads="1"/>
          </p:cNvSpPr>
          <p:nvPr/>
        </p:nvSpPr>
        <p:spPr bwMode="auto">
          <a:xfrm>
            <a:off x="2419350" y="2836864"/>
            <a:ext cx="7969250" cy="13080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360000">
            <a:spAutoFit/>
          </a:bodyPr>
          <a:lstStyle/>
          <a:p>
            <a:pPr marL="271463" indent="-271463"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 dirty="0">
                <a:latin typeface="黑体" pitchFamily="49" charset="-122"/>
              </a:rPr>
              <a:t>形式参数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必须</a:t>
            </a:r>
            <a:r>
              <a:rPr lang="zh-CN" altLang="en-US" sz="2400" b="1" dirty="0">
                <a:latin typeface="黑体" pitchFamily="49" charset="-122"/>
              </a:rPr>
              <a:t>是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变量</a:t>
            </a:r>
            <a:r>
              <a:rPr lang="zh-CN" altLang="en-US" sz="2400" b="1" dirty="0">
                <a:latin typeface="黑体" pitchFamily="49" charset="-122"/>
              </a:rPr>
              <a:t>名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Times New Roman" pitchFamily="18" charset="0"/>
              </a:rPr>
              <a:t>是标识符，函数对是另一个定义变量的位置，要求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一个保留字只能定义一个变量</a:t>
            </a:r>
            <a:endParaRPr lang="zh-CN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</a:endParaRP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5013" y="1185864"/>
            <a:ext cx="8515350" cy="1692275"/>
          </a:xfrm>
        </p:spPr>
        <p:txBody>
          <a:bodyPr/>
          <a:lstStyle/>
          <a:p>
            <a:pPr marL="271463" indent="-271463">
              <a:spcBef>
                <a:spcPct val="50000"/>
              </a:spcBef>
              <a:buNone/>
            </a:pPr>
            <a:r>
              <a:rPr lang="zh-CN" altLang="zh-CN" sz="2400" b="1" dirty="0">
                <a:latin typeface="Times New Roman" pitchFamily="18" charset="0"/>
              </a:rPr>
              <a:t>3) </a:t>
            </a:r>
            <a:r>
              <a:rPr lang="zh-CN" altLang="en-US" sz="2400" b="1" dirty="0">
                <a:latin typeface="黑体" pitchFamily="49" charset="-122"/>
              </a:rPr>
              <a:t>参数表</a:t>
            </a:r>
            <a:endParaRPr lang="zh-CN" altLang="en-US" sz="2400" b="1" dirty="0">
              <a:latin typeface="Times New Roman" pitchFamily="18" charset="0"/>
            </a:endParaRPr>
          </a:p>
          <a:p>
            <a:pPr marL="711200" lvl="1" indent="-260350">
              <a:lnSpc>
                <a:spcPct val="110000"/>
              </a:lnSpc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 dirty="0">
                <a:latin typeface="黑体" pitchFamily="49" charset="-122"/>
              </a:rPr>
              <a:t>定义函数时</a:t>
            </a:r>
            <a:r>
              <a:rPr lang="zh-CN" altLang="en-US" sz="2400" b="1" dirty="0">
                <a:latin typeface="Courier New" pitchFamily="49" charset="0"/>
              </a:rPr>
              <a:t>参数表中的</a:t>
            </a:r>
            <a:r>
              <a:rPr lang="zh-CN" altLang="en-US" sz="2400" b="1" dirty="0">
                <a:latin typeface="黑体" pitchFamily="49" charset="-122"/>
              </a:rPr>
              <a:t>参数称为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</a:rPr>
              <a:t>形式参数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</a:rPr>
              <a:t>形参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49" charset="-122"/>
              </a:rPr>
              <a:t>)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黑体" pitchFamily="49" charset="-122"/>
              </a:rPr>
              <a:t>用逗号分隔</a:t>
            </a:r>
            <a:r>
              <a:rPr lang="zh-CN" altLang="en-US" sz="2000" b="1" dirty="0">
                <a:latin typeface="黑体" pitchFamily="49" charset="-122"/>
              </a:rPr>
              <a:t>。</a:t>
            </a:r>
            <a:r>
              <a:rPr lang="zh-CN" altLang="en-US" sz="2400" b="1" dirty="0">
                <a:latin typeface="黑体" pitchFamily="49" charset="-122"/>
              </a:rPr>
              <a:t> </a:t>
            </a:r>
            <a:r>
              <a:rPr lang="zh-CN" altLang="en-US" sz="1800" b="1" dirty="0">
                <a:latin typeface="黑体" pitchFamily="49" charset="-122"/>
              </a:rPr>
              <a:t> </a:t>
            </a:r>
            <a:r>
              <a:rPr lang="zh-CN" altLang="en-US" sz="2400" b="1" dirty="0">
                <a:latin typeface="黑体" pitchFamily="49" charset="-122"/>
              </a:rPr>
              <a:t>如</a:t>
            </a:r>
            <a:r>
              <a:rPr lang="zh-CN" altLang="zh-CN" sz="2400" b="1" dirty="0">
                <a:latin typeface="Times New Roman" pitchFamily="18" charset="0"/>
              </a:rPr>
              <a:t>: </a:t>
            </a:r>
            <a:r>
              <a:rPr lang="zh-CN" altLang="zh-CN" sz="2400" b="1" dirty="0"/>
              <a:t>      int  max</a:t>
            </a:r>
            <a:r>
              <a:rPr lang="zh-CN" altLang="zh-CN" sz="2400" b="1" dirty="0"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chemeClr val="hlink"/>
                </a:solidFill>
              </a:rPr>
              <a:t>int  x 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chemeClr val="hlink"/>
                </a:solidFill>
              </a:rPr>
              <a:t> int  y 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  <a:r>
              <a:rPr lang="zh-CN" altLang="zh-CN" sz="2400" b="1" dirty="0">
                <a:solidFill>
                  <a:srgbClr val="2E2EBA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13700" name="Rectangle 4"/>
          <p:cNvSpPr>
            <a:spLocks noGrp="1" noChangeArrowheads="1"/>
          </p:cNvSpPr>
          <p:nvPr>
            <p:ph type="title"/>
          </p:nvPr>
        </p:nvSpPr>
        <p:spPr>
          <a:xfrm>
            <a:off x="3251201" y="114301"/>
            <a:ext cx="6365875" cy="657225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楷体_GB2312" pitchFamily="49" charset="-122"/>
              </a:rPr>
              <a:t>函数类型  函数名</a:t>
            </a:r>
            <a:r>
              <a:rPr lang="zh-CN" altLang="zh-CN" sz="3200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lang="zh-CN" altLang="en-US" sz="3200">
                <a:solidFill>
                  <a:schemeClr val="folHlink"/>
                </a:solidFill>
                <a:latin typeface="楷体_GB2312" pitchFamily="49" charset="-122"/>
              </a:rPr>
              <a:t>参数表</a:t>
            </a:r>
            <a:r>
              <a:rPr lang="zh-CN" altLang="zh-CN" sz="3200">
                <a:solidFill>
                  <a:schemeClr val="tx1"/>
                </a:solidFill>
                <a:latin typeface="楷体_GB2312" pitchFamily="49" charset="-122"/>
              </a:rPr>
              <a:t>)</a:t>
            </a:r>
          </a:p>
        </p:txBody>
      </p:sp>
      <p:sp>
        <p:nvSpPr>
          <p:cNvPr id="413703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74826" y="765175"/>
            <a:ext cx="360363" cy="287338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13704" name="Rectangle 8"/>
          <p:cNvSpPr>
            <a:spLocks noChangeArrowheads="1"/>
          </p:cNvSpPr>
          <p:nvPr/>
        </p:nvSpPr>
        <p:spPr bwMode="auto">
          <a:xfrm>
            <a:off x="2433639" y="4449764"/>
            <a:ext cx="819886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74638" indent="-274638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形参省略时称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无参函数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但此时函数名后的圆括号不能省。</a:t>
            </a:r>
          </a:p>
        </p:txBody>
      </p:sp>
      <p:sp>
        <p:nvSpPr>
          <p:cNvPr id="413705" name="Text Box 9"/>
          <p:cNvSpPr txBox="1">
            <a:spLocks noChangeArrowheads="1"/>
          </p:cNvSpPr>
          <p:nvPr/>
        </p:nvSpPr>
        <p:spPr bwMode="auto">
          <a:xfrm>
            <a:off x="3683000" y="5027613"/>
            <a:ext cx="180498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dump</a:t>
            </a:r>
            <a:r>
              <a:rPr lang="zh-CN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 )</a:t>
            </a:r>
            <a:endParaRPr lang="zh-CN" altLang="zh-CN" sz="24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{</a:t>
            </a:r>
            <a:r>
              <a:rPr lang="zh-CN" altLang="zh-CN" sz="2400" b="1" dirty="0">
                <a:solidFill>
                  <a:srgbClr val="000000"/>
                </a:solidFill>
                <a:ea typeface="宋体" pitchFamily="2" charset="-122"/>
              </a:rPr>
              <a:t>   </a:t>
            </a:r>
            <a:r>
              <a:rPr lang="zh-CN" altLang="zh-CN" sz="2400" dirty="0">
                <a:solidFill>
                  <a:srgbClr val="000000"/>
                </a:solidFill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964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 animBg="1" autoUpdateAnimBg="0"/>
      <p:bldP spid="413704" grpId="0" autoUpdateAnimBg="0"/>
      <p:bldP spid="41370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63788" y="111125"/>
            <a:ext cx="7239000" cy="668338"/>
          </a:xfrm>
        </p:spPr>
        <p:txBody>
          <a:bodyPr/>
          <a:lstStyle/>
          <a:p>
            <a:r>
              <a:rPr lang="zh-CN" altLang="en-US" sz="3200" dirty="0"/>
              <a:t>常见的程序设计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错误</a:t>
            </a:r>
            <a:r>
              <a:rPr lang="zh-CN" altLang="en-US" sz="3200" dirty="0"/>
              <a:t>有</a:t>
            </a:r>
            <a:r>
              <a:rPr lang="zh-CN" altLang="zh-CN" sz="3200" dirty="0">
                <a:latin typeface="Times New Roman" pitchFamily="18" charset="0"/>
              </a:rPr>
              <a:t>: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277939"/>
            <a:ext cx="8401050" cy="4459287"/>
          </a:xfrm>
        </p:spPr>
        <p:txBody>
          <a:bodyPr/>
          <a:lstStyle/>
          <a:p>
            <a:pPr marL="280988" indent="-280988">
              <a:spcBef>
                <a:spcPct val="50000"/>
              </a:spcBef>
            </a:pPr>
            <a:r>
              <a:rPr lang="zh-CN" altLang="en-US" sz="2800" b="1" dirty="0"/>
              <a:t>把同一种类型的参数声明写成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marL="280988" indent="-280988">
              <a:lnSpc>
                <a:spcPct val="110000"/>
              </a:lnSpc>
              <a:spcBef>
                <a:spcPct val="3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 dirty="0"/>
              <a:t>                   </a:t>
            </a:r>
            <a:r>
              <a:rPr lang="zh-CN" altLang="zh-CN" sz="2800" b="1" dirty="0">
                <a:latin typeface="Arial" pitchFamily="34" charset="0"/>
              </a:rPr>
              <a:t>float  max</a:t>
            </a:r>
            <a:r>
              <a:rPr lang="zh-CN" altLang="zh-CN" sz="2800" b="1" dirty="0">
                <a:latin typeface="Times New Roman" pitchFamily="18" charset="0"/>
              </a:rPr>
              <a:t>( </a:t>
            </a:r>
            <a:r>
              <a:rPr lang="zh-CN" altLang="zh-CN" sz="2800" b="1" dirty="0">
                <a:solidFill>
                  <a:schemeClr val="folHlink"/>
                </a:solidFill>
                <a:latin typeface="Arial" pitchFamily="34" charset="0"/>
              </a:rPr>
              <a:t>float</a:t>
            </a:r>
            <a:r>
              <a:rPr lang="zh-CN" altLang="zh-CN" sz="2800" b="1" dirty="0">
                <a:solidFill>
                  <a:schemeClr val="folHlink"/>
                </a:solidFill>
              </a:rPr>
              <a:t>  x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chemeClr val="folHlink"/>
                </a:solidFill>
              </a:rPr>
              <a:t> y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 marL="280988" indent="-280988">
              <a:lnSpc>
                <a:spcPct val="110000"/>
              </a:lnSpc>
              <a:spcBef>
                <a:spcPct val="35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>
                <a:latin typeface="Times New Roman" pitchFamily="18" charset="0"/>
              </a:rPr>
              <a:t>   </a:t>
            </a:r>
            <a:endParaRPr lang="en-US" altLang="zh-CN" sz="2800" b="1">
              <a:latin typeface="Times New Roman" pitchFamily="18" charset="0"/>
            </a:endParaRPr>
          </a:p>
          <a:p>
            <a:pPr marL="280988" indent="-280988">
              <a:lnSpc>
                <a:spcPct val="110000"/>
              </a:lnSpc>
              <a:spcBef>
                <a:spcPct val="35000"/>
              </a:spcBef>
              <a:buClr>
                <a:srgbClr val="009900"/>
              </a:buClr>
              <a:buSzPct val="85000"/>
              <a:buNone/>
            </a:pPr>
            <a:endParaRPr lang="en-US" altLang="zh-CN" sz="2800" b="1">
              <a:solidFill>
                <a:schemeClr val="hlink"/>
              </a:solidFill>
              <a:latin typeface="Times New Roman" pitchFamily="18" charset="0"/>
            </a:endParaRPr>
          </a:p>
          <a:p>
            <a:pPr marL="280988" indent="-280988">
              <a:lnSpc>
                <a:spcPct val="110000"/>
              </a:lnSpc>
              <a:spcBef>
                <a:spcPct val="35000"/>
              </a:spcBef>
              <a:buClr>
                <a:srgbClr val="009900"/>
              </a:buClr>
              <a:buSzPct val="85000"/>
              <a:buNone/>
            </a:pP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</a:rPr>
              <a:t>正确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itchFamily="18" charset="0"/>
              </a:rPr>
              <a:t>的是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:  </a:t>
            </a:r>
            <a:r>
              <a:rPr lang="zh-CN" altLang="zh-CN" sz="2800" b="1" dirty="0">
                <a:solidFill>
                  <a:schemeClr val="hlink"/>
                </a:solidFill>
                <a:latin typeface="Arial" pitchFamily="34" charset="0"/>
              </a:rPr>
              <a:t>float  max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( </a:t>
            </a:r>
            <a:r>
              <a:rPr lang="zh-CN" altLang="zh-CN" sz="2800" b="1" dirty="0">
                <a:solidFill>
                  <a:schemeClr val="hlink"/>
                </a:solidFill>
                <a:latin typeface="Arial" pitchFamily="34" charset="0"/>
              </a:rPr>
              <a:t>float  x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,</a:t>
            </a:r>
            <a:r>
              <a:rPr lang="zh-CN" altLang="zh-CN" sz="2800" b="1" dirty="0">
                <a:solidFill>
                  <a:schemeClr val="hlink"/>
                </a:solidFill>
              </a:rPr>
              <a:t>  </a:t>
            </a:r>
            <a:r>
              <a:rPr lang="zh-CN" altLang="zh-CN" sz="2800" b="1" dirty="0">
                <a:solidFill>
                  <a:schemeClr val="hlink"/>
                </a:solidFill>
                <a:latin typeface="Arial" pitchFamily="34" charset="0"/>
              </a:rPr>
              <a:t>float  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</a:rPr>
              <a:t>y</a:t>
            </a:r>
            <a:r>
              <a:rPr lang="zh-CN" altLang="zh-CN" sz="2800" b="1">
                <a:solidFill>
                  <a:schemeClr val="hlink"/>
                </a:solidFill>
              </a:rPr>
              <a:t> </a:t>
            </a:r>
            <a:r>
              <a:rPr lang="zh-CN" altLang="zh-CN" sz="2800" b="1">
                <a:solidFill>
                  <a:schemeClr val="hlink"/>
                </a:solidFill>
                <a:latin typeface="Times New Roman" pitchFamily="18" charset="0"/>
              </a:rPr>
              <a:t>)</a:t>
            </a:r>
            <a:endParaRPr lang="en-US" altLang="zh-CN" sz="2800" b="1">
              <a:solidFill>
                <a:schemeClr val="hlink"/>
              </a:solidFill>
              <a:latin typeface="Times New Roman" pitchFamily="18" charset="0"/>
            </a:endParaRPr>
          </a:p>
          <a:p>
            <a:pPr marL="280988" indent="-280988">
              <a:lnSpc>
                <a:spcPct val="110000"/>
              </a:lnSpc>
              <a:spcBef>
                <a:spcPct val="35000"/>
              </a:spcBef>
              <a:buClr>
                <a:srgbClr val="009900"/>
              </a:buClr>
              <a:buSzPct val="85000"/>
              <a:buNone/>
            </a:pPr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</a:rPr>
              <a:t>                    {…}</a:t>
            </a:r>
            <a:endParaRPr lang="zh-CN" altLang="zh-CN" sz="2800" b="1" dirty="0">
              <a:solidFill>
                <a:schemeClr val="hlink"/>
              </a:solidFill>
              <a:latin typeface="Times New Roman" pitchFamily="18" charset="0"/>
            </a:endParaRPr>
          </a:p>
          <a:p>
            <a:pPr marL="280988" indent="-280988">
              <a:lnSpc>
                <a:spcPct val="110000"/>
              </a:lnSpc>
              <a:spcBef>
                <a:spcPct val="25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800" b="1">
                <a:latin typeface="Times New Roman" pitchFamily="18" charset="0"/>
              </a:rPr>
              <a:t>  </a:t>
            </a:r>
            <a:r>
              <a:rPr lang="en-US" altLang="zh-CN" sz="2800" b="1">
                <a:latin typeface="Times New Roman" pitchFamily="18" charset="0"/>
              </a:rPr>
              <a:t>  </a:t>
            </a:r>
            <a:r>
              <a:rPr lang="zh-CN" altLang="en-US" sz="2800" b="1">
                <a:latin typeface="Times New Roman" pitchFamily="18" charset="0"/>
              </a:rPr>
              <a:t>或</a:t>
            </a:r>
            <a:r>
              <a:rPr lang="zh-CN" altLang="zh-CN" sz="2800" b="1" dirty="0">
                <a:latin typeface="Times New Roman" pitchFamily="18" charset="0"/>
              </a:rPr>
              <a:t>:  </a:t>
            </a:r>
            <a:r>
              <a:rPr lang="zh-CN" altLang="zh-CN" sz="2800" b="1" dirty="0">
                <a:latin typeface="Arial" pitchFamily="34" charset="0"/>
              </a:rPr>
              <a:t>float  max</a:t>
            </a:r>
            <a:r>
              <a:rPr lang="zh-CN" altLang="zh-CN" sz="2800" b="1" dirty="0">
                <a:latin typeface="Times New Roman" pitchFamily="18" charset="0"/>
              </a:rPr>
              <a:t>( </a:t>
            </a:r>
            <a:r>
              <a:rPr lang="zh-CN" altLang="zh-CN" sz="2800" b="1" dirty="0">
                <a:latin typeface="Arial" pitchFamily="34" charset="0"/>
              </a:rPr>
              <a:t>x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y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) </a:t>
            </a:r>
          </a:p>
          <a:p>
            <a:pPr marL="280988" indent="-280988">
              <a:lnSpc>
                <a:spcPct val="110000"/>
              </a:lnSpc>
              <a:spcBef>
                <a:spcPct val="15000"/>
              </a:spcBef>
              <a:buClr>
                <a:srgbClr val="009900"/>
              </a:buClr>
              <a:buSzPct val="85000"/>
              <a:buNone/>
            </a:pPr>
            <a:r>
              <a:rPr lang="en-US" altLang="zh-CN" sz="2800" b="1">
                <a:latin typeface="Arial" pitchFamily="34" charset="0"/>
              </a:rPr>
              <a:t>          </a:t>
            </a:r>
            <a:r>
              <a:rPr lang="zh-CN" altLang="zh-CN" sz="2800" b="1">
                <a:latin typeface="Arial" pitchFamily="34" charset="0"/>
              </a:rPr>
              <a:t>float  </a:t>
            </a:r>
            <a:r>
              <a:rPr lang="zh-CN" altLang="zh-CN" sz="2800" b="1" dirty="0">
                <a:latin typeface="Arial" pitchFamily="34" charset="0"/>
              </a:rPr>
              <a:t>x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</a:t>
            </a:r>
            <a:r>
              <a:rPr lang="zh-CN" altLang="zh-CN" sz="2800" b="1">
                <a:latin typeface="Arial" pitchFamily="34" charset="0"/>
              </a:rPr>
              <a:t>y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;</a:t>
            </a:r>
            <a:endParaRPr lang="en-US" altLang="zh-CN" sz="2800" b="1">
              <a:latin typeface="Times New Roman" pitchFamily="18" charset="0"/>
            </a:endParaRPr>
          </a:p>
          <a:p>
            <a:pPr marL="280988" indent="-280988">
              <a:lnSpc>
                <a:spcPct val="110000"/>
              </a:lnSpc>
              <a:spcBef>
                <a:spcPct val="15000"/>
              </a:spcBef>
              <a:buClr>
                <a:srgbClr val="009900"/>
              </a:buClr>
              <a:buSzPct val="85000"/>
              <a:buNone/>
            </a:pPr>
            <a:r>
              <a:rPr lang="en-US" altLang="zh-CN" sz="2800" b="1">
                <a:latin typeface="Times New Roman" pitchFamily="18" charset="0"/>
              </a:rPr>
              <a:t>             {…}</a:t>
            </a:r>
            <a:endParaRPr lang="zh-CN" altLang="zh-CN" sz="2800" b="1" dirty="0">
              <a:latin typeface="Times New Roman" pitchFamily="18" charset="0"/>
            </a:endParaRPr>
          </a:p>
        </p:txBody>
      </p:sp>
      <p:sp>
        <p:nvSpPr>
          <p:cNvPr id="416772" name="Text Box 4"/>
          <p:cNvSpPr txBox="1">
            <a:spLocks noChangeArrowheads="1"/>
          </p:cNvSpPr>
          <p:nvPr/>
        </p:nvSpPr>
        <p:spPr bwMode="auto">
          <a:xfrm>
            <a:off x="7962900" y="1882776"/>
            <a:ext cx="68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4000" b="1">
                <a:solidFill>
                  <a:srgbClr val="FF0000"/>
                </a:solidFill>
                <a:ea typeface="宋体" pitchFamily="2" charset="-122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264960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6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2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63788" y="111125"/>
            <a:ext cx="7239000" cy="668338"/>
          </a:xfrm>
        </p:spPr>
        <p:txBody>
          <a:bodyPr/>
          <a:lstStyle/>
          <a:p>
            <a:r>
              <a:rPr lang="zh-CN" altLang="en-US" sz="3200" dirty="0"/>
              <a:t>常见的程序设计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错误</a:t>
            </a:r>
            <a:r>
              <a:rPr lang="zh-CN" altLang="en-US" sz="3200" dirty="0"/>
              <a:t>有</a:t>
            </a:r>
            <a:r>
              <a:rPr lang="zh-CN" altLang="zh-CN" sz="3200" dirty="0">
                <a:latin typeface="Times New Roman" pitchFamily="18" charset="0"/>
              </a:rPr>
              <a:t>: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277939"/>
            <a:ext cx="8401050" cy="4459287"/>
          </a:xfrm>
        </p:spPr>
        <p:txBody>
          <a:bodyPr/>
          <a:lstStyle/>
          <a:p>
            <a:pPr marL="280988" indent="-280988">
              <a:lnSpc>
                <a:spcPct val="110000"/>
              </a:lnSpc>
              <a:spcBef>
                <a:spcPct val="35000"/>
              </a:spcBef>
            </a:pPr>
            <a:r>
              <a:rPr lang="zh-CN" altLang="en-US" b="1">
                <a:latin typeface="Times New Roman" pitchFamily="18" charset="0"/>
              </a:rPr>
              <a:t>在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定义函数</a:t>
            </a:r>
            <a:r>
              <a:rPr lang="zh-CN" altLang="en-US" b="1" dirty="0">
                <a:latin typeface="Times New Roman" pitchFamily="18" charset="0"/>
              </a:rPr>
              <a:t>时</a:t>
            </a:r>
            <a:r>
              <a:rPr lang="zh-CN" altLang="zh-CN" b="1" dirty="0">
                <a:latin typeface="Times New Roman" pitchFamily="18" charset="0"/>
              </a:rPr>
              <a:t>, </a:t>
            </a:r>
            <a:r>
              <a:rPr lang="zh-CN" altLang="en-US" b="1" dirty="0">
                <a:latin typeface="Times New Roman" pitchFamily="18" charset="0"/>
              </a:rPr>
              <a:t>在右圆括号后使用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分号</a:t>
            </a:r>
            <a:r>
              <a:rPr lang="zh-CN" altLang="en-US" b="1" dirty="0">
                <a:latin typeface="Times New Roman" pitchFamily="18" charset="0"/>
              </a:rPr>
              <a:t>。</a:t>
            </a:r>
          </a:p>
          <a:p>
            <a:pPr marL="280988" indent="-280988">
              <a:lnSpc>
                <a:spcPct val="110000"/>
              </a:lnSpc>
              <a:spcBef>
                <a:spcPct val="30000"/>
              </a:spcBef>
              <a:buClr>
                <a:srgbClr val="009900"/>
              </a:buClr>
              <a:buSzPct val="85000"/>
              <a:buNone/>
            </a:pPr>
            <a:r>
              <a:rPr lang="zh-CN" altLang="en-US" b="1" dirty="0">
                <a:latin typeface="Times New Roman" pitchFamily="18" charset="0"/>
              </a:rPr>
              <a:t>              如</a:t>
            </a:r>
            <a:r>
              <a:rPr lang="zh-CN" altLang="zh-CN" b="1">
                <a:latin typeface="Times New Roman" pitchFamily="18" charset="0"/>
              </a:rPr>
              <a:t>:   </a:t>
            </a:r>
            <a:r>
              <a:rPr lang="zh-CN" altLang="zh-CN" b="1">
                <a:latin typeface="Arial" pitchFamily="34" charset="0"/>
              </a:rPr>
              <a:t>float  </a:t>
            </a:r>
            <a:r>
              <a:rPr lang="zh-CN" altLang="zh-CN" b="1" dirty="0">
                <a:latin typeface="Arial" pitchFamily="34" charset="0"/>
              </a:rPr>
              <a:t>max</a:t>
            </a:r>
            <a:r>
              <a:rPr lang="zh-CN" altLang="zh-CN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zh-CN" b="1" dirty="0">
                <a:latin typeface="Arial" pitchFamily="34" charset="0"/>
              </a:rPr>
              <a:t>float  x</a:t>
            </a:r>
            <a:r>
              <a:rPr lang="zh-CN" altLang="zh-CN" b="1" dirty="0">
                <a:latin typeface="Times New Roman" pitchFamily="18" charset="0"/>
              </a:rPr>
              <a:t>,</a:t>
            </a:r>
            <a:r>
              <a:rPr lang="zh-CN" altLang="zh-CN" b="1" dirty="0"/>
              <a:t> </a:t>
            </a:r>
            <a:r>
              <a:rPr lang="zh-CN" altLang="zh-CN" b="1" dirty="0">
                <a:latin typeface="Arial" pitchFamily="34" charset="0"/>
              </a:rPr>
              <a:t>float  y</a:t>
            </a:r>
            <a:r>
              <a:rPr lang="zh-CN" altLang="zh-CN" b="1">
                <a:latin typeface="Times New Roman" pitchFamily="18" charset="0"/>
              </a:rPr>
              <a:t>) </a:t>
            </a:r>
            <a:r>
              <a:rPr lang="zh-CN" altLang="zh-CN" b="1">
                <a:solidFill>
                  <a:schemeClr val="hlink"/>
                </a:solidFill>
                <a:latin typeface="Times New Roman" pitchFamily="18" charset="0"/>
              </a:rPr>
              <a:t>;</a:t>
            </a:r>
            <a:endParaRPr lang="en-US" altLang="zh-CN" b="1">
              <a:solidFill>
                <a:schemeClr val="hlink"/>
              </a:solidFill>
              <a:latin typeface="Times New Roman" pitchFamily="18" charset="0"/>
            </a:endParaRPr>
          </a:p>
          <a:p>
            <a:pPr marL="280988" indent="-280988">
              <a:lnSpc>
                <a:spcPct val="110000"/>
              </a:lnSpc>
              <a:spcBef>
                <a:spcPct val="30000"/>
              </a:spcBef>
              <a:buClr>
                <a:srgbClr val="009900"/>
              </a:buClr>
              <a:buSzPct val="85000"/>
              <a:buNone/>
            </a:pPr>
            <a:r>
              <a:rPr lang="en-US" altLang="zh-CN" b="1">
                <a:solidFill>
                  <a:schemeClr val="hlink"/>
                </a:solidFill>
                <a:latin typeface="Times New Roman" pitchFamily="18" charset="0"/>
              </a:rPr>
              <a:t>                       {…}</a:t>
            </a:r>
            <a:endParaRPr lang="zh-CN" altLang="zh-CN" b="1" dirty="0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416772" name="Text Box 4"/>
          <p:cNvSpPr txBox="1">
            <a:spLocks noChangeArrowheads="1"/>
          </p:cNvSpPr>
          <p:nvPr/>
        </p:nvSpPr>
        <p:spPr bwMode="auto">
          <a:xfrm>
            <a:off x="9779466" y="1988840"/>
            <a:ext cx="68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4000" b="1">
                <a:solidFill>
                  <a:srgbClr val="FF0000"/>
                </a:solidFill>
                <a:ea typeface="宋体" pitchFamily="2" charset="-122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226829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6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2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300289" y="120651"/>
            <a:ext cx="8162925" cy="747713"/>
          </a:xfrm>
        </p:spPr>
        <p:txBody>
          <a:bodyPr/>
          <a:lstStyle/>
          <a:p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函数体</a:t>
            </a:r>
            <a:r>
              <a:rPr lang="zh-CN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用来完成具体任务的一个程序段</a:t>
            </a:r>
            <a:r>
              <a:rPr lang="zh-CN" altLang="en-US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。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5638" y="1338263"/>
            <a:ext cx="8382000" cy="476091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         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数据说明</a:t>
            </a: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	       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执行语句</a:t>
            </a:r>
          </a:p>
          <a:p>
            <a:pPr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   </a:t>
            </a:r>
          </a:p>
        </p:txBody>
      </p:sp>
      <p:sp>
        <p:nvSpPr>
          <p:cNvPr id="418820" name="AutoShape 4"/>
          <p:cNvSpPr>
            <a:spLocks/>
          </p:cNvSpPr>
          <p:nvPr/>
        </p:nvSpPr>
        <p:spPr bwMode="auto">
          <a:xfrm>
            <a:off x="3352800" y="149225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 cmpd="sng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CC00CC"/>
              </a:solidFill>
            </a:endParaRPr>
          </a:p>
        </p:txBody>
      </p:sp>
      <p:sp>
        <p:nvSpPr>
          <p:cNvPr id="418821" name="Comment 5"/>
          <p:cNvSpPr>
            <a:spLocks noChangeArrowheads="1"/>
          </p:cNvSpPr>
          <p:nvPr/>
        </p:nvSpPr>
        <p:spPr bwMode="auto">
          <a:xfrm>
            <a:off x="2962276" y="2643189"/>
            <a:ext cx="5661025" cy="2111375"/>
          </a:xfrm>
          <a:prstGeom prst="flowChartProcess">
            <a:avLst/>
          </a:prstGeom>
          <a:solidFill>
            <a:srgbClr val="D1E4FF"/>
          </a:solidFill>
          <a:ln w="9525" cmpd="sng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int  max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( </a:t>
            </a:r>
            <a:r>
              <a:rPr lang="zh-CN" altLang="zh-CN" sz="2400" b="1">
                <a:solidFill>
                  <a:srgbClr val="000000"/>
                </a:solidFill>
              </a:rPr>
              <a:t>int  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zh-CN" sz="2400" b="1">
                <a:solidFill>
                  <a:srgbClr val="000000"/>
                </a:solidFill>
              </a:rPr>
              <a:t>int  y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</a:rPr>
              <a:t>{</a:t>
            </a:r>
            <a:r>
              <a:rPr lang="zh-CN" altLang="zh-CN" sz="2400" b="1">
                <a:solidFill>
                  <a:srgbClr val="000000"/>
                </a:solidFill>
              </a:rPr>
              <a:t> </a:t>
            </a:r>
            <a:r>
              <a:rPr lang="zh-CN" altLang="zh-CN" sz="2400" b="1">
                <a:solidFill>
                  <a:srgbClr val="FF0000"/>
                </a:solidFill>
              </a:rPr>
              <a:t>int  z</a:t>
            </a:r>
            <a:r>
              <a:rPr lang="zh-CN" altLang="zh-CN" sz="2400" b="1">
                <a:solidFill>
                  <a:srgbClr val="000000"/>
                </a:solidFill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400" b="1">
                <a:solidFill>
                  <a:srgbClr val="000000"/>
                </a:solidFill>
              </a:rPr>
              <a:t>    </a:t>
            </a:r>
            <a:r>
              <a:rPr lang="zh-CN" altLang="zh-CN" sz="2000">
                <a:solidFill>
                  <a:srgbClr val="1C1C1C"/>
                </a:solidFill>
              </a:rPr>
              <a:t>/</a:t>
            </a:r>
            <a:r>
              <a:rPr lang="zh-CN" altLang="zh-CN" sz="2000" b="1">
                <a:solidFill>
                  <a:srgbClr val="1C1C1C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en-US" sz="2000" b="1">
                <a:solidFill>
                  <a:srgbClr val="1C1C1C"/>
                </a:solidFill>
                <a:latin typeface="黑体" pitchFamily="49" charset="-122"/>
                <a:ea typeface="黑体" pitchFamily="49" charset="-122"/>
              </a:rPr>
              <a:t>本函数体内所用变量的说明*</a:t>
            </a:r>
            <a:r>
              <a:rPr lang="zh-CN" altLang="zh-CN" sz="2000">
                <a:solidFill>
                  <a:srgbClr val="1C1C1C"/>
                </a:solidFill>
                <a:ea typeface="黑体" pitchFamily="49" charset="-122"/>
              </a:rPr>
              <a:t>/</a:t>
            </a:r>
            <a:endParaRPr lang="zh-CN" altLang="zh-CN" sz="2000">
              <a:solidFill>
                <a:srgbClr val="1C1C1C"/>
              </a:solidFill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z=x</a:t>
            </a:r>
            <a:r>
              <a:rPr lang="zh-CN" altLang="zh-CN" sz="2400">
                <a:solidFill>
                  <a:srgbClr val="000000"/>
                </a:solidFill>
              </a:rPr>
              <a:t>&gt;</a:t>
            </a:r>
            <a:r>
              <a:rPr lang="zh-CN" altLang="zh-CN" sz="2400" b="1">
                <a:solidFill>
                  <a:srgbClr val="000000"/>
                </a:solidFill>
              </a:rPr>
              <a:t>y ? x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zh-CN" altLang="zh-CN" sz="2400" b="1">
                <a:solidFill>
                  <a:srgbClr val="000000"/>
                </a:solidFill>
              </a:rPr>
              <a:t>y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return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>
                <a:solidFill>
                  <a:srgbClr val="000000"/>
                </a:solidFill>
              </a:rPr>
              <a:t>z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);</a:t>
            </a:r>
          </a:p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418822" name="Rectangle 6"/>
          <p:cNvSpPr>
            <a:spLocks noChangeArrowheads="1"/>
          </p:cNvSpPr>
          <p:nvPr/>
        </p:nvSpPr>
        <p:spPr bwMode="auto">
          <a:xfrm>
            <a:off x="2851438" y="5044280"/>
            <a:ext cx="6165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函数体内若无任何语句时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  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为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空函数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。</a:t>
            </a:r>
          </a:p>
        </p:txBody>
      </p:sp>
      <p:sp>
        <p:nvSpPr>
          <p:cNvPr id="418823" name="Text Box 7"/>
          <p:cNvSpPr txBox="1">
            <a:spLocks noChangeArrowheads="1"/>
          </p:cNvSpPr>
          <p:nvPr/>
        </p:nvSpPr>
        <p:spPr bwMode="auto">
          <a:xfrm>
            <a:off x="7320136" y="5643991"/>
            <a:ext cx="144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dump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 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solidFill>
                  <a:srgbClr val="000000"/>
                </a:solidFill>
              </a:rPr>
              <a:t>{</a:t>
            </a:r>
            <a:r>
              <a:rPr lang="zh-CN" altLang="zh-CN" sz="2400" b="1" dirty="0">
                <a:solidFill>
                  <a:srgbClr val="000000"/>
                </a:solidFill>
              </a:rPr>
              <a:t>   </a:t>
            </a:r>
            <a:r>
              <a:rPr lang="zh-CN" altLang="zh-CN" sz="24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18824" name="Rectangle 8"/>
          <p:cNvSpPr>
            <a:spLocks noChangeArrowheads="1"/>
          </p:cNvSpPr>
          <p:nvPr/>
        </p:nvSpPr>
        <p:spPr bwMode="auto">
          <a:xfrm>
            <a:off x="2336801" y="1554163"/>
            <a:ext cx="10054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结构</a:t>
            </a:r>
            <a:r>
              <a:rPr lang="zh-CN" altLang="zh-CN" sz="28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969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2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363788" y="182564"/>
            <a:ext cx="5486400" cy="668337"/>
          </a:xfrm>
        </p:spPr>
        <p:txBody>
          <a:bodyPr/>
          <a:lstStyle/>
          <a:p>
            <a:r>
              <a:rPr lang="zh-CN" altLang="en-US" sz="3200"/>
              <a:t>注意：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0264" y="1233488"/>
            <a:ext cx="8604248" cy="4583112"/>
          </a:xfrm>
        </p:spPr>
        <p:txBody>
          <a:bodyPr/>
          <a:lstStyle/>
          <a:p>
            <a:pPr marL="274638" indent="-274638">
              <a:lnSpc>
                <a:spcPct val="115000"/>
              </a:lnSpc>
            </a:pPr>
            <a:r>
              <a:rPr lang="zh-CN" altLang="en-US" b="1" dirty="0"/>
              <a:t>在函数体内</a:t>
            </a:r>
            <a:r>
              <a:rPr lang="zh-CN" altLang="en-US" b="1" dirty="0">
                <a:solidFill>
                  <a:schemeClr val="hlink"/>
                </a:solidFill>
              </a:rPr>
              <a:t>不能定义函数</a:t>
            </a:r>
            <a:r>
              <a:rPr lang="zh-CN" altLang="zh-CN" b="1" dirty="0">
                <a:latin typeface="Times New Roman" pitchFamily="18" charset="0"/>
              </a:rPr>
              <a:t>,  </a:t>
            </a:r>
            <a:r>
              <a:rPr lang="zh-CN" altLang="en-US" b="1" dirty="0"/>
              <a:t>即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函数定义不允许嵌套</a:t>
            </a:r>
            <a:r>
              <a:rPr lang="zh-CN" altLang="en-US" b="1" dirty="0"/>
              <a:t>。如</a:t>
            </a:r>
            <a:r>
              <a:rPr lang="zh-CN" altLang="zh-CN" b="1" dirty="0">
                <a:latin typeface="Times New Roman" pitchFamily="18" charset="0"/>
              </a:rPr>
              <a:t>:</a:t>
            </a:r>
          </a:p>
          <a:p>
            <a:pPr marL="274638" indent="-274638">
              <a:lnSpc>
                <a:spcPct val="105000"/>
              </a:lnSpc>
              <a:spcBef>
                <a:spcPct val="40000"/>
              </a:spcBef>
              <a:buClr>
                <a:srgbClr val="CC00CC"/>
              </a:buClr>
              <a:buSzPct val="90000"/>
              <a:buNone/>
            </a:pPr>
            <a:r>
              <a:rPr lang="zh-CN" altLang="zh-CN" b="1" dirty="0"/>
              <a:t>                  </a:t>
            </a:r>
            <a:r>
              <a:rPr lang="zh-CN" altLang="zh-CN" b="1" dirty="0">
                <a:latin typeface="Arial" pitchFamily="34" charset="0"/>
              </a:rPr>
              <a:t>void main</a:t>
            </a:r>
            <a:r>
              <a:rPr lang="zh-CN" altLang="zh-CN" b="1" dirty="0">
                <a:latin typeface="楷体_GB2312" pitchFamily="49" charset="-122"/>
                <a:ea typeface="楷体_GB2312" pitchFamily="49" charset="-122"/>
              </a:rPr>
              <a:t>( )</a:t>
            </a:r>
          </a:p>
          <a:p>
            <a:pPr marL="274638" indent="-274638">
              <a:lnSpc>
                <a:spcPct val="120000"/>
              </a:lnSpc>
              <a:buClr>
                <a:srgbClr val="CC00CC"/>
              </a:buClr>
              <a:buSzPct val="90000"/>
              <a:buNone/>
            </a:pPr>
            <a:r>
              <a:rPr lang="zh-CN" altLang="zh-CN" b="1" dirty="0"/>
              <a:t>                  {   </a:t>
            </a:r>
            <a:r>
              <a:rPr lang="zh-CN" altLang="zh-CN" b="1" dirty="0">
                <a:latin typeface="Arial" pitchFamily="34" charset="0"/>
              </a:rPr>
              <a:t>void</a:t>
            </a:r>
            <a:r>
              <a:rPr lang="zh-CN" altLang="zh-CN" b="1" dirty="0"/>
              <a:t>  </a:t>
            </a:r>
            <a:r>
              <a:rPr lang="zh-CN" altLang="zh-CN" b="1" dirty="0">
                <a:latin typeface="Arial" pitchFamily="34" charset="0"/>
              </a:rPr>
              <a:t>fun</a:t>
            </a:r>
            <a:r>
              <a:rPr lang="zh-CN" altLang="zh-CN" b="1" dirty="0">
                <a:latin typeface="楷体_GB2312" pitchFamily="49" charset="-122"/>
                <a:ea typeface="楷体_GB2312" pitchFamily="49" charset="-122"/>
              </a:rPr>
              <a:t>( )</a:t>
            </a:r>
            <a:r>
              <a:rPr lang="zh-CN" altLang="zh-CN" b="1" dirty="0"/>
              <a:t> </a:t>
            </a:r>
          </a:p>
          <a:p>
            <a:pPr marL="274638" indent="-274638">
              <a:buClr>
                <a:srgbClr val="CC00CC"/>
              </a:buClr>
              <a:buSzPct val="90000"/>
              <a:buNone/>
            </a:pPr>
            <a:r>
              <a:rPr lang="zh-CN" altLang="zh-CN" b="1" dirty="0"/>
              <a:t>                       {    </a:t>
            </a:r>
            <a:r>
              <a:rPr lang="zh-CN" altLang="zh-CN" b="1" dirty="0">
                <a:latin typeface="Times New Roman"/>
                <a:cs typeface="Tahoma" pitchFamily="34" charset="0"/>
              </a:rPr>
              <a:t>…</a:t>
            </a:r>
            <a:endParaRPr lang="zh-CN" altLang="zh-CN" b="1" dirty="0">
              <a:cs typeface="Tahoma" pitchFamily="34" charset="0"/>
            </a:endParaRPr>
          </a:p>
          <a:p>
            <a:pPr marL="274638" indent="-274638">
              <a:buClr>
                <a:srgbClr val="CC00CC"/>
              </a:buClr>
              <a:buSzPct val="90000"/>
              <a:buNone/>
            </a:pPr>
            <a:r>
              <a:rPr lang="zh-CN" altLang="zh-CN" b="1" dirty="0">
                <a:cs typeface="Tahoma" pitchFamily="34" charset="0"/>
              </a:rPr>
              <a:t>                       }</a:t>
            </a:r>
          </a:p>
          <a:p>
            <a:pPr marL="274638" indent="-274638">
              <a:buClr>
                <a:srgbClr val="CC00CC"/>
              </a:buClr>
              <a:buSzPct val="90000"/>
              <a:buNone/>
            </a:pPr>
            <a:r>
              <a:rPr lang="zh-CN" altLang="zh-CN" b="1" dirty="0">
                <a:cs typeface="Tahoma" pitchFamily="34" charset="0"/>
              </a:rPr>
              <a:t>                  }</a:t>
            </a:r>
          </a:p>
        </p:txBody>
      </p:sp>
      <p:sp>
        <p:nvSpPr>
          <p:cNvPr id="419844" name="Text Box 4"/>
          <p:cNvSpPr txBox="1">
            <a:spLocks noChangeArrowheads="1"/>
          </p:cNvSpPr>
          <p:nvPr/>
        </p:nvSpPr>
        <p:spPr bwMode="auto">
          <a:xfrm>
            <a:off x="6750050" y="3921126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FF0000"/>
                </a:solidFill>
                <a:ea typeface="宋体" pitchFamily="2" charset="-122"/>
              </a:rPr>
              <a:t>×</a:t>
            </a:r>
          </a:p>
        </p:txBody>
      </p:sp>
      <p:pic>
        <p:nvPicPr>
          <p:cNvPr id="419845" name="Picture 5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61722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575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3F6B82D-A8A9-2C66-FD37-476C751130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下述函数定义正确的是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6635DA-3FA7-3D38-700D-350652FA18D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329756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fr-F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 f(int x;int y)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C8E60D-731D-50A0-EFC0-2C36FB702BC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4091382"/>
            <a:ext cx="329756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fr-F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 f(int x,y)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6C0C12-387F-0447-5263-1014E8D6637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536160" y="2835602"/>
            <a:ext cx="329756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fr-F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 f(int x,int y)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CB8B09-72AD-C1D1-F3ED-5C4F6DB8057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517080" y="4076627"/>
            <a:ext cx="3297560" cy="139096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fr-F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 </a:t>
            </a:r>
            <a:r>
              <a:rPr lang="fr-FR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f( )</a:t>
            </a:r>
            <a:endParaRPr lang="fr-FR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fr-F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 x,y;</a:t>
            </a:r>
          </a:p>
          <a:p>
            <a:r>
              <a:rPr lang="fr-F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  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30B8882-1207-E3C5-38DD-88247700679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0857E3E-0657-BA0F-4C82-48622E8C60C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650305" y="289989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28E58A5-FB8D-919D-AE6F-09AF1A109C9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617566" y="419691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8C5A556-DFC5-9CFE-51C5-F54E5718A5C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650305" y="414092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7A1F8EE-7E90-5A83-FD0C-8AC8BC9791CD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5C1568D-A4A7-73F2-BC3F-630690F6AAB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BCD3D376-8068-D2BF-38DF-DA8C98DA706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A7C35C9C-3BA6-6DF3-F702-8E97B66512B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650D9B8-3ACE-BD95-4ED9-36C3EE95C4B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0053477-AF62-A587-8BE7-72E79DE5211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055F536-A335-E15C-41DA-6A022CB09AE9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4959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91400" cy="135384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400" b="1" dirty="0">
                <a:solidFill>
                  <a:srgbClr val="2929A7"/>
                </a:solidFill>
              </a:rPr>
              <a:t>下列定义</a:t>
            </a:r>
            <a:r>
              <a:rPr lang="zh-CN" altLang="en-US" sz="2400" b="1" dirty="0">
                <a:solidFill>
                  <a:srgbClr val="2929A7"/>
                </a:solidFill>
              </a:rPr>
              <a:t>中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不正确</a:t>
            </a:r>
            <a:r>
              <a:rPr lang="zh-CN" altLang="zh-CN" sz="2400" b="1" dirty="0">
                <a:solidFill>
                  <a:srgbClr val="2929A7"/>
                </a:solidFill>
              </a:rPr>
              <a:t>的有 ____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177281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Arial" pitchFamily="34" charset="0"/>
              </a:rPr>
              <a:t>#define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PI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zh-CN" sz="2400" b="1" dirty="0">
                <a:latin typeface="Times New Roman" pitchFamily="18" charset="0"/>
              </a:rPr>
              <a:t>.</a:t>
            </a:r>
            <a:r>
              <a:rPr lang="zh-CN" altLang="zh-CN" sz="2400" b="1" dirty="0">
                <a:latin typeface="Arial" pitchFamily="34" charset="0"/>
              </a:rPr>
              <a:t>141592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263006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int max(int </a:t>
            </a:r>
            <a:r>
              <a:rPr lang="en-US" altLang="zh-CN" sz="2400" b="1" dirty="0" err="1">
                <a:latin typeface="Arial" pitchFamily="34" charset="0"/>
              </a:rPr>
              <a:t>x,int</a:t>
            </a:r>
            <a:r>
              <a:rPr lang="en-US" altLang="zh-CN" sz="2400" b="1" dirty="0">
                <a:latin typeface="Arial" pitchFamily="34" charset="0"/>
              </a:rPr>
              <a:t> y)</a:t>
            </a:r>
            <a:endParaRPr lang="zh-CN" altLang="zh-CN" sz="2400" b="1" dirty="0">
              <a:latin typeface="Arial" pitchFamily="34" charset="0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3573016"/>
            <a:ext cx="6400800" cy="151216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Bef>
                <a:spcPct val="4000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max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/>
              <a:t>x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y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  <a:r>
              <a:rPr lang="zh-CN" altLang="zh-CN" sz="2400" b="1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x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y</a:t>
            </a:r>
            <a:r>
              <a:rPr lang="zh-CN" altLang="zh-CN" sz="2400" b="1" dirty="0">
                <a:latin typeface="Times New Roman" pitchFamily="18" charset="0"/>
              </a:rPr>
              <a:t> ;</a:t>
            </a:r>
          </a:p>
          <a:p>
            <a:pPr>
              <a:buFont typeface="Wingdings" pitchFamily="2" charset="2"/>
              <a:buNone/>
            </a:pPr>
            <a:r>
              <a:rPr lang="zh-CN" altLang="zh-CN" sz="2400" b="1" dirty="0"/>
              <a:t> {  }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Arial" pitchFamily="34" charset="0"/>
              </a:rPr>
              <a:t>char</a:t>
            </a:r>
            <a:r>
              <a:rPr lang="zh-CN" altLang="zh-CN" sz="2400" b="1" dirty="0"/>
              <a:t>  c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1837109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2694359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3637309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592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84514" y="511176"/>
            <a:ext cx="5400675" cy="866775"/>
          </a:xfrm>
        </p:spPr>
        <p:txBody>
          <a:bodyPr/>
          <a:lstStyle/>
          <a:p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zh-CN" altLang="zh-CN" sz="4000" b="1" dirty="0">
                <a:latin typeface="楷体_GB2312" pitchFamily="49" charset="-122"/>
                <a:ea typeface="楷体_GB2312" pitchFamily="49" charset="-122"/>
              </a:rPr>
              <a:t>3  </a:t>
            </a: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函数调用</a:t>
            </a:r>
          </a:p>
        </p:txBody>
      </p:sp>
      <p:sp>
        <p:nvSpPr>
          <p:cNvPr id="4208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795713" y="1781175"/>
            <a:ext cx="5689600" cy="4032250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6.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1  </a:t>
            </a:r>
            <a:r>
              <a:rPr lang="zh-CN" altLang="en-US" sz="2800" b="1" dirty="0">
                <a:latin typeface="Courier New" pitchFamily="49" charset="0"/>
                <a:ea typeface="黑体" pitchFamily="49" charset="-122"/>
                <a:hlinkClick r:id="rId2" action="ppaction://hlinksldjump"/>
              </a:rPr>
              <a:t>函数的返回值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15000"/>
              </a:lnSpc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6.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2 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函数调用的一般形式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15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6.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3 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函数的参数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15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6.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4 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hlinkClick r:id="rId5" action="ppaction://hlinksldjump"/>
              </a:rPr>
              <a:t>对被调用函数的说明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20868" name="Picture 4" descr="b14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601" y="6248400"/>
            <a:ext cx="182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7476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222625" y="79376"/>
            <a:ext cx="6248400" cy="76517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3.1  </a:t>
            </a:r>
            <a:r>
              <a:rPr lang="zh-CN" altLang="en-US" sz="3600" dirty="0">
                <a:latin typeface="楷体_GB2312" pitchFamily="49" charset="-122"/>
              </a:rPr>
              <a:t>函数的返回值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2326" y="1095375"/>
            <a:ext cx="8461375" cy="5538788"/>
          </a:xfrm>
        </p:spPr>
        <p:txBody>
          <a:bodyPr/>
          <a:lstStyle/>
          <a:p>
            <a:pPr marL="271463" indent="-271463">
              <a:lnSpc>
                <a:spcPct val="125000"/>
              </a:lnSpc>
              <a:buSzPct val="50000"/>
            </a:pPr>
            <a:r>
              <a:rPr lang="zh-CN" altLang="en-US" sz="2400" b="1" dirty="0">
                <a:latin typeface="Courier New" pitchFamily="49" charset="0"/>
              </a:rPr>
              <a:t>当被调用函数完成一定的功能后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Courier New" pitchFamily="49" charset="0"/>
              </a:rPr>
              <a:t>可将处理的结果返回到调用函数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黑体" pitchFamily="49" charset="-122"/>
              </a:rPr>
              <a:t>这种数据传送称为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函数的返回值</a:t>
            </a:r>
            <a:r>
              <a:rPr lang="zh-CN" altLang="en-US" sz="2400" b="1" dirty="0">
                <a:latin typeface="黑体" pitchFamily="49" charset="-122"/>
              </a:rPr>
              <a:t>。</a:t>
            </a:r>
            <a:endParaRPr lang="zh-CN" altLang="en-US" sz="2400" b="1" dirty="0">
              <a:solidFill>
                <a:schemeClr val="bg2"/>
              </a:solidFill>
            </a:endParaRPr>
          </a:p>
          <a:p>
            <a:pPr marL="271463" indent="-271463">
              <a:lnSpc>
                <a:spcPct val="115000"/>
              </a:lnSpc>
              <a:spcBef>
                <a:spcPct val="60000"/>
              </a:spcBef>
              <a:buSzPct val="50000"/>
            </a:pPr>
            <a:r>
              <a:rPr lang="zh-CN" altLang="en-US" sz="2400" b="1" dirty="0"/>
              <a:t>格式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: 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return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);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  <a:p>
            <a:pPr marL="271463" indent="-271463">
              <a:lnSpc>
                <a:spcPct val="90000"/>
              </a:lnSpc>
              <a:spcBef>
                <a:spcPct val="45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return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 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;</a:t>
            </a:r>
          </a:p>
          <a:p>
            <a:pPr marL="271463" indent="-271463">
              <a:lnSpc>
                <a:spcPct val="125000"/>
              </a:lnSpc>
              <a:spcBef>
                <a:spcPct val="10000"/>
              </a:spcBef>
              <a:buSzPct val="50000"/>
            </a:pPr>
            <a:r>
              <a:rPr lang="zh-CN" altLang="en-US" sz="2400" b="1" dirty="0"/>
              <a:t>作用</a:t>
            </a:r>
            <a:r>
              <a:rPr lang="zh-CN" altLang="zh-CN" sz="2400" b="1" dirty="0">
                <a:latin typeface="Times New Roman" pitchFamily="18" charset="0"/>
              </a:rPr>
              <a:t>:   </a:t>
            </a:r>
          </a:p>
          <a:p>
            <a:pPr marL="806450" lvl="1" indent="-355600">
              <a:lnSpc>
                <a:spcPct val="120000"/>
              </a:lnSpc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altLang="en-US" sz="2400" b="1" dirty="0">
                <a:solidFill>
                  <a:srgbClr val="FF0000"/>
                </a:solidFill>
              </a:rPr>
              <a:t>将表达式的值返回给调用函数</a:t>
            </a:r>
          </a:p>
          <a:p>
            <a:pPr marL="806450" lvl="1" indent="-355600">
              <a:lnSpc>
                <a:spcPct val="120000"/>
              </a:lnSpc>
              <a:spcBef>
                <a:spcPct val="25000"/>
              </a:spcBef>
              <a:buClr>
                <a:srgbClr val="008000"/>
              </a:buClr>
              <a:buSzPct val="85000"/>
              <a:buFont typeface="Wingdings 2" pitchFamily="18" charset="2"/>
              <a:buChar char="ô"/>
            </a:pPr>
            <a:r>
              <a:rPr lang="zh-CN" altLang="en-US" sz="3200" b="1" dirty="0">
                <a:solidFill>
                  <a:srgbClr val="C00000"/>
                </a:solidFill>
              </a:rPr>
              <a:t>结束</a:t>
            </a:r>
            <a:r>
              <a:rPr lang="zh-CN" altLang="en-US" sz="2400" b="1" dirty="0">
                <a:solidFill>
                  <a:srgbClr val="FF0000"/>
                </a:solidFill>
              </a:rPr>
              <a:t>被调用函数的执行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</a:rPr>
              <a:t>返回到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调用处</a:t>
            </a:r>
            <a:r>
              <a:rPr lang="zh-CN" altLang="en-US" sz="2400" b="1" dirty="0">
                <a:solidFill>
                  <a:srgbClr val="FF0000"/>
                </a:solidFill>
              </a:rPr>
              <a:t>。</a:t>
            </a:r>
          </a:p>
        </p:txBody>
      </p:sp>
      <p:sp>
        <p:nvSpPr>
          <p:cNvPr id="421892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03388" y="836614"/>
            <a:ext cx="360362" cy="288925"/>
          </a:xfrm>
          <a:prstGeom prst="actionButtonBackPrevious">
            <a:avLst/>
          </a:prstGeom>
          <a:noFill/>
          <a:ln w="0" cmpd="sng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21893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176463" y="704850"/>
            <a:ext cx="436562" cy="287338"/>
          </a:xfrm>
          <a:prstGeom prst="actionButtonBackPrevious">
            <a:avLst/>
          </a:prstGeom>
          <a:noFill/>
          <a:ln w="0" cmpd="sng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1647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308350" y="17464"/>
            <a:ext cx="6400800" cy="77152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6.3</a:t>
            </a:r>
            <a:r>
              <a:rPr lang="zh-CN" altLang="zh-CN" sz="3600" dirty="0">
                <a:latin typeface="楷体_GB2312" pitchFamily="49" charset="-122"/>
              </a:rPr>
              <a:t>.</a:t>
            </a:r>
            <a:r>
              <a:rPr lang="en-US" altLang="zh-CN" sz="3600" dirty="0">
                <a:latin typeface="楷体_GB2312" pitchFamily="49" charset="-122"/>
              </a:rPr>
              <a:t>1</a:t>
            </a:r>
            <a:r>
              <a:rPr lang="zh-CN" altLang="zh-CN" sz="3600" dirty="0">
                <a:latin typeface="楷体_GB2312" pitchFamily="49" charset="-122"/>
              </a:rPr>
              <a:t>  </a:t>
            </a:r>
            <a:r>
              <a:rPr lang="zh-CN" altLang="en-US" sz="3600" dirty="0">
                <a:latin typeface="楷体_GB2312" pitchFamily="49" charset="-122"/>
              </a:rPr>
              <a:t>函数的返回值</a:t>
            </a:r>
          </a:p>
        </p:txBody>
      </p:sp>
      <p:sp>
        <p:nvSpPr>
          <p:cNvPr id="422917" name="Text Box 5"/>
          <p:cNvSpPr txBox="1">
            <a:spLocks noChangeArrowheads="1"/>
          </p:cNvSpPr>
          <p:nvPr/>
        </p:nvSpPr>
        <p:spPr bwMode="auto">
          <a:xfrm>
            <a:off x="2148681" y="2348880"/>
            <a:ext cx="7894638" cy="285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25475" indent="-35083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zh-CN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当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没有返回值时</a:t>
            </a:r>
            <a:r>
              <a:rPr lang="zh-CN" altLang="en-US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void)</a:t>
            </a:r>
            <a:r>
              <a:rPr lang="zh-CN" altLang="zh-CN" sz="2800" b="1" dirty="0">
                <a:solidFill>
                  <a:srgbClr val="000000"/>
                </a:solidFill>
                <a:ea typeface="黑体" pitchFamily="49" charset="-122"/>
              </a:rPr>
              <a:t>,  </a:t>
            </a:r>
            <a:r>
              <a:rPr lang="zh-CN" altLang="en-US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可以写成</a:t>
            </a:r>
            <a:r>
              <a:rPr lang="zh-CN" altLang="zh-CN" sz="2800" b="1">
                <a:solidFill>
                  <a:srgbClr val="000000"/>
                </a:solidFill>
                <a:ea typeface="黑体" pitchFamily="49" charset="-122"/>
              </a:rPr>
              <a:t>: </a:t>
            </a:r>
            <a:endParaRPr lang="en-US" altLang="zh-CN" sz="2800" b="1">
              <a:solidFill>
                <a:srgbClr val="000000"/>
              </a:solidFill>
              <a:ea typeface="黑体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endParaRPr lang="zh-CN" altLang="zh-CN" sz="2800" b="1" dirty="0">
              <a:solidFill>
                <a:srgbClr val="000000"/>
              </a:solidFill>
              <a:ea typeface="黑体" pitchFamily="49" charset="-122"/>
            </a:endParaRPr>
          </a:p>
          <a:p>
            <a:pPr lvl="1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return</a:t>
            </a:r>
            <a:r>
              <a:rPr lang="zh-CN" altLang="zh-CN" sz="28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ea typeface="楷体_GB2312" pitchFamily="49" charset="-122"/>
              </a:rPr>
              <a:t>;</a:t>
            </a:r>
          </a:p>
          <a:p>
            <a:pPr lvl="1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endParaRPr lang="en-US" altLang="zh-CN" sz="2800" b="1">
              <a:solidFill>
                <a:srgbClr val="000000"/>
              </a:solidFill>
              <a:latin typeface="Tahoma" pitchFamily="34" charset="0"/>
              <a:ea typeface="黑体" pitchFamily="49" charset="-122"/>
            </a:endParaRPr>
          </a:p>
          <a:p>
            <a:pPr lvl="1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zh-CN" sz="28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}</a:t>
            </a:r>
            <a:endParaRPr lang="zh-CN" altLang="zh-CN" sz="2800" b="1" dirty="0">
              <a:solidFill>
                <a:srgbClr val="000000"/>
              </a:solidFill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422921" name="Text Box 9"/>
          <p:cNvSpPr txBox="1">
            <a:spLocks noChangeArrowheads="1"/>
          </p:cNvSpPr>
          <p:nvPr/>
        </p:nvSpPr>
        <p:spPr bwMode="auto">
          <a:xfrm>
            <a:off x="5886876" y="3921680"/>
            <a:ext cx="1512887" cy="426335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fontAlgn="base">
              <a:lnSpc>
                <a:spcPct val="120000"/>
              </a:lnSpc>
              <a:spcBef>
                <a:spcPts val="825"/>
              </a:spcBef>
              <a:spcAft>
                <a:spcPts val="825"/>
              </a:spcAft>
            </a:pP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不返回结果</a:t>
            </a:r>
            <a:endParaRPr lang="zh-CN" altLang="en-US" sz="20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422922" name="Line 10"/>
          <p:cNvSpPr>
            <a:spLocks noChangeShapeType="1"/>
          </p:cNvSpPr>
          <p:nvPr/>
        </p:nvSpPr>
        <p:spPr bwMode="auto">
          <a:xfrm flipH="1" flipV="1">
            <a:off x="4128700" y="3880763"/>
            <a:ext cx="1727200" cy="242887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22923" name="Line 11"/>
          <p:cNvSpPr>
            <a:spLocks noChangeShapeType="1"/>
          </p:cNvSpPr>
          <p:nvPr/>
        </p:nvSpPr>
        <p:spPr bwMode="auto">
          <a:xfrm flipH="1">
            <a:off x="3243320" y="4134978"/>
            <a:ext cx="2564796" cy="734182"/>
          </a:xfrm>
          <a:prstGeom prst="line">
            <a:avLst/>
          </a:prstGeom>
          <a:noFill/>
          <a:ln w="9525" cmpd="sng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052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2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2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2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2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2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7" grpId="0" build="p" autoUpdateAnimBg="0"/>
      <p:bldP spid="422921" grpId="0" animBg="1" autoUpdateAnimBg="0"/>
      <p:bldP spid="422922" grpId="0" animBg="1"/>
      <p:bldP spid="4229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87600" y="149226"/>
            <a:ext cx="4191000" cy="619125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注意</a:t>
            </a:r>
            <a:r>
              <a:rPr lang="zh-CN" altLang="zh-CN" sz="3200">
                <a:latin typeface="楷体_GB2312" pitchFamily="49" charset="-122"/>
              </a:rPr>
              <a:t>:</a:t>
            </a:r>
            <a:endParaRPr lang="zh-CN" altLang="zh-CN" sz="320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7713" y="1158875"/>
            <a:ext cx="8240712" cy="4673600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Times New Roman" pitchFamily="18" charset="0"/>
              </a:rPr>
              <a:t>1) </a:t>
            </a:r>
            <a:r>
              <a:rPr lang="zh-CN" altLang="en-US" sz="2400" b="1" dirty="0">
                <a:latin typeface="黑体" pitchFamily="49" charset="-122"/>
              </a:rPr>
              <a:t>函数的返回值的类型应与函数的类型一致</a:t>
            </a:r>
            <a:r>
              <a:rPr lang="zh-CN" altLang="en-US" sz="2000" b="1" dirty="0">
                <a:latin typeface="黑体" pitchFamily="49" charset="-122"/>
              </a:rPr>
              <a:t>。</a:t>
            </a:r>
            <a:r>
              <a:rPr lang="zh-CN" altLang="en-US" sz="2400" b="1" dirty="0">
                <a:latin typeface="黑体" pitchFamily="49" charset="-122"/>
              </a:rPr>
              <a:t>如不一致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49" charset="-122"/>
              </a:rPr>
              <a:t>以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函数类型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49" charset="-122"/>
              </a:rPr>
              <a:t>为准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rgbClr val="000099"/>
                </a:solidFill>
                <a:latin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49" charset="-122"/>
              </a:rPr>
              <a:t>对返回值进行类型转换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黑体" pitchFamily="49" charset="-122"/>
              </a:rPr>
              <a:t> </a:t>
            </a:r>
            <a:r>
              <a:rPr lang="zh-CN" altLang="en-US" sz="2400" b="1" dirty="0">
                <a:latin typeface="黑体" pitchFamily="49" charset="-122"/>
              </a:rPr>
              <a:t>然后传送给调用函数。</a:t>
            </a:r>
          </a:p>
          <a:p>
            <a:pPr>
              <a:buFont typeface="Wingdings" pitchFamily="2" charset="2"/>
              <a:buNone/>
            </a:pPr>
            <a:endParaRPr lang="zh-CN" altLang="zh-CN" sz="2400" b="1" dirty="0">
              <a:latin typeface="黑体" pitchFamily="49" charset="-122"/>
            </a:endParaRPr>
          </a:p>
        </p:txBody>
      </p:sp>
      <p:sp>
        <p:nvSpPr>
          <p:cNvPr id="423940" name="Text Box 4"/>
          <p:cNvSpPr txBox="1">
            <a:spLocks noChangeArrowheads="1"/>
          </p:cNvSpPr>
          <p:nvPr/>
        </p:nvSpPr>
        <p:spPr bwMode="auto">
          <a:xfrm>
            <a:off x="2335213" y="2659063"/>
            <a:ext cx="8001000" cy="305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如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</a:rPr>
              <a:t>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int </a:t>
            </a:r>
            <a:r>
              <a:rPr lang="zh-CN" altLang="zh-CN" sz="2800" b="1">
                <a:solidFill>
                  <a:srgbClr val="000000"/>
                </a:solidFill>
              </a:rPr>
              <a:t> 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 )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          {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return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zh-CN" altLang="zh-CN" sz="2800" b="1">
                <a:solidFill>
                  <a:srgbClr val="0000AC"/>
                </a:solidFill>
                <a:latin typeface="Arial" pitchFamily="34" charset="0"/>
              </a:rPr>
              <a:t>3</a:t>
            </a:r>
            <a:r>
              <a:rPr lang="zh-CN" altLang="zh-CN" sz="2800" b="1">
                <a:solidFill>
                  <a:srgbClr val="0000AC"/>
                </a:solidFill>
                <a:latin typeface="Times New Roman" pitchFamily="18" charset="0"/>
              </a:rPr>
              <a:t>.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5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          }  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   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void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main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 )</a:t>
            </a:r>
            <a:r>
              <a:rPr lang="zh-CN" altLang="zh-CN" sz="2800" b="1">
                <a:solidFill>
                  <a:srgbClr val="000000"/>
                </a:solidFill>
              </a:rPr>
              <a:t> 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          {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          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zh-CN" altLang="zh-CN" sz="2800" b="1">
                <a:solidFill>
                  <a:srgbClr val="000000"/>
                </a:solidFill>
              </a:rPr>
              <a:t>  a=f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( ) ;</a:t>
            </a:r>
            <a:r>
              <a:rPr lang="zh-CN" altLang="zh-CN" sz="2800" b="1">
                <a:solidFill>
                  <a:srgbClr val="000000"/>
                </a:solidFill>
              </a:rPr>
              <a:t>         </a:t>
            </a:r>
            <a:r>
              <a:rPr lang="zh-CN" altLang="zh-CN" sz="2400">
                <a:solidFill>
                  <a:srgbClr val="000000"/>
                </a:solidFill>
              </a:rPr>
              <a:t>/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*</a:t>
            </a:r>
            <a:r>
              <a:rPr lang="zh-CN" altLang="zh-CN" sz="2400" b="1">
                <a:solidFill>
                  <a:srgbClr val="000000"/>
                </a:solidFill>
              </a:rPr>
              <a:t>a</a:t>
            </a:r>
            <a:r>
              <a:rPr lang="zh-CN" altLang="en-US" sz="2400" b="1">
                <a:solidFill>
                  <a:srgbClr val="000000"/>
                </a:solidFill>
              </a:rPr>
              <a:t>被初始化为</a:t>
            </a:r>
            <a:r>
              <a:rPr lang="zh-CN" altLang="zh-CN" sz="2400" b="1">
                <a:solidFill>
                  <a:srgbClr val="000000"/>
                </a:solidFill>
              </a:rPr>
              <a:t>3 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*</a:t>
            </a:r>
            <a:r>
              <a:rPr lang="zh-CN" altLang="zh-CN" sz="2400">
                <a:solidFill>
                  <a:srgbClr val="000000"/>
                </a:solidFill>
              </a:rPr>
              <a:t>/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</a:rPr>
              <a:t>             }   </a:t>
            </a:r>
          </a:p>
        </p:txBody>
      </p:sp>
    </p:spTree>
    <p:extLst>
      <p:ext uri="{BB962C8B-B14F-4D97-AF65-F5344CB8AC3E}">
        <p14:creationId xmlns:p14="http://schemas.microsoft.com/office/powerpoint/2010/main" val="2306558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368550" y="219076"/>
            <a:ext cx="5943600" cy="593725"/>
          </a:xfrm>
        </p:spPr>
        <p:txBody>
          <a:bodyPr/>
          <a:lstStyle/>
          <a:p>
            <a:r>
              <a:rPr lang="zh-CN" altLang="en-US" sz="3200">
                <a:latin typeface="楷体_GB2312" pitchFamily="49" charset="-122"/>
              </a:rPr>
              <a:t>注意</a:t>
            </a:r>
            <a:r>
              <a:rPr lang="zh-CN" altLang="zh-CN" sz="3200">
                <a:latin typeface="楷体_GB2312" pitchFamily="49" charset="-122"/>
              </a:rPr>
              <a:t>: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6138" y="1276351"/>
            <a:ext cx="8089900" cy="4583113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Times New Roman" pitchFamily="18" charset="0"/>
              </a:rPr>
              <a:t>2)</a:t>
            </a:r>
            <a:r>
              <a:rPr lang="zh-CN" altLang="zh-CN" sz="2800" b="1" dirty="0"/>
              <a:t> </a:t>
            </a:r>
            <a:r>
              <a:rPr lang="zh-CN" altLang="en-US" sz="2800" b="1" dirty="0"/>
              <a:t>一个函数可以有多个</a:t>
            </a:r>
            <a:r>
              <a:rPr lang="zh-CN" altLang="zh-CN" sz="2800" b="1" dirty="0">
                <a:latin typeface="Arial" pitchFamily="34" charset="0"/>
              </a:rPr>
              <a:t>return</a:t>
            </a:r>
            <a:r>
              <a:rPr lang="zh-CN" altLang="en-US" sz="2800" b="1" dirty="0"/>
              <a:t>语句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/>
              <a:t>但只可能执行其中一个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一旦执行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return,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本函数就结束运行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。</a:t>
            </a:r>
          </a:p>
          <a:p>
            <a:pPr>
              <a:lnSpc>
                <a:spcPct val="11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zh-CN" altLang="en-US" sz="2800" b="1" dirty="0"/>
              <a:t>    例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  <a:r>
              <a:rPr lang="zh-CN" altLang="zh-CN" sz="2800" b="1" dirty="0"/>
              <a:t>     </a:t>
            </a:r>
            <a:r>
              <a:rPr lang="zh-CN" altLang="zh-CN" sz="2800" b="1" dirty="0">
                <a:latin typeface="Arial" pitchFamily="34" charset="0"/>
              </a:rPr>
              <a:t>int max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int</a:t>
            </a:r>
            <a:r>
              <a:rPr lang="zh-CN" altLang="zh-CN" sz="2800" b="1" dirty="0"/>
              <a:t> x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int</a:t>
            </a:r>
            <a:r>
              <a:rPr lang="zh-CN" altLang="zh-CN" sz="2800" b="1" dirty="0"/>
              <a:t> y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 eaLnBrk="0" hangingPunct="0">
              <a:buClrTx/>
              <a:buSzTx/>
              <a:buFontTx/>
              <a:buNone/>
            </a:pPr>
            <a:r>
              <a:rPr lang="zh-CN" altLang="zh-CN" sz="2800" b="1" dirty="0"/>
              <a:t>              {</a:t>
            </a:r>
          </a:p>
          <a:p>
            <a:pPr eaLnBrk="0" hangingPunct="0">
              <a:spcBef>
                <a:spcPct val="35000"/>
              </a:spcBef>
              <a:buClrTx/>
              <a:buSzTx/>
              <a:buFontTx/>
              <a:buNone/>
            </a:pPr>
            <a:r>
              <a:rPr lang="zh-CN" altLang="zh-CN" sz="2800" b="1" dirty="0"/>
              <a:t>                  </a:t>
            </a:r>
            <a:r>
              <a:rPr lang="zh-CN" altLang="zh-CN" sz="2800" b="1" dirty="0">
                <a:latin typeface="Arial" pitchFamily="34" charset="0"/>
              </a:rPr>
              <a:t>if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x</a:t>
            </a:r>
            <a:r>
              <a:rPr lang="zh-CN" altLang="zh-CN" sz="2800" dirty="0"/>
              <a:t>&gt;</a:t>
            </a:r>
            <a:r>
              <a:rPr lang="zh-CN" altLang="zh-CN" sz="2800" b="1" dirty="0"/>
              <a:t>y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solidFill>
                  <a:srgbClr val="0000AC"/>
                </a:solidFill>
                <a:latin typeface="Arial" pitchFamily="34" charset="0"/>
              </a:rPr>
              <a:t>return</a:t>
            </a:r>
            <a:r>
              <a:rPr lang="zh-CN" altLang="zh-CN" sz="2800" b="1" dirty="0">
                <a:solidFill>
                  <a:srgbClr val="0000AC"/>
                </a:solidFill>
              </a:rPr>
              <a:t>  x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 </a:t>
            </a:r>
            <a:r>
              <a:rPr lang="zh-CN" altLang="zh-CN" sz="2800" b="1" dirty="0"/>
              <a:t>                  </a:t>
            </a:r>
            <a:endParaRPr lang="en-US" altLang="zh-CN" sz="2800" b="1" dirty="0">
              <a:latin typeface="Arial" pitchFamily="34" charset="0"/>
            </a:endParaRPr>
          </a:p>
          <a:p>
            <a:pPr eaLnBrk="0" hangingPunct="0">
              <a:spcBef>
                <a:spcPct val="35000"/>
              </a:spcBef>
              <a:buClrTx/>
              <a:buSzTx/>
              <a:buFontTx/>
              <a:buNone/>
            </a:pPr>
            <a:r>
              <a:rPr lang="zh-CN" altLang="zh-CN" sz="2800" b="1" dirty="0"/>
              <a:t>  </a:t>
            </a:r>
            <a:r>
              <a:rPr lang="en-US" altLang="zh-CN" sz="2800" b="1" dirty="0"/>
              <a:t>			</a:t>
            </a:r>
            <a:r>
              <a:rPr lang="zh-CN" altLang="zh-CN" sz="2800" b="1" dirty="0">
                <a:solidFill>
                  <a:srgbClr val="0000AC"/>
                </a:solidFill>
                <a:latin typeface="Arial" pitchFamily="34" charset="0"/>
              </a:rPr>
              <a:t>return</a:t>
            </a:r>
            <a:r>
              <a:rPr lang="zh-CN" altLang="zh-CN" sz="2800" b="1" dirty="0">
                <a:solidFill>
                  <a:srgbClr val="0000AC"/>
                </a:solidFill>
              </a:rPr>
              <a:t>  y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eaLnBrk="0" hangingPunct="0">
              <a:buClrTx/>
              <a:buSzTx/>
              <a:buFontTx/>
              <a:buNone/>
            </a:pPr>
            <a:r>
              <a:rPr lang="zh-CN" altLang="zh-CN" sz="2800" b="1" dirty="0"/>
              <a:t>               }</a:t>
            </a:r>
          </a:p>
        </p:txBody>
      </p:sp>
    </p:spTree>
    <p:extLst>
      <p:ext uri="{BB962C8B-B14F-4D97-AF65-F5344CB8AC3E}">
        <p14:creationId xmlns:p14="http://schemas.microsoft.com/office/powerpoint/2010/main" val="262309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95525" y="93663"/>
            <a:ext cx="8051800" cy="639762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6.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将</a:t>
            </a:r>
            <a:r>
              <a:rPr lang="zh-CN" altLang="en-US" sz="2800" dirty="0">
                <a:solidFill>
                  <a:schemeClr val="tx1"/>
                </a:solidFill>
                <a:ea typeface="黑体" pitchFamily="49" charset="-122"/>
              </a:rPr>
              <a:t>华氏温度换算成摄氏温度的函数定义</a:t>
            </a:r>
            <a:endParaRPr lang="zh-CN" altLang="en-US" sz="28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20900" y="1839914"/>
            <a:ext cx="8337550" cy="1724025"/>
          </a:xfrm>
        </p:spPr>
        <p:txBody>
          <a:bodyPr/>
          <a:lstStyle/>
          <a:p>
            <a:pPr marL="187325" indent="-187325" defTabSz="955675">
              <a:lnSpc>
                <a:spcPct val="90000"/>
              </a:lnSpc>
              <a:buSzPct val="50000"/>
              <a:tabLst>
                <a:tab pos="471488" algn="l"/>
                <a:tab pos="665163" algn="l"/>
              </a:tabLst>
            </a:pPr>
            <a:r>
              <a:rPr lang="zh-CN" altLang="en-US" sz="2400" b="1" dirty="0">
                <a:latin typeface="黑体" pitchFamily="49" charset="-122"/>
              </a:rPr>
              <a:t>分析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</a:p>
          <a:p>
            <a:pPr marL="377825" lvl="1" indent="106363" defTabSz="955675">
              <a:lnSpc>
                <a:spcPct val="110000"/>
              </a:lnSpc>
              <a:buClr>
                <a:srgbClr val="009900"/>
              </a:buClr>
              <a:buSzTx/>
              <a:buNone/>
              <a:tabLst>
                <a:tab pos="471488" algn="l"/>
                <a:tab pos="665163" algn="l"/>
              </a:tabLst>
            </a:pPr>
            <a:r>
              <a:rPr lang="zh-CN" altLang="zh-CN" sz="2400" b="1" dirty="0">
                <a:latin typeface="黑体" pitchFamily="49" charset="-122"/>
              </a:rPr>
              <a:t>  </a:t>
            </a:r>
            <a:r>
              <a:rPr lang="zh-CN" altLang="en-US" sz="2400" b="1" dirty="0">
                <a:latin typeface="黑体" pitchFamily="49" charset="-122"/>
              </a:rPr>
              <a:t>确定形参</a:t>
            </a:r>
            <a:r>
              <a:rPr lang="zh-CN" altLang="zh-CN" sz="2400" b="1" dirty="0">
                <a:latin typeface="Times New Roman" pitchFamily="18" charset="0"/>
              </a:rPr>
              <a:t>:  </a:t>
            </a:r>
            <a:r>
              <a:rPr lang="zh-CN" altLang="en-US" sz="2400" b="1" dirty="0">
                <a:latin typeface="黑体" pitchFamily="49" charset="-122"/>
              </a:rPr>
              <a:t>求</a:t>
            </a:r>
            <a:r>
              <a:rPr lang="zh-CN" altLang="zh-CN" sz="2400" b="1" dirty="0">
                <a:latin typeface="黑体" pitchFamily="49" charset="-122"/>
              </a:rPr>
              <a:t>c</a:t>
            </a:r>
            <a:r>
              <a:rPr lang="zh-CN" altLang="en-US" sz="2400" b="1" dirty="0">
                <a:latin typeface="黑体" pitchFamily="49" charset="-122"/>
              </a:rPr>
              <a:t>必须知道</a:t>
            </a:r>
            <a:r>
              <a:rPr lang="zh-CN" altLang="zh-CN" sz="2400" b="1" dirty="0">
                <a:latin typeface="黑体" pitchFamily="49" charset="-122"/>
              </a:rPr>
              <a:t>f</a:t>
            </a:r>
            <a:r>
              <a:rPr lang="zh-CN" altLang="en-US" sz="2400" b="1" dirty="0">
                <a:latin typeface="黑体" pitchFamily="49" charset="-122"/>
              </a:rPr>
              <a:t>的大小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黑体" pitchFamily="49" charset="-122"/>
              </a:rPr>
              <a:t>设形参为</a:t>
            </a:r>
            <a:r>
              <a:rPr lang="en-US" altLang="zh-CN" sz="2400" b="1" dirty="0">
                <a:latin typeface="黑体" pitchFamily="49" charset="-122"/>
              </a:rPr>
              <a:t>f</a:t>
            </a:r>
            <a:r>
              <a:rPr lang="zh-CN" altLang="en-US" sz="2400" b="1" dirty="0">
                <a:latin typeface="黑体" pitchFamily="49" charset="-122"/>
              </a:rPr>
              <a:t>。</a:t>
            </a:r>
          </a:p>
          <a:p>
            <a:pPr marL="377825" lvl="1" indent="106363" defTabSz="955675">
              <a:lnSpc>
                <a:spcPct val="110000"/>
              </a:lnSpc>
              <a:spcBef>
                <a:spcPct val="25000"/>
              </a:spcBef>
              <a:buClr>
                <a:srgbClr val="009900"/>
              </a:buClr>
              <a:buSzTx/>
              <a:buNone/>
              <a:tabLst>
                <a:tab pos="471488" algn="l"/>
                <a:tab pos="665163" algn="l"/>
              </a:tabLst>
            </a:pPr>
            <a:r>
              <a:rPr lang="zh-CN" altLang="en-US" sz="2400" b="1" dirty="0">
                <a:latin typeface="黑体" pitchFamily="49" charset="-122"/>
              </a:rPr>
              <a:t>  确定类型</a:t>
            </a:r>
            <a:r>
              <a:rPr lang="zh-CN" altLang="zh-CN" sz="2400" b="1" dirty="0">
                <a:latin typeface="Times New Roman" pitchFamily="18" charset="0"/>
              </a:rPr>
              <a:t>:  </a:t>
            </a:r>
            <a:r>
              <a:rPr lang="zh-CN" altLang="en-US" sz="2400" b="1" dirty="0">
                <a:latin typeface="黑体" pitchFamily="49" charset="-122"/>
              </a:rPr>
              <a:t>函数的返回值即为</a:t>
            </a:r>
            <a:r>
              <a:rPr lang="zh-CN" altLang="zh-CN" sz="2400" b="1" dirty="0">
                <a:latin typeface="黑体" pitchFamily="49" charset="-122"/>
              </a:rPr>
              <a:t>c</a:t>
            </a:r>
            <a:r>
              <a:rPr lang="zh-CN" altLang="en-US" sz="2400" b="1" dirty="0">
                <a:latin typeface="黑体" pitchFamily="49" charset="-122"/>
              </a:rPr>
              <a:t>的值，设为实型。</a:t>
            </a:r>
          </a:p>
        </p:txBody>
      </p:sp>
      <p:graphicFrame>
        <p:nvGraphicFramePr>
          <p:cNvPr id="430084" name="Object 4"/>
          <p:cNvGraphicFramePr>
            <a:graphicFrameLocks noChangeAspect="1"/>
          </p:cNvGraphicFramePr>
          <p:nvPr/>
        </p:nvGraphicFramePr>
        <p:xfrm>
          <a:off x="4506914" y="1257300"/>
          <a:ext cx="33432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r:id="rId3" imgW="889317" imgH="228917" progId="Equation.3">
                  <p:embed/>
                </p:oleObj>
              </mc:Choice>
              <mc:Fallback>
                <p:oleObj r:id="rId3" imgW="889317" imgH="2289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4" y="1257300"/>
                        <a:ext cx="33432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85" name="AutoShape 5"/>
          <p:cNvSpPr>
            <a:spLocks noChangeArrowheads="1"/>
          </p:cNvSpPr>
          <p:nvPr/>
        </p:nvSpPr>
        <p:spPr bwMode="auto">
          <a:xfrm>
            <a:off x="3343275" y="3492500"/>
            <a:ext cx="5359400" cy="2623768"/>
          </a:xfrm>
          <a:prstGeom prst="flowChartAlternateProcess">
            <a:avLst/>
          </a:prstGeom>
          <a:solidFill>
            <a:srgbClr val="CCFFCC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     float   ftoc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000000"/>
                </a:solidFill>
              </a:rPr>
              <a:t>float  </a:t>
            </a:r>
            <a:r>
              <a:rPr lang="en-US" altLang="zh-CN" sz="2400" b="1" dirty="0">
                <a:solidFill>
                  <a:srgbClr val="000000"/>
                </a:solidFill>
              </a:rPr>
              <a:t>f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 {  float  c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        </a:t>
            </a:r>
            <a:r>
              <a:rPr lang="zh-CN" altLang="zh-CN" sz="2400" b="1" dirty="0">
                <a:solidFill>
                  <a:srgbClr val="000000"/>
                </a:solidFill>
              </a:rPr>
              <a:t>c =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</a:rPr>
              <a:t>5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  <a:r>
              <a:rPr lang="zh-CN" altLang="zh-CN" sz="2400" dirty="0">
                <a:solidFill>
                  <a:srgbClr val="000000"/>
                </a:solidFill>
              </a:rPr>
              <a:t>/</a:t>
            </a:r>
            <a:r>
              <a:rPr lang="zh-CN" altLang="zh-CN" sz="2400" b="1" dirty="0">
                <a:solidFill>
                  <a:srgbClr val="000000"/>
                </a:solidFill>
              </a:rPr>
              <a:t>9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</a:rPr>
              <a:t>f</a:t>
            </a:r>
            <a:r>
              <a:rPr lang="zh-CN" altLang="zh-CN" sz="2400" b="1" dirty="0">
                <a:solidFill>
                  <a:srgbClr val="000000"/>
                </a:solidFill>
              </a:rPr>
              <a:t> – 32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);</a:t>
            </a: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        </a:t>
            </a:r>
            <a:r>
              <a:rPr lang="zh-CN" altLang="zh-CN" sz="2400" b="1" dirty="0">
                <a:solidFill>
                  <a:srgbClr val="000000"/>
                </a:solidFill>
              </a:rPr>
              <a:t>return  c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;</a:t>
            </a:r>
            <a:br>
              <a:rPr lang="zh-CN" altLang="zh-CN" sz="2400" b="1" dirty="0">
                <a:solidFill>
                  <a:srgbClr val="000000"/>
                </a:solidFill>
              </a:rPr>
            </a:br>
            <a:r>
              <a:rPr lang="zh-CN" altLang="zh-CN" sz="2400" b="1" dirty="0">
                <a:solidFill>
                  <a:srgbClr val="000000"/>
                </a:solidFill>
              </a:rPr>
              <a:t>    }</a:t>
            </a:r>
          </a:p>
        </p:txBody>
      </p:sp>
      <p:sp>
        <p:nvSpPr>
          <p:cNvPr id="430086" name="Rectangle 6"/>
          <p:cNvSpPr>
            <a:spLocks noChangeArrowheads="1"/>
          </p:cNvSpPr>
          <p:nvPr/>
        </p:nvSpPr>
        <p:spPr bwMode="auto">
          <a:xfrm>
            <a:off x="2114551" y="1327150"/>
            <a:ext cx="2005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87325" indent="-187325" fontAlgn="base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换算公式为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pic>
        <p:nvPicPr>
          <p:cNvPr id="430087" name="Picture 7" descr="b19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61722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93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5" grpId="0" build="p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288" y="4168477"/>
            <a:ext cx="1262062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11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276" y="3865263"/>
            <a:ext cx="2798763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11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52626" y="1104901"/>
            <a:ext cx="8505825" cy="1966913"/>
          </a:xfrm>
        </p:spPr>
        <p:txBody>
          <a:bodyPr/>
          <a:lstStyle/>
          <a:p>
            <a:pPr>
              <a:lnSpc>
                <a:spcPct val="125000"/>
              </a:lnSpc>
              <a:buSzPct val="85000"/>
              <a:buFont typeface="Wingdings" pitchFamily="2" charset="2"/>
              <a:buChar char="&amp;"/>
            </a:pPr>
            <a:r>
              <a:rPr lang="zh-CN" altLang="en-US" sz="2400" b="1" dirty="0">
                <a:latin typeface="黑体" pitchFamily="49" charset="-122"/>
              </a:rPr>
              <a:t>函数的使用是通过函数调用实现的</a:t>
            </a:r>
            <a:r>
              <a:rPr lang="zh-CN" altLang="en-US" sz="1600" b="1" dirty="0">
                <a:latin typeface="黑体" pitchFamily="49" charset="-122"/>
              </a:rPr>
              <a:t>。</a:t>
            </a:r>
            <a:endParaRPr lang="en-US" altLang="zh-CN" sz="1600" b="1" dirty="0">
              <a:latin typeface="黑体" pitchFamily="49" charset="-122"/>
            </a:endParaRPr>
          </a:p>
          <a:p>
            <a:pPr>
              <a:lnSpc>
                <a:spcPct val="125000"/>
              </a:lnSpc>
              <a:buSzPct val="85000"/>
              <a:buFont typeface="Wingdings" pitchFamily="2" charset="2"/>
              <a:buChar char="&amp;"/>
            </a:pPr>
            <a:r>
              <a:rPr lang="zh-CN" altLang="en-US" sz="2400" b="1" dirty="0">
                <a:latin typeface="黑体" pitchFamily="49" charset="-122"/>
              </a:rPr>
              <a:t>所谓函数调用就是</a:t>
            </a:r>
            <a:r>
              <a:rPr lang="zh-CN" altLang="en-US" sz="2400" b="1" dirty="0">
                <a:solidFill>
                  <a:schemeClr val="hlink"/>
                </a:solidFill>
                <a:latin typeface="黑体" pitchFamily="49" charset="-122"/>
              </a:rPr>
              <a:t>调用</a:t>
            </a:r>
            <a:r>
              <a:rPr lang="zh-CN" altLang="en-US" sz="2400" b="1" dirty="0">
                <a:latin typeface="黑体" pitchFamily="49" charset="-122"/>
              </a:rPr>
              <a:t>函数向</a:t>
            </a:r>
            <a:r>
              <a:rPr lang="zh-CN" altLang="en-US" sz="2400" b="1" dirty="0">
                <a:solidFill>
                  <a:schemeClr val="hlink"/>
                </a:solidFill>
                <a:latin typeface="黑体" pitchFamily="49" charset="-122"/>
              </a:rPr>
              <a:t>被调</a:t>
            </a:r>
            <a:r>
              <a:rPr lang="zh-CN" altLang="en-US" sz="2400" b="1" dirty="0">
                <a:latin typeface="黑体" pitchFamily="49" charset="-122"/>
              </a:rPr>
              <a:t>函数</a:t>
            </a:r>
            <a:r>
              <a:rPr lang="zh-CN" altLang="en-US" sz="2400" b="1" dirty="0">
                <a:solidFill>
                  <a:schemeClr val="hlink"/>
                </a:solidFill>
                <a:latin typeface="黑体" pitchFamily="49" charset="-122"/>
              </a:rPr>
              <a:t>传送数据</a:t>
            </a:r>
            <a:r>
              <a:rPr lang="zh-CN" altLang="en-US" sz="2400" b="1" dirty="0">
                <a:latin typeface="黑体" pitchFamily="49" charset="-122"/>
              </a:rPr>
              <a:t>并将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控制权</a:t>
            </a:r>
            <a:r>
              <a:rPr lang="zh-CN" altLang="en-US" sz="2400" b="1" dirty="0">
                <a:latin typeface="黑体" pitchFamily="49" charset="-122"/>
              </a:rPr>
              <a:t>交给被调用函数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>
                <a:latin typeface="黑体" pitchFamily="49" charset="-122"/>
              </a:rPr>
              <a:t>当被调用函数执行完后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>
                <a:latin typeface="黑体" pitchFamily="49" charset="-122"/>
              </a:rPr>
              <a:t>将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结果回传</a:t>
            </a:r>
            <a:r>
              <a:rPr lang="zh-CN" altLang="en-US" sz="2400" b="1" dirty="0">
                <a:latin typeface="黑体" pitchFamily="49" charset="-122"/>
              </a:rPr>
              <a:t>给调用函数并交回控制权</a:t>
            </a:r>
            <a:r>
              <a:rPr lang="zh-CN" altLang="en-US" sz="2000" b="1" dirty="0">
                <a:latin typeface="黑体" pitchFamily="49" charset="-122"/>
              </a:rPr>
              <a:t>。</a:t>
            </a:r>
            <a:endParaRPr lang="zh-CN" altLang="en-US" sz="2000" dirty="0"/>
          </a:p>
        </p:txBody>
      </p:sp>
      <p:sp>
        <p:nvSpPr>
          <p:cNvPr id="431109" name="Rectangle 5"/>
          <p:cNvSpPr>
            <a:spLocks noGrp="1" noChangeArrowheads="1"/>
          </p:cNvSpPr>
          <p:nvPr>
            <p:ph type="title"/>
          </p:nvPr>
        </p:nvSpPr>
        <p:spPr>
          <a:xfrm>
            <a:off x="3143251" y="55564"/>
            <a:ext cx="6138863" cy="712787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3.2 </a:t>
            </a:r>
            <a:r>
              <a:rPr lang="zh-CN" altLang="en-US" sz="3600" dirty="0">
                <a:latin typeface="楷体_GB2312" pitchFamily="49" charset="-122"/>
              </a:rPr>
              <a:t>函数调用的一般形式</a:t>
            </a:r>
          </a:p>
        </p:txBody>
      </p:sp>
      <p:sp>
        <p:nvSpPr>
          <p:cNvPr id="431110" name="Text Box 6"/>
          <p:cNvSpPr txBox="1">
            <a:spLocks noChangeArrowheads="1"/>
          </p:cNvSpPr>
          <p:nvPr/>
        </p:nvSpPr>
        <p:spPr bwMode="auto">
          <a:xfrm>
            <a:off x="2320926" y="3538239"/>
            <a:ext cx="3529013" cy="3059113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81320" dir="3080412" algn="ctr" rotWithShape="0">
              <a:schemeClr val="bg2">
                <a:alpha val="50000"/>
              </a:schemeClr>
            </a:outerShdw>
          </a:effectLst>
        </p:spPr>
        <p:txBody>
          <a:bodyPr lIns="126000" bIns="828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int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max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int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int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 y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{  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……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return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z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void  main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{ 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……</a:t>
            </a:r>
            <a:endParaRPr lang="zh-CN" altLang="zh-CN" sz="2400" b="1">
              <a:solidFill>
                <a:srgbClr val="000000"/>
              </a:solidFill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c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max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b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}</a:t>
            </a:r>
          </a:p>
        </p:txBody>
      </p:sp>
      <p:sp>
        <p:nvSpPr>
          <p:cNvPr id="431111" name="AutoShape 7"/>
          <p:cNvSpPr>
            <a:spLocks noChangeArrowheads="1"/>
          </p:cNvSpPr>
          <p:nvPr/>
        </p:nvSpPr>
        <p:spPr bwMode="auto">
          <a:xfrm rot="5400000">
            <a:off x="8100220" y="4293095"/>
            <a:ext cx="855662" cy="1266825"/>
          </a:xfrm>
          <a:prstGeom prst="cube">
            <a:avLst>
              <a:gd name="adj" fmla="val 6917"/>
            </a:avLst>
          </a:prstGeom>
          <a:solidFill>
            <a:srgbClr val="CCFF99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max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</a:t>
            </a:r>
            <a:endParaRPr lang="zh-CN" altLang="zh-CN" sz="2000">
              <a:solidFill>
                <a:srgbClr val="000000"/>
              </a:solidFill>
              <a:latin typeface="Times New Roman" pitchFamily="18" charset="0"/>
              <a:ea typeface="Dotum" pitchFamily="34" charset="-127"/>
            </a:endParaRPr>
          </a:p>
        </p:txBody>
      </p:sp>
      <p:sp>
        <p:nvSpPr>
          <p:cNvPr id="431112" name="AutoShape 8"/>
          <p:cNvSpPr>
            <a:spLocks noChangeArrowheads="1"/>
          </p:cNvSpPr>
          <p:nvPr/>
        </p:nvSpPr>
        <p:spPr bwMode="auto">
          <a:xfrm rot="5400000">
            <a:off x="6366670" y="4302620"/>
            <a:ext cx="855662" cy="1266825"/>
          </a:xfrm>
          <a:prstGeom prst="cube">
            <a:avLst>
              <a:gd name="adj" fmla="val 6917"/>
            </a:avLst>
          </a:prstGeom>
          <a:solidFill>
            <a:srgbClr val="CCFF99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main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</a:t>
            </a:r>
            <a:endParaRPr lang="zh-CN" altLang="zh-CN" sz="2000">
              <a:solidFill>
                <a:srgbClr val="000000"/>
              </a:solidFill>
              <a:latin typeface="Times New Roman" pitchFamily="18" charset="0"/>
              <a:ea typeface="Dotum" pitchFamily="34" charset="-127"/>
            </a:endParaRPr>
          </a:p>
        </p:txBody>
      </p:sp>
      <p:sp>
        <p:nvSpPr>
          <p:cNvPr id="431113" name="AutoShape 9"/>
          <p:cNvSpPr>
            <a:spLocks noChangeArrowheads="1"/>
          </p:cNvSpPr>
          <p:nvPr/>
        </p:nvSpPr>
        <p:spPr bwMode="auto">
          <a:xfrm>
            <a:off x="9090026" y="3608088"/>
            <a:ext cx="1343025" cy="382588"/>
          </a:xfrm>
          <a:prstGeom prst="wedgeRectCallout">
            <a:avLst>
              <a:gd name="adj1" fmla="val -53426"/>
              <a:gd name="adj2" fmla="val 183611"/>
            </a:avLst>
          </a:prstGeom>
          <a:solidFill>
            <a:srgbClr val="FFCCFF"/>
          </a:solidFill>
          <a:ln w="9525" cmpd="sng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</a:rPr>
              <a:t>参数传递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431114" name="AutoShape 10"/>
          <p:cNvSpPr>
            <a:spLocks noChangeArrowheads="1"/>
          </p:cNvSpPr>
          <p:nvPr/>
        </p:nvSpPr>
        <p:spPr bwMode="auto">
          <a:xfrm>
            <a:off x="8656638" y="5671045"/>
            <a:ext cx="1366837" cy="382587"/>
          </a:xfrm>
          <a:prstGeom prst="wedgeRectCallout">
            <a:avLst>
              <a:gd name="adj1" fmla="val -74892"/>
              <a:gd name="adj2" fmla="val -72546"/>
            </a:avLst>
          </a:prstGeom>
          <a:solidFill>
            <a:srgbClr val="FFCCFF"/>
          </a:solidFill>
          <a:ln w="9525" cmpd="sng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</a:rPr>
              <a:t>结果返回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31115" name="Text Box 11"/>
          <p:cNvSpPr txBox="1">
            <a:spLocks noChangeArrowheads="1"/>
          </p:cNvSpPr>
          <p:nvPr/>
        </p:nvSpPr>
        <p:spPr bwMode="auto">
          <a:xfrm>
            <a:off x="7477125" y="3462039"/>
            <a:ext cx="338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a</a:t>
            </a: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31116" name="Text Box 12"/>
          <p:cNvSpPr txBox="1">
            <a:spLocks noChangeArrowheads="1"/>
          </p:cNvSpPr>
          <p:nvPr/>
        </p:nvSpPr>
        <p:spPr bwMode="auto">
          <a:xfrm>
            <a:off x="7488239" y="4241502"/>
            <a:ext cx="338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b</a:t>
            </a: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</p:txBody>
      </p:sp>
      <p:pic>
        <p:nvPicPr>
          <p:cNvPr id="43111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238" y="5378152"/>
            <a:ext cx="20574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1118" name="Text Box 14"/>
          <p:cNvSpPr txBox="1">
            <a:spLocks noChangeArrowheads="1"/>
          </p:cNvSpPr>
          <p:nvPr/>
        </p:nvSpPr>
        <p:spPr bwMode="auto">
          <a:xfrm>
            <a:off x="7534275" y="5797252"/>
            <a:ext cx="338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z</a:t>
            </a:r>
            <a:endParaRPr lang="zh-CN" altLang="zh-CN" sz="28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31119" name="Line 15"/>
          <p:cNvSpPr>
            <a:spLocks noChangeShapeType="1"/>
          </p:cNvSpPr>
          <p:nvPr/>
        </p:nvSpPr>
        <p:spPr bwMode="auto">
          <a:xfrm>
            <a:off x="3216276" y="6181426"/>
            <a:ext cx="1368425" cy="0"/>
          </a:xfrm>
          <a:prstGeom prst="line">
            <a:avLst/>
          </a:prstGeom>
          <a:noFill/>
          <a:ln w="28575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8483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0" y="55564"/>
            <a:ext cx="7315200" cy="738187"/>
          </a:xfrm>
        </p:spPr>
        <p:txBody>
          <a:bodyPr/>
          <a:lstStyle/>
          <a:p>
            <a:r>
              <a:rPr lang="zh-CN" altLang="zh-CN" sz="3600" b="0">
                <a:latin typeface="楷体_GB2312" pitchFamily="49" charset="-122"/>
              </a:rPr>
              <a:t>   </a:t>
            </a:r>
            <a:r>
              <a:rPr lang="zh-CN" altLang="en-US" sz="3600">
                <a:latin typeface="楷体_GB2312" pitchFamily="49" charset="-122"/>
              </a:rPr>
              <a:t>函数调用的一般形式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79576" y="2463701"/>
            <a:ext cx="8113713" cy="3340198"/>
          </a:xfrm>
        </p:spPr>
        <p:txBody>
          <a:bodyPr/>
          <a:lstStyle/>
          <a:p>
            <a:pPr marL="274638" indent="-274638">
              <a:lnSpc>
                <a:spcPct val="120000"/>
              </a:lnSpc>
              <a:spcBef>
                <a:spcPct val="35000"/>
              </a:spcBef>
              <a:buSzPct val="50000"/>
            </a:pPr>
            <a:r>
              <a:rPr lang="zh-CN" altLang="en-US" sz="2800" b="1" dirty="0"/>
              <a:t>实际参数简称</a:t>
            </a:r>
            <a:r>
              <a:rPr lang="zh-CN" altLang="en-US" sz="2800" b="1" dirty="0">
                <a:latin typeface="Times New Roman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</a:rPr>
              <a:t>实参</a:t>
            </a:r>
            <a:r>
              <a:rPr lang="zh-CN" altLang="en-US" sz="2800" b="1" dirty="0">
                <a:latin typeface="Times New Roman"/>
              </a:rPr>
              <a:t>”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/>
              <a:t>是一个具有确定值的</a:t>
            </a:r>
            <a:r>
              <a:rPr lang="zh-CN" altLang="en-US" sz="2800" b="1" dirty="0">
                <a:solidFill>
                  <a:srgbClr val="FF0000"/>
                </a:solidFill>
              </a:rPr>
              <a:t>表达式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可以是常量、变量、复杂表达式）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marL="274638" indent="-274638">
              <a:lnSpc>
                <a:spcPct val="120000"/>
              </a:lnSpc>
              <a:spcBef>
                <a:spcPct val="35000"/>
              </a:spcBef>
              <a:buSzPct val="50000"/>
            </a:pPr>
            <a:r>
              <a:rPr lang="zh-CN" altLang="en-US" sz="2800" b="1" dirty="0"/>
              <a:t>函数在调用时，将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实参的值赋给对应的形参（就是一个赋值过程）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marL="0" indent="0">
              <a:lnSpc>
                <a:spcPct val="120000"/>
              </a:lnSpc>
              <a:spcBef>
                <a:spcPct val="35000"/>
              </a:spcBef>
              <a:buSzPct val="50000"/>
              <a:buNone/>
            </a:pPr>
            <a:r>
              <a:rPr lang="zh-CN" altLang="en-US" sz="2800" b="1" dirty="0"/>
              <a:t>          相当于</a:t>
            </a:r>
            <a:r>
              <a:rPr lang="en-US" altLang="zh-CN" sz="2800" b="1" dirty="0"/>
              <a:t>: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形参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实参</a:t>
            </a:r>
            <a:endParaRPr lang="zh-CN" alt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2132" name="Object 4"/>
          <p:cNvGraphicFramePr>
            <a:graphicFrameLocks noChangeAspect="1"/>
          </p:cNvGraphicFramePr>
          <p:nvPr/>
        </p:nvGraphicFramePr>
        <p:xfrm>
          <a:off x="3632200" y="1054101"/>
          <a:ext cx="5113338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r:id="rId4" imgW="1938480" imgH="492453" progId="Word.Picture.8">
                  <p:embed/>
                </p:oleObj>
              </mc:Choice>
              <mc:Fallback>
                <p:oleObj r:id="rId4" imgW="1938480" imgH="492453" progId="Word.Picture.8">
                  <p:embed/>
                  <p:pic>
                    <p:nvPicPr>
                      <p:cNvPr id="432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1054101"/>
                        <a:ext cx="5113338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3349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0" y="55564"/>
            <a:ext cx="7315200" cy="738187"/>
          </a:xfrm>
        </p:spPr>
        <p:txBody>
          <a:bodyPr/>
          <a:lstStyle/>
          <a:p>
            <a:r>
              <a:rPr lang="zh-CN" altLang="zh-CN" sz="3600" b="0">
                <a:latin typeface="楷体_GB2312" pitchFamily="49" charset="-122"/>
              </a:rPr>
              <a:t>   </a:t>
            </a:r>
            <a:r>
              <a:rPr lang="zh-CN" altLang="en-US" sz="3600">
                <a:latin typeface="楷体_GB2312" pitchFamily="49" charset="-122"/>
              </a:rPr>
              <a:t>函数调用的一般形式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9143" y="1662087"/>
            <a:ext cx="8113713" cy="4568825"/>
          </a:xfrm>
        </p:spPr>
        <p:txBody>
          <a:bodyPr/>
          <a:lstStyle/>
          <a:p>
            <a:pPr marL="274638" indent="-274638">
              <a:lnSpc>
                <a:spcPct val="120000"/>
              </a:lnSpc>
              <a:spcBef>
                <a:spcPct val="35000"/>
              </a:spcBef>
              <a:buSzPct val="50000"/>
            </a:pPr>
            <a:r>
              <a:rPr lang="zh-CN" altLang="en-US" sz="2400" b="1" dirty="0">
                <a:latin typeface="黑体" pitchFamily="49" charset="-122"/>
              </a:rPr>
              <a:t>实参表中的实参个数</a:t>
            </a:r>
            <a:r>
              <a:rPr lang="zh-CN" altLang="en-US" sz="2000" b="1" dirty="0">
                <a:latin typeface="黑体" pitchFamily="49" charset="-122"/>
              </a:rPr>
              <a:t>、</a:t>
            </a:r>
            <a:r>
              <a:rPr lang="zh-CN" altLang="en-US" sz="2400" b="1" dirty="0">
                <a:latin typeface="黑体" pitchFamily="49" charset="-122"/>
              </a:rPr>
              <a:t>顺序及类型应与被调用函数中的形参一致（类型不一致时，做隐式转换）</a:t>
            </a:r>
            <a:r>
              <a:rPr lang="zh-CN" altLang="en-US" sz="2000" b="1" dirty="0">
                <a:latin typeface="黑体" pitchFamily="49" charset="-122"/>
              </a:rPr>
              <a:t>。</a:t>
            </a:r>
            <a:endParaRPr lang="zh-CN" altLang="en-US" sz="2400" b="1" dirty="0">
              <a:latin typeface="黑体" pitchFamily="49" charset="-122"/>
            </a:endParaRPr>
          </a:p>
        </p:txBody>
      </p:sp>
      <p:sp>
        <p:nvSpPr>
          <p:cNvPr id="432136" name="Rectangle 8"/>
          <p:cNvSpPr>
            <a:spLocks noChangeArrowheads="1"/>
          </p:cNvSpPr>
          <p:nvPr/>
        </p:nvSpPr>
        <p:spPr bwMode="auto">
          <a:xfrm>
            <a:off x="2524125" y="3645024"/>
            <a:ext cx="7329488" cy="2243138"/>
          </a:xfrm>
          <a:prstGeom prst="rect">
            <a:avLst/>
          </a:prstGeom>
          <a:solidFill>
            <a:srgbClr val="C1DA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>
            <a:outerShdw dist="74053" dir="1857825" algn="ctr" rotWithShape="0">
              <a:schemeClr val="bg2"/>
            </a:outerShdw>
          </a:effectLst>
        </p:spPr>
        <p:txBody>
          <a:bodyPr tIns="82800" bIns="82800"/>
          <a:lstStyle/>
          <a:p>
            <a:pPr marL="342900" indent="-34290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void  main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 )</a:t>
            </a:r>
            <a:r>
              <a:rPr lang="zh-CN" altLang="zh-CN" sz="2400" b="1" dirty="0">
                <a:solidFill>
                  <a:srgbClr val="000000"/>
                </a:solidFill>
              </a:rPr>
              <a:t>                         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max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zh-CN" altLang="zh-CN" sz="2000" b="1" dirty="0">
                <a:solidFill>
                  <a:srgbClr val="000000"/>
                </a:solidFill>
              </a:rPr>
              <a:t>  </a:t>
            </a:r>
            <a:r>
              <a:rPr lang="zh-CN" altLang="zh-CN" sz="2400" b="1" dirty="0">
                <a:solidFill>
                  <a:srgbClr val="000000"/>
                </a:solidFill>
              </a:rPr>
              <a:t>x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,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zh-CN" altLang="zh-CN" sz="2000" b="1" dirty="0">
                <a:solidFill>
                  <a:srgbClr val="000000"/>
                </a:solidFill>
              </a:rPr>
              <a:t>  </a:t>
            </a:r>
            <a:r>
              <a:rPr lang="zh-CN" altLang="zh-CN" sz="2400" b="1" dirty="0">
                <a:solidFill>
                  <a:srgbClr val="000000"/>
                </a:solidFill>
              </a:rPr>
              <a:t>y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 marL="342900" indent="-342900" fontAlgn="base">
              <a:lnSpc>
                <a:spcPct val="95000"/>
              </a:lnSpc>
              <a:spcBef>
                <a:spcPct val="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{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zh-CN" altLang="zh-CN" sz="2400" b="1" dirty="0">
                <a:solidFill>
                  <a:srgbClr val="000000"/>
                </a:solidFill>
              </a:rPr>
              <a:t>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b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</a:rPr>
              <a:t>c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</a:rPr>
              <a:t>                             { </a:t>
            </a:r>
            <a:endParaRPr lang="zh-CN" altLang="zh-CN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342900" indent="-342900" fontAlgn="base">
              <a:lnSpc>
                <a:spcPct val="95000"/>
              </a:lnSpc>
              <a:spcBef>
                <a:spcPct val="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scanf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(“</a:t>
            </a:r>
            <a:r>
              <a:rPr lang="zh-CN" altLang="zh-CN" sz="2400" b="1" dirty="0">
                <a:solidFill>
                  <a:srgbClr val="000000"/>
                </a:solidFill>
              </a:rPr>
              <a:t>%d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</a:rPr>
              <a:t>%d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”,</a:t>
            </a:r>
            <a:r>
              <a:rPr lang="zh-CN" altLang="zh-CN" sz="2400" dirty="0">
                <a:solidFill>
                  <a:srgbClr val="000000"/>
                </a:solidFill>
              </a:rPr>
              <a:t>&amp;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a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400" dirty="0">
                <a:solidFill>
                  <a:srgbClr val="000000"/>
                </a:solidFill>
              </a:rPr>
              <a:t>&amp;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b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);</a:t>
            </a:r>
            <a:r>
              <a:rPr lang="zh-CN" altLang="zh-CN" sz="2400" b="1" dirty="0">
                <a:solidFill>
                  <a:srgbClr val="000000"/>
                </a:solidFill>
              </a:rPr>
              <a:t>       </a:t>
            </a:r>
            <a:r>
              <a:rPr lang="zh-CN" altLang="zh-CN" sz="2000" b="1" dirty="0">
                <a:solidFill>
                  <a:srgbClr val="000000"/>
                </a:solidFill>
              </a:rPr>
              <a:t>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int</a:t>
            </a:r>
            <a:r>
              <a:rPr lang="zh-CN" altLang="zh-CN" sz="2400" b="1" dirty="0">
                <a:solidFill>
                  <a:srgbClr val="000000"/>
                </a:solidFill>
              </a:rPr>
              <a:t>  z= x</a:t>
            </a:r>
            <a:r>
              <a:rPr lang="zh-CN" altLang="zh-CN" sz="2400" dirty="0">
                <a:solidFill>
                  <a:srgbClr val="000000"/>
                </a:solidFill>
              </a:rPr>
              <a:t>&gt;</a:t>
            </a:r>
            <a:r>
              <a:rPr lang="zh-CN" altLang="zh-CN" sz="2400" b="1" dirty="0">
                <a:solidFill>
                  <a:srgbClr val="000000"/>
                </a:solidFill>
              </a:rPr>
              <a:t>y</a:t>
            </a:r>
            <a:r>
              <a:rPr lang="zh-CN" altLang="zh-CN" sz="2400" dirty="0">
                <a:solidFill>
                  <a:srgbClr val="000000"/>
                </a:solidFill>
              </a:rPr>
              <a:t>?</a:t>
            </a:r>
            <a:r>
              <a:rPr lang="zh-CN" altLang="zh-CN" sz="2400" b="1" dirty="0">
                <a:solidFill>
                  <a:srgbClr val="000000"/>
                </a:solidFill>
              </a:rPr>
              <a:t>x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zh-CN" sz="2400" b="1" dirty="0">
                <a:solidFill>
                  <a:srgbClr val="000000"/>
                </a:solidFill>
              </a:rPr>
              <a:t>y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marL="342900" indent="-342900" fontAlgn="base">
              <a:lnSpc>
                <a:spcPct val="95000"/>
              </a:lnSpc>
              <a:spcBef>
                <a:spcPct val="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c=</a:t>
            </a:r>
            <a:r>
              <a:rPr lang="zh-CN" altLang="zh-CN" sz="2400" b="1" dirty="0">
                <a:solidFill>
                  <a:srgbClr val="FF0066"/>
                </a:solidFill>
                <a:latin typeface="Arial" pitchFamily="34" charset="0"/>
              </a:rPr>
              <a:t>max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FF0066"/>
                </a:solidFill>
                <a:latin typeface="Arial" pitchFamily="34" charset="0"/>
              </a:rPr>
              <a:t>a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FF0066"/>
                </a:solidFill>
                <a:latin typeface="Arial" pitchFamily="34" charset="0"/>
              </a:rPr>
              <a:t>b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);</a:t>
            </a:r>
            <a:r>
              <a:rPr lang="zh-CN" altLang="zh-CN" sz="2400" b="1" dirty="0">
                <a:solidFill>
                  <a:srgbClr val="000000"/>
                </a:solidFill>
              </a:rPr>
              <a:t>                           </a:t>
            </a:r>
            <a:r>
              <a:rPr lang="en-US" altLang="zh-CN" sz="2400" b="1" dirty="0">
                <a:solidFill>
                  <a:srgbClr val="000000"/>
                </a:solidFill>
              </a:rPr>
              <a:t>  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return</a:t>
            </a:r>
            <a:r>
              <a:rPr lang="zh-CN" altLang="zh-CN" sz="2400" b="1" dirty="0">
                <a:solidFill>
                  <a:srgbClr val="000000"/>
                </a:solidFill>
              </a:rPr>
              <a:t>  z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  </a:t>
            </a:r>
          </a:p>
          <a:p>
            <a:pPr marL="342900" indent="-342900" fontAlgn="base">
              <a:lnSpc>
                <a:spcPct val="95000"/>
              </a:lnSpc>
              <a:spcBef>
                <a:spcPct val="5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printf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(“</a:t>
            </a:r>
            <a:r>
              <a:rPr lang="zh-CN" altLang="zh-CN" sz="2400" b="1" dirty="0">
                <a:solidFill>
                  <a:srgbClr val="000000"/>
                </a:solidFill>
              </a:rPr>
              <a:t>%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d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”,</a:t>
            </a:r>
            <a:r>
              <a:rPr lang="zh-CN" altLang="zh-CN" sz="2400" b="1" dirty="0">
                <a:solidFill>
                  <a:srgbClr val="000000"/>
                </a:solidFill>
              </a:rPr>
              <a:t>c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);                         </a:t>
            </a:r>
            <a:r>
              <a:rPr lang="zh-CN" altLang="zh-CN" sz="2400" b="1" dirty="0">
                <a:solidFill>
                  <a:srgbClr val="000000"/>
                </a:solidFill>
              </a:rPr>
              <a:t>}</a:t>
            </a:r>
            <a:endParaRPr lang="zh-CN" altLang="zh-CN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342900" indent="-3429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32137" name="Line 9"/>
          <p:cNvSpPr>
            <a:spLocks noChangeShapeType="1"/>
          </p:cNvSpPr>
          <p:nvPr/>
        </p:nvSpPr>
        <p:spPr bwMode="auto">
          <a:xfrm flipH="1">
            <a:off x="4760914" y="5010175"/>
            <a:ext cx="866775" cy="0"/>
          </a:xfrm>
          <a:prstGeom prst="line">
            <a:avLst/>
          </a:prstGeom>
          <a:noFill/>
          <a:ln w="28575" cmpd="sng">
            <a:solidFill>
              <a:srgbClr val="FF0066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25400" dir="162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32138" name="Text Box 10"/>
          <p:cNvSpPr txBox="1">
            <a:spLocks noChangeArrowheads="1"/>
          </p:cNvSpPr>
          <p:nvPr/>
        </p:nvSpPr>
        <p:spPr bwMode="auto">
          <a:xfrm>
            <a:off x="5564189" y="4799038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5400" dir="162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实参</a:t>
            </a:r>
          </a:p>
        </p:txBody>
      </p:sp>
      <p:sp>
        <p:nvSpPr>
          <p:cNvPr id="432139" name="Text Box 11"/>
          <p:cNvSpPr txBox="1">
            <a:spLocks noChangeArrowheads="1"/>
          </p:cNvSpPr>
          <p:nvPr/>
        </p:nvSpPr>
        <p:spPr bwMode="auto">
          <a:xfrm>
            <a:off x="8020051" y="4078958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5400" dir="162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形参</a:t>
            </a:r>
          </a:p>
        </p:txBody>
      </p:sp>
      <p:sp>
        <p:nvSpPr>
          <p:cNvPr id="432140" name="Line 12"/>
          <p:cNvSpPr>
            <a:spLocks noChangeShapeType="1"/>
          </p:cNvSpPr>
          <p:nvPr/>
        </p:nvSpPr>
        <p:spPr bwMode="auto">
          <a:xfrm>
            <a:off x="7681914" y="4098007"/>
            <a:ext cx="1500187" cy="0"/>
          </a:xfrm>
          <a:prstGeom prst="line">
            <a:avLst/>
          </a:prstGeom>
          <a:noFill/>
          <a:ln w="28575" cmpd="sng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904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3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2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6" grpId="0" animBg="1" autoUpdateAnimBg="0"/>
      <p:bldP spid="432137" grpId="0" animBg="1"/>
      <p:bldP spid="432138" grpId="0" autoUpdateAnimBg="0"/>
      <p:bldP spid="432139" grpId="0" autoUpdateAnimBg="0"/>
      <p:bldP spid="43214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9688"/>
            <a:ext cx="7543800" cy="755650"/>
          </a:xfrm>
        </p:spPr>
        <p:txBody>
          <a:bodyPr/>
          <a:lstStyle/>
          <a:p>
            <a:r>
              <a:rPr lang="zh-CN" altLang="en-US" sz="3200">
                <a:latin typeface="Courier New" pitchFamily="49" charset="0"/>
              </a:rPr>
              <a:t>说明</a:t>
            </a:r>
            <a:r>
              <a:rPr lang="zh-CN" altLang="en-US" sz="3600">
                <a:latin typeface="Courier New" pitchFamily="49" charset="0"/>
              </a:rPr>
              <a:t>：</a:t>
            </a:r>
          </a:p>
        </p:txBody>
      </p:sp>
      <p:sp>
        <p:nvSpPr>
          <p:cNvPr id="434179" name="Text Box 3"/>
          <p:cNvSpPr txBox="1">
            <a:spLocks noChangeArrowheads="1"/>
          </p:cNvSpPr>
          <p:nvPr/>
        </p:nvSpPr>
        <p:spPr bwMode="auto">
          <a:xfrm>
            <a:off x="2093913" y="1150938"/>
            <a:ext cx="8426450" cy="3028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47148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45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36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当实参表列中有多个实参时</a:t>
            </a:r>
            <a:r>
              <a:rPr lang="zh-CN" altLang="zh-CN" sz="3600" b="1" dirty="0">
                <a:solidFill>
                  <a:srgbClr val="0000FF"/>
                </a:solidFill>
                <a:ea typeface="黑体" pitchFamily="49" charset="-122"/>
              </a:rPr>
              <a:t>, </a:t>
            </a:r>
            <a:r>
              <a:rPr lang="zh-CN" altLang="en-US" sz="36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对实参的求值顺序并不确定</a:t>
            </a:r>
            <a:r>
              <a:rPr lang="zh-CN" altLang="zh-CN" sz="3600" b="1" dirty="0">
                <a:solidFill>
                  <a:srgbClr val="0000FF"/>
                </a:solidFill>
                <a:ea typeface="黑体" pitchFamily="49" charset="-122"/>
              </a:rPr>
              <a:t>,</a:t>
            </a:r>
            <a:r>
              <a:rPr lang="zh-CN" altLang="zh-CN" sz="36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6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与所用系统</a:t>
            </a:r>
            <a:r>
              <a:rPr lang="zh-CN" altLang="en-US" sz="36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有关。</a:t>
            </a:r>
            <a:endParaRPr lang="en-US" altLang="zh-CN" sz="36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  <a:p>
            <a:pPr fontAlgn="base">
              <a:lnSpc>
                <a:spcPct val="110000"/>
              </a:lnSpc>
              <a:spcBef>
                <a:spcPct val="45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endParaRPr lang="en-US" altLang="zh-CN" sz="3600" b="1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  <a:p>
            <a:pPr fontAlgn="base">
              <a:lnSpc>
                <a:spcPct val="110000"/>
              </a:lnSpc>
              <a:spcBef>
                <a:spcPct val="45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zh-CN" sz="3600" b="1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VC</a:t>
            </a:r>
            <a:r>
              <a:rPr lang="zh-CN" altLang="en-US" sz="3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是按从右往左的顺序求值。</a:t>
            </a:r>
          </a:p>
        </p:txBody>
      </p:sp>
    </p:spTree>
    <p:extLst>
      <p:ext uri="{BB962C8B-B14F-4D97-AF65-F5344CB8AC3E}">
        <p14:creationId xmlns:p14="http://schemas.microsoft.com/office/powerpoint/2010/main" val="36262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93938" y="17464"/>
            <a:ext cx="7315200" cy="738187"/>
          </a:xfrm>
        </p:spPr>
        <p:txBody>
          <a:bodyPr/>
          <a:lstStyle/>
          <a:p>
            <a:pPr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调用方式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6275" y="1152525"/>
            <a:ext cx="8382000" cy="4637088"/>
          </a:xfrm>
        </p:spPr>
        <p:txBody>
          <a:bodyPr/>
          <a:lstStyle/>
          <a:p>
            <a:pPr marL="187325" indent="-187325">
              <a:lnSpc>
                <a:spcPct val="110000"/>
              </a:lnSpc>
              <a:buSzPct val="85000"/>
              <a:buNone/>
            </a:pPr>
            <a:r>
              <a:rPr lang="zh-CN" altLang="zh-CN" sz="4000" b="1" dirty="0">
                <a:latin typeface="Times New Roman" pitchFamily="18" charset="0"/>
              </a:rPr>
              <a:t> </a:t>
            </a:r>
            <a:r>
              <a:rPr lang="zh-CN" altLang="zh-CN" sz="3600" b="1" dirty="0">
                <a:solidFill>
                  <a:srgbClr val="FF0000"/>
                </a:solidFill>
                <a:latin typeface="Times New Roman" pitchFamily="18" charset="0"/>
              </a:rPr>
              <a:t>1) </a:t>
            </a:r>
            <a:r>
              <a:rPr lang="zh-CN" altLang="en-US" sz="3600" b="1" dirty="0">
                <a:solidFill>
                  <a:srgbClr val="FF0000"/>
                </a:solidFill>
              </a:rPr>
              <a:t>函数表达式语句（函数必须有返回值）</a:t>
            </a:r>
            <a:endParaRPr lang="zh-CN" altLang="en-US" sz="3600" b="1" dirty="0">
              <a:solidFill>
                <a:srgbClr val="FF0000"/>
              </a:solidFill>
              <a:latin typeface="Times New Roman" pitchFamily="18" charset="0"/>
            </a:endParaRPr>
          </a:p>
          <a:p>
            <a:pPr marL="187325" indent="-187325">
              <a:lnSpc>
                <a:spcPct val="110000"/>
              </a:lnSpc>
              <a:buNone/>
            </a:pPr>
            <a:r>
              <a:rPr lang="zh-CN" altLang="en-US" sz="3600" b="1" dirty="0"/>
              <a:t>     如</a:t>
            </a:r>
            <a:r>
              <a:rPr lang="zh-CN" altLang="zh-CN" sz="3600" b="1" dirty="0">
                <a:latin typeface="Times New Roman" pitchFamily="18" charset="0"/>
              </a:rPr>
              <a:t>:</a:t>
            </a:r>
            <a:r>
              <a:rPr lang="zh-CN" altLang="zh-CN" sz="3600" b="1" dirty="0">
                <a:solidFill>
                  <a:srgbClr val="2E2EBA"/>
                </a:solidFill>
              </a:rPr>
              <a:t>     c=</a:t>
            </a:r>
            <a:r>
              <a:rPr lang="zh-CN" altLang="zh-CN" sz="3600" b="1" dirty="0">
                <a:solidFill>
                  <a:srgbClr val="2E2EBA"/>
                </a:solidFill>
                <a:latin typeface="Arial" pitchFamily="34" charset="0"/>
              </a:rPr>
              <a:t>2</a:t>
            </a:r>
            <a:r>
              <a:rPr lang="zh-CN" altLang="zh-CN" sz="3600" b="1" dirty="0">
                <a:solidFill>
                  <a:srgbClr val="2E2EBA"/>
                </a:solidFill>
                <a:latin typeface="黑体" pitchFamily="49" charset="-122"/>
              </a:rPr>
              <a:t>*</a:t>
            </a:r>
            <a:r>
              <a:rPr lang="zh-CN" altLang="zh-CN" sz="3600" b="1" dirty="0">
                <a:solidFill>
                  <a:srgbClr val="2E2EBA"/>
                </a:solidFill>
                <a:latin typeface="Arial" pitchFamily="34" charset="0"/>
              </a:rPr>
              <a:t>max</a:t>
            </a:r>
            <a:r>
              <a:rPr lang="zh-CN" altLang="zh-CN" sz="3600" b="1" dirty="0">
                <a:solidFill>
                  <a:srgbClr val="2E2EBA"/>
                </a:solidFill>
                <a:latin typeface="Times New Roman" pitchFamily="18" charset="0"/>
              </a:rPr>
              <a:t>(</a:t>
            </a:r>
            <a:r>
              <a:rPr lang="zh-CN" altLang="zh-CN" sz="3600" b="1" dirty="0">
                <a:solidFill>
                  <a:srgbClr val="2E2EBA"/>
                </a:solidFill>
                <a:latin typeface="Arial" pitchFamily="34" charset="0"/>
              </a:rPr>
              <a:t>a</a:t>
            </a:r>
            <a:r>
              <a:rPr lang="zh-CN" altLang="zh-CN" sz="3600" b="1" dirty="0">
                <a:solidFill>
                  <a:srgbClr val="2E2EBA"/>
                </a:solidFill>
                <a:latin typeface="Times New Roman" pitchFamily="18" charset="0"/>
              </a:rPr>
              <a:t>,</a:t>
            </a:r>
            <a:r>
              <a:rPr lang="zh-CN" altLang="zh-CN" sz="3600" b="1" dirty="0">
                <a:solidFill>
                  <a:srgbClr val="2E2EBA"/>
                </a:solidFill>
              </a:rPr>
              <a:t> </a:t>
            </a:r>
            <a:r>
              <a:rPr lang="zh-CN" altLang="zh-CN" sz="3600" b="1" dirty="0">
                <a:solidFill>
                  <a:srgbClr val="2E2EBA"/>
                </a:solidFill>
                <a:latin typeface="Arial" pitchFamily="34" charset="0"/>
              </a:rPr>
              <a:t>b</a:t>
            </a:r>
            <a:r>
              <a:rPr lang="zh-CN" altLang="zh-CN" sz="3600" b="1" dirty="0">
                <a:solidFill>
                  <a:srgbClr val="2E2EBA"/>
                </a:solidFill>
                <a:latin typeface="Times New Roman" pitchFamily="18" charset="0"/>
              </a:rPr>
              <a:t>) ;</a:t>
            </a:r>
          </a:p>
          <a:p>
            <a:pPr marL="187325" indent="-187325">
              <a:lnSpc>
                <a:spcPct val="110000"/>
              </a:lnSpc>
              <a:spcBef>
                <a:spcPct val="60000"/>
              </a:spcBef>
              <a:buNone/>
            </a:pPr>
            <a:r>
              <a:rPr lang="zh-CN" altLang="zh-CN" sz="3600" b="1" dirty="0"/>
              <a:t> </a:t>
            </a:r>
            <a:r>
              <a:rPr lang="zh-CN" altLang="zh-CN" sz="3600" b="1" dirty="0">
                <a:solidFill>
                  <a:srgbClr val="FF0000"/>
                </a:solidFill>
                <a:latin typeface="Times New Roman" pitchFamily="18" charset="0"/>
              </a:rPr>
              <a:t>2)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函数语句</a:t>
            </a:r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zh-CN" altLang="en-US" sz="36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有无返回值均可</a:t>
            </a:r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endParaRPr lang="zh-CN" altLang="zh-CN" sz="3600" b="1" dirty="0">
              <a:solidFill>
                <a:srgbClr val="FF0000"/>
              </a:solidFill>
              <a:latin typeface="Times New Roman" pitchFamily="18" charset="0"/>
            </a:endParaRPr>
          </a:p>
          <a:p>
            <a:pPr marL="187325" indent="-187325">
              <a:lnSpc>
                <a:spcPct val="110000"/>
              </a:lnSpc>
              <a:buNone/>
            </a:pPr>
            <a:r>
              <a:rPr lang="zh-CN" altLang="zh-CN" sz="3600" b="1" dirty="0"/>
              <a:t>     </a:t>
            </a:r>
            <a:r>
              <a:rPr lang="zh-CN" altLang="en-US" sz="3600" b="1" dirty="0"/>
              <a:t>如</a:t>
            </a:r>
            <a:r>
              <a:rPr lang="zh-CN" altLang="zh-CN" sz="3600" b="1" dirty="0">
                <a:latin typeface="Times New Roman" pitchFamily="18" charset="0"/>
              </a:rPr>
              <a:t>:</a:t>
            </a:r>
            <a:r>
              <a:rPr lang="zh-CN" altLang="zh-CN" sz="3600" b="1" dirty="0">
                <a:solidFill>
                  <a:srgbClr val="2E2EBA"/>
                </a:solidFill>
              </a:rPr>
              <a:t>     </a:t>
            </a:r>
            <a:r>
              <a:rPr lang="zh-CN" altLang="zh-CN" sz="3600" b="1" dirty="0">
                <a:solidFill>
                  <a:srgbClr val="2E2EBA"/>
                </a:solidFill>
                <a:latin typeface="Arial" pitchFamily="34" charset="0"/>
              </a:rPr>
              <a:t>printf</a:t>
            </a:r>
            <a:r>
              <a:rPr lang="zh-CN" altLang="zh-CN" sz="3600" b="1" dirty="0">
                <a:solidFill>
                  <a:srgbClr val="2E2EBA"/>
                </a:solidFill>
                <a:latin typeface="Times New Roman" pitchFamily="18" charset="0"/>
              </a:rPr>
              <a:t>(“</a:t>
            </a:r>
            <a:r>
              <a:rPr lang="zh-CN" altLang="zh-CN" sz="3600" b="1" dirty="0">
                <a:solidFill>
                  <a:srgbClr val="2E2EBA"/>
                </a:solidFill>
                <a:latin typeface="黑体" pitchFamily="49" charset="-122"/>
              </a:rPr>
              <a:t>* * * *</a:t>
            </a:r>
            <a:r>
              <a:rPr lang="zh-CN" altLang="zh-CN" sz="3600" b="1" dirty="0">
                <a:solidFill>
                  <a:srgbClr val="2E2EBA"/>
                </a:solidFill>
                <a:latin typeface="Times New Roman" pitchFamily="18" charset="0"/>
              </a:rPr>
              <a:t>”) </a:t>
            </a:r>
            <a:r>
              <a:rPr lang="zh-CN" altLang="zh-CN" sz="3600" b="1">
                <a:solidFill>
                  <a:srgbClr val="2E2EBA"/>
                </a:solidFill>
                <a:latin typeface="Times New Roman" pitchFamily="18" charset="0"/>
              </a:rPr>
              <a:t>;</a:t>
            </a:r>
            <a:r>
              <a:rPr lang="zh-CN" altLang="zh-CN" sz="3600" b="1">
                <a:solidFill>
                  <a:srgbClr val="2E2EBA"/>
                </a:solidFill>
              </a:rPr>
              <a:t>     </a:t>
            </a:r>
            <a:endParaRPr lang="en-US" altLang="zh-CN" sz="3600" b="1">
              <a:solidFill>
                <a:srgbClr val="2E2EBA"/>
              </a:solidFill>
            </a:endParaRPr>
          </a:p>
          <a:p>
            <a:pPr marL="187325" indent="-187325">
              <a:lnSpc>
                <a:spcPct val="110000"/>
              </a:lnSpc>
              <a:buNone/>
            </a:pPr>
            <a:r>
              <a:rPr lang="en-US" altLang="zh-CN" sz="3600" b="1">
                <a:solidFill>
                  <a:srgbClr val="2E2EBA"/>
                </a:solidFill>
                <a:latin typeface="Arial" pitchFamily="34" charset="0"/>
              </a:rPr>
              <a:t>               </a:t>
            </a:r>
            <a:r>
              <a:rPr lang="zh-CN" altLang="zh-CN" sz="3600" b="1">
                <a:solidFill>
                  <a:srgbClr val="2E2EBA"/>
                </a:solidFill>
                <a:latin typeface="Arial" pitchFamily="34" charset="0"/>
              </a:rPr>
              <a:t>fun</a:t>
            </a:r>
            <a:r>
              <a:rPr lang="zh-CN" altLang="zh-CN" sz="3600" b="1" dirty="0">
                <a:solidFill>
                  <a:srgbClr val="2E2EBA"/>
                </a:solidFill>
                <a:latin typeface="Times New Roman" pitchFamily="18" charset="0"/>
              </a:rPr>
              <a:t>( ) ;</a:t>
            </a:r>
          </a:p>
          <a:p>
            <a:pPr marL="187325" indent="-187325">
              <a:lnSpc>
                <a:spcPct val="110000"/>
              </a:lnSpc>
              <a:spcBef>
                <a:spcPct val="65000"/>
              </a:spcBef>
              <a:buNone/>
            </a:pPr>
            <a:r>
              <a:rPr lang="zh-CN" altLang="zh-CN" sz="3600" b="1"/>
              <a:t> </a:t>
            </a:r>
            <a:endParaRPr lang="zh-CN" altLang="zh-CN" sz="3600" b="1" dirty="0">
              <a:solidFill>
                <a:srgbClr val="002BB6"/>
              </a:solidFill>
              <a:latin typeface="Times New Roman" pitchFamily="18" charset="0"/>
            </a:endParaRPr>
          </a:p>
        </p:txBody>
      </p:sp>
      <p:sp>
        <p:nvSpPr>
          <p:cNvPr id="436228" name="Comment 4"/>
          <p:cNvSpPr>
            <a:spLocks noChangeArrowheads="1"/>
          </p:cNvSpPr>
          <p:nvPr/>
        </p:nvSpPr>
        <p:spPr bwMode="auto">
          <a:xfrm>
            <a:off x="8042275" y="1807370"/>
            <a:ext cx="2286000" cy="960437"/>
          </a:xfrm>
          <a:prstGeom prst="rect">
            <a:avLst/>
          </a:prstGeom>
          <a:solidFill>
            <a:srgbClr val="D1E4FF"/>
          </a:solidFill>
          <a:ln w="9525" cmpd="sng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void  fun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( )</a:t>
            </a:r>
            <a:endParaRPr lang="zh-CN" altLang="zh-CN" sz="2400">
              <a:solidFill>
                <a:srgbClr val="000000"/>
              </a:solidFill>
              <a:latin typeface="Times New Roman" pitchFamily="18" charset="0"/>
            </a:endParaRPr>
          </a:p>
          <a:p>
            <a:pPr fontAlgn="base">
              <a:spcBef>
                <a:spcPct val="3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Y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fun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 ;</a:t>
            </a:r>
          </a:p>
        </p:txBody>
      </p:sp>
      <p:sp>
        <p:nvSpPr>
          <p:cNvPr id="436229" name="Text Box 5"/>
          <p:cNvSpPr txBox="1">
            <a:spLocks noChangeArrowheads="1"/>
          </p:cNvSpPr>
          <p:nvPr/>
        </p:nvSpPr>
        <p:spPr bwMode="auto">
          <a:xfrm>
            <a:off x="9480376" y="2258696"/>
            <a:ext cx="685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×</a:t>
            </a:r>
          </a:p>
        </p:txBody>
      </p:sp>
      <p:sp>
        <p:nvSpPr>
          <p:cNvPr id="436230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900238" y="361950"/>
            <a:ext cx="323850" cy="241300"/>
          </a:xfrm>
          <a:prstGeom prst="actionButtonBackPrevious">
            <a:avLst/>
          </a:prstGeom>
          <a:noFill/>
          <a:ln w="0" cmpd="sng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3623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2281239" y="677864"/>
            <a:ext cx="306387" cy="276225"/>
          </a:xfrm>
          <a:prstGeom prst="actionButtonForwardNext">
            <a:avLst/>
          </a:prstGeom>
          <a:noFill/>
          <a:ln w="0" cmpd="sng">
            <a:solidFill>
              <a:srgbClr val="0000C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724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36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8" grpId="0" animBg="1" autoUpdateAnimBg="0"/>
      <p:bldP spid="436229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0938" y="128588"/>
            <a:ext cx="2438400" cy="633412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6.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6464" y="1068388"/>
            <a:ext cx="8289925" cy="5084762"/>
          </a:xfrm>
        </p:spPr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/>
              <a:t>#include&lt;stdio.h&gt;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/>
              <a:t>main( )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/>
              <a:t>{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/>
              <a:t>	int x;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/>
              <a:t>	x=</a:t>
            </a:r>
            <a:r>
              <a:rPr lang="en-US" altLang="zh-CN" b="1" dirty="0" err="1"/>
              <a:t>printf</a:t>
            </a:r>
            <a:r>
              <a:rPr lang="en-US" altLang="zh-CN" b="1" dirty="0"/>
              <a:t>("</a:t>
            </a:r>
            <a:r>
              <a:rPr lang="en-US" altLang="zh-CN" b="1" dirty="0" err="1"/>
              <a:t>abc</a:t>
            </a:r>
            <a:r>
              <a:rPr lang="en-US" altLang="zh-CN" b="1" dirty="0"/>
              <a:t>\n")*2;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/>
              <a:t>	</a:t>
            </a:r>
            <a:r>
              <a:rPr lang="en-US" altLang="zh-CN" b="1" dirty="0" err="1"/>
              <a:t>printf</a:t>
            </a:r>
            <a:r>
              <a:rPr lang="en-US" altLang="zh-CN" b="1" dirty="0"/>
              <a:t>("x=%d\</a:t>
            </a:r>
            <a:r>
              <a:rPr lang="en-US" altLang="zh-CN" b="1" dirty="0" err="1"/>
              <a:t>n",x</a:t>
            </a:r>
            <a:r>
              <a:rPr lang="en-US" altLang="zh-CN" b="1" dirty="0"/>
              <a:t>);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/>
              <a:t>}</a:t>
            </a:r>
            <a:endParaRPr lang="zh-CN" altLang="zh-CN" b="1" dirty="0"/>
          </a:p>
        </p:txBody>
      </p:sp>
      <p:sp>
        <p:nvSpPr>
          <p:cNvPr id="437252" name="Rectangle 4"/>
          <p:cNvSpPr>
            <a:spLocks noChangeArrowheads="1"/>
          </p:cNvSpPr>
          <p:nvPr/>
        </p:nvSpPr>
        <p:spPr bwMode="auto">
          <a:xfrm>
            <a:off x="6744072" y="1412776"/>
            <a:ext cx="3430587" cy="2000548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FF6600"/>
            </a:solidFill>
            <a:miter lim="800000"/>
            <a:headEnd/>
            <a:tailEnd/>
          </a:ln>
          <a:effectLst>
            <a:outerShdw dist="71842" dir="189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程序运行结果</a:t>
            </a:r>
            <a:r>
              <a:rPr lang="zh-CN" altLang="zh-CN" sz="32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3200" b="1" dirty="0">
              <a:solidFill>
                <a:srgbClr val="FF6600"/>
              </a:solidFill>
              <a:latin typeface="楷体_GB2312" pitchFamily="49" charset="-122"/>
              <a:ea typeface="楷体_GB2312" pitchFamily="49" charset="-122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4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1" dirty="0" err="1">
                <a:solidFill>
                  <a:srgbClr val="000000"/>
                </a:solidFill>
                <a:latin typeface="黑体" pitchFamily="49" charset="-122"/>
              </a:rPr>
              <a:t>abc</a:t>
            </a:r>
            <a:endParaRPr lang="en-US" altLang="zh-CN" sz="3200" b="1" dirty="0">
              <a:solidFill>
                <a:srgbClr val="000000"/>
              </a:solidFill>
              <a:latin typeface="黑体" pitchFamily="49" charset="-122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黑体" pitchFamily="49" charset="-122"/>
              </a:rPr>
              <a:t>   x=8</a:t>
            </a:r>
            <a:endParaRPr lang="zh-CN" altLang="zh-CN" sz="3200" b="1" dirty="0">
              <a:solidFill>
                <a:srgbClr val="000000"/>
              </a:solidFill>
              <a:latin typeface="黑体" pitchFamily="49" charset="-122"/>
            </a:endParaRPr>
          </a:p>
        </p:txBody>
      </p:sp>
      <p:sp>
        <p:nvSpPr>
          <p:cNvPr id="437253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2279651" y="765175"/>
            <a:ext cx="333375" cy="261938"/>
          </a:xfrm>
          <a:prstGeom prst="actionButtonBackPrevious">
            <a:avLst/>
          </a:prstGeom>
          <a:noFill/>
          <a:ln w="0" cmpd="sng">
            <a:solidFill>
              <a:srgbClr val="0000C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734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2" grpId="0" build="p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AEA92B3-B966-01DE-B9FE-DC9916FF143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一个函数的返回值是由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确定的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6A6137-D3B5-F46E-DDCA-C95364E67D5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return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语句的表达式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811008-4968-37B9-DC28-CB2041F65B6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主调函数的类型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6EB673-D71E-B08E-C0B0-182EA3735B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被调函数的类型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0F3F67-6E78-776B-F5A3-07CE5DA1706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系统默认类型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AF54368-E447-6CC1-116A-A6815346C76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EB66924-28DF-02B2-FB05-2DD0856B3FD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C2FBBCD-58CC-EE6E-6FFF-62A0D66FED3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F24191A-0BAA-FF2E-34FF-97B288D2F22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2DE31BC-CE89-1467-3F22-02B31CBE2ED7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D74E484-3754-8D84-E68A-5AACCC05C21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BCAFCEC9-120E-0CAE-E6EE-6A413C06B5B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5FA40B2-8031-FC3A-B2CD-AC462229127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7A2DE5B9-7B25-132D-0626-42FE62F6541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E9E9B63A-C33C-D161-2EA6-5DF091D2430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8E5A89A-067B-BDD5-CFBD-4D53BDF87DD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4651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A9FB95E-9481-4CF3-4F8B-23141CE29C0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函数的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默认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返回值类型是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B624D3-04B2-9ECA-78AF-AC360C420C7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unsigned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1E8CB3-620B-BA1A-ECE7-55BF69B576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A2FDD0-78D8-A818-FA91-3A27CD75B2E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void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6BBE5A-33C1-B71E-8011-332CAC67341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long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0A73658-CF74-D5E2-48F9-CC6C2EB15C1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AA34C12-5AA0-5524-280D-ED4410791C0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32EF7A-5A4C-7DB1-A3C6-55E94575A20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76696-A41D-EF81-F00A-82CB12A291F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18409A-6121-D6B3-6185-EBD88BC659EE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B344EE0-F513-D31E-0F0B-5F296442245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6E363B5D-3F6C-D8CA-50C0-021F545C951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42DE0DA-47C3-8C8A-8E26-9BD7A924BB3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F2169752-E292-97C8-5E29-FB3DD897F58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859D76F-7D52-EEC0-D9D3-C9B667B9F76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C0569CF-DD0B-D236-CE20-2C2E71D6197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139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94100" y="39689"/>
            <a:ext cx="6034088" cy="80962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3.3  </a:t>
            </a:r>
            <a:r>
              <a:rPr lang="zh-CN" altLang="en-US" sz="3600" dirty="0">
                <a:latin typeface="楷体_GB2312" pitchFamily="49" charset="-122"/>
              </a:rPr>
              <a:t>函数的参数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25650" y="1349375"/>
            <a:ext cx="8001000" cy="453548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40000"/>
              </a:spcBef>
              <a:buSzPct val="85000"/>
              <a:buFont typeface="Wingdings" pitchFamily="2" charset="2"/>
              <a:buChar char="&amp;"/>
            </a:pPr>
            <a:r>
              <a:rPr lang="zh-CN" altLang="en-US" sz="2800" b="1" dirty="0">
                <a:latin typeface="黑体" pitchFamily="49" charset="-122"/>
              </a:rPr>
              <a:t>在调用函数时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黑体" pitchFamily="49" charset="-122"/>
              </a:rPr>
              <a:t>大多数情况下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黑体" pitchFamily="49" charset="-122"/>
              </a:rPr>
              <a:t>调用函数与被调用函数之间有数据传递关系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黑体" pitchFamily="49" charset="-122"/>
              </a:rPr>
              <a:t>即实参与形参的</a:t>
            </a:r>
            <a:r>
              <a:rPr lang="zh-CN" altLang="en-US" sz="2800" b="1">
                <a:latin typeface="黑体" pitchFamily="49" charset="-122"/>
              </a:rPr>
              <a:t>结合。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形参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=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实数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</a:endParaRPr>
          </a:p>
          <a:p>
            <a:pPr>
              <a:lnSpc>
                <a:spcPct val="120000"/>
              </a:lnSpc>
              <a:spcBef>
                <a:spcPct val="40000"/>
              </a:spcBef>
              <a:buClr>
                <a:srgbClr val="CC00FF"/>
              </a:buClr>
              <a:buSzTx/>
              <a:buFont typeface="Wingdings" pitchFamily="2" charset="2"/>
              <a:buNone/>
            </a:pPr>
            <a:r>
              <a:rPr lang="zh-CN" altLang="en-US" sz="2800" b="1">
                <a:latin typeface="黑体" pitchFamily="49" charset="-122"/>
              </a:rPr>
              <a:t>  </a:t>
            </a:r>
            <a:endParaRPr lang="en-US" altLang="zh-CN" sz="2800" b="1">
              <a:latin typeface="黑体" pitchFamily="49" charset="-122"/>
            </a:endParaRPr>
          </a:p>
          <a:p>
            <a:pPr>
              <a:lnSpc>
                <a:spcPct val="120000"/>
              </a:lnSpc>
              <a:spcBef>
                <a:spcPct val="40000"/>
              </a:spcBef>
              <a:buClr>
                <a:srgbClr val="CC00FF"/>
              </a:buClr>
              <a:buSzTx/>
              <a:buFont typeface="Wingdings" pitchFamily="2" charset="2"/>
              <a:buNone/>
            </a:pPr>
            <a:r>
              <a:rPr lang="zh-CN" altLang="en-US" sz="2800" b="1">
                <a:latin typeface="黑体" pitchFamily="49" charset="-122"/>
              </a:rPr>
              <a:t>正确</a:t>
            </a:r>
            <a:r>
              <a:rPr lang="zh-CN" altLang="en-US" sz="2800" b="1" dirty="0">
                <a:latin typeface="黑体" pitchFamily="49" charset="-122"/>
              </a:rPr>
              <a:t>地进行结合是函数调用的</a:t>
            </a:r>
            <a:r>
              <a:rPr lang="zh-CN" altLang="en-US" sz="2800" b="1">
                <a:latin typeface="黑体" pitchFamily="49" charset="-122"/>
              </a:rPr>
              <a:t>关键。</a:t>
            </a:r>
            <a:endParaRPr lang="en-US" altLang="zh-CN" sz="2800" b="1">
              <a:latin typeface="黑体" pitchFamily="49" charset="-122"/>
            </a:endParaRPr>
          </a:p>
          <a:p>
            <a:pPr>
              <a:lnSpc>
                <a:spcPct val="120000"/>
              </a:lnSpc>
              <a:spcBef>
                <a:spcPct val="40000"/>
              </a:spcBef>
              <a:buClr>
                <a:srgbClr val="CC00FF"/>
              </a:buClr>
              <a:buSzTx/>
              <a:buFont typeface="Wingdings" pitchFamily="2" charset="2"/>
              <a:buNone/>
            </a:pPr>
            <a:r>
              <a:rPr lang="zh-CN" altLang="en-US" sz="2800" b="1">
                <a:latin typeface="黑体" pitchFamily="49" charset="-122"/>
              </a:rPr>
              <a:t>结合</a:t>
            </a:r>
            <a:r>
              <a:rPr lang="zh-CN" altLang="en-US" sz="2800" b="1" dirty="0">
                <a:latin typeface="黑体" pitchFamily="49" charset="-122"/>
              </a:rPr>
              <a:t>时应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</a:rPr>
              <a:t>注意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:  </a:t>
            </a:r>
            <a:r>
              <a:rPr lang="zh-CN" altLang="en-US" sz="2800" b="1" dirty="0">
                <a:latin typeface="黑体" pitchFamily="49" charset="-122"/>
              </a:rPr>
              <a:t>实参与形参的个数相等</a:t>
            </a:r>
            <a:r>
              <a:rPr lang="zh-CN" altLang="zh-CN" sz="2800" b="1" dirty="0">
                <a:latin typeface="Times New Roman" pitchFamily="18" charset="0"/>
              </a:rPr>
              <a:t>,  </a:t>
            </a:r>
            <a:r>
              <a:rPr lang="zh-CN" altLang="en-US" sz="2800" b="1" dirty="0">
                <a:latin typeface="黑体" pitchFamily="49" charset="-122"/>
              </a:rPr>
              <a:t>顺序一致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en-US" sz="2800" b="1" dirty="0">
                <a:latin typeface="黑体" pitchFamily="49" charset="-122"/>
              </a:rPr>
              <a:t>类型相容</a:t>
            </a:r>
            <a:r>
              <a:rPr lang="zh-CN" altLang="en-US" sz="2400" b="1" dirty="0">
                <a:latin typeface="黑体" pitchFamily="49" charset="-122"/>
              </a:rPr>
              <a:t>。</a:t>
            </a:r>
          </a:p>
          <a:p>
            <a:pPr>
              <a:lnSpc>
                <a:spcPct val="105000"/>
              </a:lnSpc>
              <a:buClr>
                <a:srgbClr val="CC00FF"/>
              </a:buClr>
              <a:buSzTx/>
              <a:buFont typeface="Wingdings" pitchFamily="2" charset="2"/>
              <a:buNone/>
            </a:pPr>
            <a:endParaRPr lang="zh-CN" altLang="en-US" sz="2800" b="1" dirty="0">
              <a:latin typeface="黑体" pitchFamily="49" charset="-122"/>
            </a:endParaRPr>
          </a:p>
          <a:p>
            <a:pPr>
              <a:buFont typeface="Wingdings" pitchFamily="2" charset="2"/>
              <a:buNone/>
            </a:pPr>
            <a:endParaRPr lang="zh-CN" altLang="zh-CN" sz="28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526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376" y="193675"/>
            <a:ext cx="7059613" cy="628650"/>
          </a:xfrm>
        </p:spPr>
        <p:txBody>
          <a:bodyPr/>
          <a:lstStyle/>
          <a:p>
            <a:pPr marL="265113" indent="-265113">
              <a:buClr>
                <a:srgbClr val="008000"/>
              </a:buClr>
              <a:buSzPct val="55000"/>
              <a:buFont typeface="Wingdings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形参是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普通变量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时的结合</a:t>
            </a:r>
            <a:endParaRPr lang="zh-CN" altLang="en-US" sz="40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9175" y="1187450"/>
            <a:ext cx="8070850" cy="4495800"/>
          </a:xfrm>
        </p:spPr>
        <p:txBody>
          <a:bodyPr/>
          <a:lstStyle/>
          <a:p>
            <a:pPr marL="274638" indent="-274638">
              <a:lnSpc>
                <a:spcPct val="135000"/>
              </a:lnSpc>
              <a:spcBef>
                <a:spcPct val="55000"/>
              </a:spcBef>
              <a:buSzPct val="85000"/>
              <a:buFont typeface="Wingdings 2" pitchFamily="18" charset="2"/>
              <a:buChar char="ô"/>
            </a:pPr>
            <a:r>
              <a:rPr lang="zh-CN" altLang="en-US" b="1" dirty="0">
                <a:latin typeface="黑体" pitchFamily="49" charset="-122"/>
              </a:rPr>
              <a:t>实参和形参之间的数据传递采用</a:t>
            </a:r>
            <a:r>
              <a:rPr lang="zh-CN" altLang="en-US" b="1" dirty="0">
                <a:solidFill>
                  <a:srgbClr val="CC00CC"/>
                </a:solidFill>
                <a:latin typeface="黑体" pitchFamily="49" charset="-122"/>
              </a:rPr>
              <a:t>单</a:t>
            </a:r>
            <a:r>
              <a:rPr lang="zh-CN" altLang="en-US" b="1" dirty="0">
                <a:latin typeface="黑体" pitchFamily="49" charset="-122"/>
              </a:rPr>
              <a:t>方向的</a:t>
            </a:r>
            <a:r>
              <a:rPr lang="zh-CN" altLang="en-US" b="1" dirty="0">
                <a:latin typeface="Times New Roman"/>
              </a:rPr>
              <a:t>“</a:t>
            </a:r>
            <a:r>
              <a:rPr lang="zh-CN" altLang="en-US" b="1" dirty="0">
                <a:solidFill>
                  <a:srgbClr val="CC00CC"/>
                </a:solidFill>
                <a:latin typeface="黑体" pitchFamily="49" charset="-122"/>
              </a:rPr>
              <a:t>传递</a:t>
            </a:r>
            <a:r>
              <a:rPr lang="zh-CN" altLang="en-US" b="1" dirty="0">
                <a:latin typeface="Times New Roman"/>
              </a:rPr>
              <a:t>”</a:t>
            </a:r>
            <a:r>
              <a:rPr lang="zh-CN" altLang="en-US" b="1" dirty="0">
                <a:latin typeface="黑体" pitchFamily="49" charset="-122"/>
              </a:rPr>
              <a:t>。</a:t>
            </a:r>
            <a:endParaRPr lang="en-US" altLang="zh-CN" b="1" dirty="0">
              <a:latin typeface="黑体" pitchFamily="49" charset="-122"/>
            </a:endParaRPr>
          </a:p>
          <a:p>
            <a:pPr marL="274638" indent="-274638">
              <a:lnSpc>
                <a:spcPct val="135000"/>
              </a:lnSpc>
              <a:spcBef>
                <a:spcPct val="55000"/>
              </a:spcBef>
              <a:buSzPct val="85000"/>
              <a:buFont typeface="Wingdings 2" pitchFamily="18" charset="2"/>
              <a:buChar char="ô"/>
            </a:pPr>
            <a:r>
              <a:rPr lang="zh-CN" altLang="en-US" b="1" dirty="0">
                <a:latin typeface="黑体" pitchFamily="49" charset="-122"/>
              </a:rPr>
              <a:t>只能把实参值传给形参，而不能由形参传回来给实参</a:t>
            </a:r>
            <a:r>
              <a:rPr lang="zh-CN" altLang="en-US" sz="2400" b="1" dirty="0">
                <a:latin typeface="黑体" pitchFamily="49" charset="-122"/>
              </a:rPr>
              <a:t>。</a:t>
            </a:r>
            <a:endParaRPr lang="en-US" altLang="zh-CN" sz="2400" b="1" dirty="0">
              <a:latin typeface="黑体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6CEA00-8457-4052-B7B5-414E92D85F0F}"/>
              </a:ext>
            </a:extLst>
          </p:cNvPr>
          <p:cNvSpPr txBox="1"/>
          <p:nvPr/>
        </p:nvSpPr>
        <p:spPr>
          <a:xfrm>
            <a:off x="2639616" y="4293096"/>
            <a:ext cx="73448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如果实参是个变量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实参变量和形参变量即使名称相同也是两个不同的变量，形参的改变不影响实参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</a:endParaRPr>
          </a:p>
          <a:p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7830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376" y="193675"/>
            <a:ext cx="7059613" cy="628650"/>
          </a:xfrm>
        </p:spPr>
        <p:txBody>
          <a:bodyPr/>
          <a:lstStyle/>
          <a:p>
            <a:pPr marL="265113" indent="-265113">
              <a:buClr>
                <a:srgbClr val="008000"/>
              </a:buClr>
              <a:buSzPct val="55000"/>
              <a:buFont typeface="Wingdings" pitchFamily="2" charset="2"/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形参是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普通变量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时的结合</a:t>
            </a:r>
            <a:endParaRPr lang="zh-CN" altLang="en-US" sz="40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9175" y="1187450"/>
            <a:ext cx="8070850" cy="4495800"/>
          </a:xfrm>
        </p:spPr>
        <p:txBody>
          <a:bodyPr/>
          <a:lstStyle/>
          <a:p>
            <a:pPr marL="274638" indent="-274638">
              <a:lnSpc>
                <a:spcPct val="135000"/>
              </a:lnSpc>
              <a:spcBef>
                <a:spcPct val="55000"/>
              </a:spcBef>
              <a:buSzPct val="85000"/>
              <a:buFont typeface="Wingdings 2" pitchFamily="18" charset="2"/>
              <a:buChar char="ô"/>
            </a:pPr>
            <a:r>
              <a:rPr lang="zh-CN" altLang="en-US" b="1">
                <a:latin typeface="黑体" pitchFamily="49" charset="-122"/>
              </a:rPr>
              <a:t>在</a:t>
            </a:r>
            <a:r>
              <a:rPr lang="zh-CN" altLang="en-US" b="1" dirty="0">
                <a:latin typeface="黑体" pitchFamily="49" charset="-122"/>
              </a:rPr>
              <a:t>内存中实参单元和形参单元是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不同</a:t>
            </a:r>
            <a:r>
              <a:rPr lang="zh-CN" altLang="en-US" b="1" dirty="0">
                <a:latin typeface="黑体" pitchFamily="49" charset="-122"/>
              </a:rPr>
              <a:t>的存储单元（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即使名称相同</a:t>
            </a:r>
            <a:r>
              <a:rPr lang="zh-CN" altLang="en-US" b="1">
                <a:latin typeface="黑体" pitchFamily="49" charset="-122"/>
              </a:rPr>
              <a:t>）。</a:t>
            </a:r>
            <a:endParaRPr lang="en-US" altLang="zh-CN" b="1">
              <a:latin typeface="黑体" pitchFamily="49" charset="-122"/>
            </a:endParaRPr>
          </a:p>
          <a:p>
            <a:pPr marL="274638" indent="-274638">
              <a:lnSpc>
                <a:spcPct val="135000"/>
              </a:lnSpc>
              <a:spcBef>
                <a:spcPct val="55000"/>
              </a:spcBef>
              <a:buSzPct val="85000"/>
              <a:buFont typeface="Wingdings 2" pitchFamily="18" charset="2"/>
              <a:buChar char="ô"/>
            </a:pPr>
            <a:r>
              <a:rPr lang="zh-CN" altLang="en-US" b="1">
                <a:latin typeface="黑体" pitchFamily="49" charset="-122"/>
              </a:rPr>
              <a:t>因此</a:t>
            </a:r>
            <a:r>
              <a:rPr lang="zh-CN" altLang="zh-CN" b="1" dirty="0">
                <a:latin typeface="Times New Roman" pitchFamily="18" charset="0"/>
              </a:rPr>
              <a:t>,  </a:t>
            </a:r>
            <a:r>
              <a:rPr lang="zh-CN" altLang="en-US" b="1" dirty="0">
                <a:latin typeface="黑体" pitchFamily="49" charset="-122"/>
              </a:rPr>
              <a:t>形参的值如发生改变</a:t>
            </a:r>
            <a:r>
              <a:rPr lang="zh-CN" altLang="zh-CN" b="1" dirty="0">
                <a:latin typeface="Times New Roman" pitchFamily="18" charset="0"/>
              </a:rPr>
              <a:t>,  </a:t>
            </a:r>
            <a:r>
              <a:rPr lang="zh-CN" altLang="en-US" b="1" dirty="0">
                <a:latin typeface="黑体" pitchFamily="49" charset="-122"/>
              </a:rPr>
              <a:t>不会影响到调用函数中实参的值。</a:t>
            </a:r>
          </a:p>
        </p:txBody>
      </p:sp>
    </p:spTree>
    <p:extLst>
      <p:ext uri="{BB962C8B-B14F-4D97-AF65-F5344CB8AC3E}">
        <p14:creationId xmlns:p14="http://schemas.microsoft.com/office/powerpoint/2010/main" val="488082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35188" y="1524000"/>
            <a:ext cx="8064500" cy="3024188"/>
          </a:xfrm>
        </p:spPr>
        <p:txBody>
          <a:bodyPr/>
          <a:lstStyle/>
          <a:p>
            <a:pPr>
              <a:spcBef>
                <a:spcPct val="35000"/>
              </a:spcBef>
              <a:buFont typeface="Wingdings" pitchFamily="2" charset="2"/>
              <a:buNone/>
            </a:pPr>
            <a:r>
              <a:rPr lang="zh-CN" altLang="en-US" sz="2400" b="1"/>
              <a:t>void  </a:t>
            </a:r>
            <a:r>
              <a:rPr lang="fr-FR" altLang="en-US" sz="2400" b="1"/>
              <a:t>change</a:t>
            </a:r>
            <a:r>
              <a:rPr lang="fr-FR" altLang="en-US" sz="2400" b="1">
                <a:latin typeface="Times New Roman" pitchFamily="18" charset="0"/>
              </a:rPr>
              <a:t>(</a:t>
            </a:r>
            <a:r>
              <a:rPr lang="fr-FR" altLang="en-US" sz="2400" b="1"/>
              <a:t> int</a:t>
            </a:r>
            <a:r>
              <a:rPr lang="fr-FR" altLang="en-US" sz="1800" b="1"/>
              <a:t>  </a:t>
            </a:r>
            <a:r>
              <a:rPr lang="fr-FR" altLang="en-US" sz="2400" b="1"/>
              <a:t>a</a:t>
            </a:r>
            <a:r>
              <a:rPr lang="fr-FR" altLang="en-US" sz="2400" b="1">
                <a:latin typeface="Times New Roman" pitchFamily="18" charset="0"/>
              </a:rPr>
              <a:t>,</a:t>
            </a:r>
            <a:r>
              <a:rPr lang="fr-FR" altLang="en-US" sz="2400" b="1"/>
              <a:t> int</a:t>
            </a:r>
            <a:r>
              <a:rPr lang="fr-FR" altLang="en-US" sz="1800" b="1"/>
              <a:t>  </a:t>
            </a:r>
            <a:r>
              <a:rPr lang="fr-FR" altLang="en-US" sz="2400" b="1"/>
              <a:t>b</a:t>
            </a:r>
            <a:r>
              <a:rPr lang="fr-FR" altLang="en-US" sz="2400" b="1">
                <a:latin typeface="Times New Roman" pitchFamily="18" charset="0"/>
              </a:rPr>
              <a:t> )</a:t>
            </a:r>
            <a:r>
              <a:rPr lang="zh-CN" altLang="en-US" sz="2400" b="1">
                <a:latin typeface="Times New Roman" pitchFamily="18" charset="0"/>
              </a:rPr>
              <a:t> ;</a:t>
            </a:r>
            <a:r>
              <a:rPr lang="zh-CN" altLang="en-US" sz="2800" b="1">
                <a:latin typeface="Times New Roman" pitchFamily="18" charset="0"/>
              </a:rPr>
              <a:t>  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b="1"/>
              <a:t>main</a:t>
            </a:r>
            <a:r>
              <a:rPr lang="zh-CN" altLang="en-US" sz="2400" b="1">
                <a:latin typeface="Times New Roman" pitchFamily="18" charset="0"/>
              </a:rPr>
              <a:t>( )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/>
              <a:t>{</a:t>
            </a:r>
            <a:r>
              <a:rPr lang="zh-CN" altLang="en-US" sz="2400"/>
              <a:t> </a:t>
            </a:r>
            <a:r>
              <a:rPr lang="zh-CN" altLang="en-US" sz="2400" b="1"/>
              <a:t>int  a</a:t>
            </a:r>
            <a:r>
              <a:rPr lang="zh-CN" altLang="en-US" sz="2400" b="1">
                <a:latin typeface="Times New Roman" pitchFamily="18" charset="0"/>
              </a:rPr>
              <a:t>,</a:t>
            </a:r>
            <a:r>
              <a:rPr lang="zh-CN" altLang="en-US" sz="2400" b="1"/>
              <a:t> b </a:t>
            </a:r>
            <a:r>
              <a:rPr lang="zh-CN" altLang="en-US" sz="2400" b="1">
                <a:latin typeface="Times New Roman" pitchFamily="18" charset="0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/>
              <a:t>   a=2 </a:t>
            </a:r>
            <a:r>
              <a:rPr lang="zh-CN" altLang="en-US" sz="2400" b="1">
                <a:latin typeface="Times New Roman" pitchFamily="18" charset="0"/>
              </a:rPr>
              <a:t>;</a:t>
            </a:r>
            <a:r>
              <a:rPr lang="zh-CN" altLang="en-US" sz="2400" b="1"/>
              <a:t> b=3 </a:t>
            </a:r>
            <a:r>
              <a:rPr lang="zh-CN" altLang="en-US" sz="2400" b="1">
                <a:latin typeface="Times New Roman" pitchFamily="18" charset="0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/>
              <a:t>   </a:t>
            </a:r>
            <a:r>
              <a:rPr lang="zh-CN" altLang="en-US" sz="2400" b="1">
                <a:solidFill>
                  <a:srgbClr val="00009E"/>
                </a:solidFill>
              </a:rPr>
              <a:t>change</a:t>
            </a:r>
            <a:r>
              <a:rPr lang="zh-CN" altLang="en-US" sz="2400" b="1">
                <a:solidFill>
                  <a:srgbClr val="00009E"/>
                </a:solidFill>
                <a:latin typeface="Times New Roman" pitchFamily="18" charset="0"/>
              </a:rPr>
              <a:t>(</a:t>
            </a:r>
            <a:r>
              <a:rPr lang="zh-CN" altLang="en-US" sz="2400" b="1">
                <a:solidFill>
                  <a:srgbClr val="00009E"/>
                </a:solidFill>
              </a:rPr>
              <a:t>a</a:t>
            </a:r>
            <a:r>
              <a:rPr lang="zh-CN" altLang="en-US" sz="2400" b="1">
                <a:solidFill>
                  <a:srgbClr val="00009E"/>
                </a:solidFill>
                <a:latin typeface="Times New Roman" pitchFamily="18" charset="0"/>
              </a:rPr>
              <a:t>,</a:t>
            </a:r>
            <a:r>
              <a:rPr lang="zh-CN" altLang="en-US" sz="2400" b="1">
                <a:solidFill>
                  <a:srgbClr val="00009E"/>
                </a:solidFill>
              </a:rPr>
              <a:t> b</a:t>
            </a:r>
            <a:r>
              <a:rPr lang="zh-CN" altLang="en-US" sz="2400" b="1">
                <a:solidFill>
                  <a:srgbClr val="00009E"/>
                </a:solidFill>
                <a:latin typeface="Times New Roman" pitchFamily="18" charset="0"/>
              </a:rPr>
              <a:t>)</a:t>
            </a:r>
            <a:r>
              <a:rPr lang="zh-CN" altLang="en-US" sz="2400" b="1">
                <a:latin typeface="Times New Roman" pitchFamily="18" charset="0"/>
              </a:rPr>
              <a:t> ;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/>
              <a:t>   printf</a:t>
            </a:r>
            <a:r>
              <a:rPr lang="zh-CN" altLang="en-US" sz="2400" b="1">
                <a:latin typeface="Times New Roman" pitchFamily="18" charset="0"/>
              </a:rPr>
              <a:t>(“</a:t>
            </a:r>
            <a:r>
              <a:rPr lang="zh-CN" altLang="en-US" sz="2400" b="1"/>
              <a:t>a=%d b=%d</a:t>
            </a:r>
            <a:r>
              <a:rPr lang="zh-CN" altLang="en-US" sz="2400"/>
              <a:t>\</a:t>
            </a:r>
            <a:r>
              <a:rPr lang="zh-CN" altLang="en-US" sz="2400" b="1"/>
              <a:t>n</a:t>
            </a:r>
            <a:r>
              <a:rPr lang="zh-CN" altLang="en-US" sz="2400" b="1">
                <a:latin typeface="Times New Roman" pitchFamily="18" charset="0"/>
              </a:rPr>
              <a:t>”,</a:t>
            </a:r>
            <a:r>
              <a:rPr lang="zh-CN" altLang="en-US" sz="2400" b="1"/>
              <a:t>a</a:t>
            </a:r>
            <a:r>
              <a:rPr lang="zh-CN" altLang="en-US" sz="2400" b="1">
                <a:latin typeface="Times New Roman" pitchFamily="18" charset="0"/>
              </a:rPr>
              <a:t>,</a:t>
            </a:r>
            <a:r>
              <a:rPr lang="zh-CN" altLang="en-US" sz="2400" b="1"/>
              <a:t>b</a:t>
            </a:r>
            <a:r>
              <a:rPr lang="zh-CN" altLang="en-US" sz="2400" b="1">
                <a:latin typeface="Times New Roman" pitchFamily="18" charset="0"/>
              </a:rPr>
              <a:t>);</a:t>
            </a:r>
          </a:p>
          <a:p>
            <a:pPr>
              <a:spcBef>
                <a:spcPct val="5000"/>
              </a:spcBef>
              <a:buFont typeface="Wingdings" pitchFamily="2" charset="2"/>
              <a:buNone/>
            </a:pPr>
            <a:r>
              <a:rPr lang="zh-CN" altLang="en-US" sz="2400" b="1"/>
              <a:t>}</a:t>
            </a:r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title"/>
          </p:nvPr>
        </p:nvSpPr>
        <p:spPr>
          <a:xfrm>
            <a:off x="2405063" y="138114"/>
            <a:ext cx="7162800" cy="657225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例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7-4:</a:t>
            </a:r>
            <a:r>
              <a:rPr lang="zh-CN" altLang="zh-CN" sz="2800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调用函数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完成两个变量的交换</a:t>
            </a:r>
            <a:r>
              <a:rPr lang="zh-CN" altLang="en-US" sz="2400">
                <a:solidFill>
                  <a:schemeClr val="tx1"/>
                </a:solidFill>
                <a:ea typeface="黑体" pitchFamily="49" charset="-122"/>
              </a:rPr>
              <a:t>。</a:t>
            </a:r>
          </a:p>
        </p:txBody>
      </p:sp>
      <p:sp>
        <p:nvSpPr>
          <p:cNvPr id="442372" name="Text Box 4"/>
          <p:cNvSpPr txBox="1">
            <a:spLocks noChangeArrowheads="1"/>
          </p:cNvSpPr>
          <p:nvPr/>
        </p:nvSpPr>
        <p:spPr bwMode="auto">
          <a:xfrm>
            <a:off x="6613526" y="1984376"/>
            <a:ext cx="4022725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void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change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int</a:t>
            </a:r>
            <a:r>
              <a:rPr lang="zh-CN" altLang="zh-CN" b="1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int</a:t>
            </a:r>
            <a:r>
              <a:rPr lang="zh-CN" altLang="zh-CN" b="1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b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</a:rPr>
              <a:t>{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int  t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  t=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b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b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=t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42373" name="Line 5"/>
          <p:cNvSpPr>
            <a:spLocks noChangeShapeType="1"/>
          </p:cNvSpPr>
          <p:nvPr/>
        </p:nvSpPr>
        <p:spPr bwMode="auto">
          <a:xfrm>
            <a:off x="5535613" y="5119688"/>
            <a:ext cx="0" cy="27940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42374" name="Line 6"/>
          <p:cNvSpPr>
            <a:spLocks noChangeShapeType="1"/>
          </p:cNvSpPr>
          <p:nvPr/>
        </p:nvSpPr>
        <p:spPr bwMode="auto">
          <a:xfrm>
            <a:off x="7464425" y="5086350"/>
            <a:ext cx="0" cy="30480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42375" name="Text Box 7"/>
          <p:cNvSpPr txBox="1">
            <a:spLocks noChangeArrowheads="1"/>
          </p:cNvSpPr>
          <p:nvPr/>
        </p:nvSpPr>
        <p:spPr bwMode="auto">
          <a:xfrm>
            <a:off x="5372100" y="540385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442376" name="Text Box 8"/>
          <p:cNvSpPr txBox="1">
            <a:spLocks noChangeArrowheads="1"/>
          </p:cNvSpPr>
          <p:nvPr/>
        </p:nvSpPr>
        <p:spPr bwMode="auto">
          <a:xfrm>
            <a:off x="7289800" y="5376863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3</a:t>
            </a:r>
          </a:p>
        </p:txBody>
      </p:sp>
      <p:sp>
        <p:nvSpPr>
          <p:cNvPr id="442377" name="Text Box 9"/>
          <p:cNvSpPr txBox="1">
            <a:spLocks noChangeArrowheads="1"/>
          </p:cNvSpPr>
          <p:nvPr/>
        </p:nvSpPr>
        <p:spPr bwMode="auto">
          <a:xfrm>
            <a:off x="5451475" y="5429250"/>
            <a:ext cx="3556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3</a:t>
            </a:r>
          </a:p>
        </p:txBody>
      </p:sp>
      <p:sp>
        <p:nvSpPr>
          <p:cNvPr id="442378" name="Text Box 10"/>
          <p:cNvSpPr txBox="1">
            <a:spLocks noChangeArrowheads="1"/>
          </p:cNvSpPr>
          <p:nvPr/>
        </p:nvSpPr>
        <p:spPr bwMode="auto">
          <a:xfrm>
            <a:off x="7362825" y="5432425"/>
            <a:ext cx="3556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442379" name="Rectangle 11"/>
          <p:cNvSpPr>
            <a:spLocks noChangeArrowheads="1"/>
          </p:cNvSpPr>
          <p:nvPr/>
        </p:nvSpPr>
        <p:spPr bwMode="auto">
          <a:xfrm>
            <a:off x="2605088" y="107950"/>
            <a:ext cx="7086600" cy="1068388"/>
          </a:xfrm>
          <a:prstGeom prst="rect">
            <a:avLst/>
          </a:prstGeom>
          <a:solidFill>
            <a:srgbClr val="D1E8FF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8280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特点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zh-CN" sz="2800" b="1">
                <a:solidFill>
                  <a:srgbClr val="FF0000"/>
                </a:solidFill>
                <a:latin typeface="黑体" pitchFamily="49" charset="-122"/>
              </a:rPr>
              <a:t> </a:t>
            </a:r>
            <a:r>
              <a:rPr lang="zh-CN" altLang="zh-CN" sz="800" b="1">
                <a:solidFill>
                  <a:srgbClr val="FF0000"/>
                </a:solidFill>
                <a:latin typeface="黑体" pitchFamily="49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单向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传递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传递实参的值。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实参与形参占用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不同的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存储单元</a:t>
            </a:r>
          </a:p>
        </p:txBody>
      </p:sp>
      <p:sp>
        <p:nvSpPr>
          <p:cNvPr id="442380" name="Text Box 12"/>
          <p:cNvSpPr txBox="1">
            <a:spLocks noChangeArrowheads="1"/>
          </p:cNvSpPr>
          <p:nvPr/>
        </p:nvSpPr>
        <p:spPr bwMode="auto">
          <a:xfrm>
            <a:off x="5348288" y="464185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442381" name="Text Box 13"/>
          <p:cNvSpPr txBox="1">
            <a:spLocks noChangeArrowheads="1"/>
          </p:cNvSpPr>
          <p:nvPr/>
        </p:nvSpPr>
        <p:spPr bwMode="auto">
          <a:xfrm>
            <a:off x="7277100" y="464185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3</a:t>
            </a:r>
          </a:p>
        </p:txBody>
      </p:sp>
      <p:grpSp>
        <p:nvGrpSpPr>
          <p:cNvPr id="442382" name="Group 14"/>
          <p:cNvGrpSpPr>
            <a:grpSpLocks/>
          </p:cNvGrpSpPr>
          <p:nvPr/>
        </p:nvGrpSpPr>
        <p:grpSpPr bwMode="auto">
          <a:xfrm>
            <a:off x="2336800" y="5246689"/>
            <a:ext cx="7366000" cy="966787"/>
            <a:chOff x="0" y="0"/>
            <a:chExt cx="4640" cy="609"/>
          </a:xfrm>
        </p:grpSpPr>
        <p:grpSp>
          <p:nvGrpSpPr>
            <p:cNvPr id="442383" name="Group 15"/>
            <p:cNvGrpSpPr>
              <a:grpSpLocks/>
            </p:cNvGrpSpPr>
            <p:nvPr/>
          </p:nvGrpSpPr>
          <p:grpSpPr bwMode="auto">
            <a:xfrm>
              <a:off x="0" y="0"/>
              <a:ext cx="4640" cy="342"/>
              <a:chOff x="0" y="0"/>
              <a:chExt cx="4640" cy="342"/>
            </a:xfrm>
          </p:grpSpPr>
          <p:sp>
            <p:nvSpPr>
              <p:cNvPr id="442384" name="Text Box 16"/>
              <p:cNvSpPr txBox="1">
                <a:spLocks noChangeArrowheads="1"/>
              </p:cNvSpPr>
              <p:nvPr/>
            </p:nvSpPr>
            <p:spPr bwMode="auto">
              <a:xfrm>
                <a:off x="0" y="22"/>
                <a:ext cx="12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00"/>
                    </a:solidFill>
                    <a:ea typeface="宋体" pitchFamily="2" charset="-122"/>
                  </a:rPr>
                  <a:t>change</a:t>
                </a:r>
                <a:r>
                  <a:rPr lang="zh-CN" altLang="en-US" sz="2400" b="1">
                    <a:solidFill>
                      <a:srgbClr val="000000"/>
                    </a:solidFill>
                  </a:rPr>
                  <a:t>函数</a:t>
                </a:r>
              </a:p>
            </p:txBody>
          </p:sp>
          <p:sp>
            <p:nvSpPr>
              <p:cNvPr id="442385" name="Text Box 17"/>
              <p:cNvSpPr txBox="1">
                <a:spLocks noChangeArrowheads="1"/>
              </p:cNvSpPr>
              <p:nvPr/>
            </p:nvSpPr>
            <p:spPr bwMode="auto">
              <a:xfrm>
                <a:off x="1776" y="48"/>
                <a:ext cx="480" cy="294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400" b="1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42386" name="Text Box 18"/>
              <p:cNvSpPr txBox="1">
                <a:spLocks noChangeArrowheads="1"/>
              </p:cNvSpPr>
              <p:nvPr/>
            </p:nvSpPr>
            <p:spPr bwMode="auto">
              <a:xfrm>
                <a:off x="2960" y="48"/>
                <a:ext cx="480" cy="294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400" b="1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42387" name="Text Box 19"/>
              <p:cNvSpPr txBox="1">
                <a:spLocks noChangeArrowheads="1"/>
              </p:cNvSpPr>
              <p:nvPr/>
            </p:nvSpPr>
            <p:spPr bwMode="auto">
              <a:xfrm>
                <a:off x="1392" y="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CC00CC"/>
                    </a:solidFill>
                    <a:ea typeface="宋体" pitchFamily="2" charset="-122"/>
                  </a:rPr>
                  <a:t>a</a:t>
                </a:r>
                <a:endParaRPr lang="zh-CN" altLang="zh-CN" sz="2400" b="1">
                  <a:solidFill>
                    <a:srgbClr val="CC00CC"/>
                  </a:solidFill>
                  <a:ea typeface="宋体" pitchFamily="2" charset="-122"/>
                </a:endParaRPr>
              </a:p>
            </p:txBody>
          </p:sp>
          <p:sp>
            <p:nvSpPr>
              <p:cNvPr id="442388" name="Text Box 20"/>
              <p:cNvSpPr txBox="1">
                <a:spLocks noChangeArrowheads="1"/>
              </p:cNvSpPr>
              <p:nvPr/>
            </p:nvSpPr>
            <p:spPr bwMode="auto">
              <a:xfrm>
                <a:off x="2608" y="1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CC00CC"/>
                    </a:solidFill>
                    <a:ea typeface="宋体" pitchFamily="2" charset="-122"/>
                  </a:rPr>
                  <a:t>b</a:t>
                </a:r>
                <a:endParaRPr lang="zh-CN" altLang="zh-CN" sz="2400" b="1">
                  <a:solidFill>
                    <a:srgbClr val="CC00CC"/>
                  </a:solidFill>
                  <a:ea typeface="宋体" pitchFamily="2" charset="-122"/>
                </a:endParaRPr>
              </a:p>
            </p:txBody>
          </p:sp>
          <p:sp>
            <p:nvSpPr>
              <p:cNvPr id="442389" name="Text Box 21"/>
              <p:cNvSpPr txBox="1">
                <a:spLocks noChangeArrowheads="1"/>
              </p:cNvSpPr>
              <p:nvPr/>
            </p:nvSpPr>
            <p:spPr bwMode="auto">
              <a:xfrm>
                <a:off x="3824" y="16"/>
                <a:ext cx="8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CC00CC"/>
                    </a:solidFill>
                    <a:latin typeface="Times New Roman" pitchFamily="18" charset="0"/>
                  </a:rPr>
                  <a:t>(</a:t>
                </a:r>
                <a:r>
                  <a:rPr lang="zh-CN" altLang="en-US" sz="2400" b="1">
                    <a:solidFill>
                      <a:srgbClr val="CC00CC"/>
                    </a:solidFill>
                    <a:latin typeface="Times New Roman" pitchFamily="18" charset="0"/>
                  </a:rPr>
                  <a:t>形参</a:t>
                </a:r>
                <a:r>
                  <a:rPr lang="zh-CN" altLang="zh-CN" sz="2400" b="1">
                    <a:solidFill>
                      <a:srgbClr val="CC00CC"/>
                    </a:solidFill>
                    <a:latin typeface="Times New Roman" pitchFamily="18" charset="0"/>
                  </a:rPr>
                  <a:t>)</a:t>
                </a:r>
              </a:p>
            </p:txBody>
          </p:sp>
        </p:grpSp>
        <p:sp>
          <p:nvSpPr>
            <p:cNvPr id="442390" name="Text Box 22"/>
            <p:cNvSpPr txBox="1">
              <a:spLocks noChangeArrowheads="1"/>
            </p:cNvSpPr>
            <p:nvPr/>
          </p:nvSpPr>
          <p:spPr bwMode="auto">
            <a:xfrm>
              <a:off x="2888" y="352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000" b="1">
                  <a:solidFill>
                    <a:srgbClr val="00009E"/>
                  </a:solidFill>
                  <a:latin typeface="Times New Roman" pitchFamily="18" charset="0"/>
                  <a:ea typeface="宋体" pitchFamily="2" charset="-122"/>
                </a:rPr>
                <a:t>2004H</a:t>
              </a:r>
            </a:p>
          </p:txBody>
        </p:sp>
        <p:sp>
          <p:nvSpPr>
            <p:cNvPr id="442391" name="Text Box 23"/>
            <p:cNvSpPr txBox="1">
              <a:spLocks noChangeArrowheads="1"/>
            </p:cNvSpPr>
            <p:nvPr/>
          </p:nvSpPr>
          <p:spPr bwMode="auto">
            <a:xfrm>
              <a:off x="1648" y="359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000" b="1">
                  <a:solidFill>
                    <a:srgbClr val="00009E"/>
                  </a:solidFill>
                  <a:latin typeface="Times New Roman" pitchFamily="18" charset="0"/>
                  <a:ea typeface="宋体" pitchFamily="2" charset="-122"/>
                </a:rPr>
                <a:t>2000H</a:t>
              </a:r>
            </a:p>
          </p:txBody>
        </p:sp>
      </p:grpSp>
      <p:grpSp>
        <p:nvGrpSpPr>
          <p:cNvPr id="442392" name="Group 24"/>
          <p:cNvGrpSpPr>
            <a:grpSpLocks/>
          </p:cNvGrpSpPr>
          <p:nvPr/>
        </p:nvGrpSpPr>
        <p:grpSpPr bwMode="auto">
          <a:xfrm>
            <a:off x="2487613" y="4198939"/>
            <a:ext cx="7188200" cy="884237"/>
            <a:chOff x="0" y="0"/>
            <a:chExt cx="4528" cy="557"/>
          </a:xfrm>
        </p:grpSpPr>
        <p:grpSp>
          <p:nvGrpSpPr>
            <p:cNvPr id="442393" name="Group 25"/>
            <p:cNvGrpSpPr>
              <a:grpSpLocks/>
            </p:cNvGrpSpPr>
            <p:nvPr/>
          </p:nvGrpSpPr>
          <p:grpSpPr bwMode="auto">
            <a:xfrm>
              <a:off x="0" y="247"/>
              <a:ext cx="4528" cy="310"/>
              <a:chOff x="0" y="0"/>
              <a:chExt cx="4528" cy="310"/>
            </a:xfrm>
          </p:grpSpPr>
          <p:sp>
            <p:nvSpPr>
              <p:cNvPr id="442394" name="Text Box 26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0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00"/>
                    </a:solidFill>
                    <a:ea typeface="宋体" pitchFamily="2" charset="-122"/>
                  </a:rPr>
                  <a:t>main</a:t>
                </a:r>
                <a:r>
                  <a:rPr lang="zh-CN" altLang="en-US" sz="2400" b="1">
                    <a:solidFill>
                      <a:srgbClr val="000000"/>
                    </a:solidFill>
                  </a:rPr>
                  <a:t>函数</a:t>
                </a:r>
              </a:p>
            </p:txBody>
          </p:sp>
          <p:sp>
            <p:nvSpPr>
              <p:cNvPr id="442395" name="Text Box 27"/>
              <p:cNvSpPr txBox="1">
                <a:spLocks noChangeArrowheads="1"/>
              </p:cNvSpPr>
              <p:nvPr/>
            </p:nvSpPr>
            <p:spPr bwMode="auto">
              <a:xfrm>
                <a:off x="2880" y="0"/>
                <a:ext cx="480" cy="294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400" b="1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42396" name="Text Box 28"/>
              <p:cNvSpPr txBox="1">
                <a:spLocks noChangeArrowheads="1"/>
              </p:cNvSpPr>
              <p:nvPr/>
            </p:nvSpPr>
            <p:spPr bwMode="auto">
              <a:xfrm>
                <a:off x="1680" y="16"/>
                <a:ext cx="480" cy="294"/>
              </a:xfrm>
              <a:prstGeom prst="rect">
                <a:avLst/>
              </a:prstGeom>
              <a:noFill/>
              <a:ln w="9525" cmpd="sng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400" b="1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42397" name="Text Box 29"/>
              <p:cNvSpPr txBox="1">
                <a:spLocks noChangeArrowheads="1"/>
              </p:cNvSpPr>
              <p:nvPr/>
            </p:nvSpPr>
            <p:spPr bwMode="auto">
              <a:xfrm>
                <a:off x="1312" y="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9E"/>
                    </a:solidFill>
                    <a:ea typeface="宋体" pitchFamily="2" charset="-122"/>
                  </a:rPr>
                  <a:t>a</a:t>
                </a:r>
              </a:p>
            </p:txBody>
          </p:sp>
          <p:sp>
            <p:nvSpPr>
              <p:cNvPr id="442398" name="Text Box 30"/>
              <p:cNvSpPr txBox="1">
                <a:spLocks noChangeArrowheads="1"/>
              </p:cNvSpPr>
              <p:nvPr/>
            </p:nvSpPr>
            <p:spPr bwMode="auto">
              <a:xfrm>
                <a:off x="2512" y="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9E"/>
                    </a:solidFill>
                    <a:ea typeface="宋体" pitchFamily="2" charset="-122"/>
                  </a:rPr>
                  <a:t>b</a:t>
                </a:r>
              </a:p>
            </p:txBody>
          </p:sp>
          <p:sp>
            <p:nvSpPr>
              <p:cNvPr id="442399" name="Text Box 31"/>
              <p:cNvSpPr txBox="1">
                <a:spLocks noChangeArrowheads="1"/>
              </p:cNvSpPr>
              <p:nvPr/>
            </p:nvSpPr>
            <p:spPr bwMode="auto">
              <a:xfrm>
                <a:off x="3744" y="16"/>
                <a:ext cx="7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2400" b="1">
                    <a:solidFill>
                      <a:srgbClr val="00009E"/>
                    </a:solidFill>
                    <a:latin typeface="Times New Roman" pitchFamily="18" charset="0"/>
                  </a:rPr>
                  <a:t>(</a:t>
                </a:r>
                <a:r>
                  <a:rPr lang="zh-CN" altLang="en-US" sz="2400" b="1">
                    <a:solidFill>
                      <a:srgbClr val="00009E"/>
                    </a:solidFill>
                  </a:rPr>
                  <a:t>实参</a:t>
                </a:r>
                <a:r>
                  <a:rPr lang="zh-CN" altLang="zh-CN" sz="2400" b="1">
                    <a:solidFill>
                      <a:srgbClr val="00009E"/>
                    </a:solidFill>
                    <a:latin typeface="Times New Roman" pitchFamily="18" charset="0"/>
                  </a:rPr>
                  <a:t>)</a:t>
                </a:r>
              </a:p>
            </p:txBody>
          </p:sp>
        </p:grpSp>
        <p:sp>
          <p:nvSpPr>
            <p:cNvPr id="442400" name="Text Box 32"/>
            <p:cNvSpPr txBox="1">
              <a:spLocks noChangeArrowheads="1"/>
            </p:cNvSpPr>
            <p:nvPr/>
          </p:nvSpPr>
          <p:spPr bwMode="auto">
            <a:xfrm>
              <a:off x="1568" y="10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000" b="1">
                  <a:solidFill>
                    <a:srgbClr val="00009E"/>
                  </a:solidFill>
                  <a:latin typeface="Times New Roman" pitchFamily="18" charset="0"/>
                  <a:ea typeface="宋体" pitchFamily="2" charset="-122"/>
                </a:rPr>
                <a:t>1000H</a:t>
              </a:r>
            </a:p>
          </p:txBody>
        </p:sp>
        <p:sp>
          <p:nvSpPr>
            <p:cNvPr id="442401" name="Text Box 33"/>
            <p:cNvSpPr txBox="1">
              <a:spLocks noChangeArrowheads="1"/>
            </p:cNvSpPr>
            <p:nvPr/>
          </p:nvSpPr>
          <p:spPr bwMode="auto">
            <a:xfrm>
              <a:off x="2760" y="0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000" b="1">
                  <a:solidFill>
                    <a:srgbClr val="00009E"/>
                  </a:solidFill>
                  <a:latin typeface="Times New Roman" pitchFamily="18" charset="0"/>
                  <a:ea typeface="宋体" pitchFamily="2" charset="-122"/>
                </a:rPr>
                <a:t>1004H</a:t>
              </a:r>
            </a:p>
          </p:txBody>
        </p:sp>
      </p:grpSp>
      <p:sp>
        <p:nvSpPr>
          <p:cNvPr id="442402" name="Text Box 34"/>
          <p:cNvSpPr txBox="1">
            <a:spLocks noChangeArrowheads="1"/>
          </p:cNvSpPr>
          <p:nvPr/>
        </p:nvSpPr>
        <p:spPr bwMode="auto">
          <a:xfrm>
            <a:off x="2136229" y="5128068"/>
            <a:ext cx="7467600" cy="13098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18800" bIns="190800">
            <a:spAutoFit/>
          </a:bodyPr>
          <a:lstStyle/>
          <a:p>
            <a:pPr fontAlgn="base">
              <a:spcBef>
                <a:spcPct val="7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2E2EBA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输出结果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</a:t>
            </a:r>
            <a:r>
              <a:rPr lang="zh-CN" altLang="zh-CN" sz="2400" b="1">
                <a:solidFill>
                  <a:srgbClr val="2E2EBA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9E"/>
                </a:solidFill>
                <a:latin typeface="Times New Roman" pitchFamily="18" charset="0"/>
                <a:ea typeface="宋体" pitchFamily="2" charset="-122"/>
              </a:rPr>
              <a:t>          </a:t>
            </a:r>
            <a:r>
              <a:rPr lang="zh-CN" altLang="zh-CN" sz="2400" b="1">
                <a:solidFill>
                  <a:srgbClr val="00009E"/>
                </a:solidFill>
                <a:ea typeface="宋体" pitchFamily="2" charset="-122"/>
              </a:rPr>
              <a:t>a=2 b=3</a:t>
            </a:r>
            <a:endParaRPr lang="en-US" altLang="zh-CN" sz="2400" b="1">
              <a:solidFill>
                <a:srgbClr val="00009E"/>
              </a:solidFill>
              <a:ea typeface="宋体" pitchFamily="2" charset="-122"/>
            </a:endParaRPr>
          </a:p>
          <a:p>
            <a:pPr fontAlgn="base">
              <a:spcBef>
                <a:spcPct val="70000"/>
              </a:spcBef>
              <a:spcAft>
                <a:spcPct val="0"/>
              </a:spcAft>
            </a:pPr>
            <a:endParaRPr lang="zh-CN" altLang="zh-CN" sz="2400" b="1">
              <a:solidFill>
                <a:srgbClr val="00009E"/>
              </a:solidFill>
              <a:ea typeface="宋体" pitchFamily="2" charset="-122"/>
            </a:endParaRPr>
          </a:p>
        </p:txBody>
      </p:sp>
      <p:pic>
        <p:nvPicPr>
          <p:cNvPr id="442403" name="Picture 35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7913" y="6261100"/>
            <a:ext cx="182562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2404" name="Text Box 36"/>
          <p:cNvSpPr txBox="1">
            <a:spLocks noChangeArrowheads="1"/>
          </p:cNvSpPr>
          <p:nvPr/>
        </p:nvSpPr>
        <p:spPr bwMode="auto">
          <a:xfrm>
            <a:off x="2128838" y="1185863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#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include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stdio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h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09619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4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3" grpId="0" animBg="1"/>
      <p:bldP spid="442374" grpId="0" animBg="1"/>
      <p:bldP spid="442375" grpId="0" autoUpdateAnimBg="0"/>
      <p:bldP spid="442376" grpId="0" autoUpdateAnimBg="0"/>
      <p:bldP spid="442377" grpId="0" animBg="1" autoUpdateAnimBg="0"/>
      <p:bldP spid="442378" grpId="0" animBg="1" autoUpdateAnimBg="0"/>
      <p:bldP spid="442379" grpId="0" animBg="1" autoUpdateAnimBg="0"/>
      <p:bldP spid="442380" grpId="0" autoUpdateAnimBg="0"/>
      <p:bldP spid="442381" grpId="0" autoUpdateAnimBg="0"/>
      <p:bldP spid="442402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41851" y="176213"/>
            <a:ext cx="2868613" cy="639762"/>
          </a:xfrm>
        </p:spPr>
        <p:txBody>
          <a:bodyPr/>
          <a:lstStyle/>
          <a:p>
            <a:r>
              <a:rPr lang="zh-CN" altLang="en-US" sz="3600" dirty="0">
                <a:latin typeface="楷体_GB2312" pitchFamily="49" charset="-122"/>
              </a:rPr>
              <a:t>函数声明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1051" y="1257301"/>
            <a:ext cx="8196263" cy="4778375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lang="en-US" altLang="zh-CN" b="1">
                <a:latin typeface="Times New Roman" pitchFamily="18" charset="0"/>
              </a:rPr>
              <a:t>1</a:t>
            </a:r>
            <a:r>
              <a:rPr lang="zh-CN" altLang="zh-CN" b="1">
                <a:latin typeface="Times New Roman" pitchFamily="18" charset="0"/>
              </a:rPr>
              <a:t>) </a:t>
            </a:r>
            <a:r>
              <a:rPr lang="zh-CN" altLang="en-US" b="1" dirty="0">
                <a:latin typeface="Times New Roman" pitchFamily="18" charset="0"/>
              </a:rPr>
              <a:t>用户自定义函数在调用前</a:t>
            </a:r>
            <a:r>
              <a:rPr lang="zh-CN" altLang="zh-CN" b="1">
                <a:latin typeface="Times New Roman" pitchFamily="18" charset="0"/>
              </a:rPr>
              <a:t>, </a:t>
            </a:r>
            <a:r>
              <a:rPr lang="zh-CN" altLang="en-US" b="1"/>
              <a:t>该</a:t>
            </a:r>
            <a:r>
              <a:rPr lang="zh-CN" altLang="en-US" b="1" dirty="0"/>
              <a:t>函数进行</a:t>
            </a:r>
            <a:r>
              <a:rPr lang="zh-CN" altLang="en-US" b="1" dirty="0">
                <a:solidFill>
                  <a:srgbClr val="C00000"/>
                </a:solidFill>
                <a:latin typeface="Courier New" pitchFamily="49" charset="0"/>
              </a:rPr>
              <a:t>声明</a:t>
            </a:r>
            <a:r>
              <a:rPr lang="zh-CN" altLang="en-US" sz="2800" b="1" dirty="0">
                <a:latin typeface="Courier New" pitchFamily="49" charset="0"/>
              </a:rPr>
              <a:t>。</a:t>
            </a:r>
            <a:endParaRPr lang="zh-CN" altLang="en-US" b="1" dirty="0">
              <a:latin typeface="Times New Roman" pitchFamily="18" charset="0"/>
            </a:endParaRPr>
          </a:p>
          <a:p>
            <a:pPr lvl="1">
              <a:lnSpc>
                <a:spcPct val="115000"/>
              </a:lnSpc>
              <a:spcBef>
                <a:spcPct val="50000"/>
              </a:spcBef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3200" b="1" dirty="0">
                <a:latin typeface="Courier New" pitchFamily="49" charset="0"/>
              </a:rPr>
              <a:t>作用</a:t>
            </a:r>
            <a:r>
              <a:rPr lang="zh-CN" altLang="zh-CN" sz="3200" b="1" dirty="0">
                <a:latin typeface="Times New Roman" pitchFamily="18" charset="0"/>
              </a:rPr>
              <a:t>:</a:t>
            </a:r>
            <a:r>
              <a:rPr lang="zh-CN" altLang="zh-CN" sz="3200" b="1" dirty="0">
                <a:latin typeface="Courier New" pitchFamily="49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Courier New" pitchFamily="49" charset="0"/>
              </a:rPr>
              <a:t>将函数名、函数类型及形参个数、类型</a:t>
            </a:r>
            <a:r>
              <a:rPr lang="zh-CN" altLang="en-US" sz="3200" b="1" dirty="0">
                <a:latin typeface="Courier New" pitchFamily="49" charset="0"/>
              </a:rPr>
              <a:t>告诉</a:t>
            </a:r>
            <a:r>
              <a:rPr lang="zh-CN" altLang="en-US" sz="3200" b="1">
                <a:latin typeface="Courier New" pitchFamily="49" charset="0"/>
              </a:rPr>
              <a:t>编译器。</a:t>
            </a:r>
            <a:endParaRPr lang="en-US" altLang="zh-CN" sz="3200" b="1">
              <a:latin typeface="Courier New" pitchFamily="49" charset="0"/>
            </a:endParaRPr>
          </a:p>
          <a:p>
            <a:pPr lvl="1">
              <a:lnSpc>
                <a:spcPct val="115000"/>
              </a:lnSpc>
              <a:spcBef>
                <a:spcPct val="50000"/>
              </a:spcBef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3200" b="1">
                <a:latin typeface="Courier New" pitchFamily="49" charset="0"/>
              </a:rPr>
              <a:t>编译器</a:t>
            </a:r>
            <a:r>
              <a:rPr lang="zh-CN" altLang="en-US" sz="3200" b="1" dirty="0">
                <a:latin typeface="Courier New" pitchFamily="49" charset="0"/>
              </a:rPr>
              <a:t>用</a:t>
            </a:r>
            <a:r>
              <a:rPr lang="zh-CN" altLang="en-US" sz="3200" b="1" dirty="0">
                <a:latin typeface="Times New Roman" pitchFamily="18" charset="0"/>
              </a:rPr>
              <a:t>函数原型测试</a:t>
            </a:r>
            <a:r>
              <a:rPr lang="zh-CN" altLang="en-US" sz="3200" b="1" dirty="0">
                <a:latin typeface="Courier New" pitchFamily="49" charset="0"/>
              </a:rPr>
              <a:t>函数</a:t>
            </a:r>
            <a:r>
              <a:rPr lang="zh-CN" altLang="en-US" sz="3200" b="1" dirty="0">
                <a:latin typeface="Times New Roman" pitchFamily="18" charset="0"/>
              </a:rPr>
              <a:t>调用是否</a:t>
            </a:r>
            <a:r>
              <a:rPr lang="zh-CN" altLang="en-US" sz="3200" b="1">
                <a:latin typeface="Times New Roman" pitchFamily="18" charset="0"/>
              </a:rPr>
              <a:t>正确。</a:t>
            </a:r>
            <a:endParaRPr lang="zh-CN" altLang="en-US" sz="3200" b="1" dirty="0">
              <a:latin typeface="Courier New" pitchFamily="49" charset="0"/>
            </a:endParaRPr>
          </a:p>
        </p:txBody>
      </p:sp>
      <p:sp>
        <p:nvSpPr>
          <p:cNvPr id="444420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627188" y="781051"/>
            <a:ext cx="508000" cy="309563"/>
          </a:xfrm>
          <a:prstGeom prst="actionButtonBackPrevious">
            <a:avLst/>
          </a:prstGeom>
          <a:noFill/>
          <a:ln w="0" cmpd="sng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8121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41851" y="176213"/>
            <a:ext cx="2868613" cy="639762"/>
          </a:xfrm>
        </p:spPr>
        <p:txBody>
          <a:bodyPr/>
          <a:lstStyle/>
          <a:p>
            <a:r>
              <a:rPr lang="zh-CN" altLang="en-US" sz="3600" dirty="0">
                <a:latin typeface="楷体_GB2312" pitchFamily="49" charset="-122"/>
              </a:rPr>
              <a:t>函数声明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1051" y="1257301"/>
            <a:ext cx="9589565" cy="4778375"/>
          </a:xfrm>
        </p:spPr>
        <p:txBody>
          <a:bodyPr/>
          <a:lstStyle/>
          <a:p>
            <a:pPr lvl="1">
              <a:lnSpc>
                <a:spcPct val="115000"/>
              </a:lnSpc>
              <a:spcBef>
                <a:spcPct val="30000"/>
              </a:spcBef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3200" b="1">
                <a:latin typeface="Times New Roman" pitchFamily="18" charset="0"/>
              </a:rPr>
              <a:t>格式</a:t>
            </a:r>
            <a:r>
              <a:rPr lang="en-US" altLang="zh-CN" sz="3200" b="1" dirty="0">
                <a:latin typeface="Times New Roman" pitchFamily="18" charset="0"/>
              </a:rPr>
              <a:t>1</a:t>
            </a:r>
            <a:r>
              <a:rPr lang="zh-CN" altLang="zh-CN" sz="3200" b="1" dirty="0">
                <a:latin typeface="Times New Roman" pitchFamily="18" charset="0"/>
              </a:rPr>
              <a:t>:</a:t>
            </a:r>
            <a:r>
              <a:rPr lang="zh-CN" altLang="en-US" sz="3200" b="1" dirty="0">
                <a:latin typeface="Times New Roman" pitchFamily="18" charset="0"/>
              </a:rPr>
              <a:t>（函数原型法）</a:t>
            </a:r>
            <a:endParaRPr lang="zh-CN" altLang="zh-CN" sz="32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600" b="1" dirty="0">
                <a:latin typeface="Times New Roman" pitchFamily="18" charset="0"/>
              </a:rPr>
              <a:t>            </a:t>
            </a:r>
            <a:r>
              <a:rPr lang="zh-CN" altLang="zh-CN" sz="3600" b="1" dirty="0">
                <a:solidFill>
                  <a:schemeClr val="hlink"/>
                </a:solidFill>
                <a:latin typeface="Times New Roman" pitchFamily="18" charset="0"/>
              </a:rPr>
              <a:t>      </a:t>
            </a:r>
            <a:r>
              <a:rPr lang="zh-CN" altLang="en-US" sz="3600" b="1" dirty="0">
                <a:solidFill>
                  <a:schemeClr val="hlink"/>
                </a:solidFill>
                <a:latin typeface="Times New Roman" pitchFamily="18" charset="0"/>
              </a:rPr>
              <a:t>类型符   函数名</a:t>
            </a:r>
            <a:r>
              <a:rPr lang="zh-CN" altLang="zh-CN" sz="3600" b="1" dirty="0">
                <a:latin typeface="Times New Roman" pitchFamily="18" charset="0"/>
              </a:rPr>
              <a:t>( </a:t>
            </a:r>
            <a:r>
              <a:rPr lang="zh-CN" altLang="en-US" sz="3600" b="1" dirty="0">
                <a:latin typeface="黑体" pitchFamily="49" charset="-122"/>
              </a:rPr>
              <a:t>类型 形参</a:t>
            </a:r>
            <a:r>
              <a:rPr lang="zh-CN" altLang="zh-CN" sz="3600" b="1" dirty="0">
                <a:latin typeface="黑体" pitchFamily="49" charset="-122"/>
              </a:rPr>
              <a:t>1</a:t>
            </a:r>
            <a:r>
              <a:rPr lang="zh-CN" altLang="zh-CN" sz="3600" b="1" dirty="0">
                <a:latin typeface="Times New Roman" pitchFamily="18" charset="0"/>
              </a:rPr>
              <a:t>, ··· );</a:t>
            </a:r>
            <a:r>
              <a:rPr lang="zh-CN" altLang="zh-CN" sz="3600" b="1" dirty="0">
                <a:latin typeface="黑体" pitchFamily="49" charset="-12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600" b="1" dirty="0">
                <a:latin typeface="黑体" pitchFamily="49" charset="-122"/>
              </a:rPr>
              <a:t>      </a:t>
            </a:r>
            <a:r>
              <a:rPr lang="zh-CN" altLang="en-US" b="1" dirty="0">
                <a:latin typeface="黑体" pitchFamily="49" charset="-122"/>
              </a:rPr>
              <a:t>或</a:t>
            </a:r>
            <a:r>
              <a:rPr lang="zh-CN" altLang="zh-CN" b="1" dirty="0">
                <a:latin typeface="Times New Roman" pitchFamily="18" charset="0"/>
              </a:rPr>
              <a:t>:</a:t>
            </a:r>
            <a:endParaRPr lang="en-US" altLang="zh-CN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dirty="0">
                <a:solidFill>
                  <a:srgbClr val="FF0000"/>
                </a:solidFill>
                <a:latin typeface="黑体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itchFamily="49" charset="-122"/>
              </a:rPr>
              <a:t>          </a:t>
            </a:r>
            <a:r>
              <a:rPr lang="zh-CN" altLang="zh-CN" b="1" dirty="0">
                <a:solidFill>
                  <a:srgbClr val="FF0000"/>
                </a:solidFill>
                <a:latin typeface="黑体" pitchFamily="49" charset="-122"/>
              </a:rPr>
              <a:t>类型符 </a:t>
            </a:r>
            <a:r>
              <a:rPr lang="zh-CN" altLang="zh-CN" sz="1050" b="1" dirty="0">
                <a:solidFill>
                  <a:srgbClr val="FF0000"/>
                </a:solidFill>
                <a:latin typeface="黑体" pitchFamily="49" charset="-122"/>
              </a:rPr>
              <a:t> </a:t>
            </a:r>
            <a:r>
              <a:rPr lang="zh-CN" altLang="zh-CN" b="1" dirty="0">
                <a:solidFill>
                  <a:srgbClr val="FF0000"/>
                </a:solidFill>
                <a:latin typeface="黑体" pitchFamily="49" charset="-122"/>
              </a:rPr>
              <a:t>函数名</a:t>
            </a:r>
            <a:r>
              <a:rPr lang="zh-CN" altLang="zh-CN" b="1" dirty="0">
                <a:latin typeface="Times New Roman" pitchFamily="18" charset="0"/>
              </a:rPr>
              <a:t>( </a:t>
            </a:r>
            <a:r>
              <a:rPr lang="zh-CN" altLang="zh-CN" b="1" dirty="0">
                <a:latin typeface="黑体" pitchFamily="49" charset="-122"/>
              </a:rPr>
              <a:t>参数类型1</a:t>
            </a:r>
            <a:r>
              <a:rPr lang="zh-CN" altLang="zh-CN" b="1" dirty="0">
                <a:latin typeface="Times New Roman" pitchFamily="18" charset="0"/>
              </a:rPr>
              <a:t>, ··· )</a:t>
            </a:r>
            <a:r>
              <a:rPr lang="zh-CN" altLang="zh-CN" b="1">
                <a:latin typeface="Times New Roman" pitchFamily="18" charset="0"/>
              </a:rPr>
              <a:t>;</a:t>
            </a:r>
            <a:r>
              <a:rPr lang="zh-CN" altLang="zh-CN" b="1">
                <a:latin typeface="黑体" pitchFamily="49" charset="-122"/>
              </a:rPr>
              <a:t>  </a:t>
            </a:r>
            <a:endParaRPr lang="en-US" altLang="zh-CN" b="1">
              <a:latin typeface="黑体" pitchFamily="49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b="1">
              <a:latin typeface="黑体" pitchFamily="49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b="1" dirty="0">
              <a:latin typeface="Times New Roman" pitchFamily="18" charset="0"/>
            </a:endParaRPr>
          </a:p>
          <a:p>
            <a:pPr lvl="1">
              <a:lnSpc>
                <a:spcPct val="115000"/>
              </a:lnSpc>
              <a:spcBef>
                <a:spcPct val="30000"/>
              </a:spcBef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zh-CN" sz="3200" b="1" dirty="0">
                <a:latin typeface="Times New Roman" pitchFamily="18" charset="0"/>
              </a:rPr>
              <a:t>格式</a:t>
            </a:r>
            <a:r>
              <a:rPr lang="en-US" altLang="zh-CN" sz="3200" b="1" dirty="0">
                <a:latin typeface="Times New Roman" pitchFamily="18" charset="0"/>
              </a:rPr>
              <a:t>2</a:t>
            </a:r>
            <a:r>
              <a:rPr lang="zh-CN" altLang="zh-CN" sz="3200" b="1" dirty="0">
                <a:latin typeface="Times New Roman" pitchFamily="18" charset="0"/>
              </a:rPr>
              <a:t>:</a:t>
            </a:r>
            <a:r>
              <a:rPr lang="zh-CN" altLang="en-US" sz="3200" b="1" dirty="0">
                <a:latin typeface="Times New Roman" pitchFamily="18" charset="0"/>
              </a:rPr>
              <a:t>（传统习惯法）</a:t>
            </a:r>
            <a:endParaRPr lang="zh-CN" altLang="zh-CN" sz="32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600" b="1" dirty="0">
                <a:latin typeface="Times New Roman" pitchFamily="18" charset="0"/>
              </a:rPr>
              <a:t>            </a:t>
            </a:r>
            <a:r>
              <a:rPr lang="zh-CN" altLang="zh-CN" sz="3600" b="1" dirty="0">
                <a:solidFill>
                  <a:schemeClr val="hlink"/>
                </a:solidFill>
                <a:latin typeface="Times New Roman" pitchFamily="18" charset="0"/>
              </a:rPr>
              <a:t>      类型符   函数名</a:t>
            </a:r>
            <a:r>
              <a:rPr lang="zh-CN" altLang="zh-CN" sz="3600" b="1" dirty="0">
                <a:latin typeface="Times New Roman" pitchFamily="18" charset="0"/>
              </a:rPr>
              <a:t>();</a:t>
            </a:r>
            <a:r>
              <a:rPr lang="zh-CN" altLang="zh-CN" sz="3600" b="1" dirty="0">
                <a:latin typeface="黑体" pitchFamily="49" charset="-12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600" b="1" dirty="0">
                <a:latin typeface="黑体" pitchFamily="49" charset="-122"/>
              </a:rPr>
              <a:t>      </a:t>
            </a:r>
          </a:p>
        </p:txBody>
      </p:sp>
      <p:sp>
        <p:nvSpPr>
          <p:cNvPr id="444420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627188" y="781051"/>
            <a:ext cx="508000" cy="309563"/>
          </a:xfrm>
          <a:prstGeom prst="actionButtonBackPrevious">
            <a:avLst/>
          </a:prstGeom>
          <a:noFill/>
          <a:ln w="0" cmpd="sng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333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38462" y="177801"/>
            <a:ext cx="7622033" cy="669925"/>
          </a:xfrm>
        </p:spPr>
        <p:txBody>
          <a:bodyPr/>
          <a:lstStyle/>
          <a:p>
            <a:pPr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3.4  </a:t>
            </a:r>
            <a:r>
              <a:rPr lang="zh-CN" altLang="en-US" sz="3600" dirty="0">
                <a:latin typeface="Times New Roman" pitchFamily="18" charset="0"/>
              </a:rPr>
              <a:t>对被调用函数的</a:t>
            </a:r>
            <a:r>
              <a:rPr lang="zh-CN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声明</a:t>
            </a:r>
            <a:r>
              <a:rPr lang="en-US" altLang="zh-CN" sz="3600" dirty="0">
                <a:latin typeface="Times New Roman" pitchFamily="18" charset="0"/>
              </a:rPr>
              <a:t>(</a:t>
            </a:r>
            <a:r>
              <a:rPr lang="zh-CN" altLang="en-US" sz="3600" dirty="0">
                <a:latin typeface="Times New Roman" pitchFamily="18" charset="0"/>
              </a:rPr>
              <a:t>说明</a:t>
            </a:r>
            <a:r>
              <a:rPr lang="en-US" altLang="zh-CN" sz="3600" dirty="0">
                <a:latin typeface="Times New Roman" pitchFamily="18" charset="0"/>
              </a:rPr>
              <a:t>)</a:t>
            </a:r>
            <a:endParaRPr lang="zh-CN" altLang="en-US" sz="3600" dirty="0">
              <a:latin typeface="Times New Roman" pitchFamily="18" charset="0"/>
            </a:endParaRP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25" y="1231900"/>
            <a:ext cx="8167688" cy="4827588"/>
          </a:xfrm>
        </p:spPr>
        <p:txBody>
          <a:bodyPr/>
          <a:lstStyle/>
          <a:p>
            <a:pPr>
              <a:buSzPct val="85000"/>
              <a:buFont typeface="Wingdings" pitchFamily="2" charset="2"/>
              <a:buNone/>
            </a:pPr>
            <a:r>
              <a:rPr lang="en-US" altLang="zh-CN" sz="2800" b="1" dirty="0">
                <a:latin typeface="Times New Roman" pitchFamily="18" charset="0"/>
              </a:rPr>
              <a:t>2</a:t>
            </a:r>
            <a:r>
              <a:rPr lang="zh-CN" altLang="en-US" sz="2800" b="1" dirty="0">
                <a:latin typeface="Times New Roman" pitchFamily="18" charset="0"/>
              </a:rPr>
              <a:t>）标准库函数在调用前，应包含相应的头文件。</a:t>
            </a:r>
          </a:p>
          <a:p>
            <a:pPr>
              <a:spcBef>
                <a:spcPct val="55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itchFamily="18" charset="0"/>
              </a:rPr>
              <a:t>    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</a:rPr>
              <a:t>如</a:t>
            </a:r>
            <a:r>
              <a:rPr lang="zh-CN" altLang="en-US" sz="2800" b="1" dirty="0">
                <a:latin typeface="Times New Roman" pitchFamily="18" charset="0"/>
              </a:rPr>
              <a:t>在使用输入输出函数时，应在文件开头用：</a:t>
            </a: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Times New Roman" pitchFamily="18" charset="0"/>
              </a:rPr>
              <a:t>                    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#</a:t>
            </a:r>
            <a:r>
              <a:rPr lang="zh-CN" altLang="zh-CN" sz="2800" b="1" dirty="0">
                <a:solidFill>
                  <a:srgbClr val="002BB6"/>
                </a:solidFill>
              </a:rPr>
              <a:t>include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 &lt;</a:t>
            </a:r>
            <a:r>
              <a:rPr lang="zh-CN" altLang="zh-CN" sz="2800" b="1" dirty="0">
                <a:solidFill>
                  <a:srgbClr val="002BB6"/>
                </a:solidFill>
              </a:rPr>
              <a:t>stdio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.</a:t>
            </a:r>
            <a:r>
              <a:rPr lang="zh-CN" altLang="zh-CN" sz="2800" b="1" dirty="0">
                <a:solidFill>
                  <a:srgbClr val="002BB6"/>
                </a:solidFill>
              </a:rPr>
              <a:t>h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&gt;</a:t>
            </a:r>
          </a:p>
          <a:p>
            <a:pPr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Times New Roman" pitchFamily="18" charset="0"/>
              </a:rPr>
              <a:t>    </a:t>
            </a:r>
            <a:r>
              <a:rPr lang="zh-CN" altLang="en-US" sz="2800" b="1" dirty="0">
                <a:latin typeface="Times New Roman" pitchFamily="18" charset="0"/>
              </a:rPr>
              <a:t>使用字符串处理函数，应该用：</a:t>
            </a: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Times New Roman" pitchFamily="18" charset="0"/>
              </a:rPr>
              <a:t>                    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#</a:t>
            </a:r>
            <a:r>
              <a:rPr lang="zh-CN" altLang="zh-CN" sz="2800" b="1" dirty="0">
                <a:solidFill>
                  <a:srgbClr val="002BB6"/>
                </a:solidFill>
              </a:rPr>
              <a:t>include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 &lt;</a:t>
            </a:r>
            <a:r>
              <a:rPr lang="zh-CN" altLang="zh-CN" sz="2800" b="1" dirty="0">
                <a:solidFill>
                  <a:srgbClr val="002BB6"/>
                </a:solidFill>
              </a:rPr>
              <a:t>string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.</a:t>
            </a:r>
            <a:r>
              <a:rPr lang="zh-CN" altLang="zh-CN" sz="2800" b="1" dirty="0">
                <a:solidFill>
                  <a:srgbClr val="002BB6"/>
                </a:solidFill>
              </a:rPr>
              <a:t>h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&gt;</a:t>
            </a:r>
          </a:p>
          <a:p>
            <a:pPr>
              <a:spcBef>
                <a:spcPct val="4000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Times New Roman" pitchFamily="18" charset="0"/>
              </a:rPr>
              <a:t>   </a:t>
            </a:r>
            <a:r>
              <a:rPr lang="zh-CN" altLang="zh-CN" sz="1600" b="1" dirty="0">
                <a:latin typeface="Times New Roman" pitchFamily="18" charset="0"/>
              </a:rPr>
              <a:t>  </a:t>
            </a:r>
            <a:r>
              <a:rPr lang="zh-CN" altLang="en-US" sz="2800" b="1" dirty="0">
                <a:latin typeface="Times New Roman" pitchFamily="18" charset="0"/>
              </a:rPr>
              <a:t>使用数学库中的函数，应该用：</a:t>
            </a: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Times New Roman" pitchFamily="18" charset="0"/>
              </a:rPr>
              <a:t>                     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#</a:t>
            </a:r>
            <a:r>
              <a:rPr lang="zh-CN" altLang="zh-CN" sz="2800" b="1" dirty="0">
                <a:solidFill>
                  <a:srgbClr val="002BB6"/>
                </a:solidFill>
              </a:rPr>
              <a:t>include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 &lt;</a:t>
            </a:r>
            <a:r>
              <a:rPr lang="zh-CN" altLang="zh-CN" sz="2800" b="1" dirty="0">
                <a:solidFill>
                  <a:srgbClr val="002BB6"/>
                </a:solidFill>
              </a:rPr>
              <a:t>math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.</a:t>
            </a:r>
            <a:r>
              <a:rPr lang="zh-CN" altLang="zh-CN" sz="2800" b="1" dirty="0">
                <a:solidFill>
                  <a:srgbClr val="002BB6"/>
                </a:solidFill>
              </a:rPr>
              <a:t>h</a:t>
            </a:r>
            <a:r>
              <a:rPr lang="zh-CN" altLang="zh-CN" sz="2800" b="1" dirty="0">
                <a:solidFill>
                  <a:srgbClr val="002BB6"/>
                </a:solidFill>
                <a:latin typeface="Times New Roman" pitchFamily="18" charset="0"/>
              </a:rPr>
              <a:t>&gt;  </a:t>
            </a:r>
          </a:p>
        </p:txBody>
      </p:sp>
    </p:spTree>
    <p:extLst>
      <p:ext uri="{BB962C8B-B14F-4D97-AF65-F5344CB8AC3E}">
        <p14:creationId xmlns:p14="http://schemas.microsoft.com/office/powerpoint/2010/main" val="32698440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33575" y="1520825"/>
            <a:ext cx="8763000" cy="41148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zh-CN" altLang="zh-CN" sz="2800" b="1" dirty="0"/>
          </a:p>
          <a:p>
            <a:pPr>
              <a:lnSpc>
                <a:spcPct val="115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zh-CN" sz="2400" b="1" dirty="0"/>
              <a:t> void  main</a:t>
            </a:r>
            <a:r>
              <a:rPr lang="zh-CN" altLang="zh-CN" sz="2400" b="1" dirty="0">
                <a:latin typeface="Times New Roman" pitchFamily="18" charset="0"/>
              </a:rPr>
              <a:t>( )</a:t>
            </a:r>
            <a:r>
              <a:rPr lang="zh-CN" altLang="zh-CN" sz="2400" b="1" dirty="0"/>
              <a:t>                                  max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/>
              <a:t>float</a:t>
            </a:r>
            <a:r>
              <a:rPr lang="zh-CN" altLang="zh-CN" sz="1800" b="1" dirty="0"/>
              <a:t>  </a:t>
            </a:r>
            <a:r>
              <a:rPr lang="zh-CN" altLang="zh-CN" sz="2400" b="1" dirty="0"/>
              <a:t>x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/>
              <a:t>float</a:t>
            </a:r>
            <a:r>
              <a:rPr lang="zh-CN" altLang="zh-CN" sz="1800" b="1" dirty="0"/>
              <a:t>  </a:t>
            </a:r>
            <a:r>
              <a:rPr lang="zh-CN" altLang="zh-CN" sz="2400" b="1" dirty="0"/>
              <a:t>y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</a:p>
          <a:p>
            <a:pPr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zh-CN" sz="2400" b="1" dirty="0"/>
              <a:t>{ float  a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b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c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                            {</a:t>
            </a:r>
          </a:p>
          <a:p>
            <a:pPr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zh-CN" sz="2400" b="1" dirty="0"/>
              <a:t>   scanf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b="1" dirty="0"/>
              <a:t>%f%f</a:t>
            </a:r>
            <a:r>
              <a:rPr lang="zh-CN" altLang="zh-CN" sz="2400" b="1" dirty="0">
                <a:latin typeface="Times New Roman" pitchFamily="18" charset="0"/>
              </a:rPr>
              <a:t>”, </a:t>
            </a:r>
            <a:r>
              <a:rPr lang="zh-CN" altLang="zh-CN" sz="2400" dirty="0"/>
              <a:t>&amp;</a:t>
            </a:r>
            <a:r>
              <a:rPr lang="zh-CN" altLang="zh-CN" sz="2400" b="1" dirty="0"/>
              <a:t>a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dirty="0"/>
              <a:t>&amp;</a:t>
            </a:r>
            <a:r>
              <a:rPr lang="zh-CN" altLang="zh-CN" sz="2400" b="1" dirty="0"/>
              <a:t>b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  <a:r>
              <a:rPr lang="zh-CN" altLang="zh-CN" sz="2400" b="1" dirty="0"/>
              <a:t>               return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/>
              <a:t>x</a:t>
            </a:r>
            <a:r>
              <a:rPr lang="zh-CN" altLang="zh-CN" sz="2400" dirty="0"/>
              <a:t>&gt;</a:t>
            </a:r>
            <a:r>
              <a:rPr lang="zh-CN" altLang="zh-CN" sz="2400" b="1" dirty="0"/>
              <a:t>y</a:t>
            </a:r>
            <a:r>
              <a:rPr lang="zh-CN" altLang="zh-CN" sz="2400" dirty="0"/>
              <a:t>?</a:t>
            </a:r>
            <a:r>
              <a:rPr lang="zh-CN" altLang="zh-CN" sz="2400" b="1" dirty="0"/>
              <a:t>x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  <a:r>
              <a:rPr lang="zh-CN" altLang="zh-CN" sz="2400" b="1" dirty="0"/>
              <a:t>y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  <a:r>
              <a:rPr lang="zh-CN" altLang="zh-CN" sz="2400" b="1" dirty="0"/>
              <a:t> </a:t>
            </a:r>
          </a:p>
          <a:p>
            <a:pPr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zh-CN" sz="2400" b="1" dirty="0"/>
              <a:t>   c=max</a:t>
            </a:r>
            <a:r>
              <a:rPr lang="zh-CN" altLang="zh-CN" sz="2400" b="1" dirty="0"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chemeClr val="bg2"/>
                </a:solidFill>
              </a:rPr>
              <a:t>a</a:t>
            </a:r>
            <a:r>
              <a:rPr lang="zh-CN" altLang="zh-CN" sz="2400" b="1" dirty="0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chemeClr val="bg2"/>
                </a:solidFill>
              </a:rPr>
              <a:t> b </a:t>
            </a:r>
            <a:r>
              <a:rPr lang="zh-CN" altLang="zh-CN" sz="2400" b="1" dirty="0">
                <a:latin typeface="Times New Roman" pitchFamily="18" charset="0"/>
              </a:rPr>
              <a:t>) ;</a:t>
            </a:r>
            <a:r>
              <a:rPr lang="zh-CN" altLang="zh-CN" sz="2400" b="1" dirty="0"/>
              <a:t>                        }</a:t>
            </a:r>
          </a:p>
          <a:p>
            <a:pPr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zh-CN" sz="2400" b="1" dirty="0"/>
              <a:t>   printf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b="1" dirty="0"/>
              <a:t>max is %f</a:t>
            </a:r>
            <a:r>
              <a:rPr lang="zh-CN" altLang="zh-CN" sz="2400" b="1" dirty="0">
                <a:latin typeface="Times New Roman" pitchFamily="18" charset="0"/>
              </a:rPr>
              <a:t>”, </a:t>
            </a:r>
            <a:r>
              <a:rPr lang="zh-CN" altLang="zh-CN" sz="2400" b="1" dirty="0"/>
              <a:t>c</a:t>
            </a:r>
            <a:r>
              <a:rPr lang="zh-CN" altLang="zh-CN" sz="2400" b="1" dirty="0">
                <a:latin typeface="Times New Roman" pitchFamily="18" charset="0"/>
              </a:rPr>
              <a:t>) ;</a:t>
            </a:r>
            <a:r>
              <a:rPr lang="zh-CN" altLang="zh-CN" sz="2400" b="1" dirty="0"/>
              <a:t> </a:t>
            </a:r>
          </a:p>
          <a:p>
            <a:pPr>
              <a:lnSpc>
                <a:spcPct val="105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zh-CN" sz="2400" b="1" dirty="0"/>
              <a:t>}</a:t>
            </a:r>
          </a:p>
          <a:p>
            <a:pPr>
              <a:buFont typeface="Wingdings" pitchFamily="2" charset="2"/>
              <a:buNone/>
            </a:pPr>
            <a:endParaRPr lang="zh-CN" altLang="zh-CN" sz="2400" dirty="0"/>
          </a:p>
        </p:txBody>
      </p:sp>
      <p:sp>
        <p:nvSpPr>
          <p:cNvPr id="445444" name="Text Box 4"/>
          <p:cNvSpPr txBox="1">
            <a:spLocks noChangeArrowheads="1"/>
          </p:cNvSpPr>
          <p:nvPr/>
        </p:nvSpPr>
        <p:spPr bwMode="auto">
          <a:xfrm>
            <a:off x="6051551" y="1974850"/>
            <a:ext cx="1139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float</a:t>
            </a:r>
          </a:p>
        </p:txBody>
      </p:sp>
      <p:sp>
        <p:nvSpPr>
          <p:cNvPr id="445445" name="Text Box 5"/>
          <p:cNvSpPr txBox="1">
            <a:spLocks noChangeArrowheads="1"/>
          </p:cNvSpPr>
          <p:nvPr/>
        </p:nvSpPr>
        <p:spPr bwMode="auto">
          <a:xfrm>
            <a:off x="1933575" y="1524000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float  max</a:t>
            </a:r>
            <a:r>
              <a:rPr lang="zh-CN" altLang="zh-CN" sz="24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float 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400" b="1">
                <a:solidFill>
                  <a:srgbClr val="FF0000"/>
                </a:solidFill>
                <a:ea typeface="宋体" pitchFamily="2" charset="-122"/>
              </a:rPr>
              <a:t>float y </a:t>
            </a:r>
            <a:r>
              <a:rPr lang="zh-CN" altLang="zh-CN" sz="24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</p:txBody>
      </p:sp>
      <p:sp>
        <p:nvSpPr>
          <p:cNvPr id="445446" name="Text Box 6"/>
          <p:cNvSpPr txBox="1">
            <a:spLocks noChangeArrowheads="1"/>
          </p:cNvSpPr>
          <p:nvPr/>
        </p:nvSpPr>
        <p:spPr bwMode="auto">
          <a:xfrm>
            <a:off x="1982788" y="1485900"/>
            <a:ext cx="456406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2BB6"/>
                </a:solidFill>
                <a:ea typeface="宋体" pitchFamily="2" charset="-122"/>
              </a:rPr>
              <a:t>float  max</a:t>
            </a:r>
            <a:r>
              <a:rPr lang="zh-CN" altLang="zh-CN" sz="2400" b="1">
                <a:solidFill>
                  <a:srgbClr val="002BB6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sz="2400" b="1">
                <a:solidFill>
                  <a:srgbClr val="002BB6"/>
                </a:solidFill>
                <a:ea typeface="宋体" pitchFamily="2" charset="-122"/>
              </a:rPr>
              <a:t>float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>
                <a:solidFill>
                  <a:srgbClr val="002BB6"/>
                </a:solidFill>
                <a:ea typeface="宋体" pitchFamily="2" charset="-122"/>
              </a:rPr>
              <a:t>float</a:t>
            </a:r>
            <a:r>
              <a:rPr lang="zh-CN" altLang="zh-CN" sz="2400" b="1">
                <a:solidFill>
                  <a:srgbClr val="002BB6"/>
                </a:solidFill>
                <a:latin typeface="Times New Roman" pitchFamily="18" charset="0"/>
                <a:ea typeface="宋体" pitchFamily="2" charset="-122"/>
              </a:rPr>
              <a:t>)  </a:t>
            </a:r>
            <a:r>
              <a:rPr lang="zh-CN" altLang="zh-CN" sz="2400" b="1">
                <a:solidFill>
                  <a:srgbClr val="1C1C1C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</p:txBody>
      </p:sp>
      <p:sp>
        <p:nvSpPr>
          <p:cNvPr id="445447" name="Text Box 7"/>
          <p:cNvSpPr txBox="1">
            <a:spLocks noChangeArrowheads="1"/>
          </p:cNvSpPr>
          <p:nvPr/>
        </p:nvSpPr>
        <p:spPr bwMode="auto">
          <a:xfrm>
            <a:off x="5613401" y="1536700"/>
            <a:ext cx="1114425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①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声明</a:t>
            </a:r>
            <a:endParaRPr lang="zh-CN" altLang="zh-CN" sz="20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45449" name="Line 9"/>
          <p:cNvSpPr>
            <a:spLocks noChangeShapeType="1"/>
          </p:cNvSpPr>
          <p:nvPr/>
        </p:nvSpPr>
        <p:spPr bwMode="auto">
          <a:xfrm flipH="1">
            <a:off x="5187156" y="2463005"/>
            <a:ext cx="439738" cy="1588"/>
          </a:xfrm>
          <a:prstGeom prst="line">
            <a:avLst/>
          </a:prstGeom>
          <a:noFill/>
          <a:ln w="22225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45450" name="Text Box 10"/>
          <p:cNvSpPr txBox="1">
            <a:spLocks noChangeArrowheads="1"/>
          </p:cNvSpPr>
          <p:nvPr/>
        </p:nvSpPr>
        <p:spPr bwMode="auto">
          <a:xfrm>
            <a:off x="5108128" y="2030412"/>
            <a:ext cx="10624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定义</a:t>
            </a:r>
            <a:endParaRPr lang="zh-CN" altLang="zh-CN" sz="20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45452" name="Text Box 12"/>
          <p:cNvSpPr txBox="1">
            <a:spLocks noChangeArrowheads="1"/>
          </p:cNvSpPr>
          <p:nvPr/>
        </p:nvSpPr>
        <p:spPr bwMode="auto">
          <a:xfrm>
            <a:off x="5080000" y="3448050"/>
            <a:ext cx="1016000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③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调用</a:t>
            </a:r>
            <a:endParaRPr lang="zh-CN" altLang="zh-CN" sz="20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45453" name="Line 13"/>
          <p:cNvSpPr>
            <a:spLocks noChangeShapeType="1"/>
          </p:cNvSpPr>
          <p:nvPr/>
        </p:nvSpPr>
        <p:spPr bwMode="auto">
          <a:xfrm>
            <a:off x="5043489" y="3814763"/>
            <a:ext cx="363537" cy="0"/>
          </a:xfrm>
          <a:prstGeom prst="line">
            <a:avLst/>
          </a:prstGeom>
          <a:noFill/>
          <a:ln w="254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45455" name="Line 15"/>
          <p:cNvSpPr>
            <a:spLocks noChangeShapeType="1"/>
          </p:cNvSpPr>
          <p:nvPr/>
        </p:nvSpPr>
        <p:spPr bwMode="auto">
          <a:xfrm>
            <a:off x="5746750" y="1936810"/>
            <a:ext cx="304800" cy="0"/>
          </a:xfrm>
          <a:prstGeom prst="line">
            <a:avLst/>
          </a:prstGeom>
          <a:noFill/>
          <a:ln w="22225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45456" name="Text Box 16"/>
          <p:cNvSpPr txBox="1">
            <a:spLocks noChangeArrowheads="1"/>
          </p:cNvSpPr>
          <p:nvPr/>
        </p:nvSpPr>
        <p:spPr bwMode="auto">
          <a:xfrm>
            <a:off x="1989138" y="1079500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#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include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stdio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h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4630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5" grpId="0" autoUpdateAnimBg="0"/>
      <p:bldP spid="445446" grpId="0" animBg="1" autoUpdateAnimBg="0"/>
      <p:bldP spid="445447" grpId="0" animBg="1" autoUpdateAnimBg="0"/>
      <p:bldP spid="445449" grpId="0" animBg="1"/>
      <p:bldP spid="445450" grpId="0" autoUpdateAnimBg="0"/>
      <p:bldP spid="445452" grpId="0" animBg="1" autoUpdateAnimBg="0"/>
      <p:bldP spid="445453" grpId="0" animBg="1"/>
      <p:bldP spid="44545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5640" y="193676"/>
            <a:ext cx="3097212" cy="741363"/>
          </a:xfrm>
        </p:spPr>
        <p:txBody>
          <a:bodyPr/>
          <a:lstStyle/>
          <a:p>
            <a:r>
              <a:rPr lang="zh-CN" altLang="en-US" sz="3600" dirty="0">
                <a:latin typeface="楷体_GB2312" pitchFamily="49" charset="-122"/>
              </a:rPr>
              <a:t>函数声明省略</a:t>
            </a:r>
          </a:p>
        </p:txBody>
      </p:sp>
      <p:sp>
        <p:nvSpPr>
          <p:cNvPr id="446467" name="Text Box 3"/>
          <p:cNvSpPr txBox="1">
            <a:spLocks noChangeArrowheads="1"/>
          </p:cNvSpPr>
          <p:nvPr/>
        </p:nvSpPr>
        <p:spPr bwMode="auto">
          <a:xfrm>
            <a:off x="2116138" y="1160464"/>
            <a:ext cx="8088312" cy="4561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0988" indent="-28098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47148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SzPct val="50000"/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、如果被调函数的定义出现在调用函数</a:t>
            </a:r>
            <a:r>
              <a:rPr lang="zh-CN" altLang="en-US" b="1" dirty="0">
                <a:solidFill>
                  <a:srgbClr val="B600B6"/>
                </a:solidFill>
                <a:latin typeface="黑体" pitchFamily="49" charset="-122"/>
                <a:ea typeface="黑体" pitchFamily="49" charset="-122"/>
              </a:rPr>
              <a:t>之前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可省略声明。</a:t>
            </a: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en-US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#include&lt;stdio</a:t>
            </a:r>
            <a:r>
              <a:rPr lang="zh-CN" altLang="zh-CN" b="1" dirty="0">
                <a:solidFill>
                  <a:srgbClr val="000000"/>
                </a:solidFill>
                <a:ea typeface="Dotum" pitchFamily="34" charset="-127"/>
              </a:rPr>
              <a:t>.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h&gt;</a:t>
            </a:r>
            <a:endParaRPr lang="zh-CN" altLang="zh-CN" b="1" dirty="0">
              <a:solidFill>
                <a:srgbClr val="000000"/>
              </a:solidFill>
              <a:latin typeface="Tahoma" pitchFamily="34" charset="0"/>
              <a:ea typeface="黑体" pitchFamily="49" charset="-122"/>
            </a:endParaRPr>
          </a:p>
          <a:p>
            <a:pPr fontAlgn="base">
              <a:lnSpc>
                <a:spcPct val="105000"/>
              </a:lnSpc>
              <a:spcBef>
                <a:spcPct val="25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</a:t>
            </a:r>
            <a:r>
              <a:rPr lang="zh-CN" altLang="zh-CN" b="1" dirty="0">
                <a:solidFill>
                  <a:srgbClr val="B600B6"/>
                </a:solidFill>
                <a:latin typeface="Tahoma" pitchFamily="34" charset="0"/>
                <a:ea typeface="黑体" pitchFamily="49" charset="-122"/>
              </a:rPr>
              <a:t>int  max</a:t>
            </a:r>
            <a:r>
              <a:rPr lang="zh-CN" altLang="zh-CN" b="1" dirty="0">
                <a:solidFill>
                  <a:srgbClr val="B600B6"/>
                </a:solidFill>
                <a:ea typeface="黑体" pitchFamily="49" charset="-122"/>
              </a:rPr>
              <a:t>( </a:t>
            </a:r>
            <a:r>
              <a:rPr lang="zh-CN" altLang="zh-CN" b="1" dirty="0">
                <a:solidFill>
                  <a:srgbClr val="B600B6"/>
                </a:solidFill>
                <a:latin typeface="Tahoma" pitchFamily="34" charset="0"/>
                <a:ea typeface="黑体" pitchFamily="49" charset="-122"/>
              </a:rPr>
              <a:t>int  x</a:t>
            </a:r>
            <a:r>
              <a:rPr lang="zh-CN" altLang="zh-CN" b="1" dirty="0">
                <a:solidFill>
                  <a:srgbClr val="B600B6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B600B6"/>
                </a:solidFill>
                <a:latin typeface="Tahoma" pitchFamily="34" charset="0"/>
                <a:ea typeface="黑体" pitchFamily="49" charset="-122"/>
              </a:rPr>
              <a:t>  int  y </a:t>
            </a:r>
            <a:r>
              <a:rPr lang="zh-CN" altLang="zh-CN" b="1" dirty="0">
                <a:solidFill>
                  <a:srgbClr val="B600B6"/>
                </a:solidFill>
                <a:ea typeface="黑体" pitchFamily="49" charset="-122"/>
              </a:rPr>
              <a:t>)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{ if 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&gt;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y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return  x 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else return  y 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;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}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void  main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 )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{ int   a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b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c  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;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scanf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(“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%d%d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”,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&amp;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a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&amp;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b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);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c=max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a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b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printf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(“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max=%d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\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n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”,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c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);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}</a:t>
            </a:r>
          </a:p>
        </p:txBody>
      </p:sp>
      <p:pic>
        <p:nvPicPr>
          <p:cNvPr id="446468" name="Picture 4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63246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0897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5640" y="193676"/>
            <a:ext cx="3097212" cy="741363"/>
          </a:xfrm>
        </p:spPr>
        <p:txBody>
          <a:bodyPr/>
          <a:lstStyle/>
          <a:p>
            <a:r>
              <a:rPr lang="zh-CN" altLang="en-US" sz="3600" dirty="0">
                <a:latin typeface="楷体_GB2312" pitchFamily="49" charset="-122"/>
              </a:rPr>
              <a:t>函数声明省略</a:t>
            </a:r>
          </a:p>
        </p:txBody>
      </p:sp>
      <p:sp>
        <p:nvSpPr>
          <p:cNvPr id="446467" name="Text Box 3"/>
          <p:cNvSpPr txBox="1">
            <a:spLocks noChangeArrowheads="1"/>
          </p:cNvSpPr>
          <p:nvPr/>
        </p:nvSpPr>
        <p:spPr bwMode="auto">
          <a:xfrm>
            <a:off x="2116138" y="1160463"/>
            <a:ext cx="8088312" cy="4553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0988" indent="-28098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47148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SzPct val="50000"/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如果被调函数的返回值为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int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型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，可以不声明。</a:t>
            </a:r>
          </a:p>
          <a:p>
            <a:pPr fontAlgn="base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en-US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#include&lt;stdio</a:t>
            </a:r>
            <a:r>
              <a:rPr lang="zh-CN" altLang="zh-CN" b="1" dirty="0">
                <a:solidFill>
                  <a:srgbClr val="000000"/>
                </a:solidFill>
                <a:ea typeface="Dotum" pitchFamily="34" charset="-127"/>
              </a:rPr>
              <a:t>.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h&gt;</a:t>
            </a:r>
            <a:endParaRPr lang="zh-CN" altLang="zh-CN" b="1" dirty="0">
              <a:solidFill>
                <a:srgbClr val="000000"/>
              </a:solidFill>
              <a:latin typeface="Tahoma" pitchFamily="34" charset="0"/>
              <a:ea typeface="黑体" pitchFamily="49" charset="-122"/>
            </a:endParaRPr>
          </a:p>
          <a:p>
            <a:pPr fontAlgn="base">
              <a:lnSpc>
                <a:spcPct val="105000"/>
              </a:lnSpc>
              <a:spcBef>
                <a:spcPct val="25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en-US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zh-CN" altLang="zh-CN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main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 )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{ int   a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b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c  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;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scanf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(“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%d%d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”,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&amp;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a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&amp;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b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);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c=max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a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b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   printf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(“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max=%d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\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n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”,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c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);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}</a:t>
            </a:r>
            <a:endParaRPr lang="en-US" altLang="zh-CN" b="1" dirty="0">
              <a:solidFill>
                <a:srgbClr val="000000"/>
              </a:solidFill>
              <a:latin typeface="Tahoma" pitchFamily="34" charset="0"/>
              <a:ea typeface="黑体" pitchFamily="49" charset="-122"/>
            </a:endParaRPr>
          </a:p>
          <a:p>
            <a:pPr fontAlgn="base">
              <a:lnSpc>
                <a:spcPct val="105000"/>
              </a:lnSpc>
              <a:spcBef>
                <a:spcPct val="25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zh-CN" altLang="zh-CN" b="1" dirty="0">
                <a:solidFill>
                  <a:srgbClr val="B600B6"/>
                </a:solidFill>
                <a:latin typeface="Tahoma" pitchFamily="34" charset="0"/>
                <a:ea typeface="黑体" pitchFamily="49" charset="-122"/>
              </a:rPr>
              <a:t>int  max</a:t>
            </a:r>
            <a:r>
              <a:rPr lang="zh-CN" altLang="zh-CN" b="1" dirty="0">
                <a:solidFill>
                  <a:srgbClr val="B600B6"/>
                </a:solidFill>
                <a:ea typeface="黑体" pitchFamily="49" charset="-122"/>
              </a:rPr>
              <a:t>( </a:t>
            </a:r>
            <a:r>
              <a:rPr lang="zh-CN" altLang="zh-CN" b="1" dirty="0">
                <a:solidFill>
                  <a:srgbClr val="B600B6"/>
                </a:solidFill>
                <a:latin typeface="Tahoma" pitchFamily="34" charset="0"/>
                <a:ea typeface="黑体" pitchFamily="49" charset="-122"/>
              </a:rPr>
              <a:t>int  x</a:t>
            </a:r>
            <a:r>
              <a:rPr lang="zh-CN" altLang="zh-CN" b="1" dirty="0">
                <a:solidFill>
                  <a:srgbClr val="B600B6"/>
                </a:solidFill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B600B6"/>
                </a:solidFill>
                <a:latin typeface="Tahoma" pitchFamily="34" charset="0"/>
                <a:ea typeface="黑体" pitchFamily="49" charset="-122"/>
              </a:rPr>
              <a:t>  int  y </a:t>
            </a:r>
            <a:r>
              <a:rPr lang="zh-CN" altLang="zh-CN" b="1" dirty="0">
                <a:solidFill>
                  <a:srgbClr val="B600B6"/>
                </a:solidFill>
                <a:ea typeface="黑体" pitchFamily="49" charset="-122"/>
              </a:rPr>
              <a:t>)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90000"/>
            </a:pP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   { if 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(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&gt;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y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)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return  x 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;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else return  y 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; </a:t>
            </a:r>
            <a:r>
              <a:rPr lang="zh-CN" altLang="zh-CN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}</a:t>
            </a:r>
          </a:p>
        </p:txBody>
      </p:sp>
      <p:pic>
        <p:nvPicPr>
          <p:cNvPr id="446468" name="Picture 4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63246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90948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5640" y="193676"/>
            <a:ext cx="3097212" cy="741363"/>
          </a:xfrm>
        </p:spPr>
        <p:txBody>
          <a:bodyPr/>
          <a:lstStyle/>
          <a:p>
            <a:r>
              <a:rPr lang="zh-CN" altLang="en-US" sz="3600" dirty="0">
                <a:latin typeface="楷体_GB2312" pitchFamily="49" charset="-122"/>
              </a:rPr>
              <a:t>函数声明省略</a:t>
            </a:r>
          </a:p>
        </p:txBody>
      </p:sp>
      <p:sp>
        <p:nvSpPr>
          <p:cNvPr id="446467" name="Text Box 3"/>
          <p:cNvSpPr txBox="1">
            <a:spLocks noChangeArrowheads="1"/>
          </p:cNvSpPr>
          <p:nvPr/>
        </p:nvSpPr>
        <p:spPr bwMode="auto">
          <a:xfrm>
            <a:off x="2116138" y="1160463"/>
            <a:ext cx="8088312" cy="2490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0988" indent="-28098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47148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SzPct val="50000"/>
            </a:pPr>
            <a:r>
              <a:rPr lang="zh-CN" altLang="en-US" sz="36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声明的</a:t>
            </a:r>
            <a:r>
              <a:rPr lang="zh-CN" altLang="en-US" sz="3600" b="1">
                <a:solidFill>
                  <a:srgbClr val="FF0000"/>
                </a:solidFill>
                <a:latin typeface="Tahoma" pitchFamily="34" charset="0"/>
                <a:ea typeface="黑体" pitchFamily="49" charset="-122"/>
              </a:rPr>
              <a:t>必要条件</a:t>
            </a:r>
            <a:r>
              <a:rPr lang="zh-CN" altLang="en-US" sz="3600" b="1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是：</a:t>
            </a:r>
            <a:endParaRPr lang="en-US" altLang="zh-CN" sz="3600" b="1">
              <a:solidFill>
                <a:srgbClr val="000000"/>
              </a:solidFill>
              <a:latin typeface="Tahoma" pitchFamily="34" charset="0"/>
              <a:ea typeface="黑体" pitchFamily="49" charset="-122"/>
            </a:endParaRPr>
          </a:p>
          <a:p>
            <a:pPr marL="0" indent="0"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SzPct val="50000"/>
            </a:pP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1.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定义在调用之后</a:t>
            </a:r>
            <a:endParaRPr lang="en-US" altLang="zh-CN" sz="3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黑体" pitchFamily="49" charset="-122"/>
            </a:endParaRPr>
          </a:p>
          <a:p>
            <a:pPr marL="0" indent="0"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  <a:buClr>
                <a:srgbClr val="009900"/>
              </a:buClr>
              <a:buSzPct val="50000"/>
            </a:pP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2.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函数返回值不是</a:t>
            </a:r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黑体" pitchFamily="49" charset="-122"/>
              </a:rPr>
              <a:t>int</a:t>
            </a:r>
            <a:endParaRPr lang="zh-CN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黑体" pitchFamily="49" charset="-122"/>
            </a:endParaRPr>
          </a:p>
        </p:txBody>
      </p:sp>
      <p:pic>
        <p:nvPicPr>
          <p:cNvPr id="446468" name="Picture 4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1" y="63246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04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0" y="53976"/>
            <a:ext cx="5791200" cy="771525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4.1  </a:t>
            </a:r>
            <a:r>
              <a:rPr lang="zh-CN" altLang="en-US" sz="3600" dirty="0">
                <a:latin typeface="楷体_GB2312" pitchFamily="49" charset="-122"/>
              </a:rPr>
              <a:t>函数的嵌套调用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8201" y="1327151"/>
            <a:ext cx="4024313" cy="4570413"/>
          </a:xfrm>
        </p:spPr>
        <p:txBody>
          <a:bodyPr/>
          <a:lstStyle/>
          <a:p>
            <a:pPr marL="176213" indent="-176213">
              <a:lnSpc>
                <a:spcPct val="120000"/>
              </a:lnSpc>
              <a:buSzPct val="50000"/>
            </a:pPr>
            <a:r>
              <a:rPr lang="zh-CN" altLang="en-US" sz="2400" b="1"/>
              <a:t>函数的嵌套调用是指在调用一个函数的过程中，该函数又调用另一个函数。</a:t>
            </a:r>
            <a:endParaRPr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</a:endParaRPr>
          </a:p>
        </p:txBody>
      </p:sp>
      <p:graphicFrame>
        <p:nvGraphicFramePr>
          <p:cNvPr id="461828" name="Object 4"/>
          <p:cNvGraphicFramePr>
            <a:graphicFrameLocks noChangeAspect="1"/>
          </p:cNvGraphicFramePr>
          <p:nvPr/>
        </p:nvGraphicFramePr>
        <p:xfrm>
          <a:off x="6370638" y="1255713"/>
          <a:ext cx="3200400" cy="461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r:id="rId3" imgW="1368869" imgH="2149157" progId="Word.Picture.8">
                  <p:embed/>
                </p:oleObj>
              </mc:Choice>
              <mc:Fallback>
                <p:oleObj r:id="rId3" imgW="1368869" imgH="2149157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638" y="1255713"/>
                        <a:ext cx="3200400" cy="461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29" name="Rectangle 5"/>
          <p:cNvSpPr>
            <a:spLocks noChangeArrowheads="1"/>
          </p:cNvSpPr>
          <p:nvPr/>
        </p:nvSpPr>
        <p:spPr bwMode="auto">
          <a:xfrm>
            <a:off x="2076450" y="3082926"/>
            <a:ext cx="4002088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76213" indent="-176213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在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C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语言中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,  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各函数均处于平等关系，任何一个函数都可以调用和被调用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,   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但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main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例外。</a:t>
            </a:r>
          </a:p>
        </p:txBody>
      </p:sp>
    </p:spTree>
    <p:extLst>
      <p:ext uri="{BB962C8B-B14F-4D97-AF65-F5344CB8AC3E}">
        <p14:creationId xmlns:p14="http://schemas.microsoft.com/office/powerpoint/2010/main" val="352010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9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87550" y="1695451"/>
            <a:ext cx="8407400" cy="4479925"/>
          </a:xfrm>
        </p:spPr>
        <p:txBody>
          <a:bodyPr/>
          <a:lstStyle/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800" b="1" dirty="0">
                <a:ea typeface="黑体" pitchFamily="49" charset="-122"/>
              </a:rPr>
              <a:t>  </a:t>
            </a:r>
            <a:r>
              <a:rPr lang="zh-CN" altLang="zh-CN" sz="2400" b="1" dirty="0">
                <a:solidFill>
                  <a:srgbClr val="0000B4"/>
                </a:solidFill>
                <a:ea typeface="黑体" pitchFamily="49" charset="-122"/>
              </a:rPr>
              <a:t>float  f1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  <a:ea typeface="黑体" pitchFamily="49" charset="-122"/>
              </a:rPr>
              <a:t>( </a:t>
            </a:r>
            <a:r>
              <a:rPr lang="zh-CN" altLang="zh-CN" sz="2400" b="1" dirty="0">
                <a:solidFill>
                  <a:srgbClr val="0000B4"/>
                </a:solidFill>
                <a:ea typeface="黑体" pitchFamily="49" charset="-122"/>
              </a:rPr>
              <a:t>int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solidFill>
                  <a:srgbClr val="0000B4"/>
                </a:solidFill>
                <a:ea typeface="黑体" pitchFamily="49" charset="-122"/>
              </a:rPr>
              <a:t> int 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  <a:ea typeface="黑体" pitchFamily="49" charset="-122"/>
              </a:rPr>
              <a:t>) ;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B4"/>
                </a:solidFill>
              </a:rPr>
              <a:t>  int  f2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0000B4"/>
                </a:solidFill>
              </a:rPr>
              <a:t>int 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B4"/>
                </a:solidFill>
              </a:rPr>
              <a:t>int 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</a:rPr>
              <a:t>);</a:t>
            </a:r>
            <a:endParaRPr lang="zh-CN" altLang="zh-CN" sz="2400" b="1" dirty="0">
              <a:solidFill>
                <a:srgbClr val="0000B4"/>
              </a:solidFill>
              <a:latin typeface="Times New Roman" pitchFamily="18" charset="0"/>
              <a:ea typeface="黑体" pitchFamily="49" charset="-122"/>
            </a:endParaRP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黑体" pitchFamily="49" charset="-122"/>
              </a:rPr>
              <a:t>  void main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( )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黑体" pitchFamily="49" charset="-122"/>
              </a:rPr>
              <a:t>{ int  a=1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b=2 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400" b="1" dirty="0">
                <a:ea typeface="黑体" pitchFamily="49" charset="-122"/>
              </a:rPr>
              <a:t> 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黑体" pitchFamily="49" charset="-122"/>
              </a:rPr>
              <a:t>   float  c 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;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黑体" pitchFamily="49" charset="-122"/>
              </a:rPr>
              <a:t>   c=f1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400" b="1" dirty="0">
                <a:ea typeface="黑体" pitchFamily="49" charset="-122"/>
              </a:rPr>
              <a:t>a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b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) ;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>
                <a:ea typeface="黑体" pitchFamily="49" charset="-122"/>
              </a:rPr>
              <a:t>   printf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400" b="1" dirty="0">
                <a:latin typeface="Times New Roman"/>
                <a:ea typeface="黑体" pitchFamily="49" charset="-122"/>
              </a:rPr>
              <a:t>“</a:t>
            </a:r>
            <a:r>
              <a:rPr lang="zh-CN" altLang="zh-CN" sz="2400" b="1" dirty="0">
                <a:ea typeface="黑体" pitchFamily="49" charset="-122"/>
              </a:rPr>
              <a:t>c=%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400" b="1" dirty="0">
                <a:ea typeface="黑体" pitchFamily="49" charset="-122"/>
              </a:rPr>
              <a:t>0f</a:t>
            </a:r>
            <a:r>
              <a:rPr lang="zh-CN" altLang="zh-CN" sz="2400" dirty="0">
                <a:ea typeface="黑体" pitchFamily="49" charset="-122"/>
              </a:rPr>
              <a:t>\</a:t>
            </a:r>
            <a:r>
              <a:rPr lang="zh-CN" altLang="zh-CN" sz="2400" b="1" dirty="0">
                <a:ea typeface="黑体" pitchFamily="49" charset="-122"/>
              </a:rPr>
              <a:t>n</a:t>
            </a:r>
            <a:r>
              <a:rPr lang="zh-CN" altLang="zh-CN" sz="2400" b="1" dirty="0">
                <a:latin typeface="Times New Roman"/>
                <a:ea typeface="黑体" pitchFamily="49" charset="-122"/>
              </a:rPr>
              <a:t>”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ea typeface="黑体" pitchFamily="49" charset="-122"/>
              </a:rPr>
              <a:t> c 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);</a:t>
            </a:r>
          </a:p>
          <a:p>
            <a:pPr>
              <a:lnSpc>
                <a:spcPct val="105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zh-CN" altLang="zh-CN" sz="2400" b="1" dirty="0">
                <a:ea typeface="黑体" pitchFamily="49" charset="-122"/>
              </a:rPr>
              <a:t>}</a:t>
            </a:r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title"/>
          </p:nvPr>
        </p:nvSpPr>
        <p:spPr>
          <a:xfrm>
            <a:off x="2478088" y="368301"/>
            <a:ext cx="5791200" cy="746125"/>
          </a:xfrm>
        </p:spPr>
        <p:txBody>
          <a:bodyPr/>
          <a:lstStyle/>
          <a:p>
            <a:r>
              <a:rPr lang="zh-CN" altLang="en-US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例</a:t>
            </a:r>
            <a:r>
              <a:rPr lang="zh-CN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</a:t>
            </a:r>
          </a:p>
        </p:txBody>
      </p:sp>
      <p:sp>
        <p:nvSpPr>
          <p:cNvPr id="462852" name="Text Box 4"/>
          <p:cNvSpPr txBox="1">
            <a:spLocks noChangeArrowheads="1"/>
          </p:cNvSpPr>
          <p:nvPr/>
        </p:nvSpPr>
        <p:spPr bwMode="auto">
          <a:xfrm>
            <a:off x="2586038" y="371475"/>
            <a:ext cx="1981200" cy="1009650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{</a:t>
            </a: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   c=f1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000" b="1">
                <a:solidFill>
                  <a:srgbClr val="000000"/>
                </a:solidFill>
              </a:rPr>
              <a:t>a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000" b="1">
                <a:solidFill>
                  <a:srgbClr val="000000"/>
                </a:solidFill>
              </a:rPr>
              <a:t>b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) ;</a:t>
            </a: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62853" name="Text Box 5"/>
          <p:cNvSpPr txBox="1">
            <a:spLocks noChangeArrowheads="1"/>
          </p:cNvSpPr>
          <p:nvPr/>
        </p:nvSpPr>
        <p:spPr bwMode="auto">
          <a:xfrm>
            <a:off x="6680201" y="1787525"/>
            <a:ext cx="3973513" cy="241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2E2EBA"/>
                </a:solidFill>
              </a:rPr>
              <a:t>float  f1</a:t>
            </a:r>
            <a:r>
              <a:rPr lang="zh-CN" altLang="zh-CN" sz="2400" b="1" dirty="0">
                <a:solidFill>
                  <a:srgbClr val="2E2EBA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2E2EBA"/>
                </a:solidFill>
              </a:rPr>
              <a:t>int  a</a:t>
            </a:r>
            <a:r>
              <a:rPr lang="zh-CN" altLang="zh-CN" sz="2400" b="1" dirty="0">
                <a:solidFill>
                  <a:srgbClr val="2E2EBA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2E2EBA"/>
                </a:solidFill>
              </a:rPr>
              <a:t>int  b</a:t>
            </a:r>
            <a:r>
              <a:rPr lang="zh-CN" altLang="zh-CN" sz="2400" b="1" dirty="0">
                <a:solidFill>
                  <a:srgbClr val="2E2EBA"/>
                </a:solidFill>
                <a:latin typeface="Times New Roman" pitchFamily="18" charset="0"/>
              </a:rPr>
              <a:t>)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{ float  c1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c1=f2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</a:rPr>
              <a:t>+</a:t>
            </a:r>
            <a:r>
              <a:rPr lang="zh-CN" altLang="zh-CN" sz="2400" b="1" dirty="0">
                <a:solidFill>
                  <a:srgbClr val="000000"/>
                </a:solidFill>
              </a:rPr>
              <a:t>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</a:rPr>
              <a:t>b+1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 ;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   return  c1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62854" name="Text Box 6"/>
          <p:cNvSpPr txBox="1">
            <a:spLocks noChangeArrowheads="1"/>
          </p:cNvSpPr>
          <p:nvPr/>
        </p:nvSpPr>
        <p:spPr bwMode="auto">
          <a:xfrm>
            <a:off x="6678613" y="4316414"/>
            <a:ext cx="3975100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9E"/>
                </a:solidFill>
              </a:rPr>
              <a:t>int  f2</a:t>
            </a:r>
            <a:r>
              <a:rPr lang="zh-CN" altLang="zh-CN" sz="2400" b="1">
                <a:solidFill>
                  <a:srgbClr val="00009E"/>
                </a:solidFill>
                <a:latin typeface="Times New Roman" pitchFamily="18" charset="0"/>
              </a:rPr>
              <a:t>(</a:t>
            </a:r>
            <a:r>
              <a:rPr lang="zh-CN" altLang="zh-CN" sz="2400" b="1">
                <a:solidFill>
                  <a:srgbClr val="00009E"/>
                </a:solidFill>
              </a:rPr>
              <a:t>int  x</a:t>
            </a:r>
            <a:r>
              <a:rPr lang="zh-CN" altLang="zh-CN" sz="2400" b="1">
                <a:solidFill>
                  <a:srgbClr val="00009E"/>
                </a:solidFill>
                <a:latin typeface="Times New Roman" pitchFamily="18" charset="0"/>
              </a:rPr>
              <a:t>, </a:t>
            </a:r>
            <a:r>
              <a:rPr lang="zh-CN" altLang="zh-CN" sz="2400" b="1">
                <a:solidFill>
                  <a:srgbClr val="00009E"/>
                </a:solidFill>
              </a:rPr>
              <a:t>int  y</a:t>
            </a:r>
            <a:r>
              <a:rPr lang="zh-CN" altLang="zh-CN" sz="2400" b="1">
                <a:solidFill>
                  <a:srgbClr val="00009E"/>
                </a:solidFill>
                <a:latin typeface="Times New Roman" pitchFamily="18" charset="0"/>
              </a:rPr>
              <a:t>)</a:t>
            </a: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return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>
                <a:solidFill>
                  <a:srgbClr val="000000"/>
                </a:solidFill>
              </a:rPr>
              <a:t>x+y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) 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62855" name="Rectangle 7"/>
          <p:cNvSpPr>
            <a:spLocks noChangeArrowheads="1"/>
          </p:cNvSpPr>
          <p:nvPr/>
        </p:nvSpPr>
        <p:spPr bwMode="auto">
          <a:xfrm>
            <a:off x="2214563" y="5316539"/>
            <a:ext cx="2743200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400" b="1" dirty="0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9E"/>
                </a:solidFill>
              </a:rPr>
              <a:t>              </a:t>
            </a:r>
            <a:r>
              <a:rPr lang="zh-CN" altLang="zh-CN" sz="2800" b="1" dirty="0">
                <a:solidFill>
                  <a:srgbClr val="00009E"/>
                </a:solidFill>
              </a:rPr>
              <a:t>c=</a:t>
            </a:r>
            <a:r>
              <a:rPr lang="en-US" altLang="zh-CN" sz="2800" b="1" dirty="0">
                <a:solidFill>
                  <a:srgbClr val="00009E"/>
                </a:solidFill>
              </a:rPr>
              <a:t>5</a:t>
            </a:r>
            <a:endParaRPr lang="zh-CN" altLang="zh-CN" sz="2800" b="1" dirty="0">
              <a:solidFill>
                <a:srgbClr val="00009E"/>
              </a:solidFill>
            </a:endParaRPr>
          </a:p>
        </p:txBody>
      </p:sp>
      <p:sp>
        <p:nvSpPr>
          <p:cNvPr id="462856" name="Text Box 8"/>
          <p:cNvSpPr txBox="1">
            <a:spLocks noChangeArrowheads="1"/>
          </p:cNvSpPr>
          <p:nvPr/>
        </p:nvSpPr>
        <p:spPr bwMode="auto">
          <a:xfrm>
            <a:off x="5037138" y="396875"/>
            <a:ext cx="2362200" cy="1009650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>
            <a:spAutoFit/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{</a:t>
            </a: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c1=f2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000" b="1">
                <a:solidFill>
                  <a:srgbClr val="000000"/>
                </a:solidFill>
              </a:rPr>
              <a:t>a-1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000" b="1">
                <a:solidFill>
                  <a:srgbClr val="000000"/>
                </a:solidFill>
              </a:rPr>
              <a:t> b+1</a:t>
            </a:r>
            <a:r>
              <a:rPr lang="zh-CN" altLang="zh-CN" sz="2000" b="1">
                <a:solidFill>
                  <a:srgbClr val="000000"/>
                </a:solidFill>
                <a:latin typeface="Times New Roman" pitchFamily="18" charset="0"/>
              </a:rPr>
              <a:t>);</a:t>
            </a: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ea typeface="黑体" pitchFamily="49" charset="-122"/>
              </a:rPr>
              <a:t>返回</a:t>
            </a:r>
            <a:r>
              <a:rPr lang="zh-CN" altLang="zh-CN" sz="2000" b="1">
                <a:solidFill>
                  <a:srgbClr val="000000"/>
                </a:solidFill>
              </a:rPr>
              <a:t>f1</a:t>
            </a:r>
            <a:r>
              <a:rPr lang="zh-CN" altLang="en-US" sz="2000" b="1">
                <a:solidFill>
                  <a:srgbClr val="000000"/>
                </a:solidFill>
                <a:ea typeface="黑体" pitchFamily="49" charset="-122"/>
              </a:rPr>
              <a:t>函数值</a:t>
            </a:r>
            <a:r>
              <a:rPr lang="zh-CN" altLang="en-US" sz="2000" b="1">
                <a:solidFill>
                  <a:srgbClr val="000000"/>
                </a:solidFill>
              </a:rPr>
              <a:t> </a:t>
            </a:r>
            <a:r>
              <a:rPr lang="zh-CN" altLang="zh-CN" sz="2000" b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62857" name="Text Box 9"/>
          <p:cNvSpPr txBox="1">
            <a:spLocks noChangeArrowheads="1"/>
          </p:cNvSpPr>
          <p:nvPr/>
        </p:nvSpPr>
        <p:spPr bwMode="auto">
          <a:xfrm>
            <a:off x="7932738" y="392114"/>
            <a:ext cx="2235200" cy="974725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 bIns="118800">
            <a:spAutoFit/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{</a:t>
            </a:r>
          </a:p>
          <a:p>
            <a:pPr fontAlgn="base">
              <a:spcBef>
                <a:spcPct val="75000"/>
              </a:spcBef>
              <a:spcAft>
                <a:spcPct val="2000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ea typeface="黑体" pitchFamily="49" charset="-122"/>
              </a:rPr>
              <a:t>返回</a:t>
            </a:r>
            <a:r>
              <a:rPr lang="zh-CN" altLang="zh-CN" sz="2000" b="1">
                <a:solidFill>
                  <a:srgbClr val="000000"/>
                </a:solidFill>
              </a:rPr>
              <a:t>f2</a:t>
            </a:r>
            <a:r>
              <a:rPr lang="zh-CN" altLang="en-US" sz="2000" b="1">
                <a:solidFill>
                  <a:srgbClr val="000000"/>
                </a:solidFill>
                <a:ea typeface="黑体" pitchFamily="49" charset="-122"/>
              </a:rPr>
              <a:t>函数值</a:t>
            </a:r>
            <a:r>
              <a:rPr lang="zh-CN" altLang="en-US" sz="2000" b="1">
                <a:solidFill>
                  <a:srgbClr val="000000"/>
                </a:solidFill>
              </a:rPr>
              <a:t>  </a:t>
            </a:r>
            <a:r>
              <a:rPr lang="zh-CN" altLang="zh-CN" sz="2000" b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62858" name="Text Box 10"/>
          <p:cNvSpPr txBox="1">
            <a:spLocks noChangeArrowheads="1"/>
          </p:cNvSpPr>
          <p:nvPr/>
        </p:nvSpPr>
        <p:spPr bwMode="auto">
          <a:xfrm>
            <a:off x="2825750" y="17464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main</a:t>
            </a:r>
            <a:r>
              <a:rPr lang="zh-CN" altLang="en-US" sz="2000" b="1">
                <a:solidFill>
                  <a:srgbClr val="000000"/>
                </a:solidFill>
                <a:ea typeface="黑体" pitchFamily="49" charset="-122"/>
              </a:rPr>
              <a:t>函数</a:t>
            </a:r>
          </a:p>
        </p:txBody>
      </p:sp>
      <p:sp>
        <p:nvSpPr>
          <p:cNvPr id="462859" name="Text Box 11"/>
          <p:cNvSpPr txBox="1">
            <a:spLocks noChangeArrowheads="1"/>
          </p:cNvSpPr>
          <p:nvPr/>
        </p:nvSpPr>
        <p:spPr bwMode="auto">
          <a:xfrm>
            <a:off x="5467350" y="17464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f1</a:t>
            </a:r>
            <a:r>
              <a:rPr lang="zh-CN" altLang="en-US" sz="2000" b="1">
                <a:solidFill>
                  <a:srgbClr val="000000"/>
                </a:solidFill>
                <a:ea typeface="黑体" pitchFamily="49" charset="-122"/>
              </a:rPr>
              <a:t>函数</a:t>
            </a:r>
          </a:p>
        </p:txBody>
      </p:sp>
      <p:sp>
        <p:nvSpPr>
          <p:cNvPr id="462860" name="Text Box 12"/>
          <p:cNvSpPr txBox="1">
            <a:spLocks noChangeArrowheads="1"/>
          </p:cNvSpPr>
          <p:nvPr/>
        </p:nvSpPr>
        <p:spPr bwMode="auto">
          <a:xfrm>
            <a:off x="8210550" y="42864"/>
            <a:ext cx="1320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</a:rPr>
              <a:t>f2</a:t>
            </a:r>
            <a:r>
              <a:rPr lang="zh-CN" altLang="en-US" sz="2000" b="1">
                <a:solidFill>
                  <a:srgbClr val="000000"/>
                </a:solidFill>
                <a:ea typeface="黑体" pitchFamily="49" charset="-122"/>
              </a:rPr>
              <a:t>函数</a:t>
            </a:r>
          </a:p>
        </p:txBody>
      </p:sp>
      <p:sp>
        <p:nvSpPr>
          <p:cNvPr id="462861" name="Line 13"/>
          <p:cNvSpPr>
            <a:spLocks noChangeShapeType="1"/>
          </p:cNvSpPr>
          <p:nvPr/>
        </p:nvSpPr>
        <p:spPr bwMode="auto">
          <a:xfrm flipV="1">
            <a:off x="4376738" y="560388"/>
            <a:ext cx="762000" cy="22860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62862" name="Line 14"/>
          <p:cNvSpPr>
            <a:spLocks noChangeShapeType="1"/>
          </p:cNvSpPr>
          <p:nvPr/>
        </p:nvSpPr>
        <p:spPr bwMode="auto">
          <a:xfrm flipV="1">
            <a:off x="7272338" y="509588"/>
            <a:ext cx="762000" cy="38100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62863" name="Line 15"/>
          <p:cNvSpPr>
            <a:spLocks noChangeShapeType="1"/>
          </p:cNvSpPr>
          <p:nvPr/>
        </p:nvSpPr>
        <p:spPr bwMode="auto">
          <a:xfrm flipH="1" flipV="1">
            <a:off x="4325938" y="865188"/>
            <a:ext cx="838200" cy="38100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62864" name="Line 16"/>
          <p:cNvSpPr>
            <a:spLocks noChangeShapeType="1"/>
          </p:cNvSpPr>
          <p:nvPr/>
        </p:nvSpPr>
        <p:spPr bwMode="auto">
          <a:xfrm flipH="1" flipV="1">
            <a:off x="7272338" y="941388"/>
            <a:ext cx="762000" cy="15240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62865" name="Line 17"/>
          <p:cNvSpPr>
            <a:spLocks noChangeShapeType="1"/>
          </p:cNvSpPr>
          <p:nvPr/>
        </p:nvSpPr>
        <p:spPr bwMode="auto">
          <a:xfrm>
            <a:off x="3919538" y="407988"/>
            <a:ext cx="0" cy="30480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62866" name="Line 18"/>
          <p:cNvSpPr>
            <a:spLocks noChangeShapeType="1"/>
          </p:cNvSpPr>
          <p:nvPr/>
        </p:nvSpPr>
        <p:spPr bwMode="auto">
          <a:xfrm>
            <a:off x="3919538" y="1017588"/>
            <a:ext cx="0" cy="30480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62867" name="Line 19"/>
          <p:cNvSpPr>
            <a:spLocks noChangeShapeType="1"/>
          </p:cNvSpPr>
          <p:nvPr/>
        </p:nvSpPr>
        <p:spPr bwMode="auto">
          <a:xfrm>
            <a:off x="3806825" y="1336675"/>
            <a:ext cx="2286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5345760" y="6643800"/>
              <a:ext cx="360" cy="3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6400" y="66344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292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62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62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62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6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0" fill="hold"/>
                                        <p:tgtEl>
                                          <p:spTgt spid="4628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0" fill="hold"/>
                                        <p:tgtEl>
                                          <p:spTgt spid="4628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2" grpId="0" animBg="1" autoUpdateAnimBg="0"/>
      <p:bldP spid="462855" grpId="0" build="p" autoUpdateAnimBg="0"/>
      <p:bldP spid="462856" grpId="0" animBg="1" autoUpdateAnimBg="0"/>
      <p:bldP spid="462857" grpId="0" animBg="1" autoUpdateAnimBg="0"/>
      <p:bldP spid="462858" grpId="0" autoUpdateAnimBg="0"/>
      <p:bldP spid="462859" grpId="0" autoUpdateAnimBg="0"/>
      <p:bldP spid="462860" grpId="0" autoUpdateAnimBg="0"/>
      <p:bldP spid="462861" grpId="0" animBg="1"/>
      <p:bldP spid="462862" grpId="0" animBg="1"/>
      <p:bldP spid="462863" grpId="0" animBg="1"/>
      <p:bldP spid="462864" grpId="0" animBg="1"/>
      <p:bldP spid="462865" grpId="0" animBg="1"/>
      <p:bldP spid="462866" grpId="0" animBg="1"/>
      <p:bldP spid="46286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0D9B48-6288-457E-B591-B1B0389DB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482" y="1628800"/>
            <a:ext cx="4535590" cy="41148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double fact(int);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int c(</a:t>
            </a:r>
            <a:r>
              <a:rPr lang="en-US" altLang="zh-CN" sz="2400" dirty="0" err="1"/>
              <a:t>int,int</a:t>
            </a:r>
            <a:r>
              <a:rPr lang="en-US" altLang="zh-CN" sz="240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int </a:t>
            </a:r>
            <a:r>
              <a:rPr lang="en-US" altLang="zh-CN" sz="2400" dirty="0" err="1"/>
              <a:t>n,m,t</a:t>
            </a:r>
            <a:r>
              <a:rPr lang="en-US" altLang="zh-CN" sz="2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("input:");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d%d</a:t>
            </a:r>
            <a:r>
              <a:rPr lang="en-US" altLang="zh-CN" sz="2400" dirty="0"/>
              <a:t>",&amp;</a:t>
            </a:r>
            <a:r>
              <a:rPr lang="en-US" altLang="zh-CN" sz="2400" dirty="0" err="1"/>
              <a:t>n,&amp;m</a:t>
            </a:r>
            <a:r>
              <a:rPr lang="en-US" altLang="zh-CN" sz="240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if (n&lt;m)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	t=</a:t>
            </a:r>
            <a:r>
              <a:rPr lang="en-US" altLang="zh-CN" sz="2400" dirty="0" err="1"/>
              <a:t>n,n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m,m</a:t>
            </a:r>
            <a:r>
              <a:rPr lang="en-US" altLang="zh-CN" sz="2400" dirty="0"/>
              <a:t>=t;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("%d\</a:t>
            </a:r>
            <a:r>
              <a:rPr lang="en-US" altLang="zh-CN" sz="2400" dirty="0" err="1"/>
              <a:t>n",c</a:t>
            </a:r>
            <a:r>
              <a:rPr lang="en-US" altLang="zh-CN" sz="2400" dirty="0"/>
              <a:t>(</a:t>
            </a:r>
            <a:r>
              <a:rPr lang="en-US" altLang="zh-CN" sz="2400" dirty="0" err="1"/>
              <a:t>n,m</a:t>
            </a:r>
            <a:r>
              <a:rPr lang="en-US" altLang="zh-CN" sz="2400" dirty="0"/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}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AA1D740-1BA6-48A3-9636-219B8CB1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825" y="153987"/>
            <a:ext cx="3205151" cy="1143000"/>
          </a:xfrm>
        </p:spPr>
        <p:txBody>
          <a:bodyPr/>
          <a:lstStyle/>
          <a:p>
            <a:r>
              <a:rPr lang="zh-CN" altLang="en-US" dirty="0"/>
              <a:t>试编程计算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9A0C32E-4C81-4BF1-B76B-3FFB88258812}"/>
                  </a:ext>
                </a:extLst>
              </p:cNvPr>
              <p:cNvSpPr txBox="1"/>
              <p:nvPr/>
            </p:nvSpPr>
            <p:spPr>
              <a:xfrm>
                <a:off x="5923282" y="400253"/>
                <a:ext cx="4057600" cy="883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!</m:t>
                          </m:r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（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fName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)!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9A0C32E-4C81-4BF1-B76B-3FFB88258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282" y="400253"/>
                <a:ext cx="4057600" cy="8830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9E9763D2-93DB-4769-9737-289A60F1FEC6}"/>
              </a:ext>
            </a:extLst>
          </p:cNvPr>
          <p:cNvSpPr txBox="1"/>
          <p:nvPr/>
        </p:nvSpPr>
        <p:spPr>
          <a:xfrm>
            <a:off x="6744072" y="1640881"/>
            <a:ext cx="39604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double fact(int n)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double fa=1;</a:t>
            </a:r>
          </a:p>
          <a:p>
            <a:r>
              <a:rPr lang="en-US" altLang="zh-CN" dirty="0"/>
              <a:t>	for(</a:t>
            </a:r>
            <a:r>
              <a:rPr lang="en-US" altLang="zh-CN" dirty="0" err="1"/>
              <a:t>i</a:t>
            </a:r>
            <a:r>
              <a:rPr lang="en-US" altLang="zh-CN" dirty="0"/>
              <a:t>=2;i&lt;=</a:t>
            </a:r>
            <a:r>
              <a:rPr lang="en-US" altLang="zh-CN" dirty="0" err="1"/>
              <a:t>n;i</a:t>
            </a:r>
            <a:r>
              <a:rPr lang="en-US" altLang="zh-CN" dirty="0"/>
              <a:t>++)</a:t>
            </a:r>
          </a:p>
          <a:p>
            <a:r>
              <a:rPr lang="en-US" altLang="zh-CN" dirty="0"/>
              <a:t>		fa*=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return fa;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int c(int </a:t>
            </a:r>
            <a:r>
              <a:rPr lang="en-US" altLang="zh-CN" dirty="0" err="1"/>
              <a:t>n,int</a:t>
            </a:r>
            <a:r>
              <a:rPr lang="en-US" altLang="zh-CN" dirty="0"/>
              <a:t> m)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return fact(n)/(fact(m)*fact(n-m));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51222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AA1D740-1BA6-48A3-9636-219B8CB1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824" y="153987"/>
            <a:ext cx="7741656" cy="1143000"/>
          </a:xfrm>
        </p:spPr>
        <p:txBody>
          <a:bodyPr/>
          <a:lstStyle/>
          <a:p>
            <a:r>
              <a:rPr lang="zh-CN" altLang="en-US" dirty="0"/>
              <a:t>试编程用组合法打印杨辉三角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12362C8-7C2E-4E57-90E9-F0EE3826CB58}"/>
              </a:ext>
            </a:extLst>
          </p:cNvPr>
          <p:cNvSpPr txBox="1">
            <a:spLocks/>
          </p:cNvSpPr>
          <p:nvPr/>
        </p:nvSpPr>
        <p:spPr bwMode="auto">
          <a:xfrm>
            <a:off x="1750722" y="1640880"/>
            <a:ext cx="453559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#include &lt;</a:t>
            </a:r>
            <a:r>
              <a:rPr lang="en-US" altLang="zh-CN" sz="2000" kern="0" dirty="0" err="1"/>
              <a:t>stdio.h</a:t>
            </a:r>
            <a:r>
              <a:rPr lang="en-US" altLang="zh-CN" sz="2000" kern="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double fact(int);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int c(</a:t>
            </a:r>
            <a:r>
              <a:rPr lang="en-US" altLang="zh-CN" sz="2000" kern="0" dirty="0" err="1"/>
              <a:t>int,int</a:t>
            </a:r>
            <a:r>
              <a:rPr lang="en-US" altLang="zh-CN" sz="2000" kern="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	int </a:t>
            </a:r>
            <a:r>
              <a:rPr lang="en-US" altLang="zh-CN" sz="2000" kern="0" dirty="0" err="1"/>
              <a:t>i,j,n</a:t>
            </a:r>
            <a:r>
              <a:rPr lang="en-US" altLang="zh-CN" sz="2000" kern="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	</a:t>
            </a:r>
            <a:r>
              <a:rPr lang="en-US" altLang="zh-CN" sz="2000" kern="0" dirty="0" err="1"/>
              <a:t>printf</a:t>
            </a:r>
            <a:r>
              <a:rPr lang="en-US" altLang="zh-CN" sz="2000" kern="0" dirty="0"/>
              <a:t>("input:");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	</a:t>
            </a:r>
            <a:r>
              <a:rPr lang="en-US" altLang="zh-CN" sz="2000" kern="0" dirty="0" err="1"/>
              <a:t>scanf</a:t>
            </a:r>
            <a:r>
              <a:rPr lang="en-US" altLang="zh-CN" sz="2000" kern="0" dirty="0"/>
              <a:t>("%</a:t>
            </a:r>
            <a:r>
              <a:rPr lang="en-US" altLang="zh-CN" sz="2000" kern="0" dirty="0" err="1"/>
              <a:t>d",&amp;n</a:t>
            </a:r>
            <a:r>
              <a:rPr lang="en-US" altLang="zh-CN" sz="2000" kern="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	for(</a:t>
            </a:r>
            <a:r>
              <a:rPr lang="en-US" altLang="zh-CN" sz="2000" kern="0" dirty="0" err="1"/>
              <a:t>i</a:t>
            </a:r>
            <a:r>
              <a:rPr lang="en-US" altLang="zh-CN" sz="2000" kern="0" dirty="0"/>
              <a:t>=0;i&lt;</a:t>
            </a:r>
            <a:r>
              <a:rPr lang="en-US" altLang="zh-CN" sz="2000" kern="0" dirty="0" err="1"/>
              <a:t>n;i</a:t>
            </a:r>
            <a:r>
              <a:rPr lang="en-US" altLang="zh-CN" sz="2000" kern="0" dirty="0"/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	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		for(j=0;j&lt;=</a:t>
            </a:r>
            <a:r>
              <a:rPr lang="en-US" altLang="zh-CN" sz="2000" kern="0" dirty="0" err="1"/>
              <a:t>i;j</a:t>
            </a:r>
            <a:r>
              <a:rPr lang="en-US" altLang="zh-CN" sz="2000" kern="0" dirty="0"/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				</a:t>
            </a:r>
            <a:r>
              <a:rPr lang="en-US" altLang="zh-CN" sz="2000" kern="0" dirty="0" err="1"/>
              <a:t>printf</a:t>
            </a:r>
            <a:r>
              <a:rPr lang="en-US" altLang="zh-CN" sz="2000" kern="0" dirty="0"/>
              <a:t>("%5d",c(</a:t>
            </a:r>
            <a:r>
              <a:rPr lang="en-US" altLang="zh-CN" sz="2000" kern="0" dirty="0" err="1"/>
              <a:t>i,j</a:t>
            </a:r>
            <a:r>
              <a:rPr lang="en-US" altLang="zh-CN" sz="2000" kern="0" dirty="0"/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		</a:t>
            </a:r>
            <a:r>
              <a:rPr lang="en-US" altLang="zh-CN" sz="2000" kern="0" dirty="0" err="1"/>
              <a:t>printf</a:t>
            </a:r>
            <a:r>
              <a:rPr lang="en-US" altLang="zh-CN" sz="2000" kern="0" dirty="0"/>
              <a:t>("\n");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kern="0" dirty="0"/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44908D-6FAD-478F-87B7-D24B3A3D0D67}"/>
              </a:ext>
            </a:extLst>
          </p:cNvPr>
          <p:cNvSpPr txBox="1"/>
          <p:nvPr/>
        </p:nvSpPr>
        <p:spPr>
          <a:xfrm>
            <a:off x="6744072" y="1640881"/>
            <a:ext cx="39604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double fact(int n)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double fa=1;</a:t>
            </a:r>
          </a:p>
          <a:p>
            <a:r>
              <a:rPr lang="en-US" altLang="zh-CN" dirty="0"/>
              <a:t>	for(</a:t>
            </a:r>
            <a:r>
              <a:rPr lang="en-US" altLang="zh-CN" dirty="0" err="1"/>
              <a:t>i</a:t>
            </a:r>
            <a:r>
              <a:rPr lang="en-US" altLang="zh-CN" dirty="0"/>
              <a:t>=2;i&lt;=</a:t>
            </a:r>
            <a:r>
              <a:rPr lang="en-US" altLang="zh-CN" dirty="0" err="1"/>
              <a:t>n;i</a:t>
            </a:r>
            <a:r>
              <a:rPr lang="en-US" altLang="zh-CN" dirty="0"/>
              <a:t>++)</a:t>
            </a:r>
          </a:p>
          <a:p>
            <a:r>
              <a:rPr lang="en-US" altLang="zh-CN" dirty="0"/>
              <a:t>		fa*=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return fa;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int c(int </a:t>
            </a:r>
            <a:r>
              <a:rPr lang="en-US" altLang="zh-CN" dirty="0" err="1"/>
              <a:t>n,int</a:t>
            </a:r>
            <a:r>
              <a:rPr lang="en-US" altLang="zh-CN" dirty="0"/>
              <a:t> m)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return fact(n)/(fact(m)*fact(n-m));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29525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0CE3971-9ADA-FD85-CB22-9C268010B15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indent="457200"/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如果实参是个变量，且实参变量和形参变量名称相同，以下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叙述正确的是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E39F4E-ECCF-78D1-9B58-ECD318B27D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实参与形参占用同一块内存区域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95AB01-64AA-6F8D-F9EC-F61E8311B90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只有同名时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实参与形参才占用同一块内存区域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C0D51E-0C58-740C-DFD4-1D7D7F97E9D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实参与形参占用不同的内存区域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96D40B-6040-CC5E-6524-F98870B6F5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不同名时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实参与形参占用不同的内存区域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86AFDC7-DCBD-3C94-CAA0-AC08E8D8026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99C896E-6A83-9B75-5673-4B5091D81AF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CDE9B99-DF7A-E3B9-B7E9-EC5CD502109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865C034-5CB2-9C10-FBAE-EAF088B6B36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EDF7309-FF1F-035E-7E7E-0E81397D937E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9F0CA42-731F-F49E-E727-472892F4B46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2B5C770-FAB5-F2ED-602F-87B1A980B75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DC92F0B-3EB1-F1BD-E165-E8A75EE3F98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86E72B7E-408A-05B6-C4FC-BFB88461C77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D6D7BA6-9B22-5E68-A835-3C6D709C001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C9E5511-11F6-821A-960A-118E07D09C3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1633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0CE3971-9ADA-FD85-CB22-9C268010B15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73696" y="486058"/>
            <a:ext cx="9753600" cy="498157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有如下程序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func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(int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a,int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b)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return(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a+b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 }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int x=2,y=5,z=8,r;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r=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func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func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),z);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("%d\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n",r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该程序的输出结果是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__________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E39F4E-ECCF-78D1-9B58-ECD318B27D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88526" y="5108104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95AB01-64AA-6F8D-F9EC-F61E8311B90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37297" y="5108104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C0D51E-0C58-740C-DFD4-1D7D7F97E9D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960096" y="5131715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96D40B-6040-CC5E-6524-F98870B6F5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298454" y="5172397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86AFDC7-DCBD-3C94-CAA0-AC08E8D8026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821751" y="517239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99C896E-6A83-9B75-5673-4B5091D81AF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970522" y="517239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CDE9B99-DF7A-E3B9-B7E9-EC5CD502109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093321" y="519600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865C034-5CB2-9C10-FBAE-EAF088B6B36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8431679" y="5236690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EDF7309-FF1F-035E-7E7E-0E81397D937E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9F0CA42-731F-F49E-E727-472892F4B46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2B5C770-FAB5-F2ED-602F-87B1A980B75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DC92F0B-3EB1-F1BD-E165-E8A75EE3F98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86E72B7E-408A-05B6-C4FC-BFB88461C77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D6D7BA6-9B22-5E68-A835-3C6D709C001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C9E5511-11F6-821A-960A-118E07D09C3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54293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0CE3971-9ADA-FD85-CB22-9C268010B15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73696" y="486058"/>
            <a:ext cx="9753600" cy="498157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以下程序的输出结果是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fun(int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x,int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y,int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a)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a=x*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x+y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*y;}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int a=31;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fun(5,2,a);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d",a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E39F4E-ECCF-78D1-9B58-ECD318B27D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88526" y="5108104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95AB01-64AA-6F8D-F9EC-F61E8311B90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37297" y="5108104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29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C0D51E-0C58-740C-DFD4-1D7D7F97E9D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960096" y="5131715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96D40B-6040-CC5E-6524-F98870B6F5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298454" y="5172397"/>
            <a:ext cx="126204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不定值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86AFDC7-DCBD-3C94-CAA0-AC08E8D8026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821751" y="517239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99C896E-6A83-9B75-5673-4B5091D81AF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970522" y="517239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CDE9B99-DF7A-E3B9-B7E9-EC5CD502109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093321" y="5196008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865C034-5CB2-9C10-FBAE-EAF088B6B36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8431679" y="5236690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EDF7309-FF1F-035E-7E7E-0E81397D937E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9F0CA42-731F-F49E-E727-472892F4B46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2B5C770-FAB5-F2ED-602F-87B1A980B75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DC92F0B-3EB1-F1BD-E165-E8A75EE3F98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86E72B7E-408A-05B6-C4FC-BFB88461C77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D6D7BA6-9B22-5E68-A835-3C6D709C001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C9E5511-11F6-821A-960A-118E07D09C3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02019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443288" y="138113"/>
            <a:ext cx="5791200" cy="677862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6.</a:t>
            </a:r>
            <a:r>
              <a:rPr lang="zh-CN" altLang="zh-CN" sz="3600" dirty="0">
                <a:latin typeface="楷体_GB2312" pitchFamily="49" charset="-122"/>
              </a:rPr>
              <a:t>4.2  </a:t>
            </a:r>
            <a:r>
              <a:rPr lang="zh-CN" altLang="en-US" sz="3600" dirty="0">
                <a:latin typeface="楷体_GB2312" pitchFamily="49" charset="-122"/>
              </a:rPr>
              <a:t>函数的递归调用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9788" y="1216025"/>
            <a:ext cx="8235950" cy="4724400"/>
          </a:xfrm>
        </p:spPr>
        <p:txBody>
          <a:bodyPr/>
          <a:lstStyle/>
          <a:p>
            <a:pPr marL="269875" indent="-269875">
              <a:lnSpc>
                <a:spcPct val="120000"/>
              </a:lnSpc>
              <a:buSzPct val="55000"/>
            </a:pPr>
            <a:r>
              <a:rPr lang="zh-CN" altLang="en-US" sz="2400" b="1">
                <a:latin typeface="黑体" pitchFamily="49" charset="-122"/>
              </a:rPr>
              <a:t>函数的递归调用是指在一个函数调用过程中又直接或间接调用自己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en-US" sz="2400" b="1">
                <a:latin typeface="Courier New" pitchFamily="49" charset="0"/>
              </a:rPr>
              <a:t>这样的函数称为递归函数。</a:t>
            </a:r>
          </a:p>
          <a:p>
            <a:pPr marL="269875" indent="-269875">
              <a:lnSpc>
                <a:spcPct val="110000"/>
              </a:lnSpc>
              <a:buClr>
                <a:srgbClr val="009900"/>
              </a:buClr>
              <a:buSzPct val="85000"/>
              <a:buFont typeface="Wingdings" pitchFamily="2" charset="2"/>
              <a:buChar char="Ø"/>
            </a:pPr>
            <a:endParaRPr lang="zh-CN" altLang="en-US" sz="2400" b="1">
              <a:latin typeface="黑体" pitchFamily="49" charset="-122"/>
            </a:endParaRPr>
          </a:p>
          <a:p>
            <a:pPr marL="269875" indent="-269875">
              <a:buNone/>
            </a:pPr>
            <a:endParaRPr lang="zh-CN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</a:endParaRPr>
          </a:p>
        </p:txBody>
      </p:sp>
      <p:sp>
        <p:nvSpPr>
          <p:cNvPr id="463876" name="Text Box 4"/>
          <p:cNvSpPr txBox="1">
            <a:spLocks noChangeArrowheads="1"/>
          </p:cNvSpPr>
          <p:nvPr/>
        </p:nvSpPr>
        <p:spPr bwMode="auto">
          <a:xfrm>
            <a:off x="6122988" y="2454275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间接递归调用</a:t>
            </a:r>
            <a:r>
              <a:rPr lang="zh-CN" altLang="en-US" sz="2400" b="1">
                <a:solidFill>
                  <a:srgbClr val="00000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463877" name="Rectangle 5"/>
          <p:cNvSpPr>
            <a:spLocks noChangeArrowheads="1"/>
          </p:cNvSpPr>
          <p:nvPr/>
        </p:nvSpPr>
        <p:spPr bwMode="auto">
          <a:xfrm>
            <a:off x="2860675" y="2970214"/>
            <a:ext cx="6400800" cy="312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28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</a:rPr>
              <a:t>fun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</a:t>
            </a:r>
            <a:r>
              <a:rPr lang="zh-CN" altLang="zh-CN" sz="2400" b="1">
                <a:solidFill>
                  <a:srgbClr val="3333CC"/>
                </a:solidFill>
                <a:latin typeface="Times New Roman" pitchFamily="18" charset="0"/>
                <a:ea typeface="宋体" pitchFamily="2" charset="-122"/>
              </a:rPr>
              <a:t>     </a:t>
            </a:r>
            <a:r>
              <a:rPr lang="zh-CN" altLang="zh-CN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                        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fun1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</a:t>
            </a:r>
            <a:endParaRPr lang="zh-CN" altLang="zh-CN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algn="just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{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……                           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{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…… </a:t>
            </a:r>
          </a:p>
          <a:p>
            <a:pPr indent="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fun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);                           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fun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2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);</a:t>
            </a:r>
            <a:endParaRPr lang="zh-CN" altLang="zh-CN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algn="just" eaLnBrk="0" fontAlgn="base" hangingPunct="0">
              <a:lnSpc>
                <a:spcPct val="6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……                                  ……</a:t>
            </a:r>
            <a:endParaRPr lang="zh-CN" altLang="zh-CN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algn="just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}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               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}</a:t>
            </a:r>
          </a:p>
          <a:p>
            <a:pPr indent="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                    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fun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2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</a:t>
            </a:r>
            <a:endParaRPr lang="zh-CN" altLang="zh-CN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                 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{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……</a:t>
            </a:r>
            <a:endParaRPr lang="zh-CN" altLang="zh-CN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                        </a:t>
            </a:r>
            <a:r>
              <a:rPr lang="en-US" altLang="zh-CN" sz="2400" b="1">
                <a:solidFill>
                  <a:srgbClr val="000000"/>
                </a:solidFill>
                <a:ea typeface="宋体" pitchFamily="2" charset="-122"/>
              </a:rPr>
              <a:t>fun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1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);</a:t>
            </a:r>
            <a:endParaRPr lang="zh-CN" altLang="zh-CN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algn="just" eaLnBrk="0" fontAlgn="base" hangingPunct="0">
              <a:lnSpc>
                <a:spcPct val="6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                        ……</a:t>
            </a:r>
            <a:endParaRPr lang="zh-CN" altLang="zh-CN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indent="228600" algn="just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                    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}</a:t>
            </a:r>
          </a:p>
        </p:txBody>
      </p:sp>
      <p:sp>
        <p:nvSpPr>
          <p:cNvPr id="463878" name="Rectangle 6"/>
          <p:cNvSpPr>
            <a:spLocks noChangeArrowheads="1"/>
          </p:cNvSpPr>
          <p:nvPr/>
        </p:nvSpPr>
        <p:spPr bwMode="auto">
          <a:xfrm>
            <a:off x="2717800" y="2468563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直接递归调用</a:t>
            </a:r>
            <a:r>
              <a:rPr lang="zh-CN" altLang="en-US" sz="1000" b="1">
                <a:solidFill>
                  <a:srgbClr val="000000"/>
                </a:solidFill>
                <a:latin typeface="黑体" pitchFamily="49" charset="-122"/>
              </a:rPr>
              <a:t>   </a:t>
            </a:r>
            <a:endParaRPr lang="zh-CN" altLang="en-US" sz="2400">
              <a:solidFill>
                <a:srgbClr val="000000"/>
              </a:solidFill>
              <a:latin typeface="黑体" pitchFamily="49" charset="-122"/>
            </a:endParaRPr>
          </a:p>
        </p:txBody>
      </p:sp>
      <p:grpSp>
        <p:nvGrpSpPr>
          <p:cNvPr id="463879" name="Group 7"/>
          <p:cNvGrpSpPr>
            <a:grpSpLocks/>
          </p:cNvGrpSpPr>
          <p:nvPr/>
        </p:nvGrpSpPr>
        <p:grpSpPr bwMode="auto">
          <a:xfrm>
            <a:off x="7786688" y="3892550"/>
            <a:ext cx="330200" cy="863600"/>
            <a:chOff x="0" y="0"/>
            <a:chExt cx="360" cy="780"/>
          </a:xfrm>
        </p:grpSpPr>
        <p:sp>
          <p:nvSpPr>
            <p:cNvPr id="463880" name="Line 8"/>
            <p:cNvSpPr>
              <a:spLocks noChangeShapeType="1"/>
            </p:cNvSpPr>
            <p:nvPr/>
          </p:nvSpPr>
          <p:spPr bwMode="auto">
            <a:xfrm>
              <a:off x="0" y="0"/>
              <a:ext cx="360" cy="0"/>
            </a:xfrm>
            <a:prstGeom prst="line">
              <a:avLst/>
            </a:prstGeom>
            <a:noFill/>
            <a:ln w="2222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463881" name="Line 9"/>
            <p:cNvSpPr>
              <a:spLocks noChangeShapeType="1"/>
            </p:cNvSpPr>
            <p:nvPr/>
          </p:nvSpPr>
          <p:spPr bwMode="auto">
            <a:xfrm>
              <a:off x="360" y="0"/>
              <a:ext cx="0" cy="780"/>
            </a:xfrm>
            <a:prstGeom prst="line">
              <a:avLst/>
            </a:prstGeom>
            <a:noFill/>
            <a:ln w="2222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463882" name="Line 10"/>
            <p:cNvSpPr>
              <a:spLocks noChangeShapeType="1"/>
            </p:cNvSpPr>
            <p:nvPr/>
          </p:nvSpPr>
          <p:spPr bwMode="auto">
            <a:xfrm flipH="1">
              <a:off x="0" y="780"/>
              <a:ext cx="360" cy="0"/>
            </a:xfrm>
            <a:prstGeom prst="line">
              <a:avLst/>
            </a:prstGeom>
            <a:noFill/>
            <a:ln w="22225" cmpd="sng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grpSp>
        <p:nvGrpSpPr>
          <p:cNvPr id="463883" name="Group 11"/>
          <p:cNvGrpSpPr>
            <a:grpSpLocks/>
          </p:cNvGrpSpPr>
          <p:nvPr/>
        </p:nvGrpSpPr>
        <p:grpSpPr bwMode="auto">
          <a:xfrm>
            <a:off x="6011863" y="3203575"/>
            <a:ext cx="381000" cy="2103438"/>
            <a:chOff x="0" y="0"/>
            <a:chExt cx="360" cy="2028"/>
          </a:xfrm>
        </p:grpSpPr>
        <p:sp>
          <p:nvSpPr>
            <p:cNvPr id="463884" name="Line 12"/>
            <p:cNvSpPr>
              <a:spLocks noChangeShapeType="1"/>
            </p:cNvSpPr>
            <p:nvPr/>
          </p:nvSpPr>
          <p:spPr bwMode="auto">
            <a:xfrm>
              <a:off x="0" y="0"/>
              <a:ext cx="360" cy="0"/>
            </a:xfrm>
            <a:prstGeom prst="line">
              <a:avLst/>
            </a:prstGeom>
            <a:noFill/>
            <a:ln w="22225" cmpd="sng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463885" name="Line 13"/>
            <p:cNvSpPr>
              <a:spLocks noChangeShapeType="1"/>
            </p:cNvSpPr>
            <p:nvPr/>
          </p:nvSpPr>
          <p:spPr bwMode="auto">
            <a:xfrm>
              <a:off x="0" y="0"/>
              <a:ext cx="0" cy="2028"/>
            </a:xfrm>
            <a:prstGeom prst="line">
              <a:avLst/>
            </a:prstGeom>
            <a:noFill/>
            <a:ln w="2222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463886" name="Line 14"/>
            <p:cNvSpPr>
              <a:spLocks noChangeShapeType="1"/>
            </p:cNvSpPr>
            <p:nvPr/>
          </p:nvSpPr>
          <p:spPr bwMode="auto">
            <a:xfrm>
              <a:off x="0" y="2028"/>
              <a:ext cx="360" cy="0"/>
            </a:xfrm>
            <a:prstGeom prst="line">
              <a:avLst/>
            </a:prstGeom>
            <a:noFill/>
            <a:ln w="2222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grpSp>
        <p:nvGrpSpPr>
          <p:cNvPr id="463887" name="Group 15"/>
          <p:cNvGrpSpPr>
            <a:grpSpLocks/>
          </p:cNvGrpSpPr>
          <p:nvPr/>
        </p:nvGrpSpPr>
        <p:grpSpPr bwMode="auto">
          <a:xfrm>
            <a:off x="2974975" y="3178176"/>
            <a:ext cx="268288" cy="676275"/>
            <a:chOff x="0" y="0"/>
            <a:chExt cx="543" cy="624"/>
          </a:xfrm>
        </p:grpSpPr>
        <p:sp>
          <p:nvSpPr>
            <p:cNvPr id="463888" name="Line 16"/>
            <p:cNvSpPr>
              <a:spLocks noChangeShapeType="1"/>
            </p:cNvSpPr>
            <p:nvPr/>
          </p:nvSpPr>
          <p:spPr bwMode="auto">
            <a:xfrm>
              <a:off x="0" y="3"/>
              <a:ext cx="360" cy="0"/>
            </a:xfrm>
            <a:prstGeom prst="line">
              <a:avLst/>
            </a:prstGeom>
            <a:noFill/>
            <a:ln w="22225" cmpd="sng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463889" name="Line 17"/>
            <p:cNvSpPr>
              <a:spLocks noChangeShapeType="1"/>
            </p:cNvSpPr>
            <p:nvPr/>
          </p:nvSpPr>
          <p:spPr bwMode="auto">
            <a:xfrm>
              <a:off x="3" y="0"/>
              <a:ext cx="0" cy="624"/>
            </a:xfrm>
            <a:prstGeom prst="line">
              <a:avLst/>
            </a:prstGeom>
            <a:noFill/>
            <a:ln w="2222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463890" name="Line 18"/>
            <p:cNvSpPr>
              <a:spLocks noChangeShapeType="1"/>
            </p:cNvSpPr>
            <p:nvPr/>
          </p:nvSpPr>
          <p:spPr bwMode="auto">
            <a:xfrm>
              <a:off x="3" y="624"/>
              <a:ext cx="540" cy="0"/>
            </a:xfrm>
            <a:prstGeom prst="line">
              <a:avLst/>
            </a:prstGeom>
            <a:noFill/>
            <a:ln w="2222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449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6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2" name="Text Box 2"/>
          <p:cNvSpPr txBox="1">
            <a:spLocks noChangeArrowheads="1"/>
          </p:cNvSpPr>
          <p:nvPr/>
        </p:nvSpPr>
        <p:spPr bwMode="auto">
          <a:xfrm>
            <a:off x="1775520" y="1443841"/>
            <a:ext cx="835342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3600" b="1" dirty="0">
                <a:ea typeface="黑体" pitchFamily="2" charset="-122"/>
              </a:rPr>
              <a:t>递归算法是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算法设计的有力工具</a:t>
            </a:r>
            <a:r>
              <a:rPr lang="zh-CN" altLang="en-US" sz="3600" b="1" dirty="0">
                <a:ea typeface="黑体" pitchFamily="2" charset="-122"/>
              </a:rPr>
              <a:t>，对于拓展编程思路非常</a:t>
            </a:r>
            <a:r>
              <a:rPr lang="zh-CN" altLang="en-US" sz="3600" b="1">
                <a:ea typeface="黑体" pitchFamily="2" charset="-122"/>
              </a:rPr>
              <a:t>有用。</a:t>
            </a:r>
            <a:endParaRPr lang="en-US" altLang="zh-CN" sz="3600" b="1">
              <a:ea typeface="黑体" pitchFamily="2" charset="-122"/>
            </a:endParaRPr>
          </a:p>
          <a:p>
            <a:pPr eaLnBrk="1" hangingPunct="1">
              <a:buFontTx/>
              <a:buChar char="•"/>
            </a:pPr>
            <a:endParaRPr lang="en-US" altLang="zh-CN" sz="3600" b="1">
              <a:ea typeface="黑体" pitchFamily="2" charset="-122"/>
            </a:endParaRPr>
          </a:p>
          <a:p>
            <a:pPr eaLnBrk="1" hangingPunct="1">
              <a:buFontTx/>
              <a:buChar char="•"/>
            </a:pPr>
            <a:endParaRPr lang="en-US" altLang="zh-CN" sz="3600" b="1" dirty="0">
              <a:ea typeface="黑体" pitchFamily="2" charset="-122"/>
            </a:endParaRPr>
          </a:p>
          <a:p>
            <a:pPr eaLnBrk="1" hangingPunct="1">
              <a:buFontTx/>
              <a:buChar char="•"/>
            </a:pPr>
            <a:r>
              <a:rPr lang="zh-CN" altLang="en-US" sz="3600" b="1" dirty="0">
                <a:ea typeface="黑体" pitchFamily="2" charset="-122"/>
              </a:rPr>
              <a:t>就递归算法而言并不涉及高深数学知识，只不过初学者要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建立起递归概念不十分容易</a:t>
            </a:r>
            <a:r>
              <a:rPr lang="zh-CN" altLang="en-US" sz="3600" b="1" dirty="0">
                <a:ea typeface="黑体" pitchFamily="2" charset="-122"/>
              </a:rPr>
              <a:t>。</a:t>
            </a:r>
          </a:p>
        </p:txBody>
      </p:sp>
      <p:sp>
        <p:nvSpPr>
          <p:cNvPr id="844805" name="Rectangle 5"/>
          <p:cNvSpPr>
            <a:spLocks noGrp="1" noChangeArrowheads="1"/>
          </p:cNvSpPr>
          <p:nvPr>
            <p:ph type="title"/>
          </p:nvPr>
        </p:nvSpPr>
        <p:spPr>
          <a:xfrm>
            <a:off x="2783632" y="116632"/>
            <a:ext cx="6567264" cy="762000"/>
          </a:xfrm>
          <a:noFill/>
          <a:ln/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Arial" charset="0"/>
              </a:rPr>
              <a:t>递归及其实现</a:t>
            </a:r>
          </a:p>
        </p:txBody>
      </p:sp>
    </p:spTree>
    <p:extLst>
      <p:ext uri="{BB962C8B-B14F-4D97-AF65-F5344CB8AC3E}">
        <p14:creationId xmlns:p14="http://schemas.microsoft.com/office/powerpoint/2010/main" val="1430112394"/>
      </p:ext>
    </p:extLst>
  </p:cSld>
  <p:clrMapOvr>
    <a:masterClrMapping/>
  </p:clrMapOvr>
  <p:transition spd="med"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</a:rPr>
              <a:t>递归程序设计</a:t>
            </a:r>
            <a:endParaRPr lang="zh-CN" altLang="en-US" sz="2400">
              <a:latin typeface="Arial" charset="0"/>
            </a:endParaRPr>
          </a:p>
        </p:txBody>
      </p:sp>
      <p:sp>
        <p:nvSpPr>
          <p:cNvPr id="84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9" y="1341438"/>
            <a:ext cx="8497887" cy="4754562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zh-CN" sz="4800" i="1"/>
              <a:t>n </a:t>
            </a:r>
            <a:r>
              <a:rPr lang="en-US" altLang="zh-CN" sz="4800" dirty="0"/>
              <a:t>! = 1 </a:t>
            </a:r>
            <a:r>
              <a:rPr lang="en-US" altLang="zh-CN" sz="4800" dirty="0">
                <a:sym typeface="Symbol" pitchFamily="18" charset="2"/>
              </a:rPr>
              <a:t> 2  3  </a:t>
            </a:r>
            <a:r>
              <a:rPr lang="en-US" altLang="zh-CN" sz="4800" dirty="0">
                <a:latin typeface="Times New Roman"/>
                <a:sym typeface="Symbol" pitchFamily="18" charset="2"/>
              </a:rPr>
              <a:t>…</a:t>
            </a:r>
            <a:r>
              <a:rPr lang="en-US" altLang="zh-CN" sz="4800" dirty="0">
                <a:sym typeface="Symbol" pitchFamily="18" charset="2"/>
              </a:rPr>
              <a:t>  </a:t>
            </a:r>
            <a:r>
              <a:rPr lang="en-US" altLang="zh-CN" sz="4800" i="1" dirty="0">
                <a:sym typeface="Symbol" pitchFamily="18" charset="2"/>
              </a:rPr>
              <a:t>n </a:t>
            </a:r>
            <a:r>
              <a:rPr lang="en-US" altLang="zh-CN" sz="4800" i="1">
                <a:sym typeface="Symbol" pitchFamily="18" charset="2"/>
              </a:rPr>
              <a:t>;</a:t>
            </a:r>
            <a:r>
              <a:rPr lang="en-US" altLang="zh-CN" sz="4800">
                <a:sym typeface="Symbol" pitchFamily="18" charset="2"/>
              </a:rPr>
              <a:t>  </a:t>
            </a:r>
          </a:p>
          <a:p>
            <a:pPr lvl="1"/>
            <a:r>
              <a:rPr lang="en-US" altLang="zh-CN" sz="3600" b="1">
                <a:solidFill>
                  <a:srgbClr val="FF0000"/>
                </a:solidFill>
              </a:rPr>
              <a:t>n </a:t>
            </a:r>
            <a:r>
              <a:rPr lang="en-US" altLang="zh-CN" sz="3600" b="1" dirty="0">
                <a:solidFill>
                  <a:srgbClr val="FF0000"/>
                </a:solidFill>
              </a:rPr>
              <a:t>! =</a:t>
            </a:r>
            <a:r>
              <a:rPr lang="en-US" altLang="zh-CN" sz="3600" b="1" dirty="0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US" altLang="zh-CN" sz="3600" b="1" dirty="0">
                <a:solidFill>
                  <a:srgbClr val="FF0000"/>
                </a:solidFill>
              </a:rPr>
              <a:t> *(n-1)! </a:t>
            </a:r>
          </a:p>
          <a:p>
            <a:pPr lvl="1"/>
            <a:r>
              <a:rPr lang="en-US" altLang="zh-CN" sz="3600" b="1" dirty="0">
                <a:solidFill>
                  <a:srgbClr val="FF0000"/>
                </a:solidFill>
              </a:rPr>
              <a:t>(n -1)! =(</a:t>
            </a:r>
            <a:r>
              <a:rPr lang="en-US" altLang="zh-CN" sz="3600" b="1" dirty="0">
                <a:solidFill>
                  <a:srgbClr val="FF0000"/>
                </a:solidFill>
                <a:sym typeface="Symbol" pitchFamily="18" charset="2"/>
              </a:rPr>
              <a:t>n-1)</a:t>
            </a:r>
            <a:r>
              <a:rPr lang="en-US" altLang="zh-CN" sz="3600" b="1" dirty="0">
                <a:solidFill>
                  <a:srgbClr val="FF0000"/>
                </a:solidFill>
              </a:rPr>
              <a:t> *(n-2)! </a:t>
            </a:r>
            <a:endParaRPr lang="en-US" altLang="zh-CN" sz="3600" b="1" dirty="0">
              <a:solidFill>
                <a:srgbClr val="FF0000"/>
              </a:solidFill>
              <a:sym typeface="Symbol" pitchFamily="18" charset="2"/>
            </a:endParaRPr>
          </a:p>
          <a:p>
            <a:pPr lvl="1"/>
            <a:r>
              <a:rPr lang="en-US" altLang="zh-CN" sz="3600" b="1" dirty="0">
                <a:solidFill>
                  <a:srgbClr val="FF0000"/>
                </a:solidFill>
                <a:sym typeface="Symbol" pitchFamily="18" charset="2"/>
              </a:rPr>
              <a:t>…</a:t>
            </a:r>
          </a:p>
          <a:p>
            <a:pPr lvl="1"/>
            <a:r>
              <a:rPr lang="en-US" altLang="zh-CN" sz="3600" b="1" dirty="0">
                <a:solidFill>
                  <a:srgbClr val="FF0000"/>
                </a:solidFill>
                <a:sym typeface="Symbol" pitchFamily="18" charset="2"/>
              </a:rPr>
              <a:t>2!=2*1!</a:t>
            </a:r>
          </a:p>
          <a:p>
            <a:pPr lvl="1"/>
            <a:r>
              <a:rPr lang="en-US" altLang="zh-CN" sz="3600" b="1" dirty="0">
                <a:solidFill>
                  <a:srgbClr val="FF0000"/>
                </a:solidFill>
                <a:sym typeface="Symbol" pitchFamily="18" charset="2"/>
              </a:rPr>
              <a:t>1! = 1</a:t>
            </a:r>
            <a:endParaRPr lang="en-US" altLang="zh-CN" b="1" dirty="0">
              <a:solidFill>
                <a:srgbClr val="FF0000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571554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924" name="Group 4"/>
          <p:cNvGrpSpPr>
            <a:grpSpLocks/>
          </p:cNvGrpSpPr>
          <p:nvPr/>
        </p:nvGrpSpPr>
        <p:grpSpPr bwMode="auto">
          <a:xfrm>
            <a:off x="2431632" y="1412776"/>
            <a:ext cx="6392862" cy="960437"/>
            <a:chOff x="0" y="0"/>
            <a:chExt cx="4027" cy="605"/>
          </a:xfrm>
        </p:grpSpPr>
        <p:sp>
          <p:nvSpPr>
            <p:cNvPr id="465925" name="AutoShape 5"/>
            <p:cNvSpPr>
              <a:spLocks/>
            </p:cNvSpPr>
            <p:nvPr/>
          </p:nvSpPr>
          <p:spPr bwMode="auto">
            <a:xfrm>
              <a:off x="1692" y="36"/>
              <a:ext cx="67" cy="497"/>
            </a:xfrm>
            <a:prstGeom prst="leftBrace">
              <a:avLst>
                <a:gd name="adj1" fmla="val 61816"/>
                <a:gd name="adj2" fmla="val 50000"/>
              </a:avLst>
            </a:pr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465926" name="Text Box 6"/>
            <p:cNvSpPr txBox="1">
              <a:spLocks noChangeArrowheads="1"/>
            </p:cNvSpPr>
            <p:nvPr/>
          </p:nvSpPr>
          <p:spPr bwMode="auto">
            <a:xfrm>
              <a:off x="0" y="127"/>
              <a:ext cx="28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00"/>
                  </a:solidFill>
                </a:rPr>
                <a:t>递归公式为</a:t>
              </a:r>
              <a:r>
                <a:rPr lang="zh-CN" altLang="zh-CN" sz="2400" b="1">
                  <a:solidFill>
                    <a:srgbClr val="000000"/>
                  </a:solidFill>
                  <a:latin typeface="Times New Roman" pitchFamily="18" charset="0"/>
                </a:rPr>
                <a:t>:</a:t>
              </a:r>
              <a:r>
                <a:rPr lang="zh-CN" altLang="zh-CN" sz="2400" b="1">
                  <a:solidFill>
                    <a:srgbClr val="000000"/>
                  </a:solidFill>
                </a:rPr>
                <a:t>    </a:t>
              </a:r>
              <a:r>
                <a:rPr lang="zh-CN" altLang="zh-CN" sz="2400" b="1">
                  <a:solidFill>
                    <a:srgbClr val="FF0000"/>
                  </a:solidFill>
                </a:rPr>
                <a:t>n!</a:t>
              </a:r>
              <a:r>
                <a:rPr lang="zh-CN" altLang="zh-CN" sz="2400" b="1">
                  <a:solidFill>
                    <a:srgbClr val="000000"/>
                  </a:solidFill>
                </a:rPr>
                <a:t>=</a:t>
              </a:r>
            </a:p>
          </p:txBody>
        </p:sp>
        <p:sp>
          <p:nvSpPr>
            <p:cNvPr id="465927" name="Text Box 7"/>
            <p:cNvSpPr txBox="1">
              <a:spLocks noChangeArrowheads="1"/>
            </p:cNvSpPr>
            <p:nvPr/>
          </p:nvSpPr>
          <p:spPr bwMode="auto">
            <a:xfrm>
              <a:off x="1819" y="0"/>
              <a:ext cx="2208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1500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1 </a:t>
              </a:r>
              <a:r>
                <a:rPr lang="zh-CN" altLang="zh-CN" sz="2400" b="1">
                  <a:solidFill>
                    <a:srgbClr val="2E2EBA"/>
                  </a:solidFill>
                  <a:ea typeface="宋体" pitchFamily="2" charset="-122"/>
                </a:rPr>
                <a:t>    </a:t>
              </a: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          </a:t>
              </a:r>
              <a:r>
                <a:rPr lang="zh-CN" altLang="zh-CN" sz="2400" b="1">
                  <a:solidFill>
                    <a:srgbClr val="1C1C1C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zh-CN" altLang="zh-CN" sz="2400" b="1">
                  <a:solidFill>
                    <a:srgbClr val="1C1C1C"/>
                  </a:solidFill>
                  <a:ea typeface="宋体" pitchFamily="2" charset="-122"/>
                </a:rPr>
                <a:t>n==1</a:t>
              </a:r>
              <a:r>
                <a:rPr lang="zh-CN" altLang="zh-CN" sz="2400" b="1">
                  <a:solidFill>
                    <a:srgbClr val="1C1C1C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  <a:p>
              <a:pPr fontAlgn="base">
                <a:spcBef>
                  <a:spcPct val="3500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000000"/>
                  </a:solidFill>
                  <a:ea typeface="宋体" pitchFamily="2" charset="-122"/>
                </a:rPr>
                <a:t>n</a:t>
              </a:r>
              <a:r>
                <a:rPr lang="zh-CN" altLang="zh-CN" sz="2400" b="1">
                  <a:solidFill>
                    <a:srgbClr val="000000"/>
                  </a:solidFill>
                  <a:latin typeface="黑体" pitchFamily="49" charset="-122"/>
                </a:rPr>
                <a:t>*</a:t>
              </a:r>
              <a:r>
                <a:rPr lang="zh-CN" altLang="zh-CN" sz="2400" b="1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zh-CN" altLang="zh-CN" sz="2400" b="1">
                  <a:solidFill>
                    <a:srgbClr val="FF0000"/>
                  </a:solidFill>
                  <a:ea typeface="宋体" pitchFamily="2" charset="-122"/>
                </a:rPr>
                <a:t>n-1</a:t>
              </a:r>
              <a:r>
                <a:rPr lang="zh-CN" altLang="zh-CN" sz="2400" b="1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  <a:r>
                <a:rPr lang="zh-CN" altLang="zh-CN" sz="2400" b="1">
                  <a:solidFill>
                    <a:srgbClr val="FF0000"/>
                  </a:solidFill>
                  <a:ea typeface="宋体" pitchFamily="2" charset="-122"/>
                </a:rPr>
                <a:t>!</a:t>
              </a:r>
              <a:r>
                <a:rPr lang="zh-CN" altLang="zh-CN" sz="2400" b="1">
                  <a:solidFill>
                    <a:srgbClr val="2E2EBA"/>
                  </a:solidFill>
                  <a:ea typeface="宋体" pitchFamily="2" charset="-122"/>
                </a:rPr>
                <a:t>    </a:t>
              </a:r>
              <a:r>
                <a:rPr lang="zh-CN" altLang="zh-CN" sz="2400" b="1">
                  <a:solidFill>
                    <a:srgbClr val="1C1C1C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zh-CN" altLang="zh-CN" sz="2400" b="1">
                  <a:solidFill>
                    <a:srgbClr val="1C1C1C"/>
                  </a:solidFill>
                  <a:ea typeface="宋体" pitchFamily="2" charset="-122"/>
                </a:rPr>
                <a:t>n&gt;1</a:t>
              </a:r>
              <a:r>
                <a:rPr lang="zh-CN" altLang="zh-CN" sz="2400" b="1">
                  <a:solidFill>
                    <a:srgbClr val="1C1C1C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</p:grpSp>
      <p:sp>
        <p:nvSpPr>
          <p:cNvPr id="465928" name="Text Box 8"/>
          <p:cNvSpPr txBox="1">
            <a:spLocks noChangeArrowheads="1"/>
          </p:cNvSpPr>
          <p:nvPr/>
        </p:nvSpPr>
        <p:spPr bwMode="auto">
          <a:xfrm>
            <a:off x="2420519" y="2592287"/>
            <a:ext cx="754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递归</a:t>
            </a: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</a:rPr>
              <a:t>终止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条件为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:</a:t>
            </a:r>
            <a:r>
              <a:rPr lang="zh-CN" altLang="zh-CN" sz="2400" b="1">
                <a:solidFill>
                  <a:srgbClr val="000000"/>
                </a:solidFill>
              </a:rPr>
              <a:t>    if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>
                <a:solidFill>
                  <a:srgbClr val="000000"/>
                </a:solidFill>
              </a:rPr>
              <a:t>n==1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zh-CN" sz="2400" b="1">
                <a:solidFill>
                  <a:srgbClr val="000000"/>
                </a:solidFill>
              </a:rPr>
              <a:t> return 1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</p:txBody>
      </p:sp>
      <p:sp>
        <p:nvSpPr>
          <p:cNvPr id="465929" name="AutoShape 9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2279650" y="692151"/>
            <a:ext cx="287338" cy="288925"/>
          </a:xfrm>
          <a:prstGeom prst="actionButtonEnd">
            <a:avLst/>
          </a:prstGeom>
          <a:noFill/>
          <a:ln w="0" cmpd="sng">
            <a:solidFill>
              <a:srgbClr val="002BB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65930" name="Rectangle 10"/>
          <p:cNvSpPr>
            <a:spLocks noChangeArrowheads="1"/>
          </p:cNvSpPr>
          <p:nvPr/>
        </p:nvSpPr>
        <p:spPr bwMode="auto">
          <a:xfrm>
            <a:off x="8372057" y="1435001"/>
            <a:ext cx="1096962" cy="339725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基本实例</a:t>
            </a:r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65931" name="Rectangle 11"/>
          <p:cNvSpPr>
            <a:spLocks noChangeArrowheads="1"/>
          </p:cNvSpPr>
          <p:nvPr/>
        </p:nvSpPr>
        <p:spPr bwMode="auto">
          <a:xfrm>
            <a:off x="8394282" y="2000151"/>
            <a:ext cx="1096962" cy="339725"/>
          </a:xfrm>
          <a:prstGeom prst="rect">
            <a:avLst/>
          </a:prstGeom>
          <a:solidFill>
            <a:srgbClr val="CCFF99"/>
          </a:solidFill>
          <a:ln w="9525" cmpd="sng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简化问题</a:t>
            </a:r>
            <a:endParaRPr lang="zh-CN" altLang="en-US" b="1">
              <a:solidFill>
                <a:srgbClr val="00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0C07E70-BD9D-EE0A-1C1C-7E51D1D74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447" y="3322993"/>
            <a:ext cx="8340051" cy="248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2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59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8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63751" y="1806576"/>
            <a:ext cx="5395913" cy="4492625"/>
          </a:xfrm>
          <a:noFill/>
          <a:ln/>
        </p:spPr>
        <p:txBody>
          <a:bodyPr/>
          <a:lstStyle/>
          <a:p>
            <a:pPr eaLnBrk="0" hangingPunct="0"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zh-CN" b="1">
                <a:latin typeface="Times New Roman" pitchFamily="18" charset="0"/>
              </a:rPr>
              <a:t>   </a:t>
            </a:r>
            <a:r>
              <a:rPr lang="zh-CN" altLang="zh-CN" sz="2400" b="1"/>
              <a:t>long  fact</a:t>
            </a:r>
            <a:r>
              <a:rPr lang="zh-CN" altLang="zh-CN" sz="2400" b="1">
                <a:latin typeface="Times New Roman" pitchFamily="18" charset="0"/>
              </a:rPr>
              <a:t>(</a:t>
            </a:r>
            <a:r>
              <a:rPr lang="zh-CN" altLang="zh-CN" sz="2400" b="1"/>
              <a:t>int</a:t>
            </a:r>
            <a:r>
              <a:rPr lang="zh-CN" altLang="zh-CN" sz="2400" b="1">
                <a:latin typeface="Times New Roman" pitchFamily="18" charset="0"/>
              </a:rPr>
              <a:t>) ;</a:t>
            </a:r>
            <a:br>
              <a:rPr lang="zh-CN" altLang="zh-CN" sz="2400" b="1">
                <a:latin typeface="Times New Roman" pitchFamily="18" charset="0"/>
              </a:rPr>
            </a:br>
            <a:r>
              <a:rPr lang="zh-CN" altLang="zh-CN" sz="2400" b="1"/>
              <a:t>void</a:t>
            </a:r>
            <a:r>
              <a:rPr lang="zh-CN" altLang="zh-CN" sz="2400" b="1">
                <a:latin typeface="Times New Roman" pitchFamily="18" charset="0"/>
              </a:rPr>
              <a:t> </a:t>
            </a:r>
            <a:r>
              <a:rPr lang="zh-CN" altLang="zh-CN" sz="2400" b="1"/>
              <a:t>main</a:t>
            </a:r>
            <a:r>
              <a:rPr lang="zh-CN" altLang="zh-CN" sz="2400" b="1">
                <a:latin typeface="Times New Roman" pitchFamily="18" charset="0"/>
              </a:rPr>
              <a:t>( )</a:t>
            </a:r>
          </a:p>
          <a:p>
            <a:pPr eaLnBrk="0" hangingPunct="0"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zh-CN" sz="2400" b="1">
                <a:latin typeface="Times New Roman" pitchFamily="18" charset="0"/>
              </a:rPr>
              <a:t> </a:t>
            </a:r>
            <a:r>
              <a:rPr lang="zh-CN" altLang="zh-CN" sz="2400" b="1"/>
              <a:t>{</a:t>
            </a:r>
            <a:r>
              <a:rPr lang="zh-CN" altLang="zh-CN" sz="2400" b="1">
                <a:latin typeface="Times New Roman" pitchFamily="18" charset="0"/>
              </a:rPr>
              <a:t> </a:t>
            </a:r>
            <a:r>
              <a:rPr lang="zh-CN" altLang="zh-CN" sz="2400" b="1"/>
              <a:t>int  n</a:t>
            </a:r>
            <a:r>
              <a:rPr lang="zh-CN" altLang="zh-CN" sz="2400" b="1">
                <a:latin typeface="Times New Roman" pitchFamily="18" charset="0"/>
              </a:rPr>
              <a:t> ;  </a:t>
            </a:r>
            <a:r>
              <a:rPr lang="zh-CN" altLang="zh-CN" sz="2400" b="1"/>
              <a:t>long  f</a:t>
            </a:r>
            <a:r>
              <a:rPr lang="zh-CN" altLang="zh-CN" sz="2400" b="1">
                <a:latin typeface="Times New Roman" pitchFamily="18" charset="0"/>
              </a:rPr>
              <a:t> ;</a:t>
            </a:r>
          </a:p>
          <a:p>
            <a:pPr eaLnBrk="0" hangingPunct="0"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zh-CN" sz="2400" b="1">
                <a:latin typeface="Times New Roman" pitchFamily="18" charset="0"/>
              </a:rPr>
              <a:t>    </a:t>
            </a:r>
            <a:r>
              <a:rPr lang="zh-CN" altLang="zh-CN" sz="2400" b="1"/>
              <a:t>printf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 b="1"/>
              <a:t>n=</a:t>
            </a:r>
            <a:r>
              <a:rPr lang="zh-CN" altLang="zh-CN" sz="2400" b="1">
                <a:latin typeface="Times New Roman" pitchFamily="18" charset="0"/>
              </a:rPr>
              <a:t>”);</a:t>
            </a:r>
          </a:p>
          <a:p>
            <a:pPr eaLnBrk="0" hangingPunct="0"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zh-CN" sz="2400" b="1">
                <a:latin typeface="Times New Roman" pitchFamily="18" charset="0"/>
              </a:rPr>
              <a:t>    </a:t>
            </a:r>
            <a:r>
              <a:rPr lang="zh-CN" altLang="zh-CN" sz="2400" b="1"/>
              <a:t>scanf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 b="1"/>
              <a:t>%d</a:t>
            </a:r>
            <a:r>
              <a:rPr lang="zh-CN" altLang="zh-CN" sz="2400" b="1">
                <a:latin typeface="Times New Roman" pitchFamily="18" charset="0"/>
              </a:rPr>
              <a:t>”, &amp;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);</a:t>
            </a:r>
            <a:br>
              <a:rPr lang="zh-CN" altLang="zh-CN" sz="2400" b="1">
                <a:latin typeface="Times New Roman" pitchFamily="18" charset="0"/>
              </a:rPr>
            </a:br>
            <a:r>
              <a:rPr lang="zh-CN" altLang="zh-CN" sz="2400" b="1"/>
              <a:t>f= </a:t>
            </a:r>
            <a:r>
              <a:rPr lang="zh-CN" altLang="zh-CN" sz="2400" b="1">
                <a:solidFill>
                  <a:schemeClr val="hlink"/>
                </a:solidFill>
                <a:latin typeface="Arial" pitchFamily="34" charset="0"/>
              </a:rPr>
              <a:t>fact</a:t>
            </a:r>
            <a:r>
              <a:rPr lang="zh-CN" altLang="zh-CN" sz="2400" b="1">
                <a:solidFill>
                  <a:schemeClr val="hlink"/>
                </a:solidFill>
                <a:latin typeface="Times New Roman" pitchFamily="18" charset="0"/>
              </a:rPr>
              <a:t>(</a:t>
            </a:r>
            <a:r>
              <a:rPr lang="zh-CN" altLang="zh-CN" sz="2400" b="1">
                <a:solidFill>
                  <a:schemeClr val="hlink"/>
                </a:solidFill>
              </a:rPr>
              <a:t>n</a:t>
            </a:r>
            <a:r>
              <a:rPr lang="zh-CN" altLang="zh-CN" sz="2400" b="1">
                <a:solidFill>
                  <a:schemeClr val="hlink"/>
                </a:solidFill>
                <a:latin typeface="Times New Roman" pitchFamily="18" charset="0"/>
              </a:rPr>
              <a:t>)</a:t>
            </a:r>
            <a:r>
              <a:rPr lang="zh-CN" altLang="zh-CN" sz="2400" b="1">
                <a:latin typeface="Times New Roman" pitchFamily="18" charset="0"/>
              </a:rPr>
              <a:t>;</a:t>
            </a:r>
            <a:br>
              <a:rPr lang="zh-CN" altLang="zh-CN" sz="2400" b="1">
                <a:latin typeface="Times New Roman" pitchFamily="18" charset="0"/>
              </a:rPr>
            </a:br>
            <a:r>
              <a:rPr lang="zh-CN" altLang="zh-CN" sz="2400" b="1"/>
              <a:t>printf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 b="1"/>
              <a:t>%d!=%d</a:t>
            </a:r>
            <a:r>
              <a:rPr lang="zh-CN" altLang="zh-CN" sz="2400" b="1">
                <a:latin typeface="Times New Roman" pitchFamily="18" charset="0"/>
              </a:rPr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”, 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f </a:t>
            </a:r>
            <a:r>
              <a:rPr lang="zh-CN" altLang="zh-CN" sz="2400" b="1">
                <a:latin typeface="Times New Roman" pitchFamily="18" charset="0"/>
              </a:rPr>
              <a:t>);</a:t>
            </a:r>
          </a:p>
          <a:p>
            <a:pPr eaLnBrk="0" hangingPunct="0">
              <a:lnSpc>
                <a:spcPct val="115000"/>
              </a:lnSpc>
              <a:spcBef>
                <a:spcPct val="35000"/>
              </a:spcBef>
              <a:buClrTx/>
              <a:buSzTx/>
              <a:buFontTx/>
              <a:buNone/>
            </a:pPr>
            <a:r>
              <a:rPr lang="zh-CN" altLang="zh-CN" sz="2400" b="1">
                <a:latin typeface="Times New Roman" pitchFamily="18" charset="0"/>
              </a:rPr>
              <a:t> </a:t>
            </a:r>
            <a:r>
              <a:rPr lang="zh-CN" altLang="zh-CN" sz="2400" b="1"/>
              <a:t>}</a:t>
            </a:r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title"/>
          </p:nvPr>
        </p:nvSpPr>
        <p:spPr>
          <a:xfrm>
            <a:off x="2786063" y="500064"/>
            <a:ext cx="5791200" cy="682625"/>
          </a:xfrm>
        </p:spPr>
        <p:txBody>
          <a:bodyPr/>
          <a:lstStyle/>
          <a:p>
            <a:r>
              <a:rPr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程序：</a:t>
            </a:r>
          </a:p>
        </p:txBody>
      </p:sp>
      <p:graphicFrame>
        <p:nvGraphicFramePr>
          <p:cNvPr id="468996" name="Object 4"/>
          <p:cNvGraphicFramePr>
            <a:graphicFrameLocks noChangeAspect="1"/>
          </p:cNvGraphicFramePr>
          <p:nvPr/>
        </p:nvGraphicFramePr>
        <p:xfrm>
          <a:off x="2782889" y="0"/>
          <a:ext cx="6923087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r:id="rId3" imgW="4001197" imgH="1425080" progId="Word.Picture.8">
                  <p:embed/>
                </p:oleObj>
              </mc:Choice>
              <mc:Fallback>
                <p:oleObj r:id="rId3" imgW="4001197" imgH="142508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132" t="6320" r="1886" b="253"/>
                      <a:stretch>
                        <a:fillRect/>
                      </a:stretch>
                    </p:blipFill>
                    <p:spPr bwMode="auto">
                      <a:xfrm>
                        <a:off x="2782889" y="0"/>
                        <a:ext cx="6923087" cy="162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6659563" y="1897063"/>
            <a:ext cx="3797300" cy="270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FF3300"/>
                </a:solidFill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</a:rPr>
              <a:t>long</a:t>
            </a:r>
            <a:r>
              <a:rPr lang="zh-CN" altLang="zh-CN" sz="2400" b="1" dirty="0">
                <a:solidFill>
                  <a:srgbClr val="FF0000"/>
                </a:solidFill>
              </a:rPr>
              <a:t>  fact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FF0000"/>
                </a:solidFill>
              </a:rPr>
              <a:t>int  n 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)</a:t>
            </a:r>
            <a:b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</a:br>
            <a:r>
              <a:rPr lang="zh-CN" altLang="zh-CN" sz="2400" b="1" dirty="0">
                <a:solidFill>
                  <a:srgbClr val="000000"/>
                </a:solidFill>
              </a:rPr>
              <a:t>{</a:t>
            </a:r>
            <a:b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zh-CN" altLang="zh-CN" sz="2400" b="1" dirty="0">
                <a:solidFill>
                  <a:srgbClr val="000000"/>
                </a:solidFill>
              </a:rPr>
              <a:t>if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</a:rPr>
              <a:t>n==1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zh-CN" sz="2400" b="1" dirty="0">
                <a:solidFill>
                  <a:srgbClr val="000000"/>
                </a:solidFill>
              </a:rPr>
              <a:t>return 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 </a:t>
            </a:r>
          </a:p>
          <a:p>
            <a:pPr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        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/</a:t>
            </a:r>
            <a:r>
              <a:rPr lang="zh-CN" altLang="zh-CN"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递归结束条件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/</a:t>
            </a:r>
            <a:b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zh-CN" altLang="zh-CN" sz="2400" b="1" dirty="0">
                <a:solidFill>
                  <a:srgbClr val="000000"/>
                </a:solidFill>
              </a:rPr>
              <a:t>return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000000"/>
                </a:solidFill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FF0000"/>
                </a:solidFill>
                <a:latin typeface="Arial" pitchFamily="34" charset="0"/>
              </a:rPr>
              <a:t>fact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FF0000"/>
                </a:solidFill>
              </a:rPr>
              <a:t>n-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1)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);</a:t>
            </a:r>
            <a:b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zh-CN" altLang="zh-CN" sz="2400" b="1" dirty="0">
                <a:solidFill>
                  <a:srgbClr val="000000"/>
                </a:solidFill>
              </a:rPr>
              <a:t> }</a:t>
            </a:r>
          </a:p>
        </p:txBody>
      </p:sp>
      <p:sp>
        <p:nvSpPr>
          <p:cNvPr id="468998" name="Rectangle 6"/>
          <p:cNvSpPr>
            <a:spLocks noChangeArrowheads="1"/>
          </p:cNvSpPr>
          <p:nvPr/>
        </p:nvSpPr>
        <p:spPr bwMode="auto">
          <a:xfrm>
            <a:off x="2401888" y="5326064"/>
            <a:ext cx="3733800" cy="877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运行</a:t>
            </a:r>
            <a:r>
              <a:rPr lang="zh-CN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zh-CN" sz="2400" b="1">
                <a:solidFill>
                  <a:srgbClr val="2E2EBA"/>
                </a:solidFill>
                <a:latin typeface="Times New Roman" pitchFamily="18" charset="0"/>
              </a:rPr>
              <a:t>  </a:t>
            </a:r>
            <a:r>
              <a:rPr lang="zh-CN" altLang="zh-CN" sz="2400" b="1">
                <a:solidFill>
                  <a:srgbClr val="000000"/>
                </a:solidFill>
              </a:rPr>
              <a:t>n=5↙</a:t>
            </a:r>
          </a:p>
          <a:p>
            <a:pPr fontAlgn="base">
              <a:spcBef>
                <a:spcPct val="1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    </a:t>
            </a:r>
            <a:r>
              <a:rPr lang="zh-CN" altLang="zh-CN" b="1">
                <a:solidFill>
                  <a:srgbClr val="000000"/>
                </a:solidFill>
              </a:rPr>
              <a:t>  </a:t>
            </a:r>
            <a:r>
              <a:rPr lang="zh-CN" altLang="zh-CN" sz="2400" b="1">
                <a:solidFill>
                  <a:srgbClr val="000000"/>
                </a:solidFill>
              </a:rPr>
              <a:t> 5!=12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</a:rPr>
              <a:t>0</a:t>
            </a:r>
          </a:p>
        </p:txBody>
      </p:sp>
      <p:pic>
        <p:nvPicPr>
          <p:cNvPr id="468999" name="Picture 7" descr="b14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88" y="6165850"/>
            <a:ext cx="182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9000" name="Line 8"/>
          <p:cNvSpPr>
            <a:spLocks noChangeShapeType="1"/>
          </p:cNvSpPr>
          <p:nvPr/>
        </p:nvSpPr>
        <p:spPr bwMode="auto">
          <a:xfrm>
            <a:off x="2978151" y="4721225"/>
            <a:ext cx="784225" cy="0"/>
          </a:xfrm>
          <a:prstGeom prst="line">
            <a:avLst/>
          </a:prstGeom>
          <a:noFill/>
          <a:ln w="38100" cmpd="sng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469001" name="Text Box 9"/>
          <p:cNvSpPr txBox="1">
            <a:spLocks noChangeArrowheads="1"/>
          </p:cNvSpPr>
          <p:nvPr/>
        </p:nvSpPr>
        <p:spPr bwMode="auto">
          <a:xfrm>
            <a:off x="2233613" y="1543050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#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include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stdio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h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9787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8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8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8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Text Box 2"/>
          <p:cNvSpPr txBox="1">
            <a:spLocks noChangeArrowheads="1"/>
          </p:cNvSpPr>
          <p:nvPr/>
        </p:nvSpPr>
        <p:spPr bwMode="auto">
          <a:xfrm>
            <a:off x="1127448" y="1628800"/>
            <a:ext cx="10801200" cy="376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85000"/>
              </a:lnSpc>
              <a:buFontTx/>
              <a:buChar char="•"/>
            </a:pPr>
            <a:r>
              <a:rPr lang="zh-CN" altLang="en-US" sz="3200" b="1" dirty="0">
                <a:ea typeface="黑体" pitchFamily="2" charset="-122"/>
              </a:rPr>
              <a:t>用递归函数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Microsoft Sans Serif" pitchFamily="34" charset="0"/>
                <a:ea typeface="黑体" pitchFamily="2" charset="-122"/>
              </a:rPr>
              <a:t>求整数的各位数字之和。</a:t>
            </a:r>
          </a:p>
          <a:p>
            <a:pPr algn="just">
              <a:lnSpc>
                <a:spcPct val="140000"/>
              </a:lnSpc>
              <a:spcAft>
                <a:spcPts val="3000"/>
              </a:spcAft>
            </a:pP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Microsoft Sans Serif" pitchFamily="34" charset="0"/>
                <a:ea typeface="黑体" pitchFamily="2" charset="-122"/>
              </a:rPr>
              <a:t> 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Microsoft Sans Serif" pitchFamily="34" charset="0"/>
                <a:ea typeface="黑体" pitchFamily="2" charset="-122"/>
              </a:rPr>
              <a:t>如：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Microsoft Sans Serif" pitchFamily="34" charset="0"/>
                <a:ea typeface="黑体" pitchFamily="2" charset="-122"/>
              </a:rPr>
              <a:t>sumDigit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Microsoft Sans Serif" pitchFamily="34" charset="0"/>
                <a:ea typeface="黑体" pitchFamily="2" charset="-122"/>
              </a:rPr>
              <a:t>(234)</a:t>
            </a:r>
          </a:p>
          <a:p>
            <a:pPr algn="just">
              <a:lnSpc>
                <a:spcPct val="85000"/>
              </a:lnSpc>
              <a:spcAft>
                <a:spcPts val="3000"/>
              </a:spcAft>
            </a:pPr>
            <a:r>
              <a:rPr lang="en-US" altLang="zh-CN" sz="3600" b="1" dirty="0"/>
              <a:t>1.</a:t>
            </a:r>
            <a:r>
              <a:rPr lang="zh-CN" altLang="en-US" sz="3600" b="1" dirty="0"/>
              <a:t>累加个位数（</a:t>
            </a:r>
            <a:r>
              <a:rPr lang="en-US" altLang="zh-CN" sz="3600" b="1" dirty="0"/>
              <a:t>n%10</a:t>
            </a:r>
            <a:r>
              <a:rPr lang="zh-CN" altLang="en-US" sz="3600" b="1" dirty="0"/>
              <a:t>）</a:t>
            </a:r>
            <a:endParaRPr lang="en-US" altLang="zh-CN" sz="3600" b="1" dirty="0"/>
          </a:p>
          <a:p>
            <a:pPr algn="just">
              <a:lnSpc>
                <a:spcPct val="85000"/>
              </a:lnSpc>
              <a:spcAft>
                <a:spcPts val="3000"/>
              </a:spcAft>
            </a:pPr>
            <a:r>
              <a:rPr lang="zh-CN" altLang="en-US" sz="3600" b="1" dirty="0"/>
              <a:t> 将这个数字减少一位（</a:t>
            </a:r>
            <a:r>
              <a:rPr lang="en-US" altLang="zh-CN" sz="3600" b="1" dirty="0"/>
              <a:t>n/10</a:t>
            </a:r>
            <a:r>
              <a:rPr lang="zh-CN" altLang="en-US" sz="3600" b="1" dirty="0"/>
              <a:t>）做为下次调用的实参</a:t>
            </a:r>
            <a:endParaRPr lang="en-US" altLang="zh-CN" sz="3600" b="1" dirty="0"/>
          </a:p>
          <a:p>
            <a:pPr algn="just">
              <a:lnSpc>
                <a:spcPct val="85000"/>
              </a:lnSpc>
              <a:spcAft>
                <a:spcPts val="3000"/>
              </a:spcAft>
            </a:pPr>
            <a:r>
              <a:rPr lang="en-US" altLang="zh-CN" sz="3600" b="1" dirty="0"/>
              <a:t>2.n</a:t>
            </a:r>
            <a:r>
              <a:rPr lang="zh-CN" altLang="en-US" sz="3600" b="1" dirty="0"/>
              <a:t>只有一位数结束递归</a:t>
            </a:r>
          </a:p>
        </p:txBody>
      </p:sp>
    </p:spTree>
    <p:extLst>
      <p:ext uri="{BB962C8B-B14F-4D97-AF65-F5344CB8AC3E}">
        <p14:creationId xmlns:p14="http://schemas.microsoft.com/office/powerpoint/2010/main" val="29959109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Text Box 2"/>
          <p:cNvSpPr txBox="1">
            <a:spLocks noChangeArrowheads="1"/>
          </p:cNvSpPr>
          <p:nvPr/>
        </p:nvSpPr>
        <p:spPr bwMode="auto">
          <a:xfrm>
            <a:off x="2510500" y="188640"/>
            <a:ext cx="8229600" cy="462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5000"/>
              </a:lnSpc>
              <a:buFontTx/>
              <a:buChar char="•"/>
            </a:pPr>
            <a:r>
              <a:rPr lang="zh-CN" altLang="en-US" sz="3200" b="1" dirty="0">
                <a:ea typeface="黑体" pitchFamily="2" charset="-122"/>
              </a:rPr>
              <a:t>用递归函数</a:t>
            </a:r>
            <a:r>
              <a:rPr lang="zh-CN" altLang="en-US" sz="3200" b="1" dirty="0">
                <a:latin typeface="Microsoft Sans Serif" pitchFamily="34" charset="0"/>
                <a:ea typeface="黑体" pitchFamily="2" charset="-122"/>
              </a:rPr>
              <a:t>求整数的各位数字之和。</a:t>
            </a:r>
          </a:p>
          <a:p>
            <a:pPr algn="just">
              <a:lnSpc>
                <a:spcPct val="140000"/>
              </a:lnSpc>
            </a:pPr>
            <a:r>
              <a:rPr lang="en-US" altLang="zh-CN" sz="3200" b="1" dirty="0">
                <a:latin typeface="Microsoft Sans Serif" pitchFamily="34" charset="0"/>
                <a:ea typeface="黑体" pitchFamily="2" charset="-122"/>
              </a:rPr>
              <a:t>  </a:t>
            </a:r>
            <a:r>
              <a:rPr lang="zh-CN" altLang="en-US" sz="3200" b="1" dirty="0">
                <a:latin typeface="Microsoft Sans Serif" pitchFamily="34" charset="0"/>
                <a:ea typeface="黑体" pitchFamily="2" charset="-122"/>
              </a:rPr>
              <a:t>如：</a:t>
            </a:r>
            <a:r>
              <a:rPr lang="en-US" altLang="zh-CN" sz="3200" b="1" dirty="0" err="1">
                <a:latin typeface="Microsoft Sans Serif" pitchFamily="34" charset="0"/>
                <a:ea typeface="黑体" pitchFamily="2" charset="-122"/>
              </a:rPr>
              <a:t>sumDigit</a:t>
            </a:r>
            <a:r>
              <a:rPr lang="en-US" altLang="zh-CN" sz="3200" b="1" dirty="0">
                <a:latin typeface="Microsoft Sans Serif" pitchFamily="34" charset="0"/>
                <a:ea typeface="黑体" pitchFamily="2" charset="-122"/>
              </a:rPr>
              <a:t>(234)</a:t>
            </a:r>
          </a:p>
          <a:p>
            <a:pPr algn="just">
              <a:lnSpc>
                <a:spcPct val="85000"/>
              </a:lnSpc>
            </a:pPr>
            <a:endParaRPr lang="zh-CN" altLang="en-US" sz="3600" b="1" dirty="0"/>
          </a:p>
          <a:p>
            <a:pPr>
              <a:buClr>
                <a:srgbClr val="FFF59B"/>
              </a:buClr>
            </a:pP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int </a:t>
            </a:r>
            <a:r>
              <a:rPr lang="en-US" altLang="zh-CN" sz="3200" b="1" i="1" dirty="0" err="1">
                <a:latin typeface="Palatino Linotype" pitchFamily="18" charset="0"/>
                <a:ea typeface="华文楷体" pitchFamily="2" charset="-122"/>
              </a:rPr>
              <a:t>SumDigit</a:t>
            </a: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( int </a:t>
            </a:r>
            <a:r>
              <a:rPr lang="en-US" altLang="zh-CN" sz="3200" b="1" i="1" dirty="0">
                <a:latin typeface="Palatino Linotype" pitchFamily="18" charset="0"/>
                <a:ea typeface="华文楷体" pitchFamily="2" charset="-122"/>
              </a:rPr>
              <a:t>n</a:t>
            </a: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 )</a:t>
            </a:r>
          </a:p>
          <a:p>
            <a:pPr>
              <a:buClr>
                <a:srgbClr val="FFF59B"/>
              </a:buClr>
            </a:pP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{</a:t>
            </a:r>
          </a:p>
          <a:p>
            <a:pPr>
              <a:buClr>
                <a:srgbClr val="FFF59B"/>
              </a:buClr>
            </a:pP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  if( </a:t>
            </a:r>
            <a:r>
              <a:rPr lang="en-US" altLang="zh-CN" sz="3200" b="1" i="1" dirty="0">
                <a:latin typeface="Palatino Linotype" pitchFamily="18" charset="0"/>
                <a:ea typeface="华文楷体" pitchFamily="2" charset="-122"/>
              </a:rPr>
              <a:t>n</a:t>
            </a: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 &lt; 10 )</a:t>
            </a:r>
          </a:p>
          <a:p>
            <a:pPr>
              <a:buClr>
                <a:srgbClr val="FFF59B"/>
              </a:buClr>
            </a:pP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    return </a:t>
            </a:r>
            <a:r>
              <a:rPr lang="en-US" altLang="zh-CN" sz="3200" b="1" i="1" dirty="0">
                <a:latin typeface="Palatino Linotype" pitchFamily="18" charset="0"/>
                <a:ea typeface="华文楷体" pitchFamily="2" charset="-122"/>
              </a:rPr>
              <a:t>n</a:t>
            </a: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;</a:t>
            </a:r>
          </a:p>
          <a:p>
            <a:pPr>
              <a:buClr>
                <a:srgbClr val="FFF59B"/>
              </a:buClr>
            </a:pP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  return  </a:t>
            </a:r>
            <a:r>
              <a:rPr lang="en-US" altLang="zh-CN" sz="3200" b="1" i="1" dirty="0">
                <a:latin typeface="Palatino Linotype" pitchFamily="18" charset="0"/>
                <a:ea typeface="华文楷体" pitchFamily="2" charset="-122"/>
              </a:rPr>
              <a:t>n</a:t>
            </a: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 % 10 + </a:t>
            </a:r>
            <a:r>
              <a:rPr lang="en-US" altLang="zh-CN" sz="3200" b="1" i="1" dirty="0" err="1">
                <a:latin typeface="Palatino Linotype" pitchFamily="18" charset="0"/>
                <a:ea typeface="华文楷体" pitchFamily="2" charset="-122"/>
              </a:rPr>
              <a:t>SumDigit</a:t>
            </a: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( </a:t>
            </a:r>
            <a:r>
              <a:rPr lang="en-US" altLang="zh-CN" sz="3200" b="1" i="1" dirty="0">
                <a:latin typeface="Palatino Linotype" pitchFamily="18" charset="0"/>
                <a:ea typeface="华文楷体" pitchFamily="2" charset="-122"/>
              </a:rPr>
              <a:t>n</a:t>
            </a: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 / 10 );</a:t>
            </a:r>
          </a:p>
          <a:p>
            <a:pPr>
              <a:buClr>
                <a:srgbClr val="FFF59B"/>
              </a:buClr>
            </a:pPr>
            <a:r>
              <a:rPr lang="en-US" altLang="zh-CN" sz="3200" b="1" dirty="0">
                <a:latin typeface="Palatino Linotype" pitchFamily="18" charset="0"/>
                <a:ea typeface="华文楷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51583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044" y="0"/>
            <a:ext cx="7776988" cy="1373188"/>
          </a:xfrm>
        </p:spPr>
        <p:txBody>
          <a:bodyPr/>
          <a:lstStyle/>
          <a:p>
            <a:pPr algn="l">
              <a:buFontTx/>
              <a:buChar char="•"/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函数</a:t>
            </a:r>
            <a:r>
              <a:rPr lang="en-US" altLang="zh-CN" sz="2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sumDigit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(234)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zh-CN" altLang="en-US" sz="2800" dirty="0">
                <a:solidFill>
                  <a:schemeClr val="tx1"/>
                </a:solidFill>
              </a:rPr>
              <a:t>和返回的递归示意图：</a:t>
            </a:r>
            <a:br>
              <a:rPr lang="zh-CN" altLang="en-US" sz="900" dirty="0">
                <a:solidFill>
                  <a:schemeClr val="tx1"/>
                </a:solidFill>
              </a:rPr>
            </a:b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r>
              <a:rPr lang="en-US" altLang="zh-CN" sz="2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SumDigit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 </a:t>
            </a:r>
            <a:r>
              <a:rPr lang="en-US" altLang="zh-CN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</a:t>
            </a:r>
            <a:r>
              <a:rPr lang="en-US" altLang="zh-CN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% 10 + </a:t>
            </a:r>
            <a:r>
              <a:rPr lang="en-US" altLang="zh-CN" sz="2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SumDigit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 </a:t>
            </a:r>
            <a:r>
              <a:rPr lang="en-US" altLang="zh-CN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/ 10 )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pSp>
        <p:nvGrpSpPr>
          <p:cNvPr id="851971" name="Group 3"/>
          <p:cNvGrpSpPr>
            <a:grpSpLocks noChangeAspect="1"/>
          </p:cNvGrpSpPr>
          <p:nvPr/>
        </p:nvGrpSpPr>
        <p:grpSpPr bwMode="auto">
          <a:xfrm>
            <a:off x="2495551" y="1628776"/>
            <a:ext cx="7489825" cy="4752975"/>
            <a:chOff x="657" y="799"/>
            <a:chExt cx="4718" cy="2994"/>
          </a:xfrm>
        </p:grpSpPr>
        <p:sp>
          <p:nvSpPr>
            <p:cNvPr id="851972" name="AutoShape 4"/>
            <p:cNvSpPr>
              <a:spLocks noChangeAspect="1" noChangeArrowheads="1" noTextEdit="1"/>
            </p:cNvSpPr>
            <p:nvPr/>
          </p:nvSpPr>
          <p:spPr bwMode="auto">
            <a:xfrm>
              <a:off x="657" y="799"/>
              <a:ext cx="4718" cy="2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973" name="Freeform 5"/>
            <p:cNvSpPr>
              <a:spLocks/>
            </p:cNvSpPr>
            <p:nvPr/>
          </p:nvSpPr>
          <p:spPr bwMode="auto">
            <a:xfrm>
              <a:off x="2032" y="1381"/>
              <a:ext cx="3132" cy="1832"/>
            </a:xfrm>
            <a:custGeom>
              <a:avLst/>
              <a:gdLst>
                <a:gd name="T0" fmla="*/ 2 w 3132"/>
                <a:gd name="T1" fmla="*/ 866 h 1832"/>
                <a:gd name="T2" fmla="*/ 21 w 3132"/>
                <a:gd name="T3" fmla="*/ 766 h 1832"/>
                <a:gd name="T4" fmla="*/ 58 w 3132"/>
                <a:gd name="T5" fmla="*/ 667 h 1832"/>
                <a:gd name="T6" fmla="*/ 114 w 3132"/>
                <a:gd name="T7" fmla="*/ 572 h 1832"/>
                <a:gd name="T8" fmla="*/ 188 w 3132"/>
                <a:gd name="T9" fmla="*/ 480 h 1832"/>
                <a:gd name="T10" fmla="*/ 279 w 3132"/>
                <a:gd name="T11" fmla="*/ 395 h 1832"/>
                <a:gd name="T12" fmla="*/ 385 w 3132"/>
                <a:gd name="T13" fmla="*/ 314 h 1832"/>
                <a:gd name="T14" fmla="*/ 506 w 3132"/>
                <a:gd name="T15" fmla="*/ 242 h 1832"/>
                <a:gd name="T16" fmla="*/ 638 w 3132"/>
                <a:gd name="T17" fmla="*/ 179 h 1832"/>
                <a:gd name="T18" fmla="*/ 782 w 3132"/>
                <a:gd name="T19" fmla="*/ 123 h 1832"/>
                <a:gd name="T20" fmla="*/ 936 w 3132"/>
                <a:gd name="T21" fmla="*/ 77 h 1832"/>
                <a:gd name="T22" fmla="*/ 1099 w 3132"/>
                <a:gd name="T23" fmla="*/ 42 h 1832"/>
                <a:gd name="T24" fmla="*/ 1266 w 3132"/>
                <a:gd name="T25" fmla="*/ 18 h 1832"/>
                <a:gd name="T26" fmla="*/ 1436 w 3132"/>
                <a:gd name="T27" fmla="*/ 4 h 1832"/>
                <a:gd name="T28" fmla="*/ 1609 w 3132"/>
                <a:gd name="T29" fmla="*/ 0 h 1832"/>
                <a:gd name="T30" fmla="*/ 1781 w 3132"/>
                <a:gd name="T31" fmla="*/ 9 h 1832"/>
                <a:gd name="T32" fmla="*/ 1951 w 3132"/>
                <a:gd name="T33" fmla="*/ 29 h 1832"/>
                <a:gd name="T34" fmla="*/ 2115 w 3132"/>
                <a:gd name="T35" fmla="*/ 59 h 1832"/>
                <a:gd name="T36" fmla="*/ 2273 w 3132"/>
                <a:gd name="T37" fmla="*/ 99 h 1832"/>
                <a:gd name="T38" fmla="*/ 2422 w 3132"/>
                <a:gd name="T39" fmla="*/ 149 h 1832"/>
                <a:gd name="T40" fmla="*/ 2561 w 3132"/>
                <a:gd name="T41" fmla="*/ 209 h 1832"/>
                <a:gd name="T42" fmla="*/ 2688 w 3132"/>
                <a:gd name="T43" fmla="*/ 278 h 1832"/>
                <a:gd name="T44" fmla="*/ 2801 w 3132"/>
                <a:gd name="T45" fmla="*/ 353 h 1832"/>
                <a:gd name="T46" fmla="*/ 2900 w 3132"/>
                <a:gd name="T47" fmla="*/ 436 h 1832"/>
                <a:gd name="T48" fmla="*/ 2983 w 3132"/>
                <a:gd name="T49" fmla="*/ 525 h 1832"/>
                <a:gd name="T50" fmla="*/ 3047 w 3132"/>
                <a:gd name="T51" fmla="*/ 618 h 1832"/>
                <a:gd name="T52" fmla="*/ 3094 w 3132"/>
                <a:gd name="T53" fmla="*/ 716 h 1832"/>
                <a:gd name="T54" fmla="*/ 3122 w 3132"/>
                <a:gd name="T55" fmla="*/ 815 h 1832"/>
                <a:gd name="T56" fmla="*/ 3132 w 3132"/>
                <a:gd name="T57" fmla="*/ 916 h 1832"/>
                <a:gd name="T58" fmla="*/ 3122 w 3132"/>
                <a:gd name="T59" fmla="*/ 1018 h 1832"/>
                <a:gd name="T60" fmla="*/ 3094 w 3132"/>
                <a:gd name="T61" fmla="*/ 1116 h 1832"/>
                <a:gd name="T62" fmla="*/ 3047 w 3132"/>
                <a:gd name="T63" fmla="*/ 1214 h 1832"/>
                <a:gd name="T64" fmla="*/ 2983 w 3132"/>
                <a:gd name="T65" fmla="*/ 1307 h 1832"/>
                <a:gd name="T66" fmla="*/ 2900 w 3132"/>
                <a:gd name="T67" fmla="*/ 1396 h 1832"/>
                <a:gd name="T68" fmla="*/ 2801 w 3132"/>
                <a:gd name="T69" fmla="*/ 1479 h 1832"/>
                <a:gd name="T70" fmla="*/ 2688 w 3132"/>
                <a:gd name="T71" fmla="*/ 1555 h 1832"/>
                <a:gd name="T72" fmla="*/ 2561 w 3132"/>
                <a:gd name="T73" fmla="*/ 1623 h 1832"/>
                <a:gd name="T74" fmla="*/ 2422 w 3132"/>
                <a:gd name="T75" fmla="*/ 1683 h 1832"/>
                <a:gd name="T76" fmla="*/ 2273 w 3132"/>
                <a:gd name="T77" fmla="*/ 1733 h 1832"/>
                <a:gd name="T78" fmla="*/ 2115 w 3132"/>
                <a:gd name="T79" fmla="*/ 1773 h 1832"/>
                <a:gd name="T80" fmla="*/ 1951 w 3132"/>
                <a:gd name="T81" fmla="*/ 1804 h 1832"/>
                <a:gd name="T82" fmla="*/ 1781 w 3132"/>
                <a:gd name="T83" fmla="*/ 1823 h 1832"/>
                <a:gd name="T84" fmla="*/ 1609 w 3132"/>
                <a:gd name="T85" fmla="*/ 1832 h 1832"/>
                <a:gd name="T86" fmla="*/ 1436 w 3132"/>
                <a:gd name="T87" fmla="*/ 1828 h 1832"/>
                <a:gd name="T88" fmla="*/ 1266 w 3132"/>
                <a:gd name="T89" fmla="*/ 1815 h 1832"/>
                <a:gd name="T90" fmla="*/ 1099 w 3132"/>
                <a:gd name="T91" fmla="*/ 1790 h 1832"/>
                <a:gd name="T92" fmla="*/ 936 w 3132"/>
                <a:gd name="T93" fmla="*/ 1755 h 1832"/>
                <a:gd name="T94" fmla="*/ 782 w 3132"/>
                <a:gd name="T95" fmla="*/ 1710 h 1832"/>
                <a:gd name="T96" fmla="*/ 638 w 3132"/>
                <a:gd name="T97" fmla="*/ 1654 h 1832"/>
                <a:gd name="T98" fmla="*/ 506 w 3132"/>
                <a:gd name="T99" fmla="*/ 1590 h 1832"/>
                <a:gd name="T100" fmla="*/ 385 w 3132"/>
                <a:gd name="T101" fmla="*/ 1518 h 1832"/>
                <a:gd name="T102" fmla="*/ 279 w 3132"/>
                <a:gd name="T103" fmla="*/ 1438 h 1832"/>
                <a:gd name="T104" fmla="*/ 188 w 3132"/>
                <a:gd name="T105" fmla="*/ 1352 h 1832"/>
                <a:gd name="T106" fmla="*/ 114 w 3132"/>
                <a:gd name="T107" fmla="*/ 1261 h 1832"/>
                <a:gd name="T108" fmla="*/ 58 w 3132"/>
                <a:gd name="T109" fmla="*/ 1165 h 1832"/>
                <a:gd name="T110" fmla="*/ 21 w 3132"/>
                <a:gd name="T111" fmla="*/ 1066 h 1832"/>
                <a:gd name="T112" fmla="*/ 2 w 3132"/>
                <a:gd name="T113" fmla="*/ 966 h 1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32" h="1832">
                  <a:moveTo>
                    <a:pt x="0" y="916"/>
                  </a:moveTo>
                  <a:lnTo>
                    <a:pt x="2" y="866"/>
                  </a:lnTo>
                  <a:lnTo>
                    <a:pt x="9" y="815"/>
                  </a:lnTo>
                  <a:lnTo>
                    <a:pt x="21" y="766"/>
                  </a:lnTo>
                  <a:lnTo>
                    <a:pt x="38" y="716"/>
                  </a:lnTo>
                  <a:lnTo>
                    <a:pt x="58" y="667"/>
                  </a:lnTo>
                  <a:lnTo>
                    <a:pt x="84" y="618"/>
                  </a:lnTo>
                  <a:lnTo>
                    <a:pt x="114" y="572"/>
                  </a:lnTo>
                  <a:lnTo>
                    <a:pt x="149" y="525"/>
                  </a:lnTo>
                  <a:lnTo>
                    <a:pt x="188" y="480"/>
                  </a:lnTo>
                  <a:lnTo>
                    <a:pt x="231" y="436"/>
                  </a:lnTo>
                  <a:lnTo>
                    <a:pt x="279" y="395"/>
                  </a:lnTo>
                  <a:lnTo>
                    <a:pt x="330" y="353"/>
                  </a:lnTo>
                  <a:lnTo>
                    <a:pt x="385" y="314"/>
                  </a:lnTo>
                  <a:lnTo>
                    <a:pt x="443" y="278"/>
                  </a:lnTo>
                  <a:lnTo>
                    <a:pt x="506" y="242"/>
                  </a:lnTo>
                  <a:lnTo>
                    <a:pt x="570" y="209"/>
                  </a:lnTo>
                  <a:lnTo>
                    <a:pt x="638" y="179"/>
                  </a:lnTo>
                  <a:lnTo>
                    <a:pt x="710" y="149"/>
                  </a:lnTo>
                  <a:lnTo>
                    <a:pt x="782" y="123"/>
                  </a:lnTo>
                  <a:lnTo>
                    <a:pt x="859" y="99"/>
                  </a:lnTo>
                  <a:lnTo>
                    <a:pt x="936" y="77"/>
                  </a:lnTo>
                  <a:lnTo>
                    <a:pt x="1016" y="59"/>
                  </a:lnTo>
                  <a:lnTo>
                    <a:pt x="1099" y="42"/>
                  </a:lnTo>
                  <a:lnTo>
                    <a:pt x="1181" y="29"/>
                  </a:lnTo>
                  <a:lnTo>
                    <a:pt x="1266" y="18"/>
                  </a:lnTo>
                  <a:lnTo>
                    <a:pt x="1350" y="9"/>
                  </a:lnTo>
                  <a:lnTo>
                    <a:pt x="1436" y="4"/>
                  </a:lnTo>
                  <a:lnTo>
                    <a:pt x="1522" y="0"/>
                  </a:lnTo>
                  <a:lnTo>
                    <a:pt x="1609" y="0"/>
                  </a:lnTo>
                  <a:lnTo>
                    <a:pt x="1695" y="4"/>
                  </a:lnTo>
                  <a:lnTo>
                    <a:pt x="1781" y="9"/>
                  </a:lnTo>
                  <a:lnTo>
                    <a:pt x="1866" y="18"/>
                  </a:lnTo>
                  <a:lnTo>
                    <a:pt x="1951" y="29"/>
                  </a:lnTo>
                  <a:lnTo>
                    <a:pt x="2033" y="42"/>
                  </a:lnTo>
                  <a:lnTo>
                    <a:pt x="2115" y="59"/>
                  </a:lnTo>
                  <a:lnTo>
                    <a:pt x="2195" y="77"/>
                  </a:lnTo>
                  <a:lnTo>
                    <a:pt x="2273" y="99"/>
                  </a:lnTo>
                  <a:lnTo>
                    <a:pt x="2349" y="123"/>
                  </a:lnTo>
                  <a:lnTo>
                    <a:pt x="2422" y="149"/>
                  </a:lnTo>
                  <a:lnTo>
                    <a:pt x="2493" y="179"/>
                  </a:lnTo>
                  <a:lnTo>
                    <a:pt x="2561" y="209"/>
                  </a:lnTo>
                  <a:lnTo>
                    <a:pt x="2627" y="242"/>
                  </a:lnTo>
                  <a:lnTo>
                    <a:pt x="2688" y="278"/>
                  </a:lnTo>
                  <a:lnTo>
                    <a:pt x="2746" y="314"/>
                  </a:lnTo>
                  <a:lnTo>
                    <a:pt x="2801" y="353"/>
                  </a:lnTo>
                  <a:lnTo>
                    <a:pt x="2853" y="395"/>
                  </a:lnTo>
                  <a:lnTo>
                    <a:pt x="2900" y="436"/>
                  </a:lnTo>
                  <a:lnTo>
                    <a:pt x="2943" y="480"/>
                  </a:lnTo>
                  <a:lnTo>
                    <a:pt x="2983" y="525"/>
                  </a:lnTo>
                  <a:lnTo>
                    <a:pt x="3017" y="572"/>
                  </a:lnTo>
                  <a:lnTo>
                    <a:pt x="3047" y="618"/>
                  </a:lnTo>
                  <a:lnTo>
                    <a:pt x="3073" y="667"/>
                  </a:lnTo>
                  <a:lnTo>
                    <a:pt x="3094" y="716"/>
                  </a:lnTo>
                  <a:lnTo>
                    <a:pt x="3110" y="766"/>
                  </a:lnTo>
                  <a:lnTo>
                    <a:pt x="3122" y="815"/>
                  </a:lnTo>
                  <a:lnTo>
                    <a:pt x="3129" y="866"/>
                  </a:lnTo>
                  <a:lnTo>
                    <a:pt x="3132" y="916"/>
                  </a:lnTo>
                  <a:lnTo>
                    <a:pt x="3129" y="966"/>
                  </a:lnTo>
                  <a:lnTo>
                    <a:pt x="3122" y="1018"/>
                  </a:lnTo>
                  <a:lnTo>
                    <a:pt x="3110" y="1066"/>
                  </a:lnTo>
                  <a:lnTo>
                    <a:pt x="3094" y="1116"/>
                  </a:lnTo>
                  <a:lnTo>
                    <a:pt x="3073" y="1165"/>
                  </a:lnTo>
                  <a:lnTo>
                    <a:pt x="3047" y="1214"/>
                  </a:lnTo>
                  <a:lnTo>
                    <a:pt x="3017" y="1261"/>
                  </a:lnTo>
                  <a:lnTo>
                    <a:pt x="2983" y="1307"/>
                  </a:lnTo>
                  <a:lnTo>
                    <a:pt x="2943" y="1352"/>
                  </a:lnTo>
                  <a:lnTo>
                    <a:pt x="2900" y="1396"/>
                  </a:lnTo>
                  <a:lnTo>
                    <a:pt x="2853" y="1438"/>
                  </a:lnTo>
                  <a:lnTo>
                    <a:pt x="2801" y="1479"/>
                  </a:lnTo>
                  <a:lnTo>
                    <a:pt x="2746" y="1518"/>
                  </a:lnTo>
                  <a:lnTo>
                    <a:pt x="2688" y="1555"/>
                  </a:lnTo>
                  <a:lnTo>
                    <a:pt x="2627" y="1590"/>
                  </a:lnTo>
                  <a:lnTo>
                    <a:pt x="2561" y="1623"/>
                  </a:lnTo>
                  <a:lnTo>
                    <a:pt x="2493" y="1654"/>
                  </a:lnTo>
                  <a:lnTo>
                    <a:pt x="2422" y="1683"/>
                  </a:lnTo>
                  <a:lnTo>
                    <a:pt x="2349" y="1710"/>
                  </a:lnTo>
                  <a:lnTo>
                    <a:pt x="2273" y="1733"/>
                  </a:lnTo>
                  <a:lnTo>
                    <a:pt x="2195" y="1755"/>
                  </a:lnTo>
                  <a:lnTo>
                    <a:pt x="2115" y="1773"/>
                  </a:lnTo>
                  <a:lnTo>
                    <a:pt x="2033" y="1790"/>
                  </a:lnTo>
                  <a:lnTo>
                    <a:pt x="1951" y="1804"/>
                  </a:lnTo>
                  <a:lnTo>
                    <a:pt x="1866" y="1815"/>
                  </a:lnTo>
                  <a:lnTo>
                    <a:pt x="1781" y="1823"/>
                  </a:lnTo>
                  <a:lnTo>
                    <a:pt x="1695" y="1828"/>
                  </a:lnTo>
                  <a:lnTo>
                    <a:pt x="1609" y="1832"/>
                  </a:lnTo>
                  <a:lnTo>
                    <a:pt x="1522" y="1832"/>
                  </a:lnTo>
                  <a:lnTo>
                    <a:pt x="1436" y="1828"/>
                  </a:lnTo>
                  <a:lnTo>
                    <a:pt x="1350" y="1823"/>
                  </a:lnTo>
                  <a:lnTo>
                    <a:pt x="1266" y="1815"/>
                  </a:lnTo>
                  <a:lnTo>
                    <a:pt x="1181" y="1804"/>
                  </a:lnTo>
                  <a:lnTo>
                    <a:pt x="1099" y="1790"/>
                  </a:lnTo>
                  <a:lnTo>
                    <a:pt x="1016" y="1773"/>
                  </a:lnTo>
                  <a:lnTo>
                    <a:pt x="936" y="1755"/>
                  </a:lnTo>
                  <a:lnTo>
                    <a:pt x="859" y="1733"/>
                  </a:lnTo>
                  <a:lnTo>
                    <a:pt x="782" y="1710"/>
                  </a:lnTo>
                  <a:lnTo>
                    <a:pt x="710" y="1683"/>
                  </a:lnTo>
                  <a:lnTo>
                    <a:pt x="638" y="1654"/>
                  </a:lnTo>
                  <a:lnTo>
                    <a:pt x="570" y="1623"/>
                  </a:lnTo>
                  <a:lnTo>
                    <a:pt x="506" y="1590"/>
                  </a:lnTo>
                  <a:lnTo>
                    <a:pt x="443" y="1555"/>
                  </a:lnTo>
                  <a:lnTo>
                    <a:pt x="385" y="1518"/>
                  </a:lnTo>
                  <a:lnTo>
                    <a:pt x="330" y="1479"/>
                  </a:lnTo>
                  <a:lnTo>
                    <a:pt x="279" y="1438"/>
                  </a:lnTo>
                  <a:lnTo>
                    <a:pt x="231" y="1396"/>
                  </a:lnTo>
                  <a:lnTo>
                    <a:pt x="188" y="1352"/>
                  </a:lnTo>
                  <a:lnTo>
                    <a:pt x="149" y="1307"/>
                  </a:lnTo>
                  <a:lnTo>
                    <a:pt x="114" y="1261"/>
                  </a:lnTo>
                  <a:lnTo>
                    <a:pt x="84" y="1214"/>
                  </a:lnTo>
                  <a:lnTo>
                    <a:pt x="58" y="1165"/>
                  </a:lnTo>
                  <a:lnTo>
                    <a:pt x="38" y="1116"/>
                  </a:lnTo>
                  <a:lnTo>
                    <a:pt x="21" y="1066"/>
                  </a:lnTo>
                  <a:lnTo>
                    <a:pt x="9" y="1018"/>
                  </a:lnTo>
                  <a:lnTo>
                    <a:pt x="2" y="966"/>
                  </a:lnTo>
                  <a:lnTo>
                    <a:pt x="0" y="916"/>
                  </a:lnTo>
                </a:path>
              </a:pathLst>
            </a:custGeom>
            <a:noFill/>
            <a:ln w="3333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974" name="Rectangle 6"/>
            <p:cNvSpPr>
              <a:spLocks noChangeArrowheads="1"/>
            </p:cNvSpPr>
            <p:nvPr/>
          </p:nvSpPr>
          <p:spPr bwMode="auto">
            <a:xfrm>
              <a:off x="2267" y="1636"/>
              <a:ext cx="16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zh-CN" altLang="en-US" sz="2300" b="1"/>
                <a:t>   </a:t>
              </a:r>
              <a:endParaRPr lang="zh-CN" altLang="en-US" sz="3000">
                <a:latin typeface="Tahoma" pitchFamily="34" charset="0"/>
              </a:endParaRPr>
            </a:p>
          </p:txBody>
        </p:sp>
        <p:sp>
          <p:nvSpPr>
            <p:cNvPr id="851975" name="Rectangle 7"/>
            <p:cNvSpPr>
              <a:spLocks noChangeArrowheads="1"/>
            </p:cNvSpPr>
            <p:nvPr/>
          </p:nvSpPr>
          <p:spPr bwMode="auto">
            <a:xfrm>
              <a:off x="2403" y="1636"/>
              <a:ext cx="23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zh-CN" altLang="en-US" sz="2300" b="1"/>
                <a:t>  </a:t>
              </a:r>
              <a:r>
                <a:rPr lang="en-US" altLang="zh-CN" sz="2300" b="1"/>
                <a:t>B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76" name="Rectangle 8"/>
            <p:cNvSpPr>
              <a:spLocks noChangeArrowheads="1"/>
            </p:cNvSpPr>
            <p:nvPr/>
          </p:nvSpPr>
          <p:spPr bwMode="auto">
            <a:xfrm>
              <a:off x="2267" y="1864"/>
              <a:ext cx="74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>
                  <a:latin typeface="宋体" charset="-122"/>
                </a:rPr>
                <a:t>sumD(23)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77" name="Rectangle 9"/>
            <p:cNvSpPr>
              <a:spLocks noChangeArrowheads="1"/>
            </p:cNvSpPr>
            <p:nvPr/>
          </p:nvSpPr>
          <p:spPr bwMode="auto">
            <a:xfrm>
              <a:off x="2267" y="2084"/>
              <a:ext cx="93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>
                  <a:latin typeface="宋体" charset="-122"/>
                </a:rPr>
                <a:t>=3+fact(2)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78" name="Rectangle 10"/>
            <p:cNvSpPr>
              <a:spLocks noChangeArrowheads="1"/>
            </p:cNvSpPr>
            <p:nvPr/>
          </p:nvSpPr>
          <p:spPr bwMode="auto">
            <a:xfrm>
              <a:off x="2267" y="2304"/>
              <a:ext cx="46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>
                  <a:latin typeface="宋体" charset="-122"/>
                </a:rPr>
                <a:t>=3+ 2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79" name="Rectangle 11"/>
            <p:cNvSpPr>
              <a:spLocks noChangeArrowheads="1"/>
            </p:cNvSpPr>
            <p:nvPr/>
          </p:nvSpPr>
          <p:spPr bwMode="auto">
            <a:xfrm>
              <a:off x="2267" y="2524"/>
              <a:ext cx="27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>
                  <a:latin typeface="宋体" charset="-122"/>
                </a:rPr>
                <a:t>= 5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80" name="Rectangle 12"/>
            <p:cNvSpPr>
              <a:spLocks noChangeArrowheads="1"/>
            </p:cNvSpPr>
            <p:nvPr/>
          </p:nvSpPr>
          <p:spPr bwMode="auto">
            <a:xfrm>
              <a:off x="3341" y="2524"/>
              <a:ext cx="37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zh-CN" altLang="en-US" sz="2300" b="1">
                  <a:latin typeface="宋体" charset="-122"/>
                </a:rPr>
                <a:t>返回</a:t>
              </a:r>
              <a:endParaRPr lang="zh-CN" altLang="en-US" sz="3000">
                <a:latin typeface="Tahoma" pitchFamily="34" charset="0"/>
              </a:endParaRPr>
            </a:p>
          </p:txBody>
        </p:sp>
        <p:sp>
          <p:nvSpPr>
            <p:cNvPr id="851981" name="Rectangle 13"/>
            <p:cNvSpPr>
              <a:spLocks noChangeArrowheads="1"/>
            </p:cNvSpPr>
            <p:nvPr/>
          </p:nvSpPr>
          <p:spPr bwMode="auto">
            <a:xfrm>
              <a:off x="2267" y="2735"/>
              <a:ext cx="27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zh-CN" altLang="en-US" sz="2300" b="1"/>
                <a:t>     </a:t>
              </a:r>
              <a:endParaRPr lang="zh-CN" altLang="en-US" sz="3000">
                <a:latin typeface="Tahoma" pitchFamily="34" charset="0"/>
              </a:endParaRPr>
            </a:p>
          </p:txBody>
        </p:sp>
        <p:sp>
          <p:nvSpPr>
            <p:cNvPr id="851982" name="Rectangle 14"/>
            <p:cNvSpPr>
              <a:spLocks noChangeArrowheads="1"/>
            </p:cNvSpPr>
            <p:nvPr/>
          </p:nvSpPr>
          <p:spPr bwMode="auto">
            <a:xfrm>
              <a:off x="2493" y="2735"/>
              <a:ext cx="14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/>
                <a:t>D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83" name="Freeform 15"/>
            <p:cNvSpPr>
              <a:spLocks/>
            </p:cNvSpPr>
            <p:nvPr/>
          </p:nvSpPr>
          <p:spPr bwMode="auto">
            <a:xfrm>
              <a:off x="689" y="832"/>
              <a:ext cx="4654" cy="2930"/>
            </a:xfrm>
            <a:custGeom>
              <a:avLst/>
              <a:gdLst>
                <a:gd name="T0" fmla="*/ 10 w 4654"/>
                <a:gd name="T1" fmla="*/ 1333 h 2930"/>
                <a:gd name="T2" fmla="*/ 59 w 4654"/>
                <a:gd name="T3" fmla="*/ 1139 h 2930"/>
                <a:gd name="T4" fmla="*/ 148 w 4654"/>
                <a:gd name="T5" fmla="*/ 950 h 2930"/>
                <a:gd name="T6" fmla="*/ 278 w 4654"/>
                <a:gd name="T7" fmla="*/ 770 h 2930"/>
                <a:gd name="T8" fmla="*/ 444 w 4654"/>
                <a:gd name="T9" fmla="*/ 604 h 2930"/>
                <a:gd name="T10" fmla="*/ 645 w 4654"/>
                <a:gd name="T11" fmla="*/ 453 h 2930"/>
                <a:gd name="T12" fmla="*/ 876 w 4654"/>
                <a:gd name="T13" fmla="*/ 320 h 2930"/>
                <a:gd name="T14" fmla="*/ 1134 w 4654"/>
                <a:gd name="T15" fmla="*/ 208 h 2930"/>
                <a:gd name="T16" fmla="*/ 1413 w 4654"/>
                <a:gd name="T17" fmla="*/ 117 h 2930"/>
                <a:gd name="T18" fmla="*/ 1708 w 4654"/>
                <a:gd name="T19" fmla="*/ 52 h 2930"/>
                <a:gd name="T20" fmla="*/ 2014 w 4654"/>
                <a:gd name="T21" fmla="*/ 13 h 2930"/>
                <a:gd name="T22" fmla="*/ 2327 w 4654"/>
                <a:gd name="T23" fmla="*/ 0 h 2930"/>
                <a:gd name="T24" fmla="*/ 2640 w 4654"/>
                <a:gd name="T25" fmla="*/ 13 h 2930"/>
                <a:gd name="T26" fmla="*/ 2946 w 4654"/>
                <a:gd name="T27" fmla="*/ 52 h 2930"/>
                <a:gd name="T28" fmla="*/ 3241 w 4654"/>
                <a:gd name="T29" fmla="*/ 117 h 2930"/>
                <a:gd name="T30" fmla="*/ 3520 w 4654"/>
                <a:gd name="T31" fmla="*/ 208 h 2930"/>
                <a:gd name="T32" fmla="*/ 3778 w 4654"/>
                <a:gd name="T33" fmla="*/ 320 h 2930"/>
                <a:gd name="T34" fmla="*/ 4009 w 4654"/>
                <a:gd name="T35" fmla="*/ 453 h 2930"/>
                <a:gd name="T36" fmla="*/ 4210 w 4654"/>
                <a:gd name="T37" fmla="*/ 604 h 2930"/>
                <a:gd name="T38" fmla="*/ 4376 w 4654"/>
                <a:gd name="T39" fmla="*/ 770 h 2930"/>
                <a:gd name="T40" fmla="*/ 4506 w 4654"/>
                <a:gd name="T41" fmla="*/ 950 h 2930"/>
                <a:gd name="T42" fmla="*/ 4595 w 4654"/>
                <a:gd name="T43" fmla="*/ 1139 h 2930"/>
                <a:gd name="T44" fmla="*/ 4644 w 4654"/>
                <a:gd name="T45" fmla="*/ 1333 h 2930"/>
                <a:gd name="T46" fmla="*/ 4651 w 4654"/>
                <a:gd name="T47" fmla="*/ 1531 h 2930"/>
                <a:gd name="T48" fmla="*/ 4617 w 4654"/>
                <a:gd name="T49" fmla="*/ 1727 h 2930"/>
                <a:gd name="T50" fmla="*/ 4540 w 4654"/>
                <a:gd name="T51" fmla="*/ 1918 h 2930"/>
                <a:gd name="T52" fmla="*/ 4423 w 4654"/>
                <a:gd name="T53" fmla="*/ 2101 h 2930"/>
                <a:gd name="T54" fmla="*/ 4270 w 4654"/>
                <a:gd name="T55" fmla="*/ 2272 h 2930"/>
                <a:gd name="T56" fmla="*/ 4080 w 4654"/>
                <a:gd name="T57" fmla="*/ 2430 h 2930"/>
                <a:gd name="T58" fmla="*/ 3858 w 4654"/>
                <a:gd name="T59" fmla="*/ 2569 h 2930"/>
                <a:gd name="T60" fmla="*/ 3609 w 4654"/>
                <a:gd name="T61" fmla="*/ 2689 h 2930"/>
                <a:gd name="T62" fmla="*/ 3336 w 4654"/>
                <a:gd name="T63" fmla="*/ 2785 h 2930"/>
                <a:gd name="T64" fmla="*/ 3047 w 4654"/>
                <a:gd name="T65" fmla="*/ 2858 h 2930"/>
                <a:gd name="T66" fmla="*/ 2742 w 4654"/>
                <a:gd name="T67" fmla="*/ 2907 h 2930"/>
                <a:gd name="T68" fmla="*/ 2431 w 4654"/>
                <a:gd name="T69" fmla="*/ 2929 h 2930"/>
                <a:gd name="T70" fmla="*/ 2118 w 4654"/>
                <a:gd name="T71" fmla="*/ 2924 h 2930"/>
                <a:gd name="T72" fmla="*/ 1809 w 4654"/>
                <a:gd name="T73" fmla="*/ 2894 h 2930"/>
                <a:gd name="T74" fmla="*/ 1510 w 4654"/>
                <a:gd name="T75" fmla="*/ 2838 h 2930"/>
                <a:gd name="T76" fmla="*/ 1224 w 4654"/>
                <a:gd name="T77" fmla="*/ 2756 h 2930"/>
                <a:gd name="T78" fmla="*/ 960 w 4654"/>
                <a:gd name="T79" fmla="*/ 2651 h 2930"/>
                <a:gd name="T80" fmla="*/ 719 w 4654"/>
                <a:gd name="T81" fmla="*/ 2524 h 2930"/>
                <a:gd name="T82" fmla="*/ 507 w 4654"/>
                <a:gd name="T83" fmla="*/ 2379 h 2930"/>
                <a:gd name="T84" fmla="*/ 330 w 4654"/>
                <a:gd name="T85" fmla="*/ 2217 h 2930"/>
                <a:gd name="T86" fmla="*/ 188 w 4654"/>
                <a:gd name="T87" fmla="*/ 2042 h 2930"/>
                <a:gd name="T88" fmla="*/ 84 w 4654"/>
                <a:gd name="T89" fmla="*/ 1855 h 2930"/>
                <a:gd name="T90" fmla="*/ 22 w 4654"/>
                <a:gd name="T91" fmla="*/ 1662 h 2930"/>
                <a:gd name="T92" fmla="*/ 0 w 4654"/>
                <a:gd name="T93" fmla="*/ 1465 h 2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654" h="2930">
                  <a:moveTo>
                    <a:pt x="0" y="1465"/>
                  </a:moveTo>
                  <a:lnTo>
                    <a:pt x="3" y="1399"/>
                  </a:lnTo>
                  <a:lnTo>
                    <a:pt x="10" y="1333"/>
                  </a:lnTo>
                  <a:lnTo>
                    <a:pt x="22" y="1269"/>
                  </a:lnTo>
                  <a:lnTo>
                    <a:pt x="37" y="1204"/>
                  </a:lnTo>
                  <a:lnTo>
                    <a:pt x="59" y="1139"/>
                  </a:lnTo>
                  <a:lnTo>
                    <a:pt x="84" y="1076"/>
                  </a:lnTo>
                  <a:lnTo>
                    <a:pt x="114" y="1012"/>
                  </a:lnTo>
                  <a:lnTo>
                    <a:pt x="148" y="950"/>
                  </a:lnTo>
                  <a:lnTo>
                    <a:pt x="188" y="889"/>
                  </a:lnTo>
                  <a:lnTo>
                    <a:pt x="231" y="829"/>
                  </a:lnTo>
                  <a:lnTo>
                    <a:pt x="278" y="770"/>
                  </a:lnTo>
                  <a:lnTo>
                    <a:pt x="330" y="713"/>
                  </a:lnTo>
                  <a:lnTo>
                    <a:pt x="384" y="658"/>
                  </a:lnTo>
                  <a:lnTo>
                    <a:pt x="444" y="604"/>
                  </a:lnTo>
                  <a:lnTo>
                    <a:pt x="507" y="552"/>
                  </a:lnTo>
                  <a:lnTo>
                    <a:pt x="574" y="501"/>
                  </a:lnTo>
                  <a:lnTo>
                    <a:pt x="645" y="453"/>
                  </a:lnTo>
                  <a:lnTo>
                    <a:pt x="719" y="407"/>
                  </a:lnTo>
                  <a:lnTo>
                    <a:pt x="796" y="361"/>
                  </a:lnTo>
                  <a:lnTo>
                    <a:pt x="876" y="320"/>
                  </a:lnTo>
                  <a:lnTo>
                    <a:pt x="960" y="280"/>
                  </a:lnTo>
                  <a:lnTo>
                    <a:pt x="1045" y="242"/>
                  </a:lnTo>
                  <a:lnTo>
                    <a:pt x="1134" y="208"/>
                  </a:lnTo>
                  <a:lnTo>
                    <a:pt x="1224" y="175"/>
                  </a:lnTo>
                  <a:lnTo>
                    <a:pt x="1318" y="145"/>
                  </a:lnTo>
                  <a:lnTo>
                    <a:pt x="1413" y="117"/>
                  </a:lnTo>
                  <a:lnTo>
                    <a:pt x="1510" y="93"/>
                  </a:lnTo>
                  <a:lnTo>
                    <a:pt x="1607" y="72"/>
                  </a:lnTo>
                  <a:lnTo>
                    <a:pt x="1708" y="52"/>
                  </a:lnTo>
                  <a:lnTo>
                    <a:pt x="1809" y="37"/>
                  </a:lnTo>
                  <a:lnTo>
                    <a:pt x="1912" y="23"/>
                  </a:lnTo>
                  <a:lnTo>
                    <a:pt x="2014" y="13"/>
                  </a:lnTo>
                  <a:lnTo>
                    <a:pt x="2118" y="6"/>
                  </a:lnTo>
                  <a:lnTo>
                    <a:pt x="2223" y="1"/>
                  </a:lnTo>
                  <a:lnTo>
                    <a:pt x="2327" y="0"/>
                  </a:lnTo>
                  <a:lnTo>
                    <a:pt x="2431" y="1"/>
                  </a:lnTo>
                  <a:lnTo>
                    <a:pt x="2536" y="6"/>
                  </a:lnTo>
                  <a:lnTo>
                    <a:pt x="2640" y="13"/>
                  </a:lnTo>
                  <a:lnTo>
                    <a:pt x="2742" y="23"/>
                  </a:lnTo>
                  <a:lnTo>
                    <a:pt x="2845" y="37"/>
                  </a:lnTo>
                  <a:lnTo>
                    <a:pt x="2946" y="52"/>
                  </a:lnTo>
                  <a:lnTo>
                    <a:pt x="3047" y="72"/>
                  </a:lnTo>
                  <a:lnTo>
                    <a:pt x="3144" y="93"/>
                  </a:lnTo>
                  <a:lnTo>
                    <a:pt x="3241" y="117"/>
                  </a:lnTo>
                  <a:lnTo>
                    <a:pt x="3336" y="145"/>
                  </a:lnTo>
                  <a:lnTo>
                    <a:pt x="3430" y="175"/>
                  </a:lnTo>
                  <a:lnTo>
                    <a:pt x="3520" y="208"/>
                  </a:lnTo>
                  <a:lnTo>
                    <a:pt x="3609" y="242"/>
                  </a:lnTo>
                  <a:lnTo>
                    <a:pt x="3694" y="280"/>
                  </a:lnTo>
                  <a:lnTo>
                    <a:pt x="3778" y="320"/>
                  </a:lnTo>
                  <a:lnTo>
                    <a:pt x="3858" y="361"/>
                  </a:lnTo>
                  <a:lnTo>
                    <a:pt x="3935" y="407"/>
                  </a:lnTo>
                  <a:lnTo>
                    <a:pt x="4009" y="453"/>
                  </a:lnTo>
                  <a:lnTo>
                    <a:pt x="4080" y="501"/>
                  </a:lnTo>
                  <a:lnTo>
                    <a:pt x="4147" y="552"/>
                  </a:lnTo>
                  <a:lnTo>
                    <a:pt x="4210" y="604"/>
                  </a:lnTo>
                  <a:lnTo>
                    <a:pt x="4270" y="658"/>
                  </a:lnTo>
                  <a:lnTo>
                    <a:pt x="4324" y="713"/>
                  </a:lnTo>
                  <a:lnTo>
                    <a:pt x="4376" y="770"/>
                  </a:lnTo>
                  <a:lnTo>
                    <a:pt x="4423" y="829"/>
                  </a:lnTo>
                  <a:lnTo>
                    <a:pt x="4466" y="889"/>
                  </a:lnTo>
                  <a:lnTo>
                    <a:pt x="4506" y="950"/>
                  </a:lnTo>
                  <a:lnTo>
                    <a:pt x="4540" y="1012"/>
                  </a:lnTo>
                  <a:lnTo>
                    <a:pt x="4570" y="1076"/>
                  </a:lnTo>
                  <a:lnTo>
                    <a:pt x="4595" y="1139"/>
                  </a:lnTo>
                  <a:lnTo>
                    <a:pt x="4617" y="1204"/>
                  </a:lnTo>
                  <a:lnTo>
                    <a:pt x="4632" y="1269"/>
                  </a:lnTo>
                  <a:lnTo>
                    <a:pt x="4644" y="1333"/>
                  </a:lnTo>
                  <a:lnTo>
                    <a:pt x="4651" y="1399"/>
                  </a:lnTo>
                  <a:lnTo>
                    <a:pt x="4654" y="1465"/>
                  </a:lnTo>
                  <a:lnTo>
                    <a:pt x="4651" y="1531"/>
                  </a:lnTo>
                  <a:lnTo>
                    <a:pt x="4644" y="1597"/>
                  </a:lnTo>
                  <a:lnTo>
                    <a:pt x="4632" y="1662"/>
                  </a:lnTo>
                  <a:lnTo>
                    <a:pt x="4617" y="1727"/>
                  </a:lnTo>
                  <a:lnTo>
                    <a:pt x="4595" y="1791"/>
                  </a:lnTo>
                  <a:lnTo>
                    <a:pt x="4570" y="1855"/>
                  </a:lnTo>
                  <a:lnTo>
                    <a:pt x="4540" y="1918"/>
                  </a:lnTo>
                  <a:lnTo>
                    <a:pt x="4506" y="1981"/>
                  </a:lnTo>
                  <a:lnTo>
                    <a:pt x="4466" y="2042"/>
                  </a:lnTo>
                  <a:lnTo>
                    <a:pt x="4423" y="2101"/>
                  </a:lnTo>
                  <a:lnTo>
                    <a:pt x="4376" y="2160"/>
                  </a:lnTo>
                  <a:lnTo>
                    <a:pt x="4324" y="2217"/>
                  </a:lnTo>
                  <a:lnTo>
                    <a:pt x="4270" y="2272"/>
                  </a:lnTo>
                  <a:lnTo>
                    <a:pt x="4210" y="2326"/>
                  </a:lnTo>
                  <a:lnTo>
                    <a:pt x="4147" y="2379"/>
                  </a:lnTo>
                  <a:lnTo>
                    <a:pt x="4080" y="2430"/>
                  </a:lnTo>
                  <a:lnTo>
                    <a:pt x="4009" y="2477"/>
                  </a:lnTo>
                  <a:lnTo>
                    <a:pt x="3935" y="2524"/>
                  </a:lnTo>
                  <a:lnTo>
                    <a:pt x="3858" y="2569"/>
                  </a:lnTo>
                  <a:lnTo>
                    <a:pt x="3778" y="2611"/>
                  </a:lnTo>
                  <a:lnTo>
                    <a:pt x="3694" y="2651"/>
                  </a:lnTo>
                  <a:lnTo>
                    <a:pt x="3609" y="2689"/>
                  </a:lnTo>
                  <a:lnTo>
                    <a:pt x="3520" y="2723"/>
                  </a:lnTo>
                  <a:lnTo>
                    <a:pt x="3430" y="2756"/>
                  </a:lnTo>
                  <a:lnTo>
                    <a:pt x="3336" y="2785"/>
                  </a:lnTo>
                  <a:lnTo>
                    <a:pt x="3241" y="2813"/>
                  </a:lnTo>
                  <a:lnTo>
                    <a:pt x="3144" y="2838"/>
                  </a:lnTo>
                  <a:lnTo>
                    <a:pt x="3047" y="2858"/>
                  </a:lnTo>
                  <a:lnTo>
                    <a:pt x="2946" y="2878"/>
                  </a:lnTo>
                  <a:lnTo>
                    <a:pt x="2845" y="2894"/>
                  </a:lnTo>
                  <a:lnTo>
                    <a:pt x="2742" y="2907"/>
                  </a:lnTo>
                  <a:lnTo>
                    <a:pt x="2640" y="2917"/>
                  </a:lnTo>
                  <a:lnTo>
                    <a:pt x="2536" y="2924"/>
                  </a:lnTo>
                  <a:lnTo>
                    <a:pt x="2431" y="2929"/>
                  </a:lnTo>
                  <a:lnTo>
                    <a:pt x="2327" y="2930"/>
                  </a:lnTo>
                  <a:lnTo>
                    <a:pt x="2223" y="2929"/>
                  </a:lnTo>
                  <a:lnTo>
                    <a:pt x="2118" y="2924"/>
                  </a:lnTo>
                  <a:lnTo>
                    <a:pt x="2014" y="2917"/>
                  </a:lnTo>
                  <a:lnTo>
                    <a:pt x="1912" y="2907"/>
                  </a:lnTo>
                  <a:lnTo>
                    <a:pt x="1809" y="2894"/>
                  </a:lnTo>
                  <a:lnTo>
                    <a:pt x="1708" y="2878"/>
                  </a:lnTo>
                  <a:lnTo>
                    <a:pt x="1607" y="2858"/>
                  </a:lnTo>
                  <a:lnTo>
                    <a:pt x="1510" y="2838"/>
                  </a:lnTo>
                  <a:lnTo>
                    <a:pt x="1413" y="2813"/>
                  </a:lnTo>
                  <a:lnTo>
                    <a:pt x="1318" y="2785"/>
                  </a:lnTo>
                  <a:lnTo>
                    <a:pt x="1224" y="2756"/>
                  </a:lnTo>
                  <a:lnTo>
                    <a:pt x="1134" y="2723"/>
                  </a:lnTo>
                  <a:lnTo>
                    <a:pt x="1045" y="2689"/>
                  </a:lnTo>
                  <a:lnTo>
                    <a:pt x="960" y="2651"/>
                  </a:lnTo>
                  <a:lnTo>
                    <a:pt x="876" y="2611"/>
                  </a:lnTo>
                  <a:lnTo>
                    <a:pt x="796" y="2569"/>
                  </a:lnTo>
                  <a:lnTo>
                    <a:pt x="719" y="2524"/>
                  </a:lnTo>
                  <a:lnTo>
                    <a:pt x="645" y="2477"/>
                  </a:lnTo>
                  <a:lnTo>
                    <a:pt x="574" y="2430"/>
                  </a:lnTo>
                  <a:lnTo>
                    <a:pt x="507" y="2379"/>
                  </a:lnTo>
                  <a:lnTo>
                    <a:pt x="444" y="2326"/>
                  </a:lnTo>
                  <a:lnTo>
                    <a:pt x="384" y="2272"/>
                  </a:lnTo>
                  <a:lnTo>
                    <a:pt x="330" y="2217"/>
                  </a:lnTo>
                  <a:lnTo>
                    <a:pt x="278" y="2160"/>
                  </a:lnTo>
                  <a:lnTo>
                    <a:pt x="231" y="2101"/>
                  </a:lnTo>
                  <a:lnTo>
                    <a:pt x="188" y="2042"/>
                  </a:lnTo>
                  <a:lnTo>
                    <a:pt x="148" y="1981"/>
                  </a:lnTo>
                  <a:lnTo>
                    <a:pt x="114" y="1918"/>
                  </a:lnTo>
                  <a:lnTo>
                    <a:pt x="84" y="1855"/>
                  </a:lnTo>
                  <a:lnTo>
                    <a:pt x="59" y="1791"/>
                  </a:lnTo>
                  <a:lnTo>
                    <a:pt x="37" y="1727"/>
                  </a:lnTo>
                  <a:lnTo>
                    <a:pt x="22" y="1662"/>
                  </a:lnTo>
                  <a:lnTo>
                    <a:pt x="10" y="1597"/>
                  </a:lnTo>
                  <a:lnTo>
                    <a:pt x="3" y="1531"/>
                  </a:lnTo>
                  <a:lnTo>
                    <a:pt x="0" y="1465"/>
                  </a:lnTo>
                </a:path>
              </a:pathLst>
            </a:custGeom>
            <a:noFill/>
            <a:ln w="3333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984" name="Rectangle 16"/>
            <p:cNvSpPr>
              <a:spLocks noChangeArrowheads="1"/>
            </p:cNvSpPr>
            <p:nvPr/>
          </p:nvSpPr>
          <p:spPr bwMode="auto">
            <a:xfrm>
              <a:off x="1020" y="1526"/>
              <a:ext cx="127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/>
                <a:t>A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85" name="Rectangle 17"/>
            <p:cNvSpPr>
              <a:spLocks noChangeArrowheads="1"/>
            </p:cNvSpPr>
            <p:nvPr/>
          </p:nvSpPr>
          <p:spPr bwMode="auto">
            <a:xfrm>
              <a:off x="1020" y="1755"/>
              <a:ext cx="837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>
                  <a:latin typeface="宋体" charset="-122"/>
                </a:rPr>
                <a:t>sumD(234)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86" name="Rectangle 18"/>
            <p:cNvSpPr>
              <a:spLocks noChangeArrowheads="1"/>
            </p:cNvSpPr>
            <p:nvPr/>
          </p:nvSpPr>
          <p:spPr bwMode="auto">
            <a:xfrm>
              <a:off x="1020" y="1974"/>
              <a:ext cx="1023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>
                  <a:latin typeface="宋体" charset="-122"/>
                </a:rPr>
                <a:t>=4+sumD(23)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87" name="Rectangle 19"/>
            <p:cNvSpPr>
              <a:spLocks noChangeArrowheads="1"/>
            </p:cNvSpPr>
            <p:nvPr/>
          </p:nvSpPr>
          <p:spPr bwMode="auto">
            <a:xfrm>
              <a:off x="1020" y="2194"/>
              <a:ext cx="46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>
                  <a:latin typeface="宋体" charset="-122"/>
                </a:rPr>
                <a:t>=4+ 5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88" name="Rectangle 20"/>
            <p:cNvSpPr>
              <a:spLocks noChangeArrowheads="1"/>
            </p:cNvSpPr>
            <p:nvPr/>
          </p:nvSpPr>
          <p:spPr bwMode="auto">
            <a:xfrm>
              <a:off x="1020" y="2414"/>
              <a:ext cx="186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>
                  <a:latin typeface="宋体" charset="-122"/>
                </a:rPr>
                <a:t>=9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89" name="Rectangle 21"/>
            <p:cNvSpPr>
              <a:spLocks noChangeArrowheads="1"/>
            </p:cNvSpPr>
            <p:nvPr/>
          </p:nvSpPr>
          <p:spPr bwMode="auto">
            <a:xfrm>
              <a:off x="1020" y="2634"/>
              <a:ext cx="93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>
                  <a:latin typeface="宋体" charset="-122"/>
                </a:rPr>
                <a:t>E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90" name="Rectangle 22"/>
            <p:cNvSpPr>
              <a:spLocks noChangeArrowheads="1"/>
            </p:cNvSpPr>
            <p:nvPr/>
          </p:nvSpPr>
          <p:spPr bwMode="auto">
            <a:xfrm>
              <a:off x="1736" y="2634"/>
              <a:ext cx="37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zh-CN" altLang="en-US" sz="2300" b="1">
                  <a:latin typeface="宋体" charset="-122"/>
                </a:rPr>
                <a:t>返回</a:t>
              </a:r>
              <a:endParaRPr lang="zh-CN" altLang="en-US" sz="3000">
                <a:latin typeface="Tahoma" pitchFamily="34" charset="0"/>
              </a:endParaRPr>
            </a:p>
          </p:txBody>
        </p:sp>
        <p:sp>
          <p:nvSpPr>
            <p:cNvPr id="851991" name="Freeform 23"/>
            <p:cNvSpPr>
              <a:spLocks/>
            </p:cNvSpPr>
            <p:nvPr/>
          </p:nvSpPr>
          <p:spPr bwMode="auto">
            <a:xfrm>
              <a:off x="3463" y="1748"/>
              <a:ext cx="1522" cy="1099"/>
            </a:xfrm>
            <a:custGeom>
              <a:avLst/>
              <a:gdLst>
                <a:gd name="T0" fmla="*/ 3 w 1522"/>
                <a:gd name="T1" fmla="*/ 506 h 1099"/>
                <a:gd name="T2" fmla="*/ 22 w 1522"/>
                <a:gd name="T3" fmla="*/ 421 h 1099"/>
                <a:gd name="T4" fmla="*/ 59 w 1522"/>
                <a:gd name="T5" fmla="*/ 339 h 1099"/>
                <a:gd name="T6" fmla="*/ 113 w 1522"/>
                <a:gd name="T7" fmla="*/ 262 h 1099"/>
                <a:gd name="T8" fmla="*/ 183 w 1522"/>
                <a:gd name="T9" fmla="*/ 193 h 1099"/>
                <a:gd name="T10" fmla="*/ 268 w 1522"/>
                <a:gd name="T11" fmla="*/ 132 h 1099"/>
                <a:gd name="T12" fmla="*/ 363 w 1522"/>
                <a:gd name="T13" fmla="*/ 80 h 1099"/>
                <a:gd name="T14" fmla="*/ 471 w 1522"/>
                <a:gd name="T15" fmla="*/ 41 h 1099"/>
                <a:gd name="T16" fmla="*/ 584 w 1522"/>
                <a:gd name="T17" fmla="*/ 14 h 1099"/>
                <a:gd name="T18" fmla="*/ 702 w 1522"/>
                <a:gd name="T19" fmla="*/ 1 h 1099"/>
                <a:gd name="T20" fmla="*/ 821 w 1522"/>
                <a:gd name="T21" fmla="*/ 1 h 1099"/>
                <a:gd name="T22" fmla="*/ 938 w 1522"/>
                <a:gd name="T23" fmla="*/ 14 h 1099"/>
                <a:gd name="T24" fmla="*/ 1053 w 1522"/>
                <a:gd name="T25" fmla="*/ 41 h 1099"/>
                <a:gd name="T26" fmla="*/ 1159 w 1522"/>
                <a:gd name="T27" fmla="*/ 80 h 1099"/>
                <a:gd name="T28" fmla="*/ 1256 w 1522"/>
                <a:gd name="T29" fmla="*/ 132 h 1099"/>
                <a:gd name="T30" fmla="*/ 1339 w 1522"/>
                <a:gd name="T31" fmla="*/ 193 h 1099"/>
                <a:gd name="T32" fmla="*/ 1410 w 1522"/>
                <a:gd name="T33" fmla="*/ 262 h 1099"/>
                <a:gd name="T34" fmla="*/ 1465 w 1522"/>
                <a:gd name="T35" fmla="*/ 339 h 1099"/>
                <a:gd name="T36" fmla="*/ 1500 w 1522"/>
                <a:gd name="T37" fmla="*/ 421 h 1099"/>
                <a:gd name="T38" fmla="*/ 1519 w 1522"/>
                <a:gd name="T39" fmla="*/ 506 h 1099"/>
                <a:gd name="T40" fmla="*/ 1519 w 1522"/>
                <a:gd name="T41" fmla="*/ 592 h 1099"/>
                <a:gd name="T42" fmla="*/ 1500 w 1522"/>
                <a:gd name="T43" fmla="*/ 677 h 1099"/>
                <a:gd name="T44" fmla="*/ 1465 w 1522"/>
                <a:gd name="T45" fmla="*/ 759 h 1099"/>
                <a:gd name="T46" fmla="*/ 1410 w 1522"/>
                <a:gd name="T47" fmla="*/ 836 h 1099"/>
                <a:gd name="T48" fmla="*/ 1339 w 1522"/>
                <a:gd name="T49" fmla="*/ 906 h 1099"/>
                <a:gd name="T50" fmla="*/ 1256 w 1522"/>
                <a:gd name="T51" fmla="*/ 967 h 1099"/>
                <a:gd name="T52" fmla="*/ 1159 w 1522"/>
                <a:gd name="T53" fmla="*/ 1018 h 1099"/>
                <a:gd name="T54" fmla="*/ 1053 w 1522"/>
                <a:gd name="T55" fmla="*/ 1057 h 1099"/>
                <a:gd name="T56" fmla="*/ 938 w 1522"/>
                <a:gd name="T57" fmla="*/ 1084 h 1099"/>
                <a:gd name="T58" fmla="*/ 821 w 1522"/>
                <a:gd name="T59" fmla="*/ 1097 h 1099"/>
                <a:gd name="T60" fmla="*/ 702 w 1522"/>
                <a:gd name="T61" fmla="*/ 1097 h 1099"/>
                <a:gd name="T62" fmla="*/ 584 w 1522"/>
                <a:gd name="T63" fmla="*/ 1084 h 1099"/>
                <a:gd name="T64" fmla="*/ 471 w 1522"/>
                <a:gd name="T65" fmla="*/ 1057 h 1099"/>
                <a:gd name="T66" fmla="*/ 363 w 1522"/>
                <a:gd name="T67" fmla="*/ 1018 h 1099"/>
                <a:gd name="T68" fmla="*/ 268 w 1522"/>
                <a:gd name="T69" fmla="*/ 967 h 1099"/>
                <a:gd name="T70" fmla="*/ 183 w 1522"/>
                <a:gd name="T71" fmla="*/ 906 h 1099"/>
                <a:gd name="T72" fmla="*/ 113 w 1522"/>
                <a:gd name="T73" fmla="*/ 836 h 1099"/>
                <a:gd name="T74" fmla="*/ 59 w 1522"/>
                <a:gd name="T75" fmla="*/ 759 h 1099"/>
                <a:gd name="T76" fmla="*/ 22 w 1522"/>
                <a:gd name="T77" fmla="*/ 677 h 1099"/>
                <a:gd name="T78" fmla="*/ 3 w 1522"/>
                <a:gd name="T79" fmla="*/ 592 h 1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22" h="1099">
                  <a:moveTo>
                    <a:pt x="0" y="549"/>
                  </a:moveTo>
                  <a:lnTo>
                    <a:pt x="3" y="506"/>
                  </a:lnTo>
                  <a:lnTo>
                    <a:pt x="10" y="464"/>
                  </a:lnTo>
                  <a:lnTo>
                    <a:pt x="22" y="421"/>
                  </a:lnTo>
                  <a:lnTo>
                    <a:pt x="37" y="379"/>
                  </a:lnTo>
                  <a:lnTo>
                    <a:pt x="59" y="339"/>
                  </a:lnTo>
                  <a:lnTo>
                    <a:pt x="84" y="300"/>
                  </a:lnTo>
                  <a:lnTo>
                    <a:pt x="113" y="262"/>
                  </a:lnTo>
                  <a:lnTo>
                    <a:pt x="146" y="226"/>
                  </a:lnTo>
                  <a:lnTo>
                    <a:pt x="183" y="193"/>
                  </a:lnTo>
                  <a:lnTo>
                    <a:pt x="224" y="161"/>
                  </a:lnTo>
                  <a:lnTo>
                    <a:pt x="268" y="132"/>
                  </a:lnTo>
                  <a:lnTo>
                    <a:pt x="314" y="105"/>
                  </a:lnTo>
                  <a:lnTo>
                    <a:pt x="363" y="80"/>
                  </a:lnTo>
                  <a:lnTo>
                    <a:pt x="416" y="60"/>
                  </a:lnTo>
                  <a:lnTo>
                    <a:pt x="471" y="41"/>
                  </a:lnTo>
                  <a:lnTo>
                    <a:pt x="527" y="27"/>
                  </a:lnTo>
                  <a:lnTo>
                    <a:pt x="584" y="14"/>
                  </a:lnTo>
                  <a:lnTo>
                    <a:pt x="642" y="7"/>
                  </a:lnTo>
                  <a:lnTo>
                    <a:pt x="702" y="1"/>
                  </a:lnTo>
                  <a:lnTo>
                    <a:pt x="762" y="0"/>
                  </a:lnTo>
                  <a:lnTo>
                    <a:pt x="821" y="1"/>
                  </a:lnTo>
                  <a:lnTo>
                    <a:pt x="880" y="7"/>
                  </a:lnTo>
                  <a:lnTo>
                    <a:pt x="938" y="14"/>
                  </a:lnTo>
                  <a:lnTo>
                    <a:pt x="997" y="27"/>
                  </a:lnTo>
                  <a:lnTo>
                    <a:pt x="1053" y="41"/>
                  </a:lnTo>
                  <a:lnTo>
                    <a:pt x="1107" y="60"/>
                  </a:lnTo>
                  <a:lnTo>
                    <a:pt x="1159" y="80"/>
                  </a:lnTo>
                  <a:lnTo>
                    <a:pt x="1208" y="105"/>
                  </a:lnTo>
                  <a:lnTo>
                    <a:pt x="1256" y="132"/>
                  </a:lnTo>
                  <a:lnTo>
                    <a:pt x="1299" y="161"/>
                  </a:lnTo>
                  <a:lnTo>
                    <a:pt x="1339" y="193"/>
                  </a:lnTo>
                  <a:lnTo>
                    <a:pt x="1376" y="226"/>
                  </a:lnTo>
                  <a:lnTo>
                    <a:pt x="1410" y="262"/>
                  </a:lnTo>
                  <a:lnTo>
                    <a:pt x="1439" y="300"/>
                  </a:lnTo>
                  <a:lnTo>
                    <a:pt x="1465" y="339"/>
                  </a:lnTo>
                  <a:lnTo>
                    <a:pt x="1485" y="379"/>
                  </a:lnTo>
                  <a:lnTo>
                    <a:pt x="1500" y="421"/>
                  </a:lnTo>
                  <a:lnTo>
                    <a:pt x="1512" y="464"/>
                  </a:lnTo>
                  <a:lnTo>
                    <a:pt x="1519" y="506"/>
                  </a:lnTo>
                  <a:lnTo>
                    <a:pt x="1522" y="549"/>
                  </a:lnTo>
                  <a:lnTo>
                    <a:pt x="1519" y="592"/>
                  </a:lnTo>
                  <a:lnTo>
                    <a:pt x="1512" y="635"/>
                  </a:lnTo>
                  <a:lnTo>
                    <a:pt x="1500" y="677"/>
                  </a:lnTo>
                  <a:lnTo>
                    <a:pt x="1485" y="719"/>
                  </a:lnTo>
                  <a:lnTo>
                    <a:pt x="1465" y="759"/>
                  </a:lnTo>
                  <a:lnTo>
                    <a:pt x="1439" y="798"/>
                  </a:lnTo>
                  <a:lnTo>
                    <a:pt x="1410" y="836"/>
                  </a:lnTo>
                  <a:lnTo>
                    <a:pt x="1376" y="873"/>
                  </a:lnTo>
                  <a:lnTo>
                    <a:pt x="1339" y="906"/>
                  </a:lnTo>
                  <a:lnTo>
                    <a:pt x="1299" y="938"/>
                  </a:lnTo>
                  <a:lnTo>
                    <a:pt x="1256" y="967"/>
                  </a:lnTo>
                  <a:lnTo>
                    <a:pt x="1208" y="994"/>
                  </a:lnTo>
                  <a:lnTo>
                    <a:pt x="1159" y="1018"/>
                  </a:lnTo>
                  <a:lnTo>
                    <a:pt x="1107" y="1039"/>
                  </a:lnTo>
                  <a:lnTo>
                    <a:pt x="1053" y="1057"/>
                  </a:lnTo>
                  <a:lnTo>
                    <a:pt x="997" y="1072"/>
                  </a:lnTo>
                  <a:lnTo>
                    <a:pt x="938" y="1084"/>
                  </a:lnTo>
                  <a:lnTo>
                    <a:pt x="880" y="1091"/>
                  </a:lnTo>
                  <a:lnTo>
                    <a:pt x="821" y="1097"/>
                  </a:lnTo>
                  <a:lnTo>
                    <a:pt x="762" y="1099"/>
                  </a:lnTo>
                  <a:lnTo>
                    <a:pt x="702" y="1097"/>
                  </a:lnTo>
                  <a:lnTo>
                    <a:pt x="642" y="1091"/>
                  </a:lnTo>
                  <a:lnTo>
                    <a:pt x="584" y="1084"/>
                  </a:lnTo>
                  <a:lnTo>
                    <a:pt x="527" y="1072"/>
                  </a:lnTo>
                  <a:lnTo>
                    <a:pt x="471" y="1057"/>
                  </a:lnTo>
                  <a:lnTo>
                    <a:pt x="416" y="1039"/>
                  </a:lnTo>
                  <a:lnTo>
                    <a:pt x="363" y="1018"/>
                  </a:lnTo>
                  <a:lnTo>
                    <a:pt x="314" y="994"/>
                  </a:lnTo>
                  <a:lnTo>
                    <a:pt x="268" y="967"/>
                  </a:lnTo>
                  <a:lnTo>
                    <a:pt x="224" y="938"/>
                  </a:lnTo>
                  <a:lnTo>
                    <a:pt x="183" y="906"/>
                  </a:lnTo>
                  <a:lnTo>
                    <a:pt x="146" y="873"/>
                  </a:lnTo>
                  <a:lnTo>
                    <a:pt x="113" y="836"/>
                  </a:lnTo>
                  <a:lnTo>
                    <a:pt x="84" y="798"/>
                  </a:lnTo>
                  <a:lnTo>
                    <a:pt x="59" y="759"/>
                  </a:lnTo>
                  <a:lnTo>
                    <a:pt x="37" y="719"/>
                  </a:lnTo>
                  <a:lnTo>
                    <a:pt x="22" y="677"/>
                  </a:lnTo>
                  <a:lnTo>
                    <a:pt x="10" y="635"/>
                  </a:lnTo>
                  <a:lnTo>
                    <a:pt x="3" y="592"/>
                  </a:lnTo>
                  <a:lnTo>
                    <a:pt x="0" y="549"/>
                  </a:lnTo>
                </a:path>
              </a:pathLst>
            </a:custGeom>
            <a:noFill/>
            <a:ln w="3333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992" name="Rectangle 24"/>
            <p:cNvSpPr>
              <a:spLocks noChangeArrowheads="1"/>
            </p:cNvSpPr>
            <p:nvPr/>
          </p:nvSpPr>
          <p:spPr bwMode="auto">
            <a:xfrm>
              <a:off x="3598" y="1855"/>
              <a:ext cx="10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zh-CN" altLang="en-US" sz="2300" b="1"/>
                <a:t>  </a:t>
              </a:r>
              <a:endParaRPr lang="zh-CN" altLang="en-US" sz="3000">
                <a:latin typeface="Tahoma" pitchFamily="34" charset="0"/>
              </a:endParaRPr>
            </a:p>
          </p:txBody>
        </p:sp>
        <p:sp>
          <p:nvSpPr>
            <p:cNvPr id="851993" name="Rectangle 25"/>
            <p:cNvSpPr>
              <a:spLocks noChangeArrowheads="1"/>
            </p:cNvSpPr>
            <p:nvPr/>
          </p:nvSpPr>
          <p:spPr bwMode="auto">
            <a:xfrm>
              <a:off x="3689" y="1855"/>
              <a:ext cx="12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/>
                <a:t>C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94" name="Rectangle 26"/>
            <p:cNvSpPr>
              <a:spLocks noChangeArrowheads="1"/>
            </p:cNvSpPr>
            <p:nvPr/>
          </p:nvSpPr>
          <p:spPr bwMode="auto">
            <a:xfrm>
              <a:off x="3598" y="2075"/>
              <a:ext cx="82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/>
                <a:t>sumD(2)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95" name="Rectangle 27"/>
            <p:cNvSpPr>
              <a:spLocks noChangeArrowheads="1"/>
            </p:cNvSpPr>
            <p:nvPr/>
          </p:nvSpPr>
          <p:spPr bwMode="auto">
            <a:xfrm>
              <a:off x="3598" y="2295"/>
              <a:ext cx="380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en-US" altLang="zh-CN" sz="2300" b="1"/>
                <a:t>=  2</a:t>
              </a:r>
              <a:endParaRPr lang="en-US" altLang="zh-CN" sz="3000">
                <a:latin typeface="Tahoma" pitchFamily="34" charset="0"/>
              </a:endParaRPr>
            </a:p>
          </p:txBody>
        </p:sp>
        <p:sp>
          <p:nvSpPr>
            <p:cNvPr id="851996" name="Freeform 28"/>
            <p:cNvSpPr>
              <a:spLocks/>
            </p:cNvSpPr>
            <p:nvPr/>
          </p:nvSpPr>
          <p:spPr bwMode="auto">
            <a:xfrm>
              <a:off x="1295" y="2163"/>
              <a:ext cx="309" cy="315"/>
            </a:xfrm>
            <a:custGeom>
              <a:avLst/>
              <a:gdLst>
                <a:gd name="T0" fmla="*/ 3 w 309"/>
                <a:gd name="T1" fmla="*/ 131 h 315"/>
                <a:gd name="T2" fmla="*/ 10 w 309"/>
                <a:gd name="T3" fmla="*/ 104 h 315"/>
                <a:gd name="T4" fmla="*/ 21 w 309"/>
                <a:gd name="T5" fmla="*/ 79 h 315"/>
                <a:gd name="T6" fmla="*/ 36 w 309"/>
                <a:gd name="T7" fmla="*/ 56 h 315"/>
                <a:gd name="T8" fmla="*/ 55 w 309"/>
                <a:gd name="T9" fmla="*/ 37 h 315"/>
                <a:gd name="T10" fmla="*/ 77 w 309"/>
                <a:gd name="T11" fmla="*/ 21 h 315"/>
                <a:gd name="T12" fmla="*/ 101 w 309"/>
                <a:gd name="T13" fmla="*/ 10 h 315"/>
                <a:gd name="T14" fmla="*/ 127 w 309"/>
                <a:gd name="T15" fmla="*/ 2 h 315"/>
                <a:gd name="T16" fmla="*/ 154 w 309"/>
                <a:gd name="T17" fmla="*/ 0 h 315"/>
                <a:gd name="T18" fmla="*/ 181 w 309"/>
                <a:gd name="T19" fmla="*/ 1 h 315"/>
                <a:gd name="T20" fmla="*/ 207 w 309"/>
                <a:gd name="T21" fmla="*/ 8 h 315"/>
                <a:gd name="T22" fmla="*/ 231 w 309"/>
                <a:gd name="T23" fmla="*/ 21 h 315"/>
                <a:gd name="T24" fmla="*/ 253 w 309"/>
                <a:gd name="T25" fmla="*/ 35 h 315"/>
                <a:gd name="T26" fmla="*/ 272 w 309"/>
                <a:gd name="T27" fmla="*/ 55 h 315"/>
                <a:gd name="T28" fmla="*/ 288 w 309"/>
                <a:gd name="T29" fmla="*/ 77 h 315"/>
                <a:gd name="T30" fmla="*/ 299 w 309"/>
                <a:gd name="T31" fmla="*/ 102 h 315"/>
                <a:gd name="T32" fmla="*/ 306 w 309"/>
                <a:gd name="T33" fmla="*/ 129 h 315"/>
                <a:gd name="T34" fmla="*/ 309 w 309"/>
                <a:gd name="T35" fmla="*/ 156 h 315"/>
                <a:gd name="T36" fmla="*/ 307 w 309"/>
                <a:gd name="T37" fmla="*/ 183 h 315"/>
                <a:gd name="T38" fmla="*/ 300 w 309"/>
                <a:gd name="T39" fmla="*/ 210 h 315"/>
                <a:gd name="T40" fmla="*/ 289 w 309"/>
                <a:gd name="T41" fmla="*/ 236 h 315"/>
                <a:gd name="T42" fmla="*/ 274 w 309"/>
                <a:gd name="T43" fmla="*/ 258 h 315"/>
                <a:gd name="T44" fmla="*/ 255 w 309"/>
                <a:gd name="T45" fmla="*/ 277 h 315"/>
                <a:gd name="T46" fmla="*/ 233 w 309"/>
                <a:gd name="T47" fmla="*/ 293 h 315"/>
                <a:gd name="T48" fmla="*/ 208 w 309"/>
                <a:gd name="T49" fmla="*/ 305 h 315"/>
                <a:gd name="T50" fmla="*/ 183 w 309"/>
                <a:gd name="T51" fmla="*/ 312 h 315"/>
                <a:gd name="T52" fmla="*/ 155 w 309"/>
                <a:gd name="T53" fmla="*/ 315 h 315"/>
                <a:gd name="T54" fmla="*/ 129 w 309"/>
                <a:gd name="T55" fmla="*/ 312 h 315"/>
                <a:gd name="T56" fmla="*/ 103 w 309"/>
                <a:gd name="T57" fmla="*/ 305 h 315"/>
                <a:gd name="T58" fmla="*/ 79 w 309"/>
                <a:gd name="T59" fmla="*/ 294 h 315"/>
                <a:gd name="T60" fmla="*/ 56 w 309"/>
                <a:gd name="T61" fmla="*/ 278 h 315"/>
                <a:gd name="T62" fmla="*/ 37 w 309"/>
                <a:gd name="T63" fmla="*/ 259 h 315"/>
                <a:gd name="T64" fmla="*/ 22 w 309"/>
                <a:gd name="T65" fmla="*/ 237 h 315"/>
                <a:gd name="T66" fmla="*/ 10 w 309"/>
                <a:gd name="T67" fmla="*/ 212 h 315"/>
                <a:gd name="T68" fmla="*/ 3 w 309"/>
                <a:gd name="T69" fmla="*/ 186 h 315"/>
                <a:gd name="T70" fmla="*/ 0 w 309"/>
                <a:gd name="T71" fmla="*/ 159 h 315"/>
                <a:gd name="T72" fmla="*/ 3 w 309"/>
                <a:gd name="T73" fmla="*/ 131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09" h="315">
                  <a:moveTo>
                    <a:pt x="3" y="131"/>
                  </a:moveTo>
                  <a:lnTo>
                    <a:pt x="10" y="104"/>
                  </a:lnTo>
                  <a:lnTo>
                    <a:pt x="21" y="79"/>
                  </a:lnTo>
                  <a:lnTo>
                    <a:pt x="36" y="56"/>
                  </a:lnTo>
                  <a:lnTo>
                    <a:pt x="55" y="37"/>
                  </a:lnTo>
                  <a:lnTo>
                    <a:pt x="77" y="21"/>
                  </a:lnTo>
                  <a:lnTo>
                    <a:pt x="101" y="10"/>
                  </a:lnTo>
                  <a:lnTo>
                    <a:pt x="127" y="2"/>
                  </a:lnTo>
                  <a:lnTo>
                    <a:pt x="154" y="0"/>
                  </a:lnTo>
                  <a:lnTo>
                    <a:pt x="181" y="1"/>
                  </a:lnTo>
                  <a:lnTo>
                    <a:pt x="207" y="8"/>
                  </a:lnTo>
                  <a:lnTo>
                    <a:pt x="231" y="21"/>
                  </a:lnTo>
                  <a:lnTo>
                    <a:pt x="253" y="35"/>
                  </a:lnTo>
                  <a:lnTo>
                    <a:pt x="272" y="55"/>
                  </a:lnTo>
                  <a:lnTo>
                    <a:pt x="288" y="77"/>
                  </a:lnTo>
                  <a:lnTo>
                    <a:pt x="299" y="102"/>
                  </a:lnTo>
                  <a:lnTo>
                    <a:pt x="306" y="129"/>
                  </a:lnTo>
                  <a:lnTo>
                    <a:pt x="309" y="156"/>
                  </a:lnTo>
                  <a:lnTo>
                    <a:pt x="307" y="183"/>
                  </a:lnTo>
                  <a:lnTo>
                    <a:pt x="300" y="210"/>
                  </a:lnTo>
                  <a:lnTo>
                    <a:pt x="289" y="236"/>
                  </a:lnTo>
                  <a:lnTo>
                    <a:pt x="274" y="258"/>
                  </a:lnTo>
                  <a:lnTo>
                    <a:pt x="255" y="277"/>
                  </a:lnTo>
                  <a:lnTo>
                    <a:pt x="233" y="293"/>
                  </a:lnTo>
                  <a:lnTo>
                    <a:pt x="208" y="305"/>
                  </a:lnTo>
                  <a:lnTo>
                    <a:pt x="183" y="312"/>
                  </a:lnTo>
                  <a:lnTo>
                    <a:pt x="155" y="315"/>
                  </a:lnTo>
                  <a:lnTo>
                    <a:pt x="129" y="312"/>
                  </a:lnTo>
                  <a:lnTo>
                    <a:pt x="103" y="305"/>
                  </a:lnTo>
                  <a:lnTo>
                    <a:pt x="79" y="294"/>
                  </a:lnTo>
                  <a:lnTo>
                    <a:pt x="56" y="278"/>
                  </a:lnTo>
                  <a:lnTo>
                    <a:pt x="37" y="259"/>
                  </a:lnTo>
                  <a:lnTo>
                    <a:pt x="22" y="237"/>
                  </a:lnTo>
                  <a:lnTo>
                    <a:pt x="10" y="212"/>
                  </a:lnTo>
                  <a:lnTo>
                    <a:pt x="3" y="186"/>
                  </a:lnTo>
                  <a:lnTo>
                    <a:pt x="0" y="159"/>
                  </a:lnTo>
                  <a:lnTo>
                    <a:pt x="3" y="131"/>
                  </a:lnTo>
                </a:path>
              </a:pathLst>
            </a:custGeom>
            <a:noFill/>
            <a:ln w="33338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997" name="Freeform 29"/>
            <p:cNvSpPr>
              <a:spLocks/>
            </p:cNvSpPr>
            <p:nvPr/>
          </p:nvSpPr>
          <p:spPr bwMode="auto">
            <a:xfrm>
              <a:off x="2532" y="2276"/>
              <a:ext cx="307" cy="317"/>
            </a:xfrm>
            <a:custGeom>
              <a:avLst/>
              <a:gdLst>
                <a:gd name="T0" fmla="*/ 1 w 307"/>
                <a:gd name="T1" fmla="*/ 132 h 317"/>
                <a:gd name="T2" fmla="*/ 8 w 307"/>
                <a:gd name="T3" fmla="*/ 105 h 317"/>
                <a:gd name="T4" fmla="*/ 19 w 307"/>
                <a:gd name="T5" fmla="*/ 81 h 317"/>
                <a:gd name="T6" fmla="*/ 34 w 307"/>
                <a:gd name="T7" fmla="*/ 58 h 317"/>
                <a:gd name="T8" fmla="*/ 53 w 307"/>
                <a:gd name="T9" fmla="*/ 38 h 317"/>
                <a:gd name="T10" fmla="*/ 75 w 307"/>
                <a:gd name="T11" fmla="*/ 22 h 317"/>
                <a:gd name="T12" fmla="*/ 100 w 307"/>
                <a:gd name="T13" fmla="*/ 10 h 317"/>
                <a:gd name="T14" fmla="*/ 125 w 307"/>
                <a:gd name="T15" fmla="*/ 3 h 317"/>
                <a:gd name="T16" fmla="*/ 152 w 307"/>
                <a:gd name="T17" fmla="*/ 0 h 317"/>
                <a:gd name="T18" fmla="*/ 179 w 307"/>
                <a:gd name="T19" fmla="*/ 3 h 317"/>
                <a:gd name="T20" fmla="*/ 205 w 307"/>
                <a:gd name="T21" fmla="*/ 10 h 317"/>
                <a:gd name="T22" fmla="*/ 230 w 307"/>
                <a:gd name="T23" fmla="*/ 21 h 317"/>
                <a:gd name="T24" fmla="*/ 251 w 307"/>
                <a:gd name="T25" fmla="*/ 37 h 317"/>
                <a:gd name="T26" fmla="*/ 270 w 307"/>
                <a:gd name="T27" fmla="*/ 57 h 317"/>
                <a:gd name="T28" fmla="*/ 286 w 307"/>
                <a:gd name="T29" fmla="*/ 79 h 317"/>
                <a:gd name="T30" fmla="*/ 298 w 307"/>
                <a:gd name="T31" fmla="*/ 104 h 317"/>
                <a:gd name="T32" fmla="*/ 305 w 307"/>
                <a:gd name="T33" fmla="*/ 130 h 317"/>
                <a:gd name="T34" fmla="*/ 307 w 307"/>
                <a:gd name="T35" fmla="*/ 158 h 317"/>
                <a:gd name="T36" fmla="*/ 305 w 307"/>
                <a:gd name="T37" fmla="*/ 185 h 317"/>
                <a:gd name="T38" fmla="*/ 298 w 307"/>
                <a:gd name="T39" fmla="*/ 212 h 317"/>
                <a:gd name="T40" fmla="*/ 287 w 307"/>
                <a:gd name="T41" fmla="*/ 236 h 317"/>
                <a:gd name="T42" fmla="*/ 272 w 307"/>
                <a:gd name="T43" fmla="*/ 259 h 317"/>
                <a:gd name="T44" fmla="*/ 253 w 307"/>
                <a:gd name="T45" fmla="*/ 279 h 317"/>
                <a:gd name="T46" fmla="*/ 231 w 307"/>
                <a:gd name="T47" fmla="*/ 295 h 317"/>
                <a:gd name="T48" fmla="*/ 207 w 307"/>
                <a:gd name="T49" fmla="*/ 307 h 317"/>
                <a:gd name="T50" fmla="*/ 181 w 307"/>
                <a:gd name="T51" fmla="*/ 314 h 317"/>
                <a:gd name="T52" fmla="*/ 155 w 307"/>
                <a:gd name="T53" fmla="*/ 317 h 317"/>
                <a:gd name="T54" fmla="*/ 127 w 307"/>
                <a:gd name="T55" fmla="*/ 314 h 317"/>
                <a:gd name="T56" fmla="*/ 101 w 307"/>
                <a:gd name="T57" fmla="*/ 307 h 317"/>
                <a:gd name="T58" fmla="*/ 77 w 307"/>
                <a:gd name="T59" fmla="*/ 296 h 317"/>
                <a:gd name="T60" fmla="*/ 54 w 307"/>
                <a:gd name="T61" fmla="*/ 280 h 317"/>
                <a:gd name="T62" fmla="*/ 35 w 307"/>
                <a:gd name="T63" fmla="*/ 261 h 317"/>
                <a:gd name="T64" fmla="*/ 20 w 307"/>
                <a:gd name="T65" fmla="*/ 239 h 317"/>
                <a:gd name="T66" fmla="*/ 9 w 307"/>
                <a:gd name="T67" fmla="*/ 213 h 317"/>
                <a:gd name="T68" fmla="*/ 2 w 307"/>
                <a:gd name="T69" fmla="*/ 187 h 317"/>
                <a:gd name="T70" fmla="*/ 0 w 307"/>
                <a:gd name="T71" fmla="*/ 159 h 317"/>
                <a:gd name="T72" fmla="*/ 1 w 307"/>
                <a:gd name="T73" fmla="*/ 132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07" h="317">
                  <a:moveTo>
                    <a:pt x="1" y="132"/>
                  </a:moveTo>
                  <a:lnTo>
                    <a:pt x="8" y="105"/>
                  </a:lnTo>
                  <a:lnTo>
                    <a:pt x="19" y="81"/>
                  </a:lnTo>
                  <a:lnTo>
                    <a:pt x="34" y="58"/>
                  </a:lnTo>
                  <a:lnTo>
                    <a:pt x="53" y="38"/>
                  </a:lnTo>
                  <a:lnTo>
                    <a:pt x="75" y="22"/>
                  </a:lnTo>
                  <a:lnTo>
                    <a:pt x="100" y="10"/>
                  </a:lnTo>
                  <a:lnTo>
                    <a:pt x="125" y="3"/>
                  </a:lnTo>
                  <a:lnTo>
                    <a:pt x="152" y="0"/>
                  </a:lnTo>
                  <a:lnTo>
                    <a:pt x="179" y="3"/>
                  </a:lnTo>
                  <a:lnTo>
                    <a:pt x="205" y="10"/>
                  </a:lnTo>
                  <a:lnTo>
                    <a:pt x="230" y="21"/>
                  </a:lnTo>
                  <a:lnTo>
                    <a:pt x="251" y="37"/>
                  </a:lnTo>
                  <a:lnTo>
                    <a:pt x="270" y="57"/>
                  </a:lnTo>
                  <a:lnTo>
                    <a:pt x="286" y="79"/>
                  </a:lnTo>
                  <a:lnTo>
                    <a:pt x="298" y="104"/>
                  </a:lnTo>
                  <a:lnTo>
                    <a:pt x="305" y="130"/>
                  </a:lnTo>
                  <a:lnTo>
                    <a:pt x="307" y="158"/>
                  </a:lnTo>
                  <a:lnTo>
                    <a:pt x="305" y="185"/>
                  </a:lnTo>
                  <a:lnTo>
                    <a:pt x="298" y="212"/>
                  </a:lnTo>
                  <a:lnTo>
                    <a:pt x="287" y="236"/>
                  </a:lnTo>
                  <a:lnTo>
                    <a:pt x="272" y="259"/>
                  </a:lnTo>
                  <a:lnTo>
                    <a:pt x="253" y="279"/>
                  </a:lnTo>
                  <a:lnTo>
                    <a:pt x="231" y="295"/>
                  </a:lnTo>
                  <a:lnTo>
                    <a:pt x="207" y="307"/>
                  </a:lnTo>
                  <a:lnTo>
                    <a:pt x="181" y="314"/>
                  </a:lnTo>
                  <a:lnTo>
                    <a:pt x="155" y="317"/>
                  </a:lnTo>
                  <a:lnTo>
                    <a:pt x="127" y="314"/>
                  </a:lnTo>
                  <a:lnTo>
                    <a:pt x="101" y="307"/>
                  </a:lnTo>
                  <a:lnTo>
                    <a:pt x="77" y="296"/>
                  </a:lnTo>
                  <a:lnTo>
                    <a:pt x="54" y="280"/>
                  </a:lnTo>
                  <a:lnTo>
                    <a:pt x="35" y="261"/>
                  </a:lnTo>
                  <a:lnTo>
                    <a:pt x="20" y="239"/>
                  </a:lnTo>
                  <a:lnTo>
                    <a:pt x="9" y="213"/>
                  </a:lnTo>
                  <a:lnTo>
                    <a:pt x="2" y="187"/>
                  </a:lnTo>
                  <a:lnTo>
                    <a:pt x="0" y="159"/>
                  </a:lnTo>
                  <a:lnTo>
                    <a:pt x="1" y="132"/>
                  </a:lnTo>
                </a:path>
              </a:pathLst>
            </a:custGeom>
            <a:noFill/>
            <a:ln w="33338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998" name="Freeform 30"/>
            <p:cNvSpPr>
              <a:spLocks/>
            </p:cNvSpPr>
            <p:nvPr/>
          </p:nvSpPr>
          <p:spPr bwMode="auto">
            <a:xfrm>
              <a:off x="2348" y="2502"/>
              <a:ext cx="308" cy="315"/>
            </a:xfrm>
            <a:custGeom>
              <a:avLst/>
              <a:gdLst>
                <a:gd name="T0" fmla="*/ 1 w 308"/>
                <a:gd name="T1" fmla="*/ 132 h 315"/>
                <a:gd name="T2" fmla="*/ 8 w 308"/>
                <a:gd name="T3" fmla="*/ 105 h 315"/>
                <a:gd name="T4" fmla="*/ 19 w 308"/>
                <a:gd name="T5" fmla="*/ 80 h 315"/>
                <a:gd name="T6" fmla="*/ 34 w 308"/>
                <a:gd name="T7" fmla="*/ 58 h 315"/>
                <a:gd name="T8" fmla="*/ 53 w 308"/>
                <a:gd name="T9" fmla="*/ 38 h 315"/>
                <a:gd name="T10" fmla="*/ 75 w 308"/>
                <a:gd name="T11" fmla="*/ 22 h 315"/>
                <a:gd name="T12" fmla="*/ 100 w 308"/>
                <a:gd name="T13" fmla="*/ 10 h 315"/>
                <a:gd name="T14" fmla="*/ 125 w 308"/>
                <a:gd name="T15" fmla="*/ 3 h 315"/>
                <a:gd name="T16" fmla="*/ 153 w 308"/>
                <a:gd name="T17" fmla="*/ 0 h 315"/>
                <a:gd name="T18" fmla="*/ 179 w 308"/>
                <a:gd name="T19" fmla="*/ 3 h 315"/>
                <a:gd name="T20" fmla="*/ 205 w 308"/>
                <a:gd name="T21" fmla="*/ 10 h 315"/>
                <a:gd name="T22" fmla="*/ 230 w 308"/>
                <a:gd name="T23" fmla="*/ 21 h 315"/>
                <a:gd name="T24" fmla="*/ 252 w 308"/>
                <a:gd name="T25" fmla="*/ 37 h 315"/>
                <a:gd name="T26" fmla="*/ 271 w 308"/>
                <a:gd name="T27" fmla="*/ 57 h 315"/>
                <a:gd name="T28" fmla="*/ 286 w 308"/>
                <a:gd name="T29" fmla="*/ 79 h 315"/>
                <a:gd name="T30" fmla="*/ 298 w 308"/>
                <a:gd name="T31" fmla="*/ 103 h 315"/>
                <a:gd name="T32" fmla="*/ 305 w 308"/>
                <a:gd name="T33" fmla="*/ 130 h 315"/>
                <a:gd name="T34" fmla="*/ 308 w 308"/>
                <a:gd name="T35" fmla="*/ 157 h 315"/>
                <a:gd name="T36" fmla="*/ 305 w 308"/>
                <a:gd name="T37" fmla="*/ 185 h 315"/>
                <a:gd name="T38" fmla="*/ 298 w 308"/>
                <a:gd name="T39" fmla="*/ 212 h 315"/>
                <a:gd name="T40" fmla="*/ 287 w 308"/>
                <a:gd name="T41" fmla="*/ 236 h 315"/>
                <a:gd name="T42" fmla="*/ 272 w 308"/>
                <a:gd name="T43" fmla="*/ 259 h 315"/>
                <a:gd name="T44" fmla="*/ 253 w 308"/>
                <a:gd name="T45" fmla="*/ 279 h 315"/>
                <a:gd name="T46" fmla="*/ 231 w 308"/>
                <a:gd name="T47" fmla="*/ 295 h 315"/>
                <a:gd name="T48" fmla="*/ 207 w 308"/>
                <a:gd name="T49" fmla="*/ 306 h 315"/>
                <a:gd name="T50" fmla="*/ 181 w 308"/>
                <a:gd name="T51" fmla="*/ 313 h 315"/>
                <a:gd name="T52" fmla="*/ 155 w 308"/>
                <a:gd name="T53" fmla="*/ 315 h 315"/>
                <a:gd name="T54" fmla="*/ 127 w 308"/>
                <a:gd name="T55" fmla="*/ 313 h 315"/>
                <a:gd name="T56" fmla="*/ 101 w 308"/>
                <a:gd name="T57" fmla="*/ 307 h 315"/>
                <a:gd name="T58" fmla="*/ 77 w 308"/>
                <a:gd name="T59" fmla="*/ 295 h 315"/>
                <a:gd name="T60" fmla="*/ 55 w 308"/>
                <a:gd name="T61" fmla="*/ 280 h 315"/>
                <a:gd name="T62" fmla="*/ 36 w 308"/>
                <a:gd name="T63" fmla="*/ 260 h 315"/>
                <a:gd name="T64" fmla="*/ 20 w 308"/>
                <a:gd name="T65" fmla="*/ 237 h 315"/>
                <a:gd name="T66" fmla="*/ 9 w 308"/>
                <a:gd name="T67" fmla="*/ 213 h 315"/>
                <a:gd name="T68" fmla="*/ 2 w 308"/>
                <a:gd name="T69" fmla="*/ 186 h 315"/>
                <a:gd name="T70" fmla="*/ 0 w 308"/>
                <a:gd name="T71" fmla="*/ 159 h 315"/>
                <a:gd name="T72" fmla="*/ 1 w 308"/>
                <a:gd name="T73" fmla="*/ 13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08" h="315">
                  <a:moveTo>
                    <a:pt x="1" y="132"/>
                  </a:moveTo>
                  <a:lnTo>
                    <a:pt x="8" y="105"/>
                  </a:lnTo>
                  <a:lnTo>
                    <a:pt x="19" y="80"/>
                  </a:lnTo>
                  <a:lnTo>
                    <a:pt x="34" y="58"/>
                  </a:lnTo>
                  <a:lnTo>
                    <a:pt x="53" y="38"/>
                  </a:lnTo>
                  <a:lnTo>
                    <a:pt x="75" y="22"/>
                  </a:lnTo>
                  <a:lnTo>
                    <a:pt x="100" y="10"/>
                  </a:lnTo>
                  <a:lnTo>
                    <a:pt x="125" y="3"/>
                  </a:lnTo>
                  <a:lnTo>
                    <a:pt x="153" y="0"/>
                  </a:lnTo>
                  <a:lnTo>
                    <a:pt x="179" y="3"/>
                  </a:lnTo>
                  <a:lnTo>
                    <a:pt x="205" y="10"/>
                  </a:lnTo>
                  <a:lnTo>
                    <a:pt x="230" y="21"/>
                  </a:lnTo>
                  <a:lnTo>
                    <a:pt x="252" y="37"/>
                  </a:lnTo>
                  <a:lnTo>
                    <a:pt x="271" y="57"/>
                  </a:lnTo>
                  <a:lnTo>
                    <a:pt x="286" y="79"/>
                  </a:lnTo>
                  <a:lnTo>
                    <a:pt x="298" y="103"/>
                  </a:lnTo>
                  <a:lnTo>
                    <a:pt x="305" y="130"/>
                  </a:lnTo>
                  <a:lnTo>
                    <a:pt x="308" y="157"/>
                  </a:lnTo>
                  <a:lnTo>
                    <a:pt x="305" y="185"/>
                  </a:lnTo>
                  <a:lnTo>
                    <a:pt x="298" y="212"/>
                  </a:lnTo>
                  <a:lnTo>
                    <a:pt x="287" y="236"/>
                  </a:lnTo>
                  <a:lnTo>
                    <a:pt x="272" y="259"/>
                  </a:lnTo>
                  <a:lnTo>
                    <a:pt x="253" y="279"/>
                  </a:lnTo>
                  <a:lnTo>
                    <a:pt x="231" y="295"/>
                  </a:lnTo>
                  <a:lnTo>
                    <a:pt x="207" y="306"/>
                  </a:lnTo>
                  <a:lnTo>
                    <a:pt x="181" y="313"/>
                  </a:lnTo>
                  <a:lnTo>
                    <a:pt x="155" y="315"/>
                  </a:lnTo>
                  <a:lnTo>
                    <a:pt x="127" y="313"/>
                  </a:lnTo>
                  <a:lnTo>
                    <a:pt x="101" y="307"/>
                  </a:lnTo>
                  <a:lnTo>
                    <a:pt x="77" y="295"/>
                  </a:lnTo>
                  <a:lnTo>
                    <a:pt x="55" y="280"/>
                  </a:lnTo>
                  <a:lnTo>
                    <a:pt x="36" y="260"/>
                  </a:lnTo>
                  <a:lnTo>
                    <a:pt x="20" y="237"/>
                  </a:lnTo>
                  <a:lnTo>
                    <a:pt x="9" y="213"/>
                  </a:lnTo>
                  <a:lnTo>
                    <a:pt x="2" y="186"/>
                  </a:lnTo>
                  <a:lnTo>
                    <a:pt x="0" y="159"/>
                  </a:lnTo>
                  <a:lnTo>
                    <a:pt x="1" y="132"/>
                  </a:lnTo>
                </a:path>
              </a:pathLst>
            </a:custGeom>
            <a:noFill/>
            <a:ln w="33338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999" name="Line 31"/>
            <p:cNvSpPr>
              <a:spLocks noChangeShapeType="1"/>
            </p:cNvSpPr>
            <p:nvPr/>
          </p:nvSpPr>
          <p:spPr bwMode="auto">
            <a:xfrm>
              <a:off x="1942" y="2022"/>
              <a:ext cx="230" cy="1"/>
            </a:xfrm>
            <a:prstGeom prst="line">
              <a:avLst/>
            </a:prstGeom>
            <a:noFill/>
            <a:ln w="33338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2000" name="Freeform 32"/>
            <p:cNvSpPr>
              <a:spLocks/>
            </p:cNvSpPr>
            <p:nvPr/>
          </p:nvSpPr>
          <p:spPr bwMode="auto">
            <a:xfrm>
              <a:off x="2160" y="1975"/>
              <a:ext cx="140" cy="95"/>
            </a:xfrm>
            <a:custGeom>
              <a:avLst/>
              <a:gdLst>
                <a:gd name="T0" fmla="*/ 0 w 140"/>
                <a:gd name="T1" fmla="*/ 0 h 95"/>
                <a:gd name="T2" fmla="*/ 140 w 140"/>
                <a:gd name="T3" fmla="*/ 47 h 95"/>
                <a:gd name="T4" fmla="*/ 0 w 140"/>
                <a:gd name="T5" fmla="*/ 95 h 95"/>
                <a:gd name="T6" fmla="*/ 0 w 140"/>
                <a:gd name="T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0" h="95">
                  <a:moveTo>
                    <a:pt x="0" y="0"/>
                  </a:moveTo>
                  <a:lnTo>
                    <a:pt x="140" y="47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2001" name="Rectangle 33"/>
            <p:cNvSpPr>
              <a:spLocks noChangeArrowheads="1"/>
            </p:cNvSpPr>
            <p:nvPr/>
          </p:nvSpPr>
          <p:spPr bwMode="auto">
            <a:xfrm>
              <a:off x="1990" y="1746"/>
              <a:ext cx="310" cy="17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zh-CN" altLang="en-US" b="1" dirty="0">
                  <a:latin typeface="宋体" charset="-122"/>
                </a:rPr>
                <a:t>调用</a:t>
              </a:r>
              <a:endParaRPr lang="zh-CN" altLang="en-US" sz="3600" dirty="0">
                <a:latin typeface="Tahoma" pitchFamily="34" charset="0"/>
              </a:endParaRPr>
            </a:p>
          </p:txBody>
        </p:sp>
        <p:sp>
          <p:nvSpPr>
            <p:cNvPr id="852002" name="Line 34"/>
            <p:cNvSpPr>
              <a:spLocks noChangeShapeType="1"/>
            </p:cNvSpPr>
            <p:nvPr/>
          </p:nvSpPr>
          <p:spPr bwMode="auto">
            <a:xfrm>
              <a:off x="3195" y="2159"/>
              <a:ext cx="320" cy="1"/>
            </a:xfrm>
            <a:prstGeom prst="line">
              <a:avLst/>
            </a:prstGeom>
            <a:noFill/>
            <a:ln w="33338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2003" name="Freeform 35"/>
            <p:cNvSpPr>
              <a:spLocks/>
            </p:cNvSpPr>
            <p:nvPr/>
          </p:nvSpPr>
          <p:spPr bwMode="auto">
            <a:xfrm>
              <a:off x="3503" y="2112"/>
              <a:ext cx="139" cy="95"/>
            </a:xfrm>
            <a:custGeom>
              <a:avLst/>
              <a:gdLst>
                <a:gd name="T0" fmla="*/ 0 w 139"/>
                <a:gd name="T1" fmla="*/ 0 h 95"/>
                <a:gd name="T2" fmla="*/ 139 w 139"/>
                <a:gd name="T3" fmla="*/ 47 h 95"/>
                <a:gd name="T4" fmla="*/ 0 w 139"/>
                <a:gd name="T5" fmla="*/ 95 h 95"/>
                <a:gd name="T6" fmla="*/ 0 w 139"/>
                <a:gd name="T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95">
                  <a:moveTo>
                    <a:pt x="0" y="0"/>
                  </a:moveTo>
                  <a:lnTo>
                    <a:pt x="139" y="47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2004" name="Rectangle 36"/>
            <p:cNvSpPr>
              <a:spLocks noChangeArrowheads="1"/>
            </p:cNvSpPr>
            <p:nvPr/>
          </p:nvSpPr>
          <p:spPr bwMode="auto">
            <a:xfrm>
              <a:off x="3234" y="2018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zh-CN" altLang="en-US" sz="1500" b="1">
                  <a:latin typeface="宋体" charset="-122"/>
                </a:rPr>
                <a:t>调用</a:t>
              </a:r>
              <a:endParaRPr lang="zh-CN" altLang="en-US" sz="3000">
                <a:latin typeface="Tahoma" pitchFamily="34" charset="0"/>
              </a:endParaRPr>
            </a:p>
          </p:txBody>
        </p:sp>
        <p:sp>
          <p:nvSpPr>
            <p:cNvPr id="852005" name="Freeform 37"/>
            <p:cNvSpPr>
              <a:spLocks/>
            </p:cNvSpPr>
            <p:nvPr/>
          </p:nvSpPr>
          <p:spPr bwMode="auto">
            <a:xfrm>
              <a:off x="3695" y="2254"/>
              <a:ext cx="308" cy="316"/>
            </a:xfrm>
            <a:custGeom>
              <a:avLst/>
              <a:gdLst>
                <a:gd name="T0" fmla="*/ 1 w 308"/>
                <a:gd name="T1" fmla="*/ 131 h 316"/>
                <a:gd name="T2" fmla="*/ 8 w 308"/>
                <a:gd name="T3" fmla="*/ 104 h 316"/>
                <a:gd name="T4" fmla="*/ 19 w 308"/>
                <a:gd name="T5" fmla="*/ 80 h 316"/>
                <a:gd name="T6" fmla="*/ 35 w 308"/>
                <a:gd name="T7" fmla="*/ 57 h 316"/>
                <a:gd name="T8" fmla="*/ 54 w 308"/>
                <a:gd name="T9" fmla="*/ 37 h 316"/>
                <a:gd name="T10" fmla="*/ 75 w 308"/>
                <a:gd name="T11" fmla="*/ 21 h 316"/>
                <a:gd name="T12" fmla="*/ 100 w 308"/>
                <a:gd name="T13" fmla="*/ 10 h 316"/>
                <a:gd name="T14" fmla="*/ 126 w 308"/>
                <a:gd name="T15" fmla="*/ 3 h 316"/>
                <a:gd name="T16" fmla="*/ 153 w 308"/>
                <a:gd name="T17" fmla="*/ 0 h 316"/>
                <a:gd name="T18" fmla="*/ 179 w 308"/>
                <a:gd name="T19" fmla="*/ 2 h 316"/>
                <a:gd name="T20" fmla="*/ 205 w 308"/>
                <a:gd name="T21" fmla="*/ 9 h 316"/>
                <a:gd name="T22" fmla="*/ 230 w 308"/>
                <a:gd name="T23" fmla="*/ 21 h 316"/>
                <a:gd name="T24" fmla="*/ 252 w 308"/>
                <a:gd name="T25" fmla="*/ 36 h 316"/>
                <a:gd name="T26" fmla="*/ 271 w 308"/>
                <a:gd name="T27" fmla="*/ 55 h 316"/>
                <a:gd name="T28" fmla="*/ 286 w 308"/>
                <a:gd name="T29" fmla="*/ 77 h 316"/>
                <a:gd name="T30" fmla="*/ 298 w 308"/>
                <a:gd name="T31" fmla="*/ 103 h 316"/>
                <a:gd name="T32" fmla="*/ 305 w 308"/>
                <a:gd name="T33" fmla="*/ 130 h 316"/>
                <a:gd name="T34" fmla="*/ 308 w 308"/>
                <a:gd name="T35" fmla="*/ 157 h 316"/>
                <a:gd name="T36" fmla="*/ 305 w 308"/>
                <a:gd name="T37" fmla="*/ 184 h 316"/>
                <a:gd name="T38" fmla="*/ 298 w 308"/>
                <a:gd name="T39" fmla="*/ 211 h 316"/>
                <a:gd name="T40" fmla="*/ 288 w 308"/>
                <a:gd name="T41" fmla="*/ 236 h 316"/>
                <a:gd name="T42" fmla="*/ 272 w 308"/>
                <a:gd name="T43" fmla="*/ 258 h 316"/>
                <a:gd name="T44" fmla="*/ 253 w 308"/>
                <a:gd name="T45" fmla="*/ 278 h 316"/>
                <a:gd name="T46" fmla="*/ 231 w 308"/>
                <a:gd name="T47" fmla="*/ 294 h 316"/>
                <a:gd name="T48" fmla="*/ 208 w 308"/>
                <a:gd name="T49" fmla="*/ 306 h 316"/>
                <a:gd name="T50" fmla="*/ 181 w 308"/>
                <a:gd name="T51" fmla="*/ 313 h 316"/>
                <a:gd name="T52" fmla="*/ 155 w 308"/>
                <a:gd name="T53" fmla="*/ 316 h 316"/>
                <a:gd name="T54" fmla="*/ 128 w 308"/>
                <a:gd name="T55" fmla="*/ 313 h 316"/>
                <a:gd name="T56" fmla="*/ 101 w 308"/>
                <a:gd name="T57" fmla="*/ 306 h 316"/>
                <a:gd name="T58" fmla="*/ 78 w 308"/>
                <a:gd name="T59" fmla="*/ 295 h 316"/>
                <a:gd name="T60" fmla="*/ 55 w 308"/>
                <a:gd name="T61" fmla="*/ 279 h 316"/>
                <a:gd name="T62" fmla="*/ 36 w 308"/>
                <a:gd name="T63" fmla="*/ 259 h 316"/>
                <a:gd name="T64" fmla="*/ 20 w 308"/>
                <a:gd name="T65" fmla="*/ 237 h 316"/>
                <a:gd name="T66" fmla="*/ 9 w 308"/>
                <a:gd name="T67" fmla="*/ 213 h 316"/>
                <a:gd name="T68" fmla="*/ 2 w 308"/>
                <a:gd name="T69" fmla="*/ 186 h 316"/>
                <a:gd name="T70" fmla="*/ 0 w 308"/>
                <a:gd name="T71" fmla="*/ 159 h 316"/>
                <a:gd name="T72" fmla="*/ 1 w 308"/>
                <a:gd name="T73" fmla="*/ 131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08" h="316">
                  <a:moveTo>
                    <a:pt x="1" y="131"/>
                  </a:moveTo>
                  <a:lnTo>
                    <a:pt x="8" y="104"/>
                  </a:lnTo>
                  <a:lnTo>
                    <a:pt x="19" y="80"/>
                  </a:lnTo>
                  <a:lnTo>
                    <a:pt x="35" y="57"/>
                  </a:lnTo>
                  <a:lnTo>
                    <a:pt x="54" y="37"/>
                  </a:lnTo>
                  <a:lnTo>
                    <a:pt x="75" y="21"/>
                  </a:lnTo>
                  <a:lnTo>
                    <a:pt x="100" y="10"/>
                  </a:lnTo>
                  <a:lnTo>
                    <a:pt x="126" y="3"/>
                  </a:lnTo>
                  <a:lnTo>
                    <a:pt x="153" y="0"/>
                  </a:lnTo>
                  <a:lnTo>
                    <a:pt x="179" y="2"/>
                  </a:lnTo>
                  <a:lnTo>
                    <a:pt x="205" y="9"/>
                  </a:lnTo>
                  <a:lnTo>
                    <a:pt x="230" y="21"/>
                  </a:lnTo>
                  <a:lnTo>
                    <a:pt x="252" y="36"/>
                  </a:lnTo>
                  <a:lnTo>
                    <a:pt x="271" y="55"/>
                  </a:lnTo>
                  <a:lnTo>
                    <a:pt x="286" y="77"/>
                  </a:lnTo>
                  <a:lnTo>
                    <a:pt x="298" y="103"/>
                  </a:lnTo>
                  <a:lnTo>
                    <a:pt x="305" y="130"/>
                  </a:lnTo>
                  <a:lnTo>
                    <a:pt x="308" y="157"/>
                  </a:lnTo>
                  <a:lnTo>
                    <a:pt x="305" y="184"/>
                  </a:lnTo>
                  <a:lnTo>
                    <a:pt x="298" y="211"/>
                  </a:lnTo>
                  <a:lnTo>
                    <a:pt x="288" y="236"/>
                  </a:lnTo>
                  <a:lnTo>
                    <a:pt x="272" y="258"/>
                  </a:lnTo>
                  <a:lnTo>
                    <a:pt x="253" y="278"/>
                  </a:lnTo>
                  <a:lnTo>
                    <a:pt x="231" y="294"/>
                  </a:lnTo>
                  <a:lnTo>
                    <a:pt x="208" y="306"/>
                  </a:lnTo>
                  <a:lnTo>
                    <a:pt x="181" y="313"/>
                  </a:lnTo>
                  <a:lnTo>
                    <a:pt x="155" y="316"/>
                  </a:lnTo>
                  <a:lnTo>
                    <a:pt x="128" y="313"/>
                  </a:lnTo>
                  <a:lnTo>
                    <a:pt x="101" y="306"/>
                  </a:lnTo>
                  <a:lnTo>
                    <a:pt x="78" y="295"/>
                  </a:lnTo>
                  <a:lnTo>
                    <a:pt x="55" y="279"/>
                  </a:lnTo>
                  <a:lnTo>
                    <a:pt x="36" y="259"/>
                  </a:lnTo>
                  <a:lnTo>
                    <a:pt x="20" y="237"/>
                  </a:lnTo>
                  <a:lnTo>
                    <a:pt x="9" y="213"/>
                  </a:lnTo>
                  <a:lnTo>
                    <a:pt x="2" y="186"/>
                  </a:lnTo>
                  <a:lnTo>
                    <a:pt x="0" y="159"/>
                  </a:lnTo>
                  <a:lnTo>
                    <a:pt x="1" y="131"/>
                  </a:lnTo>
                </a:path>
              </a:pathLst>
            </a:custGeom>
            <a:noFill/>
            <a:ln w="33338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2006" name="Freeform 38"/>
            <p:cNvSpPr>
              <a:spLocks/>
            </p:cNvSpPr>
            <p:nvPr/>
          </p:nvSpPr>
          <p:spPr bwMode="auto">
            <a:xfrm>
              <a:off x="2928" y="2518"/>
              <a:ext cx="815" cy="237"/>
            </a:xfrm>
            <a:custGeom>
              <a:avLst/>
              <a:gdLst>
                <a:gd name="T0" fmla="*/ 808 w 815"/>
                <a:gd name="T1" fmla="*/ 0 h 237"/>
                <a:gd name="T2" fmla="*/ 812 w 815"/>
                <a:gd name="T3" fmla="*/ 34 h 237"/>
                <a:gd name="T4" fmla="*/ 815 w 815"/>
                <a:gd name="T5" fmla="*/ 66 h 237"/>
                <a:gd name="T6" fmla="*/ 813 w 815"/>
                <a:gd name="T7" fmla="*/ 95 h 237"/>
                <a:gd name="T8" fmla="*/ 810 w 815"/>
                <a:gd name="T9" fmla="*/ 122 h 237"/>
                <a:gd name="T10" fmla="*/ 803 w 815"/>
                <a:gd name="T11" fmla="*/ 146 h 237"/>
                <a:gd name="T12" fmla="*/ 793 w 815"/>
                <a:gd name="T13" fmla="*/ 166 h 237"/>
                <a:gd name="T14" fmla="*/ 781 w 815"/>
                <a:gd name="T15" fmla="*/ 185 h 237"/>
                <a:gd name="T16" fmla="*/ 766 w 815"/>
                <a:gd name="T17" fmla="*/ 200 h 237"/>
                <a:gd name="T18" fmla="*/ 748 w 815"/>
                <a:gd name="T19" fmla="*/ 213 h 237"/>
                <a:gd name="T20" fmla="*/ 728 w 815"/>
                <a:gd name="T21" fmla="*/ 222 h 237"/>
                <a:gd name="T22" fmla="*/ 704 w 815"/>
                <a:gd name="T23" fmla="*/ 230 h 237"/>
                <a:gd name="T24" fmla="*/ 676 w 815"/>
                <a:gd name="T25" fmla="*/ 235 h 237"/>
                <a:gd name="T26" fmla="*/ 648 w 815"/>
                <a:gd name="T27" fmla="*/ 237 h 237"/>
                <a:gd name="T28" fmla="*/ 614 w 815"/>
                <a:gd name="T29" fmla="*/ 236 h 237"/>
                <a:gd name="T30" fmla="*/ 580 w 815"/>
                <a:gd name="T31" fmla="*/ 232 h 237"/>
                <a:gd name="T32" fmla="*/ 541 w 815"/>
                <a:gd name="T33" fmla="*/ 226 h 237"/>
                <a:gd name="T34" fmla="*/ 500 w 815"/>
                <a:gd name="T35" fmla="*/ 218 h 237"/>
                <a:gd name="T36" fmla="*/ 456 w 815"/>
                <a:gd name="T37" fmla="*/ 207 h 237"/>
                <a:gd name="T38" fmla="*/ 409 w 815"/>
                <a:gd name="T39" fmla="*/ 192 h 237"/>
                <a:gd name="T40" fmla="*/ 359 w 815"/>
                <a:gd name="T41" fmla="*/ 175 h 237"/>
                <a:gd name="T42" fmla="*/ 306 w 815"/>
                <a:gd name="T43" fmla="*/ 155 h 237"/>
                <a:gd name="T44" fmla="*/ 251 w 815"/>
                <a:gd name="T45" fmla="*/ 132 h 237"/>
                <a:gd name="T46" fmla="*/ 193 w 815"/>
                <a:gd name="T47" fmla="*/ 108 h 237"/>
                <a:gd name="T48" fmla="*/ 131 w 815"/>
                <a:gd name="T49" fmla="*/ 80 h 237"/>
                <a:gd name="T50" fmla="*/ 68 w 815"/>
                <a:gd name="T51" fmla="*/ 49 h 237"/>
                <a:gd name="T52" fmla="*/ 0 w 815"/>
                <a:gd name="T53" fmla="*/ 16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15" h="237">
                  <a:moveTo>
                    <a:pt x="808" y="0"/>
                  </a:moveTo>
                  <a:lnTo>
                    <a:pt x="812" y="34"/>
                  </a:lnTo>
                  <a:lnTo>
                    <a:pt x="815" y="66"/>
                  </a:lnTo>
                  <a:lnTo>
                    <a:pt x="813" y="95"/>
                  </a:lnTo>
                  <a:lnTo>
                    <a:pt x="810" y="122"/>
                  </a:lnTo>
                  <a:lnTo>
                    <a:pt x="803" y="146"/>
                  </a:lnTo>
                  <a:lnTo>
                    <a:pt x="793" y="166"/>
                  </a:lnTo>
                  <a:lnTo>
                    <a:pt x="781" y="185"/>
                  </a:lnTo>
                  <a:lnTo>
                    <a:pt x="766" y="200"/>
                  </a:lnTo>
                  <a:lnTo>
                    <a:pt x="748" y="213"/>
                  </a:lnTo>
                  <a:lnTo>
                    <a:pt x="728" y="222"/>
                  </a:lnTo>
                  <a:lnTo>
                    <a:pt x="704" y="230"/>
                  </a:lnTo>
                  <a:lnTo>
                    <a:pt x="676" y="235"/>
                  </a:lnTo>
                  <a:lnTo>
                    <a:pt x="648" y="237"/>
                  </a:lnTo>
                  <a:lnTo>
                    <a:pt x="614" y="236"/>
                  </a:lnTo>
                  <a:lnTo>
                    <a:pt x="580" y="232"/>
                  </a:lnTo>
                  <a:lnTo>
                    <a:pt x="541" y="226"/>
                  </a:lnTo>
                  <a:lnTo>
                    <a:pt x="500" y="218"/>
                  </a:lnTo>
                  <a:lnTo>
                    <a:pt x="456" y="207"/>
                  </a:lnTo>
                  <a:lnTo>
                    <a:pt x="409" y="192"/>
                  </a:lnTo>
                  <a:lnTo>
                    <a:pt x="359" y="175"/>
                  </a:lnTo>
                  <a:lnTo>
                    <a:pt x="306" y="155"/>
                  </a:lnTo>
                  <a:lnTo>
                    <a:pt x="251" y="132"/>
                  </a:lnTo>
                  <a:lnTo>
                    <a:pt x="193" y="108"/>
                  </a:lnTo>
                  <a:lnTo>
                    <a:pt x="131" y="80"/>
                  </a:lnTo>
                  <a:lnTo>
                    <a:pt x="68" y="49"/>
                  </a:lnTo>
                  <a:lnTo>
                    <a:pt x="0" y="16"/>
                  </a:lnTo>
                </a:path>
              </a:pathLst>
            </a:custGeom>
            <a:noFill/>
            <a:ln w="33338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2007" name="Freeform 39"/>
            <p:cNvSpPr>
              <a:spLocks/>
            </p:cNvSpPr>
            <p:nvPr/>
          </p:nvSpPr>
          <p:spPr bwMode="auto">
            <a:xfrm>
              <a:off x="2831" y="2484"/>
              <a:ext cx="124" cy="90"/>
            </a:xfrm>
            <a:custGeom>
              <a:avLst/>
              <a:gdLst>
                <a:gd name="T0" fmla="*/ 88 w 124"/>
                <a:gd name="T1" fmla="*/ 90 h 90"/>
                <a:gd name="T2" fmla="*/ 0 w 124"/>
                <a:gd name="T3" fmla="*/ 0 h 90"/>
                <a:gd name="T4" fmla="*/ 124 w 124"/>
                <a:gd name="T5" fmla="*/ 18 h 90"/>
                <a:gd name="T6" fmla="*/ 88 w 124"/>
                <a:gd name="T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90">
                  <a:moveTo>
                    <a:pt x="88" y="90"/>
                  </a:moveTo>
                  <a:lnTo>
                    <a:pt x="0" y="0"/>
                  </a:lnTo>
                  <a:lnTo>
                    <a:pt x="124" y="18"/>
                  </a:lnTo>
                  <a:lnTo>
                    <a:pt x="88" y="9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2008" name="Freeform 40"/>
            <p:cNvSpPr>
              <a:spLocks/>
            </p:cNvSpPr>
            <p:nvPr/>
          </p:nvSpPr>
          <p:spPr bwMode="auto">
            <a:xfrm>
              <a:off x="1552" y="2560"/>
              <a:ext cx="846" cy="343"/>
            </a:xfrm>
            <a:custGeom>
              <a:avLst/>
              <a:gdLst>
                <a:gd name="T0" fmla="*/ 846 w 846"/>
                <a:gd name="T1" fmla="*/ 217 h 343"/>
                <a:gd name="T2" fmla="*/ 811 w 846"/>
                <a:gd name="T3" fmla="*/ 245 h 343"/>
                <a:gd name="T4" fmla="*/ 776 w 846"/>
                <a:gd name="T5" fmla="*/ 270 h 343"/>
                <a:gd name="T6" fmla="*/ 740 w 846"/>
                <a:gd name="T7" fmla="*/ 292 h 343"/>
                <a:gd name="T8" fmla="*/ 704 w 846"/>
                <a:gd name="T9" fmla="*/ 309 h 343"/>
                <a:gd name="T10" fmla="*/ 668 w 846"/>
                <a:gd name="T11" fmla="*/ 323 h 343"/>
                <a:gd name="T12" fmla="*/ 631 w 846"/>
                <a:gd name="T13" fmla="*/ 333 h 343"/>
                <a:gd name="T14" fmla="*/ 594 w 846"/>
                <a:gd name="T15" fmla="*/ 340 h 343"/>
                <a:gd name="T16" fmla="*/ 557 w 846"/>
                <a:gd name="T17" fmla="*/ 343 h 343"/>
                <a:gd name="T18" fmla="*/ 519 w 846"/>
                <a:gd name="T19" fmla="*/ 343 h 343"/>
                <a:gd name="T20" fmla="*/ 482 w 846"/>
                <a:gd name="T21" fmla="*/ 338 h 343"/>
                <a:gd name="T22" fmla="*/ 444 w 846"/>
                <a:gd name="T23" fmla="*/ 329 h 343"/>
                <a:gd name="T24" fmla="*/ 404 w 846"/>
                <a:gd name="T25" fmla="*/ 318 h 343"/>
                <a:gd name="T26" fmla="*/ 366 w 846"/>
                <a:gd name="T27" fmla="*/ 303 h 343"/>
                <a:gd name="T28" fmla="*/ 327 w 846"/>
                <a:gd name="T29" fmla="*/ 284 h 343"/>
                <a:gd name="T30" fmla="*/ 286 w 846"/>
                <a:gd name="T31" fmla="*/ 261 h 343"/>
                <a:gd name="T32" fmla="*/ 247 w 846"/>
                <a:gd name="T33" fmla="*/ 235 h 343"/>
                <a:gd name="T34" fmla="*/ 206 w 846"/>
                <a:gd name="T35" fmla="*/ 205 h 343"/>
                <a:gd name="T36" fmla="*/ 166 w 846"/>
                <a:gd name="T37" fmla="*/ 171 h 343"/>
                <a:gd name="T38" fmla="*/ 125 w 846"/>
                <a:gd name="T39" fmla="*/ 134 h 343"/>
                <a:gd name="T40" fmla="*/ 83 w 846"/>
                <a:gd name="T41" fmla="*/ 93 h 343"/>
                <a:gd name="T42" fmla="*/ 42 w 846"/>
                <a:gd name="T43" fmla="*/ 49 h 343"/>
                <a:gd name="T44" fmla="*/ 0 w 846"/>
                <a:gd name="T45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46" h="343">
                  <a:moveTo>
                    <a:pt x="846" y="217"/>
                  </a:moveTo>
                  <a:lnTo>
                    <a:pt x="811" y="245"/>
                  </a:lnTo>
                  <a:lnTo>
                    <a:pt x="776" y="270"/>
                  </a:lnTo>
                  <a:lnTo>
                    <a:pt x="740" y="292"/>
                  </a:lnTo>
                  <a:lnTo>
                    <a:pt x="704" y="309"/>
                  </a:lnTo>
                  <a:lnTo>
                    <a:pt x="668" y="323"/>
                  </a:lnTo>
                  <a:lnTo>
                    <a:pt x="631" y="333"/>
                  </a:lnTo>
                  <a:lnTo>
                    <a:pt x="594" y="340"/>
                  </a:lnTo>
                  <a:lnTo>
                    <a:pt x="557" y="343"/>
                  </a:lnTo>
                  <a:lnTo>
                    <a:pt x="519" y="343"/>
                  </a:lnTo>
                  <a:lnTo>
                    <a:pt x="482" y="338"/>
                  </a:lnTo>
                  <a:lnTo>
                    <a:pt x="444" y="329"/>
                  </a:lnTo>
                  <a:lnTo>
                    <a:pt x="404" y="318"/>
                  </a:lnTo>
                  <a:lnTo>
                    <a:pt x="366" y="303"/>
                  </a:lnTo>
                  <a:lnTo>
                    <a:pt x="327" y="284"/>
                  </a:lnTo>
                  <a:lnTo>
                    <a:pt x="286" y="261"/>
                  </a:lnTo>
                  <a:lnTo>
                    <a:pt x="247" y="235"/>
                  </a:lnTo>
                  <a:lnTo>
                    <a:pt x="206" y="205"/>
                  </a:lnTo>
                  <a:lnTo>
                    <a:pt x="166" y="171"/>
                  </a:lnTo>
                  <a:lnTo>
                    <a:pt x="125" y="134"/>
                  </a:lnTo>
                  <a:lnTo>
                    <a:pt x="83" y="93"/>
                  </a:lnTo>
                  <a:lnTo>
                    <a:pt x="42" y="49"/>
                  </a:lnTo>
                  <a:lnTo>
                    <a:pt x="0" y="0"/>
                  </a:lnTo>
                </a:path>
              </a:pathLst>
            </a:custGeom>
            <a:noFill/>
            <a:ln w="33338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2009" name="Freeform 41"/>
            <p:cNvSpPr>
              <a:spLocks/>
            </p:cNvSpPr>
            <p:nvPr/>
          </p:nvSpPr>
          <p:spPr bwMode="auto">
            <a:xfrm>
              <a:off x="1483" y="2474"/>
              <a:ext cx="106" cy="119"/>
            </a:xfrm>
            <a:custGeom>
              <a:avLst/>
              <a:gdLst>
                <a:gd name="T0" fmla="*/ 45 w 106"/>
                <a:gd name="T1" fmla="*/ 119 h 119"/>
                <a:gd name="T2" fmla="*/ 0 w 106"/>
                <a:gd name="T3" fmla="*/ 0 h 119"/>
                <a:gd name="T4" fmla="*/ 106 w 106"/>
                <a:gd name="T5" fmla="*/ 69 h 119"/>
                <a:gd name="T6" fmla="*/ 45 w 106"/>
                <a:gd name="T7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" h="119">
                  <a:moveTo>
                    <a:pt x="45" y="119"/>
                  </a:moveTo>
                  <a:lnTo>
                    <a:pt x="0" y="0"/>
                  </a:lnTo>
                  <a:lnTo>
                    <a:pt x="106" y="69"/>
                  </a:lnTo>
                  <a:lnTo>
                    <a:pt x="45" y="119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51958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874964" y="385889"/>
            <a:ext cx="7793037" cy="1143000"/>
          </a:xfrm>
        </p:spPr>
        <p:txBody>
          <a:bodyPr/>
          <a:lstStyle/>
          <a:p>
            <a:r>
              <a:rPr lang="zh-CN" altLang="zh-CN" dirty="0"/>
              <a:t>斐波拉契数列</a:t>
            </a:r>
            <a:endParaRPr lang="zh-CN" altLang="en-US" dirty="0">
              <a:latin typeface="华文新魏" pitchFamily="2" charset="-122"/>
            </a:endParaRPr>
          </a:p>
        </p:txBody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使用递归方法计算斐波拉契数列。</a:t>
            </a:r>
          </a:p>
          <a:p>
            <a:pPr lvl="1">
              <a:buFont typeface="Wingdings" pitchFamily="2" charset="2"/>
              <a:buNone/>
            </a:pPr>
            <a:r>
              <a:rPr lang="zh-CN" altLang="zh-CN"/>
              <a:t>	</a:t>
            </a:r>
            <a:r>
              <a:rPr lang="zh-CN" altLang="zh-CN">
                <a:solidFill>
                  <a:srgbClr val="FF00FF"/>
                </a:solidFill>
                <a:latin typeface="Courier New" pitchFamily="49" charset="0"/>
              </a:rPr>
              <a:t>0 1 </a:t>
            </a:r>
            <a:r>
              <a:rPr lang="zh-CN" altLang="zh-CN" dirty="0">
                <a:solidFill>
                  <a:srgbClr val="FF00FF"/>
                </a:solidFill>
                <a:latin typeface="Courier New" pitchFamily="49" charset="0"/>
              </a:rPr>
              <a:t>1 2 3 5 8 …</a:t>
            </a:r>
          </a:p>
          <a:p>
            <a:pPr lvl="1"/>
            <a:r>
              <a:rPr lang="zh-CN" altLang="zh-CN" dirty="0"/>
              <a:t>分析</a:t>
            </a:r>
          </a:p>
          <a:p>
            <a:pPr lvl="2"/>
            <a:r>
              <a:rPr lang="zh-CN" altLang="zh-CN" dirty="0"/>
              <a:t>从第三个数开始，每个数是前两个数的和。</a:t>
            </a:r>
          </a:p>
          <a:p>
            <a:pPr lvl="2"/>
            <a:r>
              <a:rPr lang="zh-CN" altLang="zh-CN" dirty="0"/>
              <a:t>第一、二个数是确定的。</a:t>
            </a:r>
          </a:p>
          <a:p>
            <a:pPr lvl="1"/>
            <a:r>
              <a:rPr lang="zh-CN" altLang="zh-CN" dirty="0"/>
              <a:t>递归公式</a:t>
            </a:r>
          </a:p>
          <a:p>
            <a:pPr lvl="2"/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fib(n) = fib(n-1) + fib(n-2)</a:t>
            </a:r>
          </a:p>
          <a:p>
            <a:pPr lvl="2"/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fib(1) = 0</a:t>
            </a:r>
          </a:p>
          <a:p>
            <a:pPr lvl="2"/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fib(2) = 1</a:t>
            </a:r>
            <a:endParaRPr lang="en-US" altLang="zh-C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5972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DC78462-7642-4F12-AA45-94E734FEB1CE}"/>
              </a:ext>
            </a:extLst>
          </p:cNvPr>
          <p:cNvSpPr txBox="1"/>
          <p:nvPr/>
        </p:nvSpPr>
        <p:spPr>
          <a:xfrm>
            <a:off x="2063552" y="116632"/>
            <a:ext cx="9793088" cy="5509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"%d,%d,%d\n"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,fib(1),fib(2),fib(4));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fib(</a:t>
            </a:r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if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(n==1) </a:t>
            </a:r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return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if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(n==2) </a:t>
            </a:r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return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1;</a:t>
            </a:r>
          </a:p>
          <a:p>
            <a:r>
              <a:rPr lang="pt-BR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return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fib(n-2)+fib(n-1);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59578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D055C-F084-456B-93BF-D010B05952C8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874964" y="187451"/>
            <a:ext cx="7793037" cy="1143000"/>
          </a:xfrm>
        </p:spPr>
        <p:txBody>
          <a:bodyPr/>
          <a:lstStyle/>
          <a:p>
            <a:r>
              <a:rPr lang="zh-CN" altLang="en-US" dirty="0">
                <a:latin typeface="华文新魏" pitchFamily="2" charset="-122"/>
              </a:rPr>
              <a:t>递归与循环</a:t>
            </a:r>
            <a:r>
              <a:rPr lang="en-US" altLang="zh-CN" dirty="0">
                <a:latin typeface="华文新魏" pitchFamily="2" charset="-122"/>
              </a:rPr>
              <a:t>(</a:t>
            </a:r>
            <a:r>
              <a:rPr lang="zh-CN" altLang="en-US" dirty="0">
                <a:latin typeface="华文新魏" pitchFamily="2" charset="-122"/>
              </a:rPr>
              <a:t>迭代</a:t>
            </a:r>
            <a:r>
              <a:rPr lang="en-US" altLang="zh-CN" dirty="0">
                <a:latin typeface="华文新魏" pitchFamily="2" charset="-122"/>
              </a:rPr>
              <a:t>)</a:t>
            </a:r>
            <a:endParaRPr lang="zh-CN" altLang="en-US" dirty="0">
              <a:latin typeface="华文新魏" pitchFamily="2" charset="-122"/>
            </a:endParaRPr>
          </a:p>
        </p:txBody>
      </p:sp>
      <p:sp>
        <p:nvSpPr>
          <p:cNvPr id="71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6160" y="1484784"/>
            <a:ext cx="7772400" cy="5373216"/>
          </a:xfrm>
        </p:spPr>
        <p:txBody>
          <a:bodyPr/>
          <a:lstStyle/>
          <a:p>
            <a:r>
              <a:rPr lang="zh-CN" altLang="en-US" sz="4000" dirty="0"/>
              <a:t>重复</a:t>
            </a:r>
            <a:endParaRPr lang="zh-CN" altLang="zh-CN" sz="4000" dirty="0"/>
          </a:p>
          <a:p>
            <a:pPr lvl="1"/>
            <a:r>
              <a:rPr lang="zh-CN" altLang="en-US" sz="3600" dirty="0"/>
              <a:t>循环</a:t>
            </a:r>
            <a:r>
              <a:rPr lang="zh-CN" altLang="zh-CN" sz="3600" dirty="0"/>
              <a:t>：</a:t>
            </a:r>
            <a:r>
              <a:rPr lang="zh-CN" altLang="en-US" sz="3600" dirty="0"/>
              <a:t>重复执行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体</a:t>
            </a:r>
            <a:endParaRPr lang="zh-CN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zh-CN" sz="3600" dirty="0"/>
              <a:t>递归</a:t>
            </a:r>
            <a:r>
              <a:rPr lang="zh-CN" altLang="zh-CN" sz="3600"/>
              <a:t>：重复</a:t>
            </a:r>
            <a:r>
              <a:rPr lang="zh-CN" altLang="en-US" sz="3600"/>
              <a:t>执行</a:t>
            </a:r>
            <a:r>
              <a:rPr lang="zh-CN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体</a:t>
            </a:r>
            <a:endParaRPr lang="zh-CN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zh-CN" sz="4000" dirty="0"/>
              <a:t>终止条件</a:t>
            </a:r>
          </a:p>
          <a:p>
            <a:pPr lvl="1"/>
            <a:r>
              <a:rPr lang="zh-CN" altLang="en-US" sz="3600" dirty="0"/>
              <a:t>循环</a:t>
            </a:r>
            <a:r>
              <a:rPr lang="zh-CN" altLang="zh-CN" sz="3600" dirty="0"/>
              <a:t>：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循环条件不满足</a:t>
            </a:r>
          </a:p>
          <a:p>
            <a:pPr lvl="1"/>
            <a:r>
              <a:rPr lang="zh-CN" altLang="zh-CN" sz="3600" dirty="0"/>
              <a:t>递归：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遇到 </a:t>
            </a: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终止值</a:t>
            </a:r>
            <a:endParaRPr lang="zh-CN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616701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D055C-F084-456B-93BF-D010B05952C8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874964" y="187451"/>
            <a:ext cx="7793037" cy="1143000"/>
          </a:xfrm>
        </p:spPr>
        <p:txBody>
          <a:bodyPr/>
          <a:lstStyle/>
          <a:p>
            <a:r>
              <a:rPr lang="zh-CN" altLang="en-US" dirty="0">
                <a:latin typeface="华文新魏" pitchFamily="2" charset="-122"/>
              </a:rPr>
              <a:t>递归与循环</a:t>
            </a:r>
            <a:r>
              <a:rPr lang="en-US" altLang="zh-CN" dirty="0">
                <a:latin typeface="华文新魏" pitchFamily="2" charset="-122"/>
              </a:rPr>
              <a:t>(</a:t>
            </a:r>
            <a:r>
              <a:rPr lang="zh-CN" altLang="en-US" dirty="0">
                <a:latin typeface="华文新魏" pitchFamily="2" charset="-122"/>
              </a:rPr>
              <a:t>迭代</a:t>
            </a:r>
            <a:r>
              <a:rPr lang="en-US" altLang="zh-CN" dirty="0">
                <a:latin typeface="华文新魏" pitchFamily="2" charset="-122"/>
              </a:rPr>
              <a:t>)</a:t>
            </a:r>
            <a:endParaRPr lang="zh-CN" altLang="en-US" dirty="0">
              <a:latin typeface="华文新魏" pitchFamily="2" charset="-122"/>
            </a:endParaRPr>
          </a:p>
        </p:txBody>
      </p:sp>
      <p:sp>
        <p:nvSpPr>
          <p:cNvPr id="71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6160" y="1484784"/>
            <a:ext cx="7772400" cy="5373216"/>
          </a:xfrm>
        </p:spPr>
        <p:txBody>
          <a:bodyPr/>
          <a:lstStyle/>
          <a:p>
            <a:r>
              <a:rPr lang="zh-CN" altLang="zh-CN" sz="4400"/>
              <a:t>都</a:t>
            </a:r>
            <a:r>
              <a:rPr lang="zh-CN" altLang="zh-CN" sz="4400" dirty="0"/>
              <a:t>有可能出现无限循环</a:t>
            </a:r>
          </a:p>
          <a:p>
            <a:r>
              <a:rPr lang="zh-CN" altLang="zh-CN" sz="4400" dirty="0"/>
              <a:t>如何选择</a:t>
            </a:r>
          </a:p>
          <a:p>
            <a:pPr lvl="1"/>
            <a:r>
              <a:rPr lang="zh-CN" altLang="en-US" sz="4000" dirty="0"/>
              <a:t>循环</a:t>
            </a:r>
            <a:r>
              <a:rPr lang="zh-CN" altLang="zh-CN" sz="4000" dirty="0"/>
              <a:t>：</a:t>
            </a:r>
            <a:r>
              <a:rPr lang="zh-CN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性能好</a:t>
            </a:r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速度快</a:t>
            </a:r>
            <a:endParaRPr lang="zh-CN" altLang="zh-CN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zh-CN" sz="4000" dirty="0"/>
              <a:t>递归：</a:t>
            </a:r>
            <a:r>
              <a:rPr lang="zh-CN" altLang="zh-CN" sz="4000" dirty="0">
                <a:solidFill>
                  <a:srgbClr val="FF0000"/>
                </a:solidFill>
              </a:rPr>
              <a:t>可读性好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007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0CE3971-9ADA-FD85-CB22-9C268010B15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21644" y="1064899"/>
            <a:ext cx="7002025" cy="5355904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以下程序的运行结果是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void f(int a, int b)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  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int 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t=a; a=b; b=t;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  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int x=1, 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y=2, z=3;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if(x&gt;y) f(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else if(y&gt;z) f(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x,z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else f(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x,z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d,%d,%d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\n",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x,y,z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E39F4E-ECCF-78D1-9B58-ECD318B27D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11724" y="1866463"/>
            <a:ext cx="92957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1,2,3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95AB01-64AA-6F8D-F9EC-F61E8311B90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560496" y="1866463"/>
            <a:ext cx="108012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3,1,2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C0D51E-0C58-740C-DFD4-1D7D7F97E9D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411724" y="3604704"/>
            <a:ext cx="99664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1,3,2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96D40B-6040-CC5E-6524-F98870B6F5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560496" y="3626542"/>
            <a:ext cx="126204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2,3,1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86AFDC7-DCBD-3C94-CAA0-AC08E8D8026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7544950" y="193075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99C896E-6A83-9B75-5673-4B5091D81AF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9693721" y="19307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CDE9B99-DF7A-E3B9-B7E9-EC5CD502109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544950" y="366899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865C034-5CB2-9C10-FBAE-EAF088B6B36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9693721" y="369083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EDF7309-FF1F-035E-7E7E-0E81397D937E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9F0CA42-731F-F49E-E727-472892F4B46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2B5C770-FAB5-F2ED-602F-87B1A980B75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DC92F0B-3EB1-F1BD-E165-E8A75EE3F98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86E72B7E-408A-05B6-C4FC-BFB88461C77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D6D7BA6-9B22-5E68-A835-3C6D709C001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C9E5511-11F6-821A-960A-118E07D09C3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54731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0CE3971-9ADA-FD85-CB22-9C268010B15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73696" y="1427065"/>
            <a:ext cx="5718829" cy="498157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以下程序输出的结果是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long fun(int n)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long s;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if(n==1||n==2) s=2;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else s=n-fun(n-1);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return s;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\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n",fun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(3));}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E39F4E-ECCF-78D1-9B58-ECD318B27D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11725" y="1866463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95AB01-64AA-6F8D-F9EC-F61E8311B90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560496" y="1866463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C0D51E-0C58-740C-DFD4-1D7D7F97E9D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411725" y="3604704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96D40B-6040-CC5E-6524-F98870B6F5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560496" y="3626542"/>
            <a:ext cx="126204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86AFDC7-DCBD-3C94-CAA0-AC08E8D8026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7544950" y="193075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99C896E-6A83-9B75-5673-4B5091D81AF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9693721" y="19307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CDE9B99-DF7A-E3B9-B7E9-EC5CD502109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544950" y="366899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865C034-5CB2-9C10-FBAE-EAF088B6B36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9693721" y="369083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EDF7309-FF1F-035E-7E7E-0E81397D937E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9F0CA42-731F-F49E-E727-472892F4B46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2B5C770-FAB5-F2ED-602F-87B1A980B75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DC92F0B-3EB1-F1BD-E165-E8A75EE3F98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86E72B7E-408A-05B6-C4FC-BFB88461C77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D6D7BA6-9B22-5E68-A835-3C6D709C001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C9E5511-11F6-821A-960A-118E07D09C3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65462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2159000" y="1495679"/>
            <a:ext cx="7315200" cy="453650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 dirty="0"/>
              <a:t>main</a:t>
            </a:r>
            <a:r>
              <a:rPr lang="zh-CN" altLang="zh-CN" sz="2400" b="1" dirty="0">
                <a:latin typeface="Times New Roman" pitchFamily="18" charset="0"/>
              </a:rPr>
              <a:t>( )</a:t>
            </a:r>
          </a:p>
          <a:p>
            <a:pPr>
              <a:lnSpc>
                <a:spcPct val="11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b="1" dirty="0"/>
              <a:t>{ </a:t>
            </a:r>
            <a:r>
              <a:rPr lang="en-US" altLang="zh-CN" sz="2400" b="1" dirty="0"/>
              <a:t>  </a:t>
            </a:r>
            <a:r>
              <a:rPr lang="zh-CN" altLang="zh-CN" sz="2400" b="1" dirty="0"/>
              <a:t>int  i=</a:t>
            </a:r>
            <a:r>
              <a:rPr lang="en-US" altLang="zh-CN" sz="2400" b="1" dirty="0"/>
              <a:t>3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 lvl="1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400" b="1" dirty="0"/>
              <a:t>printf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b="1" dirty="0"/>
              <a:t>%d</a:t>
            </a:r>
            <a:r>
              <a:rPr lang="zh-CN" altLang="zh-CN" sz="2400" dirty="0"/>
              <a:t>\</a:t>
            </a:r>
            <a:r>
              <a:rPr lang="zh-CN" altLang="zh-CN" sz="2400" b="1" dirty="0"/>
              <a:t>n</a:t>
            </a:r>
            <a:r>
              <a:rPr lang="zh-CN" altLang="zh-CN" sz="2400" b="1" dirty="0">
                <a:latin typeface="Times New Roman" pitchFamily="18" charset="0"/>
              </a:rPr>
              <a:t>”, </a:t>
            </a:r>
            <a:r>
              <a:rPr lang="zh-CN" altLang="zh-CN" sz="2400" b="1" dirty="0">
                <a:solidFill>
                  <a:srgbClr val="D800D8"/>
                </a:solidFill>
              </a:rPr>
              <a:t>sub</a:t>
            </a:r>
            <a:r>
              <a:rPr lang="zh-CN" altLang="zh-CN" sz="2400" b="1" dirty="0">
                <a:solidFill>
                  <a:srgbClr val="D800D8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D800D8"/>
                </a:solidFill>
              </a:rPr>
              <a:t>i</a:t>
            </a:r>
            <a:r>
              <a:rPr lang="zh-CN" altLang="zh-CN" sz="2400" b="1" dirty="0">
                <a:solidFill>
                  <a:srgbClr val="D800D8"/>
                </a:solidFill>
                <a:latin typeface="Times New Roman" pitchFamily="18" charset="0"/>
              </a:rPr>
              <a:t>)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  <a:r>
              <a:rPr lang="zh-CN" altLang="en-US" sz="2400" b="1" dirty="0">
                <a:latin typeface="Times New Roman" pitchFamily="18" charset="0"/>
              </a:rPr>
              <a:t>结果为</a:t>
            </a:r>
            <a:r>
              <a:rPr lang="en-US" altLang="zh-CN" sz="2400" b="1" dirty="0">
                <a:latin typeface="Times New Roman" pitchFamily="18" charset="0"/>
              </a:rPr>
              <a:t>:</a:t>
            </a:r>
            <a:r>
              <a:rPr lang="zh-CN" altLang="en-US" sz="2400" b="1" dirty="0">
                <a:solidFill>
                  <a:srgbClr val="639EF4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  <a:latin typeface="Times New Roman" pitchFamily="18" charset="0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Times New Roman" pitchFamily="18" charset="0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Times New Roman" pitchFamily="18" charset="0"/>
              </a:rPr>
              <a:t>1]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zh-CN" altLang="zh-CN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/>
              <a:t>}</a:t>
            </a:r>
          </a:p>
          <a:p>
            <a:pPr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D800D8"/>
                </a:solidFill>
              </a:rPr>
              <a:t>sub</a:t>
            </a:r>
            <a:r>
              <a:rPr lang="zh-CN" altLang="zh-CN" sz="2400" b="1" dirty="0">
                <a:solidFill>
                  <a:srgbClr val="D800D8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D800D8"/>
                </a:solidFill>
              </a:rPr>
              <a:t>int  n</a:t>
            </a:r>
            <a:r>
              <a:rPr lang="zh-CN" altLang="zh-CN" sz="2400" b="1" dirty="0">
                <a:solidFill>
                  <a:srgbClr val="D800D8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400" b="1" dirty="0"/>
              <a:t>{ </a:t>
            </a:r>
            <a:r>
              <a:rPr lang="en-US" altLang="zh-CN" sz="2400" b="1" dirty="0"/>
              <a:t> </a:t>
            </a:r>
            <a:r>
              <a:rPr lang="zh-CN" altLang="zh-CN" sz="2400" b="1" dirty="0"/>
              <a:t>int  a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b="1" dirty="0"/>
              <a:t>    </a:t>
            </a:r>
            <a:r>
              <a:rPr lang="zh-CN" altLang="zh-CN" sz="2400" b="1" dirty="0"/>
              <a:t>if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/>
              <a:t>n==1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  <a:r>
              <a:rPr lang="zh-CN" altLang="zh-CN" sz="2400" b="1" dirty="0"/>
              <a:t> return 1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b="1" dirty="0"/>
              <a:t>    </a:t>
            </a:r>
            <a:r>
              <a:rPr lang="zh-CN" altLang="zh-CN" sz="2400" b="1" dirty="0"/>
              <a:t>a=</a:t>
            </a:r>
            <a:r>
              <a:rPr lang="zh-CN" altLang="zh-CN" sz="2400" b="1" dirty="0">
                <a:solidFill>
                  <a:srgbClr val="D800D8"/>
                </a:solidFill>
              </a:rPr>
              <a:t>n+sub</a:t>
            </a:r>
            <a:r>
              <a:rPr lang="zh-CN" altLang="zh-CN" sz="2400" b="1" dirty="0">
                <a:solidFill>
                  <a:srgbClr val="D800D8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D800D8"/>
                </a:solidFill>
              </a:rPr>
              <a:t>n-1</a:t>
            </a:r>
            <a:r>
              <a:rPr lang="zh-CN" altLang="zh-CN" sz="2400" b="1" dirty="0">
                <a:solidFill>
                  <a:srgbClr val="D800D8"/>
                </a:solidFill>
                <a:latin typeface="Times New Roman" pitchFamily="18" charset="0"/>
              </a:rPr>
              <a:t>)</a:t>
            </a:r>
            <a:r>
              <a:rPr lang="zh-CN" altLang="zh-CN" sz="2400" b="1" dirty="0">
                <a:latin typeface="Times New Roman" pitchFamily="18" charset="0"/>
              </a:rPr>
              <a:t> ;</a:t>
            </a:r>
          </a:p>
          <a:p>
            <a:pPr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b="1" dirty="0"/>
              <a:t>    </a:t>
            </a:r>
            <a:r>
              <a:rPr lang="zh-CN" altLang="zh-CN" sz="2400" b="1" dirty="0"/>
              <a:t>return  a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/>
              <a:t>}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1524000" y="5849303"/>
            <a:ext cx="9144000" cy="365760"/>
          </a:xfrm>
          <a:prstGeom prst="rect">
            <a:avLst/>
          </a:prstGeom>
          <a:solidFill>
            <a:srgbClr val="FBFAEF">
              <a:alpha val="50000"/>
            </a:srgbClr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02BB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685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919536" y="805275"/>
            <a:ext cx="7834064" cy="5026248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 anchor="ctr" anchorCtr="0">
            <a:no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800" b="1">
                <a:latin typeface="Arial" pitchFamily="34" charset="0"/>
              </a:rPr>
              <a:t>long</a:t>
            </a:r>
            <a:r>
              <a:rPr lang="zh-CN" altLang="zh-CN" sz="2800" b="1"/>
              <a:t>   </a:t>
            </a:r>
            <a:r>
              <a:rPr lang="zh-CN" altLang="zh-CN" sz="2800" b="1">
                <a:latin typeface="Arial" pitchFamily="34" charset="0"/>
              </a:rPr>
              <a:t>f</a:t>
            </a:r>
            <a:r>
              <a:rPr lang="zh-CN" altLang="zh-CN" sz="2800" b="1">
                <a:latin typeface="Times New Roman" pitchFamily="18" charset="0"/>
              </a:rPr>
              <a:t>(</a:t>
            </a:r>
            <a:r>
              <a:rPr lang="zh-CN" altLang="zh-CN" sz="2800" b="1"/>
              <a:t> </a:t>
            </a:r>
            <a:r>
              <a:rPr lang="zh-CN" altLang="zh-CN" sz="2800" b="1" dirty="0">
                <a:latin typeface="Arial" pitchFamily="34" charset="0"/>
              </a:rPr>
              <a:t>int  n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</a:p>
          <a:p>
            <a:pPr>
              <a:spcBef>
                <a:spcPct val="25000"/>
              </a:spcBef>
              <a:buFont typeface="Wingdings" pitchFamily="2" charset="2"/>
              <a:buNone/>
            </a:pPr>
            <a:r>
              <a:rPr lang="zh-CN" altLang="zh-CN" sz="2800" b="1" dirty="0"/>
              <a:t>{ </a:t>
            </a:r>
            <a:r>
              <a:rPr lang="zh-CN" altLang="zh-CN" sz="2800" b="1" dirty="0">
                <a:latin typeface="Arial" pitchFamily="34" charset="0"/>
              </a:rPr>
              <a:t>if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n</a:t>
            </a:r>
            <a:r>
              <a:rPr lang="zh-CN" altLang="zh-CN" sz="2800" b="1" dirty="0"/>
              <a:t>＞</a:t>
            </a:r>
            <a:r>
              <a:rPr lang="zh-CN" altLang="zh-CN" sz="2800" b="1" dirty="0">
                <a:latin typeface="Arial" pitchFamily="34" charset="0"/>
              </a:rPr>
              <a:t>2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/>
              <a:t> </a:t>
            </a:r>
          </a:p>
          <a:p>
            <a:pPr>
              <a:spcBef>
                <a:spcPct val="5000"/>
              </a:spcBef>
              <a:buFont typeface="Wingdings" pitchFamily="2" charset="2"/>
              <a:buNone/>
            </a:pPr>
            <a:r>
              <a:rPr lang="zh-CN" altLang="zh-CN" sz="2800" b="1" dirty="0"/>
              <a:t>       </a:t>
            </a:r>
            <a:r>
              <a:rPr lang="zh-CN" altLang="zh-CN" sz="2800" b="1" dirty="0">
                <a:latin typeface="Arial" pitchFamily="34" charset="0"/>
              </a:rPr>
              <a:t>return</a:t>
            </a:r>
            <a:r>
              <a:rPr lang="zh-CN" altLang="zh-CN" sz="2800" b="1" dirty="0"/>
              <a:t> </a:t>
            </a:r>
            <a:r>
              <a:rPr lang="zh-CN" altLang="zh-CN" sz="2800" b="1">
                <a:latin typeface="Times New Roman" pitchFamily="18" charset="0"/>
              </a:rPr>
              <a:t>(</a:t>
            </a:r>
            <a:r>
              <a:rPr lang="zh-CN" altLang="zh-CN" sz="2800" b="1">
                <a:latin typeface="Arial" pitchFamily="34" charset="0"/>
              </a:rPr>
              <a:t>f</a:t>
            </a:r>
            <a:r>
              <a:rPr lang="zh-CN" altLang="zh-CN" sz="2800" b="1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n-1</a:t>
            </a:r>
            <a:r>
              <a:rPr lang="zh-CN" altLang="zh-CN" sz="2800" b="1">
                <a:latin typeface="Times New Roman" pitchFamily="18" charset="0"/>
              </a:rPr>
              <a:t>)</a:t>
            </a:r>
            <a:r>
              <a:rPr lang="zh-CN" altLang="zh-CN" sz="2800" b="1"/>
              <a:t>+</a:t>
            </a:r>
            <a:r>
              <a:rPr lang="zh-CN" altLang="zh-CN" sz="2800" b="1">
                <a:latin typeface="Arial" pitchFamily="34" charset="0"/>
              </a:rPr>
              <a:t>f</a:t>
            </a:r>
            <a:r>
              <a:rPr lang="zh-CN" altLang="zh-CN" sz="2800" b="1">
                <a:latin typeface="Times New Roman" pitchFamily="18" charset="0"/>
              </a:rPr>
              <a:t>(</a:t>
            </a:r>
            <a:r>
              <a:rPr lang="zh-CN" altLang="zh-CN" sz="2800" b="1" dirty="0">
                <a:latin typeface="Arial" pitchFamily="34" charset="0"/>
              </a:rPr>
              <a:t>n-2</a:t>
            </a:r>
            <a:r>
              <a:rPr lang="zh-CN" altLang="zh-CN" sz="2800" b="1" dirty="0">
                <a:latin typeface="Times New Roman" pitchFamily="18" charset="0"/>
              </a:rPr>
              <a:t>))</a:t>
            </a:r>
            <a:r>
              <a:rPr lang="zh-CN" altLang="zh-CN" sz="2800" b="1" dirty="0"/>
              <a:t>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 dirty="0"/>
              <a:t>   </a:t>
            </a:r>
            <a:r>
              <a:rPr lang="zh-CN" altLang="zh-CN" sz="2800" b="1" dirty="0">
                <a:latin typeface="Arial" pitchFamily="34" charset="0"/>
              </a:rPr>
              <a:t>else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/>
              <a:t>       </a:t>
            </a:r>
            <a:r>
              <a:rPr lang="zh-CN" altLang="zh-CN" sz="2800" b="1" dirty="0">
                <a:latin typeface="Arial" pitchFamily="34" charset="0"/>
              </a:rPr>
              <a:t>return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(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2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/>
              <a:t>；</a:t>
            </a:r>
          </a:p>
          <a:p>
            <a:pPr>
              <a:lnSpc>
                <a:spcPct val="9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/>
              <a:t> }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>
                <a:latin typeface="Arial" pitchFamily="34" charset="0"/>
              </a:rPr>
              <a:t>main</a:t>
            </a:r>
            <a:r>
              <a:rPr lang="zh-CN" altLang="zh-CN" sz="2800" b="1" dirty="0">
                <a:latin typeface="Times New Roman" pitchFamily="18" charset="0"/>
              </a:rPr>
              <a:t>( )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 dirty="0"/>
              <a:t>{ </a:t>
            </a:r>
            <a:r>
              <a:rPr lang="zh-CN" altLang="zh-CN" sz="2800" b="1" dirty="0">
                <a:latin typeface="Arial" pitchFamily="34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</a:rPr>
              <a:t>(“</a:t>
            </a:r>
            <a:r>
              <a:rPr lang="zh-CN" altLang="zh-CN" sz="2800" b="1" dirty="0"/>
              <a:t> </a:t>
            </a:r>
            <a:r>
              <a:rPr lang="zh-CN" altLang="zh-CN" sz="2800" b="1" dirty="0">
                <a:latin typeface="Arial" pitchFamily="34" charset="0"/>
              </a:rPr>
              <a:t>%ld</a:t>
            </a:r>
            <a:r>
              <a:rPr lang="zh-CN" altLang="zh-CN" sz="2800" dirty="0"/>
              <a:t>\</a:t>
            </a:r>
            <a:r>
              <a:rPr lang="zh-CN" altLang="zh-CN" sz="2800" b="1" dirty="0">
                <a:latin typeface="Arial" pitchFamily="34" charset="0"/>
              </a:rPr>
              <a:t>n</a:t>
            </a:r>
            <a:r>
              <a:rPr lang="zh-CN" altLang="zh-CN" sz="2800" b="1" dirty="0">
                <a:latin typeface="Times New Roman" pitchFamily="18" charset="0"/>
              </a:rPr>
              <a:t>”</a:t>
            </a:r>
            <a:r>
              <a:rPr lang="zh-CN" altLang="zh-CN" sz="2800" b="1"/>
              <a:t>，</a:t>
            </a:r>
            <a:r>
              <a:rPr lang="zh-CN" altLang="zh-CN" sz="2800" b="1">
                <a:solidFill>
                  <a:srgbClr val="00009E"/>
                </a:solidFill>
                <a:latin typeface="Arial" pitchFamily="34" charset="0"/>
              </a:rPr>
              <a:t>f</a:t>
            </a:r>
            <a:r>
              <a:rPr lang="zh-CN" altLang="zh-CN" sz="2800" b="1">
                <a:solidFill>
                  <a:srgbClr val="00009E"/>
                </a:solidFill>
                <a:latin typeface="Times New Roman" pitchFamily="18" charset="0"/>
              </a:rPr>
              <a:t>(</a:t>
            </a:r>
            <a:r>
              <a:rPr lang="zh-CN" altLang="zh-CN" sz="2800" b="1">
                <a:solidFill>
                  <a:srgbClr val="00009E"/>
                </a:solidFill>
              </a:rPr>
              <a:t> </a:t>
            </a:r>
            <a:r>
              <a:rPr lang="zh-CN" altLang="zh-CN" sz="2800" b="1" dirty="0">
                <a:solidFill>
                  <a:srgbClr val="00009E"/>
                </a:solidFill>
              </a:rPr>
              <a:t>4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 )</a:t>
            </a:r>
            <a:r>
              <a:rPr lang="zh-CN" altLang="zh-CN" sz="2800" b="1" dirty="0">
                <a:latin typeface="Times New Roman" pitchFamily="18" charset="0"/>
              </a:rPr>
              <a:t>)</a:t>
            </a:r>
            <a:r>
              <a:rPr lang="zh-CN" altLang="zh-CN" sz="2800" b="1" dirty="0"/>
              <a:t>；</a:t>
            </a:r>
            <a:r>
              <a:rPr lang="zh-CN" altLang="en-US" sz="2800" b="1" dirty="0"/>
              <a:t>结果为</a:t>
            </a:r>
            <a:r>
              <a:rPr lang="en-US" altLang="zh-CN" sz="2800" b="1" dirty="0"/>
              <a:t>:</a:t>
            </a:r>
            <a:r>
              <a:rPr lang="zh-CN" altLang="en-US" sz="2800" b="1" dirty="0">
                <a:solidFill>
                  <a:srgbClr val="639EF4"/>
                </a:solidFill>
              </a:rPr>
              <a:t> </a:t>
            </a:r>
            <a:r>
              <a:rPr lang="en-US" altLang="zh-CN" sz="2800" b="1" dirty="0">
                <a:solidFill>
                  <a:srgbClr val="639EF4"/>
                </a:solidFill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</a:rPr>
              <a:t>1]</a:t>
            </a:r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  <a:r>
              <a:rPr lang="zh-CN" altLang="zh-CN" sz="2800" b="1" dirty="0"/>
              <a:t> 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 dirty="0"/>
              <a:t>}</a:t>
            </a:r>
            <a:endParaRPr lang="zh-CN" altLang="zh-CN" sz="2800" dirty="0"/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 bwMode="auto">
          <a:xfrm>
            <a:off x="1524000" y="5849303"/>
            <a:ext cx="9144000" cy="365760"/>
          </a:xfrm>
          <a:prstGeom prst="rect">
            <a:avLst/>
          </a:prstGeom>
          <a:solidFill>
            <a:srgbClr val="FBFAEF">
              <a:alpha val="50000"/>
            </a:srgbClr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002BB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填空题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82197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6&quot;]}]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6&quot;]}]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9900"/>
      </a:hlink>
      <a:folHlink>
        <a:srgbClr val="FFCC00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3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4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5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6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whu8">
  <a:themeElements>
    <a:clrScheme name="3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whu8">
      <a:majorFont>
        <a:latin typeface="Tahoma"/>
        <a:ea typeface="楷体_GB2312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3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whu8">
  <a:themeElements>
    <a:clrScheme name="1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1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8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0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00000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1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12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4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5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6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万里长城">
  <a:themeElements>
    <a:clrScheme name="万里长城 11">
      <a:dk1>
        <a:srgbClr val="000000"/>
      </a:dk1>
      <a:lt1>
        <a:srgbClr val="FFFFFF"/>
      </a:lt1>
      <a:dk2>
        <a:srgbClr val="000099"/>
      </a:dk2>
      <a:lt2>
        <a:srgbClr val="969696"/>
      </a:lt2>
      <a:accent1>
        <a:srgbClr val="FFFF99"/>
      </a:accent1>
      <a:accent2>
        <a:srgbClr val="006666"/>
      </a:accent2>
      <a:accent3>
        <a:srgbClr val="FFFFFF"/>
      </a:accent3>
      <a:accent4>
        <a:srgbClr val="000000"/>
      </a:accent4>
      <a:accent5>
        <a:srgbClr val="FFFFCA"/>
      </a:accent5>
      <a:accent6>
        <a:srgbClr val="005C5C"/>
      </a:accent6>
      <a:hlink>
        <a:srgbClr val="000000"/>
      </a:hlink>
      <a:folHlink>
        <a:srgbClr val="800080"/>
      </a:folHlink>
    </a:clrScheme>
    <a:fontScheme name="万里长城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万里长城 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80008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2">
        <a:dk1>
          <a:srgbClr val="000000"/>
        </a:dk1>
        <a:lt1>
          <a:srgbClr val="8EA4EA"/>
        </a:lt1>
        <a:dk2>
          <a:srgbClr val="0033CC"/>
        </a:dk2>
        <a:lt2>
          <a:srgbClr val="969696"/>
        </a:lt2>
        <a:accent1>
          <a:srgbClr val="86B5B6"/>
        </a:accent1>
        <a:accent2>
          <a:srgbClr val="FFCC66"/>
        </a:accent2>
        <a:accent3>
          <a:srgbClr val="C6CFF3"/>
        </a:accent3>
        <a:accent4>
          <a:srgbClr val="000000"/>
        </a:accent4>
        <a:accent5>
          <a:srgbClr val="C3D7D7"/>
        </a:accent5>
        <a:accent6>
          <a:srgbClr val="E7B95C"/>
        </a:accent6>
        <a:hlink>
          <a:srgbClr val="626292"/>
        </a:hlink>
        <a:folHlink>
          <a:srgbClr val="A2366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3">
        <a:dk1>
          <a:srgbClr val="0000FF"/>
        </a:dk1>
        <a:lt1>
          <a:srgbClr val="C0C0C0"/>
        </a:lt1>
        <a:dk2>
          <a:srgbClr val="000000"/>
        </a:dk2>
        <a:lt2>
          <a:srgbClr val="B2B2B2"/>
        </a:lt2>
        <a:accent1>
          <a:srgbClr val="FFCC99"/>
        </a:accent1>
        <a:accent2>
          <a:srgbClr val="FF99CC"/>
        </a:accent2>
        <a:accent3>
          <a:srgbClr val="DCDCDC"/>
        </a:accent3>
        <a:accent4>
          <a:srgbClr val="0000DA"/>
        </a:accent4>
        <a:accent5>
          <a:srgbClr val="FFE2CA"/>
        </a:accent5>
        <a:accent6>
          <a:srgbClr val="E78AB9"/>
        </a:accent6>
        <a:hlink>
          <a:srgbClr val="9C4070"/>
        </a:hlink>
        <a:folHlink>
          <a:srgbClr val="0071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4">
        <a:dk1>
          <a:srgbClr val="0029AC"/>
        </a:dk1>
        <a:lt1>
          <a:srgbClr val="CCFFCC"/>
        </a:lt1>
        <a:dk2>
          <a:srgbClr val="993366"/>
        </a:dk2>
        <a:lt2>
          <a:srgbClr val="969696"/>
        </a:lt2>
        <a:accent1>
          <a:srgbClr val="FFCC99"/>
        </a:accent1>
        <a:accent2>
          <a:srgbClr val="6699FF"/>
        </a:accent2>
        <a:accent3>
          <a:srgbClr val="E2FFE2"/>
        </a:accent3>
        <a:accent4>
          <a:srgbClr val="002192"/>
        </a:accent4>
        <a:accent5>
          <a:srgbClr val="FFE2CA"/>
        </a:accent5>
        <a:accent6>
          <a:srgbClr val="5C8AE7"/>
        </a:accent6>
        <a:hlink>
          <a:srgbClr val="006600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5">
        <a:dk1>
          <a:srgbClr val="333333"/>
        </a:dk1>
        <a:lt1>
          <a:srgbClr val="FF99CC"/>
        </a:lt1>
        <a:dk2>
          <a:srgbClr val="006600"/>
        </a:dk2>
        <a:lt2>
          <a:srgbClr val="B2B2B2"/>
        </a:lt2>
        <a:accent1>
          <a:srgbClr val="FFFF66"/>
        </a:accent1>
        <a:accent2>
          <a:srgbClr val="33CCFF"/>
        </a:accent2>
        <a:accent3>
          <a:srgbClr val="FFCAE2"/>
        </a:accent3>
        <a:accent4>
          <a:srgbClr val="2A2A2A"/>
        </a:accent4>
        <a:accent5>
          <a:srgbClr val="FFFFB8"/>
        </a:accent5>
        <a:accent6>
          <a:srgbClr val="2DB9E7"/>
        </a:accent6>
        <a:hlink>
          <a:srgbClr val="6600FF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6">
        <a:dk1>
          <a:srgbClr val="000000"/>
        </a:dk1>
        <a:lt1>
          <a:srgbClr val="FFFFCC"/>
        </a:lt1>
        <a:dk2>
          <a:srgbClr val="6756A6"/>
        </a:dk2>
        <a:lt2>
          <a:srgbClr val="969696"/>
        </a:lt2>
        <a:accent1>
          <a:srgbClr val="99CCFF"/>
        </a:accent1>
        <a:accent2>
          <a:srgbClr val="008000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007300"/>
        </a:accent6>
        <a:hlink>
          <a:srgbClr val="990033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7">
        <a:dk1>
          <a:srgbClr val="CC3300"/>
        </a:dk1>
        <a:lt1>
          <a:srgbClr val="99CCFF"/>
        </a:lt1>
        <a:dk2>
          <a:srgbClr val="003399"/>
        </a:dk2>
        <a:lt2>
          <a:srgbClr val="969696"/>
        </a:lt2>
        <a:accent1>
          <a:srgbClr val="CED7FE"/>
        </a:accent1>
        <a:accent2>
          <a:srgbClr val="FFFFFF"/>
        </a:accent2>
        <a:accent3>
          <a:srgbClr val="CAE2FF"/>
        </a:accent3>
        <a:accent4>
          <a:srgbClr val="AE2A00"/>
        </a:accent4>
        <a:accent5>
          <a:srgbClr val="E3E8FE"/>
        </a:accent5>
        <a:accent6>
          <a:srgbClr val="E7E7E7"/>
        </a:accent6>
        <a:hlink>
          <a:srgbClr val="00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8">
        <a:dk1>
          <a:srgbClr val="006600"/>
        </a:dk1>
        <a:lt1>
          <a:srgbClr val="FFCC99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FFFF66"/>
        </a:accent2>
        <a:accent3>
          <a:srgbClr val="FFE2CA"/>
        </a:accent3>
        <a:accent4>
          <a:srgbClr val="005600"/>
        </a:accent4>
        <a:accent5>
          <a:srgbClr val="FFFFFF"/>
        </a:accent5>
        <a:accent6>
          <a:srgbClr val="E7E75C"/>
        </a:accent6>
        <a:hlink>
          <a:srgbClr val="5B5B89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10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11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00000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12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万里长城 13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14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15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万里长城 16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whu8">
  <a:themeElements>
    <a:clrScheme name="whu8 11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000099"/>
      </a:folHlink>
    </a:clrScheme>
    <a:fontScheme name="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3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4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5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u8 16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3199</TotalTime>
  <Words>5318</Words>
  <Application>Microsoft Office PowerPoint</Application>
  <PresentationFormat>宽屏</PresentationFormat>
  <Paragraphs>763</Paragraphs>
  <Slides>67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67</vt:i4>
      </vt:variant>
    </vt:vector>
  </HeadingPairs>
  <TitlesOfParts>
    <vt:vector size="90" baseType="lpstr">
      <vt:lpstr>黑体</vt:lpstr>
      <vt:lpstr>华文新魏</vt:lpstr>
      <vt:lpstr>楷体_GB2312</vt:lpstr>
      <vt:lpstr>宋体</vt:lpstr>
      <vt:lpstr>Microsoft Yahei</vt:lpstr>
      <vt:lpstr>幼圆</vt:lpstr>
      <vt:lpstr>Arial</vt:lpstr>
      <vt:lpstr>Calibri</vt:lpstr>
      <vt:lpstr>Cambria Math</vt:lpstr>
      <vt:lpstr>Courier New</vt:lpstr>
      <vt:lpstr>Microsoft Sans Serif</vt:lpstr>
      <vt:lpstr>Palatino Linotype</vt:lpstr>
      <vt:lpstr>Tahoma</vt:lpstr>
      <vt:lpstr>Times New Roman</vt:lpstr>
      <vt:lpstr>Wingdings</vt:lpstr>
      <vt:lpstr>Wingdings 2</vt:lpstr>
      <vt:lpstr>Blends</vt:lpstr>
      <vt:lpstr>3_whu8</vt:lpstr>
      <vt:lpstr>1_whu8</vt:lpstr>
      <vt:lpstr>万里长城</vt:lpstr>
      <vt:lpstr>whu8</vt:lpstr>
      <vt:lpstr>Equation.3</vt:lpstr>
      <vt:lpstr>Microsoft Word Picture</vt:lpstr>
      <vt:lpstr>第六章   函数</vt:lpstr>
      <vt:lpstr>6.1  函数概述</vt:lpstr>
      <vt:lpstr>6.1  函数概述</vt:lpstr>
      <vt:lpstr>【例6-1】输出以下的结果，用函数调用实现。        ******************             How do you do!        ****************** </vt:lpstr>
      <vt:lpstr>解题思路：  1.在输出的文字上下分别有一行“*”号，显然不必重复写这段代码，用一个函数print_star来实现输出一行“*”号的功能。  2.再写一个print_message函数来输出中间一行文字信息  3.用主函数分别调用这两个函数 </vt:lpstr>
      <vt:lpstr>#include &lt;stdio.h&gt; void print_star() {   printf(“******************\n”);  } void print_message()  {   printf(“  How do you do!\n”);   } </vt:lpstr>
      <vt:lpstr>【例6-2】输入两个整数,  输出其中较大的数。</vt:lpstr>
      <vt:lpstr>1.  函数的分类</vt:lpstr>
      <vt:lpstr>2.  函数的定义</vt:lpstr>
      <vt:lpstr>2.  函数的定义</vt:lpstr>
      <vt:lpstr>PowerPoint 演示文稿</vt:lpstr>
      <vt:lpstr>PowerPoint 演示文稿</vt:lpstr>
      <vt:lpstr>函数类型  函数名(参数表)</vt:lpstr>
      <vt:lpstr>常见的程序设计错误有:</vt:lpstr>
      <vt:lpstr>常见的程序设计错误有:</vt:lpstr>
      <vt:lpstr>函数体: 用来完成具体任务的一个程序段。</vt:lpstr>
      <vt:lpstr>注意：</vt:lpstr>
      <vt:lpstr>PowerPoint 演示文稿</vt:lpstr>
      <vt:lpstr>PowerPoint 演示文稿</vt:lpstr>
      <vt:lpstr>6.3  函数调用</vt:lpstr>
      <vt:lpstr>6.3.1  函数的返回值</vt:lpstr>
      <vt:lpstr>6.3.1  函数的返回值</vt:lpstr>
      <vt:lpstr>注意:</vt:lpstr>
      <vt:lpstr>注意:</vt:lpstr>
      <vt:lpstr>例6.1 将华氏温度换算成摄氏温度的函数定义</vt:lpstr>
      <vt:lpstr>6.3.2 函数调用的一般形式</vt:lpstr>
      <vt:lpstr>   函数调用的一般形式</vt:lpstr>
      <vt:lpstr>   函数调用的一般形式</vt:lpstr>
      <vt:lpstr>说明：</vt:lpstr>
      <vt:lpstr>调用方式:</vt:lpstr>
      <vt:lpstr>例6.3</vt:lpstr>
      <vt:lpstr>PowerPoint 演示文稿</vt:lpstr>
      <vt:lpstr>PowerPoint 演示文稿</vt:lpstr>
      <vt:lpstr>6.3.3  函数的参数</vt:lpstr>
      <vt:lpstr>形参是普通变量时的结合</vt:lpstr>
      <vt:lpstr>形参是普通变量时的结合</vt:lpstr>
      <vt:lpstr> 例7-4: 调用函数, 完成两个变量的交换。</vt:lpstr>
      <vt:lpstr>函数声明</vt:lpstr>
      <vt:lpstr>函数声明</vt:lpstr>
      <vt:lpstr>6.3.4  对被调用函数的声明(说明)</vt:lpstr>
      <vt:lpstr>PowerPoint 演示文稿</vt:lpstr>
      <vt:lpstr>函数声明省略</vt:lpstr>
      <vt:lpstr>函数声明省略</vt:lpstr>
      <vt:lpstr>函数声明省略</vt:lpstr>
      <vt:lpstr>6.4.1  函数的嵌套调用</vt:lpstr>
      <vt:lpstr>例:</vt:lpstr>
      <vt:lpstr>试编程计算</vt:lpstr>
      <vt:lpstr>试编程用组合法打印杨辉三角</vt:lpstr>
      <vt:lpstr>PowerPoint 演示文稿</vt:lpstr>
      <vt:lpstr>PowerPoint 演示文稿</vt:lpstr>
      <vt:lpstr>PowerPoint 演示文稿</vt:lpstr>
      <vt:lpstr>6.4.2  函数的递归调用</vt:lpstr>
      <vt:lpstr>递归及其实现</vt:lpstr>
      <vt:lpstr>递归程序设计</vt:lpstr>
      <vt:lpstr>PowerPoint 演示文稿</vt:lpstr>
      <vt:lpstr>程序：</vt:lpstr>
      <vt:lpstr>PowerPoint 演示文稿</vt:lpstr>
      <vt:lpstr>PowerPoint 演示文稿</vt:lpstr>
      <vt:lpstr> 函数sumDigit(234)调用和返回的递归示意图：  SumDigit( n ）=n % 10 + SumDigit( n / 10 )</vt:lpstr>
      <vt:lpstr>斐波拉契数列</vt:lpstr>
      <vt:lpstr>PowerPoint 演示文稿</vt:lpstr>
      <vt:lpstr>递归与循环(迭代)</vt:lpstr>
      <vt:lpstr>递归与循环(迭代)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  函数</dc:title>
  <dc:creator>wwb</dc:creator>
  <cp:lastModifiedBy>Administrator</cp:lastModifiedBy>
  <cp:revision>70</cp:revision>
  <dcterms:created xsi:type="dcterms:W3CDTF">2020-01-12T03:32:12Z</dcterms:created>
  <dcterms:modified xsi:type="dcterms:W3CDTF">2025-05-17T01:22:34Z</dcterms:modified>
</cp:coreProperties>
</file>