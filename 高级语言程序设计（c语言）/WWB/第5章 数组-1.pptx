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7" r:id="rId3"/>
    <p:sldMasterId id="2147483702" r:id="rId4"/>
  </p:sldMasterIdLst>
  <p:notesMasterIdLst>
    <p:notesMasterId r:id="rId5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  <p:sldId id="271" r:id="rId20"/>
    <p:sldId id="272" r:id="rId21"/>
    <p:sldId id="273" r:id="rId22"/>
    <p:sldId id="374" r:id="rId23"/>
    <p:sldId id="377" r:id="rId24"/>
    <p:sldId id="378" r:id="rId25"/>
    <p:sldId id="376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387" r:id="rId34"/>
    <p:sldId id="381" r:id="rId35"/>
    <p:sldId id="382" r:id="rId36"/>
    <p:sldId id="384" r:id="rId37"/>
    <p:sldId id="289" r:id="rId38"/>
    <p:sldId id="290" r:id="rId39"/>
    <p:sldId id="389" r:id="rId40"/>
    <p:sldId id="375" r:id="rId41"/>
    <p:sldId id="385" r:id="rId42"/>
    <p:sldId id="359" r:id="rId43"/>
    <p:sldId id="379" r:id="rId44"/>
    <p:sldId id="380" r:id="rId45"/>
    <p:sldId id="352" r:id="rId46"/>
    <p:sldId id="353" r:id="rId47"/>
    <p:sldId id="354" r:id="rId48"/>
    <p:sldId id="390" r:id="rId49"/>
    <p:sldId id="391" r:id="rId50"/>
    <p:sldId id="392" r:id="rId51"/>
    <p:sldId id="388" r:id="rId52"/>
    <p:sldId id="394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12" autoAdjust="0"/>
  </p:normalViewPr>
  <p:slideViewPr>
    <p:cSldViewPr>
      <p:cViewPr varScale="1">
        <p:scale>
          <a:sx n="61" d="100"/>
          <a:sy n="61" d="100"/>
        </p:scale>
        <p:origin x="86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A696-49BD-434A-A802-DB7EF9A23B33}" type="datetimeFigureOut">
              <a:rPr lang="zh-CN" altLang="en-US" smtClean="0"/>
              <a:t>2025/5/16 Friday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FEE13-3FA5-451F-8CB6-25B41D0E4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68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5381C18-6115-44EC-BEA0-BE5A0EC75C17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9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523A0-F475-4ECE-A1E4-AC73F318FF5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5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865AD-D18F-40DD-9776-AF363BC9361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02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12061-D9CC-43B7-9C5F-805EDD6DC6B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05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BF32A-0E2F-4E44-B8BF-1F6FBC34C12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77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29867-40DA-4B85-BAD7-427D5D0BE6F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28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79881-2EFB-47C1-9CE8-04F6ACFD365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29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9620F-C78C-43AC-B060-B89CEE714E2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81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DE6D1-07C8-4A0F-9535-13958A6C3AA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89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701711-B497-4CC4-9A88-C4AE0330CCF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9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A1469-1B92-460B-A60B-48A755D5114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81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8983048-1043-48A0-91A7-076CE7E40C0F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504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4B2B16-FBDD-4EAE-AB95-5373AB5C0CD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16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3E6996-6EDE-464C-8E18-BE44335F60A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454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F596E-5821-45B6-A6EF-63F03CFBAE5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4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BD512-3F3C-4155-983F-A33568463D4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67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32758-6A95-4D48-927D-4C88880FC40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91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FFB9EC-AED8-479A-9275-8B8565D92EF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283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35CE8-0CC2-46BC-B48F-F12EA735A4F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11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17B45-0F61-4AAF-9525-3C927B49F8A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49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BA2275-0735-4A0E-A2D2-AB8D2435B97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471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E90FB-48E8-4ABE-A445-897F5823ADD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12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1BA5DFD-6254-4620-A362-1F6DB1F6BAD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5417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D12815D3-C6B4-450A-89A8-0A0AFE89936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166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61744CD-1CD6-44E3-8F18-5FD78C002A4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372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455358D-8E25-48CB-8CB6-66B66E75B30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9217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9B319-9A4E-471D-9BA0-45B76074513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4484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CB1AB-992B-4123-8A1E-86E80AC1A1F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602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4CDC57-7F2F-4058-8AC8-34FFF73B01C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8337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4D167-0392-47C6-B5C4-F48DA8A0EB7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322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EFF7A-5DA8-474D-87BB-C4E072B378A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689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D60FC-62C2-4F89-B93E-4EA94FC2906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186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48F2B-0EAD-426B-8640-324F2D8673C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35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95293-53DA-47AD-B6E6-DCE2AD8DC82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670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FFA64-755A-4F41-BD20-09DD8F1D1F5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575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226685-D633-4545-B742-084844CE739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214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A8AB995-AEFF-49DB-A20F-7F9D063F0A0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8896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219C0CF-3FE4-42CB-8CC0-0C107CE462D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738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071F47E-1761-449F-91AF-A03198D4D96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328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381C18-6115-44EC-BEA0-BE5A0EC75C17}" type="slidenum">
              <a:rPr lang="zh-CN" altLang="zh-CN" smtClean="0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919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523A0-F475-4ECE-A1E4-AC73F318FF55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1229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65AD-D18F-40DD-9776-AF363BC93613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2792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12061-D9CC-43B7-9C5F-805EDD6DC6BF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485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BF32A-0E2F-4E44-B8BF-1F6FBC34C127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40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9867-40DA-4B85-BAD7-427D5D0BE6FF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108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79881-2EFB-47C1-9CE8-04F6ACFD365A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5714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9620F-C78C-43AC-B060-B89CEE714E23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1637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E6D1-07C8-4A0F-9535-13958A6C3AA1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95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632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6283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8134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8000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442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3790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01711-B497-4CC4-9A88-C4AE0330CCF5}" type="slidenum">
              <a:rPr lang="zh-CN" altLang="zh-CN" smtClean="0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0543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49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55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436B29-694E-46F6-AA08-27C2F585A5A7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75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714476-57D9-4B80-A8CD-DCBCC4D47150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7AEA491-5E66-4F2E-B0A0-C05262558168}" type="slidenum">
              <a:rPr lang="zh-CN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8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41.xml"/><Relationship Id="rId4" Type="http://schemas.openxmlformats.org/officeDocument/2006/relationships/slide" Target="slide4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l6_2_2.exe" TargetMode="Externa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7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7.tmp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slideLayout" Target="../slideLayouts/slideLayout32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7.tmp"/><Relationship Id="rId5" Type="http://schemas.openxmlformats.org/officeDocument/2006/relationships/tags" Target="../tags/tag58.xml"/><Relationship Id="rId10" Type="http://schemas.openxmlformats.org/officeDocument/2006/relationships/slideLayout" Target="../slideLayouts/slideLayout32.xml"/><Relationship Id="rId4" Type="http://schemas.openxmlformats.org/officeDocument/2006/relationships/tags" Target="../tags/tag57.xml"/><Relationship Id="rId9" Type="http://schemas.openxmlformats.org/officeDocument/2006/relationships/tags" Target="../tags/tag6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7.tmp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19" Type="http://schemas.openxmlformats.org/officeDocument/2006/relationships/image" Target="../media/image7.tmp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7.tmp"/><Relationship Id="rId5" Type="http://schemas.openxmlformats.org/officeDocument/2006/relationships/tags" Target="../tags/tag101.xml"/><Relationship Id="rId10" Type="http://schemas.openxmlformats.org/officeDocument/2006/relationships/slideLayout" Target="../slideLayouts/slideLayout32.xml"/><Relationship Id="rId4" Type="http://schemas.openxmlformats.org/officeDocument/2006/relationships/tags" Target="../tags/tag100.xml"/><Relationship Id="rId9" Type="http://schemas.openxmlformats.org/officeDocument/2006/relationships/tags" Target="../tags/tag10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19" Type="http://schemas.openxmlformats.org/officeDocument/2006/relationships/image" Target="../media/image7.tmp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tags" Target="../tags/tag135.xml"/><Relationship Id="rId18" Type="http://schemas.openxmlformats.org/officeDocument/2006/relationships/slideLayout" Target="../slideLayouts/slideLayout32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17" Type="http://schemas.openxmlformats.org/officeDocument/2006/relationships/tags" Target="../tags/tag139.xml"/><Relationship Id="rId2" Type="http://schemas.openxmlformats.org/officeDocument/2006/relationships/tags" Target="../tags/tag124.xml"/><Relationship Id="rId16" Type="http://schemas.openxmlformats.org/officeDocument/2006/relationships/tags" Target="../tags/tag138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tags" Target="../tags/tag137.xml"/><Relationship Id="rId10" Type="http://schemas.openxmlformats.org/officeDocument/2006/relationships/tags" Target="../tags/tag132.xml"/><Relationship Id="rId19" Type="http://schemas.openxmlformats.org/officeDocument/2006/relationships/image" Target="../media/image7.tmp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tags" Target="../tags/tag13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image" Target="../media/image7.tmp"/><Relationship Id="rId5" Type="http://schemas.openxmlformats.org/officeDocument/2006/relationships/tags" Target="../tags/tag144.xml"/><Relationship Id="rId10" Type="http://schemas.openxmlformats.org/officeDocument/2006/relationships/slideLayout" Target="../slideLayouts/slideLayout32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image" Target="../media/image7.tmp"/><Relationship Id="rId5" Type="http://schemas.openxmlformats.org/officeDocument/2006/relationships/tags" Target="../tags/tag153.xml"/><Relationship Id="rId10" Type="http://schemas.openxmlformats.org/officeDocument/2006/relationships/slideLayout" Target="../slideLayouts/slideLayout32.xml"/><Relationship Id="rId4" Type="http://schemas.openxmlformats.org/officeDocument/2006/relationships/tags" Target="../tags/tag152.xml"/><Relationship Id="rId9" Type="http://schemas.openxmlformats.org/officeDocument/2006/relationships/tags" Target="../tags/tag15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7568" y="530225"/>
            <a:ext cx="6324600" cy="1219200"/>
          </a:xfrm>
        </p:spPr>
        <p:txBody>
          <a:bodyPr/>
          <a:lstStyle/>
          <a:p>
            <a:r>
              <a:rPr lang="zh-CN" b="1" dirty="0">
                <a:solidFill>
                  <a:schemeClr val="tx1"/>
                </a:solidFill>
                <a:latin typeface="幼圆" pitchFamily="49" charset="-122"/>
                <a:ea typeface="幼圆" pitchFamily="49" charset="-122"/>
              </a:rPr>
              <a:t>第</a:t>
            </a:r>
            <a:r>
              <a:rPr lang="zh-CN" altLang="en-US" b="1" dirty="0">
                <a:solidFill>
                  <a:schemeClr val="tx1"/>
                </a:solidFill>
                <a:latin typeface="幼圆" pitchFamily="49" charset="-122"/>
                <a:ea typeface="幼圆" pitchFamily="49" charset="-122"/>
              </a:rPr>
              <a:t>五</a:t>
            </a:r>
            <a:r>
              <a:rPr lang="zh-CN" b="1" dirty="0">
                <a:solidFill>
                  <a:schemeClr val="tx1"/>
                </a:solidFill>
                <a:latin typeface="幼圆" pitchFamily="49" charset="-122"/>
                <a:ea typeface="幼圆" pitchFamily="49" charset="-122"/>
              </a:rPr>
              <a:t>章  </a:t>
            </a:r>
            <a:r>
              <a:rPr lang="zh-CN" b="1" dirty="0">
                <a:solidFill>
                  <a:schemeClr val="tx1"/>
                </a:solidFill>
                <a:latin typeface="Times New Roman" pitchFamily="18" charset="0"/>
                <a:ea typeface="幼圆" pitchFamily="49" charset="-122"/>
              </a:rPr>
              <a:t>数组</a:t>
            </a:r>
            <a:r>
              <a: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幼圆" pitchFamily="49" charset="-122"/>
              </a:rPr>
              <a:t> 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idx="1"/>
          </p:nvPr>
        </p:nvSpPr>
        <p:spPr>
          <a:xfrm>
            <a:off x="4195763" y="2511425"/>
            <a:ext cx="4456112" cy="3816350"/>
          </a:xfrm>
        </p:spPr>
        <p:txBody>
          <a:bodyPr/>
          <a:lstStyle/>
          <a:p>
            <a:pPr algn="just"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dirty="0">
                <a:ea typeface="文鼎书宋简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</a:t>
            </a:r>
            <a:r>
              <a:rPr lang="zh-CN" altLang="zh-CN" dirty="0">
                <a:ea typeface="文鼎书宋简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zh-CN" altLang="zh-CN" b="1" dirty="0">
                <a:ea typeface="文鼎书宋简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  <a:r>
              <a:rPr lang="zh-CN" b="1" dirty="0">
                <a:ea typeface="黑体" pitchFamily="49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一维数组</a:t>
            </a:r>
            <a:endParaRPr lang="zh-CN" b="1" dirty="0">
              <a:latin typeface="Courier New" pitchFamily="49" charset="0"/>
              <a:ea typeface="黑体" pitchFamily="49" charset="-122"/>
            </a:endParaRPr>
          </a:p>
          <a:p>
            <a:pPr algn="just"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dirty="0">
                <a:ea typeface="文鼎书宋简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</a:t>
            </a:r>
            <a:r>
              <a:rPr lang="zh-CN" altLang="zh-CN" dirty="0">
                <a:ea typeface="文鼎书宋简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zh-CN" altLang="zh-CN" b="1" dirty="0">
                <a:ea typeface="文鼎书宋简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  <a:r>
              <a:rPr lang="zh-CN" b="1" dirty="0">
                <a:ea typeface="黑体" pitchFamily="49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二维数组</a:t>
            </a:r>
            <a:endParaRPr lang="zh-CN" b="1" dirty="0">
              <a:latin typeface="文鼎书宋简" charset="-122"/>
              <a:ea typeface="黑体" pitchFamily="49" charset="-122"/>
            </a:endParaRPr>
          </a:p>
          <a:p>
            <a:pPr algn="just"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dirty="0">
                <a:ea typeface="文鼎书宋简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</a:t>
            </a:r>
            <a:r>
              <a:rPr lang="zh-CN" altLang="zh-CN" dirty="0">
                <a:ea typeface="文鼎书宋简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  </a:t>
            </a:r>
            <a:r>
              <a:rPr lang="zh-CN" b="1" dirty="0">
                <a:ea typeface="黑体" pitchFamily="49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字符数组</a:t>
            </a:r>
            <a:endParaRPr lang="zh-CN" b="1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701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00538" y="150813"/>
            <a:ext cx="3802062" cy="793750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1 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一维数组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1675" y="1392238"/>
            <a:ext cx="8153400" cy="4267200"/>
          </a:xfrm>
        </p:spPr>
        <p:txBody>
          <a:bodyPr/>
          <a:lstStyle/>
          <a:p>
            <a:pPr algn="just">
              <a:lnSpc>
                <a:spcPct val="135000"/>
              </a:lnSpc>
              <a:buClr>
                <a:srgbClr val="008000"/>
              </a:buClr>
              <a:buSzPct val="85000"/>
              <a:buFont typeface="Wingdings" pitchFamily="2" charset="2"/>
              <a:buChar char="&amp;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前面介绍的数据类型（如整型，字符型，实型）是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语言的基本数据类型。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algn="just">
              <a:lnSpc>
                <a:spcPct val="135000"/>
              </a:lnSpc>
              <a:buClr>
                <a:srgbClr val="008000"/>
              </a:buClr>
              <a:buSzPct val="85000"/>
              <a:buFont typeface="Wingdings" pitchFamily="2" charset="2"/>
              <a:buChar char="&amp;"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基本类型变量称简单变量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。每个简单变量在内存中都占据独立的存储单元，相互之间没有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直接的联系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4012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86213" y="50800"/>
            <a:ext cx="4419600" cy="755650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5.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一维数组</a:t>
            </a:r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2063750" y="1277938"/>
            <a:ext cx="8153400" cy="328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如果有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</a:rPr>
              <a:t>1000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名学生，每个学生有一个成绩，同时存放这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</a:rPr>
              <a:t>1000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名学生的成绩，就需要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</a:rPr>
              <a:t>1000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个变量</a:t>
            </a:r>
            <a:endParaRPr lang="en-US" altLang="zh-CN" sz="2800" b="1" dirty="0">
              <a:solidFill>
                <a:srgbClr val="000000"/>
              </a:solidFill>
              <a:latin typeface="黑体" pitchFamily="49" charset="-122"/>
            </a:endParaRPr>
          </a:p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定义变量：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</a:rPr>
              <a:t>float </a:t>
            </a: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</a:rPr>
              <a:t> s1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</a:rPr>
              <a:t>s2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lang="en-GB" altLang="en-US" sz="2800" b="1" dirty="0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en-US" sz="2800" b="1" dirty="0">
                <a:solidFill>
                  <a:srgbClr val="FF0000"/>
                </a:solidFill>
                <a:latin typeface="Arial" pitchFamily="34" charset="0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</a:rPr>
              <a:t>s100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</a:rPr>
              <a:t>0</a:t>
            </a:r>
            <a:endParaRPr lang="zh-CN" altLang="en-US" sz="2800" b="1" dirty="0">
              <a:solidFill>
                <a:srgbClr val="FF0000"/>
              </a:solidFill>
              <a:latin typeface="Arial" pitchFamily="34" charset="0"/>
            </a:endParaRPr>
          </a:p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显然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定义的变量过多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程序繁琐冗长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可读性差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66FF"/>
              </a:buClr>
              <a:buFont typeface="Wingdings" pitchFamily="2" charset="2"/>
              <a:buNone/>
            </a:pPr>
            <a:endParaRPr lang="zh-CN" altLang="en-US" sz="2800" b="1" dirty="0">
              <a:solidFill>
                <a:srgbClr val="000000"/>
              </a:solidFill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18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2701" y="-6350"/>
            <a:ext cx="4614863" cy="804863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5.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一维数组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6238" y="1204914"/>
            <a:ext cx="8528050" cy="4638675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zh-CN" altLang="zh-CN" sz="3600" b="1" dirty="0">
                <a:latin typeface="黑体" pitchFamily="49" charset="-122"/>
              </a:rPr>
              <a:t>  </a:t>
            </a:r>
            <a:r>
              <a:rPr lang="zh-CN" altLang="en-US" sz="2800" b="1" dirty="0">
                <a:latin typeface="黑体" pitchFamily="49" charset="-122"/>
              </a:rPr>
              <a:t>使用数组可把每个人的成绩用数组元素来表示。</a:t>
            </a:r>
          </a:p>
          <a:p>
            <a:pPr algn="just">
              <a:lnSpc>
                <a:spcPct val="105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</a:rPr>
              <a:t>            </a:t>
            </a:r>
            <a:r>
              <a:rPr lang="zh-CN" altLang="zh-CN" sz="2800" dirty="0">
                <a:solidFill>
                  <a:schemeClr val="hlink"/>
                </a:solidFill>
              </a:rPr>
              <a:t>s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[0]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zh-CN" altLang="zh-CN" sz="2800" dirty="0">
                <a:solidFill>
                  <a:schemeClr val="hlink"/>
                </a:solidFill>
              </a:rPr>
              <a:t>s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[1]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zh-CN" altLang="zh-CN" sz="2800" dirty="0">
                <a:solidFill>
                  <a:schemeClr val="hlink"/>
                </a:solidFill>
              </a:rPr>
              <a:t>s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[2]</a:t>
            </a:r>
            <a:r>
              <a:rPr lang="zh-CN" altLang="zh-CN" sz="2800" b="1" dirty="0">
                <a:latin typeface="Times New Roman" pitchFamily="18" charset="0"/>
              </a:rPr>
              <a:t>, …,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zh-CN" altLang="zh-CN" sz="2800" dirty="0">
                <a:solidFill>
                  <a:schemeClr val="hlink"/>
                </a:solidFill>
              </a:rPr>
              <a:t>s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[</a:t>
            </a:r>
            <a:r>
              <a:rPr lang="en-US" altLang="zh-CN" sz="2800" b="1" dirty="0">
                <a:solidFill>
                  <a:schemeClr val="hlink"/>
                </a:solidFill>
                <a:latin typeface="黑体" pitchFamily="49" charset="-122"/>
              </a:rPr>
              <a:t>9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99]</a:t>
            </a:r>
          </a:p>
          <a:p>
            <a:pPr algn="just">
              <a:lnSpc>
                <a:spcPct val="12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</a:rPr>
              <a:t>  </a:t>
            </a:r>
            <a:r>
              <a:rPr lang="zh-CN" altLang="en-US" sz="2800" b="1" dirty="0">
                <a:latin typeface="黑体" pitchFamily="49" charset="-122"/>
              </a:rPr>
              <a:t>这样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在程序中只需定义一个具有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100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个数组元素</a:t>
            </a:r>
            <a:r>
              <a:rPr lang="zh-CN" altLang="en-US" sz="2800" b="1" dirty="0">
                <a:latin typeface="黑体" pitchFamily="49" charset="-122"/>
              </a:rPr>
              <a:t>的数组</a:t>
            </a:r>
            <a:r>
              <a:rPr lang="zh-CN" altLang="zh-CN" sz="2800" dirty="0"/>
              <a:t>s</a:t>
            </a:r>
            <a:r>
              <a:rPr lang="zh-CN" altLang="en-US" sz="2800" b="1" dirty="0">
                <a:latin typeface="黑体" pitchFamily="49" charset="-122"/>
              </a:rPr>
              <a:t>。处理数据时可以使用循环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>
              <a:lnSpc>
                <a:spcPct val="110000"/>
              </a:lnSpc>
              <a:spcBef>
                <a:spcPct val="5500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FF3300"/>
                </a:solidFill>
                <a:latin typeface="黑体" pitchFamily="49" charset="-122"/>
              </a:rPr>
              <a:t>      </a:t>
            </a:r>
            <a:r>
              <a:rPr lang="zh-CN" altLang="zh-CN" sz="2800" b="1" dirty="0"/>
              <a:t>for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/>
              <a:t>i=</a:t>
            </a:r>
            <a:r>
              <a:rPr lang="zh-CN" altLang="zh-CN" sz="2800" b="1" dirty="0">
                <a:latin typeface="Arial" pitchFamily="34" charset="0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  <a:r>
              <a:rPr lang="zh-CN" altLang="zh-CN" sz="2800" b="1" dirty="0"/>
              <a:t>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99</a:t>
            </a:r>
            <a:r>
              <a:rPr lang="en-US" altLang="zh-CN" sz="2800" b="1" dirty="0">
                <a:latin typeface="Arial" pitchFamily="34" charset="0"/>
              </a:rPr>
              <a:t>9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  <a:r>
              <a:rPr lang="zh-CN" altLang="zh-CN" sz="2800" b="1" dirty="0"/>
              <a:t>i++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br>
              <a:rPr lang="en-US" altLang="zh-CN" sz="2800" b="1" dirty="0">
                <a:solidFill>
                  <a:srgbClr val="FF3300"/>
                </a:solidFill>
                <a:latin typeface="Times New Roman" pitchFamily="18" charset="0"/>
              </a:rPr>
            </a:br>
            <a:r>
              <a:rPr lang="en-US" altLang="zh-CN" sz="2800" b="1" dirty="0">
                <a:solidFill>
                  <a:srgbClr val="FF3300"/>
                </a:solidFill>
                <a:latin typeface="Times New Roman" pitchFamily="18" charset="0"/>
              </a:rPr>
              <a:t>                 </a:t>
            </a:r>
            <a:r>
              <a:rPr lang="zh-CN" altLang="zh-CN" sz="2800" b="1" dirty="0"/>
              <a:t>sum=sum+</a:t>
            </a:r>
            <a:r>
              <a:rPr lang="zh-CN" altLang="zh-CN" sz="2800" b="1" dirty="0">
                <a:solidFill>
                  <a:schemeClr val="hlink"/>
                </a:solidFill>
              </a:rPr>
              <a:t>s</a:t>
            </a:r>
            <a:r>
              <a:rPr lang="zh-CN" altLang="zh-CN" sz="2800" b="1" dirty="0">
                <a:solidFill>
                  <a:schemeClr val="hlink"/>
                </a:solidFill>
                <a:latin typeface="Courier New" pitchFamily="49" charset="0"/>
              </a:rPr>
              <a:t>[</a:t>
            </a:r>
            <a:r>
              <a:rPr lang="zh-CN" altLang="zh-CN" sz="2800" b="1" dirty="0">
                <a:solidFill>
                  <a:schemeClr val="hlink"/>
                </a:solidFill>
              </a:rPr>
              <a:t>i</a:t>
            </a:r>
            <a:r>
              <a:rPr lang="zh-CN" altLang="zh-CN" sz="2800" b="1" dirty="0">
                <a:solidFill>
                  <a:schemeClr val="hlink"/>
                </a:solidFill>
                <a:latin typeface="Courier New" pitchFamily="49" charset="0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2190750" y="5383655"/>
            <a:ext cx="8355012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使用数组可以使程序结构更加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合理、简洁、清晰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  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提高程序的功能和灵活性。</a:t>
            </a:r>
          </a:p>
        </p:txBody>
      </p:sp>
    </p:spTree>
    <p:extLst>
      <p:ext uri="{BB962C8B-B14F-4D97-AF65-F5344CB8AC3E}">
        <p14:creationId xmlns:p14="http://schemas.microsoft.com/office/powerpoint/2010/main" val="153728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19300" y="1196976"/>
            <a:ext cx="8426450" cy="4310063"/>
          </a:xfrm>
        </p:spPr>
        <p:txBody>
          <a:bodyPr vert="horz" wrap="square" lIns="10080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69875" indent="-269875">
              <a:buSzPct val="50000"/>
            </a:pPr>
            <a:r>
              <a:rPr lang="zh-CN" altLang="en-US" sz="2800" b="1" dirty="0"/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    </a:t>
            </a:r>
          </a:p>
          <a:p>
            <a:pPr marL="269875" indent="-269875">
              <a:lnSpc>
                <a:spcPct val="110000"/>
              </a:lnSpc>
              <a:buSzPct val="85000"/>
              <a:buNone/>
            </a:pPr>
            <a:r>
              <a:rPr lang="zh-CN" altLang="zh-CN" sz="2800" b="1" dirty="0">
                <a:solidFill>
                  <a:schemeClr val="hlink"/>
                </a:solidFill>
              </a:rPr>
              <a:t>             </a:t>
            </a:r>
            <a:r>
              <a:rPr lang="zh-CN" altLang="en-US" sz="2800" b="1" dirty="0">
                <a:solidFill>
                  <a:schemeClr val="hlink"/>
                </a:solidFill>
              </a:rPr>
              <a:t>类型说明符   数组名</a:t>
            </a:r>
            <a:r>
              <a:rPr lang="zh-CN" altLang="zh-CN" sz="2800" b="1" dirty="0">
                <a:latin typeface="Courier New" pitchFamily="49" charset="0"/>
              </a:rPr>
              <a:t>[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常量表达式</a:t>
            </a:r>
            <a:r>
              <a:rPr lang="zh-CN" altLang="zh-CN" sz="2800" b="1" dirty="0">
                <a:latin typeface="Courier New" pitchFamily="49" charset="0"/>
              </a:rPr>
              <a:t>]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</a:p>
          <a:p>
            <a:pPr marL="269875" indent="-269875">
              <a:buSzPct val="85000"/>
              <a:buFont typeface="Wingdings" pitchFamily="2" charset="2"/>
              <a:buChar char="Ø"/>
            </a:pPr>
            <a:endParaRPr lang="zh-CN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269875" indent="-269875">
              <a:buSzPct val="85000"/>
              <a:buFont typeface="Wingdings" pitchFamily="2" charset="2"/>
              <a:buChar char="Ø"/>
            </a:pPr>
            <a:endParaRPr lang="zh-CN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269875" indent="-269875">
              <a:buSzPct val="85000"/>
              <a:buFont typeface="Wingdings" pitchFamily="2" charset="2"/>
              <a:buChar char="Ø"/>
            </a:pPr>
            <a:endParaRPr lang="zh-CN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269875" indent="-269875">
              <a:buSzPct val="85000"/>
              <a:buNone/>
            </a:pPr>
            <a:endParaRPr lang="zh-CN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269875" indent="-269875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                </a:t>
            </a:r>
            <a:endParaRPr lang="zh-CN" altLang="zh-CN" sz="2800" b="1" dirty="0"/>
          </a:p>
        </p:txBody>
      </p:sp>
      <p:sp>
        <p:nvSpPr>
          <p:cNvPr id="317443" name="AutoShape 3"/>
          <p:cNvSpPr>
            <a:spLocks noChangeArrowheads="1"/>
          </p:cNvSpPr>
          <p:nvPr/>
        </p:nvSpPr>
        <p:spPr bwMode="auto">
          <a:xfrm>
            <a:off x="5519739" y="2636839"/>
            <a:ext cx="2160587" cy="739775"/>
          </a:xfrm>
          <a:prstGeom prst="wedgeRoundRectCallout">
            <a:avLst>
              <a:gd name="adj1" fmla="val -7750"/>
              <a:gd name="adj2" fmla="val -105148"/>
              <a:gd name="adj3" fmla="val 16667"/>
            </a:avLst>
          </a:prstGeom>
          <a:noFill/>
          <a:ln w="2222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" tIns="10800" rIns="7200" bIns="108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数组的名称</a:t>
            </a:r>
            <a:r>
              <a:rPr lang="zh-CN" altLang="zh-CN" sz="16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1600" b="1">
                <a:solidFill>
                  <a:srgbClr val="000000"/>
                </a:solidFill>
              </a:rPr>
              <a:t> </a:t>
            </a:r>
            <a:r>
              <a:rPr lang="zh-CN" altLang="en-US" sz="2000" b="1">
                <a:solidFill>
                  <a:srgbClr val="000000"/>
                </a:solidFill>
              </a:rPr>
              <a:t>命名方法同变量名</a:t>
            </a:r>
            <a:r>
              <a:rPr lang="zh-CN" altLang="en-US" sz="12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title"/>
          </p:nvPr>
        </p:nvSpPr>
        <p:spPr>
          <a:xfrm>
            <a:off x="3619500" y="20638"/>
            <a:ext cx="5105400" cy="785812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一、一维数组的定义</a:t>
            </a:r>
          </a:p>
        </p:txBody>
      </p:sp>
      <p:sp>
        <p:nvSpPr>
          <p:cNvPr id="317445" name="AutoShape 5"/>
          <p:cNvSpPr>
            <a:spLocks noChangeArrowheads="1"/>
          </p:cNvSpPr>
          <p:nvPr/>
        </p:nvSpPr>
        <p:spPr bwMode="auto">
          <a:xfrm>
            <a:off x="2398713" y="2397126"/>
            <a:ext cx="1339850" cy="684213"/>
          </a:xfrm>
          <a:prstGeom prst="wedgeRoundRectCallout">
            <a:avLst>
              <a:gd name="adj1" fmla="val 46329"/>
              <a:gd name="adj2" fmla="val -80394"/>
              <a:gd name="adj3" fmla="val 16667"/>
            </a:avLst>
          </a:prstGeom>
          <a:noFill/>
          <a:ln w="2222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说明数组的类型</a:t>
            </a:r>
          </a:p>
        </p:txBody>
      </p:sp>
      <p:sp>
        <p:nvSpPr>
          <p:cNvPr id="317446" name="AutoShape 6"/>
          <p:cNvSpPr>
            <a:spLocks noChangeArrowheads="1"/>
          </p:cNvSpPr>
          <p:nvPr/>
        </p:nvSpPr>
        <p:spPr bwMode="auto">
          <a:xfrm>
            <a:off x="8593139" y="938214"/>
            <a:ext cx="1597025" cy="479425"/>
          </a:xfrm>
          <a:prstGeom prst="wedgeRoundRectCallout">
            <a:avLst>
              <a:gd name="adj1" fmla="val -39167"/>
              <a:gd name="adj2" fmla="val 123181"/>
              <a:gd name="adj3" fmla="val 16667"/>
            </a:avLst>
          </a:prstGeom>
          <a:noFill/>
          <a:ln w="2222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下标运算符</a:t>
            </a:r>
          </a:p>
        </p:txBody>
      </p:sp>
      <p:sp>
        <p:nvSpPr>
          <p:cNvPr id="317447" name="AutoShape 7"/>
          <p:cNvSpPr>
            <a:spLocks noChangeArrowheads="1"/>
          </p:cNvSpPr>
          <p:nvPr/>
        </p:nvSpPr>
        <p:spPr bwMode="auto">
          <a:xfrm>
            <a:off x="8256589" y="2492375"/>
            <a:ext cx="1978025" cy="655638"/>
          </a:xfrm>
          <a:prstGeom prst="wedgeRoundRectCallout">
            <a:avLst>
              <a:gd name="adj1" fmla="val -66532"/>
              <a:gd name="adj2" fmla="val -89708"/>
              <a:gd name="adj3" fmla="val 16667"/>
            </a:avLst>
          </a:prstGeom>
          <a:noFill/>
          <a:ln w="2222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" tIns="10800" rIns="7200" bIns="108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数组元素的个数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</a:rPr>
              <a:t>(</a:t>
            </a: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数组长度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</a:rPr>
              <a:t>)</a:t>
            </a:r>
          </a:p>
        </p:txBody>
      </p:sp>
      <p:sp>
        <p:nvSpPr>
          <p:cNvPr id="317448" name="Rectangle 8"/>
          <p:cNvSpPr>
            <a:spLocks noChangeArrowheads="1"/>
          </p:cNvSpPr>
          <p:nvPr/>
        </p:nvSpPr>
        <p:spPr bwMode="auto">
          <a:xfrm>
            <a:off x="2324101" y="4203700"/>
            <a:ext cx="8423275" cy="173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数组是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长度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数量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)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固定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类型相同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的若干变量的有序集合。</a:t>
            </a:r>
          </a:p>
          <a:p>
            <a:pPr marL="274638" indent="-274638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数组中的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每一个变量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数组元素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</a:rPr>
              <a:t>属于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同一个数据类型</a:t>
            </a: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274638" indent="-274638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数组在内存中占有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一段连续的存储空间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</a:p>
        </p:txBody>
      </p:sp>
      <p:sp>
        <p:nvSpPr>
          <p:cNvPr id="317449" name="Text Box 9"/>
          <p:cNvSpPr txBox="1">
            <a:spLocks noChangeArrowheads="1"/>
          </p:cNvSpPr>
          <p:nvPr/>
        </p:nvSpPr>
        <p:spPr bwMode="auto">
          <a:xfrm>
            <a:off x="7751764" y="2205039"/>
            <a:ext cx="2592387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0" name="Line 10"/>
          <p:cNvSpPr>
            <a:spLocks noChangeShapeType="1"/>
          </p:cNvSpPr>
          <p:nvPr/>
        </p:nvSpPr>
        <p:spPr bwMode="auto">
          <a:xfrm>
            <a:off x="3668712" y="4678365"/>
            <a:ext cx="1995239" cy="0"/>
          </a:xfrm>
          <a:prstGeom prst="line">
            <a:avLst/>
          </a:prstGeom>
          <a:noFill/>
          <a:ln w="25400" cmpd="sng">
            <a:solidFill>
              <a:srgbClr val="002BB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1" name="Line 11"/>
          <p:cNvSpPr>
            <a:spLocks noChangeShapeType="1"/>
          </p:cNvSpPr>
          <p:nvPr/>
        </p:nvSpPr>
        <p:spPr bwMode="auto">
          <a:xfrm>
            <a:off x="5841727" y="4661696"/>
            <a:ext cx="1244600" cy="6350"/>
          </a:xfrm>
          <a:prstGeom prst="line">
            <a:avLst/>
          </a:prstGeom>
          <a:noFill/>
          <a:ln w="25400" cmpd="sng">
            <a:solidFill>
              <a:srgbClr val="002BB4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2" name="Text Box 12"/>
          <p:cNvSpPr txBox="1">
            <a:spLocks noChangeArrowheads="1"/>
          </p:cNvSpPr>
          <p:nvPr/>
        </p:nvSpPr>
        <p:spPr bwMode="auto">
          <a:xfrm>
            <a:off x="8183563" y="836614"/>
            <a:ext cx="2233612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3" name="Text Box 13"/>
          <p:cNvSpPr txBox="1">
            <a:spLocks noChangeArrowheads="1"/>
          </p:cNvSpPr>
          <p:nvPr/>
        </p:nvSpPr>
        <p:spPr bwMode="auto">
          <a:xfrm>
            <a:off x="5448301" y="2228850"/>
            <a:ext cx="2303463" cy="11996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18800" bIns="15480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4" name="Text Box 14"/>
          <p:cNvSpPr txBox="1">
            <a:spLocks noChangeArrowheads="1"/>
          </p:cNvSpPr>
          <p:nvPr/>
        </p:nvSpPr>
        <p:spPr bwMode="auto">
          <a:xfrm>
            <a:off x="2374900" y="2185989"/>
            <a:ext cx="1512888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17455" name="Rectangle 15"/>
          <p:cNvSpPr>
            <a:spLocks noChangeArrowheads="1"/>
          </p:cNvSpPr>
          <p:nvPr/>
        </p:nvSpPr>
        <p:spPr bwMode="auto">
          <a:xfrm>
            <a:off x="2104752" y="2475708"/>
            <a:ext cx="747395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</a:rPr>
              <a:t>    </a:t>
            </a:r>
            <a:r>
              <a:rPr lang="zh-CN" altLang="en-US" sz="2800" b="1">
                <a:solidFill>
                  <a:srgbClr val="000000"/>
                </a:solidFill>
              </a:rPr>
              <a:t>例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 int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10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;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</a:p>
          <a:p>
            <a:pPr algn="ctr" fontAlgn="base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</a:rPr>
              <a:t>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3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…,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9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endParaRPr lang="zh-CN" altLang="zh-CN" sz="2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46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nimBg="1" autoUpdateAnimBg="0"/>
      <p:bldP spid="317445" grpId="0" animBg="1" autoUpdateAnimBg="0"/>
      <p:bldP spid="317446" grpId="0" animBg="1" autoUpdateAnimBg="0"/>
      <p:bldP spid="317447" grpId="0" animBg="1" autoUpdateAnimBg="0"/>
      <p:bldP spid="317448" grpId="0" build="p" autoUpdateAnimBg="0"/>
      <p:bldP spid="317449" grpId="0" animBg="1" autoUpdateAnimBg="0"/>
      <p:bldP spid="317450" grpId="0" animBg="1"/>
      <p:bldP spid="317451" grpId="0" animBg="1"/>
      <p:bldP spid="317452" grpId="0" animBg="1" autoUpdateAnimBg="0"/>
      <p:bldP spid="317453" grpId="0" animBg="1" autoUpdateAnimBg="0"/>
      <p:bldP spid="317454" grpId="0" animBg="1" autoUpdateAnimBg="0"/>
      <p:bldP spid="31745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ChangeArrowheads="1"/>
          </p:cNvSpPr>
          <p:nvPr/>
        </p:nvSpPr>
        <p:spPr bwMode="auto">
          <a:xfrm>
            <a:off x="2424113" y="227014"/>
            <a:ext cx="57912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rgbClr val="333399"/>
                </a:solidFill>
                <a:ea typeface="楷体_GB2312" pitchFamily="49" charset="-122"/>
              </a:rPr>
              <a:t>说明：</a:t>
            </a:r>
            <a:endParaRPr lang="zh-CN" altLang="en-US" sz="3200" b="1">
              <a:solidFill>
                <a:srgbClr val="333399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561" y="1844824"/>
            <a:ext cx="8234363" cy="1206500"/>
          </a:xfrm>
        </p:spPr>
        <p:txBody>
          <a:bodyPr/>
          <a:lstStyle/>
          <a:p>
            <a:pPr marL="196850" indent="-196850">
              <a:buSzPct val="50000"/>
            </a:pPr>
            <a:r>
              <a:rPr lang="zh-CN" altLang="en-US" sz="2800" b="1" dirty="0">
                <a:latin typeface="黑体" pitchFamily="49" charset="-122"/>
              </a:rPr>
              <a:t>用方括号将常量表达式括起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Times New Roman" pitchFamily="18" charset="0"/>
              </a:rPr>
              <a:t>不能</a:t>
            </a:r>
            <a:r>
              <a:rPr lang="zh-CN" altLang="en-US" sz="2800" b="1" dirty="0">
                <a:latin typeface="Courier New" pitchFamily="49" charset="0"/>
              </a:rPr>
              <a:t>使用圆括号</a:t>
            </a:r>
            <a:r>
              <a:rPr lang="zh-CN" altLang="en-US" sz="2800" b="1" dirty="0">
                <a:latin typeface="Times New Roman" pitchFamily="18" charset="0"/>
              </a:rPr>
              <a:t>。</a:t>
            </a:r>
          </a:p>
          <a:p>
            <a:pPr marL="196850" indent="-196850">
              <a:lnSpc>
                <a:spcPct val="110000"/>
              </a:lnSpc>
              <a:spcBef>
                <a:spcPct val="40000"/>
              </a:spcBef>
              <a:buSzPct val="85000"/>
              <a:buNone/>
            </a:pPr>
            <a:r>
              <a:rPr lang="zh-CN" altLang="en-US" sz="2800" b="1" dirty="0"/>
              <a:t>  如</a:t>
            </a:r>
            <a:r>
              <a:rPr lang="zh-CN" altLang="zh-CN" sz="2800" b="1" dirty="0">
                <a:latin typeface="Times New Roman" pitchFamily="18" charset="0"/>
              </a:rPr>
              <a:t>:               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5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  <a:r>
              <a:rPr lang="zh-CN" altLang="zh-CN" sz="2800" b="1" dirty="0"/>
              <a:t> </a:t>
            </a:r>
          </a:p>
        </p:txBody>
      </p:sp>
      <p:sp>
        <p:nvSpPr>
          <p:cNvPr id="318468" name="Rectangle 4"/>
          <p:cNvSpPr>
            <a:spLocks noChangeArrowheads="1"/>
          </p:cNvSpPr>
          <p:nvPr/>
        </p:nvSpPr>
        <p:spPr bwMode="auto">
          <a:xfrm>
            <a:off x="6029699" y="2533799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318471" name="Rectangle 7"/>
          <p:cNvSpPr>
            <a:spLocks noChangeArrowheads="1"/>
          </p:cNvSpPr>
          <p:nvPr/>
        </p:nvSpPr>
        <p:spPr bwMode="auto">
          <a:xfrm>
            <a:off x="2172072" y="3424386"/>
            <a:ext cx="8460431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96850" indent="-19685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整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常量表达式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(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不可是浮点数，不能出现变量，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同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case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后的表达式）</a:t>
            </a:r>
            <a:endParaRPr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  <a:p>
            <a:pPr marL="196850" indent="-19685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定义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了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数组的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长度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（数组元素的个数，数组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元素的个数</a:t>
            </a:r>
            <a:r>
              <a:rPr lang="en-US" altLang="zh-C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&gt;0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）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3747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 autoUpdateAnimBg="0"/>
      <p:bldP spid="318468" grpId="0" build="p" autoUpdateAnimBg="0"/>
      <p:bldP spid="31847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74863" y="975518"/>
            <a:ext cx="7969250" cy="2316162"/>
          </a:xfrm>
        </p:spPr>
        <p:txBody>
          <a:bodyPr/>
          <a:lstStyle/>
          <a:p>
            <a:pPr marL="290513" indent="-290513">
              <a:lnSpc>
                <a:spcPct val="130000"/>
              </a:lnSpc>
              <a:buSzPct val="50000"/>
            </a:pPr>
            <a:r>
              <a:rPr lang="zh-CN" altLang="en-US" sz="2400" b="1" dirty="0">
                <a:latin typeface="黑体" pitchFamily="49" charset="-122"/>
              </a:rPr>
              <a:t>常量表达式</a:t>
            </a:r>
            <a:r>
              <a:rPr lang="zh-CN" altLang="en-US" sz="2400" b="1" dirty="0">
                <a:latin typeface="Times New Roman" pitchFamily="18" charset="0"/>
              </a:rPr>
              <a:t>可以是</a:t>
            </a:r>
            <a:r>
              <a:rPr lang="zh-CN" altLang="en-US" sz="2400" b="1" dirty="0">
                <a:latin typeface="黑体" pitchFamily="49" charset="-122"/>
              </a:rPr>
              <a:t>整数</a:t>
            </a:r>
            <a:r>
              <a:rPr lang="zh-CN" altLang="en-US" sz="2400" b="1" dirty="0">
                <a:latin typeface="Times New Roman" pitchFamily="18" charset="0"/>
              </a:rPr>
              <a:t>、符号常量或</a:t>
            </a:r>
            <a:r>
              <a:rPr lang="zh-CN" altLang="en-US" sz="2400" b="1"/>
              <a:t>常量表达式</a:t>
            </a:r>
            <a:r>
              <a:rPr lang="zh-CN" altLang="en-US" sz="2400" b="1">
                <a:latin typeface="Times New Roman" pitchFamily="18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整常量表达式</a:t>
            </a:r>
            <a:r>
              <a:rPr lang="zh-CN" altLang="en-US" sz="2400" b="1">
                <a:latin typeface="Times New Roman" pitchFamily="18" charset="0"/>
              </a:rPr>
              <a:t>）</a:t>
            </a:r>
            <a:r>
              <a:rPr lang="zh-CN" altLang="en-US" sz="2400" b="1">
                <a:latin typeface="黑体" pitchFamily="49" charset="-122"/>
              </a:rPr>
              <a:t>其</a:t>
            </a:r>
            <a:r>
              <a:rPr lang="zh-CN" altLang="en-US" sz="2400" b="1" dirty="0">
                <a:latin typeface="黑体" pitchFamily="49" charset="-122"/>
              </a:rPr>
              <a:t>值必须是</a:t>
            </a:r>
            <a:r>
              <a:rPr lang="zh-CN" altLang="en-US" sz="2400" b="1" dirty="0">
                <a:solidFill>
                  <a:schemeClr val="hlink"/>
                </a:solidFill>
                <a:latin typeface="黑体" pitchFamily="49" charset="-122"/>
              </a:rPr>
              <a:t>正</a:t>
            </a:r>
            <a:r>
              <a:rPr lang="zh-CN" altLang="en-US" sz="2400" b="1" dirty="0">
                <a:latin typeface="黑体" pitchFamily="49" charset="-122"/>
              </a:rPr>
              <a:t>整数</a:t>
            </a:r>
            <a:r>
              <a:rPr lang="en-US" altLang="zh-CN" sz="2400" b="1" dirty="0">
                <a:latin typeface="黑体" pitchFamily="49" charset="-12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&gt;0,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且不可以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是浮点数，不可</a:t>
            </a:r>
            <a:r>
              <a:rPr lang="zh-CN" altLang="en-US" sz="2400" b="1">
                <a:latin typeface="Times New Roman" pitchFamily="18" charset="0"/>
              </a:rPr>
              <a:t>包含</a:t>
            </a:r>
            <a:r>
              <a:rPr lang="zh-CN" altLang="en-US" sz="2400" b="1">
                <a:solidFill>
                  <a:schemeClr val="hlink"/>
                </a:solidFill>
                <a:latin typeface="Times New Roman" pitchFamily="18" charset="0"/>
              </a:rPr>
              <a:t>变量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en-US" altLang="zh-CN" sz="2400" b="1">
                <a:latin typeface="黑体" pitchFamily="49" charset="-122"/>
              </a:rPr>
              <a:t>)</a:t>
            </a:r>
            <a:r>
              <a:rPr lang="zh-CN" altLang="en-US" sz="2400" b="1" dirty="0">
                <a:latin typeface="黑体" pitchFamily="49" charset="-122"/>
              </a:rPr>
              <a:t>。   </a:t>
            </a:r>
          </a:p>
          <a:p>
            <a:pPr marL="290513" indent="-290513">
              <a:buNone/>
            </a:pPr>
            <a:r>
              <a:rPr lang="zh-CN" altLang="en-US" sz="2400" b="1" dirty="0"/>
              <a:t>           </a:t>
            </a:r>
          </a:p>
        </p:txBody>
      </p:sp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2400301" y="2336800"/>
            <a:ext cx="8088313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如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zh-CN" altLang="zh-CN" sz="2400" b="1" dirty="0">
                <a:solidFill>
                  <a:srgbClr val="000000"/>
                </a:solidFill>
              </a:rPr>
              <a:t>  #define 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10</a:t>
            </a:r>
          </a:p>
          <a:p>
            <a:pPr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     </a:t>
            </a:r>
            <a:r>
              <a:rPr lang="zh-CN" altLang="zh-CN" sz="2400" b="1" dirty="0">
                <a:solidFill>
                  <a:srgbClr val="000000"/>
                </a:solidFill>
              </a:rPr>
              <a:t>int  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altLang="zh-CN" sz="2400" b="1" dirty="0">
                <a:solidFill>
                  <a:srgbClr val="00009E"/>
                </a:solidFill>
                <a:latin typeface="Arial" pitchFamily="34" charset="0"/>
              </a:rPr>
              <a:t>5+7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 b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c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‘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0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’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  </a:t>
            </a:r>
            <a:r>
              <a:rPr lang="zh-CN" altLang="zh-CN" sz="2400" b="1" dirty="0">
                <a:solidFill>
                  <a:srgbClr val="000000"/>
                </a:solidFill>
              </a:rPr>
              <a:t>float  d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2</a:t>
            </a:r>
            <a:r>
              <a:rPr lang="zh-CN" altLang="zh-CN" sz="2400" b="1" dirty="0">
                <a:solidFill>
                  <a:srgbClr val="00009E"/>
                </a:solidFill>
                <a:latin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2822576" y="225426"/>
            <a:ext cx="647382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类型说明符  数组名</a:t>
            </a:r>
            <a:r>
              <a:rPr lang="zh-CN" altLang="zh-CN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常量表达式</a:t>
            </a:r>
            <a:r>
              <a:rPr lang="zh-CN" altLang="zh-CN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zh-CN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319493" name="Rectangle 5"/>
          <p:cNvSpPr>
            <a:spLocks noChangeArrowheads="1"/>
          </p:cNvSpPr>
          <p:nvPr/>
        </p:nvSpPr>
        <p:spPr bwMode="auto">
          <a:xfrm>
            <a:off x="3071813" y="3429001"/>
            <a:ext cx="7162800" cy="279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定义了四个一维数组 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</a:t>
            </a:r>
          </a:p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en-US" sz="2400" b="1">
                <a:solidFill>
                  <a:srgbClr val="000000"/>
                </a:solidFill>
              </a:rPr>
              <a:t>有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12</a:t>
            </a:r>
            <a:r>
              <a:rPr lang="zh-CN" altLang="en-US" sz="2400" b="1">
                <a:solidFill>
                  <a:srgbClr val="000000"/>
                </a:solidFill>
                <a:ea typeface="Dotum" pitchFamily="34" charset="-127"/>
              </a:rPr>
              <a:t>个</a:t>
            </a:r>
            <a:r>
              <a:rPr lang="zh-CN" altLang="en-US" sz="2400" b="1">
                <a:solidFill>
                  <a:srgbClr val="000000"/>
                </a:solidFill>
              </a:rPr>
              <a:t>数组元素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: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0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  <a:r>
              <a:rPr lang="zh-CN" altLang="en-US" sz="2400" b="1">
                <a:solidFill>
                  <a:srgbClr val="000000"/>
                </a:solidFill>
              </a:rPr>
              <a:t>～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11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b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有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个数组元素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  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b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0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～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b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9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</a:p>
          <a:p>
            <a:pPr fontAlgn="base">
              <a:lnSpc>
                <a:spcPct val="105000"/>
              </a:lnSpc>
              <a:spcBef>
                <a:spcPct val="4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c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有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48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个数组元素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  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c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0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～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c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47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</a:p>
          <a:p>
            <a:pPr fontAlgn="base">
              <a:lnSpc>
                <a:spcPct val="105000"/>
              </a:lnSpc>
              <a:spcBef>
                <a:spcPct val="4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d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有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20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个数组元素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  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d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0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～</a:t>
            </a:r>
            <a:r>
              <a:rPr lang="zh-CN" altLang="zh-CN" sz="2400" b="1">
                <a:solidFill>
                  <a:srgbClr val="002498"/>
                </a:solidFill>
                <a:latin typeface="Arial" pitchFamily="34" charset="0"/>
              </a:rPr>
              <a:t>d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2498"/>
                </a:solidFill>
                <a:latin typeface="黑体" pitchFamily="49" charset="-122"/>
              </a:rPr>
              <a:t>19</a:t>
            </a:r>
            <a:r>
              <a:rPr lang="zh-CN" altLang="zh-CN" sz="2400" b="1">
                <a:solidFill>
                  <a:srgbClr val="002498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319494" name="Rectangle 6"/>
          <p:cNvSpPr>
            <a:spLocks noChangeArrowheads="1"/>
          </p:cNvSpPr>
          <p:nvPr/>
        </p:nvSpPr>
        <p:spPr bwMode="auto">
          <a:xfrm>
            <a:off x="3092221" y="3515132"/>
            <a:ext cx="5524059" cy="2706282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FF3300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26000"/>
          <a:lstStyle/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int  n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 m=5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pt-BR" altLang="en-US" sz="2400" b="1">
                <a:solidFill>
                  <a:srgbClr val="FF0000"/>
                </a:solidFill>
                <a:ea typeface="宋体" pitchFamily="2" charset="-122"/>
              </a:rPr>
              <a:t>d</a:t>
            </a:r>
            <a:r>
              <a:rPr lang="pt-BR" altLang="en-US" sz="2400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pt-BR" altLang="en-US" sz="2400" b="1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pt-BR" altLang="en-US" sz="2400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scanf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%d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 </a:t>
            </a:r>
            <a:r>
              <a:rPr lang="pt-BR" altLang="en-US" sz="2400">
                <a:solidFill>
                  <a:srgbClr val="000000"/>
                </a:solidFill>
                <a:ea typeface="宋体" pitchFamily="2" charset="-122"/>
              </a:rPr>
              <a:t>&amp;</a:t>
            </a: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n 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fontAlgn="base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pt-BR" altLang="en-US" sz="2400" b="1">
                <a:solidFill>
                  <a:srgbClr val="000000"/>
                </a:solidFill>
                <a:ea typeface="宋体" pitchFamily="2" charset="-122"/>
              </a:rPr>
              <a:t>int   </a:t>
            </a:r>
            <a:r>
              <a:rPr lang="pt-BR" altLang="en-US" sz="2400" b="1">
                <a:solidFill>
                  <a:srgbClr val="FF0000"/>
                </a:solidFill>
                <a:ea typeface="宋体" pitchFamily="2" charset="-122"/>
              </a:rPr>
              <a:t>c</a:t>
            </a:r>
            <a:r>
              <a:rPr lang="pt-BR" altLang="en-US" sz="2400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pt-BR" altLang="en-US" sz="2400" b="1">
                <a:solidFill>
                  <a:srgbClr val="FF0000"/>
                </a:solidFill>
                <a:ea typeface="宋体" pitchFamily="2" charset="-122"/>
              </a:rPr>
              <a:t>n</a:t>
            </a:r>
            <a:r>
              <a:rPr lang="pt-BR" altLang="en-US" sz="2400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pt-BR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int   num</a:t>
            </a:r>
            <a:r>
              <a:rPr lang="zh-CN" altLang="en-US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-8</a:t>
            </a:r>
            <a:r>
              <a:rPr lang="zh-CN" altLang="en-US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int   m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8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  <a:ea typeface="Dotum" pitchFamily="34" charset="-127"/>
              </a:rPr>
              <a:t>)</a:t>
            </a:r>
            <a:r>
              <a:rPr lang="zh-CN" altLang="en-US" sz="2400" b="1">
                <a:solidFill>
                  <a:srgbClr val="1C1C1C"/>
                </a:solidFill>
                <a:ea typeface="Dotum" pitchFamily="34" charset="-127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319495" name="Rectangle 7"/>
          <p:cNvSpPr>
            <a:spLocks noChangeArrowheads="1"/>
          </p:cNvSpPr>
          <p:nvPr/>
        </p:nvSpPr>
        <p:spPr bwMode="auto">
          <a:xfrm>
            <a:off x="6313489" y="3584575"/>
            <a:ext cx="54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319496" name="Rectangle 8"/>
          <p:cNvSpPr>
            <a:spLocks noChangeArrowheads="1"/>
          </p:cNvSpPr>
          <p:nvPr/>
        </p:nvSpPr>
        <p:spPr bwMode="auto">
          <a:xfrm>
            <a:off x="6313489" y="4592638"/>
            <a:ext cx="54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319497" name="Rectangle 9"/>
          <p:cNvSpPr>
            <a:spLocks noChangeArrowheads="1"/>
          </p:cNvSpPr>
          <p:nvPr/>
        </p:nvSpPr>
        <p:spPr bwMode="auto">
          <a:xfrm>
            <a:off x="6313489" y="5056188"/>
            <a:ext cx="54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319498" name="Rectangle 10"/>
          <p:cNvSpPr>
            <a:spLocks noChangeArrowheads="1"/>
          </p:cNvSpPr>
          <p:nvPr/>
        </p:nvSpPr>
        <p:spPr bwMode="auto">
          <a:xfrm>
            <a:off x="6296025" y="5561013"/>
            <a:ext cx="54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108265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 autoUpdateAnimBg="0"/>
      <p:bldP spid="319493" grpId="0" build="p" autoUpdateAnimBg="0"/>
      <p:bldP spid="319494" grpId="0" animBg="1" autoUpdateAnimBg="0"/>
      <p:bldP spid="319495" grpId="0" build="p" autoUpdateAnimBg="0"/>
      <p:bldP spid="319496" grpId="0" build="p" autoUpdateAnimBg="0"/>
      <p:bldP spid="319497" grpId="0" build="p" autoUpdateAnimBg="0"/>
      <p:bldP spid="31949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76488" y="68263"/>
            <a:ext cx="7315200" cy="754062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一维数组在内存中的存放方式：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3413" y="1093788"/>
            <a:ext cx="8678862" cy="4610100"/>
          </a:xfrm>
        </p:spPr>
        <p:txBody>
          <a:bodyPr/>
          <a:lstStyle/>
          <a:p>
            <a:pPr>
              <a:lnSpc>
                <a:spcPct val="125000"/>
              </a:lnSpc>
              <a:buClr>
                <a:srgbClr val="CC3300"/>
              </a:buClr>
              <a:buSzPct val="85000"/>
              <a:buFont typeface="Wingdings" pitchFamily="2" charset="2"/>
              <a:buChar char="&amp;"/>
            </a:pPr>
            <a:r>
              <a:rPr lang="zh-CN" altLang="en-US" sz="2400" b="1" dirty="0">
                <a:latin typeface="宋体" pitchFamily="2" charset="-122"/>
              </a:rPr>
              <a:t>数组定义以后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宋体" pitchFamily="2" charset="-122"/>
              </a:rPr>
              <a:t>编译器就会为这个数组在内存中分配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一串连续的存储单元</a:t>
            </a:r>
            <a:r>
              <a:rPr lang="zh-CN" altLang="en-US" sz="2400" b="1" dirty="0">
                <a:latin typeface="宋体" pitchFamily="2" charset="-122"/>
              </a:rPr>
              <a:t>用于存放数组元素的值</a:t>
            </a:r>
            <a:r>
              <a:rPr lang="zh-CN" altLang="en-US" sz="1800" b="1" dirty="0">
                <a:latin typeface="宋体" pitchFamily="2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数组名表示存储单元的首地址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Courier New" pitchFamily="49" charset="0"/>
              </a:rPr>
              <a:t>存储单元的多少由</a:t>
            </a:r>
            <a:r>
              <a:rPr lang="zh-CN" altLang="en-US" sz="2400" b="1" dirty="0">
                <a:solidFill>
                  <a:srgbClr val="FF0000"/>
                </a:solidFill>
                <a:latin typeface="Courier New" pitchFamily="49" charset="0"/>
              </a:rPr>
              <a:t>数组的类型</a:t>
            </a:r>
            <a:r>
              <a:rPr lang="zh-CN" altLang="en-US" sz="2400" b="1" dirty="0">
                <a:latin typeface="Courier New" pitchFamily="49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Courier New" pitchFamily="49" charset="0"/>
              </a:rPr>
              <a:t>数组的大小</a:t>
            </a:r>
            <a:r>
              <a:rPr lang="zh-CN" altLang="en-US" sz="2400" b="1" dirty="0">
                <a:latin typeface="Courier New" pitchFamily="49" charset="0"/>
              </a:rPr>
              <a:t>决定</a:t>
            </a:r>
            <a:r>
              <a:rPr lang="zh-CN" altLang="en-US" sz="1600" b="1" dirty="0">
                <a:latin typeface="Courier New" pitchFamily="49" charset="0"/>
              </a:rPr>
              <a:t>。</a:t>
            </a:r>
            <a:endParaRPr lang="zh-CN" altLang="en-US" sz="1600" b="1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buClr>
                <a:srgbClr val="CC3300"/>
              </a:buClr>
              <a:buSzPct val="85000"/>
              <a:buFont typeface="Wingdings" pitchFamily="2" charset="2"/>
              <a:buNone/>
            </a:pPr>
            <a:endParaRPr lang="zh-CN" altLang="en-US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endParaRPr lang="zh-CN" altLang="zh-CN" sz="2800" b="1" dirty="0">
              <a:solidFill>
                <a:schemeClr val="bg2"/>
              </a:solidFill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2225675" y="3400425"/>
            <a:ext cx="1106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C3300"/>
                </a:solidFill>
              </a:rPr>
              <a:t>数组</a:t>
            </a:r>
            <a:r>
              <a:rPr lang="zh-CN" altLang="zh-CN" sz="2400" b="1">
                <a:solidFill>
                  <a:srgbClr val="CC3300"/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320517" name="Text Box 5"/>
          <p:cNvSpPr txBox="1">
            <a:spLocks noChangeArrowheads="1"/>
          </p:cNvSpPr>
          <p:nvPr/>
        </p:nvSpPr>
        <p:spPr bwMode="auto">
          <a:xfrm>
            <a:off x="9463089" y="3748088"/>
            <a:ext cx="1004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C3300"/>
                </a:solidFill>
              </a:rPr>
              <a:t>下标</a:t>
            </a:r>
          </a:p>
        </p:txBody>
      </p:sp>
      <p:sp>
        <p:nvSpPr>
          <p:cNvPr id="320518" name="Text Box 6"/>
          <p:cNvSpPr txBox="1">
            <a:spLocks noChangeArrowheads="1"/>
          </p:cNvSpPr>
          <p:nvPr/>
        </p:nvSpPr>
        <p:spPr bwMode="auto">
          <a:xfrm>
            <a:off x="2135188" y="4024313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CC3300"/>
                </a:solidFill>
                <a:latin typeface="Arial" pitchFamily="34" charset="0"/>
                <a:ea typeface="宋体" pitchFamily="2" charset="-122"/>
              </a:rPr>
              <a:t>short</a:t>
            </a:r>
          </a:p>
        </p:txBody>
      </p:sp>
      <p:grpSp>
        <p:nvGrpSpPr>
          <p:cNvPr id="320519" name="Group 7"/>
          <p:cNvGrpSpPr>
            <a:grpSpLocks/>
          </p:cNvGrpSpPr>
          <p:nvPr/>
        </p:nvGrpSpPr>
        <p:grpSpPr bwMode="auto">
          <a:xfrm>
            <a:off x="3394075" y="4040188"/>
            <a:ext cx="5867400" cy="457200"/>
            <a:chOff x="0" y="0"/>
            <a:chExt cx="3696" cy="288"/>
          </a:xfrm>
        </p:grpSpPr>
        <p:sp>
          <p:nvSpPr>
            <p:cNvPr id="320520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33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zh-CN" altLang="en-US" sz="2400" b="1">
                  <a:solidFill>
                    <a:srgbClr val="CC3300"/>
                  </a:solidFill>
                  <a:latin typeface="Times New Roman" pitchFamily="18" charset="0"/>
                </a:rPr>
                <a:t>字节</a:t>
              </a:r>
            </a:p>
          </p:txBody>
        </p:sp>
        <p:sp>
          <p:nvSpPr>
            <p:cNvPr id="320521" name="Text Box 9"/>
            <p:cNvSpPr txBox="1">
              <a:spLocks noChangeArrowheads="1"/>
            </p:cNvSpPr>
            <p:nvPr/>
          </p:nvSpPr>
          <p:spPr bwMode="auto">
            <a:xfrm>
              <a:off x="768" y="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33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zh-CN" altLang="en-US" sz="2400" b="1">
                  <a:solidFill>
                    <a:srgbClr val="CC3300"/>
                  </a:solidFill>
                  <a:latin typeface="Times New Roman" pitchFamily="18" charset="0"/>
                </a:rPr>
                <a:t>字节</a:t>
              </a:r>
            </a:p>
          </p:txBody>
        </p:sp>
        <p:sp>
          <p:nvSpPr>
            <p:cNvPr id="320522" name="Text Box 10"/>
            <p:cNvSpPr txBox="1">
              <a:spLocks noChangeArrowheads="1"/>
            </p:cNvSpPr>
            <p:nvPr/>
          </p:nvSpPr>
          <p:spPr bwMode="auto">
            <a:xfrm>
              <a:off x="1584" y="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33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zh-CN" altLang="en-US" sz="2400" b="1">
                  <a:solidFill>
                    <a:srgbClr val="CC3300"/>
                  </a:solidFill>
                  <a:latin typeface="Times New Roman" pitchFamily="18" charset="0"/>
                </a:rPr>
                <a:t>字节</a:t>
              </a:r>
            </a:p>
          </p:txBody>
        </p:sp>
        <p:sp>
          <p:nvSpPr>
            <p:cNvPr id="320523" name="Text Box 11"/>
            <p:cNvSpPr txBox="1">
              <a:spLocks noChangeArrowheads="1"/>
            </p:cNvSpPr>
            <p:nvPr/>
          </p:nvSpPr>
          <p:spPr bwMode="auto">
            <a:xfrm>
              <a:off x="2304" y="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33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zh-CN" altLang="en-US" sz="2400" b="1">
                  <a:solidFill>
                    <a:srgbClr val="CC3300"/>
                  </a:solidFill>
                  <a:latin typeface="Times New Roman" pitchFamily="18" charset="0"/>
                </a:rPr>
                <a:t>字节</a:t>
              </a:r>
            </a:p>
          </p:txBody>
        </p:sp>
        <p:sp>
          <p:nvSpPr>
            <p:cNvPr id="320524" name="Text Box 12"/>
            <p:cNvSpPr txBox="1">
              <a:spLocks noChangeArrowheads="1"/>
            </p:cNvSpPr>
            <p:nvPr/>
          </p:nvSpPr>
          <p:spPr bwMode="auto">
            <a:xfrm>
              <a:off x="3072" y="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3300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zh-CN" altLang="en-US" sz="2400" b="1">
                  <a:solidFill>
                    <a:srgbClr val="CC3300"/>
                  </a:solidFill>
                  <a:latin typeface="Times New Roman" pitchFamily="18" charset="0"/>
                </a:rPr>
                <a:t>字节</a:t>
              </a:r>
            </a:p>
          </p:txBody>
        </p:sp>
      </p:grpSp>
      <p:grpSp>
        <p:nvGrpSpPr>
          <p:cNvPr id="320525" name="Group 13"/>
          <p:cNvGrpSpPr>
            <a:grpSpLocks/>
          </p:cNvGrpSpPr>
          <p:nvPr/>
        </p:nvGrpSpPr>
        <p:grpSpPr bwMode="auto">
          <a:xfrm>
            <a:off x="3343275" y="3316288"/>
            <a:ext cx="6096000" cy="584200"/>
            <a:chOff x="0" y="0"/>
            <a:chExt cx="3840" cy="374"/>
          </a:xfrm>
        </p:grpSpPr>
        <p:grpSp>
          <p:nvGrpSpPr>
            <p:cNvPr id="320526" name="Group 14"/>
            <p:cNvGrpSpPr>
              <a:grpSpLocks/>
            </p:cNvGrpSpPr>
            <p:nvPr/>
          </p:nvGrpSpPr>
          <p:grpSpPr bwMode="auto">
            <a:xfrm>
              <a:off x="0" y="0"/>
              <a:ext cx="3840" cy="374"/>
              <a:chOff x="0" y="0"/>
              <a:chExt cx="3840" cy="480"/>
            </a:xfrm>
          </p:grpSpPr>
          <p:grpSp>
            <p:nvGrpSpPr>
              <p:cNvPr id="320527" name="Group 15"/>
              <p:cNvGrpSpPr>
                <a:grpSpLocks/>
              </p:cNvGrpSpPr>
              <p:nvPr/>
            </p:nvGrpSpPr>
            <p:grpSpPr bwMode="auto">
              <a:xfrm>
                <a:off x="0" y="0"/>
                <a:ext cx="3840" cy="480"/>
                <a:chOff x="0" y="0"/>
                <a:chExt cx="3840" cy="480"/>
              </a:xfrm>
            </p:grpSpPr>
            <p:sp>
              <p:nvSpPr>
                <p:cNvPr id="320528" name="Line 16"/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3840" cy="0"/>
                </a:xfrm>
                <a:prstGeom prst="line">
                  <a:avLst/>
                </a:prstGeom>
                <a:noFill/>
                <a:ln w="28575" cap="sq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ea typeface="Dotum" pitchFamily="34" charset="-127"/>
                  </a:endParaRPr>
                </a:p>
              </p:txBody>
            </p:sp>
            <p:grpSp>
              <p:nvGrpSpPr>
                <p:cNvPr id="320529" name="Group 17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3840" cy="480"/>
                  <a:chOff x="0" y="0"/>
                  <a:chExt cx="3840" cy="480"/>
                </a:xfrm>
              </p:grpSpPr>
              <p:sp>
                <p:nvSpPr>
                  <p:cNvPr id="320530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3840" cy="0"/>
                  </a:xfrm>
                  <a:prstGeom prst="line">
                    <a:avLst/>
                  </a:prstGeom>
                  <a:noFill/>
                  <a:ln w="28575" cap="sq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1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0"/>
                    <a:ext cx="0" cy="480"/>
                  </a:xfrm>
                  <a:prstGeom prst="line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2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0"/>
                    <a:ext cx="0" cy="480"/>
                  </a:xfrm>
                  <a:prstGeom prst="line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0"/>
                    <a:ext cx="0" cy="480"/>
                  </a:xfrm>
                  <a:prstGeom prst="line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3072" y="0"/>
                    <a:ext cx="0" cy="480"/>
                  </a:xfrm>
                  <a:prstGeom prst="line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5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480"/>
                  </a:xfrm>
                  <a:prstGeom prst="line">
                    <a:avLst/>
                  </a:prstGeom>
                  <a:noFill/>
                  <a:ln w="28575" cap="sq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  <p:sp>
                <p:nvSpPr>
                  <p:cNvPr id="320536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840" y="0"/>
                    <a:ext cx="0" cy="480"/>
                  </a:xfrm>
                  <a:prstGeom prst="line">
                    <a:avLst/>
                  </a:prstGeom>
                  <a:noFill/>
                  <a:ln w="28575" cap="sq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</p:grpSp>
          </p:grpSp>
          <p:sp>
            <p:nvSpPr>
              <p:cNvPr id="320537" name="Line 25"/>
              <p:cNvSpPr>
                <a:spLocks noChangeShapeType="1"/>
              </p:cNvSpPr>
              <p:nvPr/>
            </p:nvSpPr>
            <p:spPr bwMode="auto">
              <a:xfrm>
                <a:off x="384" y="0"/>
                <a:ext cx="0" cy="480"/>
              </a:xfrm>
              <a:prstGeom prst="line">
                <a:avLst/>
              </a:prstGeom>
              <a:noFill/>
              <a:ln w="38100" cmpd="sng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20538" name="Line 26"/>
              <p:cNvSpPr>
                <a:spLocks noChangeShapeType="1"/>
              </p:cNvSpPr>
              <p:nvPr/>
            </p:nvSpPr>
            <p:spPr bwMode="auto">
              <a:xfrm>
                <a:off x="1152" y="0"/>
                <a:ext cx="0" cy="480"/>
              </a:xfrm>
              <a:prstGeom prst="line">
                <a:avLst/>
              </a:prstGeom>
              <a:noFill/>
              <a:ln w="38100" cmpd="sng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20539" name="Line 27"/>
              <p:cNvSpPr>
                <a:spLocks noChangeShapeType="1"/>
              </p:cNvSpPr>
              <p:nvPr/>
            </p:nvSpPr>
            <p:spPr bwMode="auto">
              <a:xfrm>
                <a:off x="1920" y="0"/>
                <a:ext cx="0" cy="480"/>
              </a:xfrm>
              <a:prstGeom prst="line">
                <a:avLst/>
              </a:prstGeom>
              <a:noFill/>
              <a:ln w="38100" cmpd="sng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20540" name="Line 28"/>
              <p:cNvSpPr>
                <a:spLocks noChangeShapeType="1"/>
              </p:cNvSpPr>
              <p:nvPr/>
            </p:nvSpPr>
            <p:spPr bwMode="auto">
              <a:xfrm>
                <a:off x="2688" y="0"/>
                <a:ext cx="0" cy="480"/>
              </a:xfrm>
              <a:prstGeom prst="line">
                <a:avLst/>
              </a:prstGeom>
              <a:noFill/>
              <a:ln w="38100" cmpd="sng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20541" name="Line 29"/>
              <p:cNvSpPr>
                <a:spLocks noChangeShapeType="1"/>
              </p:cNvSpPr>
              <p:nvPr/>
            </p:nvSpPr>
            <p:spPr bwMode="auto">
              <a:xfrm>
                <a:off x="3456" y="0"/>
                <a:ext cx="0" cy="480"/>
              </a:xfrm>
              <a:prstGeom prst="line">
                <a:avLst/>
              </a:prstGeom>
              <a:noFill/>
              <a:ln w="38100" cmpd="sng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320542" name="Rectangle 30"/>
            <p:cNvSpPr>
              <a:spLocks noChangeArrowheads="1"/>
            </p:cNvSpPr>
            <p:nvPr/>
          </p:nvSpPr>
          <p:spPr bwMode="auto">
            <a:xfrm>
              <a:off x="122" y="76"/>
              <a:ext cx="42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itchFamily="2" charset="2"/>
                <a:buNone/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a[0]</a:t>
              </a:r>
            </a:p>
          </p:txBody>
        </p:sp>
        <p:sp>
          <p:nvSpPr>
            <p:cNvPr id="320543" name="Rectangle 31"/>
            <p:cNvSpPr>
              <a:spLocks noChangeArrowheads="1"/>
            </p:cNvSpPr>
            <p:nvPr/>
          </p:nvSpPr>
          <p:spPr bwMode="auto">
            <a:xfrm>
              <a:off x="907" y="83"/>
              <a:ext cx="42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itchFamily="2" charset="2"/>
                <a:buNone/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a[1]</a:t>
              </a:r>
            </a:p>
          </p:txBody>
        </p:sp>
        <p:sp>
          <p:nvSpPr>
            <p:cNvPr id="320544" name="Rectangle 32"/>
            <p:cNvSpPr>
              <a:spLocks noChangeArrowheads="1"/>
            </p:cNvSpPr>
            <p:nvPr/>
          </p:nvSpPr>
          <p:spPr bwMode="auto">
            <a:xfrm>
              <a:off x="1723" y="83"/>
              <a:ext cx="42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itchFamily="2" charset="2"/>
                <a:buNone/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a[2]</a:t>
              </a:r>
            </a:p>
          </p:txBody>
        </p:sp>
        <p:sp>
          <p:nvSpPr>
            <p:cNvPr id="320545" name="Rectangle 33"/>
            <p:cNvSpPr>
              <a:spLocks noChangeArrowheads="1"/>
            </p:cNvSpPr>
            <p:nvPr/>
          </p:nvSpPr>
          <p:spPr bwMode="auto">
            <a:xfrm>
              <a:off x="2443" y="83"/>
              <a:ext cx="42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itchFamily="2" charset="2"/>
                <a:buNone/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a[3]</a:t>
              </a:r>
            </a:p>
          </p:txBody>
        </p:sp>
        <p:sp>
          <p:nvSpPr>
            <p:cNvPr id="320546" name="Rectangle 34"/>
            <p:cNvSpPr>
              <a:spLocks noChangeArrowheads="1"/>
            </p:cNvSpPr>
            <p:nvPr/>
          </p:nvSpPr>
          <p:spPr bwMode="auto">
            <a:xfrm>
              <a:off x="3211" y="83"/>
              <a:ext cx="42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itchFamily="2" charset="2"/>
                <a:buNone/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a[4]</a:t>
              </a:r>
            </a:p>
          </p:txBody>
        </p:sp>
      </p:grpSp>
      <p:sp>
        <p:nvSpPr>
          <p:cNvPr id="320547" name="Rectangle 35"/>
          <p:cNvSpPr>
            <a:spLocks noChangeArrowheads="1"/>
          </p:cNvSpPr>
          <p:nvPr/>
        </p:nvSpPr>
        <p:spPr bwMode="auto">
          <a:xfrm>
            <a:off x="2178050" y="4860926"/>
            <a:ext cx="57800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一维数组的总字节数可按下式计算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sizeof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类型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数组长度＝总字节数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Dotum" pitchFamily="34" charset="-127"/>
            </a:endParaRPr>
          </a:p>
        </p:txBody>
      </p:sp>
      <p:sp>
        <p:nvSpPr>
          <p:cNvPr id="320548" name="Rectangle 36"/>
          <p:cNvSpPr>
            <a:spLocks noChangeArrowheads="1"/>
          </p:cNvSpPr>
          <p:nvPr/>
        </p:nvSpPr>
        <p:spPr bwMode="auto">
          <a:xfrm>
            <a:off x="4592638" y="2543176"/>
            <a:ext cx="2952750" cy="57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85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9A"/>
                </a:solidFill>
                <a:ea typeface="Dotum" pitchFamily="34" charset="-127"/>
              </a:rPr>
              <a:t>short a</a:t>
            </a:r>
            <a:r>
              <a:rPr lang="zh-CN" altLang="zh-CN" sz="2400" b="1" dirty="0">
                <a:solidFill>
                  <a:srgbClr val="00009A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400" b="1" dirty="0">
                <a:solidFill>
                  <a:srgbClr val="00009A"/>
                </a:solidFill>
                <a:latin typeface="Arial" pitchFamily="34" charset="0"/>
                <a:ea typeface="Dotum" pitchFamily="34" charset="-127"/>
              </a:rPr>
              <a:t>5</a:t>
            </a:r>
            <a:r>
              <a:rPr lang="zh-CN" altLang="zh-CN" sz="2400" b="1" dirty="0">
                <a:solidFill>
                  <a:srgbClr val="00009A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400" b="1" dirty="0">
                <a:solidFill>
                  <a:srgbClr val="00009A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ea typeface="Dotum" pitchFamily="34" charset="-127"/>
              </a:rPr>
              <a:t> </a:t>
            </a:r>
          </a:p>
        </p:txBody>
      </p:sp>
      <p:grpSp>
        <p:nvGrpSpPr>
          <p:cNvPr id="320549" name="Group 37"/>
          <p:cNvGrpSpPr>
            <a:grpSpLocks/>
          </p:cNvGrpSpPr>
          <p:nvPr/>
        </p:nvGrpSpPr>
        <p:grpSpPr bwMode="auto">
          <a:xfrm>
            <a:off x="8839200" y="3751263"/>
            <a:ext cx="685800" cy="273050"/>
            <a:chOff x="0" y="0"/>
            <a:chExt cx="432" cy="144"/>
          </a:xfrm>
        </p:grpSpPr>
        <p:sp>
          <p:nvSpPr>
            <p:cNvPr id="320550" name="Line 38"/>
            <p:cNvSpPr>
              <a:spLocks noChangeShapeType="1"/>
            </p:cNvSpPr>
            <p:nvPr/>
          </p:nvSpPr>
          <p:spPr bwMode="auto">
            <a:xfrm>
              <a:off x="0" y="144"/>
              <a:ext cx="432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320551" name="Line 39"/>
            <p:cNvSpPr>
              <a:spLocks noChangeShapeType="1"/>
            </p:cNvSpPr>
            <p:nvPr/>
          </p:nvSpPr>
          <p:spPr bwMode="auto">
            <a:xfrm flipV="1">
              <a:off x="0" y="0"/>
              <a:ext cx="0" cy="144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320552" name="Rectangle 40"/>
          <p:cNvSpPr>
            <a:spLocks noChangeArrowheads="1"/>
          </p:cNvSpPr>
          <p:nvPr/>
        </p:nvSpPr>
        <p:spPr bwMode="auto">
          <a:xfrm>
            <a:off x="6937375" y="5378450"/>
            <a:ext cx="341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9A"/>
                </a:solidFill>
                <a:latin typeface="Arial" pitchFamily="34" charset="0"/>
                <a:ea typeface="Dotum" pitchFamily="34" charset="-127"/>
              </a:rPr>
              <a:t>printf</a:t>
            </a:r>
            <a:r>
              <a:rPr lang="zh-CN" altLang="zh-CN" sz="2400" b="1">
                <a:solidFill>
                  <a:srgbClr val="00009A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>
                <a:solidFill>
                  <a:srgbClr val="00009A"/>
                </a:solidFill>
                <a:latin typeface="Arial" pitchFamily="34" charset="0"/>
                <a:ea typeface="Dotum" pitchFamily="34" charset="-127"/>
              </a:rPr>
              <a:t>%d</a:t>
            </a:r>
            <a:r>
              <a:rPr lang="zh-CN" altLang="zh-CN" sz="2400" b="1">
                <a:solidFill>
                  <a:srgbClr val="00009A"/>
                </a:solidFill>
                <a:latin typeface="Times New Roman" pitchFamily="18" charset="0"/>
                <a:ea typeface="Dotum" pitchFamily="34" charset="-127"/>
              </a:rPr>
              <a:t>”, </a:t>
            </a:r>
            <a:r>
              <a:rPr lang="zh-CN" altLang="zh-CN" sz="2400" b="1">
                <a:solidFill>
                  <a:srgbClr val="00009A"/>
                </a:solidFill>
                <a:latin typeface="Arial" pitchFamily="34" charset="0"/>
                <a:ea typeface="Dotum" pitchFamily="34" charset="-127"/>
              </a:rPr>
              <a:t>sizeof</a:t>
            </a:r>
            <a:r>
              <a:rPr lang="zh-CN" altLang="zh-CN" sz="2400" b="1">
                <a:solidFill>
                  <a:srgbClr val="00009A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>
                <a:solidFill>
                  <a:srgbClr val="00009A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zh-CN" sz="2400" b="1">
                <a:solidFill>
                  <a:srgbClr val="00009A"/>
                </a:solidFill>
                <a:latin typeface="Times New Roman" pitchFamily="18" charset="0"/>
                <a:ea typeface="Dotum" pitchFamily="34" charset="-127"/>
              </a:rPr>
              <a:t>));</a:t>
            </a:r>
          </a:p>
        </p:txBody>
      </p:sp>
      <p:sp>
        <p:nvSpPr>
          <p:cNvPr id="320553" name="Rectangle 41"/>
          <p:cNvSpPr>
            <a:spLocks noChangeArrowheads="1"/>
          </p:cNvSpPr>
          <p:nvPr/>
        </p:nvSpPr>
        <p:spPr bwMode="auto">
          <a:xfrm>
            <a:off x="2843214" y="2717800"/>
            <a:ext cx="592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如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8239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 autoUpdateAnimBg="0"/>
      <p:bldP spid="320517" grpId="0" build="p" autoUpdateAnimBg="0" advAuto="0"/>
      <p:bldP spid="320518" grpId="0" autoUpdateAnimBg="0"/>
      <p:bldP spid="320547" grpId="0" autoUpdateAnimBg="0"/>
      <p:bldP spid="32055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81213" y="1304926"/>
            <a:ext cx="8424862" cy="4562475"/>
          </a:xfrm>
          <a:noFill/>
        </p:spPr>
        <p:txBody>
          <a:bodyPr/>
          <a:lstStyle/>
          <a:p>
            <a:pPr marL="263525" indent="-263525" defTabSz="227013" fontAlgn="t">
              <a:buNone/>
            </a:pPr>
            <a:endParaRPr lang="zh-CN" altLang="zh-CN" sz="2800" dirty="0"/>
          </a:p>
          <a:p>
            <a:pPr marL="263525" indent="-263525" defTabSz="227013">
              <a:lnSpc>
                <a:spcPct val="115000"/>
              </a:lnSpc>
              <a:spcBef>
                <a:spcPct val="10000"/>
              </a:spcBef>
              <a:buSzPct val="50000"/>
            </a:pPr>
            <a:r>
              <a:rPr lang="zh-CN" altLang="en-US" sz="2400" b="1" dirty="0"/>
              <a:t>只能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逐个</a:t>
            </a:r>
            <a:r>
              <a:rPr lang="zh-CN" altLang="en-US" sz="2400" b="1" dirty="0"/>
              <a:t>引用数组中的数组元素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/>
              <a:t>不能一次引用整个数组。</a:t>
            </a:r>
          </a:p>
          <a:p>
            <a:pPr marL="263525" indent="-263525" defTabSz="227013">
              <a:lnSpc>
                <a:spcPct val="120000"/>
              </a:lnSpc>
              <a:spcBef>
                <a:spcPct val="60000"/>
              </a:spcBef>
              <a:buSzPct val="50000"/>
            </a:pPr>
            <a:r>
              <a:rPr lang="zh-CN" altLang="en-US" sz="2400" b="1" dirty="0"/>
              <a:t>引用方式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400" b="1" dirty="0"/>
              <a:t>    </a:t>
            </a:r>
          </a:p>
          <a:p>
            <a:pPr marL="263525" indent="-263525" defTabSz="227013">
              <a:lnSpc>
                <a:spcPct val="105000"/>
              </a:lnSpc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endParaRPr lang="zh-CN" altLang="zh-CN" sz="2400" b="1" dirty="0"/>
          </a:p>
          <a:p>
            <a:pPr marL="263525" indent="-263525" algn="just" defTabSz="227013">
              <a:lnSpc>
                <a:spcPct val="110000"/>
              </a:lnSpc>
              <a:buNone/>
            </a:pPr>
            <a:r>
              <a:rPr lang="zh-CN" altLang="zh-CN" sz="2800" b="1" dirty="0"/>
              <a:t>       </a:t>
            </a:r>
          </a:p>
        </p:txBody>
      </p:sp>
      <p:sp>
        <p:nvSpPr>
          <p:cNvPr id="321539" name="Rectangle 3"/>
          <p:cNvSpPr>
            <a:spLocks noChangeArrowheads="1"/>
          </p:cNvSpPr>
          <p:nvPr/>
        </p:nvSpPr>
        <p:spPr bwMode="auto">
          <a:xfrm>
            <a:off x="3225800" y="155575"/>
            <a:ext cx="541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333399"/>
                </a:solidFill>
                <a:latin typeface="Courier New" pitchFamily="49" charset="0"/>
                <a:ea typeface="楷体_GB2312" pitchFamily="49" charset="-122"/>
              </a:rPr>
              <a:t>二、</a:t>
            </a:r>
            <a:r>
              <a:rPr lang="zh-CN" altLang="en-US" sz="36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一维数组元素的引用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</a:t>
            </a:r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4205287" y="2479676"/>
            <a:ext cx="686911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数组名 </a:t>
            </a:r>
            <a:r>
              <a:rPr lang="zh-CN" altLang="zh-CN" sz="2800" b="1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zh-CN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下标 </a:t>
            </a:r>
            <a:r>
              <a:rPr lang="zh-CN" altLang="zh-CN" sz="2800" b="1" dirty="0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zh-CN" altLang="en-US" sz="2800" b="1" dirty="0">
                <a:latin typeface="Courier New" pitchFamily="49" charset="0"/>
              </a:rPr>
              <a:t>注</a:t>
            </a:r>
            <a:r>
              <a:rPr lang="en-US" altLang="zh-CN" sz="2800" b="1" dirty="0">
                <a:latin typeface="Courier New" pitchFamily="49" charset="0"/>
              </a:rPr>
              <a:t>:</a:t>
            </a:r>
            <a:r>
              <a:rPr lang="zh-CN" altLang="en-US" sz="2800" b="1" dirty="0">
                <a:latin typeface="Courier New" pitchFamily="49" charset="0"/>
              </a:rPr>
              <a:t>引用处的下标可以是</a:t>
            </a:r>
            <a:r>
              <a:rPr lang="zh-CN" altLang="en-US" sz="3200" b="1" dirty="0">
                <a:solidFill>
                  <a:srgbClr val="C00000"/>
                </a:solidFill>
                <a:latin typeface="Courier New" pitchFamily="49" charset="0"/>
              </a:rPr>
              <a:t>整型</a:t>
            </a:r>
            <a:r>
              <a:rPr lang="zh-CN" altLang="en-US" sz="2800" b="1" dirty="0">
                <a:solidFill>
                  <a:srgbClr val="FF0000"/>
                </a:solidFill>
                <a:latin typeface="Courier New" pitchFamily="49" charset="0"/>
              </a:rPr>
              <a:t>表达式</a:t>
            </a:r>
            <a:r>
              <a:rPr lang="en-US" altLang="zh-CN" sz="2800" b="1">
                <a:latin typeface="Courier New" pitchFamily="49" charset="0"/>
              </a:rPr>
              <a:t>,</a:t>
            </a:r>
            <a:r>
              <a:rPr lang="zh-CN" altLang="en-US" sz="2800" b="1">
                <a:latin typeface="Courier New" pitchFamily="49" charset="0"/>
              </a:rPr>
              <a:t>可以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含变量</a:t>
            </a:r>
            <a:r>
              <a:rPr lang="zh-CN" altLang="en-US" sz="2800" b="1">
                <a:latin typeface="Courier New" pitchFamily="49" charset="0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Courier New" pitchFamily="49" charset="0"/>
              </a:rPr>
              <a:t>不可浮点数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21541" name="Rectangle 5"/>
          <p:cNvSpPr>
            <a:spLocks noChangeArrowheads="1"/>
          </p:cNvSpPr>
          <p:nvPr/>
        </p:nvSpPr>
        <p:spPr bwMode="auto">
          <a:xfrm>
            <a:off x="2649539" y="3416301"/>
            <a:ext cx="7121525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如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400" b="1">
                <a:solidFill>
                  <a:srgbClr val="000000"/>
                </a:solidFill>
              </a:rPr>
              <a:t>   </a:t>
            </a:r>
            <a:r>
              <a:rPr lang="zh-CN" altLang="zh-CN" sz="2000" b="1">
                <a:solidFill>
                  <a:srgbClr val="000000"/>
                </a:solidFill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─ 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引用数组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的第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个元素</a:t>
            </a:r>
          </a:p>
          <a:p>
            <a:pPr lvl="1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ea typeface="宋体" pitchFamily="2" charset="-122"/>
              </a:rPr>
              <a:t> 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─ 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引用数组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的第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个元素</a:t>
            </a:r>
          </a:p>
          <a:p>
            <a:pPr lvl="1"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ea typeface="宋体" pitchFamily="2" charset="-122"/>
              </a:rPr>
              <a:t>                          </a:t>
            </a:r>
            <a:r>
              <a:rPr lang="zh-CN" altLang="zh-CN" sz="2400" b="1">
                <a:solidFill>
                  <a:srgbClr val="000000"/>
                </a:solidFill>
                <a:latin typeface="Times New Roman"/>
                <a:ea typeface="宋体" pitchFamily="2" charset="-122"/>
              </a:rPr>
              <a:t>······</a:t>
            </a:r>
            <a:endParaRPr lang="zh-CN" altLang="zh-CN" sz="2400" b="1">
              <a:solidFill>
                <a:srgbClr val="000000"/>
              </a:solidFill>
              <a:ea typeface="宋体" pitchFamily="2" charset="-122"/>
            </a:endParaRPr>
          </a:p>
          <a:p>
            <a:pPr lv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i-1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─ 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引用数组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的第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个元素</a:t>
            </a:r>
            <a:r>
              <a:rPr lang="zh-CN" altLang="en-US" sz="2400" b="1">
                <a:solidFill>
                  <a:srgbClr val="000000"/>
                </a:solidFill>
              </a:rPr>
              <a:t>              </a:t>
            </a:r>
          </a:p>
        </p:txBody>
      </p:sp>
      <p:sp>
        <p:nvSpPr>
          <p:cNvPr id="321542" name="Rectangle 6"/>
          <p:cNvSpPr>
            <a:spLocks noChangeArrowheads="1"/>
          </p:cNvSpPr>
          <p:nvPr/>
        </p:nvSpPr>
        <p:spPr bwMode="auto">
          <a:xfrm>
            <a:off x="3596687" y="3502026"/>
            <a:ext cx="5157788" cy="236537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26000"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int   c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  <a:endParaRPr lang="zh-CN" altLang="zh-CN" sz="2800" b="1">
              <a:solidFill>
                <a:srgbClr val="008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3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scanf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%d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</p:txBody>
      </p:sp>
      <p:sp>
        <p:nvSpPr>
          <p:cNvPr id="321543" name="Text Box 7"/>
          <p:cNvSpPr txBox="1">
            <a:spLocks noChangeArrowheads="1"/>
          </p:cNvSpPr>
          <p:nvPr/>
        </p:nvSpPr>
        <p:spPr bwMode="auto">
          <a:xfrm>
            <a:off x="2081213" y="1187451"/>
            <a:ext cx="67087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3525" indent="-26352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每个数组元素本质上就是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个变量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61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build="p" bldLvl="2" autoUpdateAnimBg="0"/>
      <p:bldP spid="32154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ChangeArrowheads="1"/>
          </p:cNvSpPr>
          <p:nvPr/>
        </p:nvSpPr>
        <p:spPr bwMode="auto">
          <a:xfrm>
            <a:off x="2224263" y="185739"/>
            <a:ext cx="1244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3200" b="1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说明</a:t>
            </a:r>
            <a:r>
              <a:rPr lang="zh-CN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22563" name="Rectangle 3"/>
          <p:cNvSpPr>
            <a:spLocks noChangeArrowheads="1"/>
          </p:cNvSpPr>
          <p:nvPr/>
        </p:nvSpPr>
        <p:spPr bwMode="auto">
          <a:xfrm>
            <a:off x="1943100" y="1465980"/>
            <a:ext cx="8305800" cy="295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2575" indent="-282575"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</a:rPr>
              <a:t>下标可以是整数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zh-CN" altLang="en-US" sz="2800" b="1" dirty="0">
                <a:solidFill>
                  <a:srgbClr val="000000"/>
                </a:solidFill>
              </a:rPr>
              <a:t>符号常数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zh-CN" altLang="en-US" sz="2800" b="1" dirty="0">
                <a:solidFill>
                  <a:srgbClr val="000000"/>
                </a:solidFill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整型表达式</a:t>
            </a:r>
            <a:r>
              <a:rPr lang="zh-CN" altLang="en-US" sz="2800" b="1" dirty="0">
                <a:solidFill>
                  <a:srgbClr val="000000"/>
                </a:solidFill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不可以是浮点数</a:t>
            </a:r>
            <a:r>
              <a:rPr lang="en-US" altLang="zh-CN" sz="2800" b="1" dirty="0">
                <a:solidFill>
                  <a:srgbClr val="000000"/>
                </a:solidFill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</a:rPr>
              <a:t>。</a:t>
            </a:r>
          </a:p>
          <a:p>
            <a:pPr marL="282575" indent="-282575" fontAlgn="base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en-US" sz="2800" b="1" dirty="0">
                <a:solidFill>
                  <a:srgbClr val="000000"/>
                </a:solidFill>
              </a:rPr>
              <a:t>       如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zh-CN" altLang="zh-CN" sz="2800" b="1" dirty="0">
                <a:solidFill>
                  <a:srgbClr val="000000"/>
                </a:solidFill>
              </a:rPr>
              <a:t>     </a:t>
            </a:r>
            <a:r>
              <a:rPr lang="zh-CN" altLang="zh-CN" sz="2400" b="1" dirty="0">
                <a:solidFill>
                  <a:srgbClr val="000000"/>
                </a:solidFill>
              </a:rPr>
              <a:t> 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 c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10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x=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3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endParaRPr lang="zh-CN" altLang="zh-CN" sz="28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282575" indent="-282575" fontAlgn="base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c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-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== c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3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==c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x</a:t>
            </a:r>
            <a:r>
              <a:rPr lang="zh-CN" altLang="zh-CN" sz="2800" b="1" dirty="0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</a:p>
          <a:p>
            <a:pPr marL="282575" indent="-282575" fontAlgn="base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zh-CN" altLang="zh-CN" sz="28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4456114" y="177800"/>
            <a:ext cx="45926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数组名</a:t>
            </a:r>
            <a:r>
              <a:rPr lang="zh-CN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下标</a:t>
            </a:r>
            <a:r>
              <a:rPr lang="zh-CN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]</a:t>
            </a: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2112962" y="3178175"/>
            <a:ext cx="9383638" cy="29338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下界≤下标≤ 上界</a:t>
            </a:r>
            <a:r>
              <a:rPr lang="en-US" altLang="zh-CN" sz="2800" b="1">
                <a:solidFill>
                  <a:srgbClr val="000000"/>
                </a:solidFill>
                <a:latin typeface="黑体" pitchFamily="49" charset="-122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下标越界不报错，但是是危险操作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）</a:t>
            </a:r>
            <a:endParaRPr lang="zh-CN" altLang="en-US" sz="2800" b="1">
              <a:solidFill>
                <a:srgbClr val="000000"/>
              </a:solidFill>
              <a:latin typeface="Times New Roman" pitchFamily="18" charset="0"/>
            </a:endParaRPr>
          </a:p>
          <a:p>
            <a:pPr fontAlgn="base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85000"/>
            </a:pP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 下界＝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上界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=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整常量表达式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-1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。</a:t>
            </a:r>
          </a:p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如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  </a:t>
            </a:r>
            <a:r>
              <a:rPr lang="zh-CN" altLang="zh-CN" sz="2800" b="1">
                <a:solidFill>
                  <a:srgbClr val="1C1C1C"/>
                </a:solidFill>
              </a:rPr>
              <a:t>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 </a:t>
            </a:r>
            <a:endParaRPr lang="zh-CN" altLang="zh-CN" sz="2800" b="1">
              <a:solidFill>
                <a:srgbClr val="000000"/>
              </a:solidFill>
              <a:latin typeface="黑体" pitchFamily="49" charset="-122"/>
            </a:endParaRPr>
          </a:p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85000"/>
            </a:pP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 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3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4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5000"/>
            </a:pPr>
            <a:endParaRPr lang="zh-CN" altLang="zh-CN" sz="1600" b="1">
              <a:solidFill>
                <a:srgbClr val="000000"/>
              </a:solidFill>
              <a:latin typeface="黑体" pitchFamily="49" charset="-122"/>
            </a:endParaRPr>
          </a:p>
        </p:txBody>
      </p:sp>
      <p:sp>
        <p:nvSpPr>
          <p:cNvPr id="322566" name="Rectangle 6"/>
          <p:cNvSpPr>
            <a:spLocks noChangeArrowheads="1"/>
          </p:cNvSpPr>
          <p:nvPr/>
        </p:nvSpPr>
        <p:spPr bwMode="auto">
          <a:xfrm>
            <a:off x="2093914" y="4630738"/>
            <a:ext cx="7864475" cy="1244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对于长度为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</a:rPr>
              <a:t>的数组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800" b="1">
                <a:solidFill>
                  <a:srgbClr val="000000"/>
                </a:solidFill>
              </a:rPr>
              <a:t>下标范围为</a:t>
            </a:r>
            <a:r>
              <a:rPr lang="zh-CN" altLang="zh-CN" sz="2800">
                <a:solidFill>
                  <a:srgbClr val="FF0000"/>
                </a:solidFill>
              </a:rPr>
              <a:t>0~</a:t>
            </a:r>
            <a:r>
              <a:rPr lang="zh-CN" altLang="zh-CN" sz="2800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zh-CN" altLang="zh-CN" sz="2800">
                <a:solidFill>
                  <a:srgbClr val="FF0000"/>
                </a:solidFill>
              </a:rPr>
              <a:t>n-1</a:t>
            </a:r>
            <a:r>
              <a:rPr lang="zh-CN" altLang="zh-CN" sz="2800">
                <a:solidFill>
                  <a:srgbClr val="FF0000"/>
                </a:solidFill>
                <a:latin typeface="黑体" pitchFamily="49" charset="-122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。</a:t>
            </a:r>
            <a:endParaRPr lang="zh-CN" altLang="en-US" sz="2800" b="1">
              <a:solidFill>
                <a:srgbClr val="1C1C1C"/>
              </a:solidFill>
            </a:endParaRPr>
          </a:p>
          <a:p>
            <a:pPr fontAlgn="base">
              <a:lnSpc>
                <a:spcPct val="110000"/>
              </a:lnSpc>
              <a:spcBef>
                <a:spcPct val="6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1C1C1C"/>
                </a:solidFill>
              </a:rPr>
              <a:t>  如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: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lang="zh-CN" altLang="zh-CN" sz="2800" b="1">
                <a:solidFill>
                  <a:srgbClr val="000000"/>
                </a:solidFill>
              </a:rPr>
              <a:t>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float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000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</a:rPr>
              <a:t>=4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. ;  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</a:p>
        </p:txBody>
      </p:sp>
      <p:sp>
        <p:nvSpPr>
          <p:cNvPr id="322567" name="Rectangle 7"/>
          <p:cNvSpPr>
            <a:spLocks noChangeArrowheads="1"/>
          </p:cNvSpPr>
          <p:nvPr/>
        </p:nvSpPr>
        <p:spPr bwMode="auto">
          <a:xfrm>
            <a:off x="7929564" y="5368926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248261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 autoUpdateAnimBg="0"/>
      <p:bldP spid="322565" grpId="0" build="p" animBg="1" autoUpdateAnimBg="0"/>
      <p:bldP spid="322566" grpId="0" build="p" animBg="1" autoUpdateAnimBg="0"/>
      <p:bldP spid="32256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5" y="193675"/>
            <a:ext cx="7793038" cy="623888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一维数组元素引用的规定：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0" y="1214439"/>
            <a:ext cx="8534400" cy="4581525"/>
          </a:xfrm>
        </p:spPr>
        <p:txBody>
          <a:bodyPr/>
          <a:lstStyle/>
          <a:p>
            <a:pPr marL="269875" indent="-269875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/>
              <a:t>数组必须先定义后使用</a:t>
            </a:r>
          </a:p>
          <a:p>
            <a:pPr marL="269875" indent="-269875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>
                <a:latin typeface="Courier New" pitchFamily="49" charset="0"/>
              </a:rPr>
              <a:t>对数组中所有元素逐个引用时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通常使用循环结构</a:t>
            </a:r>
            <a:r>
              <a:rPr lang="zh-CN" altLang="en-US" sz="1800" b="1" dirty="0">
                <a:latin typeface="Courier New" pitchFamily="49" charset="0"/>
              </a:rPr>
              <a:t>。</a:t>
            </a:r>
          </a:p>
          <a:p>
            <a:pPr marL="269875" indent="-269875" algn="just">
              <a:lnSpc>
                <a:spcPct val="110000"/>
              </a:lnSpc>
              <a:spcBef>
                <a:spcPct val="55000"/>
              </a:spcBef>
              <a:buNone/>
            </a:pPr>
            <a:r>
              <a:rPr lang="zh-CN" altLang="en-US" sz="2800" b="1" dirty="0"/>
              <a:t>    例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    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Courier New" pitchFamily="49" charset="0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Courier New" pitchFamily="49" charset="0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269875" indent="-269875">
              <a:spcBef>
                <a:spcPct val="40000"/>
              </a:spcBef>
              <a:buNone/>
            </a:pPr>
            <a:r>
              <a:rPr lang="zh-CN" altLang="zh-CN" sz="2800" b="1" dirty="0"/>
              <a:t>                 </a:t>
            </a:r>
            <a:r>
              <a:rPr lang="zh-CN" altLang="zh-CN" sz="2800" b="1" dirty="0">
                <a:latin typeface="Arial" pitchFamily="34" charset="0"/>
              </a:rPr>
              <a:t>for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++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marL="269875" indent="-269875">
              <a:spcBef>
                <a:spcPct val="40000"/>
              </a:spcBef>
              <a:buNone/>
            </a:pPr>
            <a:r>
              <a:rPr lang="zh-CN" altLang="zh-CN" sz="2800" b="1" dirty="0"/>
              <a:t>                         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Courier New" pitchFamily="49" charset="0"/>
              </a:rPr>
              <a:t>[</a:t>
            </a:r>
            <a:r>
              <a:rPr lang="zh-CN" altLang="zh-CN" sz="2800" b="1" dirty="0">
                <a:solidFill>
                  <a:schemeClr val="hlink"/>
                </a:solidFill>
              </a:rPr>
              <a:t>i</a:t>
            </a:r>
            <a:r>
              <a:rPr lang="zh-CN" altLang="zh-CN" sz="2800" b="1" dirty="0">
                <a:latin typeface="Courier New" pitchFamily="49" charset="0"/>
              </a:rPr>
              <a:t>]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953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ChangeArrowheads="1"/>
          </p:cNvSpPr>
          <p:nvPr/>
        </p:nvSpPr>
        <p:spPr bwMode="auto">
          <a:xfrm>
            <a:off x="2928938" y="2776539"/>
            <a:ext cx="7764462" cy="167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scanf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%d%d%d%d%d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”,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</a:t>
            </a:r>
          </a:p>
          <a:p>
            <a:pPr fontAlgn="base">
              <a:spcBef>
                <a:spcPct val="35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       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 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2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 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3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 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4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);</a:t>
            </a:r>
          </a:p>
          <a:p>
            <a:pPr fontAlgn="base">
              <a:spcBef>
                <a:spcPct val="35000"/>
              </a:spcBef>
              <a:spcAft>
                <a:spcPct val="0"/>
              </a:spcAft>
            </a:pPr>
            <a:endParaRPr lang="zh-CN" altLang="zh-CN" sz="2800" b="1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7664" y="1125538"/>
            <a:ext cx="9050337" cy="44513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b="1"/>
              <a:t>           #</a:t>
            </a:r>
            <a:r>
              <a:rPr lang="zh-CN" altLang="zh-CN" sz="2800" b="1">
                <a:latin typeface="Arial" pitchFamily="34" charset="0"/>
              </a:rPr>
              <a:t>include</a:t>
            </a:r>
            <a:r>
              <a:rPr lang="zh-CN" altLang="zh-CN" sz="2800" b="1"/>
              <a:t> </a:t>
            </a:r>
            <a:r>
              <a:rPr lang="zh-CN" altLang="zh-CN" sz="2800"/>
              <a:t>&lt;</a:t>
            </a:r>
            <a:r>
              <a:rPr lang="zh-CN" altLang="zh-CN" sz="2800" b="1">
                <a:latin typeface="Arial" pitchFamily="34" charset="0"/>
              </a:rPr>
              <a:t>stdio</a:t>
            </a:r>
            <a:r>
              <a:rPr lang="zh-CN" altLang="zh-CN" sz="2800" b="1">
                <a:latin typeface="Times New Roman" pitchFamily="18" charset="0"/>
              </a:rPr>
              <a:t>.</a:t>
            </a:r>
            <a:r>
              <a:rPr lang="zh-CN" altLang="zh-CN" sz="2800" b="1">
                <a:latin typeface="Arial" pitchFamily="34" charset="0"/>
              </a:rPr>
              <a:t>h</a:t>
            </a:r>
            <a:r>
              <a:rPr lang="zh-CN" altLang="zh-CN" sz="2800"/>
              <a:t>&gt;</a:t>
            </a:r>
            <a:r>
              <a:rPr lang="zh-CN" altLang="zh-CN" sz="2800" b="1">
                <a:solidFill>
                  <a:schemeClr val="bg2"/>
                </a:solidFill>
              </a:rPr>
              <a:t>           </a:t>
            </a:r>
          </a:p>
          <a:p>
            <a:pPr>
              <a:buFont typeface="Wingdings" pitchFamily="2" charset="2"/>
              <a:buNone/>
            </a:pPr>
            <a:r>
              <a:rPr lang="zh-CN" altLang="zh-CN" sz="2800" b="1">
                <a:solidFill>
                  <a:schemeClr val="bg2"/>
                </a:solidFill>
              </a:rPr>
              <a:t>           </a:t>
            </a:r>
            <a:r>
              <a:rPr lang="zh-CN" altLang="zh-CN" sz="2800" b="1">
                <a:latin typeface="Arial" pitchFamily="34" charset="0"/>
              </a:rPr>
              <a:t>void</a:t>
            </a:r>
            <a:r>
              <a:rPr lang="zh-CN" altLang="zh-CN" sz="2800" b="1">
                <a:solidFill>
                  <a:schemeClr val="bg2"/>
                </a:solidFill>
              </a:rPr>
              <a:t>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zh-CN" sz="2800" b="1">
                <a:solidFill>
                  <a:schemeClr val="bg2"/>
                </a:solidFill>
              </a:rPr>
              <a:t>          {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i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5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  <a:endParaRPr lang="en-US" altLang="zh-CN" sz="2800" b="1">
              <a:latin typeface="Times New Roman" pitchFamily="18" charset="0"/>
            </a:endParaRPr>
          </a:p>
          <a:p>
            <a:pPr>
              <a:lnSpc>
                <a:spcPct val="11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           </a:t>
            </a:r>
            <a:endParaRPr lang="zh-CN" altLang="zh-CN" sz="2800" b="1"/>
          </a:p>
          <a:p>
            <a:pPr>
              <a:buFont typeface="Wingdings" pitchFamily="2" charset="2"/>
              <a:buNone/>
            </a:pPr>
            <a:endParaRPr lang="zh-CN" altLang="zh-CN" b="1">
              <a:solidFill>
                <a:schemeClr val="bg2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zh-CN" altLang="zh-CN" b="1">
                <a:solidFill>
                  <a:schemeClr val="bg2"/>
                </a:solidFill>
              </a:rPr>
              <a:t>         </a:t>
            </a:r>
          </a:p>
        </p:txBody>
      </p:sp>
      <p:sp>
        <p:nvSpPr>
          <p:cNvPr id="325636" name="Rectangle 4"/>
          <p:cNvSpPr>
            <a:spLocks noChangeArrowheads="1"/>
          </p:cNvSpPr>
          <p:nvPr/>
        </p:nvSpPr>
        <p:spPr bwMode="auto">
          <a:xfrm>
            <a:off x="6870700" y="333375"/>
            <a:ext cx="3797300" cy="118110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009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运行: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9E"/>
                </a:solidFill>
                <a:ea typeface="宋体" pitchFamily="2" charset="-122"/>
              </a:rPr>
              <a:t>1 2 3 4 5  </a:t>
            </a:r>
            <a:r>
              <a:rPr lang="zh-CN" altLang="en-US" sz="2000" b="1">
                <a:solidFill>
                  <a:srgbClr val="000000"/>
                </a:solidFill>
              </a:rPr>
              <a:t>↙</a:t>
            </a:r>
            <a:endParaRPr lang="zh-CN" altLang="en-US" sz="2000" b="1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4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=5 a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3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=4 a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2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=3 a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[1]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=2 a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0</a:t>
            </a:r>
            <a:r>
              <a:rPr lang="pt-BR" altLang="en-US" b="1">
                <a:solidFill>
                  <a:srgbClr val="000099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pt-BR" altLang="en-US" b="1">
                <a:solidFill>
                  <a:srgbClr val="000099"/>
                </a:solidFill>
                <a:latin typeface="Arial" pitchFamily="34" charset="0"/>
                <a:ea typeface="Dotum" pitchFamily="34" charset="-127"/>
              </a:rPr>
              <a:t>=1</a:t>
            </a:r>
            <a:endParaRPr lang="zh-CN" altLang="en-US" b="1">
              <a:solidFill>
                <a:srgbClr val="000099"/>
              </a:solidFill>
              <a:latin typeface="Arial" pitchFamily="34" charset="0"/>
              <a:ea typeface="Dotum" pitchFamily="34" charset="-127"/>
            </a:endParaRPr>
          </a:p>
        </p:txBody>
      </p:sp>
      <p:sp>
        <p:nvSpPr>
          <p:cNvPr id="325637" name="Rectangle 5"/>
          <p:cNvSpPr>
            <a:spLocks noChangeArrowheads="1"/>
          </p:cNvSpPr>
          <p:nvPr/>
        </p:nvSpPr>
        <p:spPr bwMode="auto">
          <a:xfrm>
            <a:off x="1237426" y="210343"/>
            <a:ext cx="59386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2F2FBD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5.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</a:rPr>
              <a:t>数组的</a:t>
            </a:r>
            <a:r>
              <a:rPr lang="zh-CN" altLang="en-US" sz="2800" b="1" dirty="0">
                <a:solidFill>
                  <a:srgbClr val="000000"/>
                </a:solidFill>
                <a:latin typeface="Courier New" pitchFamily="49" charset="0"/>
              </a:rPr>
              <a:t>输入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与输出</a:t>
            </a:r>
            <a:endParaRPr lang="zh-CN" altLang="en-US" sz="3200" b="1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5638" name="Rectangle 6"/>
          <p:cNvSpPr>
            <a:spLocks noChangeArrowheads="1"/>
          </p:cNvSpPr>
          <p:nvPr/>
        </p:nvSpPr>
        <p:spPr bwMode="auto">
          <a:xfrm>
            <a:off x="2351584" y="2762917"/>
            <a:ext cx="8077200" cy="2762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7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1C1C1C"/>
                </a:solidFill>
              </a:rPr>
              <a:t>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000000"/>
                </a:solidFill>
              </a:rPr>
              <a:t> 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</a:rPr>
              <a:t>&lt;</a:t>
            </a:r>
            <a:r>
              <a:rPr lang="zh-CN" altLang="zh-CN" sz="2800" b="1">
                <a:solidFill>
                  <a:srgbClr val="000000"/>
                </a:solidFill>
              </a:rPr>
              <a:t>=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4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000000"/>
                </a:solidFill>
              </a:rPr>
              <a:t>++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fontAlgn="base"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</a:rPr>
              <a:t>  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scanf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</a:rPr>
              <a:t>%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>
                <a:solidFill>
                  <a:srgbClr val="FF0000"/>
                </a:solidFill>
              </a:rPr>
              <a:t>&amp;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FF0000"/>
                </a:solidFill>
              </a:rPr>
              <a:t>i</a:t>
            </a:r>
            <a:r>
              <a:rPr lang="zh-CN" altLang="zh-CN" sz="2800" b="1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) 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1C1C1C"/>
                </a:solidFill>
              </a:rPr>
              <a:t>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(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1C1C1C"/>
                </a:solidFill>
              </a:rPr>
              <a:t> =4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;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>
                <a:solidFill>
                  <a:srgbClr val="1C1C1C"/>
                </a:solidFill>
              </a:rPr>
              <a:t>&gt;</a:t>
            </a:r>
            <a:r>
              <a:rPr lang="zh-CN" altLang="zh-CN" sz="2800" b="1">
                <a:solidFill>
                  <a:srgbClr val="1C1C1C"/>
                </a:solidFill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;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1C1C1C"/>
                </a:solidFill>
              </a:rPr>
              <a:t>-- 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05000"/>
              </a:lnSpc>
              <a:spcBef>
                <a:spcPct val="4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</a:rPr>
              <a:t>  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printf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]=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%d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800" b="1">
                <a:solidFill>
                  <a:srgbClr val="1C1C1C"/>
                </a:solidFill>
              </a:rPr>
              <a:t> </a:t>
            </a:r>
            <a:r>
              <a:rPr lang="zh-CN" altLang="zh-CN" sz="2800" b="1">
                <a:solidFill>
                  <a:srgbClr val="1C1C1C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, </a:t>
            </a: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FF0000"/>
                </a:solidFill>
              </a:rPr>
              <a:t>i</a:t>
            </a:r>
            <a:r>
              <a:rPr lang="zh-CN" altLang="zh-CN" sz="2800" b="1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) ;</a:t>
            </a:r>
            <a:r>
              <a:rPr lang="zh-CN" altLang="zh-CN" sz="2800" b="1">
                <a:solidFill>
                  <a:srgbClr val="1C1C1C"/>
                </a:solidFill>
              </a:rPr>
              <a:t>  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133589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6" grpId="0" build="p" animBg="1" autoUpdateAnimBg="0"/>
      <p:bldP spid="325638" grpId="0" build="p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62114" y="1193800"/>
            <a:ext cx="8497887" cy="4814888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>
                <a:solidFill>
                  <a:schemeClr val="bg2"/>
                </a:solidFill>
              </a:rPr>
              <a:t>   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</a:rPr>
              <a:t>1. </a:t>
            </a:r>
            <a:r>
              <a:rPr lang="zh-CN" altLang="en-US" sz="2800" b="1">
                <a:solidFill>
                  <a:schemeClr val="bg2"/>
                </a:solidFill>
              </a:rPr>
              <a:t>用</a:t>
            </a:r>
            <a:r>
              <a:rPr lang="zh-CN" altLang="en-US" sz="2800" b="1">
                <a:solidFill>
                  <a:srgbClr val="FF0000"/>
                </a:solidFill>
              </a:rPr>
              <a:t>赋值语句给数组元素赋值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</a:rPr>
              <a:t>   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</a:rPr>
              <a:t>2. </a:t>
            </a:r>
            <a:r>
              <a:rPr lang="zh-CN" altLang="en-US" sz="2800" b="1">
                <a:solidFill>
                  <a:schemeClr val="bg2"/>
                </a:solidFill>
              </a:rPr>
              <a:t>用输入函数给数组元素赋值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</a:rPr>
              <a:t>   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</a:rPr>
              <a:t>3. </a:t>
            </a:r>
            <a:r>
              <a:rPr lang="zh-CN" altLang="en-US" sz="2800" b="1">
                <a:solidFill>
                  <a:schemeClr val="bg2"/>
                </a:solidFill>
              </a:rPr>
              <a:t>定义数组时对数组元素赋初值</a:t>
            </a:r>
            <a:r>
              <a:rPr lang="en-US" altLang="zh-CN" sz="2800" b="1">
                <a:solidFill>
                  <a:schemeClr val="bg2"/>
                </a:solidFill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初始化</a:t>
            </a:r>
            <a:r>
              <a:rPr lang="zh-CN" altLang="en-US" sz="2800" b="1">
                <a:solidFill>
                  <a:schemeClr val="bg2"/>
                </a:solidFill>
              </a:rPr>
              <a:t>）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latin typeface="Courier New" pitchFamily="49" charset="0"/>
              </a:rPr>
              <a:t> </a:t>
            </a:r>
            <a:r>
              <a:rPr lang="zh-CN" altLang="en-US" sz="2400" b="1">
                <a:latin typeface="Courier New" pitchFamily="49" charset="0"/>
              </a:rPr>
              <a:t>   </a:t>
            </a:r>
            <a:r>
              <a:rPr lang="zh-CN" altLang="en-US" sz="2800" b="1">
                <a:latin typeface="Courier New" pitchFamily="49" charset="0"/>
              </a:rPr>
              <a:t>例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  <a:p>
            <a:pPr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/>
              <a:t>                  </a:t>
            </a:r>
            <a:r>
              <a:rPr lang="zh-CN" altLang="zh-CN" sz="2800" b="1">
                <a:latin typeface="Arial" pitchFamily="34" charset="0"/>
              </a:rPr>
              <a:t>float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12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>
                <a:latin typeface="Times New Roman" pitchFamily="18" charset="0"/>
              </a:rPr>
              <a:t> ;</a:t>
            </a:r>
          </a:p>
          <a:p>
            <a:pPr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zh-CN" sz="2800" b="1"/>
              <a:t>                  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.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  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7</a:t>
            </a:r>
            <a:r>
              <a:rPr lang="zh-CN" altLang="zh-CN" sz="2800" b="1">
                <a:latin typeface="Times New Roman" pitchFamily="18" charset="0"/>
              </a:rPr>
              <a:t>.</a:t>
            </a:r>
            <a:r>
              <a:rPr lang="zh-CN" altLang="zh-CN" sz="2800" b="1">
                <a:latin typeface="Arial" pitchFamily="34" charset="0"/>
              </a:rPr>
              <a:t>6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zh-CN" sz="2800" b="1"/>
              <a:t>                  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b</a:t>
            </a:r>
            <a:r>
              <a:rPr lang="zh-CN" altLang="zh-CN" sz="2800" b="1">
                <a:latin typeface="Courier New" pitchFamily="49" charset="0"/>
              </a:rPr>
              <a:t>[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 b="1">
                <a:latin typeface="Courier New" pitchFamily="49" charset="0"/>
              </a:rPr>
              <a:t>]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    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800" b="1">
                <a:latin typeface="Times New Roman" pitchFamily="18" charset="0"/>
              </a:rPr>
              <a:t>                                    ······</a:t>
            </a:r>
            <a:r>
              <a:rPr lang="zh-CN" altLang="zh-CN" sz="2800" b="1">
                <a:solidFill>
                  <a:srgbClr val="2F2FBD"/>
                </a:solidFill>
                <a:latin typeface="Times New Roman" pitchFamily="18" charset="0"/>
              </a:rPr>
              <a:t>    </a:t>
            </a:r>
          </a:p>
        </p:txBody>
      </p:sp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2259013" y="219075"/>
            <a:ext cx="3567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3200" b="1" i="1">
                <a:solidFill>
                  <a:srgbClr val="333399"/>
                </a:solidFill>
              </a:rPr>
              <a:t> </a:t>
            </a:r>
            <a:r>
              <a:rPr lang="zh-CN" altLang="en-US" sz="3200" b="1">
                <a:solidFill>
                  <a:srgbClr val="333399"/>
                </a:solidFill>
                <a:ea typeface="楷体_GB2312" pitchFamily="49" charset="-122"/>
              </a:rPr>
              <a:t>数组元素的赋值：</a:t>
            </a:r>
          </a:p>
        </p:txBody>
      </p:sp>
    </p:spTree>
    <p:extLst>
      <p:ext uri="{BB962C8B-B14F-4D97-AF65-F5344CB8AC3E}">
        <p14:creationId xmlns:p14="http://schemas.microsoft.com/office/powerpoint/2010/main" val="271632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197225" y="103189"/>
            <a:ext cx="6781800" cy="681037"/>
          </a:xfrm>
        </p:spPr>
        <p:txBody>
          <a:bodyPr/>
          <a:lstStyle/>
          <a:p>
            <a:r>
              <a:rPr lang="zh-CN" altLang="en-US" sz="3600">
                <a:latin typeface="Courier New" pitchFamily="49" charset="0"/>
              </a:rPr>
              <a:t>三、一维数组的初始化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8364" y="1192213"/>
            <a:ext cx="8396287" cy="4506912"/>
          </a:xfrm>
        </p:spPr>
        <p:txBody>
          <a:bodyPr/>
          <a:lstStyle/>
          <a:p>
            <a:pPr marL="269875" indent="-269875">
              <a:lnSpc>
                <a:spcPct val="110000"/>
              </a:lnSpc>
            </a:pPr>
            <a:r>
              <a:rPr lang="zh-CN" altLang="en-US" sz="2800" b="1"/>
              <a:t>数组的初始化</a:t>
            </a:r>
            <a:r>
              <a:rPr lang="zh-CN" altLang="zh-CN" sz="2800" b="1">
                <a:latin typeface="Times New Roman" pitchFamily="18" charset="0"/>
              </a:rPr>
              <a:t>: </a:t>
            </a:r>
          </a:p>
          <a:p>
            <a:pPr marL="269875" indent="-269875">
              <a:lnSpc>
                <a:spcPct val="110000"/>
              </a:lnSpc>
              <a:spcBef>
                <a:spcPct val="40000"/>
              </a:spcBef>
              <a:buSzPct val="85000"/>
              <a:buNone/>
            </a:pPr>
            <a:r>
              <a:rPr lang="zh-CN" altLang="zh-CN" sz="2800" b="1"/>
              <a:t>   </a:t>
            </a:r>
            <a:r>
              <a:rPr lang="zh-CN" altLang="en-US" sz="2800" b="1"/>
              <a:t>是定义数组时</a:t>
            </a:r>
            <a:r>
              <a:rPr lang="zh-CN" altLang="zh-CN" sz="2800" b="1">
                <a:latin typeface="黑体" pitchFamily="49" charset="-122"/>
              </a:rPr>
              <a:t>(</a:t>
            </a:r>
            <a:r>
              <a:rPr lang="zh-CN" altLang="en-US" sz="2800" b="1">
                <a:latin typeface="黑体" pitchFamily="49" charset="-122"/>
              </a:rPr>
              <a:t>在程序编译期间</a:t>
            </a:r>
            <a:r>
              <a:rPr lang="zh-CN" altLang="zh-CN" sz="2800" b="1">
                <a:latin typeface="黑体" pitchFamily="49" charset="-122"/>
              </a:rPr>
              <a:t>)</a:t>
            </a:r>
            <a:r>
              <a:rPr lang="zh-CN" altLang="en-US" sz="2800" b="1"/>
              <a:t>完成赋初值任务</a:t>
            </a:r>
            <a:r>
              <a:rPr lang="zh-CN" altLang="en-US" sz="2000" b="1"/>
              <a:t>。</a:t>
            </a:r>
          </a:p>
          <a:p>
            <a:pPr marL="269875" indent="-269875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/>
              <a:t>格式</a:t>
            </a:r>
            <a:r>
              <a:rPr lang="zh-CN" altLang="zh-CN" sz="2800" b="1">
                <a:latin typeface="Times New Roman" pitchFamily="18" charset="0"/>
              </a:rPr>
              <a:t>:</a:t>
            </a:r>
          </a:p>
          <a:p>
            <a:pPr marL="269875" indent="-269875">
              <a:lnSpc>
                <a:spcPct val="110000"/>
              </a:lnSpc>
              <a:spcBef>
                <a:spcPct val="35000"/>
              </a:spcBef>
              <a:buSzPct val="85000"/>
              <a:buNone/>
            </a:pPr>
            <a:r>
              <a:rPr lang="zh-CN" altLang="zh-CN" sz="2800" b="1">
                <a:solidFill>
                  <a:srgbClr val="FF0000"/>
                </a:solidFill>
              </a:rPr>
              <a:t>         </a:t>
            </a:r>
            <a:r>
              <a:rPr lang="zh-CN" altLang="zh-CN" sz="2400" b="1">
                <a:solidFill>
                  <a:srgbClr val="FF0000"/>
                </a:solidFill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</a:rPr>
              <a:t>类型符  数组名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[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</a:rPr>
              <a:t>表达式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]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</a:rPr>
              <a:t>＝</a:t>
            </a:r>
            <a:r>
              <a:rPr lang="zh-CN" altLang="zh-CN" sz="2800">
                <a:solidFill>
                  <a:srgbClr val="FF0000"/>
                </a:solidFill>
              </a:rPr>
              <a:t>{</a:t>
            </a:r>
            <a:r>
              <a:rPr lang="zh-CN" altLang="en-US" sz="2800" b="1"/>
              <a:t>初值表</a:t>
            </a:r>
            <a:r>
              <a:rPr lang="zh-CN" altLang="zh-CN" sz="2800">
                <a:solidFill>
                  <a:srgbClr val="FF0000"/>
                </a:solidFill>
              </a:rPr>
              <a:t>}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63929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195638" y="20638"/>
            <a:ext cx="6781800" cy="742950"/>
          </a:xfrm>
        </p:spPr>
        <p:txBody>
          <a:bodyPr/>
          <a:lstStyle/>
          <a:p>
            <a:r>
              <a:rPr lang="zh-CN" altLang="en-US" sz="3600">
                <a:latin typeface="Courier New" pitchFamily="49" charset="0"/>
              </a:rPr>
              <a:t>三、一维数组的初始化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1375" y="1160463"/>
            <a:ext cx="8408988" cy="4908550"/>
          </a:xfrm>
        </p:spPr>
        <p:txBody>
          <a:bodyPr/>
          <a:lstStyle/>
          <a:p>
            <a:pPr marL="263525" indent="-263525">
              <a:buSzPct val="50000"/>
            </a:pPr>
            <a:r>
              <a:rPr lang="zh-CN" altLang="en-US" sz="2400" b="1"/>
              <a:t>给全部元素赋初值</a:t>
            </a:r>
          </a:p>
          <a:p>
            <a:pPr marL="263525" indent="-263525">
              <a:lnSpc>
                <a:spcPct val="120000"/>
              </a:lnSpc>
              <a:spcBef>
                <a:spcPct val="30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400" b="1"/>
              <a:t>   例</a:t>
            </a:r>
            <a:r>
              <a:rPr lang="zh-CN" altLang="zh-CN" sz="2400" b="1">
                <a:latin typeface="Times New Roman" pitchFamily="18" charset="0"/>
              </a:rPr>
              <a:t>:</a:t>
            </a:r>
            <a:r>
              <a:rPr lang="zh-CN" altLang="zh-CN" sz="2400" b="1"/>
              <a:t>  int  a</a:t>
            </a:r>
            <a:r>
              <a:rPr lang="zh-CN" altLang="zh-CN" sz="2400" b="1">
                <a:latin typeface="Courier New" pitchFamily="49" charset="0"/>
              </a:rPr>
              <a:t>[</a:t>
            </a:r>
            <a:r>
              <a:rPr lang="zh-CN" altLang="zh-CN" sz="2400" b="1"/>
              <a:t>8</a:t>
            </a:r>
            <a:r>
              <a:rPr lang="zh-CN" altLang="zh-CN" sz="2400" b="1">
                <a:latin typeface="Courier New" pitchFamily="49" charset="0"/>
              </a:rPr>
              <a:t>]</a:t>
            </a:r>
            <a:r>
              <a:rPr lang="zh-CN" altLang="zh-CN" sz="2400" b="1"/>
              <a:t>=</a:t>
            </a:r>
            <a:r>
              <a:rPr lang="zh-CN" altLang="zh-CN" sz="2400"/>
              <a:t>{</a:t>
            </a:r>
            <a:r>
              <a:rPr lang="zh-CN" altLang="zh-CN" sz="2400" b="1"/>
              <a:t> 0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1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2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3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4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5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6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7 </a:t>
            </a:r>
            <a:r>
              <a:rPr lang="zh-CN" altLang="zh-CN" sz="2400"/>
              <a:t>}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 marL="263525" indent="-263525">
              <a:buClr>
                <a:srgbClr val="009900"/>
              </a:buClr>
              <a:buSzPct val="85000"/>
              <a:buNone/>
            </a:pPr>
            <a:endParaRPr lang="zh-CN" altLang="zh-CN" sz="2400" b="1"/>
          </a:p>
          <a:p>
            <a:pPr marL="263525" indent="-263525">
              <a:buClr>
                <a:srgbClr val="009900"/>
              </a:buClr>
              <a:buSzPct val="85000"/>
              <a:buNone/>
            </a:pPr>
            <a:endParaRPr lang="zh-CN" altLang="zh-CN" sz="2800" b="1"/>
          </a:p>
        </p:txBody>
      </p:sp>
      <p:graphicFrame>
        <p:nvGraphicFramePr>
          <p:cNvPr id="327684" name="Group 4"/>
          <p:cNvGraphicFramePr>
            <a:graphicFrameLocks noGrp="1"/>
          </p:cNvGraphicFramePr>
          <p:nvPr/>
        </p:nvGraphicFramePr>
        <p:xfrm>
          <a:off x="2882900" y="2254251"/>
          <a:ext cx="6599238" cy="793115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a[0]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a[1]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a[2]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a[3]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a[4]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a[5]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a[6]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a[7]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7722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564040"/>
              </p:ext>
            </p:extLst>
          </p:nvPr>
        </p:nvGraphicFramePr>
        <p:xfrm>
          <a:off x="2890838" y="4327973"/>
          <a:ext cx="6623050" cy="793115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a[0]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a[1]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a[2]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a[3]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a[4]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a[5]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a[6]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a[7]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7760" name="Text Box 80"/>
          <p:cNvSpPr txBox="1">
            <a:spLocks noChangeArrowheads="1"/>
          </p:cNvSpPr>
          <p:nvPr/>
        </p:nvSpPr>
        <p:spPr bwMode="auto">
          <a:xfrm>
            <a:off x="2407444" y="5678506"/>
            <a:ext cx="7239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6850" indent="-1968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若</a:t>
            </a: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数组长度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黑体" pitchFamily="49" charset="-122"/>
              </a:rPr>
              <a:t>&lt;</a:t>
            </a: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初始数据个数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黑体" pitchFamily="49" charset="-122"/>
              </a:rPr>
              <a:t>编译出错</a:t>
            </a: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。</a:t>
            </a:r>
            <a:endParaRPr lang="en-US" altLang="zh-CN" b="1" dirty="0">
              <a:solidFill>
                <a:srgbClr val="000000"/>
              </a:solidFill>
              <a:latin typeface="Courier New" pitchFamily="49" charset="0"/>
              <a:ea typeface="黑体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000000"/>
                </a:solidFill>
              </a:rPr>
              <a:t>例</a:t>
            </a:r>
            <a:r>
              <a:rPr lang="zh-CN" altLang="zh-CN" b="1" dirty="0">
                <a:solidFill>
                  <a:srgbClr val="000000"/>
                </a:solidFill>
              </a:rPr>
              <a:t>:   int  a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b="1" dirty="0">
                <a:solidFill>
                  <a:srgbClr val="000000"/>
                </a:solidFill>
              </a:rPr>
              <a:t>=</a:t>
            </a:r>
            <a:r>
              <a:rPr lang="zh-CN" altLang="zh-CN" dirty="0">
                <a:solidFill>
                  <a:srgbClr val="000000"/>
                </a:solidFill>
              </a:rPr>
              <a:t>{</a:t>
            </a:r>
            <a:r>
              <a:rPr lang="zh-CN" altLang="zh-CN" b="1" dirty="0">
                <a:solidFill>
                  <a:srgbClr val="000000"/>
                </a:solidFill>
              </a:rPr>
              <a:t> 0, 1, 2, 3, 4 </a:t>
            </a:r>
            <a:r>
              <a:rPr lang="zh-CN" altLang="zh-CN" dirty="0">
                <a:solidFill>
                  <a:srgbClr val="000000"/>
                </a:solidFill>
              </a:rPr>
              <a:t>}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endParaRPr lang="zh-CN" altLang="en-US" b="1" dirty="0">
              <a:solidFill>
                <a:srgbClr val="000000"/>
              </a:solidFill>
              <a:latin typeface="Courier New" pitchFamily="49" charset="0"/>
              <a:ea typeface="黑体" pitchFamily="49" charset="-122"/>
            </a:endParaRPr>
          </a:p>
        </p:txBody>
      </p:sp>
      <p:sp>
        <p:nvSpPr>
          <p:cNvPr id="327761" name="Rectangle 81"/>
          <p:cNvSpPr>
            <a:spLocks noChangeArrowheads="1"/>
          </p:cNvSpPr>
          <p:nvPr/>
        </p:nvSpPr>
        <p:spPr bwMode="auto">
          <a:xfrm>
            <a:off x="2149475" y="3284984"/>
            <a:ext cx="7754938" cy="10048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2575" indent="-282575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ea typeface="黑体" pitchFamily="49" charset="-122"/>
              </a:rPr>
              <a:t>若</a:t>
            </a:r>
            <a:r>
              <a:rPr lang="zh-CN" altLang="en-US" sz="2400" b="1" dirty="0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数组长度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黑体" pitchFamily="49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ea typeface="黑体" pitchFamily="49" charset="-122"/>
              </a:rPr>
              <a:t>初始数据个数</a:t>
            </a:r>
            <a:r>
              <a:rPr lang="en-US" altLang="zh-CN" sz="2400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</a:rPr>
              <a:t>给部分元素赋初值</a:t>
            </a:r>
          </a:p>
          <a:p>
            <a:pPr marL="282575" indent="-282575" fontAlgn="base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09900"/>
              </a:buClr>
              <a:buSzPct val="85000"/>
            </a:pPr>
            <a:r>
              <a:rPr lang="zh-CN" altLang="en-US" sz="2400" b="1" dirty="0">
                <a:solidFill>
                  <a:srgbClr val="000000"/>
                </a:solidFill>
              </a:rPr>
              <a:t>   例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   </a:t>
            </a:r>
            <a:r>
              <a:rPr lang="zh-CN" altLang="zh-CN" sz="2400" b="1" dirty="0">
                <a:solidFill>
                  <a:srgbClr val="000000"/>
                </a:solidFill>
              </a:rPr>
              <a:t>int  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</a:rPr>
              <a:t>8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</a:rPr>
              <a:t>=</a:t>
            </a:r>
            <a:r>
              <a:rPr lang="zh-CN" altLang="zh-CN" sz="2400" dirty="0">
                <a:solidFill>
                  <a:srgbClr val="000000"/>
                </a:solidFill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</a:rPr>
              <a:t> 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2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3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4 </a:t>
            </a:r>
            <a:r>
              <a:rPr lang="zh-CN" altLang="zh-CN" sz="2400" dirty="0">
                <a:solidFill>
                  <a:srgbClr val="000000"/>
                </a:solidFill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327762" name="Text Box 82"/>
          <p:cNvSpPr txBox="1">
            <a:spLocks noChangeArrowheads="1"/>
          </p:cNvSpPr>
          <p:nvPr/>
        </p:nvSpPr>
        <p:spPr bwMode="auto">
          <a:xfrm>
            <a:off x="7089776" y="3927922"/>
            <a:ext cx="2016125" cy="5191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27763" name="Text Box 83"/>
          <p:cNvSpPr txBox="1">
            <a:spLocks noChangeArrowheads="1"/>
          </p:cNvSpPr>
          <p:nvPr/>
        </p:nvSpPr>
        <p:spPr bwMode="auto">
          <a:xfrm>
            <a:off x="2890838" y="5126646"/>
            <a:ext cx="367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5738" indent="-18573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剩下的元素的初值是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180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0" grpId="0" autoUpdateAnimBg="0"/>
      <p:bldP spid="327761" grpId="0" build="p" animBg="1" autoUpdateAnimBg="0"/>
      <p:bldP spid="32776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17725" y="1271589"/>
            <a:ext cx="8369300" cy="4098925"/>
          </a:xfrm>
        </p:spPr>
        <p:txBody>
          <a:bodyPr/>
          <a:lstStyle/>
          <a:p>
            <a:pPr marL="269875" indent="-269875">
              <a:buSzPct val="50000"/>
            </a:pPr>
            <a:r>
              <a:rPr lang="zh-CN" altLang="en-US" sz="2400" b="1" dirty="0"/>
              <a:t>给全部元素赋初值时可以不指定数组的长度</a:t>
            </a:r>
          </a:p>
          <a:p>
            <a:pPr marL="269875" indent="-269875">
              <a:spcBef>
                <a:spcPct val="55000"/>
              </a:spcBef>
              <a:buNone/>
            </a:pPr>
            <a:r>
              <a:rPr lang="zh-CN" altLang="en-US" sz="2400" b="1" dirty="0"/>
              <a:t>   例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400" b="1" dirty="0"/>
              <a:t>     int  a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dirty="0"/>
              <a:t>  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/>
              <a:t>=</a:t>
            </a:r>
            <a:r>
              <a:rPr lang="zh-CN" altLang="zh-CN" sz="2400" dirty="0"/>
              <a:t>{</a:t>
            </a:r>
            <a:r>
              <a:rPr lang="zh-CN" altLang="zh-CN" sz="2400" b="1" dirty="0"/>
              <a:t>0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1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2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3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4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5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6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7</a:t>
            </a:r>
            <a:r>
              <a:rPr lang="zh-CN" altLang="zh-CN" sz="2400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marL="269875" indent="-269875">
              <a:spcBef>
                <a:spcPct val="65000"/>
              </a:spcBef>
              <a:buNone/>
            </a:pPr>
            <a:r>
              <a:rPr lang="zh-CN" altLang="zh-CN" sz="2800" b="1" dirty="0"/>
              <a:t>    </a:t>
            </a:r>
            <a:endParaRPr lang="zh-CN" altLang="zh-CN" sz="2800" b="1" dirty="0">
              <a:latin typeface="Times New Roman" pitchFamily="18" charset="0"/>
            </a:endParaRPr>
          </a:p>
          <a:p>
            <a:pPr marL="269875" indent="-269875">
              <a:spcBef>
                <a:spcPct val="45000"/>
              </a:spcBef>
              <a:buNone/>
            </a:pPr>
            <a:r>
              <a:rPr lang="zh-CN" altLang="zh-CN" sz="2800" b="1" dirty="0"/>
              <a:t>   </a:t>
            </a:r>
          </a:p>
        </p:txBody>
      </p:sp>
      <p:sp>
        <p:nvSpPr>
          <p:cNvPr id="328707" name="Rectangle 3"/>
          <p:cNvSpPr>
            <a:spLocks noChangeArrowheads="1"/>
          </p:cNvSpPr>
          <p:nvPr/>
        </p:nvSpPr>
        <p:spPr bwMode="auto">
          <a:xfrm>
            <a:off x="2424114" y="2476500"/>
            <a:ext cx="669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269875" indent="-2698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>
                <a:solidFill>
                  <a:srgbClr val="000000"/>
                </a:solidFill>
              </a:rPr>
              <a:t>数组的</a:t>
            </a:r>
            <a:r>
              <a:rPr lang="zh-CN" altLang="en-US" sz="2400" b="1">
                <a:solidFill>
                  <a:srgbClr val="FF0000"/>
                </a:solidFill>
              </a:rPr>
              <a:t>长度</a:t>
            </a:r>
            <a:r>
              <a:rPr lang="zh-CN" altLang="en-US" sz="2400" b="1">
                <a:solidFill>
                  <a:srgbClr val="000000"/>
                </a:solidFill>
              </a:rPr>
              <a:t>就是初值表中数值的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个数</a:t>
            </a:r>
          </a:p>
        </p:txBody>
      </p:sp>
      <p:sp>
        <p:nvSpPr>
          <p:cNvPr id="328708" name="Rectangle 4"/>
          <p:cNvSpPr>
            <a:spLocks noGrp="1" noChangeArrowheads="1"/>
          </p:cNvSpPr>
          <p:nvPr>
            <p:ph type="title"/>
          </p:nvPr>
        </p:nvSpPr>
        <p:spPr>
          <a:xfrm>
            <a:off x="3257550" y="152400"/>
            <a:ext cx="6021388" cy="598488"/>
          </a:xfrm>
        </p:spPr>
        <p:txBody>
          <a:bodyPr/>
          <a:lstStyle/>
          <a:p>
            <a:r>
              <a:rPr lang="zh-CN" altLang="en-US" sz="3600">
                <a:latin typeface="Courier New" pitchFamily="49" charset="0"/>
              </a:rPr>
              <a:t>三、一维数组的初始化</a:t>
            </a:r>
          </a:p>
        </p:txBody>
      </p:sp>
      <p:graphicFrame>
        <p:nvGraphicFramePr>
          <p:cNvPr id="32870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03838"/>
              </p:ext>
            </p:extLst>
          </p:nvPr>
        </p:nvGraphicFramePr>
        <p:xfrm>
          <a:off x="2628900" y="3116262"/>
          <a:ext cx="6934200" cy="914400"/>
        </p:xfrm>
        <a:graphic>
          <a:graphicData uri="http://schemas.openxmlformats.org/drawingml/2006/table">
            <a:tbl>
              <a:tblPr/>
              <a:tblGrid>
                <a:gridCol w="86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a[0]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a[1]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a[2]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a[3]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a[4]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a[5]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a[6]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a[7]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effectLst/>
                          <a:latin typeface="Tahoma" pitchFamily="34" charset="0"/>
                          <a:ea typeface="黑体" pitchFamily="49" charset="-122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749" name="Text Box 45"/>
          <p:cNvSpPr txBox="1">
            <a:spLocks noChangeArrowheads="1"/>
          </p:cNvSpPr>
          <p:nvPr/>
        </p:nvSpPr>
        <p:spPr bwMode="auto">
          <a:xfrm>
            <a:off x="2187575" y="4611689"/>
            <a:ext cx="8299450" cy="1517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当对全部数组元素初始化为 </a:t>
            </a:r>
            <a:r>
              <a:rPr lang="zh-CN" altLang="zh-CN" b="1">
                <a:solidFill>
                  <a:srgbClr val="000090"/>
                </a:solidFill>
                <a:latin typeface="Arial" pitchFamily="34" charset="0"/>
                <a:ea typeface="黑体" pitchFamily="49" charset="-122"/>
              </a:rPr>
              <a:t>0</a:t>
            </a:r>
            <a:r>
              <a:rPr lang="zh-CN" altLang="zh-CN">
                <a:solidFill>
                  <a:srgbClr val="00009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时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可以写成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:</a:t>
            </a:r>
          </a:p>
          <a:p>
            <a:pPr algn="just" fontAlgn="base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  int  x</a:t>
            </a:r>
            <a:r>
              <a:rPr lang="zh-CN" altLang="zh-CN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[</a:t>
            </a:r>
            <a:r>
              <a:rPr lang="zh-CN" altLang="zh-CN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5</a:t>
            </a:r>
            <a:r>
              <a:rPr lang="zh-CN" altLang="zh-CN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]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=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{0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0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0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0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0}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; 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</a:t>
            </a:r>
          </a:p>
          <a:p>
            <a:pPr algn="just" fontAlgn="base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zh-CN" altLang="en-US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或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: 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int  x</a:t>
            </a:r>
            <a:r>
              <a:rPr lang="zh-CN" altLang="zh-CN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[</a:t>
            </a:r>
            <a:r>
              <a:rPr lang="zh-CN" altLang="zh-CN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5</a:t>
            </a:r>
            <a:r>
              <a:rPr lang="zh-CN" altLang="zh-CN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]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= </a:t>
            </a:r>
            <a:r>
              <a:rPr lang="zh-CN" altLang="zh-CN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{0}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;</a:t>
            </a:r>
          </a:p>
        </p:txBody>
      </p:sp>
      <p:sp>
        <p:nvSpPr>
          <p:cNvPr id="328750" name="Text Box 46"/>
          <p:cNvSpPr txBox="1">
            <a:spLocks noChangeArrowheads="1"/>
          </p:cNvSpPr>
          <p:nvPr/>
        </p:nvSpPr>
        <p:spPr bwMode="auto">
          <a:xfrm>
            <a:off x="4208463" y="183673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5997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autoUpdateAnimBg="0"/>
      <p:bldP spid="328749" grpId="0" build="p" animBg="1" autoUpdateAnimBg="0"/>
      <p:bldP spid="32875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5389" y="49214"/>
            <a:ext cx="4752975" cy="738187"/>
          </a:xfrm>
        </p:spPr>
        <p:txBody>
          <a:bodyPr/>
          <a:lstStyle/>
          <a:p>
            <a:r>
              <a:rPr lang="zh-CN" altLang="en-US" sz="3200"/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1850" y="1220788"/>
            <a:ext cx="7772400" cy="4114800"/>
          </a:xfrm>
        </p:spPr>
        <p:txBody>
          <a:bodyPr/>
          <a:lstStyle/>
          <a:p>
            <a:pPr marL="263525" indent="-263525">
              <a:buSzPct val="50000"/>
            </a:pPr>
            <a:r>
              <a:rPr lang="zh-CN" altLang="en-US" sz="2400" b="1"/>
              <a:t>初值表不能为空</a:t>
            </a:r>
          </a:p>
          <a:p>
            <a:pPr marL="263525" indent="-263525"/>
            <a:endParaRPr lang="zh-CN" altLang="en-US" sz="2400" b="1"/>
          </a:p>
          <a:p>
            <a:pPr marL="263525" indent="-263525">
              <a:spcBef>
                <a:spcPct val="25000"/>
              </a:spcBef>
            </a:pPr>
            <a:endParaRPr lang="zh-CN" altLang="en-US" sz="2400" b="1"/>
          </a:p>
          <a:p>
            <a:pPr marL="263525" indent="-263525">
              <a:lnSpc>
                <a:spcPct val="110000"/>
              </a:lnSpc>
              <a:spcBef>
                <a:spcPct val="0"/>
              </a:spcBef>
            </a:pPr>
            <a:endParaRPr lang="zh-CN" altLang="en-US" sz="2800" b="1"/>
          </a:p>
          <a:p>
            <a:pPr marL="263525" indent="-263525">
              <a:buClrTx/>
              <a:buSzTx/>
              <a:buFontTx/>
              <a:buChar char="–"/>
            </a:pPr>
            <a:endParaRPr lang="zh-CN" altLang="en-US" sz="2800" b="1"/>
          </a:p>
          <a:p>
            <a:pPr marL="263525" indent="-263525"/>
            <a:endParaRPr lang="zh-CN" altLang="zh-CN" sz="2800"/>
          </a:p>
        </p:txBody>
      </p:sp>
      <p:sp>
        <p:nvSpPr>
          <p:cNvPr id="329732" name="Rectangle 4"/>
          <p:cNvSpPr>
            <a:spLocks noChangeArrowheads="1"/>
          </p:cNvSpPr>
          <p:nvPr/>
        </p:nvSpPr>
        <p:spPr bwMode="auto">
          <a:xfrm>
            <a:off x="2533651" y="1912938"/>
            <a:ext cx="3527425" cy="576262"/>
          </a:xfrm>
          <a:prstGeom prst="rect">
            <a:avLst/>
          </a:prstGeom>
          <a:solidFill>
            <a:schemeClr val="bg1"/>
          </a:solidFill>
          <a:ln w="15875" cmpd="sng">
            <a:solidFill>
              <a:srgbClr val="FF33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= 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宋体" pitchFamily="2" charset="-122"/>
              </a:rPr>
              <a:t>{ 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宋体" pitchFamily="2" charset="-122"/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endParaRPr lang="zh-CN" altLang="zh-CN" sz="2400" dirty="0">
              <a:solidFill>
                <a:srgbClr val="000000"/>
              </a:solidFill>
              <a:latin typeface="Times New Roman" pitchFamily="18" charset="0"/>
              <a:ea typeface="Dotum" pitchFamily="34" charset="-127"/>
            </a:endParaRPr>
          </a:p>
        </p:txBody>
      </p:sp>
      <p:sp>
        <p:nvSpPr>
          <p:cNvPr id="329733" name="Text Box 5"/>
          <p:cNvSpPr txBox="1">
            <a:spLocks noChangeArrowheads="1"/>
          </p:cNvSpPr>
          <p:nvPr/>
        </p:nvSpPr>
        <p:spPr bwMode="auto">
          <a:xfrm>
            <a:off x="2451100" y="3640139"/>
            <a:ext cx="3614738" cy="1495153"/>
          </a:xfrm>
          <a:prstGeom prst="rect">
            <a:avLst/>
          </a:prstGeom>
          <a:solidFill>
            <a:schemeClr val="bg1"/>
          </a:solidFill>
          <a:ln w="15875" cmpd="sng">
            <a:solidFill>
              <a:srgbClr val="008000"/>
            </a:solidFill>
            <a:miter lim="800000"/>
            <a:headEnd/>
            <a:tailEnd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{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1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for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i=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%d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</p:txBody>
      </p:sp>
      <p:sp>
        <p:nvSpPr>
          <p:cNvPr id="329734" name="Text Box 6"/>
          <p:cNvSpPr txBox="1">
            <a:spLocks noChangeArrowheads="1"/>
          </p:cNvSpPr>
          <p:nvPr/>
        </p:nvSpPr>
        <p:spPr bwMode="auto">
          <a:xfrm>
            <a:off x="6362700" y="3640139"/>
            <a:ext cx="3727450" cy="1495153"/>
          </a:xfrm>
          <a:prstGeom prst="rect">
            <a:avLst/>
          </a:prstGeom>
          <a:solidFill>
            <a:schemeClr val="bg1"/>
          </a:solidFill>
          <a:ln w="15875" cmpd="sng">
            <a:solidFill>
              <a:srgbClr val="FF00FF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for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i=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endParaRPr lang="en-US" altLang="zh-CN" sz="2400" b="1" dirty="0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print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%d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[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</p:txBody>
      </p:sp>
      <p:sp>
        <p:nvSpPr>
          <p:cNvPr id="329735" name="Text Box 7"/>
          <p:cNvSpPr txBox="1">
            <a:spLocks noChangeArrowheads="1"/>
          </p:cNvSpPr>
          <p:nvPr/>
        </p:nvSpPr>
        <p:spPr bwMode="auto">
          <a:xfrm>
            <a:off x="2460625" y="5383214"/>
            <a:ext cx="3170238" cy="39687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FFFF"/>
                </a:solidFill>
                <a:latin typeface="Courier New" pitchFamily="49" charset="0"/>
                <a:ea typeface="宋体" pitchFamily="2" charset="-122"/>
              </a:rPr>
              <a:t> 1 0 0 0 0</a:t>
            </a:r>
            <a:endParaRPr lang="zh-CN" altLang="zh-CN" sz="20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29736" name="Text Box 8"/>
          <p:cNvSpPr txBox="1">
            <a:spLocks noChangeArrowheads="1"/>
          </p:cNvSpPr>
          <p:nvPr/>
        </p:nvSpPr>
        <p:spPr bwMode="auto">
          <a:xfrm>
            <a:off x="6386514" y="5362576"/>
            <a:ext cx="3476625" cy="39687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FFFFFF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zh-CN" altLang="zh-CN" sz="2000" b="1">
                <a:solidFill>
                  <a:srgbClr val="FFFFFF"/>
                </a:solidFill>
                <a:latin typeface="Courier New" pitchFamily="49" charset="0"/>
                <a:ea typeface="宋体" pitchFamily="2" charset="-122"/>
              </a:rPr>
              <a:t>872 0 1492 4160 186</a:t>
            </a:r>
            <a:endParaRPr lang="zh-CN" altLang="zh-CN" sz="20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29737" name="AutoShape 9"/>
          <p:cNvSpPr>
            <a:spLocks noChangeArrowheads="1"/>
          </p:cNvSpPr>
          <p:nvPr/>
        </p:nvSpPr>
        <p:spPr bwMode="auto">
          <a:xfrm>
            <a:off x="8669338" y="6032500"/>
            <a:ext cx="1312862" cy="368300"/>
          </a:xfrm>
          <a:prstGeom prst="wedgeRoundRectCallout">
            <a:avLst>
              <a:gd name="adj1" fmla="val -49759"/>
              <a:gd name="adj2" fmla="val -87931"/>
              <a:gd name="adj3" fmla="val 16667"/>
            </a:avLst>
          </a:prstGeom>
          <a:solidFill>
            <a:srgbClr val="B7DB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不可预知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29738" name="Text Box 10"/>
          <p:cNvSpPr txBox="1">
            <a:spLocks noChangeArrowheads="1"/>
          </p:cNvSpPr>
          <p:nvPr/>
        </p:nvSpPr>
        <p:spPr bwMode="auto">
          <a:xfrm>
            <a:off x="2144713" y="2835275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63525" indent="-263525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没有初始化的数组</a:t>
            </a:r>
            <a:r>
              <a:rPr lang="zh-CN" altLang="zh-CN" b="1">
                <a:solidFill>
                  <a:srgbClr val="000000"/>
                </a:solidFill>
                <a:ea typeface="黑体" pitchFamily="49" charset="-122"/>
              </a:rPr>
              <a:t>,  </a:t>
            </a:r>
            <a:r>
              <a:rPr lang="zh-CN" altLang="en-US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其元素的值不确定。</a:t>
            </a:r>
          </a:p>
        </p:txBody>
      </p:sp>
      <p:sp>
        <p:nvSpPr>
          <p:cNvPr id="329739" name="Rectangle 11"/>
          <p:cNvSpPr>
            <a:spLocks noChangeArrowheads="1"/>
          </p:cNvSpPr>
          <p:nvPr/>
        </p:nvSpPr>
        <p:spPr bwMode="auto">
          <a:xfrm>
            <a:off x="5053014" y="1939925"/>
            <a:ext cx="49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5057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 animBg="1" autoUpdateAnimBg="0"/>
      <p:bldP spid="329734" grpId="0" animBg="1" autoUpdateAnimBg="0"/>
      <p:bldP spid="329735" grpId="0" animBg="1" autoUpdateAnimBg="0"/>
      <p:bldP spid="329736" grpId="0" animBg="1" autoUpdateAnimBg="0"/>
      <p:bldP spid="329737" grpId="0" animBg="1" autoUpdateAnimBg="0"/>
      <p:bldP spid="329738" grpId="0" autoUpdateAnimBg="0"/>
      <p:bldP spid="32973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2513" y="98426"/>
            <a:ext cx="7391400" cy="658813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5.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2  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有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个数，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n&lt;100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求其中最小值。</a:t>
            </a:r>
          </a:p>
        </p:txBody>
      </p:sp>
      <p:grpSp>
        <p:nvGrpSpPr>
          <p:cNvPr id="330755" name="Group 3"/>
          <p:cNvGrpSpPr>
            <a:grpSpLocks/>
          </p:cNvGrpSpPr>
          <p:nvPr/>
        </p:nvGrpSpPr>
        <p:grpSpPr bwMode="auto">
          <a:xfrm>
            <a:off x="2749551" y="1570039"/>
            <a:ext cx="3368675" cy="3502025"/>
            <a:chOff x="0" y="0"/>
            <a:chExt cx="2122" cy="2206"/>
          </a:xfrm>
        </p:grpSpPr>
        <p:grpSp>
          <p:nvGrpSpPr>
            <p:cNvPr id="330756" name="Group 4"/>
            <p:cNvGrpSpPr>
              <a:grpSpLocks/>
            </p:cNvGrpSpPr>
            <p:nvPr/>
          </p:nvGrpSpPr>
          <p:grpSpPr bwMode="auto">
            <a:xfrm>
              <a:off x="0" y="0"/>
              <a:ext cx="2122" cy="2206"/>
              <a:chOff x="0" y="0"/>
              <a:chExt cx="2171" cy="2206"/>
            </a:xfrm>
          </p:grpSpPr>
          <p:sp>
            <p:nvSpPr>
              <p:cNvPr id="330757" name="Text Box 5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170" cy="2206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r>
                  <a:rPr lang="zh-CN" altLang="en-US" sz="2400" b="1">
                    <a:solidFill>
                      <a:srgbClr val="000000"/>
                    </a:solidFill>
                    <a:ea typeface="宋体" pitchFamily="2" charset="-122"/>
                  </a:rPr>
                  <a:t>定义</a:t>
                </a: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x[99],small,i,n</a:t>
                </a:r>
              </a:p>
              <a:p>
                <a:pPr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en-US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输入</a:t>
                </a: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n,(x[i],i=0</a:t>
                </a:r>
                <a:r>
                  <a:rPr lang="zh-CN" altLang="en-US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～</a:t>
                </a: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n-1)</a:t>
                </a:r>
              </a:p>
              <a:p>
                <a:pPr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 small      x[0]</a:t>
                </a:r>
              </a:p>
              <a:p>
                <a:pPr algn="ctr"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  i = 1</a:t>
                </a:r>
                <a:r>
                  <a:rPr lang="zh-CN" altLang="en-US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～</a:t>
                </a: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n-1    </a:t>
                </a:r>
              </a:p>
              <a:p>
                <a:pPr algn="ctr"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      if x[i]&lt;small</a:t>
                </a:r>
              </a:p>
              <a:p>
                <a:pPr fontAlgn="base">
                  <a:spcBef>
                    <a:spcPct val="35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       small    x[i]</a:t>
                </a: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       </a:t>
                </a:r>
                <a:r>
                  <a:rPr lang="zh-CN" altLang="en-US" sz="2400" b="1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输出     </a:t>
                </a:r>
              </a:p>
            </p:txBody>
          </p:sp>
          <p:sp>
            <p:nvSpPr>
              <p:cNvPr id="330758" name="Line 6"/>
              <p:cNvSpPr>
                <a:spLocks noChangeShapeType="1"/>
              </p:cNvSpPr>
              <p:nvPr/>
            </p:nvSpPr>
            <p:spPr bwMode="auto">
              <a:xfrm>
                <a:off x="0" y="924"/>
                <a:ext cx="2149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30759" name="Line 7"/>
              <p:cNvSpPr>
                <a:spLocks noChangeShapeType="1"/>
              </p:cNvSpPr>
              <p:nvPr/>
            </p:nvSpPr>
            <p:spPr bwMode="auto">
              <a:xfrm>
                <a:off x="661" y="1264"/>
                <a:ext cx="150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30760" name="Line 8"/>
              <p:cNvSpPr>
                <a:spLocks noChangeShapeType="1"/>
              </p:cNvSpPr>
              <p:nvPr/>
            </p:nvSpPr>
            <p:spPr bwMode="auto">
              <a:xfrm>
                <a:off x="0" y="1945"/>
                <a:ext cx="2149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30761" name="Line 9"/>
              <p:cNvSpPr>
                <a:spLocks noChangeShapeType="1"/>
              </p:cNvSpPr>
              <p:nvPr/>
            </p:nvSpPr>
            <p:spPr bwMode="auto">
              <a:xfrm flipV="1">
                <a:off x="661" y="1605"/>
                <a:ext cx="150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30762" name="Line 10"/>
              <p:cNvSpPr>
                <a:spLocks noChangeShapeType="1"/>
              </p:cNvSpPr>
              <p:nvPr/>
            </p:nvSpPr>
            <p:spPr bwMode="auto">
              <a:xfrm>
                <a:off x="0" y="632"/>
                <a:ext cx="2134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330763" name="Line 11"/>
              <p:cNvSpPr>
                <a:spLocks noChangeShapeType="1"/>
              </p:cNvSpPr>
              <p:nvPr/>
            </p:nvSpPr>
            <p:spPr bwMode="auto">
              <a:xfrm>
                <a:off x="8" y="319"/>
                <a:ext cx="2163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330764" name="Line 12"/>
            <p:cNvSpPr>
              <a:spLocks noChangeShapeType="1"/>
            </p:cNvSpPr>
            <p:nvPr/>
          </p:nvSpPr>
          <p:spPr bwMode="auto">
            <a:xfrm>
              <a:off x="637" y="1264"/>
              <a:ext cx="0" cy="681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330765" name="AutoShape 13"/>
          <p:cNvSpPr>
            <a:spLocks noChangeArrowheads="1"/>
          </p:cNvSpPr>
          <p:nvPr/>
        </p:nvSpPr>
        <p:spPr bwMode="auto">
          <a:xfrm>
            <a:off x="4694239" y="4233864"/>
            <a:ext cx="549275" cy="236537"/>
          </a:xfrm>
          <a:prstGeom prst="leftArrow">
            <a:avLst>
              <a:gd name="adj1" fmla="val 50000"/>
              <a:gd name="adj2" fmla="val 58054"/>
            </a:avLst>
          </a:prstGeom>
          <a:solidFill>
            <a:srgbClr val="FF00FF">
              <a:alpha val="50000"/>
            </a:srgb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30766" name="AutoShape 14"/>
          <p:cNvSpPr>
            <a:spLocks noChangeArrowheads="1"/>
          </p:cNvSpPr>
          <p:nvPr/>
        </p:nvSpPr>
        <p:spPr bwMode="auto">
          <a:xfrm>
            <a:off x="3989389" y="2735264"/>
            <a:ext cx="484187" cy="231775"/>
          </a:xfrm>
          <a:prstGeom prst="leftArrow">
            <a:avLst>
              <a:gd name="adj1" fmla="val 50000"/>
              <a:gd name="adj2" fmla="val 52226"/>
            </a:avLst>
          </a:prstGeom>
          <a:solidFill>
            <a:schemeClr val="accent1"/>
          </a:solidFill>
          <a:ln w="1587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 useBgFill="1">
        <p:nvSpPr>
          <p:cNvPr id="330767" name="Text Box 15"/>
          <p:cNvSpPr txBox="1">
            <a:spLocks noChangeArrowheads="1"/>
          </p:cNvSpPr>
          <p:nvPr/>
        </p:nvSpPr>
        <p:spPr bwMode="auto">
          <a:xfrm>
            <a:off x="2246313" y="993775"/>
            <a:ext cx="7993062" cy="541655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#include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&lt;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stdio</a:t>
            </a:r>
            <a:r>
              <a:rPr lang="zh-CN" altLang="zh-CN" b="1" dirty="0">
                <a:solidFill>
                  <a:srgbClr val="000000"/>
                </a:solidFill>
                <a:ea typeface="Dotum" pitchFamily="34" charset="-127"/>
              </a:rPr>
              <a:t>.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&gt;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</a:p>
          <a:p>
            <a:pPr fontAlgn="base">
              <a:lnSpc>
                <a:spcPct val="105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main</a:t>
            </a:r>
            <a:r>
              <a:rPr lang="zh-CN" altLang="zh-CN" b="1" dirty="0">
                <a:solidFill>
                  <a:srgbClr val="000000"/>
                </a:solidFill>
              </a:rPr>
              <a:t>( 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{ int  n</a:t>
            </a:r>
            <a:r>
              <a:rPr lang="zh-CN" altLang="zh-CN" b="1" dirty="0">
                <a:solidFill>
                  <a:srgbClr val="000000"/>
                </a:solidFill>
              </a:rPr>
              <a:t>,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b="1" dirty="0">
                <a:solidFill>
                  <a:srgbClr val="000000"/>
                </a:solidFill>
              </a:rPr>
              <a:t> 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small</a:t>
            </a:r>
            <a:r>
              <a:rPr lang="zh-CN" altLang="zh-CN" b="1" dirty="0">
                <a:solidFill>
                  <a:srgbClr val="000000"/>
                </a:solidFill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b="1" dirty="0">
                <a:solidFill>
                  <a:srgbClr val="1C1C1C"/>
                </a:solidFill>
                <a:latin typeface="Tahoma" pitchFamily="34" charset="0"/>
              </a:rPr>
              <a:t>x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Arial" pitchFamily="34" charset="0"/>
              </a:rPr>
              <a:t>99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]</a:t>
            </a:r>
            <a:r>
              <a:rPr lang="zh-CN" altLang="zh-CN" b="1" dirty="0">
                <a:solidFill>
                  <a:srgbClr val="1C1C1C"/>
                </a:solidFill>
              </a:rPr>
              <a:t> ;</a:t>
            </a:r>
          </a:p>
          <a:p>
            <a:pPr fontAlgn="base">
              <a:lnSpc>
                <a:spcPct val="105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scanf</a:t>
            </a:r>
            <a:r>
              <a:rPr lang="zh-CN" altLang="zh-CN" b="1" dirty="0">
                <a:solidFill>
                  <a:srgbClr val="000000"/>
                </a:solidFill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</a:t>
            </a:r>
            <a:r>
              <a:rPr lang="zh-CN" altLang="zh-CN" b="1" dirty="0">
                <a:solidFill>
                  <a:srgbClr val="000000"/>
                </a:solidFill>
              </a:rPr>
              <a:t>”,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00"/>
                </a:solidFill>
              </a:rPr>
              <a:t>) ;</a:t>
            </a:r>
          </a:p>
          <a:p>
            <a:pPr fontAlgn="base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for</a:t>
            </a:r>
            <a:r>
              <a:rPr lang="zh-CN" altLang="zh-CN" b="1" dirty="0">
                <a:solidFill>
                  <a:srgbClr val="000000"/>
                </a:solidFill>
              </a:rPr>
              <a:t>(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i=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0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&lt;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00"/>
                </a:solidFill>
              </a:rPr>
              <a:t>;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b="1" dirty="0">
                <a:solidFill>
                  <a:srgbClr val="000000"/>
                </a:solidFill>
              </a:rPr>
              <a:t>++)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scanf</a:t>
            </a:r>
            <a:r>
              <a:rPr lang="zh-CN" altLang="zh-CN" b="1" dirty="0">
                <a:solidFill>
                  <a:srgbClr val="000000"/>
                </a:solidFill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</a:t>
            </a:r>
            <a:r>
              <a:rPr lang="zh-CN" altLang="zh-CN" b="1" dirty="0">
                <a:solidFill>
                  <a:srgbClr val="000000"/>
                </a:solidFill>
              </a:rPr>
              <a:t>”,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] </a:t>
            </a:r>
            <a:r>
              <a:rPr lang="zh-CN" altLang="zh-CN" b="1" dirty="0">
                <a:solidFill>
                  <a:srgbClr val="000000"/>
                </a:solidFill>
              </a:rPr>
              <a:t>);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small=x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0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for </a:t>
            </a:r>
            <a:r>
              <a:rPr lang="zh-CN" altLang="zh-CN" b="1" dirty="0">
                <a:solidFill>
                  <a:srgbClr val="C000C0"/>
                </a:solidFill>
              </a:rPr>
              <a:t>(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 i=1 </a:t>
            </a:r>
            <a:r>
              <a:rPr lang="zh-CN" altLang="zh-CN" b="1" dirty="0">
                <a:solidFill>
                  <a:srgbClr val="C000C0"/>
                </a:solidFill>
              </a:rPr>
              <a:t>;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 i</a:t>
            </a:r>
            <a:r>
              <a:rPr lang="zh-CN" altLang="zh-CN" dirty="0">
                <a:solidFill>
                  <a:srgbClr val="C000C0"/>
                </a:solidFill>
                <a:latin typeface="Tahoma" pitchFamily="34" charset="0"/>
              </a:rPr>
              <a:t>&lt;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n </a:t>
            </a:r>
            <a:r>
              <a:rPr lang="zh-CN" altLang="zh-CN" b="1" dirty="0">
                <a:solidFill>
                  <a:srgbClr val="C000C0"/>
                </a:solidFill>
              </a:rPr>
              <a:t>;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 i++ </a:t>
            </a:r>
            <a:r>
              <a:rPr lang="zh-CN" altLang="zh-CN" b="1" dirty="0">
                <a:solidFill>
                  <a:srgbClr val="C000C0"/>
                </a:solidFill>
              </a:rPr>
              <a:t>)</a:t>
            </a:r>
            <a:r>
              <a:rPr lang="zh-CN" altLang="zh-CN" b="1" dirty="0">
                <a:solidFill>
                  <a:srgbClr val="000000"/>
                </a:solidFill>
              </a:rPr>
              <a:t>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     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if </a:t>
            </a:r>
            <a:r>
              <a:rPr lang="zh-CN" altLang="zh-CN" b="1" dirty="0">
                <a:solidFill>
                  <a:srgbClr val="C000C0"/>
                </a:solidFill>
              </a:rPr>
              <a:t>( 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x</a:t>
            </a:r>
            <a:r>
              <a:rPr lang="zh-CN" altLang="zh-CN" dirty="0">
                <a:solidFill>
                  <a:srgbClr val="C000C0"/>
                </a:solidFill>
                <a:latin typeface="Tahoma" pitchFamily="34" charset="0"/>
              </a:rPr>
              <a:t>[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i</a:t>
            </a:r>
            <a:r>
              <a:rPr lang="zh-CN" altLang="zh-CN" dirty="0">
                <a:solidFill>
                  <a:srgbClr val="C000C0"/>
                </a:solidFill>
                <a:latin typeface="Tahoma" pitchFamily="34" charset="0"/>
              </a:rPr>
              <a:t>]&lt;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small </a:t>
            </a:r>
            <a:r>
              <a:rPr lang="zh-CN" altLang="zh-CN" b="1" dirty="0">
                <a:solidFill>
                  <a:srgbClr val="C000C0"/>
                </a:solidFill>
              </a:rPr>
              <a:t>)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 small=x</a:t>
            </a:r>
            <a:r>
              <a:rPr lang="zh-CN" altLang="zh-CN" dirty="0">
                <a:solidFill>
                  <a:srgbClr val="C000C0"/>
                </a:solidFill>
                <a:latin typeface="Tahoma" pitchFamily="34" charset="0"/>
              </a:rPr>
              <a:t>[</a:t>
            </a:r>
            <a:r>
              <a:rPr lang="zh-CN" altLang="zh-CN" b="1" dirty="0">
                <a:solidFill>
                  <a:srgbClr val="C000C0"/>
                </a:solidFill>
                <a:latin typeface="Tahoma" pitchFamily="34" charset="0"/>
              </a:rPr>
              <a:t>i</a:t>
            </a:r>
            <a:r>
              <a:rPr lang="zh-CN" altLang="zh-CN" dirty="0">
                <a:solidFill>
                  <a:srgbClr val="C000C0"/>
                </a:solidFill>
                <a:latin typeface="Tahoma" pitchFamily="34" charset="0"/>
              </a:rPr>
              <a:t>]</a:t>
            </a:r>
            <a:r>
              <a:rPr lang="zh-CN" altLang="zh-CN" b="1" dirty="0">
                <a:solidFill>
                  <a:srgbClr val="000000"/>
                </a:solidFill>
              </a:rPr>
              <a:t> ;</a:t>
            </a:r>
          </a:p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for</a:t>
            </a:r>
            <a:r>
              <a:rPr lang="zh-CN" altLang="zh-CN" b="1" dirty="0">
                <a:solidFill>
                  <a:srgbClr val="000000"/>
                </a:solidFill>
              </a:rPr>
              <a:t> (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i=0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i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&lt;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00"/>
                </a:solidFill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i++ </a:t>
            </a:r>
            <a:r>
              <a:rPr lang="zh-CN" altLang="zh-CN" b="1" dirty="0">
                <a:solidFill>
                  <a:srgbClr val="000000"/>
                </a:solidFill>
              </a:rPr>
              <a:t>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      printf</a:t>
            </a:r>
            <a:r>
              <a:rPr lang="zh-CN" altLang="zh-CN" b="1" dirty="0">
                <a:solidFill>
                  <a:srgbClr val="000000"/>
                </a:solidFill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%d </a:t>
            </a:r>
            <a:r>
              <a:rPr lang="zh-CN" altLang="zh-CN" b="1" dirty="0">
                <a:solidFill>
                  <a:srgbClr val="000000"/>
                </a:solidFill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x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i</a:t>
            </a:r>
            <a:r>
              <a:rPr lang="zh-CN" altLang="zh-CN" b="1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b="1" dirty="0">
                <a:solidFill>
                  <a:srgbClr val="000000"/>
                </a:solidFill>
              </a:rPr>
              <a:t>) ;</a:t>
            </a:r>
          </a:p>
          <a:p>
            <a:pPr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  Printf</a:t>
            </a:r>
            <a:r>
              <a:rPr lang="zh-CN" altLang="zh-CN" b="1" dirty="0">
                <a:solidFill>
                  <a:srgbClr val="000000"/>
                </a:solidFill>
              </a:rPr>
              <a:t>(“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\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nsmall=%d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</a:rPr>
              <a:t>\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00"/>
                </a:solidFill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small </a:t>
            </a:r>
            <a:r>
              <a:rPr lang="zh-CN" altLang="zh-CN" b="1" dirty="0">
                <a:solidFill>
                  <a:srgbClr val="000000"/>
                </a:solidFill>
              </a:rPr>
              <a:t>);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</a:p>
          <a:p>
            <a:pPr fontAlgn="base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</a:rPr>
              <a:t>   }       </a:t>
            </a:r>
          </a:p>
        </p:txBody>
      </p:sp>
      <p:sp>
        <p:nvSpPr>
          <p:cNvPr id="330768" name="Text Box 16"/>
          <p:cNvSpPr txBox="1">
            <a:spLocks noChangeArrowheads="1"/>
          </p:cNvSpPr>
          <p:nvPr/>
        </p:nvSpPr>
        <p:spPr bwMode="auto">
          <a:xfrm>
            <a:off x="5872163" y="1887538"/>
            <a:ext cx="157321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2F2FBD"/>
                </a:solidFill>
                <a:ea typeface="宋体" pitchFamily="2" charset="-122"/>
              </a:rPr>
              <a:t>n1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330769" name="Text Box 17"/>
          <p:cNvSpPr txBox="1">
            <a:spLocks noChangeArrowheads="1"/>
          </p:cNvSpPr>
          <p:nvPr/>
        </p:nvSpPr>
        <p:spPr bwMode="auto">
          <a:xfrm>
            <a:off x="5924551" y="1887538"/>
            <a:ext cx="18192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9E"/>
                </a:solidFill>
              </a:rPr>
              <a:t>n1</a:t>
            </a:r>
            <a:r>
              <a:rPr lang="zh-CN" altLang="zh-CN" sz="2400" b="1">
                <a:solidFill>
                  <a:srgbClr val="00009E"/>
                </a:solidFill>
                <a:ea typeface="宋体" pitchFamily="2" charset="-122"/>
              </a:rPr>
              <a:t>=1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330770" name="AutoShape 18">
            <a:hlinkClick r:id="rId2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703388" y="836613"/>
            <a:ext cx="304800" cy="3048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FF0000"/>
                </a:solidFill>
                <a:ea typeface="宋体" pitchFamily="2" charset="-122"/>
              </a:rPr>
              <a:t>*</a:t>
            </a:r>
          </a:p>
        </p:txBody>
      </p:sp>
      <p:sp>
        <p:nvSpPr>
          <p:cNvPr id="330771" name="Text Box 19"/>
          <p:cNvSpPr txBox="1">
            <a:spLocks noChangeArrowheads="1"/>
          </p:cNvSpPr>
          <p:nvPr/>
        </p:nvSpPr>
        <p:spPr bwMode="auto">
          <a:xfrm>
            <a:off x="3021014" y="4167189"/>
            <a:ext cx="7577137" cy="427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  if </a:t>
            </a:r>
            <a:r>
              <a:rPr lang="zh-CN" altLang="zh-CN" sz="2400" b="1">
                <a:solidFill>
                  <a:srgbClr val="0000AC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x</a:t>
            </a:r>
            <a:r>
              <a:rPr lang="zh-CN" altLang="zh-CN" sz="2800" b="1">
                <a:solidFill>
                  <a:srgbClr val="0000A2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i</a:t>
            </a:r>
            <a:r>
              <a:rPr lang="zh-CN" altLang="zh-CN" sz="2800" b="1">
                <a:solidFill>
                  <a:srgbClr val="0000A2"/>
                </a:solidFill>
                <a:latin typeface="Courier New" pitchFamily="49" charset="0"/>
              </a:rPr>
              <a:t>]</a:t>
            </a:r>
            <a:r>
              <a:rPr lang="zh-CN" altLang="zh-CN" sz="2400">
                <a:solidFill>
                  <a:srgbClr val="0000AC"/>
                </a:solidFill>
                <a:ea typeface="宋体" pitchFamily="2" charset="-122"/>
              </a:rPr>
              <a:t>&lt;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small </a:t>
            </a:r>
            <a:r>
              <a:rPr lang="zh-CN" altLang="zh-CN" sz="2400" b="1">
                <a:solidFill>
                  <a:srgbClr val="0000AC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 { small=x</a:t>
            </a:r>
            <a:r>
              <a:rPr lang="zh-CN" altLang="zh-CN" sz="2400" b="1">
                <a:solidFill>
                  <a:srgbClr val="0000A2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i</a:t>
            </a:r>
            <a:r>
              <a:rPr lang="zh-CN" altLang="zh-CN" sz="2400" b="1">
                <a:solidFill>
                  <a:srgbClr val="0000A2"/>
                </a:solidFill>
                <a:latin typeface="Courier New" pitchFamily="49" charset="0"/>
              </a:rPr>
              <a:t>]</a:t>
            </a:r>
            <a:r>
              <a:rPr lang="zh-CN" altLang="zh-CN" sz="2400" b="1">
                <a:solidFill>
                  <a:srgbClr val="0000A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   n1= i+1</a:t>
            </a:r>
            <a:r>
              <a:rPr lang="zh-CN" altLang="zh-CN" sz="2400" b="1">
                <a:solidFill>
                  <a:srgbClr val="0000AC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>
                <a:solidFill>
                  <a:srgbClr val="0000AC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AC"/>
                </a:solidFill>
                <a:ea typeface="宋体" pitchFamily="2" charset="-122"/>
              </a:rPr>
              <a:t>} </a:t>
            </a:r>
          </a:p>
        </p:txBody>
      </p:sp>
      <p:sp>
        <p:nvSpPr>
          <p:cNvPr id="330772" name="Text Box 20"/>
          <p:cNvSpPr txBox="1">
            <a:spLocks noChangeArrowheads="1"/>
          </p:cNvSpPr>
          <p:nvPr/>
        </p:nvSpPr>
        <p:spPr bwMode="auto">
          <a:xfrm>
            <a:off x="2587626" y="5473700"/>
            <a:ext cx="7593013" cy="920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0" bIns="8280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 printf</a:t>
            </a:r>
            <a:r>
              <a:rPr lang="zh-CN" altLang="zh-CN" b="1" dirty="0">
                <a:solidFill>
                  <a:srgbClr val="0000AC"/>
                </a:solidFill>
              </a:rPr>
              <a:t>(</a:t>
            </a:r>
            <a:r>
              <a:rPr lang="zh-CN" altLang="zh-CN" b="1" dirty="0">
                <a:solidFill>
                  <a:srgbClr val="0000AC"/>
                </a:solidFill>
                <a:latin typeface="Times New Roman"/>
              </a:rPr>
              <a:t>“</a:t>
            </a:r>
            <a:r>
              <a:rPr lang="zh-CN" altLang="zh-CN" dirty="0">
                <a:solidFill>
                  <a:srgbClr val="0000AC"/>
                </a:solidFill>
                <a:latin typeface="Tahoma" pitchFamily="34" charset="0"/>
              </a:rPr>
              <a:t>\</a:t>
            </a: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nsmall=%d</a:t>
            </a:r>
            <a:r>
              <a:rPr lang="zh-CN" altLang="zh-CN" b="1" dirty="0">
                <a:solidFill>
                  <a:srgbClr val="0000AC"/>
                </a:solidFill>
              </a:rPr>
              <a:t>, </a:t>
            </a:r>
            <a:r>
              <a:rPr lang="zh-CN" altLang="en-US" b="1" dirty="0">
                <a:solidFill>
                  <a:srgbClr val="0000AC"/>
                </a:solidFill>
                <a:latin typeface="Tahoma" pitchFamily="34" charset="0"/>
                <a:ea typeface="黑体" pitchFamily="49" charset="-122"/>
              </a:rPr>
              <a:t>第</a:t>
            </a: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%d</a:t>
            </a:r>
            <a:r>
              <a:rPr lang="zh-CN" altLang="en-US" b="1" dirty="0">
                <a:solidFill>
                  <a:srgbClr val="0000AC"/>
                </a:solidFill>
                <a:latin typeface="Tahoma" pitchFamily="34" charset="0"/>
                <a:ea typeface="黑体" pitchFamily="49" charset="-122"/>
              </a:rPr>
              <a:t>位</a:t>
            </a:r>
            <a:r>
              <a:rPr lang="zh-CN" altLang="zh-CN" dirty="0">
                <a:solidFill>
                  <a:srgbClr val="0000AC"/>
                </a:solidFill>
                <a:latin typeface="Tahoma" pitchFamily="34" charset="0"/>
              </a:rPr>
              <a:t>\</a:t>
            </a: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n</a:t>
            </a:r>
            <a:r>
              <a:rPr lang="zh-CN" altLang="zh-CN" b="1" dirty="0">
                <a:solidFill>
                  <a:srgbClr val="0000AC"/>
                </a:solidFill>
              </a:rPr>
              <a:t>”, </a:t>
            </a: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small </a:t>
            </a:r>
            <a:r>
              <a:rPr lang="zh-CN" altLang="zh-CN" b="1" dirty="0">
                <a:solidFill>
                  <a:srgbClr val="0000AC"/>
                </a:solidFill>
              </a:rPr>
              <a:t>, </a:t>
            </a:r>
            <a:r>
              <a:rPr lang="zh-CN" altLang="zh-CN" b="1" dirty="0">
                <a:solidFill>
                  <a:srgbClr val="0000AC"/>
                </a:solidFill>
                <a:latin typeface="Tahoma" pitchFamily="34" charset="0"/>
              </a:rPr>
              <a:t>n1</a:t>
            </a:r>
            <a:r>
              <a:rPr lang="zh-CN" altLang="zh-CN" b="1" dirty="0">
                <a:solidFill>
                  <a:srgbClr val="0000AC"/>
                </a:solidFill>
              </a:rPr>
              <a:t>);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1C1C1C"/>
                </a:solidFill>
                <a:latin typeface="Tahoma" pitchFamily="34" charset="0"/>
              </a:rPr>
              <a:t>} </a:t>
            </a:r>
            <a:endParaRPr lang="zh-CN" altLang="en-US" b="1" dirty="0">
              <a:solidFill>
                <a:srgbClr val="1C1C1C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330773" name="Text Box 21"/>
          <p:cNvSpPr txBox="1">
            <a:spLocks noChangeArrowheads="1"/>
          </p:cNvSpPr>
          <p:nvPr/>
        </p:nvSpPr>
        <p:spPr bwMode="auto">
          <a:xfrm>
            <a:off x="7251700" y="1225550"/>
            <a:ext cx="2281238" cy="687388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Courier New" pitchFamily="49" charset="0"/>
              </a:rPr>
              <a:t>保存最小值在数组中的位置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330774" name="Line 22"/>
          <p:cNvSpPr>
            <a:spLocks noChangeShapeType="1"/>
          </p:cNvSpPr>
          <p:nvPr/>
        </p:nvSpPr>
        <p:spPr bwMode="auto">
          <a:xfrm flipH="1">
            <a:off x="6499226" y="1531939"/>
            <a:ext cx="690563" cy="447675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61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67" grpId="0" build="p" animBg="1" autoUpdateAnimBg="0"/>
      <p:bldP spid="330768" grpId="0" animBg="1" autoUpdateAnimBg="0"/>
      <p:bldP spid="330769" grpId="0" animBg="1" autoUpdateAnimBg="0"/>
      <p:bldP spid="330771" grpId="0" build="p" animBg="1" autoUpdateAnimBg="0"/>
      <p:bldP spid="330772" grpId="0" build="p" animBg="1" autoUpdateAnimBg="0"/>
      <p:bldP spid="330773" grpId="0" animBg="1" autoUpdateAnimBg="0"/>
      <p:bldP spid="33077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47529" y="1124745"/>
            <a:ext cx="8162925" cy="573325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#include &lt;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stdio.h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#define N 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int a[N],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i,t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("input:");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for(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=0;i&lt;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N;i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	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scanf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("%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d",&amp;a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[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for(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=0;i&lt;N/2;i++)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	t=a[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],a[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]=a[N-i-1],a[N-i-1]=t;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2400" b="1" dirty="0">
              <a:latin typeface="Times New Roman" pitchFamily="18" charset="0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for(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=0;i&lt;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N;i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	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("%5d",a[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("\n");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}</a:t>
            </a:r>
            <a:endParaRPr lang="zh-CN" altLang="en-US" sz="2400" b="1" dirty="0">
              <a:ea typeface="黑体" pitchFamily="49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711625" y="476672"/>
            <a:ext cx="38555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微软雅黑" pitchFamily="34" charset="-122"/>
                <a:sym typeface="Verdana" pitchFamily="34" charset="0"/>
              </a:rPr>
              <a:t>将一个数组逆序存放后</a:t>
            </a:r>
            <a:r>
              <a:rPr lang="en-US" altLang="zh-CN" sz="2000" b="1" dirty="0">
                <a:ea typeface="微软雅黑" pitchFamily="34" charset="-122"/>
                <a:sym typeface="Verdana" pitchFamily="34" charset="0"/>
              </a:rPr>
              <a:t>,</a:t>
            </a:r>
            <a:r>
              <a:rPr lang="zh-CN" altLang="en-US" sz="2000" b="1" dirty="0">
                <a:ea typeface="微软雅黑" pitchFamily="34" charset="-122"/>
                <a:sym typeface="Verdana" pitchFamily="34" charset="0"/>
              </a:rPr>
              <a:t>再输出。</a:t>
            </a:r>
          </a:p>
        </p:txBody>
      </p:sp>
    </p:spTree>
    <p:extLst>
      <p:ext uri="{BB962C8B-B14F-4D97-AF65-F5344CB8AC3E}">
        <p14:creationId xmlns:p14="http://schemas.microsoft.com/office/powerpoint/2010/main" val="259771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CBD6FC4-2AB4-0970-3AB4-DA3A6C1676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以下叙述中，正确的是：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1DAAC-CEFA-E809-C5E8-5992A9A6A2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数组的大小固定，但数组元素的类型可以不同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68961-D10C-F1AE-E0DE-26D0C33486F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数组的大小可变，但数组元素的类型必须相同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1F73B4-4830-0AAC-A7C1-2126EAC351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数组的大小固定，数组元素的类型也必须相同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363EC4-8902-93CD-97D1-49857013B32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数组的大小可变，数组元素的类型也可以不同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5B6E9BB-603B-48BB-072C-B5C4DEDB10E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DBD6430-18C4-652B-05E9-D2C46C6850B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2A0363C-38E5-6DF4-F103-63685A54AE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9DBB242-ECC1-DD0D-5F57-CB65D0E707A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645F01-6930-23DC-6AF4-20C3D7AFEF9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22626B8-0806-F76D-07E3-B6DF3A247DD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7A2BD42-72CA-398E-7BB6-13A1DE573FB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A43AC05-D262-FF16-204A-5CA31AF01B6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1B0FC940-432B-F4B9-DF86-BF266049932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3087B36-DF12-7992-244A-C66C322D4F4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44B958B-12AC-FB1B-7FD1-B201268A6BA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0062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CBD6FC4-2AB4-0970-3AB4-DA3A6C1676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引用数组元素时，其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可以是：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1DAAC-CEFA-E809-C5E8-5992A9A6A2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整型常量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68961-D10C-F1AE-E0DE-26D0C33486F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整型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表达式（</a:t>
            </a:r>
            <a:r>
              <a:rPr lang="zh-CN" altLang="en-US" sz="2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不可以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含有变量）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1F73B4-4830-0AAC-A7C1-2126EAC351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整型表达式（</a:t>
            </a:r>
            <a:r>
              <a:rPr lang="zh-CN" altLang="en-US" sz="2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含有变量）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363EC4-8902-93CD-97D1-49857013B32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任意类型的表达式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5B6E9BB-603B-48BB-072C-B5C4DEDB10E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DBD6430-18C4-652B-05E9-D2C46C6850B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2A0363C-38E5-6DF4-F103-63685A54AE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9DBB242-ECC1-DD0D-5F57-CB65D0E707A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645F01-6930-23DC-6AF4-20C3D7AFEF9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22626B8-0806-F76D-07E3-B6DF3A247DD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7A2BD42-72CA-398E-7BB6-13A1DE573FB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A43AC05-D262-FF16-204A-5CA31AF01B6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1B0FC940-432B-F4B9-DF86-BF266049932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3087B36-DF12-7992-244A-C66C322D4F4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44B958B-12AC-FB1B-7FD1-B201268A6BA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4871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60AEF24-2DDA-8C4E-5E1C-00A205D076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472" y="1077513"/>
            <a:ext cx="9753600" cy="180816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ea typeface="黑体" pitchFamily="49" charset="-122"/>
              </a:rPr>
              <a:t>指出下面定义的数组，哪些是错误</a:t>
            </a:r>
            <a:r>
              <a:rPr lang="zh-CN" altLang="en-US" sz="2400" dirty="0">
                <a:ea typeface="黑体" pitchFamily="49" charset="-122"/>
              </a:rPr>
              <a:t>的</a:t>
            </a:r>
            <a:r>
              <a:rPr lang="en-US" altLang="zh-CN" sz="2400" dirty="0">
                <a:ea typeface="黑体" pitchFamily="49" charset="-122"/>
              </a:rPr>
              <a:t>:(</a:t>
            </a:r>
            <a:r>
              <a:rPr lang="zh-CN" altLang="en-US" sz="2400" dirty="0">
                <a:ea typeface="黑体" pitchFamily="49" charset="-122"/>
              </a:rPr>
              <a:t>多选</a:t>
            </a:r>
            <a:r>
              <a:rPr lang="en-US" altLang="zh-CN" sz="2400" dirty="0">
                <a:ea typeface="黑体" pitchFamily="49" charset="-122"/>
              </a:rPr>
              <a:t>)</a:t>
            </a:r>
          </a:p>
          <a:p>
            <a:r>
              <a:rPr lang="zh-CN" altLang="zh-CN" sz="4400" b="1" dirty="0"/>
              <a:t> </a:t>
            </a:r>
            <a:r>
              <a:rPr lang="zh-CN" altLang="zh-CN" sz="2400" b="1" dirty="0"/>
              <a:t>#</a:t>
            </a:r>
            <a:r>
              <a:rPr lang="zh-CN" altLang="zh-CN" sz="2400" b="1" dirty="0">
                <a:latin typeface="Arial" pitchFamily="34" charset="0"/>
              </a:rPr>
              <a:t>define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S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20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403412-FF06-44F1-A6EF-6D4E8BE70F8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i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/>
              <a:t>4</a:t>
            </a:r>
            <a:r>
              <a:rPr lang="zh-CN" altLang="zh-CN" sz="2400" b="1" dirty="0">
                <a:latin typeface="黑体" pitchFamily="49" charset="-122"/>
              </a:rPr>
              <a:t>*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 k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20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E97DF2-6839-433A-3D8F-4323C31DBC5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11651" y="4108892"/>
            <a:ext cx="351358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j</a:t>
            </a:r>
            <a:r>
              <a:rPr lang="zh-CN" altLang="zh-CN" sz="2400" b="1" dirty="0"/>
              <a:t>=4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  </a:t>
            </a:r>
          </a:p>
          <a:p>
            <a:pPr marL="609600" indent="-609600">
              <a:lnSpc>
                <a:spcPct val="125000"/>
              </a:lnSpc>
              <a:spcBef>
                <a:spcPct val="15000"/>
              </a:spcBef>
              <a:buSzTx/>
              <a:buNone/>
            </a:pPr>
            <a:r>
              <a:rPr lang="zh-CN" altLang="zh-CN" sz="2400" b="1" dirty="0">
                <a:latin typeface="Arial" pitchFamily="34" charset="0"/>
              </a:rPr>
              <a:t>float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x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黑体" pitchFamily="49" charset="-122"/>
              </a:rPr>
              <a:t>*</a:t>
            </a:r>
            <a:r>
              <a:rPr lang="zh-CN" altLang="zh-CN" sz="2400" b="1" dirty="0">
                <a:latin typeface="Arial" pitchFamily="34" charset="0"/>
              </a:rPr>
              <a:t>j</a:t>
            </a:r>
            <a:r>
              <a:rPr lang="zh-CN" altLang="zh-CN" sz="2400" b="1" dirty="0"/>
              <a:t>-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A261A9-BF4D-2169-0E95-91D8B5BC081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011197" y="4077072"/>
            <a:ext cx="226126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m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S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94368A-14DD-CAA8-BDA6-ECCA10A3762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241227"/>
            <a:ext cx="351358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lnSpc>
                <a:spcPct val="125000"/>
              </a:lnSpc>
              <a:spcBef>
                <a:spcPct val="40000"/>
              </a:spcBef>
              <a:buSzTx/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n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/>
              <a:t> =</a:t>
            </a:r>
            <a:r>
              <a:rPr lang="zh-CN" altLang="zh-CN" sz="2400" dirty="0"/>
              <a:t>{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zh-CN" sz="2400" dirty="0"/>
              <a:t>}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9F622-25FF-0EA1-8183-4DEC836A135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10BDC9-4BBE-64CA-C178-C35FF07343B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44876" y="4173185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0729D7-8ED8-7D44-D194-E26D697B139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144422" y="4141365"/>
            <a:ext cx="514350" cy="514350"/>
          </a:xfrm>
          <a:prstGeom prst="rect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63C35D-2BE4-2A79-9CBE-28F0CB576A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305520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3206405-34AC-3561-8A2E-9EF80BBDF4B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817083-F1E8-9CEF-40FE-75B1D49CA6E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112224" y="5306342"/>
            <a:ext cx="26494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h</a:t>
            </a:r>
            <a:r>
              <a:rPr lang="zh-CN" altLang="zh-CN" sz="2400" b="1" dirty="0">
                <a:latin typeface="Courier New" pitchFamily="49" charset="0"/>
              </a:rPr>
              <a:t>[</a:t>
            </a:r>
            <a:r>
              <a:rPr lang="zh-CN" altLang="zh-CN" sz="2400" b="1" dirty="0">
                <a:latin typeface="Arial" pitchFamily="34" charset="0"/>
              </a:rPr>
              <a:t>S</a:t>
            </a:r>
            <a:r>
              <a:rPr lang="zh-CN" altLang="zh-CN" sz="2400" b="1" dirty="0"/>
              <a:t>-</a:t>
            </a:r>
            <a:r>
              <a:rPr lang="zh-CN" altLang="zh-CN" sz="2400" b="1" dirty="0">
                <a:latin typeface="Arial" pitchFamily="34" charset="0"/>
              </a:rPr>
              <a:t>25</a:t>
            </a:r>
            <a:r>
              <a:rPr lang="zh-CN" altLang="zh-CN" sz="2400" b="1" dirty="0">
                <a:latin typeface="Courier New" pitchFamily="49" charset="0"/>
              </a:rPr>
              <a:t>]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FD2CDC-37DF-451A-AD8F-AFB6A72FD962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7245449" y="5370635"/>
            <a:ext cx="514350" cy="514350"/>
          </a:xfrm>
          <a:prstGeom prst="rect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C76C191-5A53-6AFC-3E6A-4BBA057F5B1D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1BBAE72-613D-51F5-75BC-9FC12EF11BF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D7CE6F3A-0F4B-C33F-7FDB-D7E8CB626BE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D0228A5-A590-72BD-7452-CBF7EC42832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0BB4141-3710-1D1C-15DC-BDCD79ECED3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9CBDA6C-991D-8410-1497-C7E2576428E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20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27251" y="1223963"/>
            <a:ext cx="8518525" cy="4216400"/>
          </a:xfrm>
        </p:spPr>
        <p:txBody>
          <a:bodyPr/>
          <a:lstStyle/>
          <a:p>
            <a:pPr marL="274638" indent="-274638" algn="just"/>
            <a:r>
              <a:rPr lang="zh-CN" altLang="en-US" sz="2800" b="1">
                <a:latin typeface="黑体" pitchFamily="49" charset="-122"/>
              </a:rPr>
              <a:t>二维数组是由具有两个下标的数组元素组成。  </a:t>
            </a:r>
            <a:endParaRPr lang="zh-CN" altLang="en-US" sz="2800" b="1">
              <a:solidFill>
                <a:srgbClr val="FF3300"/>
              </a:solidFill>
              <a:latin typeface="黑体" pitchFamily="49" charset="-122"/>
            </a:endParaRPr>
          </a:p>
          <a:p>
            <a:pPr marL="274638" indent="-274638" algn="just">
              <a:lnSpc>
                <a:spcPct val="110000"/>
              </a:lnSpc>
              <a:buNone/>
            </a:pPr>
            <a:r>
              <a:rPr lang="zh-CN" altLang="en-US" sz="2800" b="1">
                <a:latin typeface="黑体" pitchFamily="49" charset="-122"/>
              </a:rPr>
              <a:t> </a:t>
            </a:r>
            <a:r>
              <a:rPr lang="zh-CN" altLang="en-US" sz="1600" b="1">
                <a:latin typeface="黑体" pitchFamily="49" charset="-122"/>
              </a:rPr>
              <a:t> </a:t>
            </a:r>
            <a:r>
              <a:rPr lang="zh-CN" altLang="en-US" sz="2800" b="1">
                <a:latin typeface="黑体" pitchFamily="49" charset="-122"/>
              </a:rPr>
              <a:t>格式</a:t>
            </a:r>
            <a:r>
              <a:rPr lang="zh-CN" altLang="zh-CN" sz="2800" b="1">
                <a:latin typeface="Times New Roman" pitchFamily="18" charset="0"/>
              </a:rPr>
              <a:t>:</a:t>
            </a:r>
            <a:endParaRPr lang="zh-CN" altLang="zh-CN" sz="2800" b="1">
              <a:solidFill>
                <a:srgbClr val="FF3300"/>
              </a:solidFill>
              <a:latin typeface="Times New Roman" pitchFamily="18" charset="0"/>
            </a:endParaRPr>
          </a:p>
          <a:p>
            <a:pPr marL="274638" indent="-274638" algn="just">
              <a:spcBef>
                <a:spcPct val="35000"/>
              </a:spcBef>
              <a:buNone/>
            </a:pP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</a:rPr>
              <a:t>    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</a:rPr>
              <a:t>类型符 数组名</a:t>
            </a:r>
            <a:r>
              <a:rPr lang="zh-CN" altLang="zh-CN" sz="2800" b="1">
                <a:latin typeface="黑体" pitchFamily="49" charset="-122"/>
              </a:rPr>
              <a:t>[</a:t>
            </a:r>
            <a:r>
              <a:rPr lang="zh-CN" altLang="en-US" sz="2800" b="1">
                <a:latin typeface="黑体" pitchFamily="49" charset="-122"/>
              </a:rPr>
              <a:t>常量表达式</a:t>
            </a: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</a:rPr>
              <a:t>1</a:t>
            </a:r>
            <a:r>
              <a:rPr lang="zh-CN" altLang="zh-CN" sz="2800" b="1">
                <a:latin typeface="黑体" pitchFamily="49" charset="-122"/>
              </a:rPr>
              <a:t>][</a:t>
            </a:r>
            <a:r>
              <a:rPr lang="zh-CN" altLang="en-US" sz="2800" b="1">
                <a:latin typeface="黑体" pitchFamily="49" charset="-122"/>
              </a:rPr>
              <a:t>常量表达式</a:t>
            </a: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</a:rPr>
              <a:t>2</a:t>
            </a:r>
            <a:r>
              <a:rPr lang="zh-CN" altLang="zh-CN" sz="2800" b="1">
                <a:latin typeface="黑体" pitchFamily="49" charset="-122"/>
              </a:rPr>
              <a:t>]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274638" indent="-274638" algn="just">
              <a:lnSpc>
                <a:spcPct val="105000"/>
              </a:lnSpc>
              <a:spcBef>
                <a:spcPct val="70000"/>
              </a:spcBef>
              <a:buNone/>
            </a:pPr>
            <a:r>
              <a:rPr lang="zh-CN" altLang="zh-CN" sz="2800" b="1">
                <a:latin typeface="Courier New" pitchFamily="49" charset="0"/>
              </a:rPr>
              <a:t> </a:t>
            </a:r>
            <a:r>
              <a:rPr lang="zh-CN" altLang="zh-CN" sz="1600" b="1">
                <a:latin typeface="Courier New" pitchFamily="49" charset="0"/>
              </a:rPr>
              <a:t>    </a:t>
            </a:r>
            <a:r>
              <a:rPr lang="zh-CN" altLang="en-US" sz="2800" b="1">
                <a:latin typeface="Courier New" pitchFamily="49" charset="0"/>
              </a:rPr>
              <a:t>如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int  a</a:t>
            </a:r>
            <a:r>
              <a:rPr lang="zh-CN" altLang="zh-CN" sz="2800"/>
              <a:t>[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/>
              <a:t>][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/>
              <a:t>]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274638" indent="-274638" algn="just">
              <a:spcBef>
                <a:spcPct val="40000"/>
              </a:spcBef>
              <a:buNone/>
            </a:pPr>
            <a:r>
              <a:rPr lang="zh-CN" altLang="zh-CN" b="1"/>
              <a:t>                                                                                                         </a:t>
            </a:r>
          </a:p>
        </p:txBody>
      </p:sp>
      <p:graphicFrame>
        <p:nvGraphicFramePr>
          <p:cNvPr id="339971" name="Group 3"/>
          <p:cNvGraphicFramePr>
            <a:graphicFrameLocks noGrp="1"/>
          </p:cNvGraphicFramePr>
          <p:nvPr/>
        </p:nvGraphicFramePr>
        <p:xfrm>
          <a:off x="3181350" y="4243388"/>
          <a:ext cx="4724400" cy="1404938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a[0][0]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a[0][1]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a[0][2]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a[0][3]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a[1][0]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a[1][1]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a[1][3]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a[2][0]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a[2][1]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a[2][2]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a[2][3]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9993" name="Line 25"/>
          <p:cNvSpPr>
            <a:spLocks noChangeShapeType="1"/>
          </p:cNvSpPr>
          <p:nvPr/>
        </p:nvSpPr>
        <p:spPr bwMode="auto">
          <a:xfrm>
            <a:off x="9583738" y="4656138"/>
            <a:ext cx="0" cy="22860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39994" name="Text Box 26"/>
          <p:cNvSpPr txBox="1">
            <a:spLocks noChangeArrowheads="1"/>
          </p:cNvSpPr>
          <p:nvPr/>
        </p:nvSpPr>
        <p:spPr bwMode="auto">
          <a:xfrm>
            <a:off x="9350375" y="4826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行</a:t>
            </a:r>
          </a:p>
        </p:txBody>
      </p:sp>
      <p:sp>
        <p:nvSpPr>
          <p:cNvPr id="339995" name="Text Box 27"/>
          <p:cNvSpPr txBox="1">
            <a:spLocks noChangeArrowheads="1"/>
          </p:cNvSpPr>
          <p:nvPr/>
        </p:nvSpPr>
        <p:spPr bwMode="auto">
          <a:xfrm>
            <a:off x="9726613" y="481806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列</a:t>
            </a:r>
          </a:p>
        </p:txBody>
      </p:sp>
      <p:sp>
        <p:nvSpPr>
          <p:cNvPr id="339996" name="Line 28"/>
          <p:cNvSpPr>
            <a:spLocks noChangeShapeType="1"/>
          </p:cNvSpPr>
          <p:nvPr/>
        </p:nvSpPr>
        <p:spPr bwMode="auto">
          <a:xfrm>
            <a:off x="9950450" y="4656138"/>
            <a:ext cx="0" cy="22860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39997" name="Text Box 29"/>
          <p:cNvSpPr txBox="1">
            <a:spLocks noChangeArrowheads="1"/>
          </p:cNvSpPr>
          <p:nvPr/>
        </p:nvSpPr>
        <p:spPr bwMode="auto">
          <a:xfrm>
            <a:off x="7908925" y="4224338"/>
            <a:ext cx="248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4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数组元素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a[1][1]</a:t>
            </a:r>
          </a:p>
        </p:txBody>
      </p:sp>
      <p:sp>
        <p:nvSpPr>
          <p:cNvPr id="339998" name="Rectangle 30"/>
          <p:cNvSpPr>
            <a:spLocks noChangeArrowheads="1"/>
          </p:cNvSpPr>
          <p:nvPr/>
        </p:nvSpPr>
        <p:spPr bwMode="auto">
          <a:xfrm>
            <a:off x="3575051" y="106364"/>
            <a:ext cx="560546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一、二维数组的定义</a:t>
            </a:r>
            <a:r>
              <a:rPr lang="zh-CN" altLang="en-US" sz="4000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</p:txBody>
      </p:sp>
      <p:sp>
        <p:nvSpPr>
          <p:cNvPr id="339999" name="Text Box 31"/>
          <p:cNvSpPr txBox="1">
            <a:spLocks noChangeArrowheads="1"/>
          </p:cNvSpPr>
          <p:nvPr/>
        </p:nvSpPr>
        <p:spPr bwMode="auto">
          <a:xfrm>
            <a:off x="2493963" y="4287839"/>
            <a:ext cx="609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行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行</a:t>
            </a:r>
            <a:endParaRPr lang="zh-CN" altLang="en-US" sz="20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行</a:t>
            </a:r>
          </a:p>
        </p:txBody>
      </p:sp>
      <p:sp>
        <p:nvSpPr>
          <p:cNvPr id="340000" name="Text Box 32"/>
          <p:cNvSpPr txBox="1">
            <a:spLocks noChangeArrowheads="1"/>
          </p:cNvSpPr>
          <p:nvPr/>
        </p:nvSpPr>
        <p:spPr bwMode="auto">
          <a:xfrm>
            <a:off x="3233738" y="3825876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       </a:t>
            </a:r>
            <a:r>
              <a:rPr lang="zh-CN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         </a:t>
            </a:r>
            <a:r>
              <a:rPr lang="zh-CN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          </a:t>
            </a:r>
            <a:r>
              <a:rPr lang="zh-CN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列</a:t>
            </a:r>
          </a:p>
        </p:txBody>
      </p:sp>
    </p:spTree>
    <p:extLst>
      <p:ext uri="{BB962C8B-B14F-4D97-AF65-F5344CB8AC3E}">
        <p14:creationId xmlns:p14="http://schemas.microsoft.com/office/powerpoint/2010/main" val="238001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3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93" grpId="0" animBg="1"/>
      <p:bldP spid="339994" grpId="0" autoUpdateAnimBg="0"/>
      <p:bldP spid="339995" grpId="0" autoUpdateAnimBg="0"/>
      <p:bldP spid="339996" grpId="0" animBg="1"/>
      <p:bldP spid="339997" grpId="0" autoUpdateAnimBg="0"/>
      <p:bldP spid="339999" grpId="0" autoUpdateAnimBg="0"/>
      <p:bldP spid="34000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0" y="7938"/>
            <a:ext cx="6096000" cy="798512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二维数组的存储方式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7726" y="1330326"/>
            <a:ext cx="3935413" cy="4005263"/>
          </a:xfrm>
        </p:spPr>
        <p:txBody>
          <a:bodyPr/>
          <a:lstStyle/>
          <a:p>
            <a:pPr marL="274638" indent="-274638">
              <a:lnSpc>
                <a:spcPct val="120000"/>
              </a:lnSpc>
              <a:spcBef>
                <a:spcPct val="60000"/>
              </a:spcBef>
            </a:pPr>
            <a:r>
              <a:rPr lang="zh-CN" altLang="en-US" sz="2800" b="1">
                <a:latin typeface="黑体" pitchFamily="49" charset="-122"/>
              </a:rPr>
              <a:t>二维数组的元素是按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</a:rPr>
              <a:t>行顺序</a:t>
            </a:r>
            <a:r>
              <a:rPr lang="zh-CN" altLang="en-US" sz="2800" b="1">
                <a:latin typeface="黑体" pitchFamily="49" charset="-122"/>
              </a:rPr>
              <a:t>存放的</a:t>
            </a:r>
            <a:r>
              <a:rPr lang="zh-CN" altLang="en-US" sz="2800">
                <a:latin typeface="Courier New" pitchFamily="49" charset="0"/>
              </a:rPr>
              <a:t>。</a:t>
            </a:r>
          </a:p>
          <a:p>
            <a:pPr marL="274638" indent="-274638">
              <a:spcBef>
                <a:spcPct val="70000"/>
              </a:spcBef>
            </a:pPr>
            <a:r>
              <a:rPr lang="zh-CN" altLang="en-US" sz="2800" b="1">
                <a:latin typeface="Courier New" pitchFamily="49" charset="0"/>
              </a:rPr>
              <a:t>如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/>
              <a:t>[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/>
              <a:t>][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/>
              <a:t>]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</p:txBody>
      </p:sp>
      <p:graphicFrame>
        <p:nvGraphicFramePr>
          <p:cNvPr id="342020" name="Group 4"/>
          <p:cNvGraphicFramePr>
            <a:graphicFrameLocks noGrp="1"/>
          </p:cNvGraphicFramePr>
          <p:nvPr/>
        </p:nvGraphicFramePr>
        <p:xfrm>
          <a:off x="8494714" y="1416051"/>
          <a:ext cx="725487" cy="4801553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42048" name="Group 32"/>
          <p:cNvGraphicFramePr>
            <a:graphicFrameLocks noGrp="1"/>
          </p:cNvGraphicFramePr>
          <p:nvPr/>
        </p:nvGraphicFramePr>
        <p:xfrm>
          <a:off x="7450139" y="1416050"/>
          <a:ext cx="966787" cy="4804410"/>
        </p:xfrm>
        <a:graphic>
          <a:graphicData uri="http://schemas.openxmlformats.org/drawingml/2006/table">
            <a:tbl>
              <a:tblPr/>
              <a:tblGrid>
                <a:gridCol w="966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a[1][3]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a[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42076" name="Text Box 60"/>
          <p:cNvSpPr txBox="1">
            <a:spLocks noChangeArrowheads="1"/>
          </p:cNvSpPr>
          <p:nvPr/>
        </p:nvSpPr>
        <p:spPr bwMode="auto">
          <a:xfrm>
            <a:off x="8386763" y="9477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数组</a:t>
            </a:r>
            <a:r>
              <a:rPr lang="zh-CN" altLang="zh-CN" sz="24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</a:p>
        </p:txBody>
      </p:sp>
      <p:sp>
        <p:nvSpPr>
          <p:cNvPr id="342077" name="Text Box 61"/>
          <p:cNvSpPr txBox="1">
            <a:spLocks noChangeArrowheads="1"/>
          </p:cNvSpPr>
          <p:nvPr/>
        </p:nvSpPr>
        <p:spPr bwMode="auto">
          <a:xfrm>
            <a:off x="6126163" y="177323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8000"/>
                </a:solidFill>
                <a:ea typeface="楷体_GB2312" pitchFamily="49" charset="-122"/>
              </a:rPr>
              <a:t>行下标</a:t>
            </a:r>
          </a:p>
        </p:txBody>
      </p:sp>
      <p:sp>
        <p:nvSpPr>
          <p:cNvPr id="342078" name="Text Box 62"/>
          <p:cNvSpPr txBox="1">
            <a:spLocks noChangeArrowheads="1"/>
          </p:cNvSpPr>
          <p:nvPr/>
        </p:nvSpPr>
        <p:spPr bwMode="auto">
          <a:xfrm>
            <a:off x="6140450" y="2306639"/>
            <a:ext cx="1009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8000"/>
                </a:solidFill>
                <a:ea typeface="楷体_GB2312" pitchFamily="49" charset="-122"/>
              </a:rPr>
              <a:t>列下标</a:t>
            </a:r>
          </a:p>
        </p:txBody>
      </p:sp>
      <p:sp>
        <p:nvSpPr>
          <p:cNvPr id="342079" name="Line 63"/>
          <p:cNvSpPr>
            <a:spLocks noChangeShapeType="1"/>
          </p:cNvSpPr>
          <p:nvPr/>
        </p:nvSpPr>
        <p:spPr bwMode="auto">
          <a:xfrm flipV="1">
            <a:off x="7016750" y="1722438"/>
            <a:ext cx="838200" cy="228600"/>
          </a:xfrm>
          <a:prstGeom prst="line">
            <a:avLst/>
          </a:prstGeom>
          <a:noFill/>
          <a:ln w="19050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2080" name="Line 64"/>
          <p:cNvSpPr>
            <a:spLocks noChangeShapeType="1"/>
          </p:cNvSpPr>
          <p:nvPr/>
        </p:nvSpPr>
        <p:spPr bwMode="auto">
          <a:xfrm flipV="1">
            <a:off x="7038975" y="2179638"/>
            <a:ext cx="1219200" cy="304800"/>
          </a:xfrm>
          <a:prstGeom prst="line">
            <a:avLst/>
          </a:prstGeom>
          <a:noFill/>
          <a:ln w="19050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2081" name="Text Box 65"/>
          <p:cNvSpPr txBox="1">
            <a:spLocks noChangeArrowheads="1"/>
          </p:cNvSpPr>
          <p:nvPr/>
        </p:nvSpPr>
        <p:spPr bwMode="auto">
          <a:xfrm>
            <a:off x="9531350" y="2078038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行</a:t>
            </a:r>
          </a:p>
        </p:txBody>
      </p:sp>
      <p:sp>
        <p:nvSpPr>
          <p:cNvPr id="342082" name="Text Box 66"/>
          <p:cNvSpPr txBox="1">
            <a:spLocks noChangeArrowheads="1"/>
          </p:cNvSpPr>
          <p:nvPr/>
        </p:nvSpPr>
        <p:spPr bwMode="auto">
          <a:xfrm>
            <a:off x="9528175" y="360362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行</a:t>
            </a:r>
          </a:p>
        </p:txBody>
      </p:sp>
      <p:sp>
        <p:nvSpPr>
          <p:cNvPr id="342083" name="Text Box 67"/>
          <p:cNvSpPr txBox="1">
            <a:spLocks noChangeArrowheads="1"/>
          </p:cNvSpPr>
          <p:nvPr/>
        </p:nvSpPr>
        <p:spPr bwMode="auto">
          <a:xfrm>
            <a:off x="9540875" y="51943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</a:rPr>
              <a:t>行</a:t>
            </a:r>
          </a:p>
        </p:txBody>
      </p:sp>
      <p:sp>
        <p:nvSpPr>
          <p:cNvPr id="342084" name="AutoShape 68"/>
          <p:cNvSpPr>
            <a:spLocks/>
          </p:cNvSpPr>
          <p:nvPr/>
        </p:nvSpPr>
        <p:spPr bwMode="auto">
          <a:xfrm>
            <a:off x="9324976" y="1468439"/>
            <a:ext cx="200025" cy="1508125"/>
          </a:xfrm>
          <a:prstGeom prst="rightBrace">
            <a:avLst>
              <a:gd name="adj1" fmla="val 62831"/>
              <a:gd name="adj2" fmla="val 50000"/>
            </a:avLst>
          </a:prstGeom>
          <a:noFill/>
          <a:ln w="2222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2085" name="AutoShape 69"/>
          <p:cNvSpPr>
            <a:spLocks/>
          </p:cNvSpPr>
          <p:nvPr/>
        </p:nvSpPr>
        <p:spPr bwMode="auto">
          <a:xfrm>
            <a:off x="9324975" y="3144838"/>
            <a:ext cx="173038" cy="1397000"/>
          </a:xfrm>
          <a:prstGeom prst="rightBrace">
            <a:avLst>
              <a:gd name="adj1" fmla="val 67278"/>
              <a:gd name="adj2" fmla="val 50000"/>
            </a:avLst>
          </a:prstGeom>
          <a:noFill/>
          <a:ln w="2222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2086" name="AutoShape 70"/>
          <p:cNvSpPr>
            <a:spLocks/>
          </p:cNvSpPr>
          <p:nvPr/>
        </p:nvSpPr>
        <p:spPr bwMode="auto">
          <a:xfrm>
            <a:off x="9351964" y="4719638"/>
            <a:ext cx="174625" cy="1409700"/>
          </a:xfrm>
          <a:prstGeom prst="rightBrace">
            <a:avLst>
              <a:gd name="adj1" fmla="val 67273"/>
              <a:gd name="adj2" fmla="val 50000"/>
            </a:avLst>
          </a:prstGeom>
          <a:noFill/>
          <a:ln w="2222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2087" name="Rectangle 71"/>
          <p:cNvSpPr>
            <a:spLocks noChangeArrowheads="1"/>
          </p:cNvSpPr>
          <p:nvPr/>
        </p:nvSpPr>
        <p:spPr bwMode="auto">
          <a:xfrm>
            <a:off x="2120901" y="3462338"/>
            <a:ext cx="5040313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4638" indent="-274638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>
                <a:solidFill>
                  <a:srgbClr val="000000"/>
                </a:solidFill>
              </a:rPr>
              <a:t>二维数组的总字节数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274638" indent="-274638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</a:t>
            </a:r>
            <a:r>
              <a:rPr lang="zh-CN" altLang="en-US" sz="2800" b="1">
                <a:solidFill>
                  <a:srgbClr val="000000"/>
                </a:solidFill>
              </a:rPr>
              <a:t>行数</a:t>
            </a:r>
            <a:r>
              <a:rPr lang="zh-CN" altLang="zh-CN" sz="2800" b="1">
                <a:solidFill>
                  <a:srgbClr val="000000"/>
                </a:solidFill>
              </a:rPr>
              <a:t>×</a:t>
            </a:r>
            <a:r>
              <a:rPr lang="zh-CN" altLang="en-US" sz="2800" b="1">
                <a:solidFill>
                  <a:srgbClr val="000000"/>
                </a:solidFill>
              </a:rPr>
              <a:t>列数</a:t>
            </a:r>
            <a:r>
              <a:rPr lang="zh-CN" altLang="zh-CN" sz="2800" b="1">
                <a:solidFill>
                  <a:srgbClr val="000000"/>
                </a:solidFill>
              </a:rPr>
              <a:t>×</a:t>
            </a:r>
            <a:r>
              <a:rPr lang="zh-CN" altLang="en-US" sz="2800" b="1">
                <a:solidFill>
                  <a:srgbClr val="000000"/>
                </a:solidFill>
              </a:rPr>
              <a:t>类型字节数</a:t>
            </a:r>
          </a:p>
          <a:p>
            <a:pPr marL="274638" indent="-274638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</a:rPr>
              <a:t>   ＝总字节数</a:t>
            </a:r>
          </a:p>
        </p:txBody>
      </p:sp>
    </p:spTree>
    <p:extLst>
      <p:ext uri="{BB962C8B-B14F-4D97-AF65-F5344CB8AC3E}">
        <p14:creationId xmlns:p14="http://schemas.microsoft.com/office/powerpoint/2010/main" val="384890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4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4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4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4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4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81" grpId="0" autoUpdateAnimBg="0"/>
      <p:bldP spid="342082" grpId="0" autoUpdateAnimBg="0"/>
      <p:bldP spid="342083" grpId="0" autoUpdateAnimBg="0"/>
      <p:bldP spid="342084" grpId="0" animBg="1"/>
      <p:bldP spid="342085" grpId="0" animBg="1"/>
      <p:bldP spid="34208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03614" y="260350"/>
            <a:ext cx="6480175" cy="630238"/>
          </a:xfrm>
        </p:spPr>
        <p:txBody>
          <a:bodyPr/>
          <a:lstStyle/>
          <a:p>
            <a:r>
              <a:rPr lang="zh-CN" altLang="en-US" sz="3600" b="1">
                <a:ea typeface="楷体_GB2312" pitchFamily="49" charset="-122"/>
              </a:rPr>
              <a:t>二、二维数组元素的引用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7725" y="1360488"/>
            <a:ext cx="8248650" cy="4635500"/>
          </a:xfrm>
        </p:spPr>
        <p:txBody>
          <a:bodyPr/>
          <a:lstStyle/>
          <a:p>
            <a:pPr marL="274638" indent="-274638">
              <a:buClr>
                <a:srgbClr val="0099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引用格式</a:t>
            </a:r>
            <a:r>
              <a:rPr lang="zh-CN" altLang="zh-CN" sz="2800" b="1">
                <a:latin typeface="Times New Roman" pitchFamily="18" charset="0"/>
                <a:ea typeface="黑体" pitchFamily="49" charset="-122"/>
              </a:rPr>
              <a:t>:</a:t>
            </a:r>
          </a:p>
          <a:p>
            <a:pPr marL="274638" indent="-274638">
              <a:spcBef>
                <a:spcPct val="80000"/>
              </a:spcBef>
              <a:spcAft>
                <a:spcPct val="20000"/>
              </a:spcAft>
              <a:buNone/>
            </a:pP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      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数组名</a:t>
            </a: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行下标</a:t>
            </a: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][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列下标</a:t>
            </a:r>
            <a:r>
              <a:rPr lang="zh-CN" altLang="zh-CN" sz="28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]</a:t>
            </a:r>
          </a:p>
          <a:p>
            <a:pPr marL="274638" indent="-274638">
              <a:buNone/>
            </a:pP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  </a:t>
            </a:r>
          </a:p>
          <a:p>
            <a:pPr marL="274638" indent="-274638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          0≤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下标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1≤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常量表达式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1-1</a:t>
            </a:r>
          </a:p>
          <a:p>
            <a:pPr marL="274638" indent="-274638">
              <a:lnSpc>
                <a:spcPct val="130000"/>
              </a:lnSpc>
              <a:spcBef>
                <a:spcPct val="25000"/>
              </a:spcBef>
              <a:buNone/>
            </a:pP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          0≤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下标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2≤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常量表达式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2-1</a:t>
            </a:r>
          </a:p>
          <a:p>
            <a:pPr marL="274638" indent="-274638" algn="just">
              <a:buNone/>
            </a:pPr>
            <a:r>
              <a:rPr lang="zh-CN" altLang="zh-CN" b="1">
                <a:ea typeface="黑体" pitchFamily="49" charset="-122"/>
              </a:rPr>
              <a:t>      </a:t>
            </a:r>
            <a:endParaRPr lang="zh-CN" altLang="zh-CN" sz="36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3044" name="Text Box 4"/>
          <p:cNvSpPr txBox="1">
            <a:spLocks noChangeArrowheads="1"/>
          </p:cNvSpPr>
          <p:nvPr/>
        </p:nvSpPr>
        <p:spPr bwMode="auto">
          <a:xfrm>
            <a:off x="3533776" y="3068639"/>
            <a:ext cx="5522913" cy="2359025"/>
          </a:xfrm>
          <a:prstGeom prst="rect">
            <a:avLst/>
          </a:prstGeom>
          <a:solidFill>
            <a:srgbClr val="D1E8FF"/>
          </a:solidFill>
          <a:ln w="9525" cmpd="sng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tIns="57600" bIns="154800"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800" b="1">
                <a:solidFill>
                  <a:srgbClr val="000000"/>
                </a:solidFill>
              </a:rPr>
              <a:t>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3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4</a:t>
            </a:r>
            <a:r>
              <a:rPr lang="zh-CN" altLang="zh-CN" sz="28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en-US" altLang="zh-CN" sz="2800" b="1">
                <a:solidFill>
                  <a:srgbClr val="000000"/>
                </a:solidFill>
                <a:latin typeface="Courier New" pitchFamily="49" charset="0"/>
              </a:rPr>
              <a:t>,i,j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E60000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rgbClr val="E60000"/>
                </a:solidFill>
              </a:rPr>
              <a:t> 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(</a:t>
            </a:r>
            <a:r>
              <a:rPr lang="en-US" altLang="zh-CN" sz="2800" b="1">
                <a:solidFill>
                  <a:srgbClr val="E6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E60000"/>
                </a:solidFill>
              </a:rPr>
              <a:t>=</a:t>
            </a:r>
            <a:r>
              <a:rPr lang="zh-CN" altLang="zh-CN" sz="2800" b="1">
                <a:solidFill>
                  <a:srgbClr val="E60000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; </a:t>
            </a:r>
            <a:r>
              <a:rPr lang="en-US" altLang="zh-CN" sz="2800" b="1">
                <a:solidFill>
                  <a:srgbClr val="E60000"/>
                </a:solidFill>
                <a:latin typeface="Arial" pitchFamily="34" charset="0"/>
              </a:rPr>
              <a:t>i</a:t>
            </a:r>
            <a:r>
              <a:rPr lang="zh-CN" altLang="zh-CN" sz="2800">
                <a:solidFill>
                  <a:srgbClr val="E60000"/>
                </a:solidFill>
              </a:rPr>
              <a:t>&lt;</a:t>
            </a:r>
            <a:r>
              <a:rPr lang="zh-CN" altLang="zh-CN" sz="2800" b="1">
                <a:solidFill>
                  <a:srgbClr val="E60000"/>
                </a:solidFill>
                <a:latin typeface="Arial" pitchFamily="34" charset="0"/>
              </a:rPr>
              <a:t>3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; </a:t>
            </a:r>
            <a:r>
              <a:rPr lang="en-US" altLang="zh-CN" sz="2800" b="1">
                <a:solidFill>
                  <a:srgbClr val="E60000"/>
                </a:solidFill>
                <a:latin typeface="Arial" pitchFamily="34" charset="0"/>
              </a:rPr>
              <a:t>i</a:t>
            </a:r>
            <a:r>
              <a:rPr lang="zh-CN" altLang="zh-CN" sz="2800" b="1">
                <a:solidFill>
                  <a:srgbClr val="E60000"/>
                </a:solidFill>
              </a:rPr>
              <a:t>++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</a:t>
            </a:r>
            <a:r>
              <a:rPr lang="zh-CN" altLang="zh-CN" sz="2800" b="1">
                <a:solidFill>
                  <a:srgbClr val="0000B8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rgbClr val="0000B8"/>
                </a:solidFill>
              </a:rPr>
              <a:t> 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(</a:t>
            </a:r>
            <a:r>
              <a:rPr lang="en-US" altLang="zh-CN" sz="2800" b="1">
                <a:solidFill>
                  <a:srgbClr val="0000B8"/>
                </a:solidFill>
              </a:rPr>
              <a:t>i</a:t>
            </a:r>
            <a:r>
              <a:rPr lang="zh-CN" altLang="zh-CN" sz="2800" b="1">
                <a:solidFill>
                  <a:srgbClr val="0000B8"/>
                </a:solidFill>
              </a:rPr>
              <a:t>=</a:t>
            </a:r>
            <a:r>
              <a:rPr lang="zh-CN" altLang="zh-CN" sz="2800" b="1">
                <a:solidFill>
                  <a:srgbClr val="0000B8"/>
                </a:solidFill>
                <a:latin typeface="Arial" pitchFamily="34" charset="0"/>
              </a:rPr>
              <a:t>0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; </a:t>
            </a:r>
            <a:r>
              <a:rPr lang="en-US" altLang="zh-CN" sz="2800" b="1">
                <a:solidFill>
                  <a:srgbClr val="0000B8"/>
                </a:solidFill>
              </a:rPr>
              <a:t>i</a:t>
            </a:r>
            <a:r>
              <a:rPr lang="zh-CN" altLang="zh-CN" sz="2800">
                <a:solidFill>
                  <a:srgbClr val="0000B8"/>
                </a:solidFill>
              </a:rPr>
              <a:t>&lt;</a:t>
            </a:r>
            <a:r>
              <a:rPr lang="zh-CN" altLang="zh-CN" sz="2800" b="1">
                <a:solidFill>
                  <a:srgbClr val="0000B8"/>
                </a:solidFill>
              </a:rPr>
              <a:t>4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; </a:t>
            </a:r>
            <a:r>
              <a:rPr lang="en-US" altLang="zh-CN" sz="2800" b="1">
                <a:solidFill>
                  <a:srgbClr val="0000B8"/>
                </a:solidFill>
              </a:rPr>
              <a:t>i</a:t>
            </a:r>
            <a:r>
              <a:rPr lang="zh-CN" altLang="zh-CN" sz="2800" b="1">
                <a:solidFill>
                  <a:srgbClr val="0000B8"/>
                </a:solidFill>
              </a:rPr>
              <a:t>++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scanf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”, &amp;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[</a:t>
            </a:r>
            <a:r>
              <a:rPr lang="zh-CN" altLang="zh-CN" sz="2800" b="1">
                <a:solidFill>
                  <a:srgbClr val="E60000"/>
                </a:solidFill>
                <a:latin typeface="Arial" pitchFamily="34" charset="0"/>
              </a:rPr>
              <a:t>m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</a:rPr>
              <a:t>]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[</a:t>
            </a:r>
            <a:r>
              <a:rPr lang="zh-CN" altLang="zh-CN" sz="2800" b="1">
                <a:solidFill>
                  <a:srgbClr val="0000B8"/>
                </a:solidFill>
              </a:rPr>
              <a:t>n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</a:rPr>
              <a:t>]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auto">
          <a:xfrm>
            <a:off x="4451350" y="4746626"/>
            <a:ext cx="4133850" cy="519113"/>
          </a:xfrm>
          <a:prstGeom prst="rect">
            <a:avLst/>
          </a:prstGeom>
          <a:solidFill>
            <a:srgbClr val="D1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printf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8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a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en-US" altLang="zh-CN" sz="2800" b="1">
                <a:solidFill>
                  <a:srgbClr val="E60000"/>
                </a:solidFill>
                <a:latin typeface="Arial" pitchFamily="34" charset="0"/>
                <a:ea typeface="Dotum" pitchFamily="34" charset="-127"/>
              </a:rPr>
              <a:t>i</a:t>
            </a:r>
            <a:r>
              <a:rPr lang="zh-CN" altLang="zh-CN" sz="2800" b="1">
                <a:solidFill>
                  <a:srgbClr val="E60000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  <a:ea typeface="Dotum" pitchFamily="34" charset="-127"/>
              </a:rPr>
              <a:t>[</a:t>
            </a:r>
            <a:r>
              <a:rPr lang="en-US" altLang="zh-CN" sz="2800" b="1">
                <a:solidFill>
                  <a:srgbClr val="0000B8"/>
                </a:solidFill>
                <a:latin typeface="Arial" pitchFamily="34" charset="0"/>
                <a:ea typeface="Dotum" pitchFamily="34" charset="-127"/>
              </a:rPr>
              <a:t>j</a:t>
            </a:r>
            <a:r>
              <a:rPr lang="zh-CN" altLang="zh-CN" sz="2800" b="1">
                <a:solidFill>
                  <a:srgbClr val="0000B8"/>
                </a:solidFill>
                <a:latin typeface="Times New Roman" pitchFamily="18" charset="0"/>
                <a:ea typeface="Dotum" pitchFamily="34" charset="-127"/>
              </a:rPr>
              <a:t>]</a:t>
            </a:r>
            <a:r>
              <a:rPr lang="zh-CN" altLang="zh-CN" sz="2800" b="1">
                <a:solidFill>
                  <a:srgbClr val="0000B8"/>
                </a:solidFill>
                <a:ea typeface="Dotum" pitchFamily="34" charset="-127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4748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4" grpId="0" animBg="1" autoUpdateAnimBg="0"/>
      <p:bldP spid="34304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500" y="-69850"/>
            <a:ext cx="5411788" cy="820738"/>
          </a:xfrm>
        </p:spPr>
        <p:txBody>
          <a:bodyPr/>
          <a:lstStyle/>
          <a:p>
            <a:r>
              <a:rPr lang="zh-CN" altLang="en-US" sz="3600">
                <a:latin typeface="Courier New" pitchFamily="49" charset="0"/>
              </a:rPr>
              <a:t>三、二维数组的初始化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3576" y="1263651"/>
            <a:ext cx="9202984" cy="5026025"/>
          </a:xfrm>
        </p:spPr>
        <p:txBody>
          <a:bodyPr/>
          <a:lstStyle/>
          <a:p>
            <a:pPr marL="0" indent="0">
              <a:lnSpc>
                <a:spcPct val="115000"/>
              </a:lnSpc>
              <a:buSzPct val="50000"/>
            </a:pPr>
            <a:r>
              <a:rPr lang="zh-CN" altLang="zh-CN" sz="2400" b="1"/>
              <a:t> </a:t>
            </a:r>
            <a:r>
              <a:rPr lang="zh-CN" altLang="zh-CN" sz="2000" b="1"/>
              <a:t> </a:t>
            </a:r>
            <a:r>
              <a:rPr lang="zh-CN" altLang="en-US" sz="2400" b="1"/>
              <a:t>二维数组的初始化通常是按行进行赋值的</a:t>
            </a:r>
          </a:p>
          <a:p>
            <a:pPr marL="365125" lvl="1" indent="260350">
              <a:lnSpc>
                <a:spcPct val="115000"/>
              </a:lnSpc>
              <a:spcBef>
                <a:spcPct val="30000"/>
              </a:spcBef>
              <a:spcAft>
                <a:spcPct val="2000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>
                <a:latin typeface="黑体" pitchFamily="49" charset="-122"/>
              </a:rPr>
              <a:t>格式</a:t>
            </a:r>
            <a:r>
              <a:rPr lang="zh-CN" altLang="zh-CN" sz="2400" b="1">
                <a:latin typeface="Times New Roman" pitchFamily="18" charset="0"/>
              </a:rPr>
              <a:t>:</a:t>
            </a:r>
          </a:p>
          <a:p>
            <a:pPr marL="0" indent="0">
              <a:spcBef>
                <a:spcPct val="25000"/>
              </a:spcBef>
              <a:spcAft>
                <a:spcPct val="30000"/>
              </a:spcAft>
              <a:buNone/>
            </a:pPr>
            <a:r>
              <a:rPr lang="zh-CN" altLang="zh-CN" sz="2400" b="1">
                <a:solidFill>
                  <a:srgbClr val="FF0000"/>
                </a:solidFill>
                <a:latin typeface="黑体" pitchFamily="49" charset="-122"/>
              </a:rPr>
              <a:t>      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</a:rPr>
              <a:t>类型符 数组名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[</a:t>
            </a:r>
            <a:r>
              <a:rPr lang="zh-CN" altLang="en-US" sz="2800" b="1">
                <a:latin typeface="黑体" pitchFamily="49" charset="-122"/>
              </a:rPr>
              <a:t>表达式</a:t>
            </a:r>
            <a:r>
              <a:rPr lang="zh-CN" altLang="zh-CN" sz="2800" b="1">
                <a:latin typeface="黑体" pitchFamily="49" charset="-122"/>
              </a:rPr>
              <a:t>1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][</a:t>
            </a:r>
            <a:r>
              <a:rPr lang="zh-CN" altLang="en-US" sz="2800" b="1">
                <a:latin typeface="黑体" pitchFamily="49" charset="-122"/>
              </a:rPr>
              <a:t>表达式</a:t>
            </a:r>
            <a:r>
              <a:rPr lang="zh-CN" altLang="zh-CN" sz="2800" b="1">
                <a:latin typeface="黑体" pitchFamily="49" charset="-122"/>
              </a:rPr>
              <a:t>2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]={</a:t>
            </a:r>
            <a:r>
              <a:rPr lang="zh-CN" altLang="en-US" sz="2800" b="1">
                <a:latin typeface="黑体" pitchFamily="49" charset="-122"/>
              </a:rPr>
              <a:t>初值表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}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365125" lvl="1" indent="260350">
              <a:lnSpc>
                <a:spcPct val="120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/>
              <a:t>三种方式</a:t>
            </a:r>
            <a:r>
              <a:rPr lang="zh-CN" altLang="zh-CN" sz="2400" b="1">
                <a:latin typeface="Times New Roman" pitchFamily="18" charset="0"/>
              </a:rPr>
              <a:t>:</a:t>
            </a:r>
          </a:p>
          <a:p>
            <a:pPr marL="804863" lvl="2" indent="277813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b="1">
                <a:ea typeface="黑体" pitchFamily="49" charset="-122"/>
              </a:rPr>
              <a:t>给全部元素赋初值</a:t>
            </a:r>
          </a:p>
          <a:p>
            <a:pPr marL="804863" lvl="2" indent="277813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b="1">
                <a:ea typeface="黑体" pitchFamily="49" charset="-122"/>
              </a:rPr>
              <a:t>给部分元素赋初值</a:t>
            </a:r>
          </a:p>
          <a:p>
            <a:pPr marL="804863" lvl="2" indent="277813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b="1">
                <a:ea typeface="黑体" pitchFamily="49" charset="-122"/>
              </a:rPr>
              <a:t>给全部元素赋初值时</a:t>
            </a:r>
            <a:r>
              <a:rPr lang="zh-CN" altLang="zh-CN" b="1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b="1">
                <a:latin typeface="Times New Roman" pitchFamily="18" charset="0"/>
                <a:ea typeface="黑体" pitchFamily="49" charset="-122"/>
              </a:rPr>
              <a:t>可以</a:t>
            </a:r>
            <a:r>
              <a:rPr lang="zh-CN" b="1">
                <a:ea typeface="黑体" pitchFamily="49" charset="-122"/>
              </a:rPr>
              <a:t>不指定第一维的长度</a:t>
            </a:r>
            <a:r>
              <a:rPr lang="zh-CN" altLang="zh-CN" b="1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>
                <a:ea typeface="黑体" pitchFamily="49" charset="-122"/>
              </a:rPr>
              <a:t>但要指定第二维的长度。</a:t>
            </a:r>
            <a:r>
              <a:rPr lang="en-US" altLang="zh-CN" b="1">
                <a:ea typeface="黑体" pitchFamily="49" charset="-122"/>
              </a:rPr>
              <a:t>(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无论几维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,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在初始化时最多省第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维下标</a:t>
            </a:r>
            <a:r>
              <a:rPr lang="en-US" altLang="zh-CN" b="1">
                <a:ea typeface="黑体" pitchFamily="49" charset="-122"/>
              </a:rPr>
              <a:t>)</a:t>
            </a:r>
            <a:endParaRPr lang="zh-CN" b="1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4697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50" y="87314"/>
            <a:ext cx="7793038" cy="738187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二维数组初始化：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85976" y="1279525"/>
            <a:ext cx="7566025" cy="4114800"/>
          </a:xfrm>
        </p:spPr>
        <p:txBody>
          <a:bodyPr/>
          <a:lstStyle/>
          <a:p>
            <a:pPr marL="274638" indent="-274638"/>
            <a:r>
              <a:rPr lang="zh-CN" altLang="en-US" sz="2800" b="1"/>
              <a:t>给</a:t>
            </a:r>
            <a:r>
              <a:rPr lang="zh-CN" altLang="en-US" sz="2800" b="1">
                <a:solidFill>
                  <a:schemeClr val="hlink"/>
                </a:solidFill>
              </a:rPr>
              <a:t>全部</a:t>
            </a:r>
            <a:r>
              <a:rPr lang="zh-CN" altLang="en-US" sz="2800" b="1"/>
              <a:t>元素赋初值</a:t>
            </a:r>
          </a:p>
          <a:p>
            <a:pPr marL="274638" indent="-274638">
              <a:spcBef>
                <a:spcPct val="60000"/>
              </a:spcBef>
              <a:buNone/>
            </a:pPr>
            <a:r>
              <a:rPr lang="zh-CN" altLang="en-US" sz="2800" b="1"/>
              <a:t>   如</a:t>
            </a:r>
            <a:r>
              <a:rPr lang="zh-CN" altLang="zh-CN" sz="2800" b="1">
                <a:latin typeface="Times New Roman" pitchFamily="18" charset="0"/>
              </a:rPr>
              <a:t>: 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x</a:t>
            </a:r>
            <a:r>
              <a:rPr lang="zh-CN" altLang="zh-CN" sz="2800"/>
              <a:t>[</a:t>
            </a:r>
            <a:r>
              <a:rPr lang="zh-CN" altLang="zh-CN" sz="2800" b="1">
                <a:latin typeface="Arial" pitchFamily="34" charset="0"/>
              </a:rPr>
              <a:t>2</a:t>
            </a:r>
            <a:r>
              <a:rPr lang="zh-CN" altLang="zh-CN" sz="2800"/>
              <a:t>][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/>
              <a:t>]</a:t>
            </a:r>
            <a:r>
              <a:rPr lang="zh-CN" altLang="zh-CN" sz="2800" b="1"/>
              <a:t>=</a:t>
            </a:r>
            <a:r>
              <a:rPr lang="zh-CN" altLang="zh-CN" sz="2800"/>
              <a:t>{{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2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/>
              <a:t>}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/>
              <a:t>{</a:t>
            </a:r>
            <a:r>
              <a:rPr lang="zh-CN" altLang="zh-CN" sz="2800" b="1">
                <a:latin typeface="Arial" pitchFamily="34" charset="0"/>
              </a:rPr>
              <a:t>6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7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8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9</a:t>
            </a:r>
            <a:r>
              <a:rPr lang="zh-CN" altLang="zh-CN" sz="2800"/>
              <a:t>}}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274638" indent="-274638" algn="ctr">
              <a:spcBef>
                <a:spcPct val="40000"/>
              </a:spcBef>
              <a:buNone/>
            </a:pPr>
            <a:r>
              <a:rPr lang="zh-CN" altLang="zh-CN" sz="2800" b="1"/>
              <a:t>         </a:t>
            </a:r>
          </a:p>
        </p:txBody>
      </p:sp>
      <p:sp>
        <p:nvSpPr>
          <p:cNvPr id="345092" name="Text Box 4"/>
          <p:cNvSpPr txBox="1">
            <a:spLocks noChangeArrowheads="1"/>
          </p:cNvSpPr>
          <p:nvPr/>
        </p:nvSpPr>
        <p:spPr bwMode="auto">
          <a:xfrm>
            <a:off x="2401888" y="2714625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78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4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或写成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:</a:t>
            </a:r>
          </a:p>
          <a:p>
            <a:pPr fontAlgn="base">
              <a:spcBef>
                <a:spcPct val="4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x</a:t>
            </a:r>
            <a:r>
              <a:rPr lang="zh-CN" altLang="zh-CN" sz="28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][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=</a:t>
            </a:r>
            <a:r>
              <a:rPr lang="zh-CN" altLang="zh-CN" sz="28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{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3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6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7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8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9</a:t>
            </a:r>
            <a:r>
              <a:rPr lang="zh-CN" altLang="zh-CN" sz="28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}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;</a:t>
            </a:r>
          </a:p>
        </p:txBody>
      </p:sp>
      <p:sp>
        <p:nvSpPr>
          <p:cNvPr id="345093" name="Text Box 5"/>
          <p:cNvSpPr txBox="1">
            <a:spLocks noChangeArrowheads="1"/>
          </p:cNvSpPr>
          <p:nvPr/>
        </p:nvSpPr>
        <p:spPr bwMode="auto">
          <a:xfrm>
            <a:off x="2359025" y="4186238"/>
            <a:ext cx="70104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数组</a:t>
            </a:r>
            <a:r>
              <a:rPr lang="zh-CN" altLang="zh-CN" sz="2800" b="1">
                <a:solidFill>
                  <a:srgbClr val="000000"/>
                </a:solidFill>
              </a:rPr>
              <a:t>x</a:t>
            </a:r>
            <a:r>
              <a:rPr lang="zh-CN" altLang="en-US" sz="2800" b="1">
                <a:solidFill>
                  <a:srgbClr val="000000"/>
                </a:solidFill>
              </a:rPr>
              <a:t>中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各元素的值为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zh-CN" altLang="zh-CN" sz="24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5094" name="Line 6"/>
          <p:cNvSpPr>
            <a:spLocks noChangeShapeType="1"/>
          </p:cNvSpPr>
          <p:nvPr/>
        </p:nvSpPr>
        <p:spPr bwMode="auto">
          <a:xfrm>
            <a:off x="5746750" y="2460625"/>
            <a:ext cx="1296988" cy="0"/>
          </a:xfrm>
          <a:prstGeom prst="line">
            <a:avLst/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5095" name="Line 7"/>
          <p:cNvSpPr>
            <a:spLocks noChangeShapeType="1"/>
          </p:cNvSpPr>
          <p:nvPr/>
        </p:nvSpPr>
        <p:spPr bwMode="auto">
          <a:xfrm>
            <a:off x="7648575" y="2460625"/>
            <a:ext cx="1271588" cy="7938"/>
          </a:xfrm>
          <a:prstGeom prst="line">
            <a:avLst/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5096" name="Text Box 8"/>
          <p:cNvSpPr txBox="1">
            <a:spLocks noChangeArrowheads="1"/>
          </p:cNvSpPr>
          <p:nvPr/>
        </p:nvSpPr>
        <p:spPr bwMode="auto">
          <a:xfrm>
            <a:off x="8393114" y="1296989"/>
            <a:ext cx="1978025" cy="376237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Courier New" pitchFamily="49" charset="0"/>
              </a:rPr>
              <a:t>用括号按行分组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45097" name="Line 9"/>
          <p:cNvSpPr>
            <a:spLocks noChangeShapeType="1"/>
          </p:cNvSpPr>
          <p:nvPr/>
        </p:nvSpPr>
        <p:spPr bwMode="auto">
          <a:xfrm flipH="1">
            <a:off x="8602664" y="1765300"/>
            <a:ext cx="788987" cy="325438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graphicFrame>
        <p:nvGraphicFramePr>
          <p:cNvPr id="345098" name="Group 10"/>
          <p:cNvGraphicFramePr>
            <a:graphicFrameLocks noGrp="1"/>
          </p:cNvGraphicFramePr>
          <p:nvPr>
            <p:ph sz="half" idx="2"/>
          </p:nvPr>
        </p:nvGraphicFramePr>
        <p:xfrm>
          <a:off x="6118226" y="4224338"/>
          <a:ext cx="3586163" cy="1342390"/>
        </p:xfrm>
        <a:graphic>
          <a:graphicData uri="http://schemas.openxmlformats.org/drawingml/2006/table">
            <a:tbl>
              <a:tblPr/>
              <a:tblGrid>
                <a:gridCol w="896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x[0][0]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x[0][1]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x[0][2]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x[0][3]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 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2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3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4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x[1][0]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x[1][1]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x[1][2]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x[1][3]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6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8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9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39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 autoUpdateAnimBg="0"/>
      <p:bldP spid="345093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2038" y="134939"/>
            <a:ext cx="5410200" cy="661987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二维数组初始化：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339" y="1222376"/>
            <a:ext cx="8231187" cy="4098925"/>
          </a:xfrm>
        </p:spPr>
        <p:txBody>
          <a:bodyPr/>
          <a:lstStyle/>
          <a:p>
            <a:pPr marL="274638" indent="-274638">
              <a:buSzPct val="50000"/>
            </a:pPr>
            <a:r>
              <a:rPr lang="zh-CN" altLang="en-US" sz="2800" b="1">
                <a:latin typeface="黑体" pitchFamily="49" charset="-122"/>
              </a:rPr>
              <a:t>给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</a:rPr>
              <a:t>部分</a:t>
            </a:r>
            <a:r>
              <a:rPr lang="zh-CN" altLang="en-US" sz="2800" b="1">
                <a:latin typeface="黑体" pitchFamily="49" charset="-122"/>
              </a:rPr>
              <a:t>元素赋初值</a:t>
            </a:r>
          </a:p>
          <a:p>
            <a:pPr marL="274638" indent="-274638">
              <a:lnSpc>
                <a:spcPct val="110000"/>
              </a:lnSpc>
              <a:spcBef>
                <a:spcPct val="60000"/>
              </a:spcBef>
              <a:buNone/>
            </a:pPr>
            <a:r>
              <a:rPr lang="zh-CN" altLang="en-US" sz="2800" b="1"/>
              <a:t>   如</a:t>
            </a:r>
            <a:r>
              <a:rPr lang="zh-CN" altLang="zh-CN" sz="2800" b="1">
                <a:latin typeface="Times New Roman" pitchFamily="18" charset="0"/>
              </a:rPr>
              <a:t>:   </a:t>
            </a:r>
            <a:r>
              <a:rPr lang="zh-CN" altLang="zh-CN" sz="2800" b="1">
                <a:latin typeface="Arial" pitchFamily="34" charset="0"/>
              </a:rPr>
              <a:t>int 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a</a:t>
            </a:r>
            <a:r>
              <a:rPr lang="zh-CN" altLang="zh-CN" sz="2800"/>
              <a:t>[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/>
              <a:t>][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/>
              <a:t>]</a:t>
            </a:r>
            <a:r>
              <a:rPr lang="zh-CN" altLang="zh-CN" sz="2800" b="1"/>
              <a:t>=</a:t>
            </a:r>
            <a:r>
              <a:rPr lang="zh-CN" altLang="zh-CN" sz="2800"/>
              <a:t>{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2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4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5</a:t>
            </a:r>
            <a:r>
              <a:rPr lang="zh-CN" altLang="zh-CN" sz="2800"/>
              <a:t>}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</p:txBody>
      </p:sp>
      <p:grpSp>
        <p:nvGrpSpPr>
          <p:cNvPr id="346116" name="Group 4"/>
          <p:cNvGrpSpPr>
            <a:grpSpLocks/>
          </p:cNvGrpSpPr>
          <p:nvPr/>
        </p:nvGrpSpPr>
        <p:grpSpPr bwMode="auto">
          <a:xfrm>
            <a:off x="8002588" y="1736725"/>
            <a:ext cx="1560512" cy="1200150"/>
            <a:chOff x="0" y="0"/>
            <a:chExt cx="983" cy="756"/>
          </a:xfrm>
        </p:grpSpPr>
        <p:sp>
          <p:nvSpPr>
            <p:cNvPr id="346117" name="Text Box 5"/>
            <p:cNvSpPr txBox="1">
              <a:spLocks noChangeArrowheads="1"/>
            </p:cNvSpPr>
            <p:nvPr/>
          </p:nvSpPr>
          <p:spPr bwMode="auto">
            <a:xfrm>
              <a:off x="28" y="0"/>
              <a:ext cx="94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latin typeface="Tahoma" pitchFamily="34" charset="0"/>
                </a:rPr>
                <a:t>1  2  3  4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latin typeface="Tahoma" pitchFamily="34" charset="0"/>
                </a:rPr>
                <a:t>5</a:t>
              </a:r>
              <a:r>
                <a:rPr lang="zh-CN" altLang="zh-CN" b="1">
                  <a:solidFill>
                    <a:srgbClr val="2F2FBD"/>
                  </a:solidFill>
                  <a:latin typeface="Tahoma" pitchFamily="34" charset="0"/>
                </a:rPr>
                <a:t>  </a:t>
              </a: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0  0  0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</a:t>
              </a:r>
              <a:r>
                <a:rPr lang="zh-CN" altLang="zh-CN" sz="1600" b="1">
                  <a:solidFill>
                    <a:srgbClr val="2F2FBD"/>
                  </a:solidFill>
                  <a:latin typeface="Arial" pitchFamily="34" charset="0"/>
                </a:rPr>
                <a:t>  </a:t>
              </a: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0  0  0</a:t>
              </a:r>
            </a:p>
          </p:txBody>
        </p:sp>
        <p:sp>
          <p:nvSpPr>
            <p:cNvPr id="346118" name="AutoShape 6"/>
            <p:cNvSpPr>
              <a:spLocks/>
            </p:cNvSpPr>
            <p:nvPr/>
          </p:nvSpPr>
          <p:spPr bwMode="auto">
            <a:xfrm>
              <a:off x="939" y="85"/>
              <a:ext cx="44" cy="551"/>
            </a:xfrm>
            <a:prstGeom prst="rightBracket">
              <a:avLst>
                <a:gd name="adj" fmla="val 166564"/>
              </a:avLst>
            </a:prstGeom>
            <a:noFill/>
            <a:ln w="222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346119" name="AutoShape 7"/>
            <p:cNvSpPr>
              <a:spLocks/>
            </p:cNvSpPr>
            <p:nvPr/>
          </p:nvSpPr>
          <p:spPr bwMode="auto">
            <a:xfrm>
              <a:off x="0" y="85"/>
              <a:ext cx="45" cy="551"/>
            </a:xfrm>
            <a:prstGeom prst="leftBracket">
              <a:avLst>
                <a:gd name="adj" fmla="val 102037"/>
              </a:avLst>
            </a:prstGeom>
            <a:noFill/>
            <a:ln w="222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346120" name="Rectangle 8"/>
          <p:cNvSpPr>
            <a:spLocks noChangeArrowheads="1"/>
          </p:cNvSpPr>
          <p:nvPr/>
        </p:nvSpPr>
        <p:spPr bwMode="auto">
          <a:xfrm>
            <a:off x="2305050" y="3124200"/>
            <a:ext cx="7772400" cy="13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4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可用分行赋值的方法对</a:t>
            </a:r>
            <a:r>
              <a:rPr lang="zh-CN" altLang="en-US" sz="2800" b="1">
                <a:solidFill>
                  <a:srgbClr val="FF0000"/>
                </a:solidFill>
              </a:rPr>
              <a:t>某行中</a:t>
            </a:r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</a:rPr>
              <a:t>部分</a:t>
            </a:r>
            <a:r>
              <a:rPr lang="zh-CN" altLang="en-US" sz="2800" b="1">
                <a:solidFill>
                  <a:srgbClr val="1C1C1C"/>
                </a:solidFill>
                <a:latin typeface="黑体" pitchFamily="49" charset="-122"/>
              </a:rPr>
              <a:t>元素</a:t>
            </a:r>
            <a:r>
              <a:rPr lang="zh-CN" altLang="en-US" sz="2800" b="1">
                <a:solidFill>
                  <a:srgbClr val="000000"/>
                </a:solidFill>
                <a:latin typeface="黑体" pitchFamily="49" charset="-122"/>
              </a:rPr>
              <a:t>赋初值</a:t>
            </a:r>
          </a:p>
          <a:p>
            <a:pPr fontAlgn="base">
              <a:lnSpc>
                <a:spcPct val="110000"/>
              </a:lnSpc>
              <a:spcBef>
                <a:spcPct val="7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如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  a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][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4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{{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}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{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800">
                <a:solidFill>
                  <a:srgbClr val="000000"/>
                </a:solidFill>
              </a:rPr>
              <a:t>}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>
                <a:solidFill>
                  <a:srgbClr val="000000"/>
                </a:solidFill>
              </a:rPr>
              <a:t>{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6</a:t>
            </a:r>
            <a:r>
              <a:rPr lang="zh-CN" altLang="zh-CN" sz="2800">
                <a:solidFill>
                  <a:srgbClr val="000000"/>
                </a:solidFill>
              </a:rPr>
              <a:t>}}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grpSp>
        <p:nvGrpSpPr>
          <p:cNvPr id="346121" name="Group 9"/>
          <p:cNvGrpSpPr>
            <a:grpSpLocks/>
          </p:cNvGrpSpPr>
          <p:nvPr/>
        </p:nvGrpSpPr>
        <p:grpSpPr bwMode="auto">
          <a:xfrm>
            <a:off x="8045451" y="3859213"/>
            <a:ext cx="1560513" cy="1200150"/>
            <a:chOff x="0" y="0"/>
            <a:chExt cx="983" cy="756"/>
          </a:xfrm>
        </p:grpSpPr>
        <p:sp>
          <p:nvSpPr>
            <p:cNvPr id="346122" name="Text Box 10"/>
            <p:cNvSpPr txBox="1">
              <a:spLocks noChangeArrowheads="1"/>
            </p:cNvSpPr>
            <p:nvPr/>
          </p:nvSpPr>
          <p:spPr bwMode="auto">
            <a:xfrm>
              <a:off x="28" y="0"/>
              <a:ext cx="94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latin typeface="Tahoma" pitchFamily="34" charset="0"/>
                </a:rPr>
                <a:t>1</a:t>
              </a:r>
              <a:r>
                <a:rPr lang="zh-CN" altLang="zh-CN" b="1">
                  <a:solidFill>
                    <a:srgbClr val="2F2FBD"/>
                  </a:solidFill>
                  <a:latin typeface="Tahoma" pitchFamily="34" charset="0"/>
                </a:rPr>
                <a:t>  </a:t>
              </a: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0  0  0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latin typeface="Tahoma" pitchFamily="34" charset="0"/>
                </a:rPr>
                <a:t>5</a:t>
              </a:r>
              <a:r>
                <a:rPr lang="zh-CN" altLang="zh-CN" b="1">
                  <a:solidFill>
                    <a:srgbClr val="2F2FBD"/>
                  </a:solidFill>
                  <a:latin typeface="Tahoma" pitchFamily="34" charset="0"/>
                </a:rPr>
                <a:t>  </a:t>
              </a: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0  0  0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latin typeface="Tahoma" pitchFamily="34" charset="0"/>
                </a:rPr>
                <a:t>6</a:t>
              </a:r>
              <a:r>
                <a:rPr lang="zh-CN" altLang="zh-CN" b="1">
                  <a:solidFill>
                    <a:srgbClr val="2F2FBD"/>
                  </a:solidFill>
                  <a:latin typeface="Tahoma" pitchFamily="34" charset="0"/>
                </a:rPr>
                <a:t>  </a:t>
              </a:r>
              <a:r>
                <a:rPr lang="zh-CN" altLang="zh-CN" b="1">
                  <a:solidFill>
                    <a:srgbClr val="2F2FBD"/>
                  </a:solidFill>
                  <a:latin typeface="Arial" pitchFamily="34" charset="0"/>
                </a:rPr>
                <a:t>0  0  0</a:t>
              </a:r>
            </a:p>
          </p:txBody>
        </p:sp>
        <p:sp>
          <p:nvSpPr>
            <p:cNvPr id="346123" name="AutoShape 11"/>
            <p:cNvSpPr>
              <a:spLocks/>
            </p:cNvSpPr>
            <p:nvPr/>
          </p:nvSpPr>
          <p:spPr bwMode="auto">
            <a:xfrm>
              <a:off x="939" y="85"/>
              <a:ext cx="44" cy="551"/>
            </a:xfrm>
            <a:prstGeom prst="rightBracket">
              <a:avLst>
                <a:gd name="adj" fmla="val 166564"/>
              </a:avLst>
            </a:prstGeom>
            <a:noFill/>
            <a:ln w="222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346124" name="AutoShape 12"/>
            <p:cNvSpPr>
              <a:spLocks/>
            </p:cNvSpPr>
            <p:nvPr/>
          </p:nvSpPr>
          <p:spPr bwMode="auto">
            <a:xfrm>
              <a:off x="0" y="85"/>
              <a:ext cx="45" cy="551"/>
            </a:xfrm>
            <a:prstGeom prst="leftBracket">
              <a:avLst>
                <a:gd name="adj" fmla="val 102037"/>
              </a:avLst>
            </a:prstGeom>
            <a:noFill/>
            <a:ln w="222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346125" name="Text Box 13"/>
          <p:cNvSpPr txBox="1">
            <a:spLocks noChangeArrowheads="1"/>
          </p:cNvSpPr>
          <p:nvPr/>
        </p:nvSpPr>
        <p:spPr bwMode="auto">
          <a:xfrm>
            <a:off x="8493126" y="808039"/>
            <a:ext cx="2132013" cy="661987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576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Courier New" pitchFamily="49" charset="0"/>
              </a:rPr>
              <a:t>没有明确初始化的元素被自动初始化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46126" name="Line 14"/>
          <p:cNvSpPr>
            <a:spLocks noChangeShapeType="1"/>
          </p:cNvSpPr>
          <p:nvPr/>
        </p:nvSpPr>
        <p:spPr bwMode="auto">
          <a:xfrm flipH="1">
            <a:off x="9442451" y="1362076"/>
            <a:ext cx="536575" cy="792163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23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0" grpId="0" build="p" autoUpdateAnimBg="0"/>
      <p:bldP spid="346125" grpId="0" animBg="1" autoUpdateAnimBg="0"/>
      <p:bldP spid="3461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6963" y="122238"/>
            <a:ext cx="5745162" cy="671512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二维数组初始化：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6764" y="1220789"/>
            <a:ext cx="8269287" cy="4846637"/>
          </a:xfrm>
        </p:spPr>
        <p:txBody>
          <a:bodyPr/>
          <a:lstStyle/>
          <a:p>
            <a:pPr marL="182563" indent="-182563">
              <a:lnSpc>
                <a:spcPct val="115000"/>
              </a:lnSpc>
              <a:buSzPct val="50000"/>
            </a:pPr>
            <a:r>
              <a:rPr lang="zh-CN" altLang="en-US" sz="2400" b="1">
                <a:latin typeface="Courier New" pitchFamily="49" charset="0"/>
              </a:rPr>
              <a:t>对</a:t>
            </a:r>
            <a:r>
              <a:rPr lang="zh-CN" altLang="en-US" sz="2400" b="1">
                <a:solidFill>
                  <a:srgbClr val="FF3399"/>
                </a:solidFill>
                <a:latin typeface="Courier New" pitchFamily="49" charset="0"/>
              </a:rPr>
              <a:t>全部</a:t>
            </a:r>
            <a:r>
              <a:rPr lang="zh-CN" altLang="en-US" sz="2400" b="1">
                <a:latin typeface="Courier New" pitchFamily="49" charset="0"/>
              </a:rPr>
              <a:t>元素赋初值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Courier New" pitchFamily="49" charset="0"/>
              </a:rPr>
              <a:t>可以不指定第一维的长度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Courier New" pitchFamily="49" charset="0"/>
              </a:rPr>
              <a:t>但要指定第二维的长度。</a:t>
            </a:r>
            <a:endParaRPr lang="zh-CN" altLang="en-US" sz="2400" b="1"/>
          </a:p>
          <a:p>
            <a:pPr marL="182563" indent="-182563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>
                <a:latin typeface="Courier New" pitchFamily="49" charset="0"/>
              </a:rPr>
              <a:t>  </a:t>
            </a:r>
            <a:r>
              <a:rPr lang="zh-CN" altLang="en-US" sz="2400" b="1">
                <a:latin typeface="Times New Roman" pitchFamily="18" charset="0"/>
              </a:rPr>
              <a:t>      </a:t>
            </a:r>
            <a:r>
              <a:rPr lang="zh-CN" altLang="zh-CN" sz="2400" b="1">
                <a:latin typeface="Arial" pitchFamily="34" charset="0"/>
              </a:rPr>
              <a:t>int  a</a:t>
            </a:r>
            <a:r>
              <a:rPr lang="zh-CN" altLang="zh-CN" sz="2400" b="1">
                <a:latin typeface="Courier New" pitchFamily="49" charset="0"/>
              </a:rPr>
              <a:t>[ ][</a:t>
            </a:r>
            <a:r>
              <a:rPr lang="zh-CN" altLang="zh-CN" sz="2400" b="1">
                <a:latin typeface="Arial" pitchFamily="34" charset="0"/>
              </a:rPr>
              <a:t>3</a:t>
            </a:r>
            <a:r>
              <a:rPr lang="zh-CN" altLang="zh-CN" sz="2400" b="1">
                <a:latin typeface="Courier New" pitchFamily="49" charset="0"/>
              </a:rPr>
              <a:t>]</a:t>
            </a:r>
            <a:r>
              <a:rPr lang="zh-CN" altLang="zh-CN" sz="2400" b="1"/>
              <a:t>=</a:t>
            </a:r>
            <a:r>
              <a:rPr lang="zh-CN" altLang="zh-CN" sz="2400"/>
              <a:t>{{</a:t>
            </a:r>
            <a:r>
              <a:rPr lang="zh-CN" altLang="zh-CN" sz="2400" b="1">
                <a:latin typeface="Arial" pitchFamily="34" charset="0"/>
              </a:rPr>
              <a:t>10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>
                <a:latin typeface="Arial" pitchFamily="34" charset="0"/>
              </a:rPr>
              <a:t>1</a:t>
            </a:r>
            <a:r>
              <a:rPr lang="zh-CN" altLang="zh-CN" sz="2400" b="1"/>
              <a:t>1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>
                <a:latin typeface="Arial" pitchFamily="34" charset="0"/>
              </a:rPr>
              <a:t>12</a:t>
            </a:r>
            <a:r>
              <a:rPr lang="zh-CN" altLang="zh-CN" sz="2400"/>
              <a:t>}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/>
              <a:t>{</a:t>
            </a:r>
            <a:r>
              <a:rPr lang="zh-CN" altLang="zh-CN" sz="2400" b="1">
                <a:latin typeface="Arial" pitchFamily="34" charset="0"/>
              </a:rPr>
              <a:t>13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>
                <a:latin typeface="Arial" pitchFamily="34" charset="0"/>
              </a:rPr>
              <a:t>14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>
                <a:latin typeface="Arial" pitchFamily="34" charset="0"/>
              </a:rPr>
              <a:t>15</a:t>
            </a:r>
            <a:r>
              <a:rPr lang="zh-CN" altLang="zh-CN" sz="2400"/>
              <a:t>}}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400" b="1"/>
              <a:t>  </a:t>
            </a:r>
          </a:p>
          <a:p>
            <a:pPr marL="182563" indent="-182563">
              <a:lnSpc>
                <a:spcPct val="110000"/>
              </a:lnSpc>
              <a:spcBef>
                <a:spcPct val="45000"/>
              </a:spcBef>
              <a:buNone/>
            </a:pPr>
            <a:r>
              <a:rPr lang="zh-CN" altLang="zh-CN" sz="2400" b="1"/>
              <a:t>         </a:t>
            </a:r>
            <a:r>
              <a:rPr lang="zh-CN" altLang="zh-CN" sz="2400" b="1">
                <a:latin typeface="Arial" pitchFamily="34" charset="0"/>
              </a:rPr>
              <a:t>int  a</a:t>
            </a:r>
            <a:r>
              <a:rPr lang="zh-CN" altLang="zh-CN" sz="2400" b="1">
                <a:latin typeface="Courier New" pitchFamily="49" charset="0"/>
              </a:rPr>
              <a:t>[ ][</a:t>
            </a:r>
            <a:r>
              <a:rPr lang="zh-CN" altLang="zh-CN" sz="2400" b="1">
                <a:latin typeface="Arial" pitchFamily="34" charset="0"/>
              </a:rPr>
              <a:t>3</a:t>
            </a:r>
            <a:r>
              <a:rPr lang="zh-CN" altLang="zh-CN" sz="2400" b="1">
                <a:latin typeface="Courier New" pitchFamily="49" charset="0"/>
              </a:rPr>
              <a:t>]</a:t>
            </a:r>
            <a:r>
              <a:rPr lang="zh-CN" altLang="zh-CN" sz="2400" b="1"/>
              <a:t>=</a:t>
            </a:r>
            <a:r>
              <a:rPr lang="zh-CN" altLang="zh-CN" sz="2400"/>
              <a:t>{</a:t>
            </a:r>
            <a:r>
              <a:rPr lang="zh-CN" altLang="zh-CN" sz="2400" b="1">
                <a:latin typeface="Arial" pitchFamily="34" charset="0"/>
              </a:rPr>
              <a:t>10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>
                <a:latin typeface="Arial" pitchFamily="34" charset="0"/>
              </a:rPr>
              <a:t>11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>
                <a:latin typeface="Arial" pitchFamily="34" charset="0"/>
              </a:rPr>
              <a:t>12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>
                <a:latin typeface="Arial" pitchFamily="34" charset="0"/>
              </a:rPr>
              <a:t>13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>
                <a:latin typeface="Arial" pitchFamily="34" charset="0"/>
              </a:rPr>
              <a:t>14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>
                <a:latin typeface="Arial" pitchFamily="34" charset="0"/>
              </a:rPr>
              <a:t>15</a:t>
            </a:r>
            <a:r>
              <a:rPr lang="zh-CN" altLang="zh-CN" sz="2400"/>
              <a:t>}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400" b="1"/>
              <a:t> </a:t>
            </a:r>
          </a:p>
        </p:txBody>
      </p:sp>
      <p:graphicFrame>
        <p:nvGraphicFramePr>
          <p:cNvPr id="347140" name="Group 4"/>
          <p:cNvGraphicFramePr>
            <a:graphicFrameLocks noGrp="1"/>
          </p:cNvGraphicFramePr>
          <p:nvPr/>
        </p:nvGraphicFramePr>
        <p:xfrm>
          <a:off x="3775075" y="3740150"/>
          <a:ext cx="4319588" cy="18288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a[0][0]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a[0][1]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a[0][2]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10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11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12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a[1][0]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a[1][1]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a[1][2]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13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14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黑体" pitchFamily="49" charset="-122"/>
                        </a:rPr>
                        <a:t>15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Dotum" pitchFamily="34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7162" name="Text Box 26"/>
          <p:cNvSpPr txBox="1">
            <a:spLocks noChangeArrowheads="1"/>
          </p:cNvSpPr>
          <p:nvPr/>
        </p:nvSpPr>
        <p:spPr bwMode="auto">
          <a:xfrm>
            <a:off x="2270126" y="3651251"/>
            <a:ext cx="8094663" cy="18281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Courier New" pitchFamily="49" charset="0"/>
              </a:rPr>
              <a:t>省略第一维的长度时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也可</a:t>
            </a:r>
            <a:r>
              <a:rPr lang="zh-CN" altLang="en-US" sz="2400" b="1" dirty="0">
                <a:solidFill>
                  <a:srgbClr val="000000"/>
                </a:solidFill>
                <a:latin typeface="Courier New" pitchFamily="49" charset="0"/>
              </a:rPr>
              <a:t>对</a:t>
            </a:r>
            <a:r>
              <a:rPr lang="zh-CN" altLang="en-US" sz="2400" b="1" dirty="0">
                <a:solidFill>
                  <a:srgbClr val="FF3399"/>
                </a:solidFill>
                <a:latin typeface="黑体" pitchFamily="49" charset="-122"/>
              </a:rPr>
              <a:t>部分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元素赋初值</a:t>
            </a:r>
            <a:endParaRPr lang="en-US" altLang="zh-CN" sz="2400" b="1" dirty="0">
              <a:solidFill>
                <a:srgbClr val="000000"/>
              </a:solidFill>
              <a:latin typeface="黑体" pitchFamily="49" charset="-122"/>
            </a:endParaRP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宋体" pitchFamily="2" charset="-122"/>
              </a:rPr>
              <a:t>     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int  a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[ ][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4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]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{{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2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3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0</a:t>
            </a:r>
            <a:r>
              <a:rPr lang="zh-CN" altLang="zh-CN" sz="2400" dirty="0">
                <a:solidFill>
                  <a:srgbClr val="000000"/>
                </a:solidFill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dirty="0">
                <a:solidFill>
                  <a:srgbClr val="000000"/>
                </a:solidFill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 10</a:t>
            </a:r>
            <a:r>
              <a:rPr lang="zh-CN" altLang="zh-CN" sz="2400" dirty="0">
                <a:solidFill>
                  <a:srgbClr val="000000"/>
                </a:solidFill>
              </a:rPr>
              <a:t>}}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</a:t>
            </a:r>
          </a:p>
          <a:p>
            <a:pPr fontAlgn="base">
              <a:lnSpc>
                <a:spcPct val="115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endParaRPr lang="zh-CN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endParaRPr lang="zh-CN" altLang="zh-CN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347163" name="Group 27"/>
          <p:cNvGrpSpPr>
            <a:grpSpLocks/>
          </p:cNvGrpSpPr>
          <p:nvPr/>
        </p:nvGrpSpPr>
        <p:grpSpPr bwMode="auto">
          <a:xfrm>
            <a:off x="8442325" y="4543425"/>
            <a:ext cx="1525588" cy="877456"/>
            <a:chOff x="0" y="0"/>
            <a:chExt cx="961" cy="579"/>
          </a:xfrm>
        </p:grpSpPr>
        <p:grpSp>
          <p:nvGrpSpPr>
            <p:cNvPr id="347164" name="Group 28"/>
            <p:cNvGrpSpPr>
              <a:grpSpLocks/>
            </p:cNvGrpSpPr>
            <p:nvPr/>
          </p:nvGrpSpPr>
          <p:grpSpPr bwMode="auto">
            <a:xfrm>
              <a:off x="0" y="0"/>
              <a:ext cx="961" cy="579"/>
              <a:chOff x="0" y="0"/>
              <a:chExt cx="961" cy="579"/>
            </a:xfrm>
          </p:grpSpPr>
          <p:sp>
            <p:nvSpPr>
              <p:cNvPr id="347165" name="Text Box 29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961" cy="5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fontAlgn="base">
                  <a:lnSpc>
                    <a:spcPct val="85000"/>
                  </a:lnSpc>
                  <a:spcBef>
                    <a:spcPct val="55000"/>
                  </a:spcBef>
                  <a:spcAft>
                    <a:spcPct val="0"/>
                  </a:spcAft>
                </a:pPr>
                <a:r>
                  <a:rPr lang="zh-CN" altLang="zh-CN" sz="2000" b="1">
                    <a:solidFill>
                      <a:srgbClr val="2F2FBD"/>
                    </a:solidFill>
                    <a:latin typeface="Tahoma" pitchFamily="34" charset="0"/>
                  </a:rPr>
                  <a:t>1   2   3   0</a:t>
                </a:r>
              </a:p>
              <a:p>
                <a:pPr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b="1">
                    <a:solidFill>
                      <a:srgbClr val="2F2FBD"/>
                    </a:solidFill>
                    <a:latin typeface="Tahoma" pitchFamily="34" charset="0"/>
                  </a:rPr>
                  <a:t>0   0   0   0</a:t>
                </a:r>
              </a:p>
              <a:p>
                <a:pPr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b="1">
                    <a:solidFill>
                      <a:srgbClr val="2F2FBD"/>
                    </a:solidFill>
                    <a:latin typeface="Tahoma" pitchFamily="34" charset="0"/>
                  </a:rPr>
                  <a:t>0  10  0   0</a:t>
                </a:r>
              </a:p>
            </p:txBody>
          </p:sp>
          <p:sp>
            <p:nvSpPr>
              <p:cNvPr id="347166" name="AutoShape 30"/>
              <p:cNvSpPr>
                <a:spLocks/>
              </p:cNvSpPr>
              <p:nvPr/>
            </p:nvSpPr>
            <p:spPr bwMode="auto">
              <a:xfrm>
                <a:off x="896" y="20"/>
                <a:ext cx="45" cy="526"/>
              </a:xfrm>
              <a:prstGeom prst="rightBracket">
                <a:avLst>
                  <a:gd name="adj" fmla="val 155473"/>
                </a:avLst>
              </a:prstGeom>
              <a:noFill/>
              <a:ln w="222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347167" name="AutoShape 31"/>
            <p:cNvSpPr>
              <a:spLocks/>
            </p:cNvSpPr>
            <p:nvPr/>
          </p:nvSpPr>
          <p:spPr bwMode="auto">
            <a:xfrm>
              <a:off x="5" y="5"/>
              <a:ext cx="46" cy="526"/>
            </a:xfrm>
            <a:prstGeom prst="leftBracket">
              <a:avLst>
                <a:gd name="adj" fmla="val 95290"/>
              </a:avLst>
            </a:prstGeom>
            <a:noFill/>
            <a:ln w="222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347168" name="Line 32"/>
          <p:cNvSpPr>
            <a:spLocks noChangeShapeType="1"/>
          </p:cNvSpPr>
          <p:nvPr/>
        </p:nvSpPr>
        <p:spPr bwMode="auto">
          <a:xfrm>
            <a:off x="5349875" y="2733676"/>
            <a:ext cx="1144588" cy="9525"/>
          </a:xfrm>
          <a:prstGeom prst="line">
            <a:avLst/>
          </a:prstGeom>
          <a:noFill/>
          <a:ln w="22225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7169" name="Line 33"/>
          <p:cNvSpPr>
            <a:spLocks noChangeShapeType="1"/>
          </p:cNvSpPr>
          <p:nvPr/>
        </p:nvSpPr>
        <p:spPr bwMode="auto">
          <a:xfrm>
            <a:off x="6969126" y="2714625"/>
            <a:ext cx="1109663" cy="0"/>
          </a:xfrm>
          <a:prstGeom prst="line">
            <a:avLst/>
          </a:prstGeom>
          <a:noFill/>
          <a:ln w="22225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7170" name="Line 34"/>
          <p:cNvSpPr>
            <a:spLocks noChangeShapeType="1"/>
          </p:cNvSpPr>
          <p:nvPr/>
        </p:nvSpPr>
        <p:spPr bwMode="auto">
          <a:xfrm flipV="1">
            <a:off x="5227639" y="3319463"/>
            <a:ext cx="1196975" cy="0"/>
          </a:xfrm>
          <a:prstGeom prst="line">
            <a:avLst/>
          </a:prstGeom>
          <a:noFill/>
          <a:ln w="22225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7171" name="Line 35"/>
          <p:cNvSpPr>
            <a:spLocks noChangeShapeType="1"/>
          </p:cNvSpPr>
          <p:nvPr/>
        </p:nvSpPr>
        <p:spPr bwMode="auto">
          <a:xfrm>
            <a:off x="6681788" y="3319463"/>
            <a:ext cx="1223962" cy="0"/>
          </a:xfrm>
          <a:prstGeom prst="line">
            <a:avLst/>
          </a:prstGeom>
          <a:noFill/>
          <a:ln w="22225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7172" name="Text Box 36"/>
          <p:cNvSpPr txBox="1">
            <a:spLocks noChangeArrowheads="1"/>
          </p:cNvSpPr>
          <p:nvPr/>
        </p:nvSpPr>
        <p:spPr bwMode="auto">
          <a:xfrm>
            <a:off x="3789364" y="2319338"/>
            <a:ext cx="39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3399"/>
                </a:solidFill>
                <a:latin typeface="Arial" pitchFamily="34" charset="0"/>
                <a:ea typeface="Dotum" pitchFamily="34" charset="-127"/>
              </a:rPr>
              <a:t>2</a:t>
            </a:r>
          </a:p>
        </p:txBody>
      </p:sp>
      <p:sp>
        <p:nvSpPr>
          <p:cNvPr id="347173" name="Text Box 37"/>
          <p:cNvSpPr txBox="1">
            <a:spLocks noChangeArrowheads="1"/>
          </p:cNvSpPr>
          <p:nvPr/>
        </p:nvSpPr>
        <p:spPr bwMode="auto">
          <a:xfrm>
            <a:off x="3775076" y="2905125"/>
            <a:ext cx="360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3399"/>
                </a:solidFill>
                <a:latin typeface="Arial" pitchFamily="34" charset="0"/>
                <a:ea typeface="Dotum" pitchFamily="34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63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62" grpId="0" animBg="1" autoUpdateAnimBg="0"/>
      <p:bldP spid="347172" grpId="0" autoUpdateAnimBg="0"/>
      <p:bldP spid="34717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28F247F-473B-44DE-84E9-4C2680679B0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762000" indent="-762000" algn="just">
              <a:buNone/>
            </a:pPr>
            <a:r>
              <a:rPr lang="zh-CN" altLang="zh-CN" sz="2800" b="1"/>
              <a:t> </a:t>
            </a:r>
            <a:r>
              <a:rPr lang="en-US" altLang="zh-CN" sz="2800" b="1"/>
              <a:t>      </a:t>
            </a:r>
            <a:r>
              <a:rPr lang="zh-CN" altLang="zh-CN" sz="2800" b="1">
                <a:latin typeface="Arial" pitchFamily="34" charset="0"/>
              </a:rPr>
              <a:t>#define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3</a:t>
            </a:r>
          </a:p>
          <a:p>
            <a:pPr marL="762000" indent="-762000" algn="just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zh-CN" sz="2800" b="1"/>
              <a:t>       </a:t>
            </a:r>
            <a:r>
              <a:rPr lang="zh-CN" altLang="zh-CN" sz="2800" b="1">
                <a:latin typeface="Arial" pitchFamily="34" charset="0"/>
              </a:rPr>
              <a:t>#define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M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2</a:t>
            </a:r>
          </a:p>
          <a:p>
            <a:pPr marL="762000" indent="-762000" algn="just">
              <a:lnSpc>
                <a:spcPct val="105000"/>
              </a:lnSpc>
              <a:spcBef>
                <a:spcPct val="30000"/>
              </a:spcBef>
              <a:buNone/>
            </a:pPr>
            <a:r>
              <a:rPr lang="zh-CN" altLang="zh-CN" sz="2800" b="1"/>
              <a:t>       </a:t>
            </a:r>
            <a:r>
              <a:rPr lang="zh-CN" altLang="zh-CN" sz="2800" b="1">
                <a:latin typeface="Arial" pitchFamily="34" charset="0"/>
              </a:rPr>
              <a:t>float</a:t>
            </a:r>
            <a:r>
              <a:rPr lang="zh-CN" altLang="zh-CN" sz="2800" b="1"/>
              <a:t>  s</a:t>
            </a:r>
            <a:r>
              <a:rPr lang="zh-CN" altLang="zh-CN" sz="2800"/>
              <a:t>[</a:t>
            </a:r>
            <a:r>
              <a:rPr lang="zh-CN" altLang="zh-CN" sz="2800" b="1">
                <a:latin typeface="Arial" pitchFamily="34" charset="0"/>
              </a:rPr>
              <a:t>M</a:t>
            </a:r>
            <a:r>
              <a:rPr lang="zh-CN" altLang="zh-CN" sz="2800"/>
              <a:t>][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/>
              <a:t>]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 marL="762000" indent="-762000" algn="just">
              <a:lnSpc>
                <a:spcPct val="145000"/>
              </a:lnSpc>
              <a:spcBef>
                <a:spcPct val="50000"/>
              </a:spcBef>
              <a:buNone/>
            </a:pPr>
            <a:r>
              <a:rPr lang="zh-CN" altLang="zh-CN" sz="2800" b="1"/>
              <a:t>      </a:t>
            </a:r>
            <a:r>
              <a:rPr lang="zh-CN" altLang="zh-CN" sz="2400" b="1"/>
              <a:t>  </a:t>
            </a:r>
            <a:r>
              <a:rPr lang="zh-CN" altLang="en-US" sz="2800" b="1"/>
              <a:t>即定义了一个</a:t>
            </a:r>
            <a:r>
              <a:rPr lang="zh-CN" altLang="en-US" sz="2800" b="1">
                <a:solidFill>
                  <a:srgbClr val="639EF4"/>
                </a:solidFill>
              </a:rPr>
              <a:t> </a:t>
            </a:r>
            <a:r>
              <a:rPr lang="en-US" altLang="zh-CN" sz="2800" b="1">
                <a:solidFill>
                  <a:srgbClr val="639EF4"/>
                </a:solidFill>
              </a:rPr>
              <a:t>[</a:t>
            </a:r>
            <a:r>
              <a:rPr lang="zh-CN" altLang="en-US" sz="2800" b="1">
                <a:solidFill>
                  <a:srgbClr val="639EF4"/>
                </a:solidFill>
              </a:rPr>
              <a:t>填空</a:t>
            </a:r>
            <a:r>
              <a:rPr lang="en-US" altLang="zh-CN" sz="2800" b="1">
                <a:solidFill>
                  <a:srgbClr val="639EF4"/>
                </a:solidFill>
              </a:rPr>
              <a:t>1]</a:t>
            </a:r>
            <a:r>
              <a:rPr lang="en-US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/>
              <a:t>类型数组</a:t>
            </a:r>
            <a:r>
              <a:rPr lang="zh-CN" altLang="zh-CN" sz="2800" b="1"/>
              <a:t>s</a:t>
            </a:r>
            <a:endParaRPr lang="en-US" altLang="zh-CN" sz="2800" b="1">
              <a:latin typeface="Times New Roman" pitchFamily="18" charset="0"/>
            </a:endParaRPr>
          </a:p>
          <a:p>
            <a:pPr marL="762000" indent="-762000" algn="just">
              <a:lnSpc>
                <a:spcPct val="145000"/>
              </a:lnSpc>
              <a:spcBef>
                <a:spcPct val="50000"/>
              </a:spcBef>
              <a:buNone/>
            </a:pPr>
            <a:r>
              <a:rPr lang="en-US" altLang="zh-CN" sz="2800" b="1">
                <a:latin typeface="Times New Roman" pitchFamily="18" charset="0"/>
              </a:rPr>
              <a:t>         </a:t>
            </a:r>
            <a:r>
              <a:rPr lang="zh-CN" altLang="en-US" sz="2800" b="1"/>
              <a:t>数组</a:t>
            </a:r>
            <a:r>
              <a:rPr lang="zh-CN" altLang="zh-CN" sz="2800" b="1"/>
              <a:t>s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长度</a:t>
            </a:r>
            <a:r>
              <a:rPr lang="zh-CN" altLang="en-US" sz="2800" b="1"/>
              <a:t>（元素个数）为</a:t>
            </a:r>
            <a:r>
              <a:rPr lang="zh-CN" altLang="en-US" sz="2800" b="1">
                <a:solidFill>
                  <a:srgbClr val="639EF4"/>
                </a:solidFill>
              </a:rPr>
              <a:t> </a:t>
            </a:r>
            <a:r>
              <a:rPr lang="en-US" altLang="zh-CN" sz="2800" b="1">
                <a:solidFill>
                  <a:srgbClr val="639EF4"/>
                </a:solidFill>
              </a:rPr>
              <a:t>[</a:t>
            </a:r>
            <a:r>
              <a:rPr lang="zh-CN" altLang="en-US" sz="2800" b="1">
                <a:solidFill>
                  <a:srgbClr val="639EF4"/>
                </a:solidFill>
              </a:rPr>
              <a:t>填空</a:t>
            </a:r>
            <a:r>
              <a:rPr lang="en-US" altLang="zh-CN" sz="2800" b="1">
                <a:solidFill>
                  <a:srgbClr val="639EF4"/>
                </a:solidFill>
              </a:rPr>
              <a:t>2]</a:t>
            </a:r>
            <a:r>
              <a:rPr lang="en-US" altLang="zh-CN" sz="2800" b="1">
                <a:solidFill>
                  <a:srgbClr val="000000"/>
                </a:solidFill>
              </a:rPr>
              <a:t> </a:t>
            </a:r>
          </a:p>
          <a:p>
            <a:pPr marL="762000" indent="-762000" algn="just">
              <a:lnSpc>
                <a:spcPct val="145000"/>
              </a:lnSpc>
              <a:spcBef>
                <a:spcPct val="50000"/>
              </a:spcBef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最后一个元素为</a:t>
            </a:r>
            <a:r>
              <a:rPr lang="zh-CN" altLang="en-US" sz="2800" b="1" u="sng"/>
              <a:t> </a:t>
            </a:r>
            <a:r>
              <a:rPr lang="zh-CN" altLang="en-US" sz="2800" b="1" u="sng">
                <a:solidFill>
                  <a:srgbClr val="639EF4"/>
                </a:solidFill>
              </a:rPr>
              <a:t> </a:t>
            </a:r>
            <a:r>
              <a:rPr lang="en-US" altLang="zh-CN" sz="2800" b="1" u="sng">
                <a:solidFill>
                  <a:srgbClr val="639EF4"/>
                </a:solidFill>
              </a:rPr>
              <a:t>[</a:t>
            </a:r>
            <a:r>
              <a:rPr lang="zh-CN" altLang="en-US" sz="2800" b="1" u="sng">
                <a:solidFill>
                  <a:srgbClr val="639EF4"/>
                </a:solidFill>
              </a:rPr>
              <a:t>填空</a:t>
            </a:r>
            <a:r>
              <a:rPr lang="en-US" altLang="zh-CN" sz="2800" b="1" u="sng">
                <a:solidFill>
                  <a:srgbClr val="639EF4"/>
                </a:solidFill>
              </a:rPr>
              <a:t>3]</a:t>
            </a:r>
            <a:r>
              <a:rPr lang="en-US" altLang="zh-CN" sz="2800" b="1" u="sng">
                <a:solidFill>
                  <a:srgbClr val="000000"/>
                </a:solidFill>
              </a:rPr>
              <a:t> </a:t>
            </a:r>
            <a:endParaRPr lang="zh-CN" altLang="en-US" sz="28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6EEEB6E-056B-4655-A44B-2A2B709D188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4D90C53-47A9-494E-8228-25D92ED2234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1B082CDD-8AD1-4422-9D25-AF060732BF0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D8EA7381-2C06-4BE6-8E34-62D2B30398F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D649FD0-8B15-4519-B116-EF1ACF20CBD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4A109E8-E513-4B53-A8AA-D4B955C7236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755BB20-35AC-4ED4-8084-A198C8BDACA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7938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BF4DD79-E340-4F7E-5687-FE05219D3E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a[][3]={1,2,3,4,5,6},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a[1][1]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2B0E13-7E0A-079B-031E-62CF6C17D6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39109" y="3643311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250D75-7276-4809-D45C-B15E10D5DC2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39109" y="4500561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5EF260-321B-AF94-B0C4-DF56593E065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328248" y="3579018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1124FB-8D62-25EA-D221-C5AFEE08B5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328248" y="4436268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8A9CC74-1672-61BA-A4C8-4245769A6D2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572334" y="370760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CA3820B-F8E1-623E-396C-8DA20E9AD1A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572334" y="456485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05FE54A-1024-83EB-633A-85463CFAB14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461473" y="364331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1AFC92B-0967-DD21-8B96-A1CD92BF64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461473" y="4500561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A90E5F-5AE8-38F0-3478-C16DE4A67FE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1F53516-B99C-086F-3128-60AF979277E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A32DB72-C344-10A2-3B85-D707A7190E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23EC458-5653-E60C-68DA-624DFBF8E1F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D4FA312-8450-04BD-8451-F09C3FEF76A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678B2CB-DDC9-C70D-B6A2-F0B390B0092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48EFD8A-AE6E-77A1-BFF9-A3810F7268D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8705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BF4DD79-E340-4F7E-5687-FE05219D3E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在定义 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a[5][6]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后，数组中第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个元素是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2B0E13-7E0A-079B-031E-62CF6C17D6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67608" y="3321843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a[2][3]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250D75-7276-4809-D45C-B15E10D5DC2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67608" y="4179093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a[2][4]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5EF260-321B-AF94-B0C4-DF56593E065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680176" y="3107531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a[1][3]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1124FB-8D62-25EA-D221-C5AFEE08B5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680176" y="3964781"/>
            <a:ext cx="15693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a[1][4]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8A9CC74-1672-61BA-A4C8-4245769A6D2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700833" y="338613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CA3820B-F8E1-623E-396C-8DA20E9AD1A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700833" y="424338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05FE54A-1024-83EB-633A-85463CFAB14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813401" y="3171824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1AFC92B-0967-DD21-8B96-A1CD92BF64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813401" y="402907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A90E5F-5AE8-38F0-3478-C16DE4A67FE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1F53516-B99C-086F-3128-60AF979277E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A32DB72-C344-10A2-3B85-D707A7190E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23EC458-5653-E60C-68DA-624DFBF8E1F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D4FA312-8450-04BD-8451-F09C3FEF76A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678B2CB-DDC9-C70D-B6A2-F0B390B0092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48EFD8A-AE6E-77A1-BFF9-A3810F7268D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3828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228F9C-2F55-0B48-F209-5A6CE77CCFA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10718800" cy="50923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以下程序的执行结果为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int a[4][4]={{1,3,5},{2,4,6},{3,5,7}};</a:t>
            </a:r>
          </a:p>
          <a:p>
            <a:endParaRPr lang="en-US" altLang="zh-CN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  <a:r>
              <a:rPr lang="en-US" altLang="zh-CN" sz="32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pt-BR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"%d%d%d%d\n",a[0][3],a[1][2],a[2][1],a[3][0]);</a:t>
            </a:r>
          </a:p>
          <a:p>
            <a:r>
              <a:rPr lang="pt-BR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9D3A2B-AE73-5F49-1BF3-6662F031D31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70294E-2F5E-D4ED-DC8F-B575145F0AA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6302F38-8A42-55F3-2686-1FD7D1D648E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B1ADB4FF-4DA0-4764-6C26-2E39B2E7B9B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BD2F74E-563C-3DF9-65D3-C9C31D8BFE5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6B163787-581F-B764-BBF8-18F308AD869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E7AD3BF-3826-DE47-75DB-D0D96E077B6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280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20925" y="147639"/>
            <a:ext cx="7239000" cy="650875"/>
          </a:xfrm>
        </p:spPr>
        <p:txBody>
          <a:bodyPr/>
          <a:lstStyle/>
          <a:p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求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</a:rPr>
              <a:t>下列矩阵 </a:t>
            </a:r>
            <a:r>
              <a:rPr lang="zh-CN" altLang="zh-CN" sz="2800" dirty="0">
                <a:latin typeface="Arial" pitchFamily="34" charset="0"/>
                <a:ea typeface="黑体" pitchFamily="49" charset="-122"/>
              </a:rPr>
              <a:t>a</a:t>
            </a:r>
            <a:r>
              <a:rPr lang="zh-CN" altLang="zh-CN" sz="2800" dirty="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</a:rPr>
              <a:t>的转置矩阵 </a:t>
            </a:r>
            <a:r>
              <a:rPr lang="zh-CN" altLang="zh-CN" sz="2800" dirty="0">
                <a:latin typeface="Arial" pitchFamily="34" charset="0"/>
                <a:ea typeface="黑体" pitchFamily="49" charset="-122"/>
              </a:rPr>
              <a:t>b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8514" y="1206500"/>
            <a:ext cx="8269287" cy="4078288"/>
          </a:xfrm>
        </p:spPr>
        <p:txBody>
          <a:bodyPr/>
          <a:lstStyle/>
          <a:p>
            <a:pPr marL="193675" indent="-193675">
              <a:lnSpc>
                <a:spcPct val="115000"/>
              </a:lnSpc>
              <a:buSzPct val="50000"/>
            </a:pPr>
            <a:r>
              <a:rPr lang="zh-CN" altLang="en-US" sz="2400" b="1">
                <a:latin typeface="黑体" pitchFamily="49" charset="-122"/>
              </a:rPr>
              <a:t>分析</a:t>
            </a:r>
            <a:r>
              <a:rPr lang="zh-CN" altLang="zh-CN" sz="2400" b="1">
                <a:latin typeface="Times New Roman" pitchFamily="18" charset="0"/>
              </a:rPr>
              <a:t>:</a:t>
            </a:r>
            <a:r>
              <a:rPr lang="zh-CN" altLang="zh-CN" sz="2400" b="1">
                <a:latin typeface="黑体" pitchFamily="49" charset="-122"/>
              </a:rPr>
              <a:t> </a:t>
            </a:r>
            <a:r>
              <a:rPr lang="zh-CN" altLang="en-US" sz="2400" b="1">
                <a:latin typeface="黑体" pitchFamily="49" charset="-122"/>
              </a:rPr>
              <a:t>将一个二维数组</a:t>
            </a:r>
            <a:r>
              <a:rPr lang="zh-CN" altLang="zh-CN" sz="2400" b="1">
                <a:latin typeface="黑体" pitchFamily="49" charset="-122"/>
              </a:rPr>
              <a:t>a</a:t>
            </a:r>
            <a:r>
              <a:rPr lang="zh-CN" altLang="en-US" sz="2400" b="1">
                <a:latin typeface="黑体" pitchFamily="49" charset="-122"/>
              </a:rPr>
              <a:t>行和列元素互换后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黑体" pitchFamily="49" charset="-122"/>
              </a:rPr>
              <a:t>存到另一个二维数组</a:t>
            </a:r>
            <a:r>
              <a:rPr lang="zh-CN" altLang="zh-CN" sz="2400" b="1">
                <a:latin typeface="黑体" pitchFamily="49" charset="-122"/>
              </a:rPr>
              <a:t>b</a:t>
            </a:r>
            <a:r>
              <a:rPr lang="zh-CN" altLang="en-US" sz="2400" b="1">
                <a:latin typeface="黑体" pitchFamily="49" charset="-122"/>
              </a:rPr>
              <a:t>中。</a:t>
            </a:r>
          </a:p>
          <a:p>
            <a:pPr marL="193675" indent="-193675">
              <a:spcBef>
                <a:spcPct val="25000"/>
              </a:spcBef>
              <a:buNone/>
            </a:pPr>
            <a:r>
              <a:rPr lang="zh-CN" altLang="en-US" sz="2800" b="1">
                <a:latin typeface="黑体" pitchFamily="49" charset="-122"/>
              </a:rPr>
              <a:t>  </a:t>
            </a:r>
            <a:r>
              <a:rPr lang="zh-CN" altLang="en-US" sz="1200" b="1">
                <a:latin typeface="黑体" pitchFamily="49" charset="-122"/>
              </a:rPr>
              <a:t>  </a:t>
            </a:r>
            <a:endParaRPr lang="zh-CN" altLang="en-US" sz="2800" b="1">
              <a:latin typeface="Times New Roman" pitchFamily="18" charset="0"/>
            </a:endParaRPr>
          </a:p>
          <a:p>
            <a:pPr marL="193675" indent="-193675">
              <a:buNone/>
            </a:pPr>
            <a:endParaRPr lang="zh-CN" altLang="zh-CN" sz="2800" b="1">
              <a:latin typeface="黑体" pitchFamily="49" charset="-122"/>
            </a:endParaRPr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5486400" y="26812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816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630364" y="765175"/>
            <a:ext cx="504825" cy="287338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8166" name="Rectangle 6"/>
          <p:cNvSpPr>
            <a:spLocks noChangeArrowheads="1"/>
          </p:cNvSpPr>
          <p:nvPr/>
        </p:nvSpPr>
        <p:spPr bwMode="auto">
          <a:xfrm>
            <a:off x="2133600" y="5484813"/>
            <a:ext cx="3906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3675" indent="-193675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关系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1600" b="1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0000"/>
                </a:solidFill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][</a:t>
            </a:r>
            <a:r>
              <a:rPr lang="zh-CN" altLang="zh-CN" sz="2400" b="1">
                <a:solidFill>
                  <a:srgbClr val="000000"/>
                </a:solidFill>
              </a:rPr>
              <a:t>j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]</a:t>
            </a:r>
            <a:r>
              <a:rPr lang="zh-CN" altLang="zh-CN" sz="2400" b="1">
                <a:solidFill>
                  <a:srgbClr val="000000"/>
                </a:solidFill>
              </a:rPr>
              <a:t>== b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zh-CN" altLang="zh-CN" sz="2400" b="1">
                <a:solidFill>
                  <a:srgbClr val="000000"/>
                </a:solidFill>
              </a:rPr>
              <a:t>j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][</a:t>
            </a:r>
            <a:r>
              <a:rPr lang="zh-CN" altLang="zh-CN" sz="2400" b="1">
                <a:solidFill>
                  <a:srgbClr val="000000"/>
                </a:solidFill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348167" name="Rectangle 7"/>
          <p:cNvSpPr>
            <a:spLocks noChangeArrowheads="1"/>
          </p:cNvSpPr>
          <p:nvPr/>
        </p:nvSpPr>
        <p:spPr bwMode="auto">
          <a:xfrm>
            <a:off x="6397625" y="5521325"/>
            <a:ext cx="402113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3675" indent="-193675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85000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实现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400" b="1">
                <a:solidFill>
                  <a:srgbClr val="000000"/>
                </a:solidFill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b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j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][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400" b="1" baseline="-10000">
                <a:solidFill>
                  <a:srgbClr val="000000"/>
                </a:solidFill>
              </a:rPr>
              <a:t> </a:t>
            </a:r>
            <a:r>
              <a:rPr lang="zh-CN" altLang="zh-CN" sz="2400" b="1">
                <a:solidFill>
                  <a:srgbClr val="000000"/>
                </a:solidFill>
              </a:rPr>
              <a:t>=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[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][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j</a:t>
            </a:r>
            <a:r>
              <a:rPr lang="zh-CN" altLang="zh-CN" sz="2400" b="1">
                <a:solidFill>
                  <a:srgbClr val="000000"/>
                </a:solidFill>
                <a:latin typeface="Courier New" pitchFamily="49" charset="0"/>
                <a:ea typeface="Dotum" pitchFamily="34" charset="-127"/>
              </a:rPr>
              <a:t>]</a:t>
            </a:r>
            <a:r>
              <a:rPr lang="zh-CN" altLang="zh-CN" sz="2400" b="1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348168" name="Object 8"/>
          <p:cNvGraphicFramePr>
            <a:graphicFrameLocks noChangeAspect="1"/>
          </p:cNvGraphicFramePr>
          <p:nvPr/>
        </p:nvGraphicFramePr>
        <p:xfrm>
          <a:off x="3257551" y="2454276"/>
          <a:ext cx="15843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r:id="rId3" imgW="914717" imgH="457517" progId="Equation.3">
                  <p:embed/>
                </p:oleObj>
              </mc:Choice>
              <mc:Fallback>
                <p:oleObj r:id="rId3" imgW="914717" imgH="4575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1" y="2454276"/>
                        <a:ext cx="15843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9" name="Object 9"/>
          <p:cNvGraphicFramePr>
            <a:graphicFrameLocks noChangeAspect="1"/>
          </p:cNvGraphicFramePr>
          <p:nvPr/>
        </p:nvGraphicFramePr>
        <p:xfrm>
          <a:off x="6681788" y="2108200"/>
          <a:ext cx="12493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r:id="rId5" imgW="685819" imgH="711208" progId="Equation.3">
                  <p:embed/>
                </p:oleObj>
              </mc:Choice>
              <mc:Fallback>
                <p:oleObj r:id="rId5" imgW="685819" imgH="7112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8" y="2108200"/>
                        <a:ext cx="124936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70" name="AutoShape 10"/>
          <p:cNvSpPr>
            <a:spLocks noChangeArrowheads="1"/>
          </p:cNvSpPr>
          <p:nvPr/>
        </p:nvSpPr>
        <p:spPr bwMode="auto">
          <a:xfrm>
            <a:off x="2476500" y="3832225"/>
            <a:ext cx="3024188" cy="1295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mpd="sng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8000"/>
                </a:solidFill>
              </a:rPr>
              <a:t>a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的第</a:t>
            </a:r>
            <a:r>
              <a:rPr lang="zh-CN" altLang="zh-CN" sz="2400" b="1">
                <a:solidFill>
                  <a:srgbClr val="008000"/>
                </a:solidFill>
              </a:rPr>
              <a:t>i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行第</a:t>
            </a:r>
            <a:r>
              <a:rPr lang="zh-CN" altLang="zh-CN" sz="2400" b="1">
                <a:solidFill>
                  <a:srgbClr val="008000"/>
                </a:solidFill>
              </a:rPr>
              <a:t>j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列的元素</a:t>
            </a:r>
          </a:p>
          <a:p>
            <a:pPr algn="ctr" fontAlgn="base"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等于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8000"/>
                </a:solidFill>
              </a:rPr>
              <a:t>b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的第</a:t>
            </a:r>
            <a:r>
              <a:rPr lang="zh-CN" altLang="zh-CN" sz="2400" b="1">
                <a:solidFill>
                  <a:srgbClr val="008000"/>
                </a:solidFill>
              </a:rPr>
              <a:t>j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行第</a:t>
            </a:r>
            <a:r>
              <a:rPr lang="zh-CN" altLang="zh-CN" sz="2400" b="1">
                <a:solidFill>
                  <a:srgbClr val="008000"/>
                </a:solidFill>
              </a:rPr>
              <a:t>i</a:t>
            </a:r>
            <a:r>
              <a:rPr lang="zh-CN" altLang="en-US" sz="2400" b="1">
                <a:solidFill>
                  <a:srgbClr val="008000"/>
                </a:solidFill>
                <a:latin typeface="黑体" pitchFamily="49" charset="-122"/>
              </a:rPr>
              <a:t>列的元素</a:t>
            </a:r>
            <a:endParaRPr lang="zh-CN" altLang="en-US" sz="2400">
              <a:solidFill>
                <a:srgbClr val="000000"/>
              </a:solidFill>
              <a:latin typeface="黑体" pitchFamily="49" charset="-122"/>
            </a:endParaRPr>
          </a:p>
        </p:txBody>
      </p:sp>
      <p:grpSp>
        <p:nvGrpSpPr>
          <p:cNvPr id="348171" name="Group 11"/>
          <p:cNvGrpSpPr>
            <a:grpSpLocks/>
          </p:cNvGrpSpPr>
          <p:nvPr/>
        </p:nvGrpSpPr>
        <p:grpSpPr bwMode="auto">
          <a:xfrm>
            <a:off x="6502401" y="3622676"/>
            <a:ext cx="3389313" cy="1763713"/>
            <a:chOff x="0" y="0"/>
            <a:chExt cx="2135" cy="1111"/>
          </a:xfrm>
        </p:grpSpPr>
        <p:sp>
          <p:nvSpPr>
            <p:cNvPr id="348172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2135" cy="1111"/>
            </a:xfrm>
            <a:prstGeom prst="rect">
              <a:avLst/>
            </a:prstGeom>
            <a:solidFill>
              <a:schemeClr val="bg1"/>
            </a:solidFill>
            <a:ln w="9525" cmpd="sng">
              <a:solidFill>
                <a:srgbClr val="008000"/>
              </a:solidFill>
              <a:miter lim="800000"/>
              <a:headEnd/>
              <a:tailEnd/>
            </a:ln>
            <a:effectLst>
              <a:outerShdw dist="35921" dir="13500000" algn="ctr" rotWithShape="0">
                <a:srgbClr val="808080"/>
              </a:outerShdw>
            </a:effectLst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for 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(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i</a:t>
              </a:r>
              <a:r>
                <a:rPr lang="zh-CN" altLang="zh-CN" sz="2400" b="1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rPr>
                <a:t>=0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;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i</a:t>
              </a:r>
              <a:r>
                <a:rPr lang="zh-CN" altLang="zh-CN" sz="2400" b="1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rPr>
                <a:t>&lt;2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;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i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++)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4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348173" name="Rectangle 13"/>
            <p:cNvSpPr>
              <a:spLocks noChangeArrowheads="1"/>
            </p:cNvSpPr>
            <p:nvPr/>
          </p:nvSpPr>
          <p:spPr bwMode="auto">
            <a:xfrm>
              <a:off x="271" y="315"/>
              <a:ext cx="1862" cy="796"/>
            </a:xfrm>
            <a:prstGeom prst="rect">
              <a:avLst/>
            </a:prstGeom>
            <a:solidFill>
              <a:schemeClr val="bg1"/>
            </a:solidFill>
            <a:ln w="9525" cmpd="sng">
              <a:solidFill>
                <a:srgbClr val="008000"/>
              </a:solidFill>
              <a:miter lim="800000"/>
              <a:headEnd/>
              <a:tailEnd/>
            </a:ln>
            <a:effectLst>
              <a:prstShdw prst="shdw13" dist="17961" dir="2700000">
                <a:srgbClr val="808080"/>
              </a:prstShdw>
            </a:effectLst>
          </p:spPr>
          <p:txBody>
            <a:bodyPr wrap="none" anchor="ctr"/>
            <a:lstStyle/>
            <a:p>
              <a:pPr algn="ctr" fontAlgn="base">
                <a:lnSpc>
                  <a:spcPct val="20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for 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(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j</a:t>
              </a:r>
              <a:r>
                <a:rPr lang="zh-CN" altLang="zh-CN" sz="2400" b="1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rPr>
                <a:t>=0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;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j</a:t>
              </a:r>
              <a:r>
                <a:rPr lang="zh-CN" altLang="zh-CN" sz="2400" b="1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rPr>
                <a:t>&lt;3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;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j</a:t>
              </a:r>
              <a:r>
                <a:rPr lang="zh-CN" altLang="zh-CN" sz="2400" b="1">
                  <a:solidFill>
                    <a:srgbClr val="000000"/>
                  </a:solidFill>
                  <a:latin typeface="Courier New" pitchFamily="49" charset="0"/>
                  <a:ea typeface="宋体" pitchFamily="2" charset="-122"/>
                </a:rPr>
                <a:t>++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348174" name="Rectangle 14"/>
            <p:cNvSpPr>
              <a:spLocks noChangeArrowheads="1"/>
            </p:cNvSpPr>
            <p:nvPr/>
          </p:nvSpPr>
          <p:spPr bwMode="auto">
            <a:xfrm>
              <a:off x="542" y="637"/>
              <a:ext cx="1592" cy="474"/>
            </a:xfrm>
            <a:prstGeom prst="rect">
              <a:avLst/>
            </a:prstGeom>
            <a:solidFill>
              <a:schemeClr val="bg1"/>
            </a:solidFill>
            <a:ln w="9525" cmpd="sng">
              <a:solidFill>
                <a:srgbClr val="008000"/>
              </a:solidFill>
              <a:miter lim="800000"/>
              <a:headEnd/>
              <a:tailEnd/>
            </a:ln>
            <a:effectLst>
              <a:prstShdw prst="shdw13" dist="17961" dir="2700000">
                <a:srgbClr val="808080"/>
              </a:prst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 b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[</a:t>
              </a: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j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][</a:t>
              </a: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i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]=</a:t>
              </a: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a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[</a:t>
              </a: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i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][</a:t>
              </a:r>
              <a:r>
                <a:rPr lang="zh-CN" altLang="zh-CN" sz="2400" b="1">
                  <a:solidFill>
                    <a:srgbClr val="CC00CC"/>
                  </a:solidFill>
                  <a:ea typeface="宋体" pitchFamily="2" charset="-122"/>
                </a:rPr>
                <a:t>j</a:t>
              </a:r>
              <a:r>
                <a:rPr lang="zh-CN" altLang="zh-CN" sz="2400" b="1">
                  <a:solidFill>
                    <a:srgbClr val="CC00CC"/>
                  </a:solidFill>
                  <a:latin typeface="Courier New" pitchFamily="49" charset="0"/>
                  <a:ea typeface="宋体" pitchFamily="2" charset="-122"/>
                </a:rPr>
                <a:t>]</a:t>
              </a:r>
              <a:endParaRPr lang="zh-CN" altLang="zh-CN" sz="2400">
                <a:solidFill>
                  <a:srgbClr val="CC00CC"/>
                </a:solidFill>
                <a:ea typeface="Dotum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05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6" grpId="0" build="p" autoUpdateAnimBg="0"/>
      <p:bldP spid="348167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 bwMode="auto">
      <p:bgPr>
        <a:gradFill rotWithShape="0">
          <a:gsLst>
            <a:gs pos="0">
              <a:srgbClr val="DDEB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98664" y="198439"/>
            <a:ext cx="8618537" cy="6529387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/>
              <a:t>     #include 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stdio</a:t>
            </a:r>
            <a:r>
              <a:rPr lang="zh-CN" altLang="zh-CN" sz="2400" b="1" dirty="0">
                <a:latin typeface="Times New Roman" pitchFamily="18" charset="0"/>
              </a:rPr>
              <a:t>.</a:t>
            </a:r>
            <a:r>
              <a:rPr lang="zh-CN" altLang="zh-CN" sz="2400" b="1" dirty="0"/>
              <a:t>h</a:t>
            </a:r>
            <a:r>
              <a:rPr lang="zh-CN" altLang="zh-CN" sz="2400" dirty="0"/>
              <a:t>&gt;</a:t>
            </a:r>
            <a:r>
              <a:rPr lang="zh-CN" altLang="zh-CN" sz="2400" b="1" dirty="0">
                <a:cs typeface="Times New Roman" pitchFamily="18" charset="0"/>
              </a:rPr>
              <a:t>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>
                <a:cs typeface="Times New Roman" pitchFamily="18" charset="0"/>
              </a:rPr>
              <a:t>     </a:t>
            </a:r>
            <a:r>
              <a:rPr lang="zh-CN" altLang="zh-CN" sz="2400" b="1">
                <a:cs typeface="Times New Roman" pitchFamily="18" charset="0"/>
              </a:rPr>
              <a:t>main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 )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{ int  a</a:t>
            </a:r>
            <a:r>
              <a:rPr lang="zh-CN" altLang="zh-CN" sz="2400" dirty="0">
                <a:cs typeface="Times New Roman" pitchFamily="18" charset="0"/>
              </a:rPr>
              <a:t>[</a:t>
            </a:r>
            <a:r>
              <a:rPr lang="zh-CN" altLang="zh-CN" sz="2400" b="1" dirty="0">
                <a:cs typeface="Times New Roman" pitchFamily="18" charset="0"/>
              </a:rPr>
              <a:t>2</a:t>
            </a:r>
            <a:r>
              <a:rPr lang="zh-CN" altLang="zh-CN" sz="2400" dirty="0">
                <a:cs typeface="Times New Roman" pitchFamily="18" charset="0"/>
              </a:rPr>
              <a:t>][</a:t>
            </a:r>
            <a:r>
              <a:rPr lang="zh-CN" altLang="zh-CN" sz="2400" b="1" dirty="0">
                <a:cs typeface="Times New Roman" pitchFamily="18" charset="0"/>
              </a:rPr>
              <a:t>3</a:t>
            </a:r>
            <a:r>
              <a:rPr lang="zh-CN" altLang="zh-CN" sz="2400" dirty="0">
                <a:cs typeface="Times New Roman" pitchFamily="18" charset="0"/>
              </a:rPr>
              <a:t>]</a:t>
            </a:r>
            <a:r>
              <a:rPr lang="zh-CN" altLang="zh-CN" sz="2400" b="1" dirty="0">
                <a:cs typeface="Times New Roman" pitchFamily="18" charset="0"/>
              </a:rPr>
              <a:t>=</a:t>
            </a:r>
            <a:r>
              <a:rPr lang="zh-CN" altLang="zh-CN" sz="2400" dirty="0">
                <a:cs typeface="Times New Roman" pitchFamily="18" charset="0"/>
              </a:rPr>
              <a:t>{</a:t>
            </a:r>
            <a:r>
              <a:rPr lang="zh-CN" altLang="zh-CN" sz="2400" b="1" dirty="0">
                <a:cs typeface="Times New Roman" pitchFamily="18" charset="0"/>
              </a:rPr>
              <a:t>1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zh-CN" sz="2400" b="1" dirty="0">
                <a:cs typeface="Times New Roman" pitchFamily="18" charset="0"/>
              </a:rPr>
              <a:t>2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zh-CN" sz="2400" b="1" dirty="0">
                <a:cs typeface="Times New Roman" pitchFamily="18" charset="0"/>
              </a:rPr>
              <a:t>3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zh-CN" sz="2400" b="1" dirty="0">
                <a:cs typeface="Times New Roman" pitchFamily="18" charset="0"/>
              </a:rPr>
              <a:t>4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zh-CN" sz="2400" b="1" dirty="0">
                <a:cs typeface="Times New Roman" pitchFamily="18" charset="0"/>
              </a:rPr>
              <a:t>  5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zh-CN" sz="2400" b="1" dirty="0">
                <a:cs typeface="Times New Roman" pitchFamily="18" charset="0"/>
              </a:rPr>
              <a:t>6</a:t>
            </a:r>
            <a:r>
              <a:rPr lang="zh-CN" altLang="zh-CN" sz="2400" dirty="0">
                <a:cs typeface="Times New Roman" pitchFamily="18" charset="0"/>
              </a:rPr>
              <a:t>}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zh-CN" sz="2400" b="1" dirty="0">
                <a:cs typeface="Times New Roman" pitchFamily="18" charset="0"/>
              </a:rPr>
              <a:t> b</a:t>
            </a:r>
            <a:r>
              <a:rPr lang="zh-CN" altLang="zh-CN" sz="2400" dirty="0">
                <a:cs typeface="Times New Roman" pitchFamily="18" charset="0"/>
              </a:rPr>
              <a:t>[</a:t>
            </a:r>
            <a:r>
              <a:rPr lang="zh-CN" altLang="zh-CN" sz="2400" b="1" dirty="0">
                <a:cs typeface="Times New Roman" pitchFamily="18" charset="0"/>
              </a:rPr>
              <a:t>3</a:t>
            </a:r>
            <a:r>
              <a:rPr lang="zh-CN" altLang="zh-CN" sz="2400" dirty="0">
                <a:cs typeface="Times New Roman" pitchFamily="18" charset="0"/>
              </a:rPr>
              <a:t>][</a:t>
            </a:r>
            <a:r>
              <a:rPr lang="zh-CN" altLang="zh-CN" sz="2400" b="1" dirty="0">
                <a:cs typeface="Times New Roman" pitchFamily="18" charset="0"/>
              </a:rPr>
              <a:t>2</a:t>
            </a:r>
            <a:r>
              <a:rPr lang="zh-CN" altLang="zh-CN" sz="2400" dirty="0">
                <a:cs typeface="Times New Roman" pitchFamily="18" charset="0"/>
              </a:rPr>
              <a:t>]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cs typeface="Times New Roman" pitchFamily="18" charset="0"/>
              </a:rPr>
              <a:t>i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cs typeface="Times New Roman" pitchFamily="18" charset="0"/>
              </a:rPr>
              <a:t>j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12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printf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输出转置前的数组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sz="2400" dirty="0">
                <a:cs typeface="Times New Roman" pitchFamily="18" charset="0"/>
              </a:rPr>
              <a:t>\</a:t>
            </a:r>
            <a:r>
              <a:rPr lang="zh-CN" altLang="zh-CN" sz="2400" b="1" dirty="0">
                <a:cs typeface="Times New Roman" pitchFamily="18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”) 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for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i=0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i</a:t>
            </a:r>
            <a:r>
              <a:rPr lang="zh-CN" altLang="zh-CN" sz="2400" dirty="0">
                <a:solidFill>
                  <a:srgbClr val="2E2EB8"/>
                </a:solidFill>
                <a:cs typeface="Times New Roman" pitchFamily="18" charset="0"/>
              </a:rPr>
              <a:t>&lt;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2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i++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</a:t>
            </a:r>
            <a:r>
              <a:rPr lang="zh-CN" altLang="zh-CN" sz="2400" b="1" dirty="0">
                <a:solidFill>
                  <a:srgbClr val="CC0000"/>
                </a:solidFill>
                <a:cs typeface="Times New Roman" pitchFamily="18" charset="0"/>
              </a:rPr>
              <a:t>  </a:t>
            </a:r>
            <a:r>
              <a:rPr lang="zh-CN" altLang="zh-CN" sz="2400" b="1" dirty="0">
                <a:cs typeface="Times New Roman" pitchFamily="18" charset="0"/>
              </a:rPr>
              <a:t>{  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for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j=0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j</a:t>
            </a:r>
            <a:r>
              <a:rPr lang="zh-CN" altLang="zh-CN" sz="2400" dirty="0">
                <a:solidFill>
                  <a:srgbClr val="2E2EB8"/>
                </a:solidFill>
                <a:cs typeface="Times New Roman" pitchFamily="18" charset="0"/>
              </a:rPr>
              <a:t>&lt;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3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 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j++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        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{</a:t>
            </a:r>
            <a:r>
              <a:rPr lang="zh-CN" altLang="zh-CN" sz="2400" b="1" dirty="0">
                <a:cs typeface="Times New Roman" pitchFamily="18" charset="0"/>
              </a:rPr>
              <a:t> printf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zh-CN" sz="2400" b="1" dirty="0">
                <a:cs typeface="Times New Roman" pitchFamily="18" charset="0"/>
              </a:rPr>
              <a:t>%5d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zh-CN" altLang="zh-CN" sz="2400" b="1" dirty="0">
                <a:cs typeface="Times New Roman" pitchFamily="18" charset="0"/>
              </a:rPr>
              <a:t> a</a:t>
            </a:r>
            <a:r>
              <a:rPr lang="zh-CN" altLang="zh-CN" sz="2400" dirty="0">
                <a:cs typeface="Times New Roman" pitchFamily="18" charset="0"/>
              </a:rPr>
              <a:t>[</a:t>
            </a:r>
            <a:r>
              <a:rPr lang="zh-CN" altLang="zh-CN" sz="2400" b="1" dirty="0">
                <a:cs typeface="Times New Roman" pitchFamily="18" charset="0"/>
              </a:rPr>
              <a:t>i</a:t>
            </a:r>
            <a:r>
              <a:rPr lang="zh-CN" altLang="zh-CN" sz="2400" dirty="0">
                <a:cs typeface="Times New Roman" pitchFamily="18" charset="0"/>
              </a:rPr>
              <a:t>][</a:t>
            </a:r>
            <a:r>
              <a:rPr lang="zh-CN" altLang="zh-CN" sz="2400" b="1" dirty="0">
                <a:cs typeface="Times New Roman" pitchFamily="18" charset="0"/>
              </a:rPr>
              <a:t>j</a:t>
            </a:r>
            <a:r>
              <a:rPr lang="zh-CN" altLang="zh-CN" sz="2400" dirty="0">
                <a:cs typeface="Times New Roman" pitchFamily="18" charset="0"/>
              </a:rPr>
              <a:t>]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) ;      </a:t>
            </a:r>
            <a:endParaRPr lang="zh-CN" altLang="zh-CN" sz="2400" b="1" dirty="0">
              <a:latin typeface="黑体" pitchFamily="49" charset="-122"/>
              <a:ea typeface="黑体" pitchFamily="49" charset="-122"/>
            </a:endParaRPr>
          </a:p>
          <a:p>
            <a:pPr algn="just"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	                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b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[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j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][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i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] 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= a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[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i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][</a:t>
            </a:r>
            <a:r>
              <a:rPr lang="zh-CN" altLang="zh-CN" sz="2400" b="1" dirty="0">
                <a:solidFill>
                  <a:srgbClr val="DA00DA"/>
                </a:solidFill>
                <a:cs typeface="Times New Roman" pitchFamily="18" charset="0"/>
              </a:rPr>
              <a:t>j</a:t>
            </a:r>
            <a:r>
              <a:rPr lang="zh-CN" altLang="zh-CN" sz="2400" dirty="0">
                <a:solidFill>
                  <a:srgbClr val="DA00DA"/>
                </a:solidFill>
                <a:cs typeface="Times New Roman" pitchFamily="18" charset="0"/>
              </a:rPr>
              <a:t>]</a:t>
            </a:r>
            <a:r>
              <a:rPr lang="zh-CN" altLang="zh-CN" sz="2400" b="1" dirty="0">
                <a:solidFill>
                  <a:srgbClr val="CC0000"/>
                </a:solidFill>
                <a:cs typeface="Times New Roman" pitchFamily="18" charset="0"/>
              </a:rPr>
              <a:t> 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CC0000"/>
                </a:solidFill>
                <a:cs typeface="Times New Roman" pitchFamily="18" charset="0"/>
              </a:rPr>
              <a:t> 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}</a:t>
            </a:r>
            <a:r>
              <a:rPr lang="zh-CN" altLang="zh-CN" sz="2400" b="1" dirty="0">
                <a:solidFill>
                  <a:srgbClr val="00009E"/>
                </a:solidFill>
                <a:cs typeface="Times New Roman" pitchFamily="18" charset="0"/>
              </a:rPr>
              <a:t>              </a:t>
            </a:r>
            <a:r>
              <a:rPr lang="zh-CN" altLang="zh-CN" sz="2400" dirty="0">
                <a:cs typeface="Times New Roman" pitchFamily="18" charset="0"/>
              </a:rPr>
              <a:t>//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行列互换</a:t>
            </a:r>
            <a:endParaRPr lang="zh-CN" altLang="en-US" sz="2400" dirty="0">
              <a:ea typeface="黑体" pitchFamily="49" charset="-122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>
                <a:cs typeface="Times New Roman" pitchFamily="18" charset="0"/>
              </a:rPr>
              <a:t>              </a:t>
            </a:r>
            <a:r>
              <a:rPr lang="zh-CN" altLang="zh-CN" sz="2400" b="1" dirty="0">
                <a:cs typeface="Times New Roman" pitchFamily="18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zh-CN" sz="2400" dirty="0">
                <a:cs typeface="Times New Roman" pitchFamily="18" charset="0"/>
              </a:rPr>
              <a:t>\</a:t>
            </a:r>
            <a:r>
              <a:rPr lang="zh-CN" altLang="zh-CN" sz="2400" b="1" dirty="0">
                <a:cs typeface="Times New Roman" pitchFamily="18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”) ;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 }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printf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输出转置后的数组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sz="2400" dirty="0">
                <a:cs typeface="Times New Roman" pitchFamily="18" charset="0"/>
              </a:rPr>
              <a:t>\</a:t>
            </a:r>
            <a:r>
              <a:rPr lang="zh-CN" altLang="zh-CN" sz="2400" b="1" dirty="0">
                <a:cs typeface="Times New Roman" pitchFamily="18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”) ;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for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2400" b="1" dirty="0">
                <a:cs typeface="Times New Roman" pitchFamily="18" charset="0"/>
              </a:rPr>
              <a:t> i= 0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cs typeface="Times New Roman" pitchFamily="18" charset="0"/>
              </a:rPr>
              <a:t> i</a:t>
            </a:r>
            <a:r>
              <a:rPr lang="zh-CN" altLang="zh-CN" sz="2400" dirty="0"/>
              <a:t>&lt;</a:t>
            </a:r>
            <a:r>
              <a:rPr lang="zh-CN" altLang="zh-CN" sz="2400" b="1" dirty="0">
                <a:cs typeface="Times New Roman" pitchFamily="18" charset="0"/>
              </a:rPr>
              <a:t>3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cs typeface="Times New Roman" pitchFamily="18" charset="0"/>
              </a:rPr>
              <a:t> i++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     {  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for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j= 0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j</a:t>
            </a:r>
            <a:r>
              <a:rPr lang="zh-CN" altLang="zh-CN" sz="2400" dirty="0">
                <a:solidFill>
                  <a:srgbClr val="2E2EB8"/>
                </a:solidFill>
              </a:rPr>
              <a:t>&lt;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2 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j++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                   printf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zh-CN" sz="2400" b="1" dirty="0">
                <a:solidFill>
                  <a:srgbClr val="2E2EB8"/>
                </a:solidFill>
              </a:rPr>
              <a:t>%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5d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 b</a:t>
            </a:r>
            <a:r>
              <a:rPr lang="zh-CN" altLang="zh-CN" sz="2400" dirty="0">
                <a:solidFill>
                  <a:srgbClr val="2E2EB8"/>
                </a:solidFill>
                <a:cs typeface="Times New Roman" pitchFamily="18" charset="0"/>
              </a:rPr>
              <a:t>[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i</a:t>
            </a:r>
            <a:r>
              <a:rPr lang="zh-CN" altLang="zh-CN" sz="2400" dirty="0">
                <a:solidFill>
                  <a:srgbClr val="2E2EB8"/>
                </a:solidFill>
                <a:cs typeface="Times New Roman" pitchFamily="18" charset="0"/>
              </a:rPr>
              <a:t>][</a:t>
            </a:r>
            <a:r>
              <a:rPr lang="zh-CN" altLang="zh-CN" sz="2400" b="1" dirty="0">
                <a:solidFill>
                  <a:srgbClr val="2E2EB8"/>
                </a:solidFill>
                <a:cs typeface="Times New Roman" pitchFamily="18" charset="0"/>
              </a:rPr>
              <a:t>j</a:t>
            </a:r>
            <a:r>
              <a:rPr lang="zh-CN" altLang="zh-CN" sz="2400" dirty="0">
                <a:solidFill>
                  <a:srgbClr val="2E2EB8"/>
                </a:solidFill>
                <a:cs typeface="Times New Roman" pitchFamily="18" charset="0"/>
              </a:rPr>
              <a:t>]</a:t>
            </a:r>
            <a:r>
              <a:rPr lang="zh-CN" altLang="zh-CN" sz="2400" b="1" dirty="0">
                <a:solidFill>
                  <a:srgbClr val="2E2EB8"/>
                </a:solidFill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	          printf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zh-CN" altLang="zh-CN" sz="2400" dirty="0">
                <a:cs typeface="Times New Roman" pitchFamily="18" charset="0"/>
              </a:rPr>
              <a:t>\</a:t>
            </a:r>
            <a:r>
              <a:rPr lang="zh-CN" altLang="zh-CN" sz="2400" b="1" dirty="0">
                <a:cs typeface="Times New Roman" pitchFamily="18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”) ;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altLang="zh-CN" sz="2400" b="1" dirty="0">
                <a:cs typeface="Times New Roman" pitchFamily="18" charset="0"/>
              </a:rPr>
              <a:t>  }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Times New Roman" pitchFamily="18" charset="0"/>
              </a:rPr>
              <a:t>    }</a:t>
            </a:r>
          </a:p>
        </p:txBody>
      </p:sp>
      <p:sp>
        <p:nvSpPr>
          <p:cNvPr id="349187" name="Rectangle 3"/>
          <p:cNvSpPr>
            <a:spLocks noChangeArrowheads="1"/>
          </p:cNvSpPr>
          <p:nvPr/>
        </p:nvSpPr>
        <p:spPr bwMode="auto">
          <a:xfrm>
            <a:off x="7780339" y="1798638"/>
            <a:ext cx="2090737" cy="2176462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00D2"/>
            </a:solidFill>
            <a:miter lim="800000"/>
            <a:headEnd/>
            <a:tailEnd/>
          </a:ln>
          <a:effectLst>
            <a:outerShdw dist="8980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输出转置前的数组</a:t>
            </a:r>
            <a:r>
              <a:rPr lang="zh-CN" altLang="zh-CN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1    2    3   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4    5    6 </a:t>
            </a:r>
          </a:p>
          <a:p>
            <a:pPr fontAlgn="base">
              <a:spcBef>
                <a:spcPct val="15000"/>
              </a:spcBef>
              <a:spcAft>
                <a:spcPct val="15000"/>
              </a:spcAft>
            </a:pPr>
            <a:r>
              <a:rPr lang="zh-CN" altLang="en-US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输出转置后的数组</a:t>
            </a:r>
            <a:r>
              <a:rPr lang="zh-CN" altLang="zh-CN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1    4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</a:t>
            </a:r>
            <a:r>
              <a:rPr lang="zh-CN" altLang="zh-CN" sz="1400" b="1">
                <a:solidFill>
                  <a:srgbClr val="000000"/>
                </a:solidFill>
              </a:rPr>
              <a:t>   </a:t>
            </a:r>
            <a:r>
              <a:rPr lang="zh-CN" altLang="zh-CN" b="1">
                <a:solidFill>
                  <a:srgbClr val="000000"/>
                </a:solidFill>
              </a:rPr>
              <a:t>2    5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</a:t>
            </a:r>
            <a:r>
              <a:rPr lang="zh-CN" altLang="zh-CN" sz="1400" b="1">
                <a:solidFill>
                  <a:srgbClr val="000000"/>
                </a:solidFill>
              </a:rPr>
              <a:t>  </a:t>
            </a:r>
            <a:r>
              <a:rPr lang="zh-CN" altLang="zh-CN" b="1">
                <a:solidFill>
                  <a:srgbClr val="000000"/>
                </a:solidFill>
              </a:rPr>
              <a:t>3    6   </a:t>
            </a:r>
          </a:p>
        </p:txBody>
      </p:sp>
      <p:sp useBgFill="1"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3810000" y="3117850"/>
            <a:ext cx="31115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b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[</a:t>
            </a: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][</a:t>
            </a: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j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]</a:t>
            </a: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=a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[</a:t>
            </a: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j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][</a:t>
            </a:r>
            <a:r>
              <a:rPr lang="zh-CN" altLang="zh-CN" sz="2400" b="1">
                <a:solidFill>
                  <a:srgbClr val="CC00CC"/>
                </a:solidFill>
                <a:cs typeface="Times New Roman" pitchFamily="18" charset="0"/>
              </a:rPr>
              <a:t>i</a:t>
            </a:r>
            <a:r>
              <a:rPr lang="zh-CN" altLang="zh-CN" sz="2400">
                <a:solidFill>
                  <a:srgbClr val="CC00CC"/>
                </a:solidFill>
                <a:cs typeface="Times New Roman" pitchFamily="18" charset="0"/>
              </a:rPr>
              <a:t>]</a:t>
            </a:r>
            <a:r>
              <a:rPr lang="zh-CN" altLang="zh-CN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 ;</a:t>
            </a:r>
          </a:p>
        </p:txBody>
      </p:sp>
      <p:sp>
        <p:nvSpPr>
          <p:cNvPr id="349189" name="Text Box 5"/>
          <p:cNvSpPr txBox="1">
            <a:spLocks noChangeArrowheads="1"/>
          </p:cNvSpPr>
          <p:nvPr/>
        </p:nvSpPr>
        <p:spPr bwMode="auto">
          <a:xfrm>
            <a:off x="7773988" y="1795463"/>
            <a:ext cx="2184400" cy="2163762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00D2"/>
            </a:solidFill>
            <a:miter lim="800000"/>
            <a:headEnd/>
            <a:tailEnd/>
          </a:ln>
          <a:effectLst>
            <a:outerShdw dist="8980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输出转置前的数组</a:t>
            </a:r>
            <a:r>
              <a:rPr lang="zh-CN" altLang="zh-CN" b="1">
                <a:solidFill>
                  <a:srgbClr val="0000AC"/>
                </a:solidFill>
                <a:latin typeface="Times New Roman" pitchFamily="18" charset="0"/>
                <a:ea typeface="楷体_GB2312" pitchFamily="49" charset="-122"/>
              </a:rPr>
              <a:t>: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   1    2    3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   4    5    6   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AC"/>
                </a:solidFill>
                <a:latin typeface="楷体_GB2312" pitchFamily="49" charset="-122"/>
                <a:ea typeface="楷体_GB2312" pitchFamily="49" charset="-122"/>
              </a:rPr>
              <a:t>输出转置后的数组</a:t>
            </a:r>
            <a:r>
              <a:rPr lang="zh-CN" altLang="zh-CN" b="1">
                <a:solidFill>
                  <a:srgbClr val="0000AC"/>
                </a:solidFill>
                <a:latin typeface="Times New Roman" pitchFamily="18" charset="0"/>
                <a:ea typeface="楷体_GB2312" pitchFamily="49" charset="-122"/>
              </a:rPr>
              <a:t>: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   1    4</a:t>
            </a:r>
          </a:p>
          <a:p>
            <a:pPr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      2    5</a:t>
            </a:r>
          </a:p>
          <a:p>
            <a:pPr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000000"/>
                </a:solidFill>
              </a:rPr>
              <a:t>9162  </a:t>
            </a:r>
            <a:r>
              <a:rPr lang="zh-CN" altLang="zh-CN" sz="1200" b="1">
                <a:solidFill>
                  <a:srgbClr val="000000"/>
                </a:solidFill>
              </a:rPr>
              <a:t>  </a:t>
            </a:r>
            <a:r>
              <a:rPr lang="zh-CN" altLang="zh-CN" b="1">
                <a:solidFill>
                  <a:srgbClr val="000000"/>
                </a:solidFill>
              </a:rPr>
              <a:t>24    </a:t>
            </a:r>
          </a:p>
        </p:txBody>
      </p:sp>
      <p:sp>
        <p:nvSpPr>
          <p:cNvPr id="34919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9966326" y="6330950"/>
            <a:ext cx="360363" cy="215900"/>
          </a:xfrm>
          <a:prstGeom prst="actionButtonBackPrevious">
            <a:avLst/>
          </a:prstGeom>
          <a:noFill/>
          <a:ln w="0" cmpd="sng">
            <a:solidFill>
              <a:srgbClr val="AC00A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6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6" grpId="0" build="p" autoUpdateAnimBg="0"/>
      <p:bldP spid="349187" grpId="0" animBg="1" autoUpdateAnimBg="0"/>
      <p:bldP spid="349188" grpId="0" animBg="1" autoUpdateAnimBg="0"/>
      <p:bldP spid="34918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rand() </a:t>
            </a:r>
            <a:r>
              <a:rPr lang="zh-CN" altLang="en-US">
                <a:solidFill>
                  <a:srgbClr val="FF0000"/>
                </a:solidFill>
              </a:rPr>
              <a:t>随机产生</a:t>
            </a:r>
            <a:r>
              <a:rPr lang="en-US" altLang="zh-CN">
                <a:solidFill>
                  <a:srgbClr val="FF0000"/>
                </a:solidFill>
              </a:rPr>
              <a:t>0-32767</a:t>
            </a:r>
            <a:r>
              <a:rPr lang="zh-CN" altLang="en-US">
                <a:solidFill>
                  <a:srgbClr val="FF0000"/>
                </a:solidFill>
              </a:rPr>
              <a:t>之间的一个整数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伪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srand(unsigned) </a:t>
            </a:r>
            <a:r>
              <a:rPr lang="zh-CN" altLang="en-US" b="1"/>
              <a:t>为</a:t>
            </a:r>
            <a:r>
              <a:rPr lang="en-US" altLang="zh-CN" b="1"/>
              <a:t>rand()</a:t>
            </a:r>
            <a:r>
              <a:rPr lang="zh-CN" altLang="en-US" b="1"/>
              <a:t>设置一个种子</a:t>
            </a:r>
            <a:endParaRPr lang="en-US" altLang="zh-CN" b="1"/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 b="1"/>
              <a:t>产生区间</a:t>
            </a:r>
            <a:r>
              <a:rPr lang="en-US" altLang="zh-CN" b="1"/>
              <a:t>[m,n]</a:t>
            </a:r>
          </a:p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rand()%(n-m+1)+m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8584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6334" y="300175"/>
            <a:ext cx="7272808" cy="62044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Arial" pitchFamily="34" charset="0"/>
                <a:ea typeface="黑体" pitchFamily="49" charset="-122"/>
              </a:rPr>
              <a:t>互换距阵的两行或两列</a:t>
            </a:r>
            <a:endParaRPr lang="zh-CN" altLang="zh-CN" sz="2800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5486400" y="26812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4816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630364" y="765175"/>
            <a:ext cx="504825" cy="287338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A7EE24-B017-493A-9E81-781343D7B576}"/>
              </a:ext>
            </a:extLst>
          </p:cNvPr>
          <p:cNvSpPr txBox="1"/>
          <p:nvPr/>
        </p:nvSpPr>
        <p:spPr>
          <a:xfrm>
            <a:off x="1830738" y="1085504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#include &lt;stdio.h&gt;</a:t>
            </a:r>
          </a:p>
          <a:p>
            <a:r>
              <a:rPr lang="zh-CN" altLang="en-US" dirty="0"/>
              <a:t>#include &lt;stdlib.h&gt;</a:t>
            </a:r>
          </a:p>
          <a:p>
            <a:r>
              <a:rPr lang="zh-CN" altLang="en-US" dirty="0"/>
              <a:t>#include &lt;time.h&gt;</a:t>
            </a:r>
          </a:p>
          <a:p>
            <a:r>
              <a:rPr lang="zh-CN" altLang="en-US" dirty="0"/>
              <a:t>#define N 10</a:t>
            </a:r>
          </a:p>
          <a:p>
            <a:r>
              <a:rPr lang="zh-CN" altLang="en-US" dirty="0"/>
              <a:t>main( )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	int a[N][N],i,j,t;</a:t>
            </a:r>
          </a:p>
          <a:p>
            <a:r>
              <a:rPr lang="zh-CN" altLang="en-US" dirty="0"/>
              <a:t>	srand(time(NULL));</a:t>
            </a:r>
          </a:p>
          <a:p>
            <a:r>
              <a:rPr lang="zh-CN" altLang="en-US" dirty="0"/>
              <a:t>	printf("转置前:\n");</a:t>
            </a:r>
          </a:p>
          <a:p>
            <a:r>
              <a:rPr lang="zh-CN" altLang="en-US" dirty="0"/>
              <a:t>	for(i=0;i&lt;N;i++)</a:t>
            </a:r>
          </a:p>
          <a:p>
            <a:r>
              <a:rPr lang="zh-CN" altLang="en-US" dirty="0"/>
              <a:t>	{</a:t>
            </a:r>
          </a:p>
          <a:p>
            <a:r>
              <a:rPr lang="zh-CN" altLang="en-US" dirty="0"/>
              <a:t>		for(j=0;j&lt;N;j++)</a:t>
            </a:r>
          </a:p>
          <a:p>
            <a:r>
              <a:rPr lang="zh-CN" altLang="en-US" dirty="0"/>
              <a:t>			printf("%5d",a[i][j]=rand()%900+100);</a:t>
            </a:r>
          </a:p>
          <a:p>
            <a:r>
              <a:rPr lang="zh-CN" altLang="en-US" dirty="0"/>
              <a:t>		printf("\n");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	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863608-E743-4FDC-B9D5-FC1F5EE5F415}"/>
              </a:ext>
            </a:extLst>
          </p:cNvPr>
          <p:cNvSpPr txBox="1"/>
          <p:nvPr/>
        </p:nvSpPr>
        <p:spPr>
          <a:xfrm>
            <a:off x="6104065" y="1362502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for(j=0;j&lt;N;j++)</a:t>
            </a:r>
          </a:p>
          <a:p>
            <a:r>
              <a:rPr lang="zh-CN" altLang="en-US" dirty="0"/>
              <a:t>		t=a[1][j],a[1][j]=a[3][j],a[3][j]=t;</a:t>
            </a:r>
          </a:p>
          <a:p>
            <a:endParaRPr lang="zh-CN" altLang="en-US" dirty="0"/>
          </a:p>
          <a:p>
            <a:r>
              <a:rPr lang="zh-CN" altLang="en-US" dirty="0"/>
              <a:t>	printf("互换后:\n");</a:t>
            </a:r>
          </a:p>
          <a:p>
            <a:r>
              <a:rPr lang="zh-CN" altLang="en-US" dirty="0"/>
              <a:t>	for(i=0;i&lt;N;i++)</a:t>
            </a:r>
          </a:p>
          <a:p>
            <a:r>
              <a:rPr lang="zh-CN" altLang="en-US" dirty="0"/>
              <a:t>	{</a:t>
            </a:r>
          </a:p>
          <a:p>
            <a:r>
              <a:rPr lang="zh-CN" altLang="en-US" dirty="0"/>
              <a:t>		for(j=0;j&lt;N;j++)</a:t>
            </a:r>
          </a:p>
          <a:p>
            <a:r>
              <a:rPr lang="zh-CN" altLang="en-US" dirty="0"/>
              <a:t>			printf("%5d",a[i][j]);</a:t>
            </a:r>
          </a:p>
          <a:p>
            <a:r>
              <a:rPr lang="zh-CN" altLang="en-US" dirty="0"/>
              <a:t>		printf("\n");</a:t>
            </a:r>
          </a:p>
          <a:p>
            <a:r>
              <a:rPr lang="zh-CN" altLang="en-US" dirty="0"/>
              <a:t>	}</a:t>
            </a:r>
          </a:p>
          <a:p>
            <a:endParaRPr lang="zh-CN" altLang="en-US" dirty="0"/>
          </a:p>
          <a:p>
            <a:r>
              <a:rPr lang="zh-CN" altLang="en-US" dirty="0"/>
              <a:t>	</a:t>
            </a:r>
          </a:p>
          <a:p>
            <a:endParaRPr lang="zh-CN" altLang="en-US" dirty="0"/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85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609673" y="1000761"/>
            <a:ext cx="7315200" cy="54200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   </a:t>
            </a:r>
            <a:r>
              <a:rPr lang="zh-CN" altLang="zh-CN" sz="2800" b="1" dirty="0"/>
              <a:t>#include 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/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       </a:t>
            </a:r>
          </a:p>
          <a:p>
            <a:pPr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/>
              <a:t>    </a:t>
            </a:r>
            <a:r>
              <a:rPr lang="zh-CN" altLang="zh-CN" sz="2800" b="1" dirty="0"/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{ int  n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2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i 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j 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k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for 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/>
              <a:t>i=0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2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          n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=0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/>
              <a:t>        k=2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</a:t>
            </a:r>
            <a:r>
              <a:rPr lang="zh-CN" altLang="zh-CN" sz="2800" b="1" dirty="0">
                <a:solidFill>
                  <a:srgbClr val="002BB6"/>
                </a:solidFill>
              </a:rPr>
              <a:t>for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rgbClr val="002BB6"/>
                </a:solidFill>
              </a:rPr>
              <a:t> i=0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2BB6"/>
                </a:solidFill>
              </a:rPr>
              <a:t> i</a:t>
            </a:r>
            <a:r>
              <a:rPr lang="zh-CN" altLang="zh-CN" sz="2800" dirty="0">
                <a:solidFill>
                  <a:srgbClr val="002BB6"/>
                </a:solidFill>
              </a:rPr>
              <a:t>&lt;</a:t>
            </a:r>
            <a:r>
              <a:rPr lang="zh-CN" altLang="zh-CN" sz="2800" b="1" dirty="0">
                <a:solidFill>
                  <a:srgbClr val="002BB6"/>
                </a:solidFill>
              </a:rPr>
              <a:t>k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2BB6"/>
                </a:solidFill>
              </a:rPr>
              <a:t> i++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2F2FBD"/>
                </a:solidFill>
              </a:rPr>
              <a:t>             </a:t>
            </a:r>
            <a:r>
              <a:rPr lang="zh-CN" altLang="zh-CN" sz="2800" b="1" dirty="0">
                <a:solidFill>
                  <a:schemeClr val="bg2"/>
                </a:solidFill>
              </a:rPr>
              <a:t>for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chemeClr val="bg2"/>
                </a:solidFill>
              </a:rPr>
              <a:t> j=0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</a:rPr>
              <a:t> j</a:t>
            </a:r>
            <a:r>
              <a:rPr lang="zh-CN" altLang="zh-CN" sz="2800" dirty="0">
                <a:solidFill>
                  <a:schemeClr val="bg2"/>
                </a:solidFill>
              </a:rPr>
              <a:t>&lt;</a:t>
            </a:r>
            <a:r>
              <a:rPr lang="zh-CN" altLang="zh-CN" sz="2800" b="1" dirty="0">
                <a:solidFill>
                  <a:schemeClr val="bg2"/>
                </a:solidFill>
              </a:rPr>
              <a:t>k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</a:rPr>
              <a:t> j++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2F2FBD"/>
                </a:solidFill>
              </a:rPr>
              <a:t>                     </a:t>
            </a:r>
            <a:r>
              <a:rPr lang="zh-CN" altLang="zh-CN" sz="2800" b="1" dirty="0">
                <a:solidFill>
                  <a:srgbClr val="002BB6"/>
                </a:solidFill>
              </a:rPr>
              <a:t>n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002BB6"/>
                </a:solidFill>
              </a:rPr>
              <a:t>j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2BB6"/>
                </a:solidFill>
              </a:rPr>
              <a:t>=n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002BB6"/>
                </a:solidFill>
              </a:rPr>
              <a:t>i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2BB6"/>
                </a:solidFill>
              </a:rPr>
              <a:t>+1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dirty="0"/>
              <a:t> 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n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en-US" altLang="zh-CN" sz="2800" b="1" dirty="0"/>
              <a:t>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/>
              <a:t>     }      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96200" y="1602080"/>
            <a:ext cx="20482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fontAlgn="base">
              <a:spcBef>
                <a:spcPct val="45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</a:rPr>
              <a:t>不确定的值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96200" y="2459330"/>
            <a:ext cx="1600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96200" y="3316580"/>
            <a:ext cx="13281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296200" y="4173830"/>
            <a:ext cx="1600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81825" y="166637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581825" y="2523623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81825" y="338087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581825" y="423812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6377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609673" y="1000761"/>
            <a:ext cx="7315200" cy="54200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#include 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/>
              <a:t>h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       </a:t>
            </a:r>
          </a:p>
          <a:p>
            <a:pPr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/>
              <a:t>    </a:t>
            </a:r>
            <a:r>
              <a:rPr lang="zh-CN" altLang="zh-CN" sz="2800" b="1" dirty="0"/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{ int  </a:t>
            </a:r>
            <a:r>
              <a:rPr lang="zh-CN" altLang="zh-CN" sz="2800" b="1"/>
              <a:t>n</a:t>
            </a:r>
            <a:r>
              <a:rPr lang="zh-CN" altLang="zh-CN" sz="2800" b="1">
                <a:latin typeface="黑体" pitchFamily="49" charset="-122"/>
              </a:rPr>
              <a:t>[</a:t>
            </a:r>
            <a:r>
              <a:rPr lang="en-US" altLang="zh-CN" sz="2800" b="1"/>
              <a:t>3</a:t>
            </a:r>
            <a:r>
              <a:rPr lang="zh-CN" altLang="zh-CN" sz="2800" b="1">
                <a:latin typeface="黑体" pitchFamily="49" charset="-122"/>
              </a:rPr>
              <a:t>]</a:t>
            </a:r>
            <a:r>
              <a:rPr lang="zh-CN" altLang="zh-CN" sz="2800" b="1">
                <a:latin typeface="Times New Roman" pitchFamily="18" charset="0"/>
              </a:rPr>
              <a:t>,</a:t>
            </a:r>
            <a:r>
              <a:rPr lang="zh-CN" altLang="zh-CN" sz="2800" b="1"/>
              <a:t> </a:t>
            </a:r>
            <a:r>
              <a:rPr lang="zh-CN" altLang="zh-CN" sz="2800" b="1" dirty="0"/>
              <a:t>i 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j 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k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for 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/>
              <a:t>i=0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2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          n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=0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/>
              <a:t>        k=2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</a:t>
            </a:r>
            <a:r>
              <a:rPr lang="zh-CN" altLang="zh-CN" sz="2800" b="1" dirty="0">
                <a:solidFill>
                  <a:srgbClr val="002BB6"/>
                </a:solidFill>
              </a:rPr>
              <a:t>for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rgbClr val="002BB6"/>
                </a:solidFill>
              </a:rPr>
              <a:t> i=0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2BB6"/>
                </a:solidFill>
              </a:rPr>
              <a:t> i</a:t>
            </a:r>
            <a:r>
              <a:rPr lang="zh-CN" altLang="zh-CN" sz="2800" dirty="0">
                <a:solidFill>
                  <a:srgbClr val="002BB6"/>
                </a:solidFill>
              </a:rPr>
              <a:t>&lt;</a:t>
            </a:r>
            <a:r>
              <a:rPr lang="zh-CN" altLang="zh-CN" sz="2800" b="1" dirty="0">
                <a:solidFill>
                  <a:srgbClr val="002BB6"/>
                </a:solidFill>
              </a:rPr>
              <a:t>k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2BB6"/>
                </a:solidFill>
              </a:rPr>
              <a:t> i++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2F2FBD"/>
                </a:solidFill>
              </a:rPr>
              <a:t>             </a:t>
            </a:r>
            <a:r>
              <a:rPr lang="zh-CN" altLang="zh-CN" sz="2800" b="1" dirty="0">
                <a:solidFill>
                  <a:schemeClr val="bg2"/>
                </a:solidFill>
              </a:rPr>
              <a:t>for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chemeClr val="bg2"/>
                </a:solidFill>
              </a:rPr>
              <a:t> j=0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</a:rPr>
              <a:t> j</a:t>
            </a:r>
            <a:r>
              <a:rPr lang="zh-CN" altLang="zh-CN" sz="2800" dirty="0">
                <a:solidFill>
                  <a:schemeClr val="bg2"/>
                </a:solidFill>
              </a:rPr>
              <a:t>&lt;</a:t>
            </a:r>
            <a:r>
              <a:rPr lang="zh-CN" altLang="zh-CN" sz="2800" b="1" dirty="0">
                <a:solidFill>
                  <a:schemeClr val="bg2"/>
                </a:solidFill>
              </a:rPr>
              <a:t>k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</a:rPr>
              <a:t> j++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2F2FBD"/>
                </a:solidFill>
              </a:rPr>
              <a:t>                     </a:t>
            </a:r>
            <a:r>
              <a:rPr lang="zh-CN" altLang="zh-CN" sz="2800" b="1" dirty="0">
                <a:solidFill>
                  <a:srgbClr val="002BB6"/>
                </a:solidFill>
              </a:rPr>
              <a:t>n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002BB6"/>
                </a:solidFill>
              </a:rPr>
              <a:t>j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2BB6"/>
                </a:solidFill>
              </a:rPr>
              <a:t>=n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[</a:t>
            </a:r>
            <a:r>
              <a:rPr lang="zh-CN" altLang="zh-CN" sz="2800" b="1" dirty="0">
                <a:solidFill>
                  <a:srgbClr val="002BB6"/>
                </a:solidFill>
              </a:rPr>
              <a:t>i</a:t>
            </a:r>
            <a:r>
              <a:rPr lang="zh-CN" altLang="zh-CN" sz="2800" b="1" dirty="0">
                <a:solidFill>
                  <a:srgbClr val="002BB6"/>
                </a:solidFill>
                <a:latin typeface="黑体" pitchFamily="49" charset="-122"/>
              </a:rPr>
              <a:t>]</a:t>
            </a:r>
            <a:r>
              <a:rPr lang="zh-CN" altLang="zh-CN" sz="2800" b="1" dirty="0">
                <a:solidFill>
                  <a:srgbClr val="002BB6"/>
                </a:solidFill>
              </a:rPr>
              <a:t>+1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dirty="0"/>
              <a:t> 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n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k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 ;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/>
              <a:t>     }      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8296200" y="1602080"/>
            <a:ext cx="20482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fontAlgn="base">
              <a:spcBef>
                <a:spcPct val="45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</a:rPr>
              <a:t>不确定的值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8296200" y="2459330"/>
            <a:ext cx="1600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296200" y="3316580"/>
            <a:ext cx="132819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296200" y="4173830"/>
            <a:ext cx="1600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81825" y="1666373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581825" y="252362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81825" y="338087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581825" y="423812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8984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5D86821-DB09-ABDE-CE5C-37663B757C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00200" y="836712"/>
            <a:ext cx="9753600" cy="63223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分别求出</a:t>
            </a:r>
            <a:r>
              <a:rPr lang="zh-CN" altLang="zh-CN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5×5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整数矩阵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两条对角线上元素数之和</a:t>
            </a:r>
            <a:endParaRPr lang="en-US" altLang="zh-CN" sz="24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marL="457200" indent="-457200">
              <a:buNone/>
            </a:pPr>
            <a:r>
              <a:rPr lang="zh-CN" altLang="zh-CN" sz="2800" b="1" dirty="0"/>
              <a:t>#include &lt;stdio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/>
              <a:t>h&gt;       </a:t>
            </a:r>
          </a:p>
          <a:p>
            <a:pPr marL="457200" indent="-457200">
              <a:buNone/>
            </a:pPr>
            <a:r>
              <a:rPr lang="zh-CN" altLang="zh-CN" sz="2800" b="1"/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 marL="457200" indent="-457200">
              <a:buNone/>
            </a:pPr>
            <a:r>
              <a:rPr lang="zh-CN" altLang="zh-CN" sz="2800" b="1" dirty="0"/>
              <a:t>{  int  i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j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5</a:t>
            </a:r>
            <a:r>
              <a:rPr lang="zh-CN" altLang="zh-CN" sz="2800" b="1" dirty="0">
                <a:latin typeface="黑体" pitchFamily="49" charset="-122"/>
              </a:rPr>
              <a:t>][</a:t>
            </a:r>
            <a:r>
              <a:rPr lang="zh-CN" altLang="zh-CN" sz="2800" b="1" dirty="0"/>
              <a:t>5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s1=0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s2=0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457200" indent="-457200">
              <a:buNone/>
            </a:pPr>
            <a:r>
              <a:rPr lang="zh-CN" altLang="zh-CN" sz="2800" b="1" dirty="0"/>
              <a:t>    for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/>
              <a:t>i=0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i&lt;5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b="1" dirty="0">
                <a:latin typeface="Times New Roman" pitchFamily="18" charset="0"/>
              </a:rPr>
              <a:t>++)</a:t>
            </a:r>
          </a:p>
          <a:p>
            <a:pPr marL="457200" indent="-457200">
              <a:buNone/>
            </a:pPr>
            <a:r>
              <a:rPr lang="zh-CN" altLang="zh-CN" sz="2800" b="1" dirty="0"/>
              <a:t>    </a:t>
            </a:r>
            <a:r>
              <a:rPr lang="en-US" altLang="zh-CN" sz="2800" b="1" dirty="0"/>
              <a:t>     </a:t>
            </a:r>
            <a:r>
              <a:rPr lang="zh-CN" altLang="zh-CN" sz="2800" b="1" dirty="0"/>
              <a:t>for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j=0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j&lt;5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j++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marL="457200" indent="-457200">
              <a:buNone/>
            </a:pPr>
            <a:r>
              <a:rPr lang="zh-CN" altLang="zh-CN" sz="2800" b="1" dirty="0"/>
              <a:t>        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 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scanf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黑体" pitchFamily="49" charset="-122"/>
              </a:rPr>
              <a:t>][</a:t>
            </a:r>
            <a:r>
              <a:rPr lang="zh-CN" altLang="zh-CN" sz="2800" b="1" dirty="0"/>
              <a:t>j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 marL="457200" indent="-457200">
              <a:buNone/>
            </a:pPr>
            <a:r>
              <a:rPr lang="zh-CN" altLang="zh-CN" sz="2800" b="1" dirty="0"/>
              <a:t>    </a:t>
            </a:r>
            <a:r>
              <a:rPr lang="zh-CN" altLang="zh-CN" sz="2800" b="1" dirty="0">
                <a:solidFill>
                  <a:srgbClr val="00009E"/>
                </a:solidFill>
              </a:rPr>
              <a:t>for(i=0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009E"/>
                </a:solidFill>
              </a:rPr>
              <a:t> i&lt;5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rgbClr val="00009E"/>
                </a:solidFill>
              </a:rPr>
              <a:t> i++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)</a:t>
            </a:r>
          </a:p>
          <a:p>
            <a:pPr marL="457200" indent="-457200">
              <a:buNone/>
            </a:pPr>
            <a:r>
              <a:rPr lang="zh-CN" altLang="zh-CN" sz="2800" b="1" dirty="0"/>
              <a:t>     </a:t>
            </a:r>
            <a:r>
              <a:rPr lang="zh-CN" altLang="zh-CN" sz="2800" b="1" dirty="0">
                <a:solidFill>
                  <a:srgbClr val="00009E"/>
                </a:solidFill>
              </a:rPr>
              <a:t>{</a:t>
            </a:r>
            <a:r>
              <a:rPr lang="zh-CN" altLang="zh-CN" sz="2800" b="1" dirty="0"/>
              <a:t>  s1</a:t>
            </a:r>
            <a:r>
              <a:rPr lang="en-US" altLang="zh-CN" sz="2800" b="1" dirty="0"/>
              <a:t>+</a:t>
            </a:r>
            <a:r>
              <a:rPr lang="zh-CN" altLang="zh-CN" sz="2800" b="1" dirty="0"/>
              <a:t>=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</a:rPr>
              <a:t>//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</a:rPr>
              <a:t>求正对角线元素之和</a:t>
            </a:r>
            <a:endParaRPr lang="zh-CN" altLang="zh-CN" sz="28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 marL="457200" indent="-457200"/>
            <a:r>
              <a:rPr lang="zh-CN" altLang="zh-CN" sz="2800" b="1" dirty="0"/>
              <a:t>         s2+=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</a:rPr>
              <a:t>2]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</a:rPr>
              <a:t>//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</a:rPr>
              <a:t>求副对角线元素之和</a:t>
            </a:r>
            <a:endParaRPr lang="zh-CN" altLang="zh-CN" sz="28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 marL="457200" indent="-457200">
              <a:buNone/>
            </a:pPr>
            <a:r>
              <a:rPr lang="zh-CN" altLang="zh-CN" sz="2800" b="1" dirty="0"/>
              <a:t>      </a:t>
            </a:r>
            <a:r>
              <a:rPr lang="zh-CN" altLang="zh-CN" sz="2800" b="1" dirty="0">
                <a:solidFill>
                  <a:srgbClr val="00009E"/>
                </a:solidFill>
              </a:rPr>
              <a:t>}</a:t>
            </a:r>
          </a:p>
          <a:p>
            <a:pPr marL="457200" indent="-457200">
              <a:buNone/>
            </a:pPr>
            <a:r>
              <a:rPr lang="zh-CN" altLang="zh-CN" sz="2800" b="1" dirty="0"/>
              <a:t>    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%d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”,</a:t>
            </a:r>
            <a:r>
              <a:rPr lang="zh-CN" altLang="zh-CN" sz="2800" b="1" dirty="0"/>
              <a:t> s1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s2 </a:t>
            </a:r>
            <a:r>
              <a:rPr lang="zh-CN" altLang="zh-CN" sz="2800" b="1" dirty="0">
                <a:latin typeface="Times New Roman" pitchFamily="18" charset="0"/>
              </a:rPr>
              <a:t>); </a:t>
            </a:r>
          </a:p>
          <a:p>
            <a:pPr marL="457200" indent="-457200">
              <a:buNone/>
            </a:pPr>
            <a:r>
              <a:rPr lang="zh-CN" altLang="zh-CN" sz="2800" b="1" dirty="0"/>
              <a:t> }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0207AC-1BEF-13CD-4CF5-91343A76D9D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6D63E2-ADA9-F25E-370A-50FE0F9D0FF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2C7C03C-4A99-ACC3-6BDC-91EB63EA52F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38C81A5-143C-20FC-9D48-8402C977A53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BF9C0864-77B5-7569-262A-4A29A225E07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B71ABB23-4AA4-8392-9F32-05AF1FABBD5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D86B243-4343-1DA2-DFE1-B5FE57336D5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1563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C51D15C-AAA3-A4EF-3B53-F6081509AD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412776"/>
            <a:ext cx="6244952" cy="467569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打印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行杨辉三角</a:t>
            </a:r>
            <a:endParaRPr lang="en-US" altLang="zh-CN" sz="2000" dirty="0">
              <a:solidFill>
                <a:schemeClr val="tx1"/>
              </a:solidFill>
              <a:latin typeface="Times New Roman" pitchFamily="18" charset="0"/>
              <a:ea typeface="黑体" pitchFamily="49" charset="-122"/>
            </a:endParaRPr>
          </a:p>
          <a:p>
            <a:endParaRPr lang="pt-BR" altLang="zh-CN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#include&lt;stdio.h&gt;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#define N 10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 )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a[N][N]={0},i,j,n;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for(i=0;i&lt;=N-1;i++)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a[i][0]=a[i][i]=1;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for(i=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;i&lt;=N-1;i++)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for(j=1;j&lt;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;j++)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	a[i][j]=a[i-1][j-1]+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;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535D08C-13B5-2508-669A-78CB0DB5A38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DA88BA-0FB7-F0DE-5791-96F016F46C9B}"/>
              </a:ext>
            </a:extLst>
          </p:cNvPr>
          <p:cNvSpPr txBox="1"/>
          <p:nvPr/>
        </p:nvSpPr>
        <p:spPr>
          <a:xfrm>
            <a:off x="7104111" y="1844824"/>
            <a:ext cx="60672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	for(i=0;i&lt;=N-1;i++)</a:t>
            </a:r>
            <a:r>
              <a:rPr lang="en-US" altLang="zh-CN" dirty="0">
                <a:solidFill>
                  <a:srgbClr val="0070C0"/>
                </a:solidFill>
              </a:rPr>
              <a:t>//</a:t>
            </a:r>
            <a:r>
              <a:rPr lang="zh-CN" altLang="en-US" dirty="0">
                <a:solidFill>
                  <a:srgbClr val="0070C0"/>
                </a:solidFill>
              </a:rPr>
              <a:t>打印</a:t>
            </a:r>
          </a:p>
          <a:p>
            <a:r>
              <a:rPr lang="zh-CN" altLang="en-US" dirty="0"/>
              <a:t>	{</a:t>
            </a:r>
          </a:p>
          <a:p>
            <a:r>
              <a:rPr lang="zh-CN" altLang="en-US" dirty="0"/>
              <a:t>		for(j=0;j&lt;=i;j++)</a:t>
            </a:r>
          </a:p>
          <a:p>
            <a:r>
              <a:rPr lang="zh-CN" altLang="en-US" dirty="0"/>
              <a:t>			printf("%5d",a[i][j]);</a:t>
            </a:r>
          </a:p>
          <a:p>
            <a:r>
              <a:rPr lang="zh-CN" altLang="en-US" dirty="0"/>
              <a:t>		printf("\n");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          }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3A20AE6-11EF-71CE-6B05-BBB05F71BBF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B06A7DB6-9B61-5B64-96C2-C9E4F99C3A2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12BFA00-3775-84E3-1FB2-8E3EBA928FA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5E335052-A19C-886B-051B-B70E41EE3DB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46AE23AA-483E-66F2-EA26-17CC42FAEAE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DB24498-2F41-2C19-EB22-24CCEBD434C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4180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0" y="1412776"/>
            <a:ext cx="9001000" cy="4114800"/>
          </a:xfrm>
        </p:spPr>
        <p:txBody>
          <a:bodyPr/>
          <a:lstStyle/>
          <a:p>
            <a:r>
              <a:rPr lang="zh-CN" altLang="en-US" sz="2800" dirty="0">
                <a:latin typeface="+mj-ea"/>
                <a:ea typeface="+mj-ea"/>
              </a:rPr>
              <a:t>数组名后有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zh-CN" altLang="en-US" sz="2800" dirty="0">
                <a:latin typeface="+mj-ea"/>
                <a:ea typeface="+mj-ea"/>
              </a:rPr>
              <a:t>个或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zh-CN" altLang="en-US" sz="2800" dirty="0">
                <a:latin typeface="+mj-ea"/>
                <a:ea typeface="+mj-ea"/>
              </a:rPr>
              <a:t>个以上下标</a:t>
            </a:r>
            <a:r>
              <a:rPr lang="en-US" altLang="zh-CN" sz="2800" dirty="0">
                <a:latin typeface="+mj-ea"/>
                <a:ea typeface="+mj-ea"/>
              </a:rPr>
              <a:t>(</a:t>
            </a:r>
            <a:r>
              <a:rPr lang="zh-CN" altLang="en-US" sz="2800" dirty="0">
                <a:latin typeface="+mj-ea"/>
                <a:ea typeface="+mj-ea"/>
              </a:rPr>
              <a:t>即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zh-CN" altLang="en-US" sz="2800" dirty="0">
                <a:latin typeface="+mj-ea"/>
                <a:ea typeface="+mj-ea"/>
              </a:rPr>
              <a:t>对或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zh-CN" altLang="en-US" sz="2800" dirty="0">
                <a:latin typeface="+mj-ea"/>
                <a:ea typeface="+mj-ea"/>
              </a:rPr>
              <a:t>对以上方括号</a:t>
            </a:r>
            <a:r>
              <a:rPr lang="en-US" altLang="zh-CN" sz="2800" dirty="0">
                <a:latin typeface="+mj-ea"/>
                <a:ea typeface="+mj-ea"/>
              </a:rPr>
              <a:t>)</a:t>
            </a:r>
            <a:r>
              <a:rPr lang="zh-CN" altLang="en-US" sz="2800" dirty="0">
                <a:latin typeface="+mj-ea"/>
                <a:ea typeface="+mj-ea"/>
              </a:rPr>
              <a:t>的数组称多维数组</a:t>
            </a:r>
            <a:r>
              <a:rPr lang="en-US" altLang="zh-CN" sz="2800" dirty="0">
                <a:latin typeface="+mj-ea"/>
                <a:ea typeface="+mj-ea"/>
              </a:rPr>
              <a:t>,</a:t>
            </a:r>
            <a:r>
              <a:rPr lang="zh-CN" altLang="en-US" sz="2800" dirty="0">
                <a:latin typeface="+mj-ea"/>
                <a:ea typeface="+mj-ea"/>
              </a:rPr>
              <a:t>其定义形式与二维数组相似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</a:p>
          <a:p>
            <a:pPr marL="0" indent="0">
              <a:buNone/>
            </a:pPr>
            <a:endParaRPr lang="en-US" altLang="zh-CN" sz="28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数据类型 数组名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常量表达式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1][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常量表达式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2][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常量表达式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3]…; </a:t>
            </a:r>
          </a:p>
        </p:txBody>
      </p:sp>
    </p:spTree>
    <p:extLst>
      <p:ext uri="{BB962C8B-B14F-4D97-AF65-F5344CB8AC3E}">
        <p14:creationId xmlns:p14="http://schemas.microsoft.com/office/powerpoint/2010/main" val="2567668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+mj-ea"/>
                <a:ea typeface="+mj-ea"/>
              </a:rPr>
              <a:t>多维数组所含元素的总数是所有常量表达式值的乘积</a:t>
            </a:r>
            <a:endParaRPr lang="en-US" altLang="zh-CN" sz="2400" dirty="0">
              <a:latin typeface="+mj-ea"/>
              <a:ea typeface="+mj-ea"/>
            </a:endParaRPr>
          </a:p>
          <a:p>
            <a:r>
              <a:rPr lang="zh-CN" altLang="en-US" sz="2400" dirty="0">
                <a:latin typeface="+mj-ea"/>
                <a:ea typeface="+mj-ea"/>
              </a:rPr>
              <a:t>各元素在内存中按“行”的顺序</a:t>
            </a:r>
            <a:r>
              <a:rPr lang="en-US" altLang="zh-CN" sz="2400" dirty="0">
                <a:latin typeface="+mj-ea"/>
                <a:ea typeface="+mj-ea"/>
              </a:rPr>
              <a:t>(</a:t>
            </a:r>
            <a:r>
              <a:rPr lang="zh-CN" altLang="en-US" sz="2400" dirty="0">
                <a:latin typeface="+mj-ea"/>
                <a:ea typeface="+mj-ea"/>
              </a:rPr>
              <a:t>也称</a:t>
            </a:r>
            <a:r>
              <a:rPr lang="en-US" altLang="zh-CN" sz="2400" dirty="0">
                <a:latin typeface="+mj-ea"/>
                <a:ea typeface="+mj-ea"/>
              </a:rPr>
              <a:t>"</a:t>
            </a:r>
            <a:r>
              <a:rPr lang="zh-CN" altLang="en-US" sz="2400" dirty="0">
                <a:latin typeface="+mj-ea"/>
                <a:ea typeface="+mj-ea"/>
              </a:rPr>
              <a:t>按行序优先</a:t>
            </a:r>
            <a:r>
              <a:rPr lang="en-US" altLang="zh-CN" sz="2400" dirty="0">
                <a:latin typeface="+mj-ea"/>
                <a:ea typeface="+mj-ea"/>
              </a:rPr>
              <a:t>",</a:t>
            </a:r>
            <a:r>
              <a:rPr lang="zh-CN" altLang="en-US" sz="2400" dirty="0">
                <a:latin typeface="+mj-ea"/>
                <a:ea typeface="+mj-ea"/>
              </a:rPr>
              <a:t>即最右下标变化最快</a:t>
            </a:r>
            <a:r>
              <a:rPr lang="en-US" altLang="zh-CN" sz="2400" dirty="0">
                <a:latin typeface="+mj-ea"/>
                <a:ea typeface="+mj-ea"/>
              </a:rPr>
              <a:t>)</a:t>
            </a:r>
            <a:r>
              <a:rPr lang="zh-CN" altLang="en-US" sz="2400" dirty="0">
                <a:latin typeface="+mj-ea"/>
                <a:ea typeface="+mj-ea"/>
              </a:rPr>
              <a:t>存储</a:t>
            </a:r>
            <a:endParaRPr lang="en-US" altLang="zh-CN" sz="2400" dirty="0">
              <a:latin typeface="+mj-ea"/>
              <a:ea typeface="+mj-ea"/>
            </a:endParaRPr>
          </a:p>
          <a:p>
            <a:r>
              <a:rPr lang="zh-CN" altLang="en-US" sz="2400" dirty="0">
                <a:latin typeface="+mj-ea"/>
                <a:ea typeface="+mj-ea"/>
              </a:rPr>
              <a:t>例如</a:t>
            </a:r>
            <a:r>
              <a:rPr lang="en-US" altLang="zh-CN" sz="2400" dirty="0">
                <a:latin typeface="+mj-ea"/>
                <a:ea typeface="+mj-ea"/>
              </a:rPr>
              <a:t>"int x[2][2][3];",</a:t>
            </a:r>
            <a:r>
              <a:rPr lang="zh-CN" altLang="en-US" sz="2400" dirty="0">
                <a:latin typeface="+mj-ea"/>
                <a:ea typeface="+mj-ea"/>
              </a:rPr>
              <a:t>则数组</a:t>
            </a:r>
            <a:r>
              <a:rPr lang="en-US" altLang="zh-CN" sz="2400" dirty="0">
                <a:latin typeface="+mj-ea"/>
                <a:ea typeface="+mj-ea"/>
              </a:rPr>
              <a:t>x</a:t>
            </a:r>
            <a:r>
              <a:rPr lang="zh-CN" altLang="en-US" sz="2400" dirty="0">
                <a:latin typeface="+mj-ea"/>
                <a:ea typeface="+mj-ea"/>
              </a:rPr>
              <a:t>中有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2×2×3=12</a:t>
            </a:r>
            <a:r>
              <a:rPr lang="zh-CN" altLang="en-US" sz="2400" dirty="0">
                <a:latin typeface="+mj-ea"/>
                <a:ea typeface="+mj-ea"/>
              </a:rPr>
              <a:t>个元素</a:t>
            </a:r>
            <a:r>
              <a:rPr lang="en-US" altLang="zh-CN" sz="2400" dirty="0">
                <a:latin typeface="+mj-ea"/>
                <a:ea typeface="+mj-ea"/>
              </a:rPr>
              <a:t>,</a:t>
            </a:r>
            <a:r>
              <a:rPr lang="zh-CN" altLang="en-US" sz="2400" dirty="0">
                <a:latin typeface="+mj-ea"/>
                <a:ea typeface="+mj-ea"/>
              </a:rPr>
              <a:t>它们在内存中的存储顺序分别为：</a:t>
            </a: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x[0][0][0],x[0][0][1],x[0][0][2]</a:t>
            </a: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x[0][1][0],x[0][1][1],x[0][1][2]</a:t>
            </a: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x[1][0][0],x[1][0][1],x[1][0][2]</a:t>
            </a: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x[1][1][0],x[1][1][1],x[1][1][2]</a:t>
            </a:r>
          </a:p>
        </p:txBody>
      </p:sp>
    </p:spTree>
    <p:extLst>
      <p:ext uri="{BB962C8B-B14F-4D97-AF65-F5344CB8AC3E}">
        <p14:creationId xmlns:p14="http://schemas.microsoft.com/office/powerpoint/2010/main" val="3162452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多维数组的理解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有关多维数组的初始化、引用和降维处理与二维数组相似</a:t>
            </a:r>
          </a:p>
        </p:txBody>
      </p:sp>
    </p:spTree>
    <p:extLst>
      <p:ext uri="{BB962C8B-B14F-4D97-AF65-F5344CB8AC3E}">
        <p14:creationId xmlns:p14="http://schemas.microsoft.com/office/powerpoint/2010/main" val="230279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488" y="188640"/>
            <a:ext cx="10390717" cy="1141413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3600"/>
              <a:t>随机产生一个一维数组并输出</a:t>
            </a:r>
            <a:r>
              <a:rPr lang="en-US" altLang="zh-CN" sz="3600"/>
              <a:t>,</a:t>
            </a:r>
            <a:r>
              <a:rPr lang="zh-CN" altLang="en-US" sz="3600"/>
              <a:t>将最大值与第</a:t>
            </a:r>
            <a:r>
              <a:rPr lang="en-US" altLang="zh-CN" sz="3600"/>
              <a:t>1</a:t>
            </a:r>
            <a:r>
              <a:rPr lang="zh-CN" altLang="en-US" sz="3600"/>
              <a:t>个元素互换</a:t>
            </a:r>
            <a:r>
              <a:rPr lang="en-US" altLang="zh-CN" sz="3600"/>
              <a:t>,</a:t>
            </a:r>
            <a:r>
              <a:rPr lang="zh-CN" altLang="en-US" sz="3600"/>
              <a:t>将最小值与最后一个元素互换后输出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16" y="1330053"/>
            <a:ext cx="10657184" cy="53393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/>
              <a:t>#include &lt;stdio.h&gt;</a:t>
            </a:r>
          </a:p>
          <a:p>
            <a:pPr marL="0" indent="0">
              <a:buNone/>
            </a:pPr>
            <a:r>
              <a:rPr lang="en-US" altLang="zh-CN" sz="2400" b="1"/>
              <a:t>#include &lt;stdlib.h&gt;</a:t>
            </a:r>
          </a:p>
          <a:p>
            <a:pPr marL="0" indent="0">
              <a:buNone/>
            </a:pPr>
            <a:r>
              <a:rPr lang="en-US" altLang="zh-CN" sz="2400" b="1"/>
              <a:t>#include &lt;time.h&gt;</a:t>
            </a:r>
          </a:p>
          <a:p>
            <a:pPr marL="0" indent="0">
              <a:buNone/>
            </a:pPr>
            <a:r>
              <a:rPr lang="en-US" altLang="zh-CN" sz="2400" b="1"/>
              <a:t>#define N 5</a:t>
            </a:r>
          </a:p>
          <a:p>
            <a:pPr marL="0" indent="0">
              <a:buNone/>
            </a:pPr>
            <a:r>
              <a:rPr lang="en-US" altLang="zh-CN" sz="2400" b="1"/>
              <a:t>main()</a:t>
            </a:r>
          </a:p>
          <a:p>
            <a:pPr marL="0" indent="0">
              <a:buNone/>
            </a:pPr>
            <a:r>
              <a:rPr lang="en-US" altLang="zh-CN" sz="2400" b="1"/>
              <a:t>{ 	int i,maxi,mini,t,a[N];</a:t>
            </a:r>
          </a:p>
          <a:p>
            <a:pPr marL="0" indent="0">
              <a:buNone/>
            </a:pPr>
            <a:r>
              <a:rPr lang="en-US" altLang="zh-CN" sz="2400" b="1"/>
              <a:t>	srand(time(0));</a:t>
            </a:r>
          </a:p>
          <a:p>
            <a:pPr marL="0" indent="0">
              <a:buNone/>
            </a:pPr>
            <a:r>
              <a:rPr lang="en-US" altLang="zh-CN" sz="2400" b="1"/>
              <a:t>	for(i=0;i&lt;N;i++)</a:t>
            </a:r>
          </a:p>
          <a:p>
            <a:pPr marL="0" indent="0">
              <a:buNone/>
            </a:pPr>
            <a:r>
              <a:rPr lang="en-US" altLang="zh-CN" sz="2400" b="1"/>
              <a:t>		printf("%5d",a[i]=rand()%(99-10+1)+10);//</a:t>
            </a:r>
            <a:r>
              <a:rPr lang="zh-CN" altLang="en-US" sz="2400" b="1"/>
              <a:t>两位数</a:t>
            </a:r>
          </a:p>
          <a:p>
            <a:pPr marL="0" indent="0"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printf("\n");</a:t>
            </a:r>
          </a:p>
          <a:p>
            <a:pPr marL="0" indent="0">
              <a:buNone/>
            </a:pPr>
            <a:r>
              <a:rPr lang="en-US" altLang="zh-CN" sz="2400" b="1"/>
              <a:t>	maxi=mini=0;</a:t>
            </a:r>
          </a:p>
          <a:p>
            <a:pPr marL="0" indent="0">
              <a:buNone/>
            </a:pPr>
            <a:r>
              <a:rPr lang="en-US" altLang="zh-CN" sz="2400" b="1"/>
              <a:t>	for(i=1;i&lt;N;i++)</a:t>
            </a:r>
          </a:p>
          <a:p>
            <a:pPr marL="0" indent="0">
              <a:buNone/>
            </a:pPr>
            <a:r>
              <a:rPr lang="en-US" altLang="zh-CN" sz="2400" b="1"/>
              <a:t>	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4203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488" y="188640"/>
            <a:ext cx="10390717" cy="1141413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3600"/>
              <a:t>随机产生一个一维数组并输出</a:t>
            </a:r>
            <a:r>
              <a:rPr lang="en-US" altLang="zh-CN" sz="3600"/>
              <a:t>,</a:t>
            </a:r>
            <a:r>
              <a:rPr lang="zh-CN" altLang="en-US" sz="3600"/>
              <a:t>将最大值与第</a:t>
            </a:r>
            <a:r>
              <a:rPr lang="en-US" altLang="zh-CN" sz="3600"/>
              <a:t>1</a:t>
            </a:r>
            <a:r>
              <a:rPr lang="zh-CN" altLang="en-US" sz="3600"/>
              <a:t>个元素互换</a:t>
            </a:r>
            <a:r>
              <a:rPr lang="en-US" altLang="zh-CN" sz="3600"/>
              <a:t>,</a:t>
            </a:r>
            <a:r>
              <a:rPr lang="zh-CN" altLang="en-US" sz="3600"/>
              <a:t>将最小值与最后一个元素互换后输出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518693"/>
            <a:ext cx="10657184" cy="53393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/>
              <a:t>       {		if(a[i]&gt;a[maxi]) maxi=i;</a:t>
            </a:r>
          </a:p>
          <a:p>
            <a:pPr marL="0" indent="0">
              <a:buNone/>
            </a:pPr>
            <a:r>
              <a:rPr lang="en-US" altLang="zh-CN" sz="2400" b="1"/>
              <a:t>		if(a[i]&lt;a[mini]) mini=i;</a:t>
            </a:r>
          </a:p>
          <a:p>
            <a:pPr marL="0" indent="0">
              <a:buNone/>
            </a:pPr>
            <a:r>
              <a:rPr lang="en-US" altLang="zh-CN" sz="2400" b="1"/>
              <a:t>	}</a:t>
            </a:r>
          </a:p>
          <a:p>
            <a:pPr marL="0" indent="0">
              <a:buNone/>
            </a:pPr>
            <a:r>
              <a:rPr lang="en-US" altLang="zh-CN" sz="2400" b="1"/>
              <a:t>	t=a[0],a[0]=a[maxi],a[maxi]=t;//</a:t>
            </a:r>
            <a:r>
              <a:rPr lang="zh-CN" altLang="en-US" sz="2400" b="1"/>
              <a:t>最大元素与</a:t>
            </a:r>
            <a:r>
              <a:rPr lang="en-US" altLang="zh-CN" sz="2400" b="1"/>
              <a:t>a[0]</a:t>
            </a:r>
            <a:r>
              <a:rPr lang="zh-CN" altLang="en-US" sz="2400" b="1"/>
              <a:t>互换</a:t>
            </a:r>
          </a:p>
          <a:p>
            <a:pPr marL="0" indent="0"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if(mini==0)//</a:t>
            </a:r>
            <a:r>
              <a:rPr lang="zh-CN" altLang="en-US" sz="2400" b="1"/>
              <a:t>如果最小元素的下标为</a:t>
            </a:r>
            <a:r>
              <a:rPr lang="en-US" altLang="zh-CN" sz="2400" b="1"/>
              <a:t>0,</a:t>
            </a:r>
            <a:r>
              <a:rPr lang="zh-CN" altLang="en-US" sz="2400" b="1"/>
              <a:t>现在已经</a:t>
            </a:r>
          </a:p>
          <a:p>
            <a:pPr marL="0" indent="0">
              <a:buNone/>
            </a:pPr>
            <a:r>
              <a:rPr lang="zh-CN" altLang="en-US" sz="2400" b="1"/>
              <a:t>		</a:t>
            </a:r>
            <a:r>
              <a:rPr lang="en-US" altLang="zh-CN" sz="2400" b="1"/>
              <a:t>mini=maxi;//</a:t>
            </a:r>
            <a:r>
              <a:rPr lang="zh-CN" altLang="en-US" sz="2400" b="1"/>
              <a:t>换到</a:t>
            </a:r>
            <a:r>
              <a:rPr lang="en-US" altLang="zh-CN" sz="2400" b="1"/>
              <a:t>maxi</a:t>
            </a:r>
            <a:r>
              <a:rPr lang="zh-CN" altLang="en-US" sz="2400" b="1"/>
              <a:t>位置</a:t>
            </a:r>
          </a:p>
          <a:p>
            <a:pPr marL="0" indent="0"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t=a[N-1],a[N-1]=a[mini],a[mini]=t;//</a:t>
            </a:r>
            <a:r>
              <a:rPr lang="zh-CN" altLang="en-US" sz="2400" b="1"/>
              <a:t>最小元素与</a:t>
            </a:r>
            <a:r>
              <a:rPr lang="en-US" altLang="zh-CN" sz="2400" b="1"/>
              <a:t>a[N-1]</a:t>
            </a:r>
            <a:r>
              <a:rPr lang="zh-CN" altLang="en-US" sz="2400" b="1"/>
              <a:t>互换</a:t>
            </a:r>
          </a:p>
          <a:p>
            <a:pPr marL="0" indent="0"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printf("</a:t>
            </a:r>
            <a:r>
              <a:rPr lang="zh-CN" altLang="en-US" sz="2400" b="1"/>
              <a:t>互换后</a:t>
            </a:r>
            <a:r>
              <a:rPr lang="en-US" altLang="zh-CN" sz="2400" b="1"/>
              <a:t>:\n");</a:t>
            </a:r>
          </a:p>
          <a:p>
            <a:pPr marL="0" indent="0">
              <a:buNone/>
            </a:pPr>
            <a:r>
              <a:rPr lang="en-US" altLang="zh-CN" sz="2400" b="1"/>
              <a:t>	for(i=0;i&lt;N;i++)</a:t>
            </a:r>
          </a:p>
          <a:p>
            <a:pPr marL="0" indent="0">
              <a:buNone/>
            </a:pPr>
            <a:r>
              <a:rPr lang="en-US" altLang="zh-CN" sz="2400" b="1"/>
              <a:t>		printf("%5d",a[i]);</a:t>
            </a:r>
          </a:p>
          <a:p>
            <a:pPr marL="0" indent="0">
              <a:buNone/>
            </a:pPr>
            <a:r>
              <a:rPr lang="en-US" altLang="zh-CN" sz="2400" b="1"/>
              <a:t>	printf("\n");	</a:t>
            </a:r>
          </a:p>
          <a:p>
            <a:pPr marL="0" indent="0">
              <a:buNone/>
            </a:pPr>
            <a:r>
              <a:rPr lang="en-US" altLang="zh-CN" sz="2400" b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142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5602CD-15CA-4D91-9F42-41C2B9495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608" y="965594"/>
            <a:ext cx="5832648" cy="5697007"/>
          </a:xfrm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C42C2987-6101-48DC-90F4-878A224F5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19536" y="188640"/>
            <a:ext cx="78870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ea typeface="微软雅黑" pitchFamily="34" charset="-122"/>
                <a:sym typeface="Verdana" pitchFamily="34" charset="0"/>
              </a:rPr>
              <a:t>用选择法对</a:t>
            </a:r>
            <a:r>
              <a:rPr lang="en-US" altLang="zh-CN" sz="3200" b="1" dirty="0">
                <a:ea typeface="微软雅黑" pitchFamily="34" charset="-122"/>
                <a:sym typeface="Verdana" pitchFamily="34" charset="0"/>
              </a:rPr>
              <a:t>N</a:t>
            </a:r>
            <a:r>
              <a:rPr lang="zh-CN" altLang="en-US" sz="3200" b="1" dirty="0">
                <a:ea typeface="微软雅黑" pitchFamily="34" charset="-122"/>
                <a:sym typeface="Verdana" pitchFamily="34" charset="0"/>
              </a:rPr>
              <a:t>个整数进行从小到大的排序。</a:t>
            </a:r>
          </a:p>
        </p:txBody>
      </p:sp>
    </p:spTree>
    <p:extLst>
      <p:ext uri="{BB962C8B-B14F-4D97-AF65-F5344CB8AC3E}">
        <p14:creationId xmlns:p14="http://schemas.microsoft.com/office/powerpoint/2010/main" val="851788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79576" y="249237"/>
            <a:ext cx="8162925" cy="6608763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#define N 10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main ()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int 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i,j,min,temp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int a[N]={4,2,5,9,0,1,8,6,3,7};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for(i=0;i&lt;N-1;i++)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{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min=i;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for(j=i+1;j&lt;N;j++)         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在a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[i]~a[9]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中找出最小值a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[min]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if(a[min]&gt;a[j])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min=j;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if (min != i)                 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最小值不是a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时</a:t>
            </a:r>
            <a:r>
              <a:rPr lang="en-US" altLang="zh-CN" sz="2000" b="1" dirty="0" err="1">
                <a:latin typeface="Times New Roman" pitchFamily="18" charset="0"/>
                <a:ea typeface="华文仿宋" pitchFamily="2" charset="-122"/>
              </a:rPr>
              <a:t>,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[min]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与a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交换</a:t>
            </a:r>
            <a:endParaRPr lang="en-US" altLang="en-US" sz="2000" b="1" dirty="0">
              <a:latin typeface="Times New Roman" pitchFamily="18" charset="0"/>
              <a:ea typeface="华文仿宋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   </a:t>
            </a: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temp=a[min], a[min]=a[i], a[i]=temp; 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for(i=0;i&lt;10;i++) 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输出排序后的数组</a:t>
            </a:r>
            <a:endParaRPr lang="en-US" altLang="en-US" sz="2000" b="1" dirty="0">
              <a:latin typeface="Times New Roman" pitchFamily="18" charset="0"/>
              <a:ea typeface="华文仿宋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printf("%3d",a[i]);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输出为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: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0  1  2  3  4  5  6  7  8  9</a:t>
            </a:r>
          </a:p>
          <a:p>
            <a:pPr marL="0" indent="0">
              <a:buNone/>
            </a:pP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printf("\n");    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} </a:t>
            </a:r>
          </a:p>
          <a:p>
            <a:pPr marL="0" indent="0">
              <a:lnSpc>
                <a:spcPct val="105000"/>
              </a:lnSpc>
              <a:buClrTx/>
              <a:buSzTx/>
              <a:buNone/>
            </a:pPr>
            <a:endParaRPr lang="zh-CN" altLang="en-US" sz="2000" b="1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316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79576" y="249237"/>
            <a:ext cx="8162925" cy="6608763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#include &lt;stdio.h&gt;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#define N 10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main ()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int 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i,j,min,temp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int a[N]={4,2,5,9,0,1,8,6,3,7};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for(i=0;i&lt;N-1;i++)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{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min=i;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for(j=i+1;j&lt;N;j++)         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在a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[i]~a[9]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中找出最小值a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[min]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if(a[min]&gt;a[j])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min=j;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if (min != i)                 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最小值不是a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时</a:t>
            </a:r>
            <a:r>
              <a:rPr lang="en-US" altLang="zh-CN" sz="2000" b="1" dirty="0" err="1">
                <a:latin typeface="Times New Roman" pitchFamily="18" charset="0"/>
                <a:ea typeface="华文仿宋" pitchFamily="2" charset="-122"/>
              </a:rPr>
              <a:t>,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[min]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与a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[i]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交换</a:t>
            </a:r>
            <a:endParaRPr lang="en-US" altLang="en-US" sz="2000" b="1" dirty="0">
              <a:latin typeface="Times New Roman" pitchFamily="18" charset="0"/>
              <a:ea typeface="华文仿宋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   </a:t>
            </a: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temp=a[min], a[min]=a[i], a[i]=temp;  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for(i=0;i&lt;10;i++)   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 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输出排序后的数组</a:t>
            </a:r>
            <a:endParaRPr lang="en-US" altLang="en-US" sz="2000" b="1" dirty="0">
              <a:latin typeface="Times New Roman" pitchFamily="18" charset="0"/>
              <a:ea typeface="华文仿宋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Times New Roman" pitchFamily="18" charset="0"/>
                <a:ea typeface="华文仿宋" pitchFamily="2" charset="-122"/>
              </a:rPr>
              <a:t>    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 printf("%3d",a[i]);  //</a:t>
            </a:r>
            <a:r>
              <a:rPr lang="en-US" altLang="en-US" sz="2000" b="1" dirty="0" err="1">
                <a:latin typeface="Times New Roman" pitchFamily="18" charset="0"/>
                <a:ea typeface="华文仿宋" pitchFamily="2" charset="-122"/>
              </a:rPr>
              <a:t>输出为</a:t>
            </a:r>
            <a:r>
              <a:rPr lang="en-US" altLang="zh-CN" sz="2000" b="1" dirty="0">
                <a:latin typeface="Times New Roman" pitchFamily="18" charset="0"/>
                <a:ea typeface="华文仿宋" pitchFamily="2" charset="-122"/>
              </a:rPr>
              <a:t>:</a:t>
            </a: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0  1  2  3  4  5  6  7  8  9</a:t>
            </a:r>
          </a:p>
          <a:p>
            <a:pPr marL="0" indent="0">
              <a:buNone/>
            </a:pPr>
            <a:r>
              <a:rPr lang="en-US" altLang="en-US" sz="2000" b="1" dirty="0">
                <a:latin typeface="Times New Roman" pitchFamily="18" charset="0"/>
                <a:ea typeface="华文仿宋" pitchFamily="2" charset="-122"/>
              </a:rPr>
              <a:t>  printf("\n");    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</a:rPr>
              <a:t>} </a:t>
            </a:r>
          </a:p>
          <a:p>
            <a:pPr marL="0" indent="0">
              <a:lnSpc>
                <a:spcPct val="105000"/>
              </a:lnSpc>
              <a:buClrTx/>
              <a:buSzTx/>
              <a:buNone/>
            </a:pPr>
            <a:endParaRPr lang="zh-CN" altLang="en-US" sz="2000" b="1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8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true,&quot;fuzzyMatch&quot;:false,&quot;Score&quot;:1.0,&quot;answers&quot;:[&quot;float&quot;,&quot;单精度&quot;,&quot;浮点&quot;,&quot;单精度浮点&quot;]},{&quot;num&quot;:2,&quot;caseSensitive&quot;:false,&quot;fuzzyMatch&quot;:false,&quot;Score&quot;:1.0,&quot;answers&quot;:[&quot;15&quot;]},{&quot;num&quot;:3,&quot;caseSensitive&quot;:false,&quot;fuzzyMatch&quot;:false,&quot;Score&quot;:1.0,&quot;answers&quot;:[&quot;s[4][2]&quot;]}]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0650&quot;]}]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a[i][i]&quot;]},{&quot;num&quot;:2,&quot;caseSensitive&quot;:true,&quot;fuzzyMatch&quot;:false,&quot;Score&quot;:1.0,&quot;answers&quot;:[&quot;a[i][5-i-1]&quot;,&quot;a[i][5-1-i]&quot;,&quot;a[i][4-i]&quot;]}]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caseSensitive&quot;:false,&quot;fuzzyMatch&quot;:false,&quot;Score&quot;:1.0,&quot;answers&quot;:[&quot;2&quot;]},{&quot;num&quot;:2,&quot;caseSensitive&quot;:true,&quot;fuzzyMatch&quot;:false,&quot;Score&quot;:1.0,&quot;answers&quot;:[&quot;i&quot;]},{&quot;num&quot;:3,&quot;caseSensitive&quot;:true,&quot;fuzzyMatch&quot;:false,&quot;Score&quot;:1.0,&quot;answers&quot;:[&quot;a[i-1][j]&quot;]}]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10864</TotalTime>
  <Words>5680</Words>
  <Application>Microsoft Office PowerPoint</Application>
  <PresentationFormat>宽屏</PresentationFormat>
  <Paragraphs>721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8" baseType="lpstr">
      <vt:lpstr>黑体</vt:lpstr>
      <vt:lpstr>楷体_GB2312</vt:lpstr>
      <vt:lpstr>宋体</vt:lpstr>
      <vt:lpstr>Microsoft Yahei</vt:lpstr>
      <vt:lpstr>文鼎书宋简</vt:lpstr>
      <vt:lpstr>幼圆</vt:lpstr>
      <vt:lpstr>Arial</vt:lpstr>
      <vt:lpstr>Calibri</vt:lpstr>
      <vt:lpstr>Courier New</vt:lpstr>
      <vt:lpstr>Garamond</vt:lpstr>
      <vt:lpstr>Tahoma</vt:lpstr>
      <vt:lpstr>Times New Roman</vt:lpstr>
      <vt:lpstr>Wingdings</vt:lpstr>
      <vt:lpstr>Wingdings 2</vt:lpstr>
      <vt:lpstr>Blends</vt:lpstr>
      <vt:lpstr>1_whu8</vt:lpstr>
      <vt:lpstr>3_whu8</vt:lpstr>
      <vt:lpstr>环保</vt:lpstr>
      <vt:lpstr>Equation.3</vt:lpstr>
      <vt:lpstr>第五章  数组 </vt:lpstr>
      <vt:lpstr>5.1  一维数组</vt:lpstr>
      <vt:lpstr>5.1  一维数组</vt:lpstr>
      <vt:lpstr>5.1  一维数组</vt:lpstr>
      <vt:lpstr>一、一维数组的定义</vt:lpstr>
      <vt:lpstr>PowerPoint 演示文稿</vt:lpstr>
      <vt:lpstr>PowerPoint 演示文稿</vt:lpstr>
      <vt:lpstr>一维数组在内存中的存放方式：</vt:lpstr>
      <vt:lpstr>PowerPoint 演示文稿</vt:lpstr>
      <vt:lpstr>PowerPoint 演示文稿</vt:lpstr>
      <vt:lpstr>一维数组元素引用的规定：</vt:lpstr>
      <vt:lpstr>PowerPoint 演示文稿</vt:lpstr>
      <vt:lpstr>PowerPoint 演示文稿</vt:lpstr>
      <vt:lpstr>三、一维数组的初始化</vt:lpstr>
      <vt:lpstr>三、一维数组的初始化</vt:lpstr>
      <vt:lpstr>三、一维数组的初始化</vt:lpstr>
      <vt:lpstr>说明:</vt:lpstr>
      <vt:lpstr>例5.2  有n个数，n&lt;100, 求其中最小值。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二维数组的存储方式:</vt:lpstr>
      <vt:lpstr>二、二维数组元素的引用</vt:lpstr>
      <vt:lpstr>三、二维数组的初始化</vt:lpstr>
      <vt:lpstr>二维数组初始化：</vt:lpstr>
      <vt:lpstr>二维数组初始化：</vt:lpstr>
      <vt:lpstr>二维数组初始化：</vt:lpstr>
      <vt:lpstr>PowerPoint 演示文稿</vt:lpstr>
      <vt:lpstr>PowerPoint 演示文稿</vt:lpstr>
      <vt:lpstr>PowerPoint 演示文稿</vt:lpstr>
      <vt:lpstr>PowerPoint 演示文稿</vt:lpstr>
      <vt:lpstr>求下列矩阵 a 的转置矩阵 b</vt:lpstr>
      <vt:lpstr>PowerPoint 演示文稿</vt:lpstr>
      <vt:lpstr>PowerPoint 演示文稿</vt:lpstr>
      <vt:lpstr>互换距阵的两行或两列</vt:lpstr>
      <vt:lpstr>PowerPoint 演示文稿</vt:lpstr>
      <vt:lpstr>PowerPoint 演示文稿</vt:lpstr>
      <vt:lpstr>PowerPoint 演示文稿</vt:lpstr>
      <vt:lpstr>PowerPoint 演示文稿</vt:lpstr>
      <vt:lpstr>多维数组的理解</vt:lpstr>
      <vt:lpstr>多维数组的理解</vt:lpstr>
      <vt:lpstr>多维数组的理解</vt:lpstr>
      <vt:lpstr>随机产生一个一维数组并输出,将最大值与第1个元素互换,将最小值与最后一个元素互换后输出</vt:lpstr>
      <vt:lpstr>随机产生一个一维数组并输出,将最大值与第1个元素互换,将最小值与最后一个元素互换后输出</vt:lpstr>
      <vt:lpstr>用选择法对N个整数进行从小到大的排序。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 数组与结构 </dc:title>
  <dc:creator>wwb</dc:creator>
  <cp:lastModifiedBy>Administrator</cp:lastModifiedBy>
  <cp:revision>80</cp:revision>
  <dcterms:created xsi:type="dcterms:W3CDTF">2020-01-09T02:41:32Z</dcterms:created>
  <dcterms:modified xsi:type="dcterms:W3CDTF">2025-05-17T01:01:54Z</dcterms:modified>
</cp:coreProperties>
</file>