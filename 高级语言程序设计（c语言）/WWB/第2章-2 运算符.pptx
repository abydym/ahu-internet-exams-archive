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54"/>
  </p:notesMasterIdLst>
  <p:handoutMasterIdLst>
    <p:handoutMasterId r:id="rId55"/>
  </p:handoutMasterIdLst>
  <p:sldIdLst>
    <p:sldId id="752" r:id="rId2"/>
    <p:sldId id="696" r:id="rId3"/>
    <p:sldId id="747" r:id="rId4"/>
    <p:sldId id="273" r:id="rId5"/>
    <p:sldId id="274" r:id="rId6"/>
    <p:sldId id="697" r:id="rId7"/>
    <p:sldId id="698" r:id="rId8"/>
    <p:sldId id="775" r:id="rId9"/>
    <p:sldId id="493" r:id="rId10"/>
    <p:sldId id="699" r:id="rId11"/>
    <p:sldId id="745" r:id="rId12"/>
    <p:sldId id="275" r:id="rId13"/>
    <p:sldId id="759" r:id="rId14"/>
    <p:sldId id="760" r:id="rId15"/>
    <p:sldId id="761" r:id="rId16"/>
    <p:sldId id="762" r:id="rId17"/>
    <p:sldId id="763" r:id="rId18"/>
    <p:sldId id="276" r:id="rId19"/>
    <p:sldId id="703" r:id="rId20"/>
    <p:sldId id="764" r:id="rId21"/>
    <p:sldId id="765" r:id="rId22"/>
    <p:sldId id="705" r:id="rId23"/>
    <p:sldId id="711" r:id="rId24"/>
    <p:sldId id="706" r:id="rId25"/>
    <p:sldId id="707" r:id="rId26"/>
    <p:sldId id="766" r:id="rId27"/>
    <p:sldId id="708" r:id="rId28"/>
    <p:sldId id="767" r:id="rId29"/>
    <p:sldId id="768" r:id="rId30"/>
    <p:sldId id="710" r:id="rId31"/>
    <p:sldId id="712" r:id="rId32"/>
    <p:sldId id="739" r:id="rId33"/>
    <p:sldId id="277" r:id="rId34"/>
    <p:sldId id="713" r:id="rId35"/>
    <p:sldId id="746" r:id="rId36"/>
    <p:sldId id="715" r:id="rId37"/>
    <p:sldId id="755" r:id="rId38"/>
    <p:sldId id="278" r:id="rId39"/>
    <p:sldId id="770" r:id="rId40"/>
    <p:sldId id="771" r:id="rId41"/>
    <p:sldId id="772" r:id="rId42"/>
    <p:sldId id="719" r:id="rId43"/>
    <p:sldId id="720" r:id="rId44"/>
    <p:sldId id="740" r:id="rId45"/>
    <p:sldId id="737" r:id="rId46"/>
    <p:sldId id="721" r:id="rId47"/>
    <p:sldId id="725" r:id="rId48"/>
    <p:sldId id="773" r:id="rId49"/>
    <p:sldId id="729" r:id="rId50"/>
    <p:sldId id="735" r:id="rId51"/>
    <p:sldId id="738" r:id="rId52"/>
    <p:sldId id="734" r:id="rId53"/>
  </p:sldIdLst>
  <p:sldSz cx="12192000" cy="6858000"/>
  <p:notesSz cx="6851650" cy="9747250"/>
  <p:defaultTextStyle>
    <a:defPPr>
      <a:defRPr lang="en-US"/>
    </a:defPPr>
    <a:lvl1pPr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>
          <p15:clr>
            <a:srgbClr val="A4A3A4"/>
          </p15:clr>
        </p15:guide>
        <p15:guide id="2" pos="215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FF5FA"/>
    <a:srgbClr val="99FF33"/>
    <a:srgbClr val="666699"/>
    <a:srgbClr val="0099CC"/>
    <a:srgbClr val="009900"/>
    <a:srgbClr val="008080"/>
    <a:srgbClr val="339933"/>
    <a:srgbClr val="00E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 autoAdjust="0"/>
    <p:restoredTop sz="93826" autoAdjust="0"/>
  </p:normalViewPr>
  <p:slideViewPr>
    <p:cSldViewPr snapToGrid="0">
      <p:cViewPr varScale="1">
        <p:scale>
          <a:sx n="87" d="100"/>
          <a:sy n="87" d="100"/>
        </p:scale>
        <p:origin x="499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9608"/>
    </p:cViewPr>
  </p:sorterViewPr>
  <p:notesViewPr>
    <p:cSldViewPr snapToGrid="0">
      <p:cViewPr varScale="1">
        <p:scale>
          <a:sx n="50" d="100"/>
          <a:sy n="50" d="100"/>
        </p:scale>
        <p:origin x="-1908" y="-102"/>
      </p:cViewPr>
      <p:guideLst>
        <p:guide orient="horz" pos="3070"/>
        <p:guide pos="2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fld id="{6CF0D0AA-01D8-459C-90AA-5813746B89C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2538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77800" y="730250"/>
            <a:ext cx="6497638" cy="3656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629150"/>
            <a:ext cx="50260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fld id="{4457BA15-0A3E-485D-97C9-B1951851FA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06790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7BA15-0A3E-485D-97C9-B1951851FA96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2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10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46" y="4287845"/>
            <a:ext cx="3571631" cy="208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098" name="Rectangle 2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725247" y="762000"/>
            <a:ext cx="1036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914400" y="3429000"/>
            <a:ext cx="85344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6100" name="Rectangle 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6101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6102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EBE52DA-FCD3-433A-A10E-EF0B402520A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1967B-C4CC-4916-83C8-144CB47218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1341865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47" y="4406907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24" indent="0">
              <a:buNone/>
              <a:defRPr sz="1800"/>
            </a:lvl2pPr>
            <a:lvl3pPr marL="914446" indent="0">
              <a:buNone/>
              <a:defRPr sz="1600"/>
            </a:lvl3pPr>
            <a:lvl4pPr marL="1371668" indent="0">
              <a:buNone/>
              <a:defRPr sz="1400"/>
            </a:lvl4pPr>
            <a:lvl5pPr marL="1828892" indent="0">
              <a:buNone/>
              <a:defRPr sz="1400"/>
            </a:lvl5pPr>
            <a:lvl6pPr marL="2286114" indent="0">
              <a:buNone/>
              <a:defRPr sz="1400"/>
            </a:lvl6pPr>
            <a:lvl7pPr marL="2743337" indent="0">
              <a:buNone/>
              <a:defRPr sz="1400"/>
            </a:lvl7pPr>
            <a:lvl8pPr marL="3200560" indent="0">
              <a:buNone/>
              <a:defRPr sz="1400"/>
            </a:lvl8pPr>
            <a:lvl9pPr marL="3657782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B8D7B-8194-4BEC-98AE-C04C2E4260F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213347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9261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9786" y="1600206"/>
            <a:ext cx="539261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BEF4B-5F4C-444F-904C-DB3A7ACD74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699289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4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2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95" y="1535113"/>
            <a:ext cx="538870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24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8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2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95" y="2174875"/>
            <a:ext cx="538870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15C4B4-15FF-40E4-814C-821761ABD8D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733868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DB6D1E-3AC0-4603-9C76-5716F5A81C5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43171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A99B6-55DA-488F-8367-2B9871BBDB8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321602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86" y="273057"/>
            <a:ext cx="681501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4" indent="0">
              <a:buNone/>
              <a:defRPr sz="12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2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2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D18B1C-6F66-4C85-BFCC-6B87E5C823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76629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24" indent="0">
              <a:buNone/>
              <a:defRPr sz="2800"/>
            </a:lvl2pPr>
            <a:lvl3pPr marL="914446" indent="0">
              <a:buNone/>
              <a:defRPr sz="2400"/>
            </a:lvl3pPr>
            <a:lvl4pPr marL="1371668" indent="0">
              <a:buNone/>
              <a:defRPr sz="2000"/>
            </a:lvl4pPr>
            <a:lvl5pPr marL="1828892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2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24" indent="0">
              <a:buNone/>
              <a:defRPr sz="1200"/>
            </a:lvl2pPr>
            <a:lvl3pPr marL="914446" indent="0">
              <a:buNone/>
              <a:defRPr sz="1000"/>
            </a:lvl3pPr>
            <a:lvl4pPr marL="1371668" indent="0">
              <a:buNone/>
              <a:defRPr sz="900"/>
            </a:lvl4pPr>
            <a:lvl5pPr marL="1828892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2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8A218C-18BC-4F3E-B890-1015CCD3F2E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95524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964D0-329F-4C9F-A72E-40E541F8FB7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136277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5"/>
            <a:ext cx="804203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BD5186-F440-4D0D-9423-C81CC7A06D4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6673943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77" name="Picture 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46" y="4287845"/>
            <a:ext cx="3571631" cy="208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07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400" b="0"/>
            </a:lvl1pPr>
          </a:lstStyle>
          <a:p>
            <a:endParaRPr lang="en-US" altLang="zh-CN"/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kumimoji="0" sz="1400" b="0"/>
            </a:lvl1pPr>
          </a:lstStyle>
          <a:p>
            <a:endParaRPr lang="en-US" altLang="zh-CN"/>
          </a:p>
        </p:txBody>
      </p:sp>
      <p:sp>
        <p:nvSpPr>
          <p:cNvPr id="515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400" b="0"/>
            </a:lvl1pPr>
          </a:lstStyle>
          <a:p>
            <a:fld id="{9FB2B377-7327-47C0-975C-260EA95602D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ransition>
    <p:zoom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5pPr>
      <a:lvl6pPr marL="457224"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6pPr>
      <a:lvl7pPr marL="914446"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7pPr>
      <a:lvl8pPr marL="1371668"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8pPr>
      <a:lvl9pPr marL="1828892" algn="ctr" rtl="0" fontAlgn="base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9pPr>
    </p:titleStyle>
    <p:bodyStyle>
      <a:lvl1pPr marL="342916" indent="-342916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87" indent="-285764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57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80" indent="-228612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504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726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949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172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394" indent="-228612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4.tmp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4.tmp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4.tmp"/><Relationship Id="rId5" Type="http://schemas.openxmlformats.org/officeDocument/2006/relationships/tags" Target="../tags/tag3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4.tmp"/><Relationship Id="rId5" Type="http://schemas.openxmlformats.org/officeDocument/2006/relationships/tags" Target="../tags/tag4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4.tmp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4.tmp"/><Relationship Id="rId5" Type="http://schemas.openxmlformats.org/officeDocument/2006/relationships/tags" Target="../tags/tag5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4.tmp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4.tmp"/><Relationship Id="rId5" Type="http://schemas.openxmlformats.org/officeDocument/2006/relationships/tags" Target="../tags/tag7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4.tmp"/><Relationship Id="rId5" Type="http://schemas.openxmlformats.org/officeDocument/2006/relationships/tags" Target="../tags/tag8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10" Type="http://schemas.openxmlformats.org/officeDocument/2006/relationships/tags" Target="../tags/tag100.xml"/><Relationship Id="rId19" Type="http://schemas.openxmlformats.org/officeDocument/2006/relationships/image" Target="../media/image4.tmp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4.tmp"/><Relationship Id="rId5" Type="http://schemas.openxmlformats.org/officeDocument/2006/relationships/tags" Target="../tags/tag11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image" Target="../media/image4.tmp"/><Relationship Id="rId5" Type="http://schemas.openxmlformats.org/officeDocument/2006/relationships/tags" Target="../tags/tag12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20.xml"/><Relationship Id="rId9" Type="http://schemas.openxmlformats.org/officeDocument/2006/relationships/tags" Target="../tags/tag12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image" Target="../media/image4.tmp"/><Relationship Id="rId5" Type="http://schemas.openxmlformats.org/officeDocument/2006/relationships/tags" Target="../tags/tag13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29.xml"/><Relationship Id="rId9" Type="http://schemas.openxmlformats.org/officeDocument/2006/relationships/tags" Target="../tags/tag13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10" Type="http://schemas.openxmlformats.org/officeDocument/2006/relationships/tags" Target="../tags/tag144.xml"/><Relationship Id="rId19" Type="http://schemas.openxmlformats.org/officeDocument/2006/relationships/image" Target="../media/image4.tmp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10" Type="http://schemas.openxmlformats.org/officeDocument/2006/relationships/tags" Target="../tags/tag161.xml"/><Relationship Id="rId19" Type="http://schemas.openxmlformats.org/officeDocument/2006/relationships/image" Target="../media/image4.tmp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image" Target="../media/image4.tmp"/><Relationship Id="rId5" Type="http://schemas.openxmlformats.org/officeDocument/2006/relationships/tags" Target="../tags/tag17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72.xml"/><Relationship Id="rId9" Type="http://schemas.openxmlformats.org/officeDocument/2006/relationships/tags" Target="../tags/tag17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4.tmp"/><Relationship Id="rId5" Type="http://schemas.openxmlformats.org/officeDocument/2006/relationships/tags" Target="../tags/tag18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17" Type="http://schemas.openxmlformats.org/officeDocument/2006/relationships/tags" Target="../tags/tag203.xml"/><Relationship Id="rId2" Type="http://schemas.openxmlformats.org/officeDocument/2006/relationships/tags" Target="../tags/tag188.xml"/><Relationship Id="rId16" Type="http://schemas.openxmlformats.org/officeDocument/2006/relationships/tags" Target="../tags/tag202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tags" Target="../tags/tag201.xml"/><Relationship Id="rId10" Type="http://schemas.openxmlformats.org/officeDocument/2006/relationships/tags" Target="../tags/tag196.xml"/><Relationship Id="rId19" Type="http://schemas.openxmlformats.org/officeDocument/2006/relationships/image" Target="../media/image4.tmp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tags" Target="../tags/tag21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17" Type="http://schemas.openxmlformats.org/officeDocument/2006/relationships/tags" Target="../tags/tag220.xml"/><Relationship Id="rId2" Type="http://schemas.openxmlformats.org/officeDocument/2006/relationships/tags" Target="../tags/tag205.xml"/><Relationship Id="rId16" Type="http://schemas.openxmlformats.org/officeDocument/2006/relationships/tags" Target="../tags/tag219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5" Type="http://schemas.openxmlformats.org/officeDocument/2006/relationships/tags" Target="../tags/tag218.xml"/><Relationship Id="rId10" Type="http://schemas.openxmlformats.org/officeDocument/2006/relationships/tags" Target="../tags/tag213.xml"/><Relationship Id="rId19" Type="http://schemas.openxmlformats.org/officeDocument/2006/relationships/image" Target="../media/image4.tmp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tags" Target="../tags/tag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D599B-A11A-4D5A-95C2-8A61FFBACF7D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658447" y="2686050"/>
            <a:ext cx="10363200" cy="1143000"/>
          </a:xfrm>
        </p:spPr>
        <p:txBody>
          <a:bodyPr/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2</a:t>
            </a:r>
            <a:r>
              <a:rPr lang="zh-CN" altLang="en-US" sz="4800" dirty="0"/>
              <a:t>节 运算符</a:t>
            </a:r>
          </a:p>
        </p:txBody>
      </p:sp>
    </p:spTree>
    <p:extLst>
      <p:ext uri="{BB962C8B-B14F-4D97-AF65-F5344CB8AC3E}">
        <p14:creationId xmlns:p14="http://schemas.microsoft.com/office/powerpoint/2010/main" val="136623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7562" y="1014826"/>
            <a:ext cx="9095979" cy="804862"/>
          </a:xfrm>
          <a:noFill/>
        </p:spPr>
        <p:txBody>
          <a:bodyPr rIns="0"/>
          <a:lstStyle/>
          <a:p>
            <a:r>
              <a:rPr lang="zh-CN" altLang="en-US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zh-CN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语言中</a:t>
            </a:r>
            <a:r>
              <a:rPr lang="zh-CN" altLang="zh-CN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规定了运算符的</a:t>
            </a:r>
            <a:r>
              <a:rPr lang="zh-CN" altLang="en-US" sz="3200" b="1" dirty="0">
                <a:solidFill>
                  <a:srgbClr val="3E3EBA"/>
                </a:solidFill>
                <a:effectLst/>
                <a:latin typeface="楷体_GB2312" pitchFamily="49" charset="-122"/>
                <a:ea typeface="楷体_GB2312" pitchFamily="49" charset="-122"/>
              </a:rPr>
              <a:t>优先级</a:t>
            </a:r>
            <a:r>
              <a:rPr lang="zh-CN" altLang="en-US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3200" b="1" dirty="0">
                <a:solidFill>
                  <a:srgbClr val="3E3EBA"/>
                </a:solidFill>
                <a:effectLst/>
                <a:latin typeface="楷体_GB2312" pitchFamily="49" charset="-122"/>
                <a:ea typeface="楷体_GB2312" pitchFamily="49" charset="-122"/>
              </a:rPr>
              <a:t>结合性</a:t>
            </a:r>
            <a:r>
              <a:rPr lang="zh-CN" altLang="en-US" sz="3200" b="1" dirty="0">
                <a:solidFill>
                  <a:schemeClr val="bg2"/>
                </a:solidFill>
                <a:effectLst/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8215" y="2093106"/>
            <a:ext cx="10104856" cy="4583112"/>
          </a:xfrm>
        </p:spPr>
        <p:txBody>
          <a:bodyPr/>
          <a:lstStyle/>
          <a:p>
            <a:pPr marL="269889" indent="-269889">
              <a:spcBef>
                <a:spcPct val="15000"/>
              </a:spcBef>
              <a:buClr>
                <a:srgbClr val="008000"/>
              </a:buClr>
              <a:buSzPct val="45000"/>
            </a:pPr>
            <a:r>
              <a:rPr 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优先级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文鼎书宋简" charset="-122"/>
              </a:rPr>
              <a:t>  </a:t>
            </a:r>
          </a:p>
          <a:p>
            <a:pPr marL="269889" indent="-269889">
              <a:lnSpc>
                <a:spcPct val="115000"/>
              </a:lnSpc>
              <a:spcBef>
                <a:spcPct val="35000"/>
              </a:spcBef>
              <a:spcAft>
                <a:spcPts val="400"/>
              </a:spcAft>
              <a:buClr>
                <a:srgbClr val="CC66FF"/>
              </a:buClr>
              <a:buNone/>
            </a:pP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文鼎书宋简" charset="-122"/>
              </a:rPr>
              <a:t>   </a:t>
            </a:r>
            <a:r>
              <a:rPr lang="zh-CN" b="1" dirty="0">
                <a:solidFill>
                  <a:schemeClr val="bg2"/>
                </a:solidFill>
                <a:latin typeface="Times New Roman" pitchFamily="18" charset="0"/>
                <a:ea typeface="文鼎书宋简" charset="-122"/>
              </a:rPr>
              <a:t>Ｃ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语言中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运算符的优先级共分为</a:t>
            </a:r>
            <a:r>
              <a:rPr lang="zh-CN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15</a:t>
            </a:r>
            <a:r>
              <a:rPr 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级。</a:t>
            </a:r>
            <a:endParaRPr lang="en-US" altLang="zh-CN" b="1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 marL="269889" indent="-269889">
              <a:lnSpc>
                <a:spcPct val="115000"/>
              </a:lnSpc>
              <a:spcBef>
                <a:spcPct val="35000"/>
              </a:spcBef>
              <a:spcAft>
                <a:spcPts val="400"/>
              </a:spcAft>
              <a:buClr>
                <a:srgbClr val="CC66FF"/>
              </a:buClr>
              <a:buNone/>
            </a:pPr>
            <a:r>
              <a:rPr lang="en-US" altLang="zh-CN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级最高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15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级</a:t>
            </a:r>
            <a:r>
              <a:rPr 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最低</a:t>
            </a:r>
            <a:r>
              <a:rPr 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en-US" altLang="zh-CN" b="1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 marL="269889" indent="-269889">
              <a:lnSpc>
                <a:spcPct val="115000"/>
              </a:lnSpc>
              <a:spcBef>
                <a:spcPct val="35000"/>
              </a:spcBef>
              <a:spcAft>
                <a:spcPts val="400"/>
              </a:spcAft>
              <a:buClr>
                <a:srgbClr val="CC66FF"/>
              </a:buClr>
              <a:buNone/>
            </a:pPr>
            <a:r>
              <a:rPr lang="en-US" alt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表达式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求值时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先做优先级高的操作。</a:t>
            </a:r>
          </a:p>
          <a:p>
            <a:pPr marL="269889" indent="-269889">
              <a:lnSpc>
                <a:spcPct val="110000"/>
              </a:lnSpc>
              <a:spcAft>
                <a:spcPts val="500"/>
              </a:spcAft>
              <a:buClr>
                <a:srgbClr val="CC66FF"/>
              </a:buClr>
              <a:buNone/>
            </a:pP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          如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d</a:t>
            </a:r>
            <a:r>
              <a:rPr lang="zh-CN" altLang="zh-CN" b="1" dirty="0">
                <a:solidFill>
                  <a:srgbClr val="0070C0"/>
                </a:solidFill>
                <a:ea typeface="黑体" pitchFamily="49" charset="-122"/>
              </a:rPr>
              <a:t>=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FFC000"/>
                </a:solidFill>
                <a:ea typeface="黑体" pitchFamily="49" charset="-122"/>
              </a:rPr>
              <a:t>+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zh-CN" alt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c 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;</a:t>
            </a:r>
          </a:p>
          <a:p>
            <a:pPr marL="269889" indent="-269889">
              <a:lnSpc>
                <a:spcPct val="125000"/>
              </a:lnSpc>
              <a:spcBef>
                <a:spcPct val="30000"/>
              </a:spcBef>
              <a:spcAft>
                <a:spcPts val="200"/>
              </a:spcAft>
              <a:buNone/>
            </a:pP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当运算符的优先级别相同时，运算次序由结合性决定。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65E4C39-7994-4B24-807A-09EFD249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4338" y="82608"/>
            <a:ext cx="62372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一、</a:t>
            </a:r>
            <a:r>
              <a:rPr lang="en-US" altLang="en-US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运算符简介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819427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0600" y="1477964"/>
            <a:ext cx="8767498" cy="4583112"/>
          </a:xfrm>
        </p:spPr>
        <p:txBody>
          <a:bodyPr/>
          <a:lstStyle/>
          <a:p>
            <a:pPr marL="269889" indent="-269889">
              <a:lnSpc>
                <a:spcPct val="125000"/>
              </a:lnSpc>
              <a:spcBef>
                <a:spcPct val="55000"/>
              </a:spcBef>
              <a:spcAft>
                <a:spcPts val="100"/>
              </a:spcAft>
              <a:buClr>
                <a:srgbClr val="008000"/>
              </a:buClr>
              <a:buSzPct val="45000"/>
            </a:pPr>
            <a:r>
              <a:rPr 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结合性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左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结合性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先左后右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d=3</a:t>
            </a:r>
            <a:r>
              <a:rPr lang="zh-CN" alt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5</a:t>
            </a:r>
            <a:r>
              <a:rPr lang="zh-CN" altLang="zh-CN" dirty="0">
                <a:solidFill>
                  <a:srgbClr val="FF0000"/>
                </a:solidFill>
                <a:ea typeface="黑体" pitchFamily="49" charset="-122"/>
              </a:rPr>
              <a:t>/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4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;</a:t>
            </a:r>
          </a:p>
          <a:p>
            <a:pPr marL="269889" indent="-269889">
              <a:lnSpc>
                <a:spcPct val="125000"/>
              </a:lnSpc>
              <a:spcBef>
                <a:spcPct val="35000"/>
              </a:spcBef>
              <a:spcAft>
                <a:spcPts val="400"/>
              </a:spcAft>
              <a:buNone/>
            </a:pP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       </a:t>
            </a:r>
            <a:r>
              <a:rPr lang="zh-CN" altLang="zh-CN" sz="1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右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结合性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先右后左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d</a:t>
            </a:r>
            <a:r>
              <a:rPr lang="zh-CN" altLang="zh-CN" b="1" dirty="0">
                <a:solidFill>
                  <a:srgbClr val="FF0000"/>
                </a:solidFill>
                <a:ea typeface="黑体" pitchFamily="49" charset="-122"/>
              </a:rPr>
              <a:t>=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FF0000"/>
                </a:solidFill>
                <a:ea typeface="黑体" pitchFamily="49" charset="-122"/>
              </a:rPr>
              <a:t>=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3</a:t>
            </a:r>
            <a:r>
              <a:rPr lang="zh-CN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;</a:t>
            </a:r>
            <a:endParaRPr lang="en-US" altLang="zh-CN" b="1" dirty="0">
              <a:solidFill>
                <a:schemeClr val="bg2"/>
              </a:solidFill>
              <a:latin typeface="Times New Roman" pitchFamily="18" charset="0"/>
              <a:ea typeface="黑体" pitchFamily="49" charset="-122"/>
            </a:endParaRPr>
          </a:p>
          <a:p>
            <a:pPr marL="269889" indent="-269889">
              <a:lnSpc>
                <a:spcPct val="125000"/>
              </a:lnSpc>
              <a:spcBef>
                <a:spcPct val="35000"/>
              </a:spcBef>
              <a:spcAft>
                <a:spcPts val="400"/>
              </a:spcAft>
              <a:buNone/>
            </a:pPr>
            <a:endParaRPr lang="en-US" altLang="zh-CN" b="1" dirty="0">
              <a:solidFill>
                <a:schemeClr val="bg2"/>
              </a:solidFill>
              <a:latin typeface="Times New Roman" pitchFamily="18" charset="0"/>
              <a:ea typeface="黑体" pitchFamily="49" charset="-122"/>
            </a:endParaRPr>
          </a:p>
          <a:p>
            <a:pPr>
              <a:lnSpc>
                <a:spcPct val="125000"/>
              </a:lnSpc>
              <a:spcBef>
                <a:spcPct val="350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目数（元数）：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根据运算对象的数量，有</a:t>
            </a:r>
            <a:endParaRPr lang="en-US" altLang="zh-CN" b="1" dirty="0">
              <a:solidFill>
                <a:schemeClr val="bg2"/>
              </a:solidFill>
              <a:latin typeface="Times New Roman" pitchFamily="18" charset="0"/>
              <a:ea typeface="黑体" pitchFamily="49" charset="-122"/>
            </a:endParaRPr>
          </a:p>
          <a:p>
            <a:pPr marL="0" indent="0">
              <a:lnSpc>
                <a:spcPct val="125000"/>
              </a:lnSpc>
              <a:spcBef>
                <a:spcPct val="35000"/>
              </a:spcBef>
              <a:spcAft>
                <a:spcPts val="400"/>
              </a:spcAft>
              <a:buNone/>
            </a:pPr>
            <a:r>
              <a:rPr lang="en-US" altLang="zh-CN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          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单目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运算符、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双目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三目</a:t>
            </a:r>
            <a:endParaRPr lang="zh-CN" altLang="zh-CN" b="1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68849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13600" y="5994400"/>
            <a:ext cx="2540000" cy="457200"/>
          </a:xfrm>
        </p:spPr>
        <p:txBody>
          <a:bodyPr/>
          <a:lstStyle/>
          <a:p>
            <a:fld id="{98D66223-A02E-4D42-ACA9-30AB5CF1A9CC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862018" y="1144588"/>
            <a:ext cx="84677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1、定义：用</a:t>
            </a:r>
            <a:r>
              <a:rPr lang="zh-CN" altLang="en-US" sz="3200" u="sng" dirty="0">
                <a:solidFill>
                  <a:srgbClr val="A50021"/>
                </a:solidFill>
              </a:rPr>
              <a:t>算术运算符</a:t>
            </a:r>
            <a:r>
              <a:rPr lang="zh-CN" altLang="en-US" sz="3200" dirty="0">
                <a:solidFill>
                  <a:srgbClr val="000000"/>
                </a:solidFill>
              </a:rPr>
              <a:t>和</a:t>
            </a:r>
            <a:r>
              <a:rPr lang="zh-CN" altLang="en-US" sz="3200" u="sng" dirty="0">
                <a:solidFill>
                  <a:srgbClr val="A50021"/>
                </a:solidFill>
              </a:rPr>
              <a:t>括号</a:t>
            </a:r>
            <a:r>
              <a:rPr lang="zh-CN" altLang="en-US" sz="3200" dirty="0">
                <a:solidFill>
                  <a:srgbClr val="000000"/>
                </a:solidFill>
              </a:rPr>
              <a:t>将</a:t>
            </a:r>
            <a:r>
              <a:rPr lang="zh-CN" altLang="en-US" sz="3200" u="sng" dirty="0">
                <a:solidFill>
                  <a:srgbClr val="A50021"/>
                </a:solidFill>
              </a:rPr>
              <a:t>运算对象</a:t>
            </a:r>
            <a:r>
              <a:rPr lang="zh-CN" altLang="en-US" sz="3200" dirty="0">
                <a:solidFill>
                  <a:srgbClr val="000000"/>
                </a:solidFill>
              </a:rPr>
              <a:t>连接起来且</a:t>
            </a:r>
            <a:r>
              <a:rPr lang="zh-CN" altLang="en-US" sz="3200" u="sng" dirty="0">
                <a:solidFill>
                  <a:srgbClr val="A50021"/>
                </a:solidFill>
              </a:rPr>
              <a:t>符合</a:t>
            </a:r>
            <a:r>
              <a:rPr lang="en-US" altLang="en-US" sz="3200" u="sng" dirty="0">
                <a:solidFill>
                  <a:srgbClr val="A50021"/>
                </a:solidFill>
              </a:rPr>
              <a:t>C</a:t>
            </a:r>
            <a:r>
              <a:rPr lang="zh-CN" altLang="zh-CN" sz="3200" u="sng" dirty="0">
                <a:solidFill>
                  <a:srgbClr val="A50021"/>
                </a:solidFill>
              </a:rPr>
              <a:t>语法</a:t>
            </a:r>
            <a:r>
              <a:rPr lang="zh-CN" altLang="en-US" sz="3200" u="sng" dirty="0">
                <a:solidFill>
                  <a:srgbClr val="A50021"/>
                </a:solidFill>
              </a:rPr>
              <a:t>规则</a:t>
            </a:r>
            <a:r>
              <a:rPr lang="zh-CN" altLang="en-US" sz="3200" dirty="0">
                <a:solidFill>
                  <a:srgbClr val="000000"/>
                </a:solidFill>
              </a:rPr>
              <a:t>的式子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algn="ctr"/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1028700" y="2310638"/>
            <a:ext cx="72405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2、运算顺序            </a:t>
            </a:r>
            <a:r>
              <a:rPr lang="en-US" altLang="zh-CN" sz="3200" dirty="0">
                <a:solidFill>
                  <a:srgbClr val="000000"/>
                </a:solidFill>
              </a:rPr>
              <a:t>a*b/c-1.5+</a:t>
            </a:r>
            <a:r>
              <a:rPr lang="zh-CN" altLang="en-US" sz="3200" b="0" dirty="0">
                <a:solidFill>
                  <a:schemeClr val="bg2"/>
                </a:solidFill>
              </a:rPr>
              <a:t>‘</a:t>
            </a:r>
            <a:r>
              <a:rPr lang="en-US" altLang="zh-CN" sz="3200" dirty="0">
                <a:solidFill>
                  <a:srgbClr val="000000"/>
                </a:solidFill>
              </a:rPr>
              <a:t>a’    </a:t>
            </a: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03814"/>
              </p:ext>
            </p:extLst>
          </p:nvPr>
        </p:nvGraphicFramePr>
        <p:xfrm>
          <a:off x="1402401" y="2963867"/>
          <a:ext cx="8151173" cy="3894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Document" r:id="rId3" imgW="5878080" imgH="4229280" progId="Word.Document.8">
                  <p:embed/>
                </p:oleObj>
              </mc:Choice>
              <mc:Fallback>
                <p:oleObj name="Document" r:id="rId3" imgW="5878080" imgH="422928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401" y="2963867"/>
                        <a:ext cx="8151173" cy="3894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C4550910-6551-4C6D-9E22-1E0B4FAAF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7784" y="177938"/>
            <a:ext cx="78057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1.</a:t>
            </a:r>
            <a:r>
              <a:rPr lang="zh-CN" altLang="zh-CN" sz="4000" dirty="0">
                <a:solidFill>
                  <a:srgbClr val="0000CC"/>
                </a:solidFill>
              </a:rPr>
              <a:t>算术运算符与算术表达式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7BE92-EF52-4264-A133-2562867B585E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984252" y="435988"/>
            <a:ext cx="61118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3、运算类型</a:t>
            </a: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592933" y="1477300"/>
            <a:ext cx="102528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(1</a:t>
            </a:r>
            <a:r>
              <a:rPr lang="zh-CN" altLang="en-US" sz="3200">
                <a:solidFill>
                  <a:srgbClr val="000000"/>
                </a:solidFill>
              </a:rPr>
              <a:t>)  双目运算符两边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类型相同则运算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结果类型不变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229551" y="2506290"/>
            <a:ext cx="5819775" cy="176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AutoNum type="arabicParenBoth" startAt="2"/>
            </a:pPr>
            <a:r>
              <a:rPr lang="zh-CN" altLang="en-US" sz="3200" dirty="0">
                <a:solidFill>
                  <a:srgbClr val="000000"/>
                </a:solidFill>
              </a:rPr>
              <a:t>  不同类型运算先按类型级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       别低向高转换成同一类型，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</a:rPr>
              <a:t>       再计算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04070C3-97F9-4B8A-BC74-25F3839AA2A6}"/>
              </a:ext>
            </a:extLst>
          </p:cNvPr>
          <p:cNvGrpSpPr/>
          <p:nvPr/>
        </p:nvGrpSpPr>
        <p:grpSpPr>
          <a:xfrm>
            <a:off x="7096127" y="2416439"/>
            <a:ext cx="3749675" cy="2897756"/>
            <a:chOff x="7053660" y="1617287"/>
            <a:chExt cx="3749675" cy="2897756"/>
          </a:xfrm>
        </p:grpSpPr>
        <p:sp>
          <p:nvSpPr>
            <p:cNvPr id="28683" name="Text Box 11"/>
            <p:cNvSpPr txBox="1">
              <a:spLocks noChangeArrowheads="1"/>
            </p:cNvSpPr>
            <p:nvPr/>
          </p:nvSpPr>
          <p:spPr bwMode="auto">
            <a:xfrm>
              <a:off x="7725173" y="1617287"/>
              <a:ext cx="3078162" cy="2860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en-US" sz="2800" dirty="0">
                  <a:solidFill>
                    <a:srgbClr val="A50021"/>
                  </a:solidFill>
                </a:rPr>
                <a:t>double       float</a:t>
              </a:r>
            </a:p>
            <a:p>
              <a:pPr>
                <a:lnSpc>
                  <a:spcPct val="120000"/>
                </a:lnSpc>
              </a:pPr>
              <a:r>
                <a:rPr lang="en-US" altLang="en-US" sz="2800" dirty="0">
                  <a:solidFill>
                    <a:srgbClr val="A50021"/>
                  </a:solidFill>
                </a:rPr>
                <a:t>long</a:t>
              </a:r>
            </a:p>
            <a:p>
              <a:pPr>
                <a:lnSpc>
                  <a:spcPct val="120000"/>
                </a:lnSpc>
              </a:pPr>
              <a:r>
                <a:rPr lang="en-US" altLang="en-US" sz="2800" dirty="0">
                  <a:solidFill>
                    <a:srgbClr val="A50021"/>
                  </a:solidFill>
                </a:rPr>
                <a:t>unsigned</a:t>
              </a:r>
            </a:p>
            <a:p>
              <a:pPr>
                <a:lnSpc>
                  <a:spcPct val="120000"/>
                </a:lnSpc>
              </a:pPr>
              <a:r>
                <a:rPr lang="en-US" altLang="en-US" sz="2800" dirty="0">
                  <a:solidFill>
                    <a:srgbClr val="A50021"/>
                  </a:solidFill>
                </a:rPr>
                <a:t>int       char, short</a:t>
              </a:r>
              <a:r>
                <a:rPr lang="en-US" altLang="en-US" sz="3200" dirty="0">
                  <a:solidFill>
                    <a:srgbClr val="A50021"/>
                  </a:solidFill>
                </a:rPr>
                <a:t> </a:t>
              </a:r>
              <a:endParaRPr lang="en-US" altLang="zh-CN" sz="3200" dirty="0">
                <a:solidFill>
                  <a:srgbClr val="A50021"/>
                </a:solidFill>
              </a:endParaRPr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 flipH="1">
              <a:off x="8979298" y="1944688"/>
              <a:ext cx="4175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 flipH="1">
              <a:off x="8430028" y="4229100"/>
              <a:ext cx="3778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 rot="5400000" flipH="1">
              <a:off x="8008545" y="2262982"/>
              <a:ext cx="4175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 rot="-5400000">
              <a:off x="8013308" y="3021812"/>
              <a:ext cx="434975" cy="15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 rot="5400000" flipH="1">
              <a:off x="8013307" y="3809207"/>
              <a:ext cx="4365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Text Box 18"/>
            <p:cNvSpPr txBox="1">
              <a:spLocks noChangeArrowheads="1"/>
            </p:cNvSpPr>
            <p:nvPr/>
          </p:nvSpPr>
          <p:spPr bwMode="auto">
            <a:xfrm>
              <a:off x="7053660" y="1757365"/>
              <a:ext cx="800100" cy="2757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800">
                  <a:solidFill>
                    <a:srgbClr val="A50021"/>
                  </a:solidFill>
                </a:rPr>
                <a:t>高</a:t>
              </a:r>
            </a:p>
            <a:p>
              <a:pPr algn="ctr">
                <a:lnSpc>
                  <a:spcPct val="80000"/>
                </a:lnSpc>
              </a:pPr>
              <a:endParaRPr lang="zh-CN" altLang="en-US" sz="2800">
                <a:solidFill>
                  <a:srgbClr val="A50021"/>
                </a:solidFill>
              </a:endParaRPr>
            </a:p>
            <a:p>
              <a:pPr algn="ctr">
                <a:lnSpc>
                  <a:spcPct val="80000"/>
                </a:lnSpc>
              </a:pPr>
              <a:endParaRPr lang="zh-CN" altLang="en-US" sz="2800">
                <a:solidFill>
                  <a:srgbClr val="A50021"/>
                </a:solidFill>
              </a:endParaRPr>
            </a:p>
            <a:p>
              <a:pPr algn="ctr">
                <a:lnSpc>
                  <a:spcPct val="80000"/>
                </a:lnSpc>
              </a:pPr>
              <a:endParaRPr lang="zh-CN" altLang="en-US" sz="2800">
                <a:solidFill>
                  <a:srgbClr val="A50021"/>
                </a:solidFill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2800">
                  <a:solidFill>
                    <a:srgbClr val="A50021"/>
                  </a:solidFill>
                </a:rPr>
                <a:t>低</a:t>
              </a:r>
              <a:r>
                <a:rPr lang="zh-CN" altLang="en-US" sz="3200">
                  <a:solidFill>
                    <a:srgbClr val="A50021"/>
                  </a:solidFill>
                </a:rPr>
                <a:t>    </a:t>
              </a:r>
            </a:p>
          </p:txBody>
        </p:sp>
        <p:sp>
          <p:nvSpPr>
            <p:cNvPr id="28691" name="Line 19"/>
            <p:cNvSpPr>
              <a:spLocks noChangeShapeType="1"/>
            </p:cNvSpPr>
            <p:nvPr/>
          </p:nvSpPr>
          <p:spPr bwMode="auto">
            <a:xfrm rot="5400000" flipH="1">
              <a:off x="6675045" y="3104357"/>
              <a:ext cx="1563687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  <p:bldP spid="286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97883" y="289654"/>
            <a:ext cx="8442458" cy="75247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chemeClr val="bg2"/>
                </a:solidFill>
              </a:rPr>
              <a:t>运算符</a:t>
            </a:r>
            <a:r>
              <a:rPr lang="en-US" altLang="zh-CN" sz="2800" b="1" dirty="0">
                <a:solidFill>
                  <a:schemeClr val="bg2"/>
                </a:solidFill>
              </a:rPr>
              <a:t/>
            </a:r>
            <a:br>
              <a:rPr lang="en-US" altLang="zh-CN" sz="2800" b="1" dirty="0">
                <a:solidFill>
                  <a:schemeClr val="bg2"/>
                </a:solidFill>
              </a:rPr>
            </a:br>
            <a:r>
              <a:rPr lang="en-US" altLang="zh-CN" sz="2800" b="1" dirty="0">
                <a:solidFill>
                  <a:schemeClr val="bg2"/>
                </a:solidFill>
              </a:rPr>
              <a:t/>
            </a:r>
            <a:br>
              <a:rPr lang="en-US" altLang="zh-CN" sz="2800" b="1" dirty="0">
                <a:solidFill>
                  <a:schemeClr val="bg2"/>
                </a:solidFill>
              </a:rPr>
            </a:br>
            <a:r>
              <a:rPr lang="zh-CN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</a:rPr>
              <a:t>、／（除）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运算符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0607" y="2239392"/>
            <a:ext cx="9042665" cy="4576763"/>
          </a:xfrm>
        </p:spPr>
        <p:txBody>
          <a:bodyPr/>
          <a:lstStyle/>
          <a:p>
            <a:pPr marL="660433" indent="-660433">
              <a:spcBef>
                <a:spcPct val="35000"/>
              </a:spcBef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①  </a:t>
            </a:r>
            <a:r>
              <a:rPr lang="zh-CN" altLang="en-US" sz="2800" b="1" dirty="0">
                <a:solidFill>
                  <a:schemeClr val="bg2"/>
                </a:solidFill>
                <a:ea typeface="黑体" pitchFamily="49" charset="-122"/>
              </a:rPr>
              <a:t>整数相除截去余数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此运算为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整除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b="1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 marL="1035102" lvl="1" indent="-577879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5</a:t>
            </a:r>
            <a:r>
              <a:rPr lang="zh-CN" altLang="zh-CN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b="1" dirty="0">
                <a:solidFill>
                  <a:schemeClr val="bg2"/>
                </a:solidFill>
                <a:ea typeface="黑体" pitchFamily="49" charset="-122"/>
              </a:rPr>
              <a:t>=</a:t>
            </a:r>
          </a:p>
          <a:p>
            <a:pPr marL="1035102" lvl="1" indent="-577879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bg2"/>
                </a:solidFill>
                <a:ea typeface="黑体" pitchFamily="49" charset="-122"/>
              </a:rPr>
              <a:t>      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zh-CN" altLang="zh-CN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3+1</a:t>
            </a:r>
            <a:r>
              <a:rPr lang="zh-CN" altLang="zh-CN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3+1</a:t>
            </a:r>
            <a:r>
              <a:rPr lang="zh-CN" altLang="zh-CN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3</a:t>
            </a:r>
            <a:r>
              <a:rPr lang="en-US" altLang="zh-CN" b="1" dirty="0">
                <a:solidFill>
                  <a:schemeClr val="bg2"/>
                </a:solidFill>
                <a:ea typeface="黑体" pitchFamily="49" charset="-122"/>
              </a:rPr>
              <a:t>=</a:t>
            </a:r>
            <a:endParaRPr lang="zh-CN" altLang="zh-CN" b="1" dirty="0">
              <a:solidFill>
                <a:schemeClr val="bg2"/>
              </a:solidFill>
              <a:ea typeface="黑体" pitchFamily="49" charset="-122"/>
            </a:endParaRPr>
          </a:p>
          <a:p>
            <a:pPr marL="660433" indent="-660433">
              <a:lnSpc>
                <a:spcPct val="105000"/>
              </a:lnSpc>
              <a:spcBef>
                <a:spcPct val="70000"/>
              </a:spcBef>
              <a:buClr>
                <a:schemeClr val="tx1"/>
              </a:buClr>
              <a:buSzPct val="90000"/>
              <a:buNone/>
            </a:pP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②</a:t>
            </a:r>
            <a:r>
              <a:rPr lang="zh-CN" altLang="zh-CN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ea typeface="黑体" pitchFamily="49" charset="-122"/>
              </a:rPr>
              <a:t>对于浮点数则为通常意义的除法</a:t>
            </a:r>
          </a:p>
          <a:p>
            <a:pPr marL="1409770" lvl="2" indent="-495324">
              <a:lnSpc>
                <a:spcPct val="105000"/>
              </a:lnSpc>
              <a:spcBef>
                <a:spcPct val="50000"/>
              </a:spcBef>
              <a:buClr>
                <a:schemeClr val="tx1"/>
              </a:buClr>
              <a:buSzPct val="90000"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5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0</a:t>
            </a:r>
            <a:r>
              <a:rPr lang="zh-CN" altLang="zh-CN" sz="2800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0=2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5          1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3+1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3+1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dirty="0">
                <a:solidFill>
                  <a:schemeClr val="bg2"/>
                </a:solidFill>
                <a:ea typeface="黑体" pitchFamily="49" charset="-122"/>
              </a:rPr>
              <a:t>/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3=1</a:t>
            </a:r>
          </a:p>
          <a:p>
            <a:pPr marL="1409770" lvl="2" indent="-495324">
              <a:lnSpc>
                <a:spcPct val="105000"/>
              </a:lnSpc>
              <a:buClr>
                <a:schemeClr val="tx1"/>
              </a:buClr>
              <a:buSzPct val="90000"/>
              <a:buNone/>
            </a:pPr>
            <a:endParaRPr lang="zh-CN" altLang="zh-CN" sz="2800" b="1" dirty="0">
              <a:solidFill>
                <a:schemeClr val="bg2"/>
              </a:solidFill>
              <a:latin typeface="宋体" pitchFamily="2" charset="-122"/>
            </a:endParaRP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1143000" y="3881443"/>
            <a:ext cx="990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8671EE-54B4-4121-BE9F-DD536CD0EFAB}"/>
              </a:ext>
            </a:extLst>
          </p:cNvPr>
          <p:cNvSpPr txBox="1"/>
          <p:nvPr/>
        </p:nvSpPr>
        <p:spPr>
          <a:xfrm>
            <a:off x="3699934" y="2876383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2 （≠2.5）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FF8DEE-7BE0-45B0-B9CB-883E89942789}"/>
              </a:ext>
            </a:extLst>
          </p:cNvPr>
          <p:cNvSpPr txBox="1"/>
          <p:nvPr/>
        </p:nvSpPr>
        <p:spPr>
          <a:xfrm>
            <a:off x="4843837" y="3603178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2739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2" y="233484"/>
            <a:ext cx="8442458" cy="808038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、求余数（</a:t>
            </a:r>
            <a:r>
              <a:rPr lang="zh-CN" altLang="zh-CN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% </a:t>
            </a:r>
            <a:r>
              <a:rPr lang="zh-CN" altLang="zh-CN" sz="3600" dirty="0">
                <a:solidFill>
                  <a:schemeClr val="bg2"/>
                </a:solidFill>
                <a:effectLst/>
                <a:latin typeface="黑体" pitchFamily="49" charset="-122"/>
                <a:ea typeface="黑体" pitchFamily="49" charset="-122"/>
              </a:rPr>
              <a:t>模运算符</a:t>
            </a:r>
            <a:r>
              <a:rPr lang="zh-CN" altLang="en-US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）</a:t>
            </a:r>
            <a:endParaRPr lang="zh-CN" altLang="en-US" sz="3600" dirty="0"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3212" y="1119193"/>
            <a:ext cx="9051263" cy="5049837"/>
          </a:xfrm>
        </p:spPr>
        <p:txBody>
          <a:bodyPr/>
          <a:lstStyle/>
          <a:p>
            <a:pPr marL="263538" indent="-263538">
              <a:lnSpc>
                <a:spcPct val="110000"/>
              </a:lnSpc>
              <a:spcBef>
                <a:spcPct val="4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用于计算两个数相除后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得到的余数。</a:t>
            </a:r>
            <a:endParaRPr lang="zh-CN" altLang="en-US" sz="2800" b="1" dirty="0">
              <a:solidFill>
                <a:schemeClr val="bg2"/>
              </a:solidFill>
            </a:endParaRPr>
          </a:p>
          <a:p>
            <a:pPr marL="263538" indent="-263538">
              <a:lnSpc>
                <a:spcPct val="120000"/>
              </a:lnSpc>
              <a:spcBef>
                <a:spcPct val="40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  如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:</a:t>
            </a:r>
            <a:r>
              <a:rPr lang="zh-CN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zh-CN" sz="2800" b="1" dirty="0">
                <a:solidFill>
                  <a:schemeClr val="bg2"/>
                </a:solidFill>
                <a:latin typeface="Arial" pitchFamily="34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</a:rPr>
              <a:t>％</a:t>
            </a:r>
            <a:r>
              <a:rPr lang="zh-CN" altLang="zh-CN" sz="2800" b="1" dirty="0">
                <a:solidFill>
                  <a:schemeClr val="bg2"/>
                </a:solidFill>
                <a:latin typeface="Arial" pitchFamily="34" charset="0"/>
              </a:rPr>
              <a:t>b</a:t>
            </a:r>
            <a:r>
              <a:rPr lang="zh-CN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求</a:t>
            </a:r>
            <a:r>
              <a:rPr lang="zh-CN" altLang="zh-CN" sz="2800" b="1" dirty="0">
                <a:solidFill>
                  <a:schemeClr val="bg2"/>
                </a:solidFill>
                <a:latin typeface="Arial" pitchFamily="34" charset="0"/>
              </a:rPr>
              <a:t>a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除以</a:t>
            </a:r>
            <a:r>
              <a:rPr lang="zh-CN" altLang="zh-CN" sz="2800" b="1" dirty="0">
                <a:solidFill>
                  <a:schemeClr val="bg2"/>
                </a:solidFill>
                <a:latin typeface="Arial" pitchFamily="34" charset="0"/>
              </a:rPr>
              <a:t>b</a:t>
            </a:r>
            <a:r>
              <a:rPr lang="zh-CN" altLang="en-US" sz="2800" b="1" dirty="0">
                <a:solidFill>
                  <a:schemeClr val="bg2"/>
                </a:solidFill>
              </a:rPr>
              <a:t>以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后得到的余数。</a:t>
            </a:r>
            <a:endParaRPr lang="en-US" altLang="zh-CN" sz="2800" b="1" dirty="0">
              <a:solidFill>
                <a:schemeClr val="bg2"/>
              </a:solidFill>
              <a:latin typeface="黑体" pitchFamily="49" charset="-122"/>
            </a:endParaRPr>
          </a:p>
          <a:p>
            <a:pPr marL="263538" indent="-263538">
              <a:lnSpc>
                <a:spcPct val="120000"/>
              </a:lnSpc>
              <a:spcBef>
                <a:spcPct val="40000"/>
              </a:spcBef>
              <a:buNone/>
            </a:pPr>
            <a:endParaRPr lang="zh-CN" altLang="en-US" sz="2800" b="1" dirty="0">
              <a:solidFill>
                <a:schemeClr val="bg2"/>
              </a:solidFill>
              <a:latin typeface="黑体" pitchFamily="49" charset="-122"/>
            </a:endParaRPr>
          </a:p>
          <a:p>
            <a:pPr marL="263538" indent="-263538">
              <a:lnSpc>
                <a:spcPct val="110000"/>
              </a:lnSpc>
              <a:spcBef>
                <a:spcPct val="550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运算对象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只能是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整型量</a:t>
            </a:r>
            <a:r>
              <a:rPr lang="zh-CN" altLang="zh-CN" sz="2800" b="1" dirty="0">
                <a:solidFill>
                  <a:srgbClr val="FF0000"/>
                </a:solidFill>
                <a:latin typeface="Times New Roman" pitchFamily="18" charset="0"/>
              </a:rPr>
              <a:t>, 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其结果也是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整型量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</a:rPr>
              <a:t>（其它算术运算符的运算对象可以是整数，也可是浮点型）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。</a:t>
            </a:r>
          </a:p>
          <a:p>
            <a:pPr marL="263538" indent="-263538">
              <a:lnSpc>
                <a:spcPct val="115000"/>
              </a:lnSpc>
              <a:spcBef>
                <a:spcPct val="55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如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:</a:t>
            </a:r>
            <a:r>
              <a:rPr lang="zh-CN" altLang="zh-CN" sz="2800" b="1" dirty="0">
                <a:solidFill>
                  <a:schemeClr val="bg2"/>
                </a:solidFill>
                <a:latin typeface="宋体" pitchFamily="2" charset="-122"/>
              </a:rPr>
              <a:t>   </a:t>
            </a:r>
            <a:r>
              <a:rPr lang="zh-CN" altLang="zh-CN" sz="2800" b="1" dirty="0">
                <a:solidFill>
                  <a:schemeClr val="bg2"/>
                </a:solidFill>
              </a:rPr>
              <a:t>5%2=1        3%3=0        3%5=3</a:t>
            </a:r>
          </a:p>
          <a:p>
            <a:pPr marL="263538" indent="-263538" algn="just">
              <a:lnSpc>
                <a:spcPct val="115000"/>
              </a:lnSpc>
              <a:spcBef>
                <a:spcPct val="45000"/>
              </a:spcBef>
              <a:buClrTx/>
              <a:buSzTx/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            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zh-CN" altLang="zh-CN" sz="2800" b="1" dirty="0">
                <a:solidFill>
                  <a:schemeClr val="bg2"/>
                </a:solidFill>
              </a:rPr>
              <a:t>A</a:t>
            </a:r>
            <a:r>
              <a:rPr lang="zh-CN" altLang="zh-CN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zh-CN" sz="2800" b="1" dirty="0">
                <a:solidFill>
                  <a:schemeClr val="bg2"/>
                </a:solidFill>
              </a:rPr>
              <a:t>%2=1      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0+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0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%5</a:t>
            </a:r>
            <a:r>
              <a:rPr lang="zh-CN" altLang="zh-CN" sz="2800" b="1" dirty="0">
                <a:solidFill>
                  <a:schemeClr val="bg2"/>
                </a:solidFill>
                <a:latin typeface="宋体" pitchFamily="2" charset="-122"/>
              </a:rPr>
              <a:t>          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7321603" y="5175359"/>
            <a:ext cx="742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endParaRPr lang="zh-CN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62141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2" y="233484"/>
            <a:ext cx="8442458" cy="808038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、求余数（</a:t>
            </a:r>
            <a:r>
              <a:rPr lang="zh-CN" altLang="zh-CN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% </a:t>
            </a:r>
            <a:r>
              <a:rPr lang="zh-CN" altLang="zh-CN" sz="3600" dirty="0">
                <a:solidFill>
                  <a:schemeClr val="bg2"/>
                </a:solidFill>
                <a:effectLst/>
                <a:latin typeface="黑体" pitchFamily="49" charset="-122"/>
                <a:ea typeface="黑体" pitchFamily="49" charset="-122"/>
              </a:rPr>
              <a:t>模运算符</a:t>
            </a:r>
            <a:r>
              <a:rPr lang="zh-CN" altLang="en-US" sz="3600" dirty="0">
                <a:solidFill>
                  <a:schemeClr val="bg2"/>
                </a:solidFill>
                <a:effectLst/>
                <a:latin typeface="Times New Roman" pitchFamily="18" charset="0"/>
                <a:ea typeface="黑体" pitchFamily="49" charset="-122"/>
              </a:rPr>
              <a:t>）</a:t>
            </a:r>
            <a:endParaRPr lang="zh-CN" altLang="en-US" sz="3600" dirty="0">
              <a:solidFill>
                <a:schemeClr val="bg2"/>
              </a:solidFill>
              <a:effectLst/>
              <a:latin typeface="Times New Roman" pitchFamily="18" charset="0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3212" y="1119193"/>
            <a:ext cx="9051263" cy="5049837"/>
          </a:xfrm>
        </p:spPr>
        <p:txBody>
          <a:bodyPr/>
          <a:lstStyle/>
          <a:p>
            <a:pPr marL="263538" indent="-263538">
              <a:lnSpc>
                <a:spcPct val="110000"/>
              </a:lnSpc>
              <a:spcBef>
                <a:spcPts val="14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所得结果的符号与运算符左侧操作数（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被除数</a:t>
            </a: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</a:rPr>
              <a:t>）的符号相同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2910835" y="3052600"/>
            <a:ext cx="60072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solidFill>
                  <a:schemeClr val="bg2"/>
                </a:solidFill>
              </a:rPr>
              <a:t>-5%2=-1      5%-2=1</a:t>
            </a:r>
          </a:p>
        </p:txBody>
      </p:sp>
    </p:spTree>
    <p:extLst>
      <p:ext uri="{BB962C8B-B14F-4D97-AF65-F5344CB8AC3E}">
        <p14:creationId xmlns:p14="http://schemas.microsoft.com/office/powerpoint/2010/main" val="6597176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7080-06F6-44B9-973F-61D4560112BE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312324" name="Text Box 4"/>
          <p:cNvSpPr txBox="1">
            <a:spLocks noChangeArrowheads="1"/>
          </p:cNvSpPr>
          <p:nvPr/>
        </p:nvSpPr>
        <p:spPr bwMode="auto">
          <a:xfrm>
            <a:off x="3651254" y="1682754"/>
            <a:ext cx="45624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A50021"/>
                </a:solidFill>
              </a:rPr>
              <a:t>(类型关键字)表达式</a:t>
            </a:r>
          </a:p>
        </p:txBody>
      </p:sp>
      <p:sp>
        <p:nvSpPr>
          <p:cNvPr id="312325" name="Text Box 5"/>
          <p:cNvSpPr txBox="1">
            <a:spLocks noChangeArrowheads="1"/>
          </p:cNvSpPr>
          <p:nvPr/>
        </p:nvSpPr>
        <p:spPr bwMode="auto">
          <a:xfrm>
            <a:off x="3784600" y="2519366"/>
            <a:ext cx="363855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00"/>
                </a:solidFill>
              </a:rPr>
              <a:t>例：</a:t>
            </a:r>
            <a:r>
              <a:rPr lang="zh-CN" altLang="en-US" sz="3200">
                <a:solidFill>
                  <a:srgbClr val="0000FF"/>
                </a:solidFill>
              </a:rPr>
              <a:t> </a:t>
            </a:r>
            <a:r>
              <a:rPr lang="zh-CN" altLang="en-US" sz="3200">
                <a:solidFill>
                  <a:srgbClr val="A50021"/>
                </a:solidFill>
              </a:rPr>
              <a:t>(</a:t>
            </a:r>
            <a:r>
              <a:rPr lang="en-US" altLang="zh-CN" sz="3200">
                <a:solidFill>
                  <a:srgbClr val="A50021"/>
                </a:solidFill>
              </a:rPr>
              <a:t>int) a   </a:t>
            </a:r>
          </a:p>
          <a:p>
            <a:r>
              <a:rPr lang="en-US" altLang="zh-CN" sz="3200">
                <a:solidFill>
                  <a:srgbClr val="A50021"/>
                </a:solidFill>
              </a:rPr>
              <a:t>         (float)(5%3)  </a:t>
            </a:r>
          </a:p>
          <a:p>
            <a:r>
              <a:rPr lang="en-US" altLang="zh-CN" sz="3200">
                <a:solidFill>
                  <a:srgbClr val="A50021"/>
                </a:solidFill>
              </a:rPr>
              <a:t>         (double)(x+y)</a:t>
            </a:r>
          </a:p>
        </p:txBody>
      </p:sp>
      <p:sp>
        <p:nvSpPr>
          <p:cNvPr id="312326" name="Text Box 6"/>
          <p:cNvSpPr txBox="1">
            <a:spLocks noChangeArrowheads="1"/>
          </p:cNvSpPr>
          <p:nvPr/>
        </p:nvSpPr>
        <p:spPr bwMode="auto">
          <a:xfrm>
            <a:off x="1968187" y="781848"/>
            <a:ext cx="49926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</a:rPr>
              <a:t>3</a:t>
            </a:r>
            <a:r>
              <a:rPr lang="zh-CN" altLang="en-US" sz="3200" dirty="0">
                <a:solidFill>
                  <a:srgbClr val="000000"/>
                </a:solidFill>
              </a:rPr>
              <a:t>、强制类型转换运算</a:t>
            </a:r>
          </a:p>
        </p:txBody>
      </p:sp>
      <p:sp>
        <p:nvSpPr>
          <p:cNvPr id="312339" name="Text Box 19"/>
          <p:cNvSpPr txBox="1">
            <a:spLocks noChangeArrowheads="1"/>
          </p:cNvSpPr>
          <p:nvPr/>
        </p:nvSpPr>
        <p:spPr bwMode="auto">
          <a:xfrm>
            <a:off x="2832105" y="4765679"/>
            <a:ext cx="892103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A50021"/>
                </a:solidFill>
              </a:rPr>
              <a:t>注意:  </a:t>
            </a:r>
            <a:r>
              <a:rPr lang="zh-CN" altLang="en-US" sz="3200" dirty="0">
                <a:solidFill>
                  <a:srgbClr val="A50021"/>
                </a:solidFill>
                <a:sym typeface="Wingdings" pitchFamily="2" charset="2"/>
              </a:rPr>
              <a:t>(</a:t>
            </a:r>
            <a:r>
              <a:rPr lang="en-US" altLang="zh-CN" sz="3200" dirty="0">
                <a:solidFill>
                  <a:srgbClr val="A50021"/>
                </a:solidFill>
                <a:sym typeface="Wingdings" pitchFamily="2" charset="2"/>
              </a:rPr>
              <a:t>int) </a:t>
            </a:r>
            <a:r>
              <a:rPr lang="en-US" altLang="zh-CN" sz="3200" dirty="0" err="1">
                <a:solidFill>
                  <a:srgbClr val="A50021"/>
                </a:solidFill>
                <a:sym typeface="Wingdings" pitchFamily="2" charset="2"/>
              </a:rPr>
              <a:t>x+y</a:t>
            </a:r>
            <a:r>
              <a:rPr lang="en-US" altLang="zh-CN" sz="3200" dirty="0">
                <a:solidFill>
                  <a:srgbClr val="A50021"/>
                </a:solidFill>
                <a:sym typeface="Wingdings" pitchFamily="2" charset="2"/>
              </a:rPr>
              <a:t>   </a:t>
            </a:r>
            <a:r>
              <a:rPr lang="zh-CN" altLang="en-US" sz="3200" dirty="0">
                <a:solidFill>
                  <a:srgbClr val="000000"/>
                </a:solidFill>
                <a:sym typeface="Wingdings" pitchFamily="2" charset="2"/>
              </a:rPr>
              <a:t>取出</a:t>
            </a:r>
            <a:r>
              <a:rPr lang="en-US" altLang="zh-CN" sz="3200" dirty="0">
                <a:solidFill>
                  <a:srgbClr val="000000"/>
                </a:solidFill>
                <a:sym typeface="Wingdings" pitchFamily="2" charset="2"/>
              </a:rPr>
              <a:t>x</a:t>
            </a:r>
            <a:r>
              <a:rPr lang="zh-CN" altLang="en-US" sz="3200" dirty="0">
                <a:solidFill>
                  <a:srgbClr val="000000"/>
                </a:solidFill>
                <a:sym typeface="Wingdings" pitchFamily="2" charset="2"/>
              </a:rPr>
              <a:t>的值，转换为整型与</a:t>
            </a:r>
            <a:r>
              <a:rPr lang="en-US" altLang="zh-CN" sz="3200" dirty="0">
                <a:solidFill>
                  <a:srgbClr val="000000"/>
                </a:solidFill>
                <a:sym typeface="Wingdings" pitchFamily="2" charset="2"/>
              </a:rPr>
              <a:t>y</a:t>
            </a:r>
            <a:r>
              <a:rPr lang="zh-CN" altLang="en-US" sz="3200" dirty="0">
                <a:solidFill>
                  <a:srgbClr val="000000"/>
                </a:solidFill>
                <a:sym typeface="Wingdings" pitchFamily="2" charset="2"/>
              </a:rPr>
              <a:t>相加</a:t>
            </a:r>
          </a:p>
          <a:p>
            <a:r>
              <a:rPr lang="en-US" altLang="zh-CN" sz="3200" dirty="0">
                <a:solidFill>
                  <a:srgbClr val="A50021"/>
                </a:solidFill>
                <a:sym typeface="Wingdings" pitchFamily="2" charset="2"/>
              </a:rPr>
              <a:t>            int （x）</a:t>
            </a:r>
            <a:r>
              <a:rPr lang="zh-CN" altLang="en-US" sz="3200" dirty="0">
                <a:solidFill>
                  <a:srgbClr val="A50021"/>
                </a:solidFill>
                <a:sym typeface="Wingdings" pitchFamily="2" charset="2"/>
              </a:rPr>
              <a:t>是错误的写法</a:t>
            </a:r>
            <a:endParaRPr lang="en-US" altLang="zh-CN" sz="3200" dirty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5" grpId="0" autoUpdateAnimBg="0"/>
      <p:bldP spid="31233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6563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45062" name="TextBox 1"/>
          <p:cNvSpPr txBox="1">
            <a:spLocks noChangeArrowheads="1"/>
          </p:cNvSpPr>
          <p:nvPr/>
        </p:nvSpPr>
        <p:spPr bwMode="auto">
          <a:xfrm>
            <a:off x="1334393" y="948983"/>
            <a:ext cx="9364402" cy="3205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使用强制类型转换时应注意：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①类型说明符必须加括号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若表达式为单个变量，可不加括号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，如：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“</a:t>
            </a:r>
            <a:r>
              <a:rPr lang="en-US" altLang="zh-CN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int(x+y)”,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是错误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的，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类型说明符必须要用括号括起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02636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6563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45062" name="TextBox 1"/>
          <p:cNvSpPr txBox="1">
            <a:spLocks noChangeArrowheads="1"/>
          </p:cNvSpPr>
          <p:nvPr/>
        </p:nvSpPr>
        <p:spPr bwMode="auto">
          <a:xfrm>
            <a:off x="1334393" y="948983"/>
            <a:ext cx="9364402" cy="4859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②强制转换只是取出变量的值进行转换，</a:t>
            </a:r>
            <a:r>
              <a:rPr lang="zh-CN" altLang="en-US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并不改变该变量的类型和值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</a:t>
            </a:r>
            <a:endParaRPr lang="en-US" altLang="zh-CN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(int)(</a:t>
            </a:r>
            <a:r>
              <a:rPr lang="en-US" altLang="zh-CN" sz="32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x+y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  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将</a:t>
            </a:r>
            <a:r>
              <a:rPr lang="en-US" altLang="zh-CN" sz="32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x+y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的值转换为整数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(int)</a:t>
            </a:r>
            <a:r>
              <a:rPr lang="en-US" altLang="zh-CN" sz="32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x+y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Wingdings" pitchFamily="2" charset="2"/>
              </a:rPr>
              <a:t>取出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Wingdings" pitchFamily="2" charset="2"/>
              </a:rPr>
              <a:t>x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Wingdings" pitchFamily="2" charset="2"/>
              </a:rPr>
              <a:t>的值，转换为整型与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Wingdings" pitchFamily="2" charset="2"/>
              </a:rPr>
              <a:t>y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Wingdings" pitchFamily="2" charset="2"/>
              </a:rPr>
              <a:t>相加</a:t>
            </a:r>
            <a:endParaRPr lang="zh-CN" altLang="en-US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336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16140" y="6248400"/>
            <a:ext cx="2063750" cy="457200"/>
          </a:xfrm>
        </p:spPr>
        <p:txBody>
          <a:bodyPr/>
          <a:lstStyle/>
          <a:p>
            <a:fld id="{67EC36D0-2742-484C-B327-FF4C14F0D5E8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107442" y="611191"/>
            <a:ext cx="4727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、自增、自减运算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967870" y="1331916"/>
            <a:ext cx="26701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1、运算规则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529840" y="1916117"/>
            <a:ext cx="9511364" cy="103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 sz="3200" dirty="0">
                <a:solidFill>
                  <a:srgbClr val="A50021"/>
                </a:solidFill>
              </a:rPr>
              <a:t>++</a:t>
            </a:r>
            <a:r>
              <a:rPr lang="en-US" altLang="en-US" sz="3200" dirty="0" err="1">
                <a:solidFill>
                  <a:srgbClr val="A50021"/>
                </a:solidFill>
              </a:rPr>
              <a:t>i</a:t>
            </a:r>
            <a:r>
              <a:rPr lang="en-US" altLang="en-US" sz="3200" dirty="0">
                <a:solidFill>
                  <a:srgbClr val="A50021"/>
                </a:solidFill>
              </a:rPr>
              <a:t>   --</a:t>
            </a:r>
            <a:r>
              <a:rPr lang="en-US" altLang="en-US" sz="3200" dirty="0" err="1">
                <a:solidFill>
                  <a:srgbClr val="A50021"/>
                </a:solidFill>
              </a:rPr>
              <a:t>i</a:t>
            </a:r>
            <a:r>
              <a:rPr lang="en-US" altLang="en-US" sz="3200" dirty="0">
                <a:solidFill>
                  <a:srgbClr val="A50021"/>
                </a:solidFill>
              </a:rPr>
              <a:t>   </a:t>
            </a:r>
            <a:r>
              <a:rPr lang="zh-CN" altLang="en-US" sz="3200" dirty="0">
                <a:solidFill>
                  <a:srgbClr val="000000"/>
                </a:solidFill>
              </a:rPr>
              <a:t>使用前使</a:t>
            </a:r>
            <a:r>
              <a:rPr lang="en-US" altLang="en-US" sz="3200" dirty="0" err="1">
                <a:solidFill>
                  <a:srgbClr val="000000"/>
                </a:solidFill>
              </a:rPr>
              <a:t>i</a:t>
            </a:r>
            <a:r>
              <a:rPr lang="zh-CN" altLang="zh-CN" sz="3200" dirty="0">
                <a:solidFill>
                  <a:srgbClr val="000000"/>
                </a:solidFill>
              </a:rPr>
              <a:t>值</a:t>
            </a:r>
            <a:r>
              <a:rPr lang="zh-CN" altLang="en-US" sz="3200" dirty="0">
                <a:solidFill>
                  <a:srgbClr val="000000"/>
                </a:solidFill>
              </a:rPr>
              <a:t>加(减) 1（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前缀先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再用值</a:t>
            </a:r>
            <a:r>
              <a:rPr lang="zh-CN" altLang="en-US" sz="3200" dirty="0">
                <a:solidFill>
                  <a:srgbClr val="000000"/>
                </a:solidFill>
              </a:rPr>
              <a:t>）</a:t>
            </a:r>
          </a:p>
          <a:p>
            <a:pPr>
              <a:lnSpc>
                <a:spcPct val="70000"/>
              </a:lnSpc>
            </a:pPr>
            <a:r>
              <a:rPr lang="en-US" altLang="zh-CN" sz="3200" dirty="0" err="1">
                <a:solidFill>
                  <a:srgbClr val="A50021"/>
                </a:solidFill>
              </a:rPr>
              <a:t>i</a:t>
            </a:r>
            <a:r>
              <a:rPr lang="en-US" altLang="zh-CN" sz="3200" dirty="0">
                <a:solidFill>
                  <a:srgbClr val="A50021"/>
                </a:solidFill>
              </a:rPr>
              <a:t>++   </a:t>
            </a:r>
            <a:r>
              <a:rPr lang="en-US" altLang="zh-CN" sz="3200" dirty="0" err="1">
                <a:solidFill>
                  <a:srgbClr val="A50021"/>
                </a:solidFill>
              </a:rPr>
              <a:t>i</a:t>
            </a:r>
            <a:r>
              <a:rPr lang="en-US" altLang="zh-CN" sz="3200" dirty="0">
                <a:solidFill>
                  <a:srgbClr val="A50021"/>
                </a:solidFill>
              </a:rPr>
              <a:t>--</a:t>
            </a:r>
            <a:r>
              <a:rPr lang="en-US" altLang="zh-CN" sz="3200" dirty="0"/>
              <a:t>   </a:t>
            </a:r>
            <a:r>
              <a:rPr lang="zh-CN" altLang="en-US" sz="3200" dirty="0">
                <a:solidFill>
                  <a:srgbClr val="000000"/>
                </a:solidFill>
              </a:rPr>
              <a:t>使用后使</a:t>
            </a:r>
            <a:r>
              <a:rPr lang="en-US" altLang="en-US" sz="3200" dirty="0" err="1">
                <a:solidFill>
                  <a:srgbClr val="000000"/>
                </a:solidFill>
              </a:rPr>
              <a:t>i</a:t>
            </a:r>
            <a:r>
              <a:rPr lang="zh-CN" altLang="zh-CN" sz="3200" dirty="0">
                <a:solidFill>
                  <a:srgbClr val="000000"/>
                </a:solidFill>
              </a:rPr>
              <a:t>值</a:t>
            </a:r>
            <a:r>
              <a:rPr lang="zh-CN" altLang="en-US" sz="3200" dirty="0">
                <a:solidFill>
                  <a:srgbClr val="000000"/>
                </a:solidFill>
              </a:rPr>
              <a:t>加(减) 1（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后缀先用值再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 </a:t>
            </a:r>
            <a:r>
              <a:rPr lang="zh-CN" altLang="en-US" sz="3200" dirty="0">
                <a:solidFill>
                  <a:srgbClr val="000000"/>
                </a:solidFill>
              </a:rPr>
              <a:t>）</a:t>
            </a:r>
            <a:endParaRPr lang="zh-CN" altLang="zh-CN" sz="3200" dirty="0">
              <a:solidFill>
                <a:srgbClr val="000000"/>
              </a:solidFill>
            </a:endParaRP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1977390" y="2930528"/>
            <a:ext cx="19065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2、注意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2744518" y="3400429"/>
            <a:ext cx="33393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(1)  </a:t>
            </a:r>
            <a:r>
              <a:rPr lang="zh-CN" altLang="en-US" sz="3200" dirty="0">
                <a:solidFill>
                  <a:srgbClr val="C00000"/>
                </a:solidFill>
              </a:rPr>
              <a:t>只能用于变量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645728" y="3948116"/>
            <a:ext cx="31543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(2)  右结合方向</a:t>
            </a:r>
          </a:p>
        </p:txBody>
      </p:sp>
      <p:grpSp>
        <p:nvGrpSpPr>
          <p:cNvPr id="29717" name="Group 21"/>
          <p:cNvGrpSpPr>
            <a:grpSpLocks/>
          </p:cNvGrpSpPr>
          <p:nvPr/>
        </p:nvGrpSpPr>
        <p:grpSpPr bwMode="auto">
          <a:xfrm>
            <a:off x="2996569" y="4892686"/>
            <a:ext cx="4994275" cy="1714503"/>
            <a:chOff x="1822" y="3066"/>
            <a:chExt cx="3146" cy="1080"/>
          </a:xfrm>
        </p:grpSpPr>
        <p:sp>
          <p:nvSpPr>
            <p:cNvPr id="29712" name="Text Box 16"/>
            <p:cNvSpPr txBox="1">
              <a:spLocks noChangeArrowheads="1"/>
            </p:cNvSpPr>
            <p:nvPr/>
          </p:nvSpPr>
          <p:spPr bwMode="auto">
            <a:xfrm>
              <a:off x="3706" y="3066"/>
              <a:ext cx="3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6000">
                  <a:solidFill>
                    <a:srgbClr val="000000"/>
                  </a:solidFill>
                </a:rPr>
                <a:t>{</a:t>
              </a:r>
            </a:p>
          </p:txBody>
        </p:sp>
        <p:grpSp>
          <p:nvGrpSpPr>
            <p:cNvPr id="29716" name="Group 20"/>
            <p:cNvGrpSpPr>
              <a:grpSpLocks/>
            </p:cNvGrpSpPr>
            <p:nvPr/>
          </p:nvGrpSpPr>
          <p:grpSpPr bwMode="auto">
            <a:xfrm>
              <a:off x="1822" y="3190"/>
              <a:ext cx="3146" cy="956"/>
              <a:chOff x="1822" y="3190"/>
              <a:chExt cx="3146" cy="956"/>
            </a:xfrm>
          </p:grpSpPr>
          <p:sp>
            <p:nvSpPr>
              <p:cNvPr id="29710" name="Text Box 14"/>
              <p:cNvSpPr txBox="1">
                <a:spLocks noChangeArrowheads="1"/>
              </p:cNvSpPr>
              <p:nvPr/>
            </p:nvSpPr>
            <p:spPr bwMode="auto">
              <a:xfrm>
                <a:off x="1822" y="3247"/>
                <a:ext cx="710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3200">
                    <a:solidFill>
                      <a:srgbClr val="A50021"/>
                    </a:solidFill>
                  </a:rPr>
                  <a:t>j=++i;</a:t>
                </a:r>
              </a:p>
              <a:p>
                <a:r>
                  <a:rPr lang="en-US" altLang="zh-CN" sz="3200">
                    <a:solidFill>
                      <a:srgbClr val="A50021"/>
                    </a:solidFill>
                  </a:rPr>
                  <a:t>j=i++;</a:t>
                </a:r>
              </a:p>
            </p:txBody>
          </p:sp>
          <p:sp>
            <p:nvSpPr>
              <p:cNvPr id="29711" name="Text Box 15"/>
              <p:cNvSpPr txBox="1">
                <a:spLocks noChangeArrowheads="1"/>
              </p:cNvSpPr>
              <p:nvPr/>
            </p:nvSpPr>
            <p:spPr bwMode="auto">
              <a:xfrm>
                <a:off x="2778" y="3452"/>
                <a:ext cx="88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zh-CN" altLang="en-US" sz="3200">
                    <a:solidFill>
                      <a:srgbClr val="000000"/>
                    </a:solidFill>
                  </a:rPr>
                  <a:t>相当于</a:t>
                </a:r>
              </a:p>
            </p:txBody>
          </p:sp>
          <p:sp>
            <p:nvSpPr>
              <p:cNvPr id="29713" name="Text Box 17"/>
              <p:cNvSpPr txBox="1">
                <a:spLocks noChangeArrowheads="1"/>
              </p:cNvSpPr>
              <p:nvPr/>
            </p:nvSpPr>
            <p:spPr bwMode="auto">
              <a:xfrm>
                <a:off x="3722" y="3506"/>
                <a:ext cx="305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zh-CN" altLang="en-US" sz="6000">
                    <a:solidFill>
                      <a:srgbClr val="000000"/>
                    </a:solidFill>
                  </a:rPr>
                  <a:t>{</a:t>
                </a:r>
              </a:p>
            </p:txBody>
          </p:sp>
          <p:sp>
            <p:nvSpPr>
              <p:cNvPr id="29714" name="Text Box 18"/>
              <p:cNvSpPr txBox="1">
                <a:spLocks noChangeArrowheads="1"/>
              </p:cNvSpPr>
              <p:nvPr/>
            </p:nvSpPr>
            <p:spPr bwMode="auto">
              <a:xfrm>
                <a:off x="3951" y="3190"/>
                <a:ext cx="683" cy="5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2800">
                    <a:solidFill>
                      <a:srgbClr val="A50021"/>
                    </a:solidFill>
                  </a:rPr>
                  <a:t>i=i+1;</a:t>
                </a:r>
              </a:p>
              <a:p>
                <a:pPr>
                  <a:lnSpc>
                    <a:spcPct val="20000"/>
                  </a:lnSpc>
                </a:pPr>
                <a:r>
                  <a:rPr lang="en-US" altLang="zh-CN" sz="2800">
                    <a:solidFill>
                      <a:srgbClr val="A50021"/>
                    </a:solidFill>
                  </a:rPr>
                  <a:t>j=i;</a:t>
                </a:r>
              </a:p>
            </p:txBody>
          </p:sp>
          <p:sp>
            <p:nvSpPr>
              <p:cNvPr id="29715" name="Text Box 19"/>
              <p:cNvSpPr txBox="1">
                <a:spLocks noChangeArrowheads="1"/>
              </p:cNvSpPr>
              <p:nvPr/>
            </p:nvSpPr>
            <p:spPr bwMode="auto">
              <a:xfrm>
                <a:off x="3991" y="3624"/>
                <a:ext cx="977" cy="5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2800">
                    <a:solidFill>
                      <a:srgbClr val="A50021"/>
                    </a:solidFill>
                  </a:rPr>
                  <a:t>j=i;</a:t>
                </a:r>
              </a:p>
              <a:p>
                <a:pPr>
                  <a:lnSpc>
                    <a:spcPct val="20000"/>
                  </a:lnSpc>
                </a:pPr>
                <a:r>
                  <a:rPr lang="en-US" altLang="zh-CN" sz="2800">
                    <a:solidFill>
                      <a:srgbClr val="A50021"/>
                    </a:solidFill>
                  </a:rPr>
                  <a:t>i=i+1;</a:t>
                </a:r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utoUpdateAnimBg="0"/>
      <p:bldP spid="29705" grpId="0" autoUpdateAnimBg="0"/>
      <p:bldP spid="2970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2FBF04-2C37-CC92-EAAF-CAFDF8C2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98BA66-1E96-0A50-670C-A4979A897A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159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x1=10,x2=10,y1,y2;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y1=++x1;  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printf("x1=%d,y1=%d\n",x1,y1);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y2=x2++; 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printf("x2=%d,y2=%d\n",x2,y2);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C4E1DB3-CE8F-412A-A65D-640E60F66AA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8F137B4-2331-5E01-40D8-428DCC93017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4AE00E83-06F9-EEA9-7F0B-0D06B67300D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648D407-E84B-731C-94A3-7BDC8D2C006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2770DE39-BC9C-EBD8-C3D1-A3215EB533B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A3784865-CFEF-6451-BB9F-1C922FD5D37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20C4CD1-2B39-DE78-FE28-2B74728ED64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067687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EC9F82-95AE-8D53-D23F-A8DD8F09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14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FB3F8A-0912-8AC0-8914-A953A8B660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3615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x=5,y;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y=x+++x++;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printf("x=%d,y=%d\n",x,y);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D48483-268A-598D-357E-64F508279A0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49A9E6-596A-1D9A-9EDC-D8B111DB98C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FD635C1B-1CC9-6177-A8ED-CE46627E908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BAD0F9B-F035-7BD0-6BA4-9C2C6FB86B3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CECA780C-320D-E5D6-D714-64B9264525F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3C57027-7AB9-82B6-5177-698C7B04947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D90C25-AC01-C343-FB40-C81D612C796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824788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EC9F82-95AE-8D53-D23F-A8DD8F09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15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FB3F8A-0912-8AC0-8914-A953A8B660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3615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x=5,y;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y=x+++x++;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printf("x=%d,y=%d\n",x,y);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D48483-268A-598D-357E-64F508279A0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49A9E6-596A-1D9A-9EDC-D8B111DB98C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FD635C1B-1CC9-6177-A8ED-CE46627E908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BAD0F9B-F035-7BD0-6BA4-9C2C6FB86B3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CECA780C-320D-E5D6-D714-64B9264525F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3C57027-7AB9-82B6-5177-698C7B04947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D90C25-AC01-C343-FB40-C81D612C796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644074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EC9F82-95AE-8D53-D23F-A8DD8F09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16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FB3F8A-0912-8AC0-8914-A953A8B660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3615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x=5,y;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y=(x++)+(++x);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printf("x=%d,y=%d\n",x,y);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D48483-268A-598D-357E-64F508279A0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49A9E6-596A-1D9A-9EDC-D8B111DB98C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FD635C1B-1CC9-6177-A8ED-CE46627E908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BAD0F9B-F035-7BD0-6BA4-9C2C6FB86B3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CECA780C-320D-E5D6-D714-64B9264525F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3C57027-7AB9-82B6-5177-698C7B04947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D90C25-AC01-C343-FB40-C81D612C796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017920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EC9F82-95AE-8D53-D23F-A8DD8F09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FB3F8A-0912-8AC0-8914-A953A8B660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3615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x=5,y;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y=(++x)+(++x);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printf("x=%d,y=%d\n",x,y);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s-E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D48483-268A-598D-357E-64F508279A0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49A9E6-596A-1D9A-9EDC-D8B111DB98C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FD635C1B-1CC9-6177-A8ED-CE46627E908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BAD0F9B-F035-7BD0-6BA4-9C2C6FB86B3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CECA780C-320D-E5D6-D714-64B9264525F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3C57027-7AB9-82B6-5177-698C7B04947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D90C25-AC01-C343-FB40-C81D612C796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4955556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CB5F-F74B-4FC9-8C31-CBB90AA294E0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908175" y="728668"/>
            <a:ext cx="1606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3、例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939644"/>
              </p:ext>
            </p:extLst>
          </p:nvPr>
        </p:nvGraphicFramePr>
        <p:xfrm>
          <a:off x="2271713" y="1644650"/>
          <a:ext cx="8720338" cy="425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Document" r:id="rId3" imgW="8134492" imgH="4247889" progId="Word.Document.8">
                  <p:embed/>
                </p:oleObj>
              </mc:Choice>
              <mc:Fallback>
                <p:oleObj name="Document" r:id="rId3" imgW="8134492" imgH="4247889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3" y="1644650"/>
                        <a:ext cx="8720338" cy="425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8611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40839" y="958837"/>
            <a:ext cx="9778259" cy="2551274"/>
          </a:xfrm>
          <a:prstGeom prst="rect">
            <a:avLst/>
          </a:prstGeom>
          <a:noFill/>
        </p:spPr>
        <p:txBody>
          <a:bodyPr wrap="square" lIns="118680" tIns="59340" rIns="118680" bIns="5934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关系运算符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大于（&gt;）、大于等于（&gt;=）、小于（&lt;）、小于等于（&lt;=）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等于（==）不等于（!=）</a:t>
            </a:r>
          </a:p>
          <a:p>
            <a:pPr marL="0" lvl="1">
              <a:spcBef>
                <a:spcPts val="600"/>
              </a:spcBef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运算结果：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真或假</a:t>
            </a:r>
            <a:r>
              <a:rPr lang="en-US" altLang="zh-CN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,C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语言以0表示假，以</a:t>
            </a:r>
            <a:r>
              <a:rPr lang="en-US" altLang="zh-CN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表示真</a:t>
            </a:r>
            <a:endParaRPr lang="en-US" altLang="zh-CN" sz="26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21311" y="3842240"/>
            <a:ext cx="8471546" cy="1504834"/>
          </a:xfrm>
          <a:prstGeom prst="rect">
            <a:avLst/>
          </a:prstGeom>
        </p:spPr>
        <p:txBody>
          <a:bodyPr wrap="square" lIns="118680" tIns="59340" rIns="118680" bIns="5934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6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级：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&gt;	      &gt;=       &lt;       &lt;=</a:t>
            </a:r>
          </a:p>
          <a:p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7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级：＝＝  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!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＝</a:t>
            </a:r>
            <a:endParaRPr lang="zh-CN" altLang="en-US" sz="280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54216" y="115571"/>
            <a:ext cx="78057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2.</a:t>
            </a:r>
            <a:r>
              <a:rPr lang="zh-CN" altLang="en-US" sz="4000" dirty="0">
                <a:solidFill>
                  <a:srgbClr val="0000CC"/>
                </a:solidFill>
              </a:rPr>
              <a:t>关系运算符</a:t>
            </a:r>
            <a:r>
              <a:rPr lang="zh-CN" altLang="zh-CN" sz="4000" dirty="0">
                <a:solidFill>
                  <a:srgbClr val="0000CC"/>
                </a:solidFill>
              </a:rPr>
              <a:t>与</a:t>
            </a:r>
            <a:r>
              <a:rPr lang="zh-CN" altLang="en-US" sz="4000" dirty="0">
                <a:solidFill>
                  <a:srgbClr val="0000CC"/>
                </a:solidFill>
              </a:rPr>
              <a:t>逻辑运算符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782379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7B0A98-702F-88AF-637D-418D0476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20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20E132-CC8A-9437-82F7-D0A2E1A4A8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45145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	12&gt;=5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的值为：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0" lvl="1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    1!=1+1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的值为：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CFD4902-202E-CD73-55EF-3CFCCDDA0FE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A45093-6D13-3291-E50E-A04E2213382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2315C918-5E95-D1BF-692C-6A3C4CDE9B8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1E25DA1B-6B39-6D7F-E825-5921671E20B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1EE824F1-77C2-E71D-5220-9A839C431BF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309A6C21-A381-71E6-39C2-6AAE9264A95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56A2869-DF90-5277-7500-32194A7519B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3377185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35880D-3967-DC73-9746-E0446F41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21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AB9068-31C5-3467-6372-520420D5D8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lvl="1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	(4&gt;3)+1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值为：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0" lvl="1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    5&gt;4&gt;3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的值为：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3417079-CBAD-77BB-2EDC-B2D4E04FFBC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84D0D54-0467-4053-FFE0-F95B6F7D4A5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0D3B51A2-743C-698C-BEE2-73F6CD293BA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9AA5242A-0EEA-F2A0-A0F2-15ED98AB049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8DA4603C-DFA8-A21F-E4DB-52A2FBAAAFE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FB4D7BC8-0753-2D07-F4CE-D49E559E4B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B2A4665-C46B-FAB8-A26F-794907B1E26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10234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9635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9637" name="TextBox 1"/>
          <p:cNvSpPr txBox="1">
            <a:spLocks noChangeArrowheads="1"/>
          </p:cNvSpPr>
          <p:nvPr/>
        </p:nvSpPr>
        <p:spPr bwMode="auto">
          <a:xfrm>
            <a:off x="1504596" y="1507051"/>
            <a:ext cx="9119810" cy="428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44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逻辑运算符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逻辑与（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&amp;&amp;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）、逻辑或（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||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）、逻辑非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!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逻辑表达式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逻辑运算符与一个或两个操作数构成的表达式</a:t>
            </a:r>
          </a:p>
        </p:txBody>
      </p:sp>
    </p:spTree>
    <p:extLst>
      <p:ext uri="{BB962C8B-B14F-4D97-AF65-F5344CB8AC3E}">
        <p14:creationId xmlns:p14="http://schemas.microsoft.com/office/powerpoint/2010/main" val="20570599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9635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69637" name="TextBox 1"/>
          <p:cNvSpPr txBox="1">
            <a:spLocks noChangeArrowheads="1"/>
          </p:cNvSpPr>
          <p:nvPr/>
        </p:nvSpPr>
        <p:spPr bwMode="auto">
          <a:xfrm>
            <a:off x="1536095" y="1423131"/>
            <a:ext cx="9119810" cy="293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运算结果：真或假</a:t>
            </a:r>
          </a:p>
          <a:p>
            <a:pPr lvl="2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 &amp;&amp; y：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若</a:t>
            </a:r>
            <a:r>
              <a:rPr lang="en-US" altLang="zh-CN" sz="2800" dirty="0" err="1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x、y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均为真，则结果为真，否则为假</a:t>
            </a:r>
          </a:p>
          <a:p>
            <a:pPr lvl="2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 || y：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若</a:t>
            </a:r>
            <a:r>
              <a:rPr lang="en-US" altLang="zh-CN" sz="2800" dirty="0" err="1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x、y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均为假，则结果为假，否则为真</a:t>
            </a:r>
          </a:p>
          <a:p>
            <a:pPr lvl="2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!x：  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若</a:t>
            </a:r>
            <a:r>
              <a:rPr lang="en-US" altLang="zh-CN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为真，则结果为假，否则为真</a:t>
            </a:r>
          </a:p>
        </p:txBody>
      </p:sp>
    </p:spTree>
    <p:extLst>
      <p:ext uri="{BB962C8B-B14F-4D97-AF65-F5344CB8AC3E}">
        <p14:creationId xmlns:p14="http://schemas.microsoft.com/office/powerpoint/2010/main" val="26323304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0659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58750" y="388990"/>
            <a:ext cx="9598075" cy="6443173"/>
          </a:xfrm>
          <a:prstGeom prst="rect">
            <a:avLst/>
          </a:prstGeom>
          <a:noFill/>
        </p:spPr>
        <p:txBody>
          <a:bodyPr lIns="118680" tIns="59340" rIns="118680" bIns="59340">
            <a:spAutoFit/>
          </a:bodyPr>
          <a:lstStyle/>
          <a:p>
            <a:pPr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运算优先级：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!    &amp;&amp;    ||   (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高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&gt; 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低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</a:p>
          <a:p>
            <a:pPr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说明：</a:t>
            </a:r>
          </a:p>
          <a:p>
            <a:pPr marL="727364" lvl="1" indent="-494526">
              <a:lnSpc>
                <a:spcPct val="150000"/>
              </a:lnSpc>
              <a:buFontTx/>
              <a:buAutoNum type="alphaLcParenR"/>
              <a:defRPr/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!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的优先级高于算术运算符（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2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级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 &amp;&amp;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（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11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级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）和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||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（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12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级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）的优先级低于关系运算符。</a:t>
            </a:r>
          </a:p>
          <a:p>
            <a:pPr marL="727364" lvl="1" indent="-494526">
              <a:lnSpc>
                <a:spcPct val="150000"/>
              </a:lnSpc>
              <a:buFontTx/>
              <a:buAutoNum type="alphaLcParenR"/>
              <a:defRPr/>
            </a:pPr>
            <a:r>
              <a:rPr lang="zh-CN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逻辑运算的结果</a:t>
            </a:r>
            <a:r>
              <a:rPr lang="zh-CN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只有真、假两种，分别用整数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表示。</a:t>
            </a:r>
          </a:p>
          <a:p>
            <a:pPr marL="727364" lvl="1" indent="-494526">
              <a:lnSpc>
                <a:spcPct val="150000"/>
              </a:lnSpc>
              <a:buFontTx/>
              <a:buAutoNum type="alphaLcParenR"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逻辑运算对象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的值，可以是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任何数据类型，非</a:t>
            </a:r>
            <a:r>
              <a:rPr lang="en-US" altLang="zh-CN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则为真，</a:t>
            </a:r>
            <a:r>
              <a:rPr lang="en-US" altLang="zh-CN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6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则为假。</a:t>
            </a:r>
          </a:p>
        </p:txBody>
      </p:sp>
    </p:spTree>
    <p:extLst>
      <p:ext uri="{BB962C8B-B14F-4D97-AF65-F5344CB8AC3E}">
        <p14:creationId xmlns:p14="http://schemas.microsoft.com/office/powerpoint/2010/main" val="3785818587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0659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58749" y="408625"/>
            <a:ext cx="9598075" cy="3627018"/>
          </a:xfrm>
          <a:prstGeom prst="rect">
            <a:avLst/>
          </a:prstGeom>
          <a:noFill/>
        </p:spPr>
        <p:txBody>
          <a:bodyPr lIns="118680" tIns="59340" rIns="118680" bIns="59340">
            <a:spAutoFit/>
          </a:bodyPr>
          <a:lstStyle/>
          <a:p>
            <a:pPr marL="690062" lvl="1" indent="-457224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分支或循环结构中的条件，可用数字（任意类型）表示，且非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数值表示真，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表示假。 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例如：      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if(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100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while(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   </a:t>
            </a:r>
          </a:p>
        </p:txBody>
      </p:sp>
    </p:spTree>
    <p:extLst>
      <p:ext uri="{BB962C8B-B14F-4D97-AF65-F5344CB8AC3E}">
        <p14:creationId xmlns:p14="http://schemas.microsoft.com/office/powerpoint/2010/main" val="3291216566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3F9519-E0C9-58A0-FFF7-E92C9BC5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6B7265-3603-AA34-3A5A-E032875635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50100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43978" indent="-543978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100 &amp;&amp; 200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!(4*5)==0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2&amp;&amp;8==1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3]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0||9==3*3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4]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marL="543978" indent="-543978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7767678-6168-3794-8F54-CA5AC01CD5C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859B29-5BAD-8C9B-C7AB-52AC42B1D97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6B4801DB-632E-D367-22FF-7F9FF59B7F2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C11AFC0B-F9CF-E9F0-8167-06E80742FCC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34B004B8-D14C-B55E-1F60-9EEDC98BEAD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89C43A09-3B2E-4009-02B4-53115CCBDE8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11318C76-70D0-8B2D-A851-5F5D4237A24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3938130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1683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58749" y="255567"/>
            <a:ext cx="9598075" cy="6669709"/>
          </a:xfrm>
          <a:prstGeom prst="rect">
            <a:avLst/>
          </a:prstGeom>
          <a:noFill/>
        </p:spPr>
        <p:txBody>
          <a:bodyPr lIns="118680" tIns="59340" rIns="118680" bIns="59340">
            <a:spAutoFit/>
          </a:bodyPr>
          <a:lstStyle/>
          <a:p>
            <a:pPr marL="457224" indent="-457224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逻辑表达式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短路特性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：计算逻辑表达式时，若计算到某步已能确定整个表达式的值，则表达式中后面部分将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不再被执行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</a:t>
            </a: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总是先算表达式</a:t>
            </a:r>
            <a:r>
              <a:rPr lang="en-US" altLang="zh-CN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&lt;</a:t>
            </a:r>
            <a:r>
              <a:rPr lang="zh-CN" altLang="en-US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1&gt; 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&amp;&amp;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 &lt;</a:t>
            </a:r>
            <a:r>
              <a:rPr lang="zh-CN" altLang="en-US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2&gt;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当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&lt;</a:t>
            </a:r>
            <a:r>
              <a:rPr lang="zh-CN" altLang="en-US" sz="3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&gt;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为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时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,&lt;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2&gt;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不执行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&lt;</a:t>
            </a:r>
            <a:r>
              <a:rPr lang="zh-CN" altLang="en-US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1&gt; </a:t>
            </a:r>
            <a:r>
              <a:rPr lang="en-US" altLang="zh-CN" sz="3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||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 &lt;</a:t>
            </a:r>
            <a:r>
              <a:rPr lang="zh-CN" altLang="en-US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2&gt;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当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&lt;</a:t>
            </a:r>
            <a:r>
              <a:rPr lang="zh-CN" altLang="en-US" sz="3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&gt;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为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（非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）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时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,&lt;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2&gt;</a:t>
            </a:r>
            <a:r>
              <a:rPr lang="zh-CN" altLang="en-US" sz="31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不执行</a:t>
            </a:r>
          </a:p>
        </p:txBody>
      </p:sp>
    </p:spTree>
    <p:extLst>
      <p:ext uri="{BB962C8B-B14F-4D97-AF65-F5344CB8AC3E}">
        <p14:creationId xmlns:p14="http://schemas.microsoft.com/office/powerpoint/2010/main" val="565061705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CB1320-AE66-FE70-062C-4A6C9A6E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016CDF-A97A-FB28-09F9-6380BAC60D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40004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#include&lt;stdio.h&gt;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{ int x=6,y=4,a,b;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a=x++||--y;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b=(y-4)&amp;&amp;(++x+1);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("a=%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d,b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=%d\n",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a,b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("x=%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d,y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=%d\n",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x,y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}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8C7DC4A-4F10-2A7F-0209-3E442FD41AB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CCCE604-0BF0-E2C0-46D6-25D36855790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1CC4C9DB-9D44-76E4-9FCE-4F2FEBBB9C4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B99A722C-EC2F-21EF-5E7C-593DD5A23C1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FB8F1499-4FF5-9B3F-3B02-CBAD1A30A34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84ED6CD6-3546-375B-B1B4-C6CA2C1CC07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7E375C6-5434-4C79-432A-3ABF029793E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7728998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2381E2-DD6D-761B-791E-E02BD114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82E06E-7506-527A-1196-ACF7BD443F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0706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#include &lt;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stdio.h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{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int a=1,b=1,x;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x=--a&amp;&amp;++b;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("a=%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d,b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=%d\n",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a,b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("x=%d\</a:t>
            </a:r>
            <a:r>
              <a:rPr lang="en-US" altLang="zh-CN" sz="26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n",x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 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	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}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57A409B-43D7-3245-D318-542EC5CD9CD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38B405F-F888-1525-1CCE-8B4240DA4B5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9D2E552E-2B79-DF8A-1F94-EF973F8A17D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71B945E8-80C5-102E-944B-40864C618E8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E3012546-9767-C14E-6C76-DFA7B68C706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7C3498D-469A-A8D8-894B-B5266143F1D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EB8B3A6-8915-5FDF-164A-D8160309AD6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523738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1683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258750" y="408625"/>
            <a:ext cx="9598075" cy="4590294"/>
          </a:xfrm>
          <a:prstGeom prst="rect">
            <a:avLst/>
          </a:prstGeom>
          <a:noFill/>
        </p:spPr>
        <p:txBody>
          <a:bodyPr lIns="118680" tIns="59340" rIns="118680" bIns="59340">
            <a:spAutoFit/>
          </a:bodyPr>
          <a:lstStyle/>
          <a:p>
            <a:pPr marL="457224" indent="-457224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注意计算机表达式和数学表达式的区别。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例如：“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x=23,y=20,z=10;”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在数学上“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x&gt;y&gt;z”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有意义，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但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C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语言中，无论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y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取值如何，只要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z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的值大于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，则表达式“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x&gt;y&gt;z”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的结果将始终为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0(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而不是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1)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</a:t>
            </a:r>
            <a:endParaRPr lang="en-US" altLang="zh-CN" sz="26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需要表示上面的逻辑关系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x&gt;y&amp;&amp;y&gt;z</a:t>
            </a:r>
            <a:r>
              <a:rPr lang="en-US" altLang="zh-CN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en-US" sz="26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。</a:t>
            </a:r>
          </a:p>
        </p:txBody>
      </p:sp>
    </p:spTree>
    <p:extLst>
      <p:ext uri="{BB962C8B-B14F-4D97-AF65-F5344CB8AC3E}">
        <p14:creationId xmlns:p14="http://schemas.microsoft.com/office/powerpoint/2010/main" val="397794003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58371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523514" y="3861198"/>
            <a:ext cx="10180806" cy="626196"/>
          </a:xfrm>
          <a:prstGeom prst="rect">
            <a:avLst/>
          </a:prstGeom>
          <a:noFill/>
        </p:spPr>
        <p:txBody>
          <a:bodyPr wrap="square" lIns="118680" tIns="59340" rIns="118680" bIns="59340">
            <a:spAutoFit/>
          </a:bodyPr>
          <a:lstStyle/>
          <a:p>
            <a:pPr marL="0"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例： </a:t>
            </a:r>
            <a:r>
              <a:rPr lang="en-US" altLang="zh-CN" sz="26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x = ( –b</a:t>
            </a:r>
            <a:r>
              <a:rPr lang="zh-CN" altLang="en-US" sz="26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+ </a:t>
            </a:r>
            <a:r>
              <a:rPr lang="en-US" altLang="zh-CN" sz="26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sqrt( b * b – 4 * a * c ) ) / ( 2 * a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801222" y="1613768"/>
                <a:ext cx="8159411" cy="1502910"/>
              </a:xfrm>
              <a:prstGeom prst="rect">
                <a:avLst/>
              </a:prstGeom>
              <a:noFill/>
            </p:spPr>
            <p:txBody>
              <a:bodyPr wrap="square" lIns="118680" tIns="59340" rIns="118680" bIns="593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200" i="1">
                          <a:solidFill>
                            <a:schemeClr val="bg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42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4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42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42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US" altLang="zh-CN" sz="4200" b="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altLang="zh-CN" sz="4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4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42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42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42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US" altLang="zh-CN" sz="42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zh-CN" sz="42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zh-CN" sz="42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4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222" y="1613768"/>
                <a:ext cx="8159411" cy="15029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95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33600" y="762000"/>
            <a:ext cx="8421586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表达式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18/4.0*4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值的数据类型是（ 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   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）。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577079" y="3150394"/>
            <a:ext cx="151517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int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577079" y="3836194"/>
            <a:ext cx="151517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float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767209" y="3043238"/>
            <a:ext cx="151517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double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767209" y="3729038"/>
            <a:ext cx="151517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不确定</a:t>
            </a:r>
            <a:endParaRPr lang="en-US" altLang="zh-CN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786963" y="3214687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786963" y="3900487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977093" y="3107531"/>
            <a:ext cx="589643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977093" y="3793331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446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150938" y="650049"/>
            <a:ext cx="78930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3. </a:t>
            </a:r>
            <a:r>
              <a:rPr lang="zh-CN" altLang="en-US" sz="4000" dirty="0">
                <a:solidFill>
                  <a:srgbClr val="0000CC"/>
                </a:solidFill>
              </a:rPr>
              <a:t>赋值运算符和赋值表达式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2063437" y="2028585"/>
            <a:ext cx="58832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一、赋值运算符及其操作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3003082" y="2723910"/>
            <a:ext cx="688196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A50021"/>
                </a:solidFill>
              </a:rPr>
              <a:t>赋值运算符 </a:t>
            </a:r>
            <a:r>
              <a:rPr lang="en-US" altLang="zh-CN" sz="3200" dirty="0">
                <a:solidFill>
                  <a:srgbClr val="A50021"/>
                </a:solidFill>
              </a:rPr>
              <a:t>:</a:t>
            </a:r>
            <a:r>
              <a:rPr lang="zh-CN" altLang="en-US" sz="3200" dirty="0">
                <a:solidFill>
                  <a:srgbClr val="A50021"/>
                </a:solidFill>
              </a:rPr>
              <a:t>=</a:t>
            </a:r>
            <a:r>
              <a:rPr lang="zh-CN" altLang="en-US" sz="3200" dirty="0">
                <a:solidFill>
                  <a:schemeClr val="folHlink"/>
                </a:solidFill>
              </a:rPr>
              <a:t> </a:t>
            </a:r>
            <a:r>
              <a:rPr lang="zh-CN" altLang="en-US" sz="3200" dirty="0">
                <a:solidFill>
                  <a:srgbClr val="0000FF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将一个表达式的值赋给一个变量</a:t>
            </a:r>
            <a:r>
              <a:rPr lang="en-US" altLang="zh-CN" sz="3200" dirty="0">
                <a:solidFill>
                  <a:srgbClr val="000000"/>
                </a:solidFill>
              </a:rPr>
              <a:t>,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级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右结合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2001521" y="4270542"/>
            <a:ext cx="42306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二、赋值表达式</a:t>
            </a:r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2063437" y="4903956"/>
            <a:ext cx="770176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A50021"/>
                </a:solidFill>
              </a:rPr>
              <a:t>	</a:t>
            </a:r>
            <a:r>
              <a:rPr lang="zh-CN" altLang="en-US" sz="3200" dirty="0">
                <a:solidFill>
                  <a:srgbClr val="A50021"/>
                </a:solidFill>
              </a:rPr>
              <a:t>&lt;变量</a:t>
            </a:r>
            <a:r>
              <a:rPr lang="zh-CN" altLang="zh-CN" sz="3200" dirty="0">
                <a:solidFill>
                  <a:srgbClr val="A50021"/>
                </a:solidFill>
              </a:rPr>
              <a:t>&gt; </a:t>
            </a:r>
            <a:r>
              <a:rPr lang="zh-CN" altLang="en-US" sz="3200" dirty="0">
                <a:solidFill>
                  <a:srgbClr val="A50021"/>
                </a:solidFill>
              </a:rPr>
              <a:t>＝ &lt;表达式&gt;</a:t>
            </a:r>
            <a:endParaRPr lang="en-US" altLang="zh-CN" sz="3200" dirty="0">
              <a:solidFill>
                <a:srgbClr val="A50021"/>
              </a:solidFill>
            </a:endParaRPr>
          </a:p>
          <a:p>
            <a:r>
              <a:rPr lang="zh-CN" altLang="en-US" sz="3200" dirty="0">
                <a:solidFill>
                  <a:srgbClr val="A50021"/>
                </a:solidFill>
              </a:rPr>
              <a:t>注意</a:t>
            </a:r>
            <a:r>
              <a:rPr lang="en-US" altLang="zh-CN" sz="3200" dirty="0">
                <a:solidFill>
                  <a:srgbClr val="A50021"/>
                </a:solidFill>
              </a:rPr>
              <a:t>:</a:t>
            </a:r>
            <a:r>
              <a:rPr lang="zh-CN" altLang="en-US" sz="3200" dirty="0">
                <a:solidFill>
                  <a:srgbClr val="A50021"/>
                </a:solidFill>
              </a:rPr>
              <a:t>左边必须是变量</a:t>
            </a:r>
            <a:r>
              <a:rPr lang="en-US" altLang="zh-CN" sz="3200" dirty="0">
                <a:solidFill>
                  <a:srgbClr val="A50021"/>
                </a:solidFill>
              </a:rPr>
              <a:t>(</a:t>
            </a:r>
            <a:r>
              <a:rPr lang="zh-CN" altLang="en-US" sz="3200" dirty="0">
                <a:solidFill>
                  <a:srgbClr val="A50021"/>
                </a:solidFill>
              </a:rPr>
              <a:t>或数组元素</a:t>
            </a:r>
            <a:r>
              <a:rPr lang="en-US" altLang="zh-CN" sz="3200" dirty="0">
                <a:solidFill>
                  <a:srgbClr val="A50021"/>
                </a:solidFill>
              </a:rPr>
              <a:t>)</a:t>
            </a:r>
          </a:p>
          <a:p>
            <a:endParaRPr lang="zh-CN" altLang="en-US" sz="3200" dirty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utoUpdateAnimBg="0"/>
      <p:bldP spid="3175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3731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1296967" y="413069"/>
            <a:ext cx="9598075" cy="648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赋值表达式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用赋值运算符所构成的表达式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赋值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表达式的值是赋给左边变量的值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.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赋值语句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以分号结束的赋值表达式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格式：变量名 = 表达式；例：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b = c + (int)a;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赋值语句对</a:t>
            </a:r>
            <a:r>
              <a:rPr lang="zh-CN" altLang="en-US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左边变量名或等价的数组元素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实施写操作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例如：分析“</a:t>
            </a: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x=y=z=10+6”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这个表达式。</a:t>
            </a:r>
          </a:p>
        </p:txBody>
      </p:sp>
    </p:spTree>
    <p:extLst>
      <p:ext uri="{BB962C8B-B14F-4D97-AF65-F5344CB8AC3E}">
        <p14:creationId xmlns:p14="http://schemas.microsoft.com/office/powerpoint/2010/main" val="2292947536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85100" y="4174916"/>
            <a:ext cx="2063750" cy="457200"/>
          </a:xfrm>
        </p:spPr>
        <p:txBody>
          <a:bodyPr/>
          <a:lstStyle/>
          <a:p>
            <a:pPr algn="l"/>
            <a:fld id="{8AE3ACE1-72D2-46C1-8C4A-AD20C1F54C88}" type="slidenum">
              <a:rPr lang="zh-CN" altLang="en-US"/>
              <a:pPr algn="l"/>
              <a:t>35</a:t>
            </a:fld>
            <a:endParaRPr lang="en-US" altLang="zh-CN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1546225" y="1070193"/>
            <a:ext cx="76104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说明：(1) 如果右边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表达式的类型</a:t>
            </a:r>
            <a:r>
              <a:rPr lang="zh-CN" altLang="en-US" sz="3200" dirty="0">
                <a:solidFill>
                  <a:srgbClr val="000000"/>
                </a:solidFill>
              </a:rPr>
              <a:t>与左边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变量类型不同</a:t>
            </a:r>
            <a:r>
              <a:rPr lang="zh-CN" altLang="en-US" sz="3200" dirty="0">
                <a:solidFill>
                  <a:srgbClr val="000000"/>
                </a:solidFill>
              </a:rPr>
              <a:t>，将发生类型（</a:t>
            </a:r>
            <a:r>
              <a:rPr lang="zh-CN" altLang="en-US" sz="3200" dirty="0">
                <a:solidFill>
                  <a:srgbClr val="FF0000"/>
                </a:solidFill>
              </a:rPr>
              <a:t>隐式</a:t>
            </a:r>
            <a:r>
              <a:rPr lang="zh-CN" altLang="en-US" sz="3200" dirty="0">
                <a:solidFill>
                  <a:srgbClr val="000000"/>
                </a:solidFill>
              </a:rPr>
              <a:t>）转换</a:t>
            </a:r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              int a=9.9;</a:t>
            </a:r>
            <a:endParaRPr lang="zh-CN" altLang="en-US" sz="3200" dirty="0">
              <a:solidFill>
                <a:srgbClr val="000000"/>
              </a:solidFill>
            </a:endParaRPr>
          </a:p>
          <a:p>
            <a:r>
              <a:rPr lang="zh-CN" altLang="en-US" sz="3200" dirty="0">
                <a:solidFill>
                  <a:srgbClr val="000000"/>
                </a:solidFill>
              </a:rPr>
              <a:t>             (2) 右结合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2447925" y="3713592"/>
            <a:ext cx="6708775" cy="240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3200" dirty="0">
                <a:solidFill>
                  <a:srgbClr val="000000"/>
                </a:solidFill>
              </a:rPr>
              <a:t>例：</a:t>
            </a:r>
            <a:r>
              <a:rPr lang="en-US" altLang="en-US" sz="3200" dirty="0">
                <a:solidFill>
                  <a:srgbClr val="A50021"/>
                </a:solidFill>
              </a:rPr>
              <a:t>x= -b/(2*a)       </a:t>
            </a:r>
          </a:p>
          <a:p>
            <a:pPr>
              <a:lnSpc>
                <a:spcPct val="80000"/>
              </a:lnSpc>
            </a:pPr>
            <a:r>
              <a:rPr lang="en-US" altLang="en-US" sz="3200" dirty="0">
                <a:solidFill>
                  <a:srgbClr val="A50021"/>
                </a:solidFill>
              </a:rPr>
              <a:t>        a=b=c=5</a:t>
            </a:r>
          </a:p>
          <a:p>
            <a:pPr>
              <a:lnSpc>
                <a:spcPct val="80000"/>
              </a:lnSpc>
            </a:pPr>
            <a:r>
              <a:rPr lang="en-US" altLang="en-US" sz="3200" dirty="0">
                <a:solidFill>
                  <a:srgbClr val="A50021"/>
                </a:solidFill>
              </a:rPr>
              <a:t>      a= (b= 4)+(c=6)</a:t>
            </a:r>
          </a:p>
          <a:p>
            <a:pPr>
              <a:lnSpc>
                <a:spcPct val="80000"/>
              </a:lnSpc>
            </a:pPr>
            <a:r>
              <a:rPr lang="en-US" altLang="zh-CN" sz="3200" dirty="0">
                <a:solidFill>
                  <a:srgbClr val="A50021"/>
                </a:solidFill>
              </a:rPr>
              <a:t>       </a:t>
            </a:r>
            <a:r>
              <a:rPr lang="en-US" altLang="zh-CN" sz="3200" dirty="0" err="1">
                <a:solidFill>
                  <a:srgbClr val="A50021"/>
                </a:solidFill>
              </a:rPr>
              <a:t>那么</a:t>
            </a:r>
            <a:r>
              <a:rPr lang="en-US" altLang="en-US" sz="3200" dirty="0" err="1">
                <a:solidFill>
                  <a:srgbClr val="A50021"/>
                </a:solidFill>
              </a:rPr>
              <a:t>a</a:t>
            </a:r>
            <a:r>
              <a:rPr lang="en-US" altLang="en-US" sz="3200" dirty="0">
                <a:solidFill>
                  <a:srgbClr val="A50021"/>
                </a:solidFill>
              </a:rPr>
              <a:t>=5</a:t>
            </a:r>
            <a:r>
              <a:rPr lang="en-US" altLang="zh-CN" sz="3200" dirty="0">
                <a:solidFill>
                  <a:srgbClr val="A50021"/>
                </a:solidFill>
              </a:rPr>
              <a:t>=</a:t>
            </a:r>
            <a:r>
              <a:rPr lang="en-US" altLang="en-US" sz="3200" dirty="0">
                <a:solidFill>
                  <a:srgbClr val="A50021"/>
                </a:solidFill>
              </a:rPr>
              <a:t>b=c</a:t>
            </a:r>
            <a:r>
              <a:rPr lang="en-US" altLang="zh-CN" sz="3200" dirty="0">
                <a:solidFill>
                  <a:srgbClr val="A5002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11324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3731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1212161" y="1459192"/>
            <a:ext cx="9598075" cy="3036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类型转换时</a:t>
            </a: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要注意避免精度的降低</a:t>
            </a: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double d=10;  //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没有降低精度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int a=9.9; 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//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a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的值为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9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，降低精度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1348972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632585" y="266703"/>
            <a:ext cx="84677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三、复合赋值运算符（赋值自返运算符）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256474" y="2970428"/>
            <a:ext cx="739616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可以是任意类型：</a:t>
            </a:r>
            <a:r>
              <a:rPr lang="en-US" altLang="zh-CN" sz="3200" dirty="0">
                <a:solidFill>
                  <a:srgbClr val="000000"/>
                </a:solidFill>
              </a:rPr>
              <a:t>+=  -=  *=  /=</a:t>
            </a:r>
          </a:p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以下不能是浮点数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%=</a:t>
            </a:r>
          </a:p>
          <a:p>
            <a:r>
              <a:rPr lang="en-US" altLang="zh-CN" sz="3200" dirty="0">
                <a:solidFill>
                  <a:srgbClr val="000000"/>
                </a:solidFill>
              </a:rPr>
              <a:t>&gt;&gt;=    &lt;&lt;=    &amp;=    ^=     |=</a:t>
            </a:r>
          </a:p>
          <a:p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15E2C1C2-BDF9-4F96-BFDB-816CFF680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149" y="1120780"/>
            <a:ext cx="739616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复合赋值运算符=运算符+赋值号</a:t>
            </a:r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a+=10      </a:t>
            </a:r>
            <a:r>
              <a:rPr lang="zh-CN" altLang="en-US" sz="3200" dirty="0">
                <a:solidFill>
                  <a:srgbClr val="000000"/>
                </a:solidFill>
              </a:rPr>
              <a:t>等价于   </a:t>
            </a:r>
            <a:r>
              <a:rPr lang="en-US" altLang="zh-CN" sz="3200" dirty="0">
                <a:solidFill>
                  <a:srgbClr val="000000"/>
                </a:solidFill>
              </a:rPr>
              <a:t>a=a+10</a:t>
            </a:r>
          </a:p>
          <a:p>
            <a:endParaRPr lang="zh-CN" alt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172675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3C69-73C4-49B0-ADC3-E25929F84336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632585" y="266703"/>
            <a:ext cx="84677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三、复合赋值运算符（赋值自返运算符）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grpSp>
        <p:nvGrpSpPr>
          <p:cNvPr id="32814" name="Group 46"/>
          <p:cNvGrpSpPr>
            <a:grpSpLocks/>
          </p:cNvGrpSpPr>
          <p:nvPr/>
        </p:nvGrpSpPr>
        <p:grpSpPr bwMode="auto">
          <a:xfrm>
            <a:off x="2682880" y="2133605"/>
            <a:ext cx="7997825" cy="2062162"/>
            <a:chOff x="970" y="1344"/>
            <a:chExt cx="5038" cy="1299"/>
          </a:xfrm>
        </p:grpSpPr>
        <p:sp>
          <p:nvSpPr>
            <p:cNvPr id="32777" name="Text Box 9"/>
            <p:cNvSpPr txBox="1">
              <a:spLocks noChangeArrowheads="1"/>
            </p:cNvSpPr>
            <p:nvPr/>
          </p:nvSpPr>
          <p:spPr bwMode="auto">
            <a:xfrm>
              <a:off x="970" y="1344"/>
              <a:ext cx="70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3200">
                  <a:solidFill>
                    <a:srgbClr val="000000"/>
                  </a:solidFill>
                </a:rPr>
                <a:t>例：</a:t>
              </a:r>
            </a:p>
          </p:txBody>
        </p:sp>
        <p:sp>
          <p:nvSpPr>
            <p:cNvPr id="32778" name="Text Box 10"/>
            <p:cNvSpPr txBox="1">
              <a:spLocks noChangeArrowheads="1"/>
            </p:cNvSpPr>
            <p:nvPr/>
          </p:nvSpPr>
          <p:spPr bwMode="auto">
            <a:xfrm>
              <a:off x="1470" y="1344"/>
              <a:ext cx="4538" cy="1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3200" dirty="0">
                  <a:solidFill>
                    <a:srgbClr val="A50021"/>
                  </a:solidFill>
                </a:rPr>
                <a:t>a+= 3	    	        a=</a:t>
              </a:r>
              <a:r>
                <a:rPr lang="en-US" altLang="en-US" sz="3200" u="sng" dirty="0">
                  <a:solidFill>
                    <a:srgbClr val="A50021"/>
                  </a:solidFill>
                </a:rPr>
                <a:t>a+</a:t>
              </a:r>
              <a:r>
                <a:rPr lang="en-US" altLang="en-US" sz="3200" dirty="0">
                  <a:solidFill>
                    <a:srgbClr val="A50021"/>
                  </a:solidFill>
                </a:rPr>
                <a:t>3</a:t>
              </a:r>
            </a:p>
            <a:p>
              <a:r>
                <a:rPr lang="en-US" altLang="en-US" sz="3200" dirty="0">
                  <a:solidFill>
                    <a:srgbClr val="A50021"/>
                  </a:solidFill>
                </a:rPr>
                <a:t>a*= </a:t>
              </a:r>
              <a:r>
                <a:rPr lang="en-US" altLang="en-US" sz="3200" dirty="0" err="1">
                  <a:solidFill>
                    <a:srgbClr val="A50021"/>
                  </a:solidFill>
                </a:rPr>
                <a:t>x+y</a:t>
              </a:r>
              <a:r>
                <a:rPr lang="en-US" altLang="en-US" sz="3200" dirty="0">
                  <a:solidFill>
                    <a:srgbClr val="A50021"/>
                  </a:solidFill>
                </a:rPr>
                <a:t>	    	        a=</a:t>
              </a:r>
              <a:r>
                <a:rPr lang="en-US" altLang="en-US" sz="3200" u="sng" dirty="0">
                  <a:solidFill>
                    <a:srgbClr val="A50021"/>
                  </a:solidFill>
                </a:rPr>
                <a:t>a*</a:t>
              </a:r>
              <a:r>
                <a:rPr lang="en-US" altLang="en-US" sz="3200" dirty="0">
                  <a:solidFill>
                    <a:srgbClr val="A50021"/>
                  </a:solidFill>
                </a:rPr>
                <a:t>(</a:t>
              </a:r>
              <a:r>
                <a:rPr lang="en-US" altLang="en-US" sz="3200" dirty="0" err="1">
                  <a:solidFill>
                    <a:srgbClr val="A50021"/>
                  </a:solidFill>
                </a:rPr>
                <a:t>x+y</a:t>
              </a:r>
              <a:r>
                <a:rPr lang="en-US" altLang="en-US" sz="3200" dirty="0">
                  <a:solidFill>
                    <a:srgbClr val="A50021"/>
                  </a:solidFill>
                </a:rPr>
                <a:t>)	</a:t>
              </a:r>
            </a:p>
            <a:p>
              <a:r>
                <a:rPr lang="en-US" altLang="en-US" sz="3200" dirty="0">
                  <a:solidFill>
                    <a:srgbClr val="A50021"/>
                  </a:solidFill>
                </a:rPr>
                <a:t>a%= b	    	        a=</a:t>
              </a:r>
              <a:r>
                <a:rPr lang="en-US" altLang="en-US" sz="3200" u="sng" dirty="0" err="1">
                  <a:solidFill>
                    <a:srgbClr val="A50021"/>
                  </a:solidFill>
                </a:rPr>
                <a:t>a%</a:t>
              </a:r>
              <a:r>
                <a:rPr lang="en-US" altLang="en-US" sz="3200" dirty="0" err="1">
                  <a:solidFill>
                    <a:srgbClr val="A50021"/>
                  </a:solidFill>
                </a:rPr>
                <a:t>b</a:t>
              </a:r>
              <a:r>
                <a:rPr lang="en-US" altLang="en-US" sz="3200" dirty="0">
                  <a:solidFill>
                    <a:schemeClr val="folHlink"/>
                  </a:solidFill>
                </a:rPr>
                <a:t>	</a:t>
              </a:r>
              <a:r>
                <a:rPr lang="en-US" altLang="en-US" sz="3200" dirty="0">
                  <a:solidFill>
                    <a:srgbClr val="0000FF"/>
                  </a:solidFill>
                </a:rPr>
                <a:t>    </a:t>
              </a:r>
              <a:endParaRPr lang="en-US" altLang="zh-CN" sz="3200" dirty="0">
                <a:solidFill>
                  <a:srgbClr val="0000FF"/>
                </a:solidFill>
              </a:endParaRPr>
            </a:p>
          </p:txBody>
        </p:sp>
        <p:sp>
          <p:nvSpPr>
            <p:cNvPr id="32781" name="AutoShape 13"/>
            <p:cNvSpPr>
              <a:spLocks noChangeArrowheads="1"/>
            </p:cNvSpPr>
            <p:nvPr/>
          </p:nvSpPr>
          <p:spPr bwMode="auto">
            <a:xfrm>
              <a:off x="2801" y="1976"/>
              <a:ext cx="349" cy="113"/>
            </a:xfrm>
            <a:prstGeom prst="leftRightArrow">
              <a:avLst>
                <a:gd name="adj1" fmla="val 50000"/>
                <a:gd name="adj2" fmla="val 6177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4" name="AutoShape 16"/>
            <p:cNvSpPr>
              <a:spLocks noChangeArrowheads="1"/>
            </p:cNvSpPr>
            <p:nvPr/>
          </p:nvSpPr>
          <p:spPr bwMode="auto">
            <a:xfrm>
              <a:off x="2801" y="1471"/>
              <a:ext cx="349" cy="113"/>
            </a:xfrm>
            <a:prstGeom prst="leftRightArrow">
              <a:avLst>
                <a:gd name="adj1" fmla="val 50000"/>
                <a:gd name="adj2" fmla="val 6177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5" name="AutoShape 17"/>
            <p:cNvSpPr>
              <a:spLocks noChangeArrowheads="1"/>
            </p:cNvSpPr>
            <p:nvPr/>
          </p:nvSpPr>
          <p:spPr bwMode="auto">
            <a:xfrm>
              <a:off x="2846" y="2399"/>
              <a:ext cx="349" cy="113"/>
            </a:xfrm>
            <a:prstGeom prst="leftRightArrow">
              <a:avLst>
                <a:gd name="adj1" fmla="val 50000"/>
                <a:gd name="adj2" fmla="val 6177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15" name="Group 47"/>
          <p:cNvGrpSpPr>
            <a:grpSpLocks/>
          </p:cNvGrpSpPr>
          <p:nvPr/>
        </p:nvGrpSpPr>
        <p:grpSpPr bwMode="auto">
          <a:xfrm>
            <a:off x="2403479" y="4502151"/>
            <a:ext cx="6911971" cy="1700216"/>
            <a:chOff x="794" y="2836"/>
            <a:chExt cx="4226" cy="744"/>
          </a:xfrm>
        </p:grpSpPr>
        <p:grpSp>
          <p:nvGrpSpPr>
            <p:cNvPr id="32805" name="Group 37"/>
            <p:cNvGrpSpPr>
              <a:grpSpLocks/>
            </p:cNvGrpSpPr>
            <p:nvPr/>
          </p:nvGrpSpPr>
          <p:grpSpPr bwMode="auto">
            <a:xfrm>
              <a:off x="794" y="2836"/>
              <a:ext cx="4141" cy="744"/>
              <a:chOff x="733" y="2836"/>
              <a:chExt cx="3822" cy="744"/>
            </a:xfrm>
          </p:grpSpPr>
          <p:sp>
            <p:nvSpPr>
              <p:cNvPr id="32788" name="Text Box 20"/>
              <p:cNvSpPr txBox="1">
                <a:spLocks noChangeArrowheads="1"/>
              </p:cNvSpPr>
              <p:nvPr/>
            </p:nvSpPr>
            <p:spPr bwMode="auto">
              <a:xfrm>
                <a:off x="733" y="2836"/>
                <a:ext cx="3822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zh-CN" altLang="en-US" sz="3200">
                    <a:solidFill>
                      <a:srgbClr val="000000"/>
                    </a:solidFill>
                  </a:rPr>
                  <a:t>         例</a:t>
                </a:r>
                <a:r>
                  <a:rPr lang="en-US" altLang="zh-CN" sz="3200">
                    <a:solidFill>
                      <a:srgbClr val="000000"/>
                    </a:solidFill>
                  </a:rPr>
                  <a:t>:  </a:t>
                </a:r>
                <a:r>
                  <a:rPr lang="zh-CN" altLang="en-US" sz="3200">
                    <a:solidFill>
                      <a:srgbClr val="000000"/>
                    </a:solidFill>
                  </a:rPr>
                  <a:t>设</a:t>
                </a:r>
                <a:r>
                  <a:rPr lang="zh-CN" altLang="en-US" sz="3200"/>
                  <a:t> </a:t>
                </a:r>
                <a:r>
                  <a:rPr lang="en-US" altLang="zh-CN" sz="3200">
                    <a:solidFill>
                      <a:srgbClr val="A50021"/>
                    </a:solidFill>
                  </a:rPr>
                  <a:t>a=3</a:t>
                </a:r>
                <a:r>
                  <a:rPr lang="en-US" altLang="zh-CN" sz="3200"/>
                  <a:t> </a:t>
                </a:r>
                <a:r>
                  <a:rPr lang="zh-CN" altLang="zh-CN" sz="3200">
                    <a:solidFill>
                      <a:srgbClr val="000000"/>
                    </a:solidFill>
                  </a:rPr>
                  <a:t>求下列表达式的值</a:t>
                </a:r>
                <a:endParaRPr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32789" name="Text Box 21"/>
              <p:cNvSpPr txBox="1">
                <a:spLocks noChangeArrowheads="1"/>
              </p:cNvSpPr>
              <p:nvPr/>
            </p:nvSpPr>
            <p:spPr bwMode="auto">
              <a:xfrm>
                <a:off x="1189" y="3212"/>
                <a:ext cx="1475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3200">
                    <a:solidFill>
                      <a:srgbClr val="A50021"/>
                    </a:solidFill>
                  </a:rPr>
                  <a:t>a+=a-=a*a</a:t>
                </a:r>
              </a:p>
            </p:txBody>
          </p:sp>
        </p:grpSp>
        <p:sp>
          <p:nvSpPr>
            <p:cNvPr id="32790" name="Text Box 22"/>
            <p:cNvSpPr txBox="1">
              <a:spLocks noChangeArrowheads="1"/>
            </p:cNvSpPr>
            <p:nvPr/>
          </p:nvSpPr>
          <p:spPr bwMode="auto">
            <a:xfrm>
              <a:off x="3318" y="3211"/>
              <a:ext cx="170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A50021"/>
                  </a:solidFill>
                </a:rPr>
                <a:t>a+=(a-=a*a)</a:t>
              </a:r>
            </a:p>
          </p:txBody>
        </p:sp>
        <p:sp>
          <p:nvSpPr>
            <p:cNvPr id="32794" name="AutoShape 26"/>
            <p:cNvSpPr>
              <a:spLocks noChangeArrowheads="1"/>
            </p:cNvSpPr>
            <p:nvPr/>
          </p:nvSpPr>
          <p:spPr bwMode="auto">
            <a:xfrm>
              <a:off x="2955" y="3313"/>
              <a:ext cx="349" cy="113"/>
            </a:xfrm>
            <a:prstGeom prst="leftRightArrow">
              <a:avLst>
                <a:gd name="adj1" fmla="val 50000"/>
                <a:gd name="adj2" fmla="val 6177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89F3E3-A6BD-AA47-672D-CC72D88F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8036DC-35CA-2E53-A615-B607C76F7EA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5499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a,b,c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c=(a=2)/(b=3);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("a=%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=%d\n",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a,b,c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75803D-B20C-A255-F14D-CAB82B1E051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3B2C30-548F-1AC4-6ED2-755201598E0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D43F5E6D-4509-62FE-9F79-70BE8FEC1C5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438B49DC-3D7D-0DB6-A65F-D6C7AF5E8A3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20DFB2F9-6A40-219E-BBC6-6B4DD6E0A45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906635AC-4C2E-9843-C72A-9D15F525C62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26A7B81-8ECF-F2D3-7CAD-F1AE07A1B62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7096989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F4BA88-5A16-95F7-3E13-FFAE0ABB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5E0169-9319-2A59-3C4F-7CC1B4AEF43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113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x=y=z=2*5;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x*=2+3;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y/=8-2;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z%=18/4;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("x=%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=%d\n",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x,y,z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1A6D828-E720-6360-558E-8C77E9A7351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3BD55D-7A07-FE5C-5297-C284D4D08C9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B601C30A-F823-EA24-A24A-CB1E4DE2C3A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F0654F11-15EC-3598-1FCF-6831DFEE1ED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7E0EA405-F567-54BC-25AD-3B069BCCA83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9B129D61-B6BF-61F0-37AB-6D30F80923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74A5AB2-0635-91B5-C2B6-F15C336AB27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4981343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0AC7E6-F581-0938-63EA-98AF91A6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DC5EF0-0BD0-3459-E39A-FD20D60F34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0055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#include&lt;stdio.h&gt;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int a=0,b=3,c=1;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a+=(a=2);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d,%d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\n",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+=b-=b*b);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printf("%d,%d\n,a*=c,</a:t>
            </a:r>
            <a:r>
              <a:rPr lang="en-US" altLang="zh-CN">
                <a:sym typeface="Microsoft Yahei" panose="020B0503020204020204" pitchFamily="34" charset="-122"/>
              </a:rPr>
              <a:t>,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c=9);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B0C4DF5-607D-078F-CD84-36F4CD93105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FED051-39D5-E548-D386-9438E4566C9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222DBFE0-C952-24AC-E5D8-7133C011ABF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BAFB0DD-EDF8-F5BC-254E-34EDD48C75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345E1875-CBD0-3F7A-A46B-B0BA9827E32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8FDE0357-6646-AAFD-E6F6-B65F16CF061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E272BF8-0158-D65A-C4E3-A9579BF047F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3648120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6803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6805" name="TextBox 1"/>
          <p:cNvSpPr txBox="1">
            <a:spLocks noChangeArrowheads="1"/>
          </p:cNvSpPr>
          <p:nvPr/>
        </p:nvSpPr>
        <p:spPr bwMode="auto">
          <a:xfrm>
            <a:off x="1296964" y="886928"/>
            <a:ext cx="9598076" cy="51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条件运算符与条件表达式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(13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级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右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  <a:endParaRPr lang="zh-CN" altLang="en-US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  格式：表达式1 ? 表达式2 : 表达式3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计算过程：先计算</a:t>
            </a: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表达式1的值，若为真，则结果为表达式2的值，否则为表达式3的值</a:t>
            </a: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例：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x=(a&gt;b)?</a:t>
            </a:r>
            <a:r>
              <a:rPr lang="en-US" altLang="zh-CN" sz="32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a:b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b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中的大者。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y=(x&gt;=0)?x:-x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的值为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x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的绝对值。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404938" y="185250"/>
            <a:ext cx="78930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4. </a:t>
            </a:r>
            <a:r>
              <a:rPr lang="zh-CN" altLang="en-US" sz="4000" dirty="0">
                <a:solidFill>
                  <a:srgbClr val="0000CC"/>
                </a:solidFill>
              </a:rPr>
              <a:t>条件运算符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319614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7827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7829" name="TextBox 1"/>
          <p:cNvSpPr txBox="1">
            <a:spLocks noChangeArrowheads="1"/>
          </p:cNvSpPr>
          <p:nvPr/>
        </p:nvSpPr>
        <p:spPr bwMode="auto">
          <a:xfrm>
            <a:off x="1335185" y="480066"/>
            <a:ext cx="9902489" cy="60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#include &lt;stdio.h&gt;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main()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{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int 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a,b,c,max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scanf("%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d%d%d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",&amp;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a,&amp;b,&amp;c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//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设运行时输入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:3 4 5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Symbol" pitchFamily="18" charset="2"/>
              </a:rPr>
              <a:t>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/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max=(a&gt;b) ? a:b;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max=max&gt;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c?max:c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printf("max=%d\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n",max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  //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则</a:t>
            </a:r>
            <a:r>
              <a:rPr lang="zh-CN" altLang="pt-BR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输出为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:max=5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5493182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7827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7829" name="TextBox 1"/>
          <p:cNvSpPr txBox="1">
            <a:spLocks noChangeArrowheads="1"/>
          </p:cNvSpPr>
          <p:nvPr/>
        </p:nvSpPr>
        <p:spPr bwMode="auto">
          <a:xfrm>
            <a:off x="1335185" y="480065"/>
            <a:ext cx="9825579" cy="5189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#include &lt;stdio.h&gt;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main()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{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int 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a,b,c,max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scanf("%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d%d%d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",&amp;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a,&amp;b,&amp;c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//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设运行时输入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:3 4 5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Symbol" pitchFamily="18" charset="2"/>
              </a:rPr>
              <a:t>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/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max=(a&gt;b) ? ((a&gt;c)?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a:c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 : ((b&gt;c)?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b:c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printf("max=%d\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n",max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   //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则</a:t>
            </a:r>
            <a:r>
              <a:rPr lang="zh-CN" altLang="pt-BR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输出为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:max=5</a:t>
            </a:r>
            <a:b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</a:b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470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79524" y="740886"/>
            <a:ext cx="8421586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设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a=1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b=2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c=3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d=4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，则表达式：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a&gt;</a:t>
            </a:r>
            <a:r>
              <a:rPr lang="en-US" altLang="zh-CN" sz="3100" dirty="0" err="1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b?a:c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&gt;</a:t>
            </a:r>
            <a:r>
              <a:rPr lang="en-US" altLang="zh-CN" sz="3100" dirty="0" err="1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d?c:d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的结果为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(  )</a:t>
            </a:r>
            <a:endParaRPr lang="zh-CN" altLang="en-US" sz="31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786030" y="3374231"/>
            <a:ext cx="1062789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786030" y="4060031"/>
            <a:ext cx="1062789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405971" y="3309938"/>
            <a:ext cx="1062789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2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405971" y="3995738"/>
            <a:ext cx="1062789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995914" y="3438524"/>
            <a:ext cx="589643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995914" y="4124324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615855" y="3374231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615855" y="4060031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3290461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8851" name="直接连接符 3"/>
          <p:cNvSpPr>
            <a:spLocks noChangeShapeType="1"/>
          </p:cNvSpPr>
          <p:nvPr/>
        </p:nvSpPr>
        <p:spPr bwMode="auto">
          <a:xfrm rot="5400000">
            <a:off x="1456580" y="23894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8680" tIns="59340" rIns="118680" bIns="59340"/>
          <a:lstStyle/>
          <a:p>
            <a:endParaRPr lang="zh-CN" altLang="en-US"/>
          </a:p>
        </p:txBody>
      </p:sp>
      <p:sp>
        <p:nvSpPr>
          <p:cNvPr id="78853" name="TextBox 1"/>
          <p:cNvSpPr txBox="1">
            <a:spLocks noChangeArrowheads="1"/>
          </p:cNvSpPr>
          <p:nvPr/>
        </p:nvSpPr>
        <p:spPr bwMode="auto">
          <a:xfrm>
            <a:off x="1296964" y="1234583"/>
            <a:ext cx="9598076" cy="4867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680" tIns="59340" rIns="118680" bIns="5934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逗号运算符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  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 （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15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级，左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逗号表达式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 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用逗号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","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将几个表达式连接起来而形成的表达式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一般形式为：表达式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1,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2,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3,……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表达式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n</a:t>
            </a:r>
          </a:p>
          <a:p>
            <a:pPr marL="457224" indent="-457224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逗号表达式，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按从左到右次序计算各表达式的值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  <a:p>
            <a:pPr marL="457224" indent="-457224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整个逗号表达式的值是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最后一个表达式的值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404938" y="185250"/>
            <a:ext cx="78930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5. </a:t>
            </a:r>
            <a:r>
              <a:rPr lang="zh-CN" altLang="en-US" sz="4000" dirty="0">
                <a:solidFill>
                  <a:srgbClr val="0000CC"/>
                </a:solidFill>
              </a:rPr>
              <a:t>逗号运算符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1490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33600" y="762000"/>
            <a:ext cx="7924800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若</a:t>
            </a:r>
            <a:r>
              <a:rPr lang="en-US" altLang="zh-CN" sz="3100" dirty="0" err="1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x,i,j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和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k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都是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int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型变量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,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则执行下面表达式后</a:t>
            </a:r>
            <a:r>
              <a:rPr lang="en-US" altLang="zh-CN" sz="3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sym typeface="Microsoft Yahei"/>
              </a:rPr>
              <a:t>x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的值为 </a:t>
            </a:r>
          </a:p>
          <a:p>
            <a:pPr>
              <a:lnSpc>
                <a:spcPct val="120000"/>
              </a:lnSpc>
            </a:pP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x=(</a:t>
            </a: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i=4,j=16,k=32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)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702053" y="3471862"/>
            <a:ext cx="98578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4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702053" y="4157662"/>
            <a:ext cx="98578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16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8489948" y="3407569"/>
            <a:ext cx="98578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32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489948" y="4093369"/>
            <a:ext cx="985787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52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911937" y="3536155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911937" y="4221955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699832" y="3471862"/>
            <a:ext cx="589643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699832" y="4157662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4311400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C7D863-AE1C-E4F0-B9B0-E95AF8A6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48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D8F1D0-98E9-C114-5094-FE6A9A67CBE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71674" y="580633"/>
            <a:ext cx="6115251" cy="568879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写出以下表达式的值：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a=8*2,a*4 ;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a=3,b=4,a+b;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a=b=5,++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++,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a+b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 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a=(b=5,5*2); 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ED9AD8A-897F-70A4-5023-293D7EC7D21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00C8C8D-4982-501F-3A1D-F6F9CB485A7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221AE1AB-02E8-0077-342C-097F4D841DF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77DA948A-77A3-4BD4-37B5-5F1EEC9CD4D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AB81B5E4-5DD7-0BA7-A3E7-8A389513D65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632BD69D-DE05-6906-6EC2-541D54AE025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978FA4B-2D51-A3D0-7C39-AA92F554EDC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6051857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365495"/>
              </p:ext>
            </p:extLst>
          </p:nvPr>
        </p:nvGraphicFramePr>
        <p:xfrm>
          <a:off x="2825936" y="98170"/>
          <a:ext cx="6479519" cy="680784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{D7AC3CCA-C797-4891-BE02-D94E43425B78}</a:tableStyleId>
              </a:tblPr>
              <a:tblGrid>
                <a:gridCol w="1676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067">
                <a:tc rowSpan="4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zh-CN" sz="1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()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圆括号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rowSpan="4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 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 rowSpan="4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[]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下标运算符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—</a:t>
                      </a:r>
                      <a:r>
                        <a:rPr lang="en-US" sz="1100" kern="100" dirty="0">
                          <a:effectLst/>
                        </a:rPr>
                        <a:t>&gt;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指向结构体成员运算符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·</a:t>
                      </a:r>
                      <a:endParaRPr lang="zh-CN" sz="11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结构体成员运算符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67">
                <a:tc rowSpan="9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CN" sz="1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！</a:t>
                      </a:r>
                      <a:endParaRPr lang="zh-CN" sz="11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逻辑非运算符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rowSpan="9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rowSpan="9"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自右至左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~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按位取反运算符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++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自增运算符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--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自减运算符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负号运算符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（类型</a:t>
                      </a:r>
                      <a:r>
                        <a:rPr lang="en-US" sz="1100" kern="100" dirty="0">
                          <a:effectLst/>
                        </a:rPr>
                        <a:t>)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类型转换运算符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*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指针运算符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&amp;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取地址运算符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sizeof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长度运算符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784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*</a:t>
                      </a:r>
                      <a:r>
                        <a:rPr lang="zh-CN" sz="1100" kern="100" dirty="0">
                          <a:effectLst/>
                        </a:rPr>
                        <a:t>、</a:t>
                      </a:r>
                      <a:r>
                        <a:rPr lang="en-US" sz="1100" kern="100" dirty="0">
                          <a:effectLst/>
                        </a:rPr>
                        <a:t>/</a:t>
                      </a:r>
                      <a:r>
                        <a:rPr lang="zh-CN" sz="1100" kern="100" dirty="0">
                          <a:effectLst/>
                        </a:rPr>
                        <a:t>、</a:t>
                      </a:r>
                      <a:r>
                        <a:rPr lang="en-US" sz="1100" kern="100" dirty="0">
                          <a:effectLst/>
                        </a:rPr>
                        <a:t>%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乘、除、求余运算符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+   -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加、减法运算符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5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&lt;&lt;    &gt;&gt;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左移、右移运算符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6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&lt;  &lt;=  &gt;  &gt;=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关系运算符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7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==</a:t>
                      </a:r>
                      <a:r>
                        <a:rPr lang="zh-CN" sz="1100" kern="100" dirty="0">
                          <a:effectLst/>
                        </a:rPr>
                        <a:t>、</a:t>
                      </a:r>
                      <a:r>
                        <a:rPr lang="en-US" sz="1100" kern="100" dirty="0">
                          <a:effectLst/>
                        </a:rPr>
                        <a:t>!=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等于、不等于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8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&amp;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按位与运算符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9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∧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按位异或运算符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</a:t>
                      </a:r>
                      <a:endParaRPr lang="zh-CN" sz="1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|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按位或运算符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11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&amp;&amp;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逻辑与运算符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12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||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逻辑或运算符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自左至右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13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？：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条件运算符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3</a:t>
                      </a:r>
                      <a:endParaRPr lang="zh-CN" sz="1000" b="1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自右至左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8511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14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=  +=  -=  *=</a:t>
                      </a:r>
                      <a:endParaRPr lang="zh-CN" sz="1100" kern="100" dirty="0">
                        <a:effectLst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/=  %=  &gt;&gt;=  &lt;&lt;=</a:t>
                      </a:r>
                      <a:endParaRPr lang="zh-CN" sz="1100" kern="100" dirty="0">
                        <a:effectLst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&amp;= </a:t>
                      </a:r>
                      <a:r>
                        <a:rPr lang="zh-CN" sz="1100" kern="100" dirty="0">
                          <a:effectLst/>
                        </a:rPr>
                        <a:t>∧</a:t>
                      </a:r>
                      <a:r>
                        <a:rPr lang="en-US" sz="1100" kern="100" dirty="0">
                          <a:effectLst/>
                        </a:rPr>
                        <a:t>=  |=</a:t>
                      </a:r>
                      <a:endParaRPr lang="zh-CN" sz="11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赋值运算符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2</a:t>
                      </a:r>
                      <a:endParaRPr lang="zh-CN" sz="10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自右至左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36013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15</a:t>
                      </a:r>
                      <a:endParaRPr lang="zh-CN" sz="1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,</a:t>
                      </a:r>
                      <a:endParaRPr lang="zh-CN" sz="1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逗号运算符</a:t>
                      </a: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(</a:t>
                      </a:r>
                      <a:r>
                        <a:rPr lang="zh-CN" sz="1000" kern="100">
                          <a:effectLst/>
                        </a:rPr>
                        <a:t>顺序求值运算符</a:t>
                      </a:r>
                      <a:r>
                        <a:rPr lang="en-US" sz="1000" kern="100">
                          <a:effectLst/>
                        </a:rPr>
                        <a:t>)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7498" marR="17498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 </a:t>
                      </a:r>
                      <a:endParaRPr lang="zh-CN" sz="1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自左至右</a:t>
                      </a:r>
                      <a:endParaRPr lang="zh-CN" sz="1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33156" marR="33156" marT="0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161831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33600" y="762000"/>
            <a:ext cx="8421586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设有语句 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int a=3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；，则执行了语句 </a:t>
            </a:r>
            <a:endParaRPr lang="en-US" altLang="zh-CN" sz="31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  <a:p>
            <a:pPr>
              <a:lnSpc>
                <a:spcPct val="120000"/>
              </a:lnSpc>
            </a:pP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a+=a-=a*=a;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后，变量 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a 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的值是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(    )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。 </a:t>
            </a: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7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1239652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33600" y="762000"/>
            <a:ext cx="8421586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设 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是实型变量，下列表达式中不是逗号表达式的是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(    )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。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35956" y="3579020"/>
            <a:ext cx="2333324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f= 3.2, 1.0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35956" y="4436270"/>
            <a:ext cx="2333324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f&gt;0, f&lt;10 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572676" y="3579020"/>
            <a:ext cx="2333324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f=2.0, f&gt;0 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572676" y="4436270"/>
            <a:ext cx="2333324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f=(3.2, 1.0)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45840" y="3645559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71331" y="3695700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42333" y="4436270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A7A3DD7-1A47-4330-954C-A5EAE2CD6D6A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771330" y="4504173"/>
            <a:ext cx="589643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366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33600" y="762000"/>
            <a:ext cx="8421586" cy="2143126"/>
          </a:xfrm>
          <a:prstGeom prst="rect">
            <a:avLst/>
          </a:prstGeom>
          <a:noFill/>
        </p:spPr>
        <p:txBody>
          <a:bodyPr vert="horz" wrap="square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设整型变量 </a:t>
            </a:r>
            <a:r>
              <a:rPr lang="en-US" altLang="zh-CN" sz="3100" dirty="0" err="1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m,n,a,b,c,d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均为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，执行 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(m=a&gt;b)&amp;&amp;(n=c&gt;d)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后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, </a:t>
            </a:r>
            <a:r>
              <a:rPr lang="en-US" altLang="zh-CN" sz="3100" dirty="0" err="1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m,n</a:t>
            </a:r>
            <a:r>
              <a:rPr lang="en-US" altLang="zh-CN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zh-CN" altLang="en-US" sz="31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的值是（ ）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557829" y="3493288"/>
            <a:ext cx="1447800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0</a:t>
            </a:r>
            <a:r>
              <a:rPr lang="zh-CN" altLang="en-US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557829" y="4350538"/>
            <a:ext cx="1447800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0</a:t>
            </a:r>
            <a:r>
              <a:rPr lang="zh-CN" altLang="en-US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7620002" y="3429000"/>
            <a:ext cx="1447800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0</a:t>
            </a:r>
            <a:endParaRPr lang="zh-CN" altLang="en-US" sz="2600" dirty="0">
              <a:solidFill>
                <a:schemeClr val="bg2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620002" y="4286250"/>
            <a:ext cx="1447800" cy="642937"/>
          </a:xfrm>
          <a:prstGeom prst="rect">
            <a:avLst/>
          </a:prstGeom>
          <a:noFill/>
        </p:spPr>
        <p:txBody>
          <a:bodyPr vert="horz" lIns="118680" tIns="59340" rIns="118680" bIns="5934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，</a:t>
            </a:r>
            <a:r>
              <a:rPr lang="en-US" altLang="zh-CN" sz="2600" dirty="0">
                <a:solidFill>
                  <a:schemeClr val="bg2"/>
                </a:solidFill>
                <a:latin typeface="Microsoft Yahei"/>
                <a:ea typeface="Microsoft Yahei"/>
                <a:sym typeface="Microsoft Yahei"/>
              </a:rPr>
              <a:t>1 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767713" y="3557576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767713" y="4414831"/>
            <a:ext cx="589643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829886" y="4350538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1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7699832" y="6215063"/>
            <a:ext cx="1768929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4089B88-AD28-4797-8460-7492692782BB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824231" y="3557576"/>
            <a:ext cx="589643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680" tIns="59340" rIns="118680" bIns="59340" rtlCol="0" anchor="ctr" anchorCtr="1"/>
          <a:lstStyle/>
          <a:p>
            <a:pPr algn="ctr"/>
            <a:r>
              <a:rPr lang="en-US" altLang="zh-CN" sz="21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1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762000"/>
            <a:chOff x="-830873" y="0"/>
            <a:chExt cx="72009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830873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830873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646235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34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521834" y="91017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6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43685"/>
      </p:ext>
    </p:extLst>
  </p:cSld>
  <p:clrMapOvr>
    <a:masterClrMapping/>
  </p:clrMapOvr>
  <p:transition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x1=11,y1=11&quot;]},{&quot;num&quot;:2,&quot;caseSensitive&quot;:true,&quot;fuzzyMatch&quot;:false,&quot;Score&quot;:1.0,&quot;answers&quot;:[&quot;x2=11,y2=10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x=7,y=10&quot;]}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x=7,y=10&quot;]}]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x=7,y=12&quot;]}]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x=7,y=14&quot;]}]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1&quot;]},{&quot;num&quot;:2,&quot;caseSensitive&quot;:false,&quot;fuzzyMatch&quot;:false,&quot;Score&quot;:1.0,&quot;answers&quot;:[&quot;1&quot;]}]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2&quot;]},{&quot;num&quot;:2,&quot;caseSensitive&quot;:false,&quot;fuzzyMatch&quot;:false,&quot;Score&quot;:1.0,&quot;answers&quot;:[&quot;0&quot;]}]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1&quot;]},{&quot;num&quot;:2,&quot;caseSensitive&quot;:false,&quot;fuzzyMatch&quot;:false,&quot;Score&quot;:1.0,&quot;answers&quot;:[&quot;1&quot;]},{&quot;num&quot;:3,&quot;caseSensitive&quot;:false,&quot;fuzzyMatch&quot;:false,&quot;Score&quot;:1.0,&quot;answers&quot;:[&quot;0&quot;]},{&quot;num&quot;:4,&quot;caseSensitive&quot;:false,&quot;fuzzyMatch&quot;:false,&quot;Score&quot;:1.0,&quot;answers&quot;:[&quot;1&quot;]}]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a=1,b=0&quot;]},{&quot;num&quot;:2,&quot;caseSensitive&quot;:true,&quot;fuzzyMatch&quot;:false,&quot;Score&quot;:1.0,&quot;answers&quot;:[&quot;x=7,y=4&quot;]}]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a=0,b=1&quot;]},{&quot;num&quot;:2,&quot;caseSensitive&quot;:true,&quot;fuzzyMatch&quot;:false,&quot;Score&quot;:1.0,&quot;answers&quot;:[&quot;x=0&quot;]}]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a=2,b=3,c=0&quot;]}]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x=50,y=1,z=2&quot;]}]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4,-12&quot;]},{&quot;num&quot;:2,&quot;caseSensitive&quot;:false,&quot;fuzzyMatch&quot;:false,&quot;Score&quot;:1.0,&quot;answers&quot;:[&quot;36,9&quot;]}]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64&quot;]},{&quot;num&quot;:2,&quot;caseSensitive&quot;:false,&quot;fuzzyMatch&quot;:false,&quot;Score&quot;:1.0,&quot;answers&quot;:[&quot;7&quot;]},{&quot;num&quot;:3,&quot;caseSensitive&quot;:false,&quot;fuzzyMatch&quot;:false,&quot;Score&quot;:1.0,&quot;answers&quot;:[&quot;12&quot;]},{&quot;num&quot;:4,&quot;caseSensitive&quot;:false,&quot;fuzzyMatch&quot;:false,&quot;Score&quot;:1.0,&quot;answers&quot;:[&quot;10&quot;]}]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Soaring">
  <a:themeElements>
    <a:clrScheme name="1_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1_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第1章_引论</Template>
  <TotalTime>22486</TotalTime>
  <Words>2305</Words>
  <Application>Microsoft Office PowerPoint</Application>
  <PresentationFormat>宽屏</PresentationFormat>
  <Paragraphs>491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Microsoft Yahei</vt:lpstr>
      <vt:lpstr>仿宋</vt:lpstr>
      <vt:lpstr>黑体</vt:lpstr>
      <vt:lpstr>楷体_GB2312</vt:lpstr>
      <vt:lpstr>宋体</vt:lpstr>
      <vt:lpstr>文鼎书宋简</vt:lpstr>
      <vt:lpstr>Arial</vt:lpstr>
      <vt:lpstr>Calibri</vt:lpstr>
      <vt:lpstr>Cambria Math</vt:lpstr>
      <vt:lpstr>Symbol</vt:lpstr>
      <vt:lpstr>Times New Roman</vt:lpstr>
      <vt:lpstr>Wingdings</vt:lpstr>
      <vt:lpstr>1_Soaring</vt:lpstr>
      <vt:lpstr>Document</vt:lpstr>
      <vt:lpstr>第2节 运算符</vt:lpstr>
      <vt:lpstr>在C语言中,规定了运算符的优先级和结合性。</vt:lpstr>
      <vt:lpstr>PowerPoint 演示文稿</vt:lpstr>
      <vt:lpstr>PowerPoint 演示文稿</vt:lpstr>
      <vt:lpstr>PowerPoint 演示文稿</vt:lpstr>
      <vt:lpstr>运算符   1、／（除）运算符</vt:lpstr>
      <vt:lpstr>2、求余数（% 模运算符）</vt:lpstr>
      <vt:lpstr>2、求余数（% 模运算符）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Administrator</dc:creator>
  <cp:lastModifiedBy>75</cp:lastModifiedBy>
  <cp:revision>549</cp:revision>
  <dcterms:created xsi:type="dcterms:W3CDTF">1999-07-06T15:28:21Z</dcterms:created>
  <dcterms:modified xsi:type="dcterms:W3CDTF">2025-10-27T06:44:50Z</dcterms:modified>
</cp:coreProperties>
</file>