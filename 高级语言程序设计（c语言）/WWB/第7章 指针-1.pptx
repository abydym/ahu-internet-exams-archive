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6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7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7" r:id="rId4"/>
    <p:sldMasterId id="2147483702" r:id="rId5"/>
  </p:sldMasterIdLst>
  <p:notesMasterIdLst>
    <p:notesMasterId r:id="rId66"/>
  </p:notesMasterIdLst>
  <p:sldIdLst>
    <p:sldId id="256" r:id="rId6"/>
    <p:sldId id="257" r:id="rId7"/>
    <p:sldId id="258" r:id="rId8"/>
    <p:sldId id="3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18"/>
    <p:sldId id="271" r:id="rId19"/>
    <p:sldId id="368" r:id="rId20"/>
    <p:sldId id="373" r:id="rId21"/>
    <p:sldId id="272" r:id="rId22"/>
    <p:sldId id="274" r:id="rId23"/>
    <p:sldId id="275" r:id="rId24"/>
    <p:sldId id="276" r:id="rId25"/>
    <p:sldId id="360" r:id="rId26"/>
    <p:sldId id="359" r:id="rId27"/>
    <p:sldId id="279" r:id="rId28"/>
    <p:sldId id="280" r:id="rId29"/>
    <p:sldId id="369" r:id="rId30"/>
    <p:sldId id="281" r:id="rId31"/>
    <p:sldId id="349" r:id="rId32"/>
    <p:sldId id="370" r:id="rId33"/>
    <p:sldId id="285" r:id="rId34"/>
    <p:sldId id="361" r:id="rId35"/>
    <p:sldId id="286" r:id="rId36"/>
    <p:sldId id="374" r:id="rId37"/>
    <p:sldId id="362" r:id="rId38"/>
    <p:sldId id="287" r:id="rId39"/>
    <p:sldId id="288" r:id="rId40"/>
    <p:sldId id="354" r:id="rId41"/>
    <p:sldId id="347" r:id="rId42"/>
    <p:sldId id="346" r:id="rId43"/>
    <p:sldId id="293" r:id="rId44"/>
    <p:sldId id="294" r:id="rId45"/>
    <p:sldId id="295" r:id="rId46"/>
    <p:sldId id="375" r:id="rId47"/>
    <p:sldId id="296" r:id="rId48"/>
    <p:sldId id="297" r:id="rId49"/>
    <p:sldId id="299" r:id="rId50"/>
    <p:sldId id="353" r:id="rId51"/>
    <p:sldId id="348" r:id="rId52"/>
    <p:sldId id="302" r:id="rId53"/>
    <p:sldId id="358" r:id="rId54"/>
    <p:sldId id="355" r:id="rId55"/>
    <p:sldId id="371" r:id="rId56"/>
    <p:sldId id="363" r:id="rId57"/>
    <p:sldId id="364" r:id="rId58"/>
    <p:sldId id="310" r:id="rId59"/>
    <p:sldId id="350" r:id="rId60"/>
    <p:sldId id="311" r:id="rId61"/>
    <p:sldId id="314" r:id="rId62"/>
    <p:sldId id="365" r:id="rId63"/>
    <p:sldId id="366" r:id="rId64"/>
    <p:sldId id="367" r:id="rId65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F5704-CE21-4940-BD77-12546503253A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E0A61-4A3D-4B21-9CFF-8131ADA0968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/>
              <a:t>变量的指针就是变量的地址。</a:t>
            </a:r>
          </a:p>
          <a:p>
            <a:pPr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b="1"/>
              <a:t>指针变量的值是某个变量的内存地址。</a:t>
            </a:r>
          </a:p>
          <a:p>
            <a:endParaRPr lang="zh-CN" altLang="zh-CN" b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/>
              <a:t>变量的指针就是变量的地址。</a:t>
            </a:r>
          </a:p>
          <a:p>
            <a:pPr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b="1"/>
              <a:t>指针变量的值是某个变量的内存地址。</a:t>
            </a:r>
          </a:p>
          <a:p>
            <a:endParaRPr lang="zh-CN" altLang="zh-CN" b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/>
              <a:t>从上面的概念可知，指针本身类型是</a:t>
            </a:r>
            <a:r>
              <a:rPr lang="zh-CN" altLang="zh-CN" b="1"/>
              <a:t>int</a:t>
            </a:r>
            <a:r>
              <a:rPr lang="zh-CN" b="1"/>
              <a:t>型，因为任何内存地址都是整型的。但是指针变量的类型却定义成它所指向的变量的类型。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zh-CN" sz="900" b="1">
                <a:ea typeface="黑体" panose="02010609060101010101" pitchFamily="49" charset="-122"/>
              </a:rPr>
              <a:t>如下面写法是错误的</a:t>
            </a:r>
            <a:r>
              <a:rPr lang="zh-CN" altLang="zh-CN" sz="900" b="1">
                <a:ea typeface="黑体" panose="02010609060101010101" pitchFamily="49" charset="-122"/>
              </a:rPr>
              <a:t>:</a:t>
            </a:r>
          </a:p>
          <a:p>
            <a:pPr>
              <a:lnSpc>
                <a:spcPct val="120000"/>
              </a:lnSpc>
              <a:spcBef>
                <a:spcPct val="45000"/>
              </a:spcBef>
            </a:pPr>
            <a:r>
              <a:rPr lang="zh-CN" altLang="zh-CN" sz="900" b="1">
                <a:ea typeface="黑体" panose="02010609060101010101" pitchFamily="49" charset="-122"/>
              </a:rPr>
              <a:t>                 int  </a:t>
            </a:r>
            <a:r>
              <a:rPr lang="zh-CN" altLang="zh-CN" sz="9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900" b="1">
                <a:ea typeface="黑体" panose="02010609060101010101" pitchFamily="49" charset="-122"/>
              </a:rPr>
              <a:t>ip;    </a:t>
            </a:r>
          </a:p>
          <a:p>
            <a:pPr>
              <a:lnSpc>
                <a:spcPct val="120000"/>
              </a:lnSpc>
            </a:pPr>
            <a:r>
              <a:rPr lang="zh-CN" altLang="zh-CN" sz="900" b="1">
                <a:ea typeface="黑体" panose="02010609060101010101" pitchFamily="49" charset="-122"/>
              </a:rPr>
              <a:t>                 ip = 1</a:t>
            </a:r>
            <a:r>
              <a:rPr lang="zh-CN" altLang="zh-CN" sz="900" b="1">
                <a:latin typeface="Arial" panose="020B0604020202020204" pitchFamily="34" charset="0"/>
                <a:ea typeface="黑体" panose="02010609060101010101" pitchFamily="49" charset="-122"/>
              </a:rPr>
              <a:t>000</a:t>
            </a:r>
            <a:r>
              <a:rPr lang="zh-CN" altLang="zh-CN" sz="900" b="1">
                <a:ea typeface="黑体" panose="02010609060101010101" pitchFamily="49" charset="-122"/>
              </a:rPr>
              <a:t>;</a:t>
            </a:r>
          </a:p>
          <a:p>
            <a:endParaRPr lang="zh-CN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  <a:buClr>
                <a:srgbClr val="008000"/>
              </a:buClr>
              <a:buSzPct val="85000"/>
              <a:buFont typeface="Wingdings" panose="05000000000000000000" pitchFamily="2" charset="2"/>
              <a:buNone/>
            </a:pPr>
            <a:r>
              <a:rPr lang="zh-CN" b="1">
                <a:ea typeface="黑体" panose="02010609060101010101" pitchFamily="49" charset="-122"/>
              </a:rPr>
              <a:t>我们知道</a:t>
            </a:r>
            <a:r>
              <a:rPr lang="zh-CN" altLang="zh-CN" b="1">
                <a:ea typeface="黑体" panose="02010609060101010101" pitchFamily="49" charset="-122"/>
              </a:rPr>
              <a:t>, </a:t>
            </a:r>
            <a:r>
              <a:rPr lang="zh-CN" b="1">
                <a:ea typeface="黑体" panose="02010609060101010101" pitchFamily="49" charset="-122"/>
              </a:rPr>
              <a:t>数组在内存中占用连续的存储单元</a:t>
            </a:r>
            <a:r>
              <a:rPr lang="zh-CN" sz="1000" b="1">
                <a:ea typeface="黑体" panose="02010609060101010101" pitchFamily="49" charset="-122"/>
              </a:rPr>
              <a:t>。</a:t>
            </a:r>
            <a:r>
              <a:rPr lang="zh-CN" b="1">
                <a:ea typeface="黑体" panose="02010609060101010101" pitchFamily="49" charset="-122"/>
              </a:rPr>
              <a:t>而</a:t>
            </a:r>
            <a:r>
              <a:rPr lang="zh-CN" b="1">
                <a:solidFill>
                  <a:srgbClr val="0028A8"/>
                </a:solidFill>
                <a:ea typeface="黑体" panose="02010609060101010101" pitchFamily="49" charset="-122"/>
              </a:rPr>
              <a:t>指针最常见的一种用途就是指向数组元素</a:t>
            </a:r>
            <a:r>
              <a:rPr lang="zh-CN" sz="900" b="1">
                <a:ea typeface="黑体" panose="02010609060101010101" pitchFamily="49" charset="-122"/>
              </a:rPr>
              <a:t>。</a:t>
            </a:r>
            <a:r>
              <a:rPr lang="zh-CN" b="1">
                <a:ea typeface="黑体" panose="02010609060101010101" pitchFamily="49" charset="-122"/>
              </a:rPr>
              <a:t>当一个指针指向数组后</a:t>
            </a:r>
            <a:r>
              <a:rPr lang="zh-CN" altLang="zh-CN" b="1">
                <a:ea typeface="黑体" panose="02010609060101010101" pitchFamily="49" charset="-122"/>
              </a:rPr>
              <a:t>,  </a:t>
            </a:r>
            <a:r>
              <a:rPr lang="zh-CN" b="1">
                <a:ea typeface="黑体" panose="02010609060101010101" pitchFamily="49" charset="-122"/>
              </a:rPr>
              <a:t>就可以用它灵活、快速地处理数组元素，从而体现出指针的优点。</a:t>
            </a:r>
          </a:p>
          <a:p>
            <a:endParaRPr lang="zh-CN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369C40A-D725-49D5-BBA2-2FEE3202E886}" type="slidenum">
              <a:rPr lang="zh-CN" altLang="zh-CN">
                <a:solidFill>
                  <a:srgbClr val="1C1C1C"/>
                </a:solidFill>
              </a:rPr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7114B-BD72-410C-A3AE-9F1D8D2F5F7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E7D56-836B-40CF-A179-314EB9C98D4C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CF3F5-AA6B-4F2D-BCD0-E0BBC58B0A6F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621CB-B951-49E4-8419-F8E1AF1168CF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92E05-E2ED-4D5A-879F-EEF636E93E3A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8079E-3A25-4F2A-A22F-26316A5D659C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5DB71-42D8-42B5-839D-5920D7BB4B1F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C6135-5499-42FE-801E-1917DDA2D875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4927-FFE2-4D3D-8AD3-ADB67E5CDCA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9068A4-A869-494C-B668-D04932056F0A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/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65A20B0-183D-418D-8CFD-CD5C1DDF0DBE}" type="slidenum">
              <a:rPr lang="zh-CN" altLang="zh-CN">
                <a:solidFill>
                  <a:srgbClr val="1C1C1C"/>
                </a:solidFill>
              </a:rPr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0845E-A8FE-4E6F-9C7B-9111CDF1F587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E353F-7240-4D40-8ADA-69BF754EEFB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012A9-3E45-4EDF-A414-B151B94E28EE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B2A1A-3552-47EC-9577-9A7CBA58CC8E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A6476-21C3-4976-870F-4C8F39644D9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FD766A-EF95-4280-828B-444732E3B00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624739-4508-4515-A476-46476D143858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005D1-6F3B-4129-B0E2-2D429C766BF3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B1C9D-8418-47DD-A21F-CCDE6AD6649A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CB7E8-41E8-4F84-B5D8-4F581120827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6CCD115-09BF-439C-B4AF-9BAC36E688AE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A4DC2AF-88E7-4E5E-B9FD-1592F34CDAE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A2FC86B-AC34-4D3C-9DAC-E3616CFF19D5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5FDA88C-0FB2-4C44-93DF-02E737A82263}" type="slidenum">
              <a:rPr lang="zh-CN" altLang="zh-CN">
                <a:solidFill>
                  <a:srgbClr val="1C1C1C"/>
                </a:solidFill>
              </a:rPr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1DBED-811A-4D83-854A-49C7E4B08074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1C6A2-8AA4-4140-B8B2-DDFC6AD7D50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E69CF-2F96-4896-AD72-DED0B76FF3E9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7B230-9F29-49B4-A43D-87C97DD4E4F9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E08B0D-C021-4294-A210-3DF0D0B6106E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9F3CB-C3AD-4DE9-82E0-EECD17B06730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1EDB2F-0FBF-4EB4-B12D-E8C79E731D61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2819D-FF44-4D9D-BA87-E709F9F7B2AA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08185-854D-4E51-AD24-0B06D31370B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82DB8-3B3C-4626-8D0C-D3D293BBE863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CAB6879-C0E2-4333-825B-FD247CE283E7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C78F1AB-583E-4734-A46F-781C249C4DA9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B08EBF7-6077-4620-935C-DADA17A8BAB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6147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6148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6149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6150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6151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6152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6153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154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A9DCED7-78E5-4822-BE34-A66E76B89182}" type="slidenum">
              <a:rPr lang="zh-CN" altLang="zh-CN">
                <a:solidFill>
                  <a:srgbClr val="1C1C1C"/>
                </a:solidFill>
              </a:rPr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B84EA-D4A1-4084-AED5-24311A4FFB7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2AB0F7-7C4C-48FF-B575-17AF7F314A50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7E6082-8372-4158-A5C6-5BACB3CC8F4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3F04B-DEFD-4A44-B3D0-FFE417F3A360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28907-E442-4F2E-A165-1BEE0B2EC910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B5113F-37D8-4AB9-B37A-B2082DD40815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8B42CA-8D45-4F2F-A1F9-996AFF2752C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4DBAE5-EC93-4B26-854E-48BBB2C97060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1E021-1C95-4AB7-8117-688B013ACDBC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922D0E-F831-4D12-A7A8-5B84586C2BB9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5769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5769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694C2638-3340-4D85-9C1D-9FA7591662EC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6FEB6-B3F8-47D5-AD9C-36BC93FF77EE}" type="datetimeFigureOut">
              <a:rPr lang="zh-CN" altLang="en-US" smtClean="0"/>
              <a:t>2025/7/24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4BEA91-F855-4F99-A194-4BC65B9337B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C6600-8979-4FAF-92F1-67C0A55F2592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09E361-0565-4FD4-AEC1-C92946135371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0700" y="70643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030818" y="706438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85801" y="1128713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178984" y="112871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33351" y="105568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999067" y="442913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554567" y="13890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FE9477-2D6C-4CE4-9805-E3DF00FDB840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slide" Target="slide23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slide" Target="slide7.xml"/><Relationship Id="rId7" Type="http://schemas.openxmlformats.org/officeDocument/2006/relationships/slide" Target="slide1.xml"/><Relationship Id="rId2" Type="http://schemas.openxmlformats.org/officeDocument/2006/relationships/slideLayout" Target="../slideLayouts/slideLayout52.xml"/><Relationship Id="rId1" Type="http://schemas.openxmlformats.org/officeDocument/2006/relationships/themeOverride" Target="../theme/themeOverride1.xml"/><Relationship Id="rId6" Type="http://schemas.openxmlformats.org/officeDocument/2006/relationships/slide" Target="slide18.xml"/><Relationship Id="rId5" Type="http://schemas.openxmlformats.org/officeDocument/2006/relationships/slide" Target="slide13.xml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4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7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7.png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notesSlide" Target="../notesSlides/notesSlide5.xml"/><Relationship Id="rId7" Type="http://schemas.openxmlformats.org/officeDocument/2006/relationships/slide" Target="slide1.xml"/><Relationship Id="rId2" Type="http://schemas.openxmlformats.org/officeDocument/2006/relationships/slideLayout" Target="../slideLayouts/slideLayout52.xml"/><Relationship Id="rId1" Type="http://schemas.openxmlformats.org/officeDocument/2006/relationships/themeOverride" Target="../theme/themeOverride2.xml"/><Relationship Id="rId6" Type="http://schemas.openxmlformats.org/officeDocument/2006/relationships/slide" Target="slide54.xml"/><Relationship Id="rId5" Type="http://schemas.openxmlformats.org/officeDocument/2006/relationships/slide" Target="slide39.xml"/><Relationship Id="rId4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7.png"/><Relationship Id="rId5" Type="http://schemas.openxmlformats.org/officeDocument/2006/relationships/tags" Target="../tags/tag32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7.png"/><Relationship Id="rId5" Type="http://schemas.openxmlformats.org/officeDocument/2006/relationships/tags" Target="../tags/tag41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19" Type="http://schemas.openxmlformats.org/officeDocument/2006/relationships/image" Target="../media/image7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7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19" Type="http://schemas.openxmlformats.org/officeDocument/2006/relationships/image" Target="../media/image7.png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3" Type="http://schemas.openxmlformats.org/officeDocument/2006/relationships/tags" Target="../tags/tag99.xml"/><Relationship Id="rId21" Type="http://schemas.openxmlformats.org/officeDocument/2006/relationships/image" Target="../media/image7.png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slideLayout" Target="../slideLayouts/slideLayout29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4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image" Target="../media/image7.png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../media/image7.png"/><Relationship Id="rId5" Type="http://schemas.openxmlformats.org/officeDocument/2006/relationships/tags" Target="../tags/tag137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136.xml"/><Relationship Id="rId9" Type="http://schemas.openxmlformats.org/officeDocument/2006/relationships/tags" Target="../tags/tag14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image" Target="../media/image7.png"/><Relationship Id="rId5" Type="http://schemas.openxmlformats.org/officeDocument/2006/relationships/tags" Target="../tags/tag146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145.xml"/><Relationship Id="rId9" Type="http://schemas.openxmlformats.org/officeDocument/2006/relationships/tags" Target="../tags/tag15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3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23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image" Target="../media/image7.png"/><Relationship Id="rId5" Type="http://schemas.openxmlformats.org/officeDocument/2006/relationships/tags" Target="../tags/tag155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154.xml"/><Relationship Id="rId9" Type="http://schemas.openxmlformats.org/officeDocument/2006/relationships/tags" Target="../tags/tag159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image" Target="../media/image7.png"/><Relationship Id="rId5" Type="http://schemas.openxmlformats.org/officeDocument/2006/relationships/tags" Target="../tags/tag164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image" Target="../media/image7.png"/><Relationship Id="rId5" Type="http://schemas.openxmlformats.org/officeDocument/2006/relationships/tags" Target="../tags/tag173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172.xml"/><Relationship Id="rId9" Type="http://schemas.openxmlformats.org/officeDocument/2006/relationships/tags" Target="../tags/tag1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0"/>
            <a:ext cx="12114212" cy="691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1219" name="Rectangle 3"/>
          <p:cNvSpPr>
            <a:spLocks noGrp="1" noChangeArrowheads="1"/>
          </p:cNvSpPr>
          <p:nvPr>
            <p:ph type="title"/>
          </p:nvPr>
        </p:nvSpPr>
        <p:spPr>
          <a:xfrm>
            <a:off x="3665538" y="196850"/>
            <a:ext cx="4838700" cy="1219200"/>
          </a:xfrm>
        </p:spPr>
        <p:txBody>
          <a:bodyPr/>
          <a:lstStyle/>
          <a:p>
            <a:r>
              <a:rPr 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七</a:t>
            </a:r>
            <a:r>
              <a:rPr 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章   </a:t>
            </a:r>
            <a:r>
              <a:rPr 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</a:rPr>
              <a:t>指针</a:t>
            </a:r>
            <a:endParaRPr lang="zh-CN" altLang="en-US" sz="4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732089" y="2017714"/>
            <a:ext cx="7451725" cy="4116387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指针和指针变量的概念</a:t>
            </a:r>
            <a:endParaRPr lang="zh-CN" altLang="en-US" sz="28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指向变量的指针变量</a:t>
            </a:r>
            <a:endParaRPr lang="zh-CN" altLang="en-US" sz="28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指针与数组</a:t>
            </a:r>
            <a:endParaRPr lang="zh-CN" altLang="en-US" sz="28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" action="ppaction://noaction"/>
              </a:rPr>
              <a:t>字符串的指针和指向字符串的指针变量</a:t>
            </a:r>
            <a:endParaRPr lang="zh-CN" altLang="en-US" sz="28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1221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326438" y="6456363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008000"/>
                </a:solidFill>
                <a:latin typeface="Courier New" panose="02070309020205020404" pitchFamily="49" charset="0"/>
              </a:rPr>
              <a:t>上一章</a:t>
            </a:r>
          </a:p>
        </p:txBody>
      </p:sp>
      <p:sp>
        <p:nvSpPr>
          <p:cNvPr id="521222" name="Text Box 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7512050" y="6483350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008000"/>
                </a:solidFill>
                <a:latin typeface="Courier New" panose="02070309020205020404" pitchFamily="49" charset="0"/>
              </a:rPr>
              <a:t>目 录</a:t>
            </a:r>
          </a:p>
        </p:txBody>
      </p:sp>
      <p:sp>
        <p:nvSpPr>
          <p:cNvPr id="521223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9763125" y="6450013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008000"/>
                </a:solidFill>
                <a:latin typeface="Courier New" panose="02070309020205020404" pitchFamily="49" charset="0"/>
              </a:rPr>
              <a:t>习题</a:t>
            </a:r>
          </a:p>
        </p:txBody>
      </p:sp>
      <p:sp>
        <p:nvSpPr>
          <p:cNvPr id="521224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9117013" y="6453188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008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下一章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67050" y="87313"/>
            <a:ext cx="7107238" cy="715962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指针和指针变量的概念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6600" y="1190626"/>
            <a:ext cx="8408988" cy="4652963"/>
          </a:xfrm>
        </p:spPr>
        <p:txBody>
          <a:bodyPr/>
          <a:lstStyle/>
          <a:p>
            <a:pPr>
              <a:lnSpc>
                <a:spcPct val="110000"/>
              </a:lnSpc>
              <a:buSzPct val="85000"/>
              <a:buFont typeface="Wingdings" panose="05000000000000000000" pitchFamily="2" charset="2"/>
              <a:buChar char="&amp;"/>
            </a:pPr>
            <a:r>
              <a:rPr lang="zh-CN" altLang="en-US" sz="2400" b="1">
                <a:latin typeface="Times New Roman" panose="02020603050405020304" pitchFamily="18" charset="0"/>
              </a:rPr>
              <a:t>在程序中定义了一个变量</a:t>
            </a:r>
            <a:r>
              <a:rPr lang="zh-CN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该变量在内存中就要占一定的</a:t>
            </a:r>
            <a:r>
              <a:rPr lang="zh-CN" altLang="en-US" sz="2400" b="1">
                <a:latin typeface="Courier New" panose="02070309020205020404" pitchFamily="49" charset="0"/>
              </a:rPr>
              <a:t>存储单元</a:t>
            </a:r>
            <a:r>
              <a:rPr lang="zh-CN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这个空间的大小由变量的类型决定。</a:t>
            </a:r>
          </a:p>
        </p:txBody>
      </p:sp>
      <p:graphicFrame>
        <p:nvGraphicFramePr>
          <p:cNvPr id="522244" name="Object 4"/>
          <p:cNvGraphicFramePr>
            <a:graphicFrameLocks noChangeAspect="1"/>
          </p:cNvGraphicFramePr>
          <p:nvPr/>
        </p:nvGraphicFramePr>
        <p:xfrm>
          <a:off x="2179638" y="2227263"/>
          <a:ext cx="7870825" cy="388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Picture" r:id="rId3" imgW="12020550" imgH="6800850" progId="Word.Picture.8">
                  <p:embed/>
                </p:oleObj>
              </mc:Choice>
              <mc:Fallback>
                <p:oleObj name="Picture" r:id="rId3" imgW="12020550" imgH="6800850" progId="Word.Picture.8">
                  <p:embed/>
                  <p:pic>
                    <p:nvPicPr>
                      <p:cNvPr id="0" name="图片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2227263"/>
                        <a:ext cx="7870825" cy="388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4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9" y="765175"/>
            <a:ext cx="376237" cy="325438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22246" name="Rectangle 6"/>
          <p:cNvSpPr>
            <a:spLocks noChangeArrowheads="1"/>
          </p:cNvSpPr>
          <p:nvPr/>
        </p:nvSpPr>
        <p:spPr bwMode="auto">
          <a:xfrm>
            <a:off x="5634038" y="2152651"/>
            <a:ext cx="1973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B0"/>
                </a:solidFill>
              </a:rPr>
              <a:t>用户数据区内存</a:t>
            </a:r>
          </a:p>
        </p:txBody>
      </p:sp>
      <p:sp>
        <p:nvSpPr>
          <p:cNvPr id="522247" name="AutoShape 7"/>
          <p:cNvSpPr>
            <a:spLocks noChangeArrowheads="1"/>
          </p:cNvSpPr>
          <p:nvPr/>
        </p:nvSpPr>
        <p:spPr bwMode="auto">
          <a:xfrm>
            <a:off x="7721601" y="5321301"/>
            <a:ext cx="1808163" cy="720725"/>
          </a:xfrm>
          <a:prstGeom prst="wedgeRectCallout">
            <a:avLst>
              <a:gd name="adj1" fmla="val -89157"/>
              <a:gd name="adj2" fmla="val -105065"/>
            </a:avLst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存储单元的内容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就是变量的值。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22248" name="AutoShape 8"/>
          <p:cNvSpPr>
            <a:spLocks noChangeArrowheads="1"/>
          </p:cNvSpPr>
          <p:nvPr/>
        </p:nvSpPr>
        <p:spPr bwMode="auto">
          <a:xfrm>
            <a:off x="1954214" y="5910263"/>
            <a:ext cx="2592387" cy="436562"/>
          </a:xfrm>
          <a:prstGeom prst="wedgeRectCallout">
            <a:avLst>
              <a:gd name="adj1" fmla="val 63778"/>
              <a:gd name="adj2" fmla="val -63819"/>
            </a:avLst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</a:ln>
          <a:effectLst>
            <a:outerShdw dist="71842" dir="2700000" algn="ctr" rotWithShape="0">
              <a:schemeClr val="bg2"/>
            </a:outerShdw>
          </a:effectLst>
        </p:spPr>
        <p:txBody>
          <a:bodyPr bIns="1080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存储单元的地址</a:t>
            </a: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指针</a:t>
            </a: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0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7" grpId="0" animBg="1" autoUpdateAnimBg="0"/>
      <p:bldP spid="52224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943225" y="158751"/>
            <a:ext cx="7107238" cy="715963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指针和指针变量的概念</a:t>
            </a: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8514" y="1211263"/>
            <a:ext cx="8156575" cy="2176462"/>
          </a:xfrm>
        </p:spPr>
        <p:txBody>
          <a:bodyPr/>
          <a:lstStyle/>
          <a:p>
            <a:pPr marL="274955" indent="-274955">
              <a:lnSpc>
                <a:spcPct val="125000"/>
              </a:lnSpc>
              <a:buSzPct val="50000"/>
            </a:pPr>
            <a:r>
              <a:rPr lang="zh-CN" altLang="en-US" sz="2400" b="1" dirty="0">
                <a:latin typeface="Times New Roman" panose="02020603050405020304" pitchFamily="18" charset="0"/>
              </a:rPr>
              <a:t>指针</a:t>
            </a:r>
            <a:r>
              <a:rPr lang="zh-CN" altLang="zh-CN" sz="2400" b="1" dirty="0">
                <a:latin typeface="Times New Roman" panose="02020603050405020304" pitchFamily="18" charset="0"/>
              </a:rPr>
              <a:t>:  </a:t>
            </a:r>
            <a:r>
              <a:rPr lang="zh-CN" altLang="en-US" sz="2400" b="1" dirty="0">
                <a:latin typeface="Times New Roman" panose="02020603050405020304" pitchFamily="18" charset="0"/>
              </a:rPr>
              <a:t>就是变量的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内存地址</a:t>
            </a:r>
            <a:r>
              <a:rPr lang="zh-CN" altLang="zh-CN" sz="2400" b="1" dirty="0">
                <a:latin typeface="Times New Roman" panose="02020603050405020304" pitchFamily="18" charset="0"/>
              </a:rPr>
              <a:t>,  </a:t>
            </a:r>
            <a:r>
              <a:rPr lang="zh-CN" altLang="en-US" sz="2400" b="1" dirty="0">
                <a:latin typeface="Courier New" panose="02070309020205020404" pitchFamily="49" charset="0"/>
              </a:rPr>
              <a:t>是一个常量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</a:p>
          <a:p>
            <a:pPr marL="274955" indent="-274955">
              <a:lnSpc>
                <a:spcPct val="125000"/>
              </a:lnSpc>
              <a:spcBef>
                <a:spcPct val="35000"/>
              </a:spcBef>
              <a:buSzPct val="50000"/>
            </a:pPr>
            <a:r>
              <a:rPr lang="zh-CN" altLang="en-US" sz="2400" b="1" dirty="0">
                <a:latin typeface="Times New Roman" panose="02020603050405020304" pitchFamily="18" charset="0"/>
              </a:rPr>
              <a:t>指针变量</a:t>
            </a:r>
            <a:r>
              <a:rPr lang="zh-CN" altLang="zh-CN" sz="2400" b="1" dirty="0">
                <a:latin typeface="Times New Roman" panose="02020603050405020304" pitchFamily="18" charset="0"/>
              </a:rPr>
              <a:t>:  </a:t>
            </a:r>
            <a:r>
              <a:rPr lang="zh-CN" altLang="en-US" sz="2400" b="1" dirty="0">
                <a:latin typeface="Times New Roman" panose="02020603050405020304" pitchFamily="18" charset="0"/>
              </a:rPr>
              <a:t>就是存放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另一变量地址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指针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的变量。 </a:t>
            </a:r>
          </a:p>
          <a:p>
            <a:pPr marL="274955" indent="-274955">
              <a:lnSpc>
                <a:spcPct val="120000"/>
              </a:lnSpc>
              <a:spcBef>
                <a:spcPct val="50000"/>
              </a:spcBef>
              <a:buClr>
                <a:srgbClr val="CC00FF"/>
              </a:buClr>
              <a:buSzPct val="110000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当把变量</a:t>
            </a:r>
            <a:r>
              <a:rPr lang="zh-CN" altLang="en-US" sz="2000" b="1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B4"/>
                </a:solidFill>
              </a:rPr>
              <a:t>i</a:t>
            </a:r>
            <a:r>
              <a:rPr lang="zh-CN" altLang="zh-CN" sz="1600" b="1" dirty="0"/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的地址存入指针变量</a:t>
            </a:r>
            <a:r>
              <a:rPr lang="zh-CN" altLang="en-US" sz="2000" b="1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p</a:t>
            </a:r>
            <a:r>
              <a:rPr lang="zh-CN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后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Courier New" panose="02070309020205020404" pitchFamily="49" charset="0"/>
              </a:rPr>
              <a:t>我们就说</a:t>
            </a:r>
            <a:r>
              <a:rPr lang="zh-CN" altLang="en-US" sz="2400" b="1" dirty="0">
                <a:latin typeface="Times New Roman" panose="02020603050405020304" pitchFamily="18" charset="0"/>
              </a:rPr>
              <a:t>这个指针变量</a:t>
            </a:r>
            <a:r>
              <a:rPr lang="zh-CN" altLang="zh-CN" sz="2400" b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</a:rPr>
              <a:t>指向变量</a:t>
            </a:r>
            <a:r>
              <a:rPr lang="zh-CN" altLang="en-US" sz="1800" b="1" dirty="0">
                <a:latin typeface="Times New Roman" panose="02020603050405020304" pitchFamily="18" charset="0"/>
              </a:rPr>
              <a:t>  </a:t>
            </a:r>
            <a:r>
              <a:rPr lang="zh-CN" altLang="zh-CN" sz="2400" b="1" dirty="0"/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</a:p>
          <a:p>
            <a:pPr marL="274955" indent="-274955">
              <a:buNone/>
            </a:pPr>
            <a:endParaRPr lang="zh-CN" altLang="zh-CN" sz="2400" b="1" dirty="0"/>
          </a:p>
        </p:txBody>
      </p:sp>
      <p:sp>
        <p:nvSpPr>
          <p:cNvPr id="523268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44663" y="779464"/>
            <a:ext cx="360362" cy="300037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23269" name="Text Box 5"/>
          <p:cNvSpPr txBox="1">
            <a:spLocks noChangeArrowheads="1"/>
          </p:cNvSpPr>
          <p:nvPr/>
        </p:nvSpPr>
        <p:spPr bwMode="auto">
          <a:xfrm>
            <a:off x="2405063" y="354647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int  i=1</a:t>
            </a:r>
            <a:r>
              <a:rPr lang="zh-CN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p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23270" name="Text Box 6"/>
          <p:cNvSpPr txBox="1">
            <a:spLocks noChangeArrowheads="1"/>
          </p:cNvSpPr>
          <p:nvPr/>
        </p:nvSpPr>
        <p:spPr bwMode="auto">
          <a:xfrm>
            <a:off x="2406650" y="4090988"/>
            <a:ext cx="230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B0"/>
                </a:solidFill>
                <a:ea typeface="宋体" panose="02010600030101010101" pitchFamily="2" charset="-122"/>
              </a:rPr>
              <a:t>p=</a:t>
            </a:r>
            <a:r>
              <a:rPr lang="zh-CN" altLang="zh-CN" sz="2800">
                <a:solidFill>
                  <a:srgbClr val="0000B0"/>
                </a:solidFill>
                <a:ea typeface="宋体" panose="02010600030101010101" pitchFamily="2" charset="-122"/>
              </a:rPr>
              <a:t>&amp;</a:t>
            </a:r>
            <a:r>
              <a:rPr lang="zh-CN" altLang="zh-CN" sz="2800" b="1">
                <a:solidFill>
                  <a:srgbClr val="0000B0"/>
                </a:solidFill>
                <a:ea typeface="宋体" panose="02010600030101010101" pitchFamily="2" charset="-122"/>
              </a:rPr>
              <a:t>i </a:t>
            </a:r>
            <a:r>
              <a:rPr lang="zh-CN" altLang="zh-CN" sz="2800" b="1">
                <a:solidFill>
                  <a:srgbClr val="0000B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800" b="1">
              <a:solidFill>
                <a:srgbClr val="0000B0"/>
              </a:solidFill>
              <a:latin typeface="Times New Roman" panose="02020603050405020304" pitchFamily="18" charset="0"/>
              <a:ea typeface="Dotum" pitchFamily="34" charset="-127"/>
            </a:endParaRPr>
          </a:p>
        </p:txBody>
      </p:sp>
      <p:grpSp>
        <p:nvGrpSpPr>
          <p:cNvPr id="523271" name="Group 7"/>
          <p:cNvGrpSpPr/>
          <p:nvPr/>
        </p:nvGrpSpPr>
        <p:grpSpPr bwMode="auto">
          <a:xfrm>
            <a:off x="6119813" y="3459164"/>
            <a:ext cx="3744912" cy="1609725"/>
            <a:chOff x="0" y="0"/>
            <a:chExt cx="2359" cy="1014"/>
          </a:xfrm>
        </p:grpSpPr>
        <p:sp>
          <p:nvSpPr>
            <p:cNvPr id="523272" name="Text Box 8"/>
            <p:cNvSpPr txBox="1">
              <a:spLocks noChangeArrowheads="1"/>
            </p:cNvSpPr>
            <p:nvPr/>
          </p:nvSpPr>
          <p:spPr bwMode="auto">
            <a:xfrm>
              <a:off x="181" y="363"/>
              <a:ext cx="545" cy="330"/>
            </a:xfrm>
            <a:prstGeom prst="rect">
              <a:avLst/>
            </a:prstGeom>
            <a:noFill/>
            <a:ln w="25400" cmpd="sng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23273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10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ts val="825"/>
                </a:spcAft>
              </a:pPr>
              <a:r>
                <a:rPr lang="zh-CN" altLang="en-US" sz="2400" b="1">
                  <a:solidFill>
                    <a:srgbClr val="0000B0"/>
                  </a:solidFill>
                  <a:latin typeface="黑体" panose="02010609060101010101" pitchFamily="49" charset="-122"/>
                </a:rPr>
                <a:t>指针变量</a:t>
              </a:r>
              <a:r>
                <a:rPr lang="zh-CN" altLang="zh-CN" sz="2400" b="1">
                  <a:solidFill>
                    <a:srgbClr val="0000B0"/>
                  </a:solidFill>
                </a:rPr>
                <a:t>p</a:t>
              </a:r>
            </a:p>
          </p:txBody>
        </p:sp>
        <p:sp>
          <p:nvSpPr>
            <p:cNvPr id="523274" name="Text Box 10"/>
            <p:cNvSpPr txBox="1">
              <a:spLocks noChangeArrowheads="1"/>
            </p:cNvSpPr>
            <p:nvPr/>
          </p:nvSpPr>
          <p:spPr bwMode="auto">
            <a:xfrm>
              <a:off x="1587" y="363"/>
              <a:ext cx="545" cy="330"/>
            </a:xfrm>
            <a:prstGeom prst="rect">
              <a:avLst/>
            </a:prstGeom>
            <a:noFill/>
            <a:ln w="25400" cmpd="sng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ts val="825"/>
                </a:spcAft>
              </a:pPr>
              <a:r>
                <a:rPr lang="zh-CN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zh-CN" altLang="zh-CN" sz="28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23275" name="Text Box 11"/>
            <p:cNvSpPr txBox="1">
              <a:spLocks noChangeArrowheads="1"/>
            </p:cNvSpPr>
            <p:nvPr/>
          </p:nvSpPr>
          <p:spPr bwMode="auto">
            <a:xfrm>
              <a:off x="1361" y="0"/>
              <a:ext cx="9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ts val="825"/>
                </a:spcAft>
              </a:pPr>
              <a:r>
                <a:rPr lang="zh-CN" altLang="en-US" sz="2400" b="1">
                  <a:solidFill>
                    <a:srgbClr val="0000B0"/>
                  </a:solidFill>
                  <a:latin typeface="黑体" panose="02010609060101010101" pitchFamily="49" charset="-122"/>
                </a:rPr>
                <a:t>整型变量</a:t>
              </a:r>
              <a:r>
                <a:rPr lang="zh-CN" altLang="zh-CN" sz="2400" b="1">
                  <a:solidFill>
                    <a:srgbClr val="0000B0"/>
                  </a:solidFill>
                </a:rPr>
                <a:t>i</a:t>
              </a:r>
            </a:p>
          </p:txBody>
        </p:sp>
        <p:sp>
          <p:nvSpPr>
            <p:cNvPr id="523276" name="Text Box 12"/>
            <p:cNvSpPr txBox="1">
              <a:spLocks noChangeArrowheads="1"/>
            </p:cNvSpPr>
            <p:nvPr/>
          </p:nvSpPr>
          <p:spPr bwMode="auto">
            <a:xfrm>
              <a:off x="1588" y="726"/>
              <a:ext cx="5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ts val="825"/>
                </a:spcAft>
              </a:pPr>
              <a:r>
                <a:rPr lang="zh-CN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lang="zh-CN" altLang="zh-CN" sz="28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523277" name="Line 13"/>
          <p:cNvSpPr>
            <a:spLocks noChangeShapeType="1"/>
          </p:cNvSpPr>
          <p:nvPr/>
        </p:nvSpPr>
        <p:spPr bwMode="auto">
          <a:xfrm>
            <a:off x="7294563" y="4294188"/>
            <a:ext cx="137795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23278" name="Text Box 14"/>
          <p:cNvSpPr txBox="1">
            <a:spLocks noChangeArrowheads="1"/>
          </p:cNvSpPr>
          <p:nvPr/>
        </p:nvSpPr>
        <p:spPr bwMode="auto">
          <a:xfrm>
            <a:off x="7519989" y="4333875"/>
            <a:ext cx="865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ts val="825"/>
              </a:spcAft>
            </a:pPr>
            <a:r>
              <a:rPr lang="zh-CN" altLang="en-US" sz="2400" b="1">
                <a:solidFill>
                  <a:srgbClr val="0000B0"/>
                </a:solidFill>
                <a:latin typeface="Times New Roman" panose="02020603050405020304" pitchFamily="18" charset="0"/>
              </a:rPr>
              <a:t>指向</a:t>
            </a:r>
            <a:endParaRPr lang="zh-CN" altLang="en-US" sz="2400">
              <a:solidFill>
                <a:srgbClr val="0000B0"/>
              </a:solidFill>
            </a:endParaRPr>
          </a:p>
        </p:txBody>
      </p:sp>
      <p:sp>
        <p:nvSpPr>
          <p:cNvPr id="523279" name="Text Box 15"/>
          <p:cNvSpPr txBox="1">
            <a:spLocks noChangeArrowheads="1"/>
          </p:cNvSpPr>
          <p:nvPr/>
        </p:nvSpPr>
        <p:spPr bwMode="auto">
          <a:xfrm>
            <a:off x="6432550" y="4100514"/>
            <a:ext cx="865188" cy="39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 bIns="1080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825"/>
              </a:spcAft>
            </a:pPr>
            <a:r>
              <a:rPr lang="zh-CN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2000</a:t>
            </a: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23280" name="Text Box 16"/>
          <p:cNvSpPr txBox="1">
            <a:spLocks noChangeArrowheads="1"/>
          </p:cNvSpPr>
          <p:nvPr/>
        </p:nvSpPr>
        <p:spPr bwMode="auto">
          <a:xfrm>
            <a:off x="8280401" y="5187950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ts val="825"/>
              </a:spcAft>
            </a:pPr>
            <a:r>
              <a:rPr lang="zh-CN" altLang="zh-CN" sz="2400" b="1">
                <a:solidFill>
                  <a:srgbClr val="0000B0"/>
                </a:solidFill>
              </a:rPr>
              <a:t>i</a:t>
            </a:r>
            <a:r>
              <a:rPr lang="zh-CN" altLang="en-US" sz="2400" b="1">
                <a:solidFill>
                  <a:srgbClr val="0000B0"/>
                </a:solidFill>
              </a:rPr>
              <a:t>的地址存入</a:t>
            </a:r>
            <a:r>
              <a:rPr lang="zh-CN" altLang="zh-CN" sz="2400" b="1">
                <a:solidFill>
                  <a:srgbClr val="0000B0"/>
                </a:solidFill>
              </a:rPr>
              <a:t>p</a:t>
            </a:r>
            <a:endParaRPr lang="zh-CN" altLang="zh-CN" sz="2400">
              <a:solidFill>
                <a:srgbClr val="0000B0"/>
              </a:solidFill>
            </a:endParaRPr>
          </a:p>
        </p:txBody>
      </p:sp>
      <p:pic>
        <p:nvPicPr>
          <p:cNvPr id="52328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1" y="4611688"/>
            <a:ext cx="1801813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3282" name="Rectangle 18"/>
          <p:cNvSpPr>
            <a:spLocks noChangeArrowheads="1"/>
          </p:cNvSpPr>
          <p:nvPr/>
        </p:nvSpPr>
        <p:spPr bwMode="auto">
          <a:xfrm>
            <a:off x="2032001" y="5149850"/>
            <a:ext cx="7127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66700" indent="-266700"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指针变量的值是某个变量的内存地址</a:t>
            </a:r>
            <a:r>
              <a:rPr lang="zh-CN" altLang="en-US" sz="2400" b="1" dirty="0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2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52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9" grpId="0" autoUpdateAnimBg="0"/>
      <p:bldP spid="523270" grpId="0" autoUpdateAnimBg="0"/>
      <p:bldP spid="523277" grpId="0" animBg="1"/>
      <p:bldP spid="523278" grpId="0" autoUpdateAnimBg="0"/>
      <p:bldP spid="523279" grpId="0" autoUpdateAnimBg="0"/>
      <p:bldP spid="523280" grpId="0" autoUpdateAnimBg="0"/>
      <p:bldP spid="52328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943225" y="158751"/>
            <a:ext cx="7107238" cy="715963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指针和指针变量的概念</a:t>
            </a: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700808"/>
            <a:ext cx="8568952" cy="338437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>
                <a:solidFill>
                  <a:srgbClr val="C00000"/>
                </a:solidFill>
              </a:rPr>
              <a:t>指针即地址</a:t>
            </a:r>
            <a:r>
              <a:rPr lang="en-US" altLang="zh-CN" sz="3600" b="1">
                <a:solidFill>
                  <a:srgbClr val="C00000"/>
                </a:solidFill>
              </a:rPr>
              <a:t>,</a:t>
            </a:r>
            <a:r>
              <a:rPr lang="zh-CN" altLang="en-US" sz="3600" b="1">
                <a:solidFill>
                  <a:srgbClr val="C00000"/>
                </a:solidFill>
              </a:rPr>
              <a:t>地址即指针</a:t>
            </a:r>
            <a:endParaRPr lang="en-US" altLang="zh-CN" sz="3600" b="1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3600" b="1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>
                <a:solidFill>
                  <a:srgbClr val="C00000"/>
                </a:solidFill>
              </a:rPr>
              <a:t>指针变量是存放地址</a:t>
            </a:r>
            <a:r>
              <a:rPr lang="en-US" altLang="zh-CN" sz="3600" b="1">
                <a:solidFill>
                  <a:srgbClr val="C00000"/>
                </a:solidFill>
              </a:rPr>
              <a:t>(</a:t>
            </a:r>
            <a:r>
              <a:rPr lang="zh-CN" altLang="en-US" sz="3600" b="1">
                <a:solidFill>
                  <a:srgbClr val="C00000"/>
                </a:solidFill>
              </a:rPr>
              <a:t>指针</a:t>
            </a:r>
            <a:r>
              <a:rPr lang="en-US" altLang="zh-CN" sz="3600" b="1">
                <a:solidFill>
                  <a:srgbClr val="C00000"/>
                </a:solidFill>
              </a:rPr>
              <a:t>)</a:t>
            </a:r>
            <a:r>
              <a:rPr lang="zh-CN" altLang="en-US" sz="3600" b="1">
                <a:solidFill>
                  <a:srgbClr val="C00000"/>
                </a:solidFill>
              </a:rPr>
              <a:t>的变量</a:t>
            </a:r>
            <a:r>
              <a:rPr lang="en-US" altLang="zh-CN" sz="3600" b="1">
                <a:solidFill>
                  <a:srgbClr val="C00000"/>
                </a:solidFill>
              </a:rPr>
              <a:t>,</a:t>
            </a:r>
            <a:r>
              <a:rPr lang="zh-CN" altLang="en-US" sz="3600" b="1">
                <a:solidFill>
                  <a:srgbClr val="C00000"/>
                </a:solidFill>
              </a:rPr>
              <a:t>地址也必须用基类型相同的指针变量存储</a:t>
            </a:r>
            <a:endParaRPr lang="zh-CN" altLang="zh-CN" sz="4400" dirty="0">
              <a:solidFill>
                <a:srgbClr val="C00000"/>
              </a:solidFill>
            </a:endParaRPr>
          </a:p>
        </p:txBody>
      </p:sp>
      <p:sp>
        <p:nvSpPr>
          <p:cNvPr id="523268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44663" y="779464"/>
            <a:ext cx="360362" cy="300037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03439" y="1196975"/>
            <a:ext cx="8334375" cy="4787900"/>
          </a:xfrm>
        </p:spPr>
        <p:txBody>
          <a:bodyPr/>
          <a:lstStyle/>
          <a:p>
            <a:pPr marL="0" indent="0"/>
            <a:r>
              <a:rPr lang="zh-CN" altLang="zh-CN" sz="2800" b="1" dirty="0"/>
              <a:t>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直接访问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625475" lvl="1" indent="-260350">
              <a:spcBef>
                <a:spcPct val="3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直接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通过变量名</a:t>
            </a:r>
            <a:r>
              <a:rPr lang="zh-CN" altLang="en-US" sz="2400" b="1" dirty="0">
                <a:latin typeface="Courier New" panose="02070309020205020404" pitchFamily="49" charset="0"/>
              </a:rPr>
              <a:t>存取</a:t>
            </a:r>
            <a:r>
              <a:rPr lang="zh-CN" altLang="en-US" sz="2400" b="1" dirty="0">
                <a:latin typeface="Arial" panose="020B0604020202020204" pitchFamily="34" charset="0"/>
              </a:rPr>
              <a:t>变量的值</a:t>
            </a:r>
          </a:p>
          <a:p>
            <a:pPr marL="0" indent="0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       </a:t>
            </a:r>
            <a:r>
              <a:rPr lang="zh-CN" altLang="en-US" sz="2400" b="1" dirty="0"/>
              <a:t>如</a:t>
            </a:r>
            <a:r>
              <a:rPr lang="zh-CN" altLang="zh-CN" sz="2400" b="1" dirty="0">
                <a:latin typeface="Times New Roman" panose="02020603050405020304" pitchFamily="18" charset="0"/>
              </a:rPr>
              <a:t>:   </a:t>
            </a:r>
            <a:r>
              <a:rPr lang="zh-CN" altLang="zh-CN" sz="2400" b="1" dirty="0"/>
              <a:t>i=3</a:t>
            </a:r>
            <a:r>
              <a:rPr lang="zh-CN" altLang="zh-CN" sz="2400" b="1" dirty="0">
                <a:solidFill>
                  <a:schemeClr val="bg2"/>
                </a:solidFill>
              </a:rPr>
              <a:t> </a:t>
            </a: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marL="0" indent="0">
              <a:spcBef>
                <a:spcPct val="65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间接访问</a:t>
            </a:r>
            <a:r>
              <a:rPr lang="zh-CN" altLang="zh-CN" sz="2400" b="1" dirty="0">
                <a:latin typeface="Times New Roman" panose="02020603050405020304" pitchFamily="18" charset="0"/>
              </a:rPr>
              <a:t>:</a:t>
            </a:r>
          </a:p>
          <a:p>
            <a:pPr marL="625475" lvl="1" indent="-260350">
              <a:spcBef>
                <a:spcPct val="3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通过指向某变量的指针变量</a:t>
            </a:r>
            <a:r>
              <a:rPr lang="zh-CN" altLang="en-US" sz="2400" b="1" dirty="0">
                <a:latin typeface="Courier New" panose="02070309020205020404" pitchFamily="49" charset="0"/>
              </a:rPr>
              <a:t>访问</a:t>
            </a:r>
            <a:endParaRPr lang="zh-CN" altLang="en-US" sz="2400" b="1" dirty="0"/>
          </a:p>
          <a:p>
            <a:pPr marL="0" indent="0">
              <a:spcBef>
                <a:spcPct val="50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       如</a:t>
            </a: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zh-CN" sz="2400" b="1" dirty="0"/>
              <a:t>int  i=1</a:t>
            </a:r>
            <a:r>
              <a:rPr lang="zh-CN" altLang="zh-CN" sz="2400" b="1" dirty="0">
                <a:latin typeface="Arial" panose="020B0604020202020204" pitchFamily="34" charset="0"/>
              </a:rPr>
              <a:t>0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dirty="0"/>
              <a:t>x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</a:rPr>
              <a:t>*</a:t>
            </a:r>
            <a:r>
              <a:rPr lang="zh-CN" altLang="zh-CN" sz="2400" b="1" dirty="0"/>
              <a:t>p</a:t>
            </a:r>
            <a:r>
              <a:rPr lang="zh-CN" altLang="zh-CN" sz="2400" b="1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                </a:t>
            </a:r>
            <a:r>
              <a:rPr lang="zh-CN" altLang="zh-CN" sz="2400" b="1" dirty="0">
                <a:solidFill>
                  <a:schemeClr val="bg2"/>
                </a:solidFill>
              </a:rPr>
              <a:t>p=</a:t>
            </a:r>
            <a:r>
              <a:rPr lang="zh-CN" altLang="zh-CN" sz="2400" dirty="0">
                <a:solidFill>
                  <a:schemeClr val="bg2"/>
                </a:solidFill>
              </a:rPr>
              <a:t>&amp;</a:t>
            </a:r>
            <a:r>
              <a:rPr lang="zh-CN" altLang="zh-CN" sz="2400" b="1" dirty="0">
                <a:solidFill>
                  <a:schemeClr val="bg2"/>
                </a:solidFill>
              </a:rPr>
              <a:t>i</a:t>
            </a: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marL="0" indent="0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</a:t>
            </a:r>
            <a:r>
              <a:rPr lang="zh-CN" altLang="zh-CN" sz="2400" b="1" dirty="0"/>
              <a:t>x=</a:t>
            </a:r>
            <a:r>
              <a:rPr lang="zh-CN" altLang="zh-CN" sz="2400" b="1" dirty="0">
                <a:latin typeface="黑体" panose="02010609060101010101" pitchFamily="49" charset="-122"/>
              </a:rPr>
              <a:t>*</a:t>
            </a:r>
            <a:r>
              <a:rPr lang="zh-CN" altLang="zh-CN" sz="2400" b="1" dirty="0"/>
              <a:t>p</a:t>
            </a:r>
            <a:r>
              <a:rPr lang="zh-CN" altLang="zh-CN" sz="2400" b="1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zh-CN" altLang="zh-CN" sz="2800" b="1" dirty="0">
                <a:solidFill>
                  <a:schemeClr val="bg2"/>
                </a:solidFill>
              </a:rPr>
              <a:t>     </a:t>
            </a:r>
            <a:endParaRPr lang="zh-CN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26339" name="Group 3"/>
          <p:cNvGrpSpPr/>
          <p:nvPr/>
        </p:nvGrpSpPr>
        <p:grpSpPr bwMode="auto">
          <a:xfrm>
            <a:off x="7829550" y="1503364"/>
            <a:ext cx="1860550" cy="1139825"/>
            <a:chOff x="0" y="0"/>
            <a:chExt cx="1172" cy="718"/>
          </a:xfrm>
        </p:grpSpPr>
        <p:sp>
          <p:nvSpPr>
            <p:cNvPr id="526340" name="Text Box 4"/>
            <p:cNvSpPr txBox="1">
              <a:spLocks noChangeArrowheads="1"/>
            </p:cNvSpPr>
            <p:nvPr/>
          </p:nvSpPr>
          <p:spPr bwMode="auto">
            <a:xfrm>
              <a:off x="192" y="0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526341" name="Rectangle 5"/>
            <p:cNvSpPr>
              <a:spLocks noChangeArrowheads="1"/>
            </p:cNvSpPr>
            <p:nvPr/>
          </p:nvSpPr>
          <p:spPr bwMode="auto">
            <a:xfrm>
              <a:off x="0" y="240"/>
              <a:ext cx="576" cy="240"/>
            </a:xfrm>
            <a:prstGeom prst="rect">
              <a:avLst/>
            </a:prstGeom>
            <a:noFill/>
            <a:ln w="25400" cap="sq" cmpd="sng">
              <a:solidFill>
                <a:srgbClr val="00A6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26342" name="Text Box 6"/>
            <p:cNvSpPr txBox="1">
              <a:spLocks noChangeArrowheads="1"/>
            </p:cNvSpPr>
            <p:nvPr/>
          </p:nvSpPr>
          <p:spPr bwMode="auto">
            <a:xfrm>
              <a:off x="48" y="468"/>
              <a:ext cx="5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26343" name="Group 7"/>
            <p:cNvGrpSpPr/>
            <p:nvPr/>
          </p:nvGrpSpPr>
          <p:grpSpPr bwMode="auto">
            <a:xfrm>
              <a:off x="576" y="240"/>
              <a:ext cx="596" cy="288"/>
              <a:chOff x="0" y="0"/>
              <a:chExt cx="596" cy="288"/>
            </a:xfrm>
          </p:grpSpPr>
          <p:sp>
            <p:nvSpPr>
              <p:cNvPr id="526344" name="Line 8"/>
              <p:cNvSpPr>
                <a:spLocks noChangeShapeType="1"/>
              </p:cNvSpPr>
              <p:nvPr/>
            </p:nvSpPr>
            <p:spPr bwMode="auto">
              <a:xfrm flipH="1">
                <a:off x="0" y="144"/>
                <a:ext cx="336" cy="0"/>
              </a:xfrm>
              <a:prstGeom prst="line">
                <a:avLst/>
              </a:prstGeom>
              <a:noFill/>
              <a:ln w="38100" cap="sq" cmpd="sng">
                <a:solidFill>
                  <a:srgbClr val="FF6600"/>
                </a:solidFill>
                <a:rou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526345" name="Text Box 9"/>
              <p:cNvSpPr txBox="1">
                <a:spLocks noChangeArrowheads="1"/>
              </p:cNvSpPr>
              <p:nvPr/>
            </p:nvSpPr>
            <p:spPr bwMode="auto">
              <a:xfrm>
                <a:off x="384" y="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</p:grpSp>
      <p:sp>
        <p:nvSpPr>
          <p:cNvPr id="526346" name="Rectangle 10"/>
          <p:cNvSpPr>
            <a:spLocks noChangeArrowheads="1"/>
          </p:cNvSpPr>
          <p:nvPr/>
        </p:nvSpPr>
        <p:spPr bwMode="auto">
          <a:xfrm>
            <a:off x="2381250" y="254001"/>
            <a:ext cx="3875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Courier New" panose="02070309020205020404" pitchFamily="49" charset="0"/>
              </a:rPr>
              <a:t>对内存单元的访问方式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526347" name="Picture 11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938" y="6273800"/>
            <a:ext cx="182562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6348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25" y="3968750"/>
            <a:ext cx="4573588" cy="22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250" y="404813"/>
            <a:ext cx="6408738" cy="715962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指针变量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3426" y="1905000"/>
            <a:ext cx="5832475" cy="4032250"/>
          </a:xfrm>
        </p:spPr>
        <p:txBody>
          <a:bodyPr/>
          <a:lstStyle/>
          <a:p>
            <a:pPr marL="812800" indent="-812800">
              <a:spcBef>
                <a:spcPct val="100000"/>
              </a:spcBef>
              <a:buNone/>
            </a:pPr>
            <a:r>
              <a:rPr lang="en-US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7.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2</a:t>
            </a:r>
            <a:r>
              <a:rPr lang="zh-CN" altLang="zh-CN" sz="2800" b="1" dirty="0">
                <a:solidFill>
                  <a:srgbClr val="00009E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1  </a:t>
            </a:r>
            <a:r>
              <a:rPr lang="zh-CN" altLang="en-US" sz="2800" b="1" dirty="0">
                <a:solidFill>
                  <a:srgbClr val="00009E"/>
                </a:solidFill>
                <a:latin typeface="Courier New" panose="02070309020205020404" pitchFamily="49" charset="0"/>
                <a:ea typeface="黑体" panose="02010609060101010101" pitchFamily="49" charset="-122"/>
                <a:hlinkClick r:id="rId3" action="ppaction://hlinksldjump"/>
              </a:rPr>
              <a:t>指针变量的定义</a:t>
            </a:r>
            <a:endParaRPr lang="zh-CN" altLang="en-US" sz="2800" b="1" dirty="0">
              <a:solidFill>
                <a:srgbClr val="00009E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  <a:p>
            <a:pPr marL="812800" indent="-812800">
              <a:spcBef>
                <a:spcPct val="80000"/>
              </a:spcBef>
              <a:buNone/>
            </a:pPr>
            <a:r>
              <a:rPr lang="en-US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7.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2</a:t>
            </a:r>
            <a:r>
              <a:rPr lang="zh-CN" altLang="zh-CN" sz="2800" b="1" dirty="0">
                <a:solidFill>
                  <a:srgbClr val="00009E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2  </a:t>
            </a:r>
            <a:r>
              <a:rPr lang="zh-CN" altLang="en-US" sz="2800" b="1" dirty="0">
                <a:solidFill>
                  <a:srgbClr val="00009E"/>
                </a:solidFill>
                <a:latin typeface="Courier New" panose="02070309020205020404" pitchFamily="49" charset="0"/>
                <a:ea typeface="黑体" panose="02010609060101010101" pitchFamily="49" charset="-122"/>
                <a:hlinkClick r:id="rId4" action="ppaction://hlinksldjump"/>
              </a:rPr>
              <a:t>指针变量的引用</a:t>
            </a:r>
            <a:endParaRPr lang="zh-CN" altLang="en-US" sz="2800" b="1" dirty="0">
              <a:solidFill>
                <a:srgbClr val="00009E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  <a:p>
            <a:pPr marL="812800" indent="-812800">
              <a:spcBef>
                <a:spcPct val="80000"/>
              </a:spcBef>
              <a:buNone/>
            </a:pPr>
            <a:r>
              <a:rPr lang="en-US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7.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2</a:t>
            </a:r>
            <a:r>
              <a:rPr lang="zh-CN" altLang="zh-CN" sz="2800" b="1" dirty="0">
                <a:solidFill>
                  <a:srgbClr val="00009E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3  </a:t>
            </a:r>
            <a:r>
              <a:rPr lang="zh-CN" altLang="en-US" sz="2800" b="1" dirty="0">
                <a:solidFill>
                  <a:srgbClr val="00009E"/>
                </a:solidFill>
                <a:latin typeface="Courier New" panose="02070309020205020404" pitchFamily="49" charset="0"/>
                <a:ea typeface="黑体" panose="02010609060101010101" pitchFamily="49" charset="-122"/>
                <a:hlinkClick r:id="rId5" action="ppaction://hlinksldjump"/>
              </a:rPr>
              <a:t>指针变量的初始化</a:t>
            </a:r>
            <a:endParaRPr lang="zh-CN" altLang="en-US" sz="2800" b="1" dirty="0">
              <a:solidFill>
                <a:srgbClr val="00009E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  <a:p>
            <a:pPr marL="812800" indent="-812800">
              <a:spcBef>
                <a:spcPct val="80000"/>
              </a:spcBef>
              <a:buNone/>
            </a:pPr>
            <a:r>
              <a:rPr lang="en-US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7.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2</a:t>
            </a:r>
            <a:r>
              <a:rPr lang="zh-CN" altLang="zh-CN" sz="2800" b="1" dirty="0">
                <a:solidFill>
                  <a:srgbClr val="00009E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b="1" dirty="0">
                <a:solidFill>
                  <a:srgbClr val="00009E"/>
                </a:solidFill>
                <a:latin typeface="Courier New" panose="02070309020205020404" pitchFamily="49" charset="0"/>
              </a:rPr>
              <a:t>4  </a:t>
            </a:r>
            <a:r>
              <a:rPr lang="zh-CN" altLang="en-US" sz="2800" b="1" dirty="0">
                <a:solidFill>
                  <a:srgbClr val="00009E"/>
                </a:solidFill>
                <a:latin typeface="Courier New" panose="02070309020205020404" pitchFamily="49" charset="0"/>
                <a:ea typeface="黑体" panose="02010609060101010101" pitchFamily="49" charset="-122"/>
                <a:hlinkClick r:id="rId6" action="ppaction://hlinksldjump"/>
              </a:rPr>
              <a:t>指针变量作为函数参数</a:t>
            </a:r>
            <a:endParaRPr lang="zh-CN" b="1" dirty="0">
              <a:solidFill>
                <a:srgbClr val="00009E"/>
              </a:solidFill>
              <a:ea typeface="黑体" panose="02010609060101010101" pitchFamily="49" charset="-122"/>
            </a:endParaRPr>
          </a:p>
        </p:txBody>
      </p:sp>
      <p:pic>
        <p:nvPicPr>
          <p:cNvPr id="527364" name="Picture 4" descr="b14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1" y="6248400"/>
            <a:ext cx="18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71839" y="93663"/>
            <a:ext cx="6173787" cy="715962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2.1 </a:t>
            </a:r>
            <a:r>
              <a:rPr lang="zh-CN" altLang="en-US" sz="3600" dirty="0">
                <a:latin typeface="楷体_GB2312" pitchFamily="49" charset="-122"/>
              </a:rPr>
              <a:t>指针变量的定义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2325" y="1190626"/>
            <a:ext cx="8521700" cy="4551363"/>
          </a:xfrm>
        </p:spPr>
        <p:txBody>
          <a:bodyPr/>
          <a:lstStyle/>
          <a:p>
            <a:pPr marL="274955" indent="-274955">
              <a:lnSpc>
                <a:spcPct val="125000"/>
              </a:lnSpc>
            </a:pPr>
            <a:r>
              <a:rPr lang="zh-CN" altLang="en-US" sz="2800" b="1"/>
              <a:t>格式</a:t>
            </a:r>
            <a:r>
              <a:rPr lang="zh-CN" altLang="zh-CN" sz="2800" b="1">
                <a:latin typeface="Times New Roman" panose="02020603050405020304" pitchFamily="18" charset="0"/>
              </a:rPr>
              <a:t>:</a:t>
            </a:r>
          </a:p>
          <a:p>
            <a:pPr marL="274955" indent="-274955">
              <a:lnSpc>
                <a:spcPct val="125000"/>
              </a:lnSpc>
              <a:buNone/>
            </a:pPr>
            <a:r>
              <a:rPr lang="zh-CN" altLang="zh-CN" sz="2800" b="1">
                <a:solidFill>
                  <a:srgbClr val="FF0000"/>
                </a:solidFill>
                <a:latin typeface="黑体" panose="02010609060101010101" pitchFamily="49" charset="-122"/>
              </a:rPr>
              <a:t>      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</a:rPr>
              <a:t>类型说明符  </a:t>
            </a:r>
            <a:r>
              <a:rPr lang="zh-CN" altLang="en-US" sz="2800" b="1">
                <a:latin typeface="黑体" panose="02010609060101010101" pitchFamily="49" charset="-122"/>
              </a:rPr>
              <a:t>*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</a:rPr>
              <a:t>指针变量名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25000"/>
              </a:lnSpc>
              <a:buNone/>
            </a:pPr>
            <a:r>
              <a:rPr lang="zh-CN" altLang="zh-CN" sz="2800" b="1">
                <a:latin typeface="黑体" panose="02010609060101010101" pitchFamily="49" charset="-122"/>
              </a:rPr>
              <a:t>   </a:t>
            </a:r>
            <a:r>
              <a:rPr lang="zh-CN" altLang="zh-CN" sz="2000" b="1">
                <a:latin typeface="黑体" panose="02010609060101010101" pitchFamily="49" charset="-122"/>
              </a:rPr>
              <a:t> </a:t>
            </a:r>
            <a:r>
              <a:rPr lang="zh-CN" altLang="en-US" sz="2800" b="1">
                <a:latin typeface="黑体" panose="02010609060101010101" pitchFamily="49" charset="-122"/>
              </a:rPr>
              <a:t>如</a:t>
            </a:r>
            <a:r>
              <a:rPr lang="zh-CN" altLang="zh-CN" sz="2800" b="1">
                <a:latin typeface="Times New Roman" panose="02020603050405020304" pitchFamily="18" charset="0"/>
              </a:rPr>
              <a:t>:</a:t>
            </a:r>
            <a:br>
              <a:rPr lang="zh-CN" altLang="zh-CN" sz="2800" b="1">
                <a:latin typeface="黑体" panose="02010609060101010101" pitchFamily="49" charset="-122"/>
              </a:rPr>
            </a:br>
            <a:r>
              <a:rPr lang="zh-CN" altLang="zh-CN" sz="2800" b="1"/>
              <a:t>         </a:t>
            </a:r>
            <a:r>
              <a:rPr lang="zh-CN" altLang="zh-CN" sz="2800" b="1">
                <a:latin typeface="Arial" panose="020B0604020202020204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黑体" panose="02010609060101010101" pitchFamily="49" charset="-122"/>
              </a:rPr>
              <a:t>*</a:t>
            </a:r>
            <a:r>
              <a:rPr lang="zh-CN" altLang="zh-CN" sz="2800" b="1">
                <a:latin typeface="Arial" panose="020B0604020202020204" pitchFamily="34" charset="0"/>
              </a:rPr>
              <a:t>p1</a:t>
            </a:r>
            <a:r>
              <a:rPr lang="zh-CN" altLang="zh-CN" sz="2800" b="1">
                <a:latin typeface="Times New Roman" panose="02020603050405020304" pitchFamily="18" charset="0"/>
              </a:rPr>
              <a:t>; </a:t>
            </a:r>
            <a:r>
              <a:rPr lang="zh-CN" altLang="zh-CN" sz="2800" b="1"/>
              <a:t>   </a:t>
            </a:r>
            <a:r>
              <a:rPr lang="zh-CN" altLang="zh-CN" sz="2400"/>
              <a:t>//</a:t>
            </a:r>
            <a:r>
              <a:rPr lang="zh-CN" altLang="en-US" sz="2400" b="1"/>
              <a:t>定义</a:t>
            </a:r>
            <a:r>
              <a:rPr lang="zh-CN" altLang="zh-CN" sz="2400" b="1">
                <a:latin typeface="Arial" panose="020B0604020202020204" pitchFamily="34" charset="0"/>
              </a:rPr>
              <a:t>p1</a:t>
            </a:r>
            <a:r>
              <a:rPr lang="zh-CN" altLang="en-US" sz="2400" b="1"/>
              <a:t>为指向整型变量的指针变量</a:t>
            </a:r>
          </a:p>
          <a:p>
            <a:pPr marL="274955" indent="-274955">
              <a:lnSpc>
                <a:spcPct val="125000"/>
              </a:lnSpc>
              <a:spcBef>
                <a:spcPct val="40000"/>
              </a:spcBef>
              <a:buNone/>
            </a:pPr>
            <a:r>
              <a:rPr lang="zh-CN" altLang="en-US" sz="2400" b="1"/>
              <a:t>             </a:t>
            </a:r>
            <a:r>
              <a:rPr lang="zh-CN" altLang="zh-CN" sz="2800" b="1">
                <a:latin typeface="Arial" panose="020B0604020202020204" pitchFamily="34" charset="0"/>
              </a:rPr>
              <a:t>char</a:t>
            </a:r>
            <a:r>
              <a:rPr lang="zh-CN" altLang="zh-CN" sz="2800" b="1"/>
              <a:t>  </a:t>
            </a:r>
            <a:r>
              <a:rPr lang="zh-CN" altLang="zh-CN" sz="2800" b="1">
                <a:latin typeface="黑体" panose="02010609060101010101" pitchFamily="49" charset="-122"/>
              </a:rPr>
              <a:t>*</a:t>
            </a:r>
            <a:r>
              <a:rPr lang="zh-CN" altLang="zh-CN" sz="2800" b="1">
                <a:latin typeface="Arial" panose="020B0604020202020204" pitchFamily="34" charset="0"/>
              </a:rPr>
              <a:t>p2</a:t>
            </a:r>
            <a:r>
              <a:rPr lang="zh-CN" altLang="zh-CN" sz="2800" b="1">
                <a:latin typeface="Times New Roman" panose="02020603050405020304" pitchFamily="18" charset="0"/>
              </a:rPr>
              <a:t>; </a:t>
            </a:r>
            <a:r>
              <a:rPr lang="zh-CN" altLang="zh-CN" sz="2800">
                <a:latin typeface="Times New Roman" panose="02020603050405020304" pitchFamily="18" charset="0"/>
              </a:rPr>
              <a:t> </a:t>
            </a:r>
            <a:r>
              <a:rPr lang="zh-CN" altLang="zh-CN" sz="2400"/>
              <a:t>//</a:t>
            </a:r>
            <a:r>
              <a:rPr lang="zh-CN" altLang="en-US" sz="2400" b="1"/>
              <a:t>定义</a:t>
            </a:r>
            <a:r>
              <a:rPr lang="zh-CN" altLang="zh-CN" sz="2400" b="1">
                <a:latin typeface="Arial" panose="020B0604020202020204" pitchFamily="34" charset="0"/>
              </a:rPr>
              <a:t>p2</a:t>
            </a:r>
            <a:r>
              <a:rPr lang="zh-CN" altLang="en-US" sz="2400" b="1"/>
              <a:t>为指向字符变量的指针变量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marL="274955" indent="-274955">
              <a:buNone/>
            </a:pPr>
            <a:endParaRPr lang="zh-CN" altLang="zh-CN" sz="2800" b="1"/>
          </a:p>
        </p:txBody>
      </p:sp>
      <p:sp>
        <p:nvSpPr>
          <p:cNvPr id="528388" name="Rectangle 4"/>
          <p:cNvSpPr>
            <a:spLocks noChangeArrowheads="1"/>
          </p:cNvSpPr>
          <p:nvPr/>
        </p:nvSpPr>
        <p:spPr bwMode="auto">
          <a:xfrm>
            <a:off x="2133601" y="4643439"/>
            <a:ext cx="8353425" cy="151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1780" indent="-27178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指针变量前的类型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是指针变量所指向的变量的类型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一般称为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基类型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271780" indent="-27178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而不是自身的类型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其自身类型都是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指针型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个字节。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32050" y="66676"/>
            <a:ext cx="4648200" cy="715963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9939" y="1208088"/>
            <a:ext cx="8193087" cy="4514850"/>
          </a:xfrm>
        </p:spPr>
        <p:txBody>
          <a:bodyPr/>
          <a:lstStyle/>
          <a:p>
            <a:pPr>
              <a:buSzPct val="85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1)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</a:rPr>
              <a:t>在指针定义中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</a:rPr>
              <a:t>一个*号只表示定义一个指针</a:t>
            </a:r>
            <a:r>
              <a:rPr lang="zh-CN" altLang="en-US" sz="2400" b="1" dirty="0">
                <a:solidFill>
                  <a:schemeClr val="bg2"/>
                </a:solidFill>
                <a:latin typeface="黑体" panose="02010609060101010101" pitchFamily="49" charset="-122"/>
              </a:rPr>
              <a:t>。</a:t>
            </a:r>
          </a:p>
          <a:p>
            <a:pPr>
              <a:spcBef>
                <a:spcPct val="65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黑体" panose="02010609060101010101" pitchFamily="49" charset="-122"/>
              </a:rPr>
              <a:t>    如     </a:t>
            </a:r>
            <a:r>
              <a:rPr lang="zh-CN" altLang="zh-CN" sz="2400" b="1" dirty="0">
                <a:solidFill>
                  <a:schemeClr val="bg2"/>
                </a:solidFill>
              </a:rPr>
              <a:t>int  </a:t>
            </a:r>
            <a:r>
              <a:rPr lang="zh-CN" altLang="zh-CN" sz="2400" b="1" dirty="0">
                <a:solidFill>
                  <a:schemeClr val="bg2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400" b="1" dirty="0">
                <a:solidFill>
                  <a:schemeClr val="bg2"/>
                </a:solidFill>
              </a:rPr>
              <a:t>p1</a:t>
            </a: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 dirty="0">
                <a:solidFill>
                  <a:schemeClr val="bg2"/>
                </a:solidFill>
              </a:rPr>
              <a:t> p2 </a:t>
            </a: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chemeClr val="bg2"/>
                </a:solidFill>
              </a:rPr>
              <a:t>       </a:t>
            </a:r>
            <a:r>
              <a:rPr lang="zh-CN" altLang="en-US" sz="2400" b="1" dirty="0"/>
              <a:t>则</a:t>
            </a:r>
            <a:r>
              <a:rPr lang="zh-CN" altLang="zh-CN" sz="2400" b="1" dirty="0">
                <a:solidFill>
                  <a:schemeClr val="bg2"/>
                </a:solidFill>
              </a:rPr>
              <a:t>p2</a:t>
            </a:r>
            <a:r>
              <a:rPr lang="zh-CN" altLang="en-US" sz="2400" b="1" dirty="0">
                <a:solidFill>
                  <a:schemeClr val="bg2"/>
                </a:solidFill>
              </a:rPr>
              <a:t>被定义为整型变量而非整型指针变量</a:t>
            </a:r>
          </a:p>
          <a:p>
            <a:pPr>
              <a:buFont typeface="Wingdings" panose="05000000000000000000" pitchFamily="2" charset="2"/>
              <a:buNone/>
            </a:pPr>
            <a:endParaRPr lang="zh-CN" altLang="zh-CN" sz="2400" b="1" dirty="0">
              <a:solidFill>
                <a:schemeClr val="bg2"/>
              </a:solidFill>
            </a:endParaRPr>
          </a:p>
        </p:txBody>
      </p:sp>
      <p:sp>
        <p:nvSpPr>
          <p:cNvPr id="530436" name="Text Box 4"/>
          <p:cNvSpPr txBox="1">
            <a:spLocks noChangeArrowheads="1"/>
          </p:cNvSpPr>
          <p:nvPr/>
        </p:nvSpPr>
        <p:spPr bwMode="auto">
          <a:xfrm>
            <a:off x="2359025" y="2498726"/>
            <a:ext cx="7854950" cy="1532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定义多个指针变量时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</a:rPr>
              <a:t>每个变量前都必须有</a:t>
            </a:r>
            <a:r>
              <a:rPr lang="zh-CN" altLang="en-US" sz="1600" b="1">
                <a:solidFill>
                  <a:srgbClr val="000000"/>
                </a:solidFill>
                <a:latin typeface="黑体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</a:rPr>
              <a:t>*</a:t>
            </a:r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</a:rPr>
              <a:t>。</a:t>
            </a: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               </a:t>
            </a:r>
            <a:r>
              <a:rPr lang="zh-CN" altLang="zh-CN" sz="2400" b="1">
                <a:solidFill>
                  <a:srgbClr val="000000"/>
                </a:solidFill>
              </a:rPr>
              <a:t>int  </a:t>
            </a:r>
            <a:r>
              <a:rPr lang="zh-CN" altLang="zh-CN" sz="2400" b="1">
                <a:solidFill>
                  <a:srgbClr val="FF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00"/>
                </a:solidFill>
              </a:rPr>
              <a:t>p1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>
                <a:solidFill>
                  <a:srgbClr val="000000"/>
                </a:solidFill>
              </a:rPr>
              <a:t> </a:t>
            </a:r>
            <a:r>
              <a:rPr lang="zh-CN" altLang="zh-CN" sz="2400" b="1">
                <a:solidFill>
                  <a:srgbClr val="FF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00"/>
                </a:solidFill>
              </a:rPr>
              <a:t>p2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0437" name="Rectangle 5"/>
          <p:cNvSpPr>
            <a:spLocks noChangeArrowheads="1"/>
          </p:cNvSpPr>
          <p:nvPr/>
        </p:nvSpPr>
        <p:spPr bwMode="auto">
          <a:xfrm>
            <a:off x="2044701" y="3656014"/>
            <a:ext cx="8766175" cy="291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74955" indent="-274955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</a:rPr>
              <a:t>指针变量中只能存放地址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</a:rPr>
              <a:t>指针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), </a:t>
            </a:r>
            <a:r>
              <a:rPr lang="zh-CN" altLang="en-US" sz="2400" b="1" dirty="0">
                <a:solidFill>
                  <a:srgbClr val="000000"/>
                </a:solidFill>
              </a:rPr>
              <a:t>不能和整型变量混淆。如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marL="274955" indent="-274955" fontAlgn="base">
              <a:lnSpc>
                <a:spcPct val="120000"/>
              </a:lnSpc>
              <a:spcBef>
                <a:spcPct val="45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400" b="1" dirty="0">
                <a:solidFill>
                  <a:srgbClr val="000000"/>
                </a:solidFill>
              </a:rPr>
              <a:t>                 int  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400" b="1" dirty="0">
                <a:solidFill>
                  <a:srgbClr val="000000"/>
                </a:solidFill>
              </a:rPr>
              <a:t>ip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zh-CN" altLang="zh-CN" sz="2400" b="1" dirty="0">
                <a:solidFill>
                  <a:srgbClr val="000000"/>
                </a:solidFill>
              </a:rPr>
              <a:t>   </a:t>
            </a:r>
          </a:p>
          <a:p>
            <a:pPr marL="274955" indent="-274955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400" b="1" dirty="0">
                <a:solidFill>
                  <a:srgbClr val="000000"/>
                </a:solidFill>
              </a:rPr>
              <a:t>                 ip = 1</a:t>
            </a:r>
            <a:r>
              <a:rPr lang="zh-CN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000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ip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将指向地址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1000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的内存区域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可通过</a:t>
            </a:r>
            <a:r>
              <a:rPr lang="en-US" altLang="zh-CN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ip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274955" indent="-274955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                         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改写该区域的内容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危险操作</a:t>
            </a:r>
            <a:endParaRPr lang="zh-CN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274955" indent="-274955"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400" b="1" dirty="0">
                <a:solidFill>
                  <a:srgbClr val="000000"/>
                </a:solidFill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</a:rPr>
              <a:t>指针变量可取值为</a:t>
            </a:r>
            <a:r>
              <a:rPr lang="zh-CN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NULL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), </a:t>
            </a:r>
            <a:r>
              <a:rPr lang="zh-CN" altLang="en-US" sz="2400" b="1" dirty="0">
                <a:solidFill>
                  <a:srgbClr val="000000"/>
                </a:solidFill>
              </a:rPr>
              <a:t>表示该指针变量不指向任何变量</a:t>
            </a:r>
            <a:r>
              <a:rPr lang="zh-CN" altLang="en-US" sz="1600" b="1" dirty="0">
                <a:solidFill>
                  <a:srgbClr val="000000"/>
                </a:solidFill>
              </a:rPr>
              <a:t>。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530438" name="Text Box 6"/>
          <p:cNvSpPr txBox="1">
            <a:spLocks noChangeArrowheads="1"/>
          </p:cNvSpPr>
          <p:nvPr/>
        </p:nvSpPr>
        <p:spPr bwMode="auto">
          <a:xfrm>
            <a:off x="4413250" y="4737316"/>
            <a:ext cx="685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6" grpId="0" build="p" animBg="1" autoUpdateAnimBg="0"/>
      <p:bldP spid="530437" grpId="0" autoUpdateAnimBg="0"/>
      <p:bldP spid="530438" grpId="0" build="allAtOnce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4113" y="60326"/>
            <a:ext cx="6096000" cy="715963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4851" y="1289050"/>
            <a:ext cx="8316913" cy="5197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3) </a:t>
            </a:r>
            <a:r>
              <a:rPr lang="zh-CN" altLang="en-US" sz="2400" b="1" dirty="0">
                <a:latin typeface="黑体" panose="02010609060101010101" pitchFamily="49" charset="-122"/>
              </a:rPr>
              <a:t>指针变量的类型与它所指向变量的类型</a:t>
            </a: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</a:rPr>
              <a:t>必须一致</a:t>
            </a:r>
            <a:r>
              <a:rPr lang="zh-CN" altLang="en-US" sz="2400" b="1" dirty="0">
                <a:latin typeface="黑体" panose="02010609060101010101" pitchFamily="49" charset="-122"/>
              </a:rPr>
              <a:t>。</a:t>
            </a:r>
          </a:p>
          <a:p>
            <a:pPr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</a:rPr>
              <a:t>   如</a:t>
            </a:r>
            <a:r>
              <a:rPr lang="zh-CN" altLang="zh-CN" sz="2400" b="1" dirty="0">
                <a:latin typeface="Times New Roman" panose="02020603050405020304" pitchFamily="18" charset="0"/>
              </a:rPr>
              <a:t>:</a:t>
            </a:r>
            <a:r>
              <a:rPr lang="zh-CN" altLang="zh-CN" sz="2400" b="1" dirty="0">
                <a:latin typeface="黑体" panose="02010609060101010101" pitchFamily="49" charset="-122"/>
              </a:rPr>
              <a:t> </a:t>
            </a:r>
            <a:endParaRPr lang="en-US" altLang="zh-CN" sz="2400" b="1" dirty="0">
              <a:latin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</a:rPr>
              <a:t>    </a:t>
            </a:r>
            <a:r>
              <a:rPr lang="zh-CN" altLang="zh-CN" sz="2400" b="1" dirty="0"/>
              <a:t>main</a:t>
            </a:r>
            <a:r>
              <a:rPr lang="zh-CN" altLang="zh-CN" sz="2400" b="1" dirty="0">
                <a:latin typeface="Times New Roman" panose="02020603050405020304" pitchFamily="18" charset="0"/>
              </a:rPr>
              <a:t>( )</a:t>
            </a:r>
          </a:p>
          <a:p>
            <a:pPr>
              <a:spcBef>
                <a:spcPct val="30000"/>
              </a:spcBef>
              <a:buNone/>
            </a:pPr>
            <a:r>
              <a:rPr lang="zh-CN" altLang="zh-CN" sz="2400" b="1" dirty="0"/>
              <a:t>        {</a:t>
            </a:r>
            <a:endParaRPr lang="en-US" altLang="zh-CN" sz="2400" b="1" dirty="0"/>
          </a:p>
          <a:p>
            <a:pPr>
              <a:spcBef>
                <a:spcPct val="30000"/>
              </a:spcBef>
              <a:buNone/>
            </a:pPr>
            <a:r>
              <a:rPr lang="en-US" altLang="zh-CN" sz="2400" b="1" dirty="0"/>
              <a:t>	      short *p ;          //</a:t>
            </a:r>
            <a:r>
              <a:rPr lang="zh-CN" altLang="en-US" sz="2400" b="1" dirty="0"/>
              <a:t>定义</a:t>
            </a:r>
            <a:r>
              <a:rPr lang="en-US" altLang="zh-CN" sz="2400" b="1" dirty="0"/>
              <a:t>p1</a:t>
            </a:r>
            <a:r>
              <a:rPr lang="zh-CN" altLang="en-US" sz="2400" b="1" dirty="0"/>
              <a:t>应指向一个整型变量</a:t>
            </a:r>
          </a:p>
          <a:p>
            <a:pPr>
              <a:spcBef>
                <a:spcPct val="30000"/>
              </a:spcBef>
              <a:buNone/>
            </a:pPr>
            <a:r>
              <a:rPr lang="zh-CN" altLang="en-US" sz="2400" b="1" dirty="0"/>
              <a:t>	      </a:t>
            </a:r>
            <a:r>
              <a:rPr lang="en-US" altLang="zh-CN" sz="2400" b="1" dirty="0"/>
              <a:t>int  x=65536 ;</a:t>
            </a:r>
          </a:p>
          <a:p>
            <a:pPr>
              <a:spcBef>
                <a:spcPct val="30000"/>
              </a:spcBef>
              <a:buNone/>
            </a:pPr>
            <a:r>
              <a:rPr lang="en-US" altLang="zh-CN" sz="2400" b="1" dirty="0"/>
              <a:t>	      p=&amp;x ;            //</a:t>
            </a:r>
            <a:r>
              <a:rPr lang="zh-CN" altLang="en-US" sz="2400" b="1" dirty="0"/>
              <a:t>将一个整形变量的地址赋给</a:t>
            </a:r>
            <a:r>
              <a:rPr lang="en-US" altLang="zh-CN" sz="2400" b="1" dirty="0"/>
              <a:t>p</a:t>
            </a:r>
          </a:p>
          <a:p>
            <a:pPr>
              <a:spcBef>
                <a:spcPct val="30000"/>
              </a:spcBef>
              <a:buNone/>
            </a:pPr>
            <a:r>
              <a:rPr lang="en-US" altLang="zh-CN" sz="2400" b="1" dirty="0"/>
              <a:t>	      printf("%d\n", *p) ;</a:t>
            </a:r>
          </a:p>
          <a:p>
            <a:pPr>
              <a:spcBef>
                <a:spcPct val="30000"/>
              </a:spcBef>
              <a:buNone/>
            </a:pPr>
            <a:r>
              <a:rPr lang="en-US" altLang="zh-CN" sz="2400" b="1" dirty="0"/>
              <a:t>         }</a:t>
            </a:r>
          </a:p>
          <a:p>
            <a:pPr>
              <a:lnSpc>
                <a:spcPct val="105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Times New Roman" panose="02020603050405020304" pitchFamily="18" charset="0"/>
              </a:rPr>
              <a:t>   </a:t>
            </a:r>
            <a:endParaRPr lang="zh-CN" altLang="zh-CN" sz="2400" b="1" dirty="0">
              <a:latin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zh-CN" sz="2400" b="1" dirty="0">
              <a:latin typeface="黑体" panose="02010609060101010101" pitchFamily="49" charset="-122"/>
            </a:endParaRPr>
          </a:p>
        </p:txBody>
      </p:sp>
      <p:sp>
        <p:nvSpPr>
          <p:cNvPr id="532484" name="Text Box 4"/>
          <p:cNvSpPr txBox="1">
            <a:spLocks noChangeArrowheads="1"/>
          </p:cNvSpPr>
          <p:nvPr/>
        </p:nvSpPr>
        <p:spPr bwMode="auto">
          <a:xfrm>
            <a:off x="2103985" y="5813684"/>
            <a:ext cx="7745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只能指向短整型变量</a:t>
            </a:r>
          </a:p>
        </p:txBody>
      </p:sp>
      <p:sp>
        <p:nvSpPr>
          <p:cNvPr id="532485" name="Text Box 5"/>
          <p:cNvSpPr txBox="1">
            <a:spLocks noChangeArrowheads="1"/>
          </p:cNvSpPr>
          <p:nvPr/>
        </p:nvSpPr>
        <p:spPr bwMode="auto">
          <a:xfrm>
            <a:off x="2207568" y="4293097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×</a:t>
            </a:r>
          </a:p>
        </p:txBody>
      </p:sp>
      <p:pic>
        <p:nvPicPr>
          <p:cNvPr id="532486" name="Picture 6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1" y="64008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4" grpId="0" build="p" autoUpdateAnimBg="0"/>
      <p:bldP spid="53248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452814" y="233363"/>
            <a:ext cx="5545137" cy="715962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2.2 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指针变量的引用</a:t>
            </a:r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9626" y="1516063"/>
            <a:ext cx="8137525" cy="4216400"/>
          </a:xfrm>
        </p:spPr>
        <p:txBody>
          <a:bodyPr/>
          <a:lstStyle/>
          <a:p>
            <a:pPr marL="357505" indent="-357505">
              <a:lnSpc>
                <a:spcPct val="115000"/>
              </a:lnSpc>
              <a:buClr>
                <a:srgbClr val="008000"/>
              </a:buClr>
              <a:buSzPct val="85000"/>
              <a:buFont typeface="Wingdings" panose="05000000000000000000" pitchFamily="2" charset="2"/>
              <a:buChar char="&amp;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语言中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ea typeface="黑体" panose="02010609060101010101" pitchFamily="49" charset="-122"/>
              </a:rPr>
              <a:t>指针变量可以通过一对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互逆</a:t>
            </a:r>
            <a:r>
              <a:rPr lang="zh-CN" altLang="en-US" sz="2800" b="1" dirty="0">
                <a:ea typeface="黑体" panose="02010609060101010101" pitchFamily="49" charset="-122"/>
              </a:rPr>
              <a:t>的运算符进行引用。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800100" lvl="1" indent="-263525">
              <a:spcBef>
                <a:spcPct val="95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取地址运算符── 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&amp;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endParaRPr lang="zh-CN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  <a:p>
            <a:pPr marL="800100" lvl="1" indent="-263525">
              <a:spcBef>
                <a:spcPct val="8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引用运算符 ── 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</a:p>
          <a:p>
            <a:pPr marL="357505" indent="-357505">
              <a:buClr>
                <a:srgbClr val="009900"/>
              </a:buClr>
              <a:buSzPct val="85000"/>
              <a:buFont typeface="Wingdings" panose="05000000000000000000" pitchFamily="2" charset="2"/>
              <a:buChar char="Ø"/>
            </a:pP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57505" indent="-357505">
              <a:spcBef>
                <a:spcPct val="40000"/>
              </a:spcBef>
              <a:buNone/>
            </a:pPr>
            <a:r>
              <a:rPr lang="zh-CN" b="1" dirty="0">
                <a:ea typeface="黑体" panose="02010609060101010101" pitchFamily="49" charset="-122"/>
              </a:rPr>
              <a:t>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4588" y="115888"/>
            <a:ext cx="6781800" cy="715962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  <a:r>
              <a:rPr lang="zh-CN" altLang="zh-CN" sz="2800" b="0">
                <a:ea typeface="黑体" panose="02010609060101010101" pitchFamily="49" charset="-122"/>
              </a:rPr>
              <a:t> </a:t>
            </a:r>
            <a:r>
              <a:rPr lang="zh-CN" altLang="zh-CN" sz="28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&amp;</a:t>
            </a:r>
            <a:r>
              <a:rPr lang="zh-CN" altLang="zh-CN" sz="2800">
                <a:solidFill>
                  <a:srgbClr val="FF33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0">
                <a:solidFill>
                  <a:schemeClr val="tx1"/>
                </a:solidFill>
                <a:ea typeface="黑体" panose="02010609060101010101" pitchFamily="49" charset="-122"/>
              </a:rPr>
              <a:t>─  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取地址运算符</a:t>
            </a:r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1688" y="1285876"/>
            <a:ext cx="8177212" cy="4475163"/>
          </a:xfrm>
        </p:spPr>
        <p:txBody>
          <a:bodyPr/>
          <a:lstStyle/>
          <a:p>
            <a:pPr marL="274955" indent="-274955">
              <a:spcBef>
                <a:spcPct val="40000"/>
              </a:spcBef>
            </a:pPr>
            <a:r>
              <a:rPr lang="zh-CN" altLang="en-US" sz="2800" b="1" dirty="0"/>
              <a:t>作用</a:t>
            </a:r>
            <a:r>
              <a:rPr lang="zh-CN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zh-CN" sz="2800" b="1" dirty="0"/>
              <a:t> </a:t>
            </a:r>
            <a:r>
              <a:rPr lang="zh-CN" altLang="en-US" sz="2800" b="1" dirty="0"/>
              <a:t>获取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变量或数组元素</a:t>
            </a:r>
            <a:r>
              <a:rPr lang="zh-CN" altLang="en-US" sz="2800" b="1" dirty="0"/>
              <a:t>的地址</a:t>
            </a:r>
          </a:p>
          <a:p>
            <a:pPr marL="274955" indent="-274955">
              <a:lnSpc>
                <a:spcPct val="110000"/>
              </a:lnSpc>
              <a:spcBef>
                <a:spcPct val="55000"/>
              </a:spcBef>
              <a:buNone/>
            </a:pPr>
            <a:r>
              <a:rPr lang="zh-CN" altLang="en-US" sz="2800" b="1" dirty="0"/>
              <a:t>       例</a:t>
            </a:r>
            <a:r>
              <a:rPr lang="zh-CN" altLang="zh-CN" sz="2800" b="1" dirty="0">
                <a:latin typeface="Times New Roman" panose="02020603050405020304" pitchFamily="18" charset="0"/>
              </a:rPr>
              <a:t>:</a:t>
            </a:r>
            <a:r>
              <a:rPr lang="zh-CN" altLang="zh-CN" sz="2800" b="1" dirty="0"/>
              <a:t>  </a:t>
            </a:r>
            <a:r>
              <a:rPr lang="zh-CN" altLang="zh-CN" sz="2400" b="1" dirty="0"/>
              <a:t>  </a:t>
            </a:r>
            <a:r>
              <a:rPr lang="zh-CN" altLang="zh-CN" sz="2800" b="1" dirty="0">
                <a:latin typeface="Arial" panose="020B0604020202020204" pitchFamily="34" charset="0"/>
              </a:rPr>
              <a:t>int</a:t>
            </a:r>
            <a:r>
              <a:rPr lang="zh-CN" altLang="zh-CN" sz="2800" b="1" dirty="0"/>
              <a:t>  i</a:t>
            </a:r>
            <a:r>
              <a:rPr lang="zh-CN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p1</a:t>
            </a:r>
            <a:r>
              <a:rPr lang="zh-CN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p2</a:t>
            </a:r>
            <a:r>
              <a:rPr lang="zh-CN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</a:rPr>
              <a:t>[</a:t>
            </a:r>
            <a:r>
              <a:rPr lang="zh-CN" altLang="zh-CN" sz="2800" b="1" dirty="0"/>
              <a:t>5</a:t>
            </a:r>
            <a:r>
              <a:rPr lang="zh-CN" altLang="zh-CN" sz="2800" b="1" dirty="0">
                <a:latin typeface="黑体" panose="02010609060101010101" pitchFamily="49" charset="-122"/>
              </a:rPr>
              <a:t>]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25000"/>
              </a:lnSpc>
              <a:buClrTx/>
              <a:buSzTx/>
              <a:buNone/>
            </a:pPr>
            <a:r>
              <a:rPr lang="zh-CN" altLang="zh-CN" sz="2800" b="1" dirty="0"/>
              <a:t>             </a:t>
            </a:r>
            <a:r>
              <a:rPr lang="zh-CN" altLang="zh-CN" sz="2000" b="1" dirty="0"/>
              <a:t>   </a:t>
            </a:r>
            <a:r>
              <a:rPr lang="zh-CN" altLang="zh-CN" sz="2800" b="1" dirty="0">
                <a:latin typeface="Arial" panose="020B0604020202020204" pitchFamily="34" charset="0"/>
              </a:rPr>
              <a:t>p1</a:t>
            </a:r>
            <a:r>
              <a:rPr lang="zh-CN" altLang="zh-CN" sz="2800" b="1" dirty="0"/>
              <a:t>=</a:t>
            </a:r>
            <a:r>
              <a:rPr lang="zh-CN" altLang="zh-CN" sz="2800" dirty="0"/>
              <a:t>&amp;</a:t>
            </a:r>
            <a:r>
              <a:rPr lang="zh-CN" altLang="zh-CN" sz="2800" b="1" dirty="0"/>
              <a:t>i </a:t>
            </a:r>
            <a:r>
              <a:rPr lang="zh-CN" altLang="zh-CN" sz="2800" b="1" dirty="0">
                <a:latin typeface="Times New Roman" panose="02020603050405020304" pitchFamily="18" charset="0"/>
              </a:rPr>
              <a:t>;     </a:t>
            </a:r>
            <a:r>
              <a:rPr lang="zh-CN" altLang="zh-CN" sz="2800" b="1" dirty="0">
                <a:latin typeface="Arial" panose="020B0604020202020204" pitchFamily="34" charset="0"/>
              </a:rPr>
              <a:t>p2</a:t>
            </a:r>
            <a:r>
              <a:rPr lang="zh-CN" altLang="zh-CN" sz="2800" b="1" dirty="0"/>
              <a:t>=</a:t>
            </a:r>
            <a:r>
              <a:rPr lang="zh-CN" altLang="zh-CN" sz="2800" dirty="0"/>
              <a:t>&amp;</a:t>
            </a:r>
            <a:r>
              <a:rPr lang="zh-CN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</a:rPr>
              <a:t>[</a:t>
            </a:r>
            <a:r>
              <a:rPr lang="zh-CN" altLang="zh-CN" sz="2800" b="1" dirty="0"/>
              <a:t>4</a:t>
            </a:r>
            <a:r>
              <a:rPr lang="zh-CN" altLang="zh-CN" sz="2800" b="1" dirty="0">
                <a:latin typeface="黑体" panose="02010609060101010101" pitchFamily="49" charset="-122"/>
              </a:rPr>
              <a:t>]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zh-CN" sz="2800" b="1" dirty="0">
              <a:solidFill>
                <a:srgbClr val="00009E"/>
              </a:solidFill>
              <a:latin typeface="Times New Roman" panose="02020603050405020304" pitchFamily="18" charset="0"/>
            </a:endParaRPr>
          </a:p>
          <a:p>
            <a:pPr marL="274955" indent="-274955">
              <a:lnSpc>
                <a:spcPct val="120000"/>
              </a:lnSpc>
              <a:spcBef>
                <a:spcPct val="75000"/>
              </a:spcBef>
              <a:spcAft>
                <a:spcPct val="20000"/>
              </a:spcAft>
            </a:pPr>
            <a:r>
              <a:rPr lang="zh-CN" altLang="en-US" sz="2800" b="1" dirty="0"/>
              <a:t>注意</a:t>
            </a:r>
            <a:r>
              <a:rPr lang="zh-CN" altLang="zh-CN" sz="2800" b="1" dirty="0">
                <a:latin typeface="Times New Roman" panose="02020603050405020304" pitchFamily="18" charset="0"/>
              </a:rPr>
              <a:t>:</a:t>
            </a:r>
            <a:r>
              <a:rPr lang="zh-CN" altLang="zh-CN" sz="2800" b="1" dirty="0"/>
              <a:t>  </a:t>
            </a:r>
            <a:r>
              <a:rPr lang="zh-CN" altLang="en-US" sz="2800" b="1" dirty="0">
                <a:latin typeface="黑体" panose="02010609060101010101" pitchFamily="49" charset="-122"/>
              </a:rPr>
              <a:t>不能对常量</a:t>
            </a:r>
            <a:r>
              <a:rPr lang="zh-CN" altLang="en-US" sz="2400" b="1" dirty="0">
                <a:latin typeface="黑体" panose="02010609060101010101" pitchFamily="49" charset="-122"/>
              </a:rPr>
              <a:t>、</a:t>
            </a:r>
            <a:r>
              <a:rPr lang="zh-CN" altLang="en-US" sz="2800" b="1" dirty="0">
                <a:latin typeface="黑体" panose="02010609060101010101" pitchFamily="49" charset="-122"/>
              </a:rPr>
              <a:t>表达式进行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zh-CN" sz="2800" dirty="0"/>
              <a:t>&amp;</a:t>
            </a:r>
            <a:r>
              <a:rPr lang="zh-CN" altLang="zh-CN" sz="2800" b="1" dirty="0">
                <a:latin typeface="Times New Roman" panose="02020603050405020304" pitchFamily="18" charset="0"/>
              </a:rPr>
              <a:t>”</a:t>
            </a:r>
            <a:r>
              <a:rPr lang="zh-CN" altLang="en-US" sz="2800" b="1" dirty="0">
                <a:latin typeface="黑体" panose="02010609060101010101" pitchFamily="49" charset="-122"/>
              </a:rPr>
              <a:t>运算</a:t>
            </a:r>
            <a:r>
              <a:rPr lang="zh-CN" altLang="en-US" sz="2800" dirty="0">
                <a:latin typeface="黑体" panose="02010609060101010101" pitchFamily="49" charset="-122"/>
              </a:rPr>
              <a:t>。</a:t>
            </a:r>
          </a:p>
          <a:p>
            <a:pPr marL="274955" indent="-274955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800" b="1" dirty="0">
                <a:latin typeface="黑体" panose="02010609060101010101" pitchFamily="49" charset="-122"/>
              </a:rPr>
              <a:t>   </a:t>
            </a:r>
            <a:r>
              <a:rPr lang="zh-CN" altLang="en-US" sz="1600" b="1" dirty="0">
                <a:latin typeface="黑体" panose="02010609060101010101" pitchFamily="49" charset="-122"/>
              </a:rPr>
              <a:t>  </a:t>
            </a:r>
            <a:r>
              <a:rPr lang="zh-CN" altLang="en-US" sz="2800" b="1" dirty="0">
                <a:latin typeface="黑体" panose="02010609060101010101" pitchFamily="49" charset="-122"/>
              </a:rPr>
              <a:t>例</a:t>
            </a:r>
            <a:r>
              <a:rPr lang="zh-CN" altLang="zh-CN" sz="2800" b="1" dirty="0">
                <a:latin typeface="Times New Roman" panose="02020603050405020304" pitchFamily="18" charset="0"/>
              </a:rPr>
              <a:t>:</a:t>
            </a:r>
            <a:r>
              <a:rPr lang="zh-CN" altLang="zh-CN" sz="2800" b="1" dirty="0">
                <a:latin typeface="黑体" panose="02010609060101010101" pitchFamily="49" charset="-122"/>
              </a:rPr>
              <a:t>  </a:t>
            </a:r>
            <a:r>
              <a:rPr lang="zh-CN" altLang="zh-CN" sz="2800" b="1" dirty="0">
                <a:latin typeface="Arial" panose="020B0604020202020204" pitchFamily="34" charset="0"/>
              </a:rPr>
              <a:t>p1</a:t>
            </a:r>
            <a:r>
              <a:rPr lang="zh-CN" altLang="zh-CN" sz="2800" b="1" dirty="0"/>
              <a:t>=</a:t>
            </a:r>
            <a:r>
              <a:rPr lang="zh-CN" altLang="zh-CN" sz="2800" dirty="0">
                <a:solidFill>
                  <a:srgbClr val="00009E"/>
                </a:solidFill>
              </a:rPr>
              <a:t>&amp;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68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spcBef>
                <a:spcPct val="35000"/>
              </a:spcBef>
              <a:buNone/>
            </a:pPr>
            <a:r>
              <a:rPr lang="zh-CN" altLang="zh-CN" sz="2800" b="1" dirty="0"/>
              <a:t>              </a:t>
            </a:r>
            <a:r>
              <a:rPr lang="zh-CN" altLang="zh-CN" sz="2000" b="1" dirty="0"/>
              <a:t>  </a:t>
            </a:r>
            <a:r>
              <a:rPr lang="zh-CN" altLang="zh-CN" sz="2800" b="1" dirty="0">
                <a:latin typeface="Arial" panose="020B0604020202020204" pitchFamily="34" charset="0"/>
              </a:rPr>
              <a:t>p1</a:t>
            </a:r>
            <a:r>
              <a:rPr lang="zh-CN" altLang="zh-CN" sz="2800" b="1" dirty="0"/>
              <a:t>=</a:t>
            </a:r>
            <a:r>
              <a:rPr lang="zh-CN" altLang="zh-CN" sz="2800" dirty="0">
                <a:solidFill>
                  <a:srgbClr val="00009E"/>
                </a:solidFill>
              </a:rPr>
              <a:t>&amp;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i+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1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5663952" y="4077072"/>
            <a:ext cx="685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4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68550" y="142876"/>
            <a:ext cx="6859588" cy="715963"/>
          </a:xfrm>
        </p:spPr>
        <p:txBody>
          <a:bodyPr/>
          <a:lstStyle/>
          <a:p>
            <a:r>
              <a: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r>
              <a:rPr lang="zh-CN" altLang="zh-CN" sz="2800" dirty="0">
                <a:ea typeface="黑体" panose="02010609060101010101" pitchFamily="49" charset="-122"/>
              </a:rPr>
              <a:t>  </a:t>
            </a:r>
            <a:r>
              <a:rPr lang="zh-CN" altLang="zh-CN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dirty="0">
                <a:solidFill>
                  <a:srgbClr val="FF33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─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指针运算符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（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间接访问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运算符）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9314" y="1276350"/>
            <a:ext cx="8207375" cy="4675188"/>
          </a:xfrm>
        </p:spPr>
        <p:txBody>
          <a:bodyPr/>
          <a:lstStyle/>
          <a:p>
            <a:pPr marL="274955" indent="-274955">
              <a:lnSpc>
                <a:spcPct val="110000"/>
              </a:lnSpc>
              <a:spcBef>
                <a:spcPct val="3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作用</a:t>
            </a:r>
            <a:r>
              <a:rPr lang="zh-CN" altLang="zh-CN" sz="2800" b="1" dirty="0">
                <a:latin typeface="Times New Roman" panose="02020603050405020304" pitchFamily="18" charset="0"/>
              </a:rPr>
              <a:t>:</a:t>
            </a:r>
            <a:r>
              <a:rPr lang="zh-CN" altLang="zh-CN" sz="2800" b="1" dirty="0"/>
              <a:t>  </a:t>
            </a:r>
            <a:r>
              <a:rPr lang="zh-CN" altLang="en-US" sz="2800" b="1" dirty="0"/>
              <a:t>获得该指针所指向变量的值。</a:t>
            </a:r>
          </a:p>
          <a:p>
            <a:pPr marL="274955" indent="-274955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如</a:t>
            </a:r>
            <a:r>
              <a:rPr lang="zh-CN" altLang="zh-CN" sz="2800" b="1" dirty="0">
                <a:latin typeface="Times New Roman" panose="02020603050405020304" pitchFamily="18" charset="0"/>
              </a:rPr>
              <a:t>:</a:t>
            </a:r>
          </a:p>
          <a:p>
            <a:pPr marL="274955" indent="-274955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2800" b="1" dirty="0"/>
              <a:t>                 </a:t>
            </a:r>
            <a:r>
              <a:rPr lang="zh-CN" altLang="zh-CN" sz="2800" b="1" dirty="0">
                <a:latin typeface="Arial" panose="020B0604020202020204" pitchFamily="34" charset="0"/>
              </a:rPr>
              <a:t>int</a:t>
            </a:r>
            <a:r>
              <a:rPr lang="zh-CN" altLang="zh-CN" sz="2800" b="1" dirty="0">
                <a:solidFill>
                  <a:schemeClr val="bg2"/>
                </a:solidFill>
              </a:rPr>
              <a:t>  i=</a:t>
            </a:r>
            <a:r>
              <a:rPr lang="zh-CN" altLang="zh-CN" sz="2800" b="1" dirty="0">
                <a:solidFill>
                  <a:schemeClr val="bg2"/>
                </a:solidFill>
                <a:latin typeface="Arial" panose="020B0604020202020204" pitchFamily="34" charset="0"/>
              </a:rPr>
              <a:t>100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pi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15000"/>
              </a:lnSpc>
              <a:spcBef>
                <a:spcPct val="10000"/>
              </a:spcBef>
              <a:buClrTx/>
              <a:buSzTx/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         </a:t>
            </a:r>
            <a:r>
              <a:rPr lang="zh-CN" altLang="zh-CN" sz="2800" b="1" dirty="0">
                <a:latin typeface="Arial" panose="020B0604020202020204" pitchFamily="34" charset="0"/>
              </a:rPr>
              <a:t>pi</a:t>
            </a:r>
            <a:r>
              <a:rPr lang="zh-CN" altLang="zh-CN" sz="2800" b="1" dirty="0">
                <a:solidFill>
                  <a:schemeClr val="bg2"/>
                </a:solidFill>
              </a:rPr>
              <a:t>=</a:t>
            </a:r>
            <a:r>
              <a:rPr lang="zh-CN" altLang="zh-CN" sz="2800" dirty="0">
                <a:solidFill>
                  <a:schemeClr val="bg2"/>
                </a:solidFill>
              </a:rPr>
              <a:t>&amp;</a:t>
            </a:r>
            <a:r>
              <a:rPr lang="zh-CN" altLang="zh-CN" sz="2800" b="1" dirty="0">
                <a:solidFill>
                  <a:schemeClr val="bg2"/>
                </a:solidFill>
              </a:rPr>
              <a:t>i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15000"/>
              </a:lnSpc>
              <a:spcBef>
                <a:spcPct val="10000"/>
              </a:spcBef>
              <a:buClrTx/>
              <a:buSzTx/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        </a:t>
            </a:r>
            <a:r>
              <a:rPr lang="zh-CN" altLang="zh-CN" sz="2800" b="1" dirty="0">
                <a:latin typeface="Arial" panose="020B0604020202020204" pitchFamily="34" charset="0"/>
              </a:rPr>
              <a:t> printf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</a:t>
            </a:r>
            <a:r>
              <a:rPr lang="zh-CN" altLang="zh-CN" sz="2800" b="1" dirty="0">
                <a:latin typeface="Arial" panose="020B0604020202020204" pitchFamily="34" charset="0"/>
              </a:rPr>
              <a:t>%d</a:t>
            </a:r>
            <a:r>
              <a:rPr lang="zh-CN" altLang="zh-CN" sz="2800" dirty="0">
                <a:solidFill>
                  <a:schemeClr val="bg2"/>
                </a:solidFill>
              </a:rPr>
              <a:t>\</a:t>
            </a:r>
            <a:r>
              <a:rPr lang="zh-CN" altLang="zh-CN" sz="2800" b="1" dirty="0">
                <a:latin typeface="Arial" panose="020B0604020202020204" pitchFamily="34" charset="0"/>
              </a:rPr>
              <a:t>n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”,</a:t>
            </a: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  <a:r>
              <a:rPr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pi</a:t>
            </a: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); </a:t>
            </a:r>
          </a:p>
          <a:p>
            <a:pPr marL="274955" indent="-274955">
              <a:lnSpc>
                <a:spcPct val="125000"/>
              </a:lnSpc>
              <a:spcBef>
                <a:spcPct val="30000"/>
              </a:spcBef>
              <a:buClrTx/>
              <a:buSzTx/>
              <a:buNone/>
            </a:pPr>
            <a:r>
              <a:rPr lang="zh-CN" altLang="zh-CN" b="1" dirty="0"/>
              <a:t>     </a:t>
            </a:r>
            <a:r>
              <a:rPr lang="zh-CN" altLang="zh-CN" sz="2400" dirty="0">
                <a:solidFill>
                  <a:srgbClr val="0000B4"/>
                </a:solidFill>
              </a:rPr>
              <a:t>//</a:t>
            </a:r>
            <a:r>
              <a:rPr lang="zh-CN" altLang="en-US" sz="2400" b="1" dirty="0">
                <a:solidFill>
                  <a:srgbClr val="0000B4"/>
                </a:solidFill>
              </a:rPr>
              <a:t>间接访问</a:t>
            </a:r>
            <a:r>
              <a:rPr lang="zh-CN" altLang="zh-CN" sz="2400" b="1" dirty="0">
                <a:solidFill>
                  <a:srgbClr val="0000B4"/>
                </a:solidFill>
              </a:rPr>
              <a:t>pi</a:t>
            </a:r>
            <a:r>
              <a:rPr lang="zh-CN" altLang="en-US" sz="2400" b="1" dirty="0">
                <a:solidFill>
                  <a:srgbClr val="0000B4"/>
                </a:solidFill>
              </a:rPr>
              <a:t>所指向的内存单元</a:t>
            </a:r>
            <a:r>
              <a:rPr lang="zh-CN" altLang="zh-CN" sz="2400" b="1" dirty="0">
                <a:solidFill>
                  <a:srgbClr val="0000B4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B4"/>
                </a:solidFill>
              </a:rPr>
              <a:t>输出变量</a:t>
            </a:r>
            <a:r>
              <a:rPr lang="zh-CN" altLang="zh-CN" sz="2400" b="1" dirty="0">
                <a:solidFill>
                  <a:srgbClr val="0000B4"/>
                </a:solidFill>
              </a:rPr>
              <a:t>i</a:t>
            </a:r>
            <a:r>
              <a:rPr lang="zh-CN" altLang="en-US" sz="2400" b="1" dirty="0">
                <a:solidFill>
                  <a:srgbClr val="0000B4"/>
                </a:solidFill>
              </a:rPr>
              <a:t>的值</a:t>
            </a:r>
            <a:r>
              <a:rPr lang="zh-CN" altLang="zh-CN" sz="2400" b="1" dirty="0">
                <a:solidFill>
                  <a:srgbClr val="0000B4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535556" name="Text Box 4"/>
          <p:cNvSpPr txBox="1">
            <a:spLocks noChangeArrowheads="1"/>
          </p:cNvSpPr>
          <p:nvPr/>
        </p:nvSpPr>
        <p:spPr bwMode="auto">
          <a:xfrm>
            <a:off x="2127251" y="4013201"/>
            <a:ext cx="9225333" cy="12924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4955" indent="-27495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78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注意</a:t>
            </a:r>
            <a:r>
              <a:rPr lang="zh-CN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:  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运算对象</a:t>
            </a:r>
            <a:r>
              <a:rPr lang="zh-CN" alt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必须是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</a:rPr>
              <a:t>指针（地址）</a:t>
            </a:r>
            <a:r>
              <a:rPr lang="zh-CN" altLang="en-US" sz="2800" b="1" dirty="0">
                <a:solidFill>
                  <a:srgbClr val="1C1C1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。如</a:t>
            </a:r>
            <a:r>
              <a:rPr lang="zh-CN" altLang="zh-CN" sz="2800" b="1" dirty="0">
                <a:solidFill>
                  <a:srgbClr val="1C1C1C"/>
                </a:solidFill>
                <a:ea typeface="黑体" panose="02010609060101010101" pitchFamily="49" charset="-122"/>
              </a:rPr>
              <a:t>:</a:t>
            </a:r>
            <a:r>
              <a:rPr lang="en-US" altLang="zh-CN" sz="2800" b="1" dirty="0">
                <a:solidFill>
                  <a:srgbClr val="1C1C1C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*&amp;a,  *pi</a:t>
            </a:r>
            <a:r>
              <a:rPr lang="zh-CN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endParaRPr lang="en-US" altLang="zh-CN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或 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*1000 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都是错误</a:t>
            </a:r>
            <a:endParaRPr lang="zh-CN" altLang="zh-CN" sz="2800" b="1" dirty="0">
              <a:solidFill>
                <a:srgbClr val="1C1C1C"/>
              </a:solidFill>
              <a:ea typeface="黑体" panose="02010609060101010101" pitchFamily="49" charset="-122"/>
            </a:endParaRPr>
          </a:p>
        </p:txBody>
      </p:sp>
      <p:sp>
        <p:nvSpPr>
          <p:cNvPr id="535557" name="Text Box 5"/>
          <p:cNvSpPr txBox="1">
            <a:spLocks noChangeArrowheads="1"/>
          </p:cNvSpPr>
          <p:nvPr/>
        </p:nvSpPr>
        <p:spPr bwMode="auto">
          <a:xfrm>
            <a:off x="3791744" y="4659403"/>
            <a:ext cx="6858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4400" b="1" dirty="0">
                <a:solidFill>
                  <a:srgbClr val="FF0000"/>
                </a:solidFill>
                <a:ea typeface="宋体" panose="02010600030101010101" pitchFamily="2" charset="-122"/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6" grpId="0" animBg="1" autoUpdateAnimBg="0"/>
      <p:bldP spid="53555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98676" y="1293814"/>
            <a:ext cx="8632825" cy="4649787"/>
          </a:xfrm>
        </p:spPr>
        <p:txBody>
          <a:bodyPr/>
          <a:lstStyle/>
          <a:p>
            <a:pPr marL="274955" indent="-274955">
              <a:lnSpc>
                <a:spcPct val="110000"/>
              </a:lnSpc>
              <a:spcBef>
                <a:spcPct val="4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格式</a:t>
            </a:r>
            <a:r>
              <a:rPr lang="zh-CN" altLang="zh-CN" sz="2800" b="1" dirty="0">
                <a:latin typeface="Times New Roman" panose="02020603050405020304" pitchFamily="18" charset="0"/>
              </a:rPr>
              <a:t>:</a:t>
            </a:r>
          </a:p>
          <a:p>
            <a:pPr marL="274955" indent="-274955"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zh-CN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类型说明符 </a:t>
            </a:r>
            <a:r>
              <a:rPr lang="zh-CN" altLang="en-US" sz="2800" b="1" dirty="0">
                <a:latin typeface="黑体" panose="02010609060101010101" pitchFamily="49" charset="-122"/>
              </a:rPr>
              <a:t>*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指针变量名</a:t>
            </a:r>
            <a:r>
              <a:rPr lang="zh-CN" altLang="zh-CN" sz="2800" b="1" dirty="0">
                <a:latin typeface="黑体" panose="02010609060101010101" pitchFamily="49" charset="-122"/>
              </a:rPr>
              <a:t>=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</a:rPr>
              <a:t>初始地址值</a:t>
            </a:r>
            <a:r>
              <a:rPr lang="zh-CN" altLang="zh-CN" sz="2800" b="1" dirty="0">
                <a:latin typeface="Times New Roman" panose="02020603050405020304" pitchFamily="18" charset="0"/>
              </a:rPr>
              <a:t>, ··· ;</a:t>
            </a:r>
          </a:p>
          <a:p>
            <a:pPr marL="274955" indent="-274955">
              <a:lnSpc>
                <a:spcPct val="110000"/>
              </a:lnSpc>
              <a:spcBef>
                <a:spcPct val="5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</a:t>
            </a:r>
            <a:r>
              <a:rPr lang="zh-CN" altLang="zh-CN" sz="2800" b="1" dirty="0">
                <a:latin typeface="Times New Roman" panose="02020603050405020304" pitchFamily="18" charset="0"/>
              </a:rPr>
              <a:t>:          </a:t>
            </a:r>
            <a:r>
              <a:rPr lang="zh-CN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Arial" panose="020B0604020202020204" pitchFamily="34" charset="0"/>
              </a:rPr>
              <a:t>int  </a:t>
            </a:r>
            <a:r>
              <a:rPr lang="en-US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latin typeface="Arial" panose="020B0604020202020204" pitchFamily="34" charset="0"/>
              </a:rPr>
              <a:t>=26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zh-CN" sz="2800" b="1" dirty="0"/>
              <a:t>                  </a:t>
            </a:r>
            <a:r>
              <a:rPr lang="zh-CN" altLang="zh-CN" sz="2400" b="1" dirty="0"/>
              <a:t>  </a:t>
            </a:r>
            <a:r>
              <a:rPr lang="zh-CN" altLang="zh-CN" sz="2800" b="1" dirty="0">
                <a:latin typeface="Arial" panose="020B0604020202020204" pitchFamily="34" charset="0"/>
              </a:rPr>
              <a:t>int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/>
              <a:t>=</a:t>
            </a:r>
            <a:r>
              <a:rPr lang="zh-CN" altLang="zh-CN" sz="2800" dirty="0"/>
              <a:t>&amp;</a:t>
            </a:r>
            <a:r>
              <a:rPr lang="en-US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latin typeface="Times New Roman" panose="02020603050405020304" pitchFamily="18" charset="0"/>
              </a:rPr>
              <a:t>;  </a:t>
            </a:r>
            <a:r>
              <a:rPr lang="zh-CN" altLang="zh-CN" sz="2800" b="1" dirty="0"/>
              <a:t>   </a:t>
            </a:r>
            <a:r>
              <a:rPr lang="zh-CN" altLang="zh-CN" sz="2400" dirty="0"/>
              <a:t>//</a:t>
            </a:r>
            <a:r>
              <a:rPr lang="zh-CN" altLang="en-US" sz="2400" b="1" dirty="0">
                <a:latin typeface="黑体" panose="02010609060101010101" pitchFamily="49" charset="-122"/>
              </a:rPr>
              <a:t>初始化为</a:t>
            </a:r>
            <a:r>
              <a:rPr lang="zh-CN" altLang="en-US" sz="2400" b="1" dirty="0"/>
              <a:t>整型地址</a:t>
            </a:r>
            <a:br>
              <a:rPr lang="zh-CN" altLang="en-US" sz="2400" b="1" dirty="0"/>
            </a:br>
            <a:r>
              <a:rPr lang="zh-CN" altLang="en-US" sz="2400" b="1" dirty="0"/>
              <a:t>                    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274955" indent="-274955">
              <a:lnSpc>
                <a:spcPct val="110000"/>
              </a:lnSpc>
              <a:buNone/>
            </a:pPr>
            <a:endParaRPr lang="zh-CN" altLang="zh-CN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</a:endParaRPr>
          </a:p>
        </p:txBody>
      </p:sp>
      <p:sp>
        <p:nvSpPr>
          <p:cNvPr id="538627" name="Text Box 3"/>
          <p:cNvSpPr txBox="1">
            <a:spLocks noChangeArrowheads="1"/>
          </p:cNvSpPr>
          <p:nvPr/>
        </p:nvSpPr>
        <p:spPr bwMode="auto">
          <a:xfrm>
            <a:off x="2677980" y="4583163"/>
            <a:ext cx="6056313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CC00FF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不能写成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   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int</a:t>
            </a:r>
            <a:r>
              <a:rPr lang="zh-CN" altLang="zh-CN" sz="2800" b="1" dirty="0">
                <a:solidFill>
                  <a:srgbClr val="1C1C1C"/>
                </a:solidFill>
                <a:ea typeface="宋体" panose="02010600030101010101" pitchFamily="2" charset="-122"/>
              </a:rPr>
              <a:t>  </a:t>
            </a:r>
            <a:r>
              <a:rPr lang="zh-CN" altLang="zh-CN" sz="2800" b="1" dirty="0">
                <a:solidFill>
                  <a:srgbClr val="1C1C1C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solidFill>
                  <a:srgbClr val="1C1C1C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zh-CN" altLang="zh-CN" sz="2800" b="1" dirty="0">
                <a:solidFill>
                  <a:srgbClr val="CC00FF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CC00FF"/>
              </a:buClr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</a:t>
            </a:r>
            <a:endParaRPr lang="en-US" altLang="zh-CN" sz="28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CC00FF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 b="1" dirty="0">
                <a:solidFill>
                  <a:srgbClr val="1C1C1C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solidFill>
                  <a:srgbClr val="1C1C1C"/>
                </a:solidFill>
                <a:ea typeface="宋体" panose="02010600030101010101" pitchFamily="2" charset="-122"/>
              </a:rPr>
              <a:t>= </a:t>
            </a:r>
            <a:r>
              <a:rPr lang="zh-CN" altLang="zh-CN" sz="2800" dirty="0">
                <a:solidFill>
                  <a:srgbClr val="1C1C1C"/>
                </a:solidFill>
                <a:ea typeface="宋体" panose="02010600030101010101" pitchFamily="2" charset="-122"/>
              </a:rPr>
              <a:t>&amp;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;</a:t>
            </a:r>
          </a:p>
        </p:txBody>
      </p:sp>
      <p:sp>
        <p:nvSpPr>
          <p:cNvPr id="538628" name="Rectangle 4"/>
          <p:cNvSpPr>
            <a:spLocks noChangeArrowheads="1"/>
          </p:cNvSpPr>
          <p:nvPr/>
        </p:nvSpPr>
        <p:spPr bwMode="auto">
          <a:xfrm>
            <a:off x="3351213" y="169863"/>
            <a:ext cx="54657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2.3  </a:t>
            </a:r>
            <a:r>
              <a:rPr lang="zh-CN" altLang="en-US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指针变量的初始化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00056" y="4581128"/>
            <a:ext cx="549402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定义处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,*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是标志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表示定义指针变量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执行处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是运算符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代表指针所指向的区域值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uild="p" autoUpdateAnimBg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2525" y="6351"/>
            <a:ext cx="6858000" cy="785813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6926" y="1144589"/>
            <a:ext cx="8353425" cy="5368925"/>
          </a:xfrm>
        </p:spPr>
        <p:txBody>
          <a:bodyPr/>
          <a:lstStyle/>
          <a:p>
            <a:pPr marL="271780" indent="-271780">
              <a:lnSpc>
                <a:spcPct val="11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指针变量在使用前</a:t>
            </a:r>
            <a:r>
              <a:rPr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必须</a:t>
            </a:r>
            <a:r>
              <a:rPr lang="zh-CN" altLang="zh-CN" sz="2400" b="1" dirty="0">
                <a:latin typeface="Times New Roman" panose="02020603050405020304" pitchFamily="18" charset="0"/>
              </a:rPr>
              <a:t>初始化</a:t>
            </a:r>
            <a:r>
              <a:rPr lang="zh-CN" altLang="en-US" sz="2400" b="1" dirty="0"/>
              <a:t>或赋值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使指针变量指向一个确定的内存单元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未经赋值的指针变量（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野指针</a:t>
            </a:r>
            <a:r>
              <a:rPr lang="zh-CN" altLang="en-US" sz="2400" b="1" dirty="0">
                <a:latin typeface="Times New Roman" panose="02020603050405020304" pitchFamily="18" charset="0"/>
              </a:rPr>
              <a:t>）禁止使用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危险操作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</a:p>
          <a:p>
            <a:pPr marL="450850" lvl="1" indent="0">
              <a:lnSpc>
                <a:spcPct val="110000"/>
              </a:lnSpc>
              <a:spcBef>
                <a:spcPct val="35000"/>
              </a:spcBef>
              <a:buClr>
                <a:srgbClr val="008000"/>
              </a:buClr>
              <a:buSzPct val="85000"/>
              <a:buNone/>
            </a:pPr>
            <a:r>
              <a:rPr lang="zh-CN" altLang="en-US" sz="2400" b="1">
                <a:solidFill>
                  <a:schemeClr val="bg2"/>
                </a:solidFill>
              </a:rPr>
              <a:t>              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539652" name="Rectangle 4"/>
          <p:cNvSpPr>
            <a:spLocks noChangeArrowheads="1"/>
          </p:cNvSpPr>
          <p:nvPr/>
        </p:nvSpPr>
        <p:spPr bwMode="auto">
          <a:xfrm>
            <a:off x="2207568" y="2708920"/>
            <a:ext cx="9145016" cy="34255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rgbClr val="1C1C1C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</a:rPr>
              <a:t>如</a:t>
            </a:r>
            <a:r>
              <a:rPr lang="zh-CN" altLang="zh-CN" sz="24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zh-CN" sz="2800" b="1" dirty="0">
                <a:solidFill>
                  <a:srgbClr val="1C1C1C"/>
                </a:solidFill>
                <a:ea typeface="宋体" panose="02010600030101010101" pitchFamily="2" charset="-122"/>
              </a:rPr>
              <a:t>       </a:t>
            </a:r>
          </a:p>
          <a:p>
            <a:pPr fontAlgn="base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rgbClr val="1C1C1C"/>
                </a:solidFill>
                <a:ea typeface="宋体" panose="02010600030101010101" pitchFamily="2" charset="-122"/>
              </a:rPr>
              <a:t>       </a:t>
            </a:r>
            <a:r>
              <a:rPr lang="zh-CN" altLang="zh-CN" sz="2400" b="1" dirty="0">
                <a:solidFill>
                  <a:srgbClr val="1C1C1C"/>
                </a:solidFill>
                <a:ea typeface="宋体" panose="02010600030101010101" pitchFamily="2" charset="-122"/>
              </a:rPr>
              <a:t>int  i</a:t>
            </a:r>
            <a:r>
              <a:rPr lang="zh-CN" altLang="zh-CN" sz="24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400" b="1" dirty="0">
                <a:solidFill>
                  <a:srgbClr val="1C1C1C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srgbClr val="1C1C1C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400" b="1" dirty="0">
                <a:solidFill>
                  <a:srgbClr val="1C1C1C"/>
                </a:solidFill>
              </a:rPr>
              <a:t>i</a:t>
            </a:r>
            <a:r>
              <a:rPr lang="zh-CN" altLang="zh-CN" sz="2400" b="1" dirty="0">
                <a:solidFill>
                  <a:srgbClr val="1C1C1C"/>
                </a:solidFill>
                <a:ea typeface="宋体" panose="02010600030101010101" pitchFamily="2" charset="-122"/>
              </a:rPr>
              <a:t>p </a:t>
            </a:r>
            <a:r>
              <a:rPr lang="zh-CN" altLang="zh-CN" sz="24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zh-CN" sz="2400" b="1" dirty="0">
                <a:solidFill>
                  <a:srgbClr val="1C1C1C"/>
                </a:solidFill>
                <a:ea typeface="宋体" panose="02010600030101010101" pitchFamily="2" charset="-122"/>
              </a:rPr>
              <a:t> </a:t>
            </a:r>
          </a:p>
          <a:p>
            <a:pPr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1C1C1C"/>
                </a:solidFill>
                <a:latin typeface="黑体" panose="02010609060101010101" pitchFamily="49" charset="-122"/>
              </a:rPr>
              <a:t>     *</a:t>
            </a:r>
            <a:r>
              <a:rPr lang="zh-CN" altLang="zh-CN" sz="2400" b="1" dirty="0">
                <a:solidFill>
                  <a:srgbClr val="1C1C1C"/>
                </a:solidFill>
              </a:rPr>
              <a:t>i</a:t>
            </a:r>
            <a:r>
              <a:rPr lang="zh-CN" altLang="zh-CN" sz="2400" b="1" dirty="0">
                <a:solidFill>
                  <a:srgbClr val="1C1C1C"/>
                </a:solidFill>
                <a:ea typeface="宋体" panose="02010600030101010101" pitchFamily="2" charset="-122"/>
              </a:rPr>
              <a:t>p=</a:t>
            </a:r>
            <a:r>
              <a:rPr lang="zh-CN" altLang="zh-CN" sz="2400" dirty="0">
                <a:solidFill>
                  <a:srgbClr val="CC00CC"/>
                </a:solidFill>
                <a:ea typeface="宋体" panose="02010600030101010101" pitchFamily="2" charset="-122"/>
              </a:rPr>
              <a:t>58</a:t>
            </a:r>
            <a:r>
              <a:rPr lang="zh-CN" altLang="zh-CN" sz="2400" dirty="0">
                <a:solidFill>
                  <a:srgbClr val="1C1C1C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zh-CN" sz="2400" b="1" dirty="0">
                <a:solidFill>
                  <a:srgbClr val="1C1C1C"/>
                </a:solidFill>
                <a:ea typeface="宋体" panose="02010600030101010101" pitchFamily="2" charset="-122"/>
              </a:rPr>
              <a:t>            </a:t>
            </a:r>
            <a:r>
              <a:rPr lang="zh-CN" altLang="zh-CN" sz="2400">
                <a:solidFill>
                  <a:srgbClr val="000000"/>
                </a:solidFill>
              </a:rPr>
              <a:t>//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表示将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58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存入在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所指向的内存区域</a:t>
            </a:r>
            <a:endParaRPr lang="zh-CN" altLang="zh-CN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57505"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solidFill>
                  <a:srgbClr val="000000"/>
                </a:solidFill>
              </a:rPr>
              <a:t>如果使用一个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没有确定值的指针变量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野指针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危险操作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</a:rPr>
              <a:t>不仅可能破坏你的程序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</a:rPr>
              <a:t>而且可能导致系统的破坏</a:t>
            </a:r>
            <a:r>
              <a:rPr lang="en-US" altLang="zh-CN" sz="2400" b="1" dirty="0">
                <a:solidFill>
                  <a:srgbClr val="000000"/>
                </a:solidFill>
              </a:rPr>
              <a:t>)</a:t>
            </a:r>
            <a:endParaRPr lang="zh-CN" altLang="en-US" sz="2400" b="1" dirty="0">
              <a:solidFill>
                <a:srgbClr val="000000"/>
              </a:solidFill>
            </a:endParaRPr>
          </a:p>
          <a:p>
            <a:pPr marL="800100" lvl="1" indent="-357505"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Clr>
                <a:srgbClr val="008000"/>
              </a:buClr>
              <a:buSzPct val="85000"/>
            </a:pPr>
            <a:endParaRPr lang="zh-CN" altLang="zh-CN" sz="2400" b="1" dirty="0">
              <a:solidFill>
                <a:srgbClr val="0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95800" y="3645024"/>
            <a:ext cx="482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X</a:t>
            </a:r>
            <a:endParaRPr lang="zh-CN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2" grpId="0" animBg="1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2525" y="6351"/>
            <a:ext cx="6858000" cy="785813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6926" y="1144589"/>
            <a:ext cx="8353425" cy="5368925"/>
          </a:xfrm>
        </p:spPr>
        <p:txBody>
          <a:bodyPr/>
          <a:lstStyle/>
          <a:p>
            <a:pPr marL="271780" indent="-271780">
              <a:lnSpc>
                <a:spcPct val="115000"/>
              </a:lnSpc>
              <a:spcBef>
                <a:spcPct val="3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指针</a:t>
            </a:r>
            <a:r>
              <a:rPr lang="zh-CN" altLang="en-US" sz="2800" b="1" dirty="0"/>
              <a:t>变量可以被</a:t>
            </a:r>
            <a:r>
              <a:rPr lang="zh-CN" altLang="en-US" sz="2800" b="1" dirty="0">
                <a:latin typeface="Times New Roman" panose="02020603050405020304" pitchFamily="18" charset="0"/>
              </a:rPr>
              <a:t>初始化</a:t>
            </a:r>
            <a:r>
              <a:rPr lang="zh-CN" altLang="en-US" sz="2800" b="1">
                <a:latin typeface="Times New Roman" panose="02020603050405020304" pitchFamily="18" charset="0"/>
              </a:rPr>
              <a:t>为</a:t>
            </a:r>
            <a:r>
              <a:rPr lang="zh-CN" altLang="zh-CN" sz="2800" b="1">
                <a:solidFill>
                  <a:srgbClr val="CC00CC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zh-CN" sz="2800" b="1">
                <a:solidFill>
                  <a:srgbClr val="CC00CC"/>
                </a:solidFill>
                <a:latin typeface="Arial" panose="020B0604020202020204" pitchFamily="34" charset="0"/>
              </a:rPr>
              <a:t>NULL</a:t>
            </a:r>
            <a:r>
              <a:rPr lang="en-US" altLang="zh-CN" sz="2800" b="1">
                <a:solidFill>
                  <a:srgbClr val="CC00CC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 b="1"/>
              <a:t>或</a:t>
            </a:r>
            <a:r>
              <a:rPr lang="zh-CN" altLang="en-US" sz="2800" b="1">
                <a:solidFill>
                  <a:srgbClr val="CC00CC"/>
                </a:solidFill>
              </a:rPr>
              <a:t>某个</a:t>
            </a:r>
            <a:r>
              <a:rPr lang="zh-CN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zh-CN" altLang="en-US" sz="2800" b="1">
                <a:solidFill>
                  <a:srgbClr val="CC00CC"/>
                </a:solidFill>
              </a:rPr>
              <a:t>的地址</a:t>
            </a:r>
            <a:r>
              <a:rPr lang="zh-CN" altLang="en-US" sz="2800" b="1" dirty="0"/>
              <a:t>。</a:t>
            </a:r>
          </a:p>
          <a:p>
            <a:pPr marL="271780" indent="-271780">
              <a:lnSpc>
                <a:spcPct val="110000"/>
              </a:lnSpc>
              <a:spcBef>
                <a:spcPct val="50000"/>
              </a:spcBef>
              <a:spcAft>
                <a:spcPct val="20000"/>
              </a:spcAft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如</a:t>
            </a:r>
            <a:r>
              <a:rPr lang="zh-CN" altLang="zh-CN" sz="2800" b="1" dirty="0">
                <a:latin typeface="Times New Roman" panose="02020603050405020304" pitchFamily="18" charset="0"/>
              </a:rPr>
              <a:t>:  </a:t>
            </a:r>
            <a:r>
              <a:rPr lang="zh-CN" altLang="zh-CN" sz="2800" b="1" dirty="0"/>
              <a:t>float 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259C"/>
                </a:solidFill>
              </a:rPr>
              <a:t>f1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anose="020B0604020202020204" pitchFamily="34" charset="0"/>
              </a:rPr>
              <a:t>NULL</a:t>
            </a:r>
            <a:r>
              <a:rPr lang="zh-CN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259C"/>
                </a:solidFill>
              </a:rPr>
              <a:t>f2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anose="020B0604020202020204" pitchFamily="34" charset="0"/>
              </a:rPr>
              <a:t>0</a:t>
            </a:r>
            <a:r>
              <a:rPr lang="zh-CN" altLang="zh-CN" sz="2800" b="1">
                <a:latin typeface="Times New Roman" panose="02020603050405020304" pitchFamily="18" charset="0"/>
              </a:rPr>
              <a:t>;  </a:t>
            </a:r>
            <a:endParaRPr lang="zh-CN" altLang="zh-CN" sz="2800" b="1" dirty="0">
              <a:latin typeface="Times New Roman" panose="02020603050405020304" pitchFamily="18" charset="0"/>
            </a:endParaRPr>
          </a:p>
          <a:p>
            <a:pPr marL="800100" lvl="1" indent="-349250">
              <a:lnSpc>
                <a:spcPct val="110000"/>
              </a:lnSpc>
              <a:spcBef>
                <a:spcPct val="35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zh-CN" b="1" dirty="0">
                <a:latin typeface="Arial" panose="020B0604020202020204" pitchFamily="34" charset="0"/>
              </a:rPr>
              <a:t>0</a:t>
            </a:r>
            <a:r>
              <a:rPr lang="zh-CN" altLang="zh-CN" b="1" dirty="0"/>
              <a:t> </a:t>
            </a:r>
            <a:r>
              <a:rPr lang="zh-CN" altLang="en-US" b="1" dirty="0"/>
              <a:t>和 </a:t>
            </a:r>
            <a:r>
              <a:rPr lang="zh-CN" altLang="zh-CN" b="1" dirty="0">
                <a:latin typeface="Arial" panose="020B0604020202020204" pitchFamily="34" charset="0"/>
              </a:rPr>
              <a:t>NULL</a:t>
            </a:r>
            <a:r>
              <a:rPr lang="zh-CN" altLang="zh-CN" b="1" dirty="0"/>
              <a:t> </a:t>
            </a:r>
            <a:r>
              <a:rPr lang="zh-CN" altLang="en-US" b="1" dirty="0"/>
              <a:t>是等价的（用</a:t>
            </a:r>
            <a:r>
              <a:rPr lang="zh-CN" altLang="zh-CN" b="1" dirty="0">
                <a:latin typeface="Arial" panose="020B0604020202020204" pitchFamily="34" charset="0"/>
              </a:rPr>
              <a:t>NULL</a:t>
            </a:r>
            <a:r>
              <a:rPr lang="zh-CN" altLang="en-US" b="1" dirty="0"/>
              <a:t>更好）</a:t>
            </a:r>
          </a:p>
          <a:p>
            <a:pPr marL="800100" lvl="1" indent="-349250">
              <a:lnSpc>
                <a:spcPct val="110000"/>
              </a:lnSpc>
              <a:spcBef>
                <a:spcPct val="35000"/>
              </a:spcBef>
              <a:buClr>
                <a:srgbClr val="008000"/>
              </a:buClr>
              <a:buSzPct val="85000"/>
              <a:buNone/>
            </a:pPr>
            <a:r>
              <a:rPr lang="zh-CN" altLang="en-US" b="1" dirty="0"/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NULL</a:t>
            </a:r>
            <a:r>
              <a:rPr lang="zh-CN" altLang="zh-CN" b="1" dirty="0"/>
              <a:t> </a:t>
            </a:r>
            <a:r>
              <a:rPr lang="zh-CN" altLang="en-US" b="1" dirty="0"/>
              <a:t>是在</a:t>
            </a:r>
            <a:r>
              <a:rPr lang="zh-CN" altLang="zh-CN" dirty="0"/>
              <a:t>&lt;</a:t>
            </a:r>
            <a:r>
              <a:rPr lang="zh-CN" altLang="zh-CN" b="1" dirty="0">
                <a:latin typeface="Arial" panose="020B0604020202020204" pitchFamily="34" charset="0"/>
              </a:rPr>
              <a:t>stdio</a:t>
            </a:r>
            <a:r>
              <a:rPr lang="zh-CN" altLang="zh-CN" b="1" dirty="0">
                <a:latin typeface="Times New Roman" panose="02020603050405020304" pitchFamily="18" charset="0"/>
              </a:rPr>
              <a:t>.</a:t>
            </a:r>
            <a:r>
              <a:rPr lang="zh-CN" altLang="zh-CN" b="1" dirty="0">
                <a:latin typeface="Arial" panose="020B0604020202020204" pitchFamily="34" charset="0"/>
              </a:rPr>
              <a:t>h</a:t>
            </a:r>
            <a:r>
              <a:rPr lang="zh-CN" altLang="zh-CN" dirty="0"/>
              <a:t>&gt;</a:t>
            </a:r>
            <a:r>
              <a:rPr lang="zh-CN" altLang="zh-CN" b="1" dirty="0"/>
              <a:t> </a:t>
            </a:r>
            <a:r>
              <a:rPr lang="zh-CN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/>
              <a:t>和几个其他头文件</a:t>
            </a:r>
            <a:r>
              <a:rPr lang="zh-CN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b="1" dirty="0"/>
              <a:t>中定义的符号常量</a:t>
            </a:r>
            <a:endParaRPr lang="zh-CN" altLang="en-US" dirty="0"/>
          </a:p>
          <a:p>
            <a:pPr marL="800100" lvl="1" indent="-349250">
              <a:lnSpc>
                <a:spcPct val="110000"/>
              </a:lnSpc>
              <a:spcBef>
                <a:spcPct val="35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b="1" dirty="0">
                <a:latin typeface="黑体" panose="02010609060101010101" pitchFamily="49" charset="-122"/>
              </a:rPr>
              <a:t>若一个指针变量为</a:t>
            </a:r>
            <a:r>
              <a:rPr lang="zh-CN" altLang="zh-CN" b="1" dirty="0">
                <a:latin typeface="Arial" panose="020B0604020202020204" pitchFamily="34" charset="0"/>
              </a:rPr>
              <a:t>0</a:t>
            </a:r>
            <a:r>
              <a:rPr lang="zh-CN" altLang="zh-CN" b="1" dirty="0">
                <a:latin typeface="黑体" panose="02010609060101010101" pitchFamily="49" charset="-122"/>
              </a:rPr>
              <a:t>(</a:t>
            </a:r>
            <a:r>
              <a:rPr lang="zh-CN" altLang="zh-CN" b="1" dirty="0">
                <a:latin typeface="Arial" panose="020B0604020202020204" pitchFamily="34" charset="0"/>
              </a:rPr>
              <a:t>NULL</a:t>
            </a:r>
            <a:r>
              <a:rPr lang="zh-CN" altLang="zh-CN" b="1" dirty="0">
                <a:latin typeface="黑体" panose="02010609060101010101" pitchFamily="49" charset="-122"/>
              </a:rPr>
              <a:t>)</a:t>
            </a:r>
            <a:r>
              <a:rPr lang="zh-CN" altLang="zh-CN" b="1" dirty="0"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latin typeface="黑体" panose="02010609060101010101" pitchFamily="49" charset="-122"/>
              </a:rPr>
              <a:t>表示该指针为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空</a:t>
            </a:r>
            <a:r>
              <a:rPr lang="zh-CN" altLang="zh-CN" b="1" dirty="0"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说明它没有指向任何变量。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2525" y="6351"/>
            <a:ext cx="6858000" cy="785813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6926" y="1144589"/>
            <a:ext cx="8353425" cy="2500435"/>
          </a:xfrm>
        </p:spPr>
        <p:txBody>
          <a:bodyPr/>
          <a:lstStyle/>
          <a:p>
            <a:pPr marL="271780" indent="-271780">
              <a:lnSpc>
                <a:spcPct val="115000"/>
              </a:lnSpc>
              <a:spcBef>
                <a:spcPct val="30000"/>
              </a:spcBef>
            </a:pP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指针变量只能赋另一个变量的地址或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  <a:p>
            <a:pPr marL="271780" indent="-271780">
              <a:lnSpc>
                <a:spcPct val="115000"/>
              </a:lnSpc>
              <a:spcBef>
                <a:spcPct val="30000"/>
              </a:spcBef>
            </a:pPr>
            <a:endParaRPr lang="en-US" altLang="zh-CN"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71780" indent="-271780">
              <a:lnSpc>
                <a:spcPct val="115000"/>
              </a:lnSpc>
              <a:spcBef>
                <a:spcPct val="30000"/>
              </a:spcBef>
            </a:pPr>
            <a:r>
              <a:rPr lang="zh-CN" altLang="en-US" sz="3600" b="1">
                <a:solidFill>
                  <a:srgbClr val="00B0F0"/>
                </a:solidFill>
              </a:rPr>
              <a:t>不赋值</a:t>
            </a:r>
            <a:r>
              <a:rPr lang="en-US" altLang="zh-CN" sz="3600" b="1">
                <a:solidFill>
                  <a:srgbClr val="00B0F0"/>
                </a:solidFill>
              </a:rPr>
              <a:t>(</a:t>
            </a:r>
            <a:r>
              <a:rPr lang="zh-CN" altLang="en-US" sz="3600" b="1">
                <a:solidFill>
                  <a:srgbClr val="00B0F0"/>
                </a:solidFill>
              </a:rPr>
              <a:t>野指针</a:t>
            </a:r>
            <a:r>
              <a:rPr lang="en-US" altLang="zh-CN" sz="3600" b="1">
                <a:solidFill>
                  <a:srgbClr val="00B0F0"/>
                </a:solidFill>
              </a:rPr>
              <a:t>)</a:t>
            </a:r>
            <a:r>
              <a:rPr lang="zh-CN" altLang="en-US" sz="3600" b="1">
                <a:solidFill>
                  <a:srgbClr val="00B0F0"/>
                </a:solidFill>
              </a:rPr>
              <a:t>或赋其他的整数都是危险操作</a:t>
            </a:r>
            <a:endParaRPr lang="zh-CN" altLang="en-US" sz="36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5213" y="53975"/>
            <a:ext cx="6858000" cy="769938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7889" y="1274764"/>
            <a:ext cx="8320087" cy="4649787"/>
          </a:xfrm>
        </p:spPr>
        <p:txBody>
          <a:bodyPr/>
          <a:lstStyle/>
          <a:p>
            <a:pPr marL="186055" indent="-186055"/>
            <a:r>
              <a:rPr lang="zh-CN" altLang="en-US" sz="2800" b="1" dirty="0"/>
              <a:t>可以把一个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指针的值赋给另一个指针</a:t>
            </a:r>
          </a:p>
          <a:p>
            <a:pPr marL="186055" indent="-186055">
              <a:spcBef>
                <a:spcPct val="25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zh-CN" altLang="zh-CN" sz="2800" b="1" dirty="0">
                <a:latin typeface="Arial" panose="020B0604020202020204" pitchFamily="34" charset="0"/>
              </a:rPr>
              <a:t>int  n</a:t>
            </a: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marL="186055" indent="-186055">
              <a:spcBef>
                <a:spcPct val="25000"/>
              </a:spcBef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        </a:t>
            </a:r>
            <a:r>
              <a:rPr lang="zh-CN" altLang="zh-CN" sz="2800" b="1" dirty="0">
                <a:latin typeface="Arial" panose="020B0604020202020204" pitchFamily="34" charset="0"/>
              </a:rPr>
              <a:t>int</a:t>
            </a:r>
            <a:r>
              <a:rPr lang="zh-CN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zh-CN" sz="2800" b="1" dirty="0">
                <a:solidFill>
                  <a:schemeClr val="bg2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zh-CN" sz="2800" b="1" dirty="0">
                <a:solidFill>
                  <a:schemeClr val="bg2"/>
                </a:solidFill>
              </a:rPr>
              <a:t>=</a:t>
            </a:r>
            <a:r>
              <a:rPr lang="zh-CN" altLang="zh-CN" sz="2800" dirty="0">
                <a:solidFill>
                  <a:schemeClr val="bg2"/>
                </a:solidFill>
              </a:rPr>
              <a:t>&amp;</a:t>
            </a:r>
            <a:r>
              <a:rPr lang="zh-CN" altLang="zh-CN" sz="2800" b="1" dirty="0">
                <a:latin typeface="Arial" panose="020B0604020202020204" pitchFamily="34" charset="0"/>
              </a:rPr>
              <a:t>n</a:t>
            </a: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 </a:t>
            </a:r>
          </a:p>
          <a:p>
            <a:pPr marL="186055" indent="-186055">
              <a:spcBef>
                <a:spcPct val="25000"/>
              </a:spcBef>
              <a:buNone/>
            </a:pP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zh-CN" altLang="zh-CN" sz="2800" b="1" dirty="0">
                <a:latin typeface="Arial" panose="020B0604020202020204" pitchFamily="34" charset="0"/>
              </a:rPr>
              <a:t>int</a:t>
            </a:r>
            <a:r>
              <a:rPr lang="zh-CN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zh-CN" sz="2800" b="1" dirty="0">
                <a:solidFill>
                  <a:srgbClr val="2D2DB3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2D2DB3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solidFill>
                  <a:srgbClr val="2D2DB3"/>
                </a:solidFill>
                <a:latin typeface="Arial" panose="020B0604020202020204" pitchFamily="34" charset="0"/>
              </a:rPr>
              <a:t>2</a:t>
            </a:r>
            <a:r>
              <a:rPr lang="zh-CN" altLang="zh-CN" sz="2800" b="1" dirty="0">
                <a:solidFill>
                  <a:srgbClr val="2D2DB3"/>
                </a:solidFill>
              </a:rPr>
              <a:t>=</a:t>
            </a:r>
            <a:r>
              <a:rPr lang="zh-CN" altLang="zh-CN" sz="2800" b="1" dirty="0">
                <a:solidFill>
                  <a:srgbClr val="2D2DB3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solidFill>
                  <a:srgbClr val="2D2DB3"/>
                </a:solidFill>
                <a:latin typeface="Arial" panose="020B0604020202020204" pitchFamily="34" charset="0"/>
              </a:rPr>
              <a:t>1</a:t>
            </a: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  <a:r>
              <a:rPr lang="zh-CN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186055" indent="-186055">
              <a:spcBef>
                <a:spcPct val="25000"/>
              </a:spcBef>
              <a:buNone/>
            </a:pP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186055" indent="-186055">
              <a:spcBef>
                <a:spcPct val="25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此时 ：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*p1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*p2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都是 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endParaRPr lang="zh-CN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944814" y="207964"/>
            <a:ext cx="6827837" cy="738187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指针变量作为函数参数</a:t>
            </a:r>
          </a:p>
        </p:txBody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5025" y="1282700"/>
            <a:ext cx="8250238" cy="4787900"/>
          </a:xfrm>
        </p:spPr>
        <p:txBody>
          <a:bodyPr/>
          <a:lstStyle/>
          <a:p>
            <a:pPr marL="176530" indent="-176530">
              <a:lnSpc>
                <a:spcPct val="110000"/>
              </a:lnSpc>
              <a:spcBef>
                <a:spcPct val="35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黑体" panose="02010609060101010101" pitchFamily="49" charset="-122"/>
              </a:rPr>
              <a:t>特点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  <a:p>
            <a:pPr marL="633730" lvl="1" indent="-278130">
              <a:lnSpc>
                <a:spcPct val="115000"/>
              </a:lnSpc>
              <a:spcBef>
                <a:spcPct val="35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b="1" dirty="0">
                <a:ea typeface="黑体" panose="02010609060101010101" pitchFamily="49" charset="-122"/>
              </a:rPr>
              <a:t>将一个变量的地址作为实参传送到被调用函数中。</a:t>
            </a:r>
          </a:p>
          <a:p>
            <a:pPr marL="633730" lvl="1" indent="-278130">
              <a:lnSpc>
                <a:spcPct val="115000"/>
              </a:lnSpc>
              <a:spcBef>
                <a:spcPct val="35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b="1" dirty="0">
                <a:ea typeface="黑体" panose="02010609060101010101" pitchFamily="49" charset="-122"/>
              </a:rPr>
              <a:t>采用</a:t>
            </a:r>
            <a:r>
              <a:rPr lang="zh-CN" b="1" dirty="0"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b="1" dirty="0">
                <a:ea typeface="黑体" panose="02010609060101010101" pitchFamily="49" charset="-122"/>
              </a:rPr>
              <a:t>单向值传递</a:t>
            </a:r>
            <a:r>
              <a:rPr lang="zh-CN" b="1" dirty="0"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b="1" dirty="0">
                <a:ea typeface="黑体" panose="02010609060101010101" pitchFamily="49" charset="-122"/>
              </a:rPr>
              <a:t>方式</a:t>
            </a:r>
            <a:r>
              <a:rPr 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（地址值）</a:t>
            </a:r>
            <a:endParaRPr lang="zh-CN" b="1" dirty="0">
              <a:ea typeface="黑体" panose="02010609060101010101" pitchFamily="49" charset="-122"/>
            </a:endParaRPr>
          </a:p>
          <a:p>
            <a:pPr marL="633730" lvl="1" indent="-278130">
              <a:lnSpc>
                <a:spcPct val="115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b="1" dirty="0">
                <a:ea typeface="黑体" panose="02010609060101010101" pitchFamily="49" charset="-122"/>
              </a:rPr>
              <a:t>通过间接引用</a:t>
            </a:r>
            <a:r>
              <a:rPr lang="en-US" altLang="zh-CN" b="1" dirty="0">
                <a:ea typeface="黑体" panose="02010609060101010101" pitchFamily="49" charset="-122"/>
              </a:rPr>
              <a:t>,</a:t>
            </a:r>
            <a:r>
              <a:rPr 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可以改变</a:t>
            </a: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形参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指针变量所指向变量的值</a:t>
            </a:r>
            <a:r>
              <a:rPr 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633730" lvl="1" indent="-27813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b="1">
                <a:solidFill>
                  <a:srgbClr val="FF0000"/>
                </a:solidFill>
                <a:ea typeface="黑体" panose="02010609060101010101" pitchFamily="49" charset="-122"/>
              </a:rPr>
              <a:t>可以</a:t>
            </a:r>
            <a:r>
              <a:rPr 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得到</a:t>
            </a: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多个返回值</a:t>
            </a: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”</a:t>
            </a:r>
            <a:endParaRPr lang="en-US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54272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68300" cy="27305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2725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33625" y="909638"/>
            <a:ext cx="306388" cy="215900"/>
          </a:xfrm>
          <a:prstGeom prst="actionButtonForwardNext">
            <a:avLst/>
          </a:prstGeom>
          <a:noFill/>
          <a:ln w="0" cmpd="sng">
            <a:solidFill>
              <a:srgbClr val="002BB4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43175" y="180975"/>
            <a:ext cx="7793038" cy="825500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交换两个元素之值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2964" y="1565275"/>
            <a:ext cx="8231187" cy="4762500"/>
          </a:xfrm>
        </p:spPr>
        <p:txBody>
          <a:bodyPr/>
          <a:lstStyle/>
          <a:p>
            <a:pPr marL="0" indent="171450">
              <a:lnSpc>
                <a:spcPct val="125000"/>
              </a:lnSpc>
              <a:spcBef>
                <a:spcPct val="10000"/>
              </a:spcBef>
              <a:buNone/>
            </a:pPr>
            <a:r>
              <a:rPr lang="zh-CN" altLang="zh-CN" sz="2400" b="1"/>
              <a:t>swap</a:t>
            </a:r>
            <a:r>
              <a:rPr lang="zh-CN" altLang="zh-CN" sz="2400" b="1">
                <a:latin typeface="Times New Roman" panose="02020603050405020304" pitchFamily="18" charset="0"/>
              </a:rPr>
              <a:t>(</a:t>
            </a:r>
            <a:r>
              <a:rPr lang="zh-CN" altLang="zh-CN" sz="2400" b="1"/>
              <a:t> </a:t>
            </a:r>
            <a:r>
              <a:rPr lang="zh-CN" altLang="zh-CN" sz="2400" b="1">
                <a:solidFill>
                  <a:srgbClr val="0000B0"/>
                </a:solidFill>
              </a:rPr>
              <a:t>int  </a:t>
            </a:r>
            <a:r>
              <a:rPr lang="zh-CN" altLang="zh-CN" sz="2400" b="1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0"/>
                </a:solidFill>
              </a:rPr>
              <a:t>x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>
                <a:solidFill>
                  <a:srgbClr val="0000B0"/>
                </a:solidFill>
              </a:rPr>
              <a:t> int  </a:t>
            </a:r>
            <a:r>
              <a:rPr lang="zh-CN" altLang="zh-CN" sz="2400" b="1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0"/>
                </a:solidFill>
              </a:rPr>
              <a:t>y</a:t>
            </a:r>
            <a:r>
              <a:rPr lang="zh-CN" altLang="zh-CN" sz="2400" b="1"/>
              <a:t> </a:t>
            </a:r>
            <a:r>
              <a:rPr lang="zh-CN" altLang="zh-CN" sz="2400" b="1">
                <a:latin typeface="Times New Roman" panose="02020603050405020304" pitchFamily="18" charset="0"/>
              </a:rPr>
              <a:t>)</a:t>
            </a:r>
            <a:br>
              <a:rPr lang="zh-CN" altLang="zh-CN" sz="2400" b="1"/>
            </a:br>
            <a:r>
              <a:rPr lang="zh-CN" altLang="zh-CN" sz="2400" b="1"/>
              <a:t>  { int   t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  <a:br>
              <a:rPr lang="zh-CN" altLang="zh-CN" sz="2400" b="1"/>
            </a:br>
            <a:r>
              <a:rPr lang="zh-CN" altLang="zh-CN" sz="2400" b="1"/>
              <a:t>     </a:t>
            </a:r>
            <a:r>
              <a:rPr lang="zh-CN" altLang="zh-CN" sz="2400" b="1">
                <a:solidFill>
                  <a:srgbClr val="0000B0"/>
                </a:solidFill>
              </a:rPr>
              <a:t>t=</a:t>
            </a:r>
            <a:r>
              <a:rPr lang="zh-CN" altLang="zh-CN" sz="2400" b="1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0"/>
                </a:solidFill>
              </a:rPr>
              <a:t>x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  <a:r>
              <a:rPr lang="zh-CN" altLang="zh-CN" sz="2400" b="1">
                <a:solidFill>
                  <a:srgbClr val="0000B0"/>
                </a:solidFill>
              </a:rPr>
              <a:t>   </a:t>
            </a:r>
            <a:r>
              <a:rPr lang="zh-CN" altLang="zh-CN" sz="2400" b="1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0"/>
                </a:solidFill>
              </a:rPr>
              <a:t>x=</a:t>
            </a:r>
            <a:r>
              <a:rPr lang="zh-CN" altLang="zh-CN" sz="2400" b="1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0"/>
                </a:solidFill>
              </a:rPr>
              <a:t>y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  <a:r>
              <a:rPr lang="zh-CN" altLang="zh-CN" sz="2400" b="1">
                <a:solidFill>
                  <a:srgbClr val="0000B0"/>
                </a:solidFill>
              </a:rPr>
              <a:t>   </a:t>
            </a:r>
            <a:r>
              <a:rPr lang="zh-CN" altLang="zh-CN" sz="2400" b="1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0"/>
                </a:solidFill>
              </a:rPr>
              <a:t>y=t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</a:p>
          <a:p>
            <a:pPr marL="0" indent="171450">
              <a:lnSpc>
                <a:spcPct val="110000"/>
              </a:lnSpc>
              <a:buNone/>
            </a:pPr>
            <a:r>
              <a:rPr lang="zh-CN" altLang="zh-CN" sz="2400" b="1">
                <a:latin typeface="Times New Roman" panose="02020603050405020304" pitchFamily="18" charset="0"/>
              </a:rPr>
              <a:t> </a:t>
            </a:r>
            <a:r>
              <a:rPr lang="zh-CN" altLang="zh-CN" sz="2400" b="1"/>
              <a:t>}  </a:t>
            </a:r>
            <a:r>
              <a:rPr lang="zh-CN" altLang="zh-CN" sz="2000">
                <a:solidFill>
                  <a:srgbClr val="CC0000"/>
                </a:solidFill>
              </a:rPr>
              <a:t>//</a:t>
            </a:r>
            <a:r>
              <a:rPr lang="zh-CN" altLang="en-US" sz="20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交换形参指针变量所指向变量的值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000"/>
          </a:p>
          <a:p>
            <a:pPr marL="0" indent="17145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zh-CN" sz="2400" b="1"/>
              <a:t>main</a:t>
            </a:r>
            <a:r>
              <a:rPr lang="zh-CN" altLang="zh-CN" sz="2400" b="1">
                <a:latin typeface="Times New Roman" panose="02020603050405020304" pitchFamily="18" charset="0"/>
              </a:rPr>
              <a:t>( )</a:t>
            </a:r>
            <a:br>
              <a:rPr lang="zh-CN" altLang="zh-CN" sz="2400" b="1"/>
            </a:br>
            <a:r>
              <a:rPr lang="zh-CN" altLang="zh-CN" sz="2400" b="1"/>
              <a:t> { int  a=1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b=2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  <a:br>
              <a:rPr lang="zh-CN" altLang="zh-CN" sz="2400" b="1"/>
            </a:br>
            <a:r>
              <a:rPr lang="zh-CN" altLang="zh-CN" sz="2400" b="1"/>
              <a:t>    printf</a:t>
            </a:r>
            <a:r>
              <a:rPr lang="zh-CN" altLang="zh-CN" sz="2400" b="1">
                <a:latin typeface="Times New Roman" panose="02020603050405020304" pitchFamily="18" charset="0"/>
              </a:rPr>
              <a:t>(“</a:t>
            </a:r>
            <a:r>
              <a:rPr lang="zh-CN" altLang="zh-CN" sz="2400" b="1"/>
              <a:t>1</a:t>
            </a:r>
            <a:r>
              <a:rPr lang="zh-CN" altLang="zh-CN" sz="2400" b="1">
                <a:latin typeface="Times New Roman" panose="02020603050405020304" pitchFamily="18" charset="0"/>
              </a:rPr>
              <a:t>)</a:t>
            </a:r>
            <a:r>
              <a:rPr lang="zh-CN" altLang="zh-CN" sz="2400" b="1"/>
              <a:t>a=%d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b=%d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anose="02020603050405020304" pitchFamily="18" charset="0"/>
              </a:rPr>
              <a:t>”, </a:t>
            </a:r>
            <a:r>
              <a:rPr lang="zh-CN" altLang="zh-CN" sz="2400" b="1"/>
              <a:t>a</a:t>
            </a:r>
            <a:r>
              <a:rPr lang="zh-CN" altLang="zh-CN" sz="2400" b="1">
                <a:latin typeface="Times New Roman" panose="02020603050405020304" pitchFamily="18" charset="0"/>
              </a:rPr>
              <a:t>, </a:t>
            </a:r>
            <a:r>
              <a:rPr lang="zh-CN" altLang="zh-CN" sz="2400" b="1"/>
              <a:t>b </a:t>
            </a:r>
            <a:r>
              <a:rPr lang="zh-CN" altLang="zh-CN" sz="2400" b="1">
                <a:latin typeface="Times New Roman" panose="02020603050405020304" pitchFamily="18" charset="0"/>
              </a:rPr>
              <a:t>);</a:t>
            </a:r>
            <a:r>
              <a:rPr lang="zh-CN" altLang="zh-CN" sz="2400" b="1"/>
              <a:t> </a:t>
            </a:r>
          </a:p>
          <a:p>
            <a:pPr marL="0" indent="17145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zh-CN" sz="2400" b="1"/>
              <a:t>  </a:t>
            </a:r>
            <a:r>
              <a:rPr lang="zh-CN" altLang="zh-CN" sz="2400" b="1">
                <a:solidFill>
                  <a:srgbClr val="0000B0"/>
                </a:solidFill>
              </a:rPr>
              <a:t>swap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400">
                <a:solidFill>
                  <a:srgbClr val="0000B0"/>
                </a:solidFill>
              </a:rPr>
              <a:t>&amp;</a:t>
            </a:r>
            <a:r>
              <a:rPr lang="zh-CN" altLang="zh-CN" sz="2400" b="1">
                <a:solidFill>
                  <a:srgbClr val="0000B0"/>
                </a:solidFill>
              </a:rPr>
              <a:t>a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sz="2400">
                <a:solidFill>
                  <a:srgbClr val="0000B0"/>
                </a:solidFill>
              </a:rPr>
              <a:t>&amp;</a:t>
            </a:r>
            <a:r>
              <a:rPr lang="zh-CN" altLang="zh-CN" sz="2400" b="1">
                <a:solidFill>
                  <a:srgbClr val="0000B0"/>
                </a:solidFill>
              </a:rPr>
              <a:t>b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);</a:t>
            </a:r>
            <a:r>
              <a:rPr lang="zh-CN" altLang="zh-CN" sz="2400" b="1">
                <a:solidFill>
                  <a:srgbClr val="000094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zh-CN" sz="2000"/>
              <a:t>//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实参为变量的地址</a:t>
            </a:r>
            <a:r>
              <a:rPr lang="zh-CN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指针</a:t>
            </a:r>
            <a:r>
              <a:rPr lang="zh-CN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sz="2000" b="1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0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地址值传递</a:t>
            </a:r>
            <a:endParaRPr lang="zh-CN" altLang="en-US" sz="2000">
              <a:solidFill>
                <a:srgbClr val="CC0000"/>
              </a:solidFill>
            </a:endParaRPr>
          </a:p>
          <a:p>
            <a:pPr marL="0" indent="17145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/>
              <a:t>  </a:t>
            </a:r>
            <a:r>
              <a:rPr lang="zh-CN" altLang="zh-CN" sz="2400" b="1"/>
              <a:t>printf</a:t>
            </a:r>
            <a:r>
              <a:rPr lang="zh-CN" altLang="zh-CN" sz="2400" b="1">
                <a:latin typeface="Times New Roman" panose="02020603050405020304" pitchFamily="18" charset="0"/>
              </a:rPr>
              <a:t>(“</a:t>
            </a:r>
            <a:r>
              <a:rPr lang="zh-CN" altLang="zh-CN" sz="2400" b="1"/>
              <a:t>2</a:t>
            </a:r>
            <a:r>
              <a:rPr lang="zh-CN" altLang="zh-CN" sz="2400" b="1">
                <a:latin typeface="Times New Roman" panose="02020603050405020304" pitchFamily="18" charset="0"/>
              </a:rPr>
              <a:t>)</a:t>
            </a:r>
            <a:r>
              <a:rPr lang="zh-CN" altLang="zh-CN" sz="2400" b="1"/>
              <a:t>a=%d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b=%d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anose="02020603050405020304" pitchFamily="18" charset="0"/>
              </a:rPr>
              <a:t>”,</a:t>
            </a:r>
            <a:r>
              <a:rPr lang="zh-CN" altLang="zh-CN" sz="2400" b="1"/>
              <a:t>a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b</a:t>
            </a:r>
            <a:r>
              <a:rPr lang="zh-CN" altLang="zh-CN" sz="2400" b="1">
                <a:latin typeface="Times New Roman" panose="02020603050405020304" pitchFamily="18" charset="0"/>
              </a:rPr>
              <a:t>);</a:t>
            </a:r>
            <a:br>
              <a:rPr lang="zh-CN" altLang="zh-CN" sz="2400" b="1">
                <a:latin typeface="Times New Roman" panose="02020603050405020304" pitchFamily="18" charset="0"/>
              </a:rPr>
            </a:br>
            <a:r>
              <a:rPr lang="zh-CN" altLang="zh-CN" sz="2400" b="1"/>
              <a:t> }</a:t>
            </a:r>
          </a:p>
        </p:txBody>
      </p:sp>
      <p:sp>
        <p:nvSpPr>
          <p:cNvPr id="543748" name="Text Box 4"/>
          <p:cNvSpPr txBox="1">
            <a:spLocks noChangeArrowheads="1"/>
          </p:cNvSpPr>
          <p:nvPr/>
        </p:nvSpPr>
        <p:spPr bwMode="auto">
          <a:xfrm>
            <a:off x="8077200" y="1295401"/>
            <a:ext cx="1981200" cy="1217613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0094"/>
            </a:solidFill>
            <a:miter lim="800000"/>
          </a:ln>
          <a:effectLst>
            <a:outerShdw dist="53882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94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b="1">
                <a:solidFill>
                  <a:srgbClr val="000094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1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zh-CN" b="1">
                <a:solidFill>
                  <a:srgbClr val="000000"/>
                </a:solidFill>
              </a:rPr>
              <a:t>a=10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b="1">
                <a:solidFill>
                  <a:srgbClr val="000000"/>
                </a:solidFill>
              </a:rPr>
              <a:t> b=20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2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zh-CN" b="1">
                <a:solidFill>
                  <a:srgbClr val="000000"/>
                </a:solidFill>
              </a:rPr>
              <a:t>a=20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b="1">
                <a:solidFill>
                  <a:srgbClr val="000000"/>
                </a:solidFill>
              </a:rPr>
              <a:t> b=10 </a:t>
            </a:r>
          </a:p>
        </p:txBody>
      </p:sp>
      <p:grpSp>
        <p:nvGrpSpPr>
          <p:cNvPr id="543749" name="Group 5"/>
          <p:cNvGrpSpPr/>
          <p:nvPr/>
        </p:nvGrpSpPr>
        <p:grpSpPr bwMode="auto">
          <a:xfrm>
            <a:off x="7921625" y="576263"/>
            <a:ext cx="1651000" cy="711200"/>
            <a:chOff x="0" y="0"/>
            <a:chExt cx="1032" cy="476"/>
          </a:xfrm>
        </p:grpSpPr>
        <p:sp>
          <p:nvSpPr>
            <p:cNvPr id="543750" name="Text Box 6"/>
            <p:cNvSpPr txBox="1">
              <a:spLocks noChangeArrowheads="1"/>
            </p:cNvSpPr>
            <p:nvPr/>
          </p:nvSpPr>
          <p:spPr bwMode="auto">
            <a:xfrm>
              <a:off x="24" y="0"/>
              <a:ext cx="240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a</a:t>
              </a:r>
            </a:p>
          </p:txBody>
        </p:sp>
        <p:sp>
          <p:nvSpPr>
            <p:cNvPr id="543751" name="Text Box 7"/>
            <p:cNvSpPr txBox="1">
              <a:spLocks noChangeArrowheads="1"/>
            </p:cNvSpPr>
            <p:nvPr/>
          </p:nvSpPr>
          <p:spPr bwMode="auto">
            <a:xfrm>
              <a:off x="768" y="0"/>
              <a:ext cx="240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b</a:t>
              </a:r>
            </a:p>
          </p:txBody>
        </p:sp>
        <p:sp>
          <p:nvSpPr>
            <p:cNvPr id="543752" name="Text Box 8"/>
            <p:cNvSpPr txBox="1">
              <a:spLocks noChangeArrowheads="1"/>
            </p:cNvSpPr>
            <p:nvPr/>
          </p:nvSpPr>
          <p:spPr bwMode="auto">
            <a:xfrm>
              <a:off x="0" y="239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543753" name="Text Box 9"/>
            <p:cNvSpPr txBox="1">
              <a:spLocks noChangeArrowheads="1"/>
            </p:cNvSpPr>
            <p:nvPr/>
          </p:nvSpPr>
          <p:spPr bwMode="auto">
            <a:xfrm>
              <a:off x="744" y="245"/>
              <a:ext cx="288" cy="231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20</a:t>
              </a:r>
            </a:p>
          </p:txBody>
        </p:sp>
      </p:grpSp>
      <p:grpSp>
        <p:nvGrpSpPr>
          <p:cNvPr id="543754" name="Group 10"/>
          <p:cNvGrpSpPr/>
          <p:nvPr/>
        </p:nvGrpSpPr>
        <p:grpSpPr bwMode="auto">
          <a:xfrm>
            <a:off x="6969125" y="1981201"/>
            <a:ext cx="3657600" cy="365125"/>
            <a:chOff x="0" y="0"/>
            <a:chExt cx="2304" cy="230"/>
          </a:xfrm>
        </p:grpSpPr>
        <p:sp>
          <p:nvSpPr>
            <p:cNvPr id="543755" name="Text Box 11"/>
            <p:cNvSpPr txBox="1">
              <a:spLocks noChangeArrowheads="1"/>
            </p:cNvSpPr>
            <p:nvPr/>
          </p:nvSpPr>
          <p:spPr bwMode="auto">
            <a:xfrm>
              <a:off x="336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&amp;a</a:t>
              </a:r>
            </a:p>
          </p:txBody>
        </p:sp>
        <p:sp>
          <p:nvSpPr>
            <p:cNvPr id="543756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x</a:t>
              </a:r>
            </a:p>
          </p:txBody>
        </p:sp>
        <p:sp>
          <p:nvSpPr>
            <p:cNvPr id="543757" name="Text Box 13"/>
            <p:cNvSpPr txBox="1">
              <a:spLocks noChangeArrowheads="1"/>
            </p:cNvSpPr>
            <p:nvPr/>
          </p:nvSpPr>
          <p:spPr bwMode="auto">
            <a:xfrm>
              <a:off x="2016" y="9"/>
              <a:ext cx="2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y</a:t>
              </a:r>
            </a:p>
          </p:txBody>
        </p:sp>
        <p:sp>
          <p:nvSpPr>
            <p:cNvPr id="543758" name="Text Box 14"/>
            <p:cNvSpPr txBox="1">
              <a:spLocks noChangeArrowheads="1"/>
            </p:cNvSpPr>
            <p:nvPr/>
          </p:nvSpPr>
          <p:spPr bwMode="auto">
            <a:xfrm>
              <a:off x="1656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&amp;b</a:t>
              </a:r>
            </a:p>
          </p:txBody>
        </p:sp>
      </p:grpSp>
      <p:grpSp>
        <p:nvGrpSpPr>
          <p:cNvPr id="543759" name="Group 15"/>
          <p:cNvGrpSpPr/>
          <p:nvPr/>
        </p:nvGrpSpPr>
        <p:grpSpPr bwMode="auto">
          <a:xfrm>
            <a:off x="8474076" y="2971801"/>
            <a:ext cx="550863" cy="765175"/>
            <a:chOff x="0" y="0"/>
            <a:chExt cx="432" cy="541"/>
          </a:xfrm>
        </p:grpSpPr>
        <p:sp>
          <p:nvSpPr>
            <p:cNvPr id="543760" name="Text Box 16"/>
            <p:cNvSpPr txBox="1">
              <a:spLocks noChangeArrowheads="1"/>
            </p:cNvSpPr>
            <p:nvPr/>
          </p:nvSpPr>
          <p:spPr bwMode="auto">
            <a:xfrm>
              <a:off x="0" y="303"/>
              <a:ext cx="432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t</a:t>
              </a:r>
            </a:p>
          </p:txBody>
        </p:sp>
        <p:sp>
          <p:nvSpPr>
            <p:cNvPr id="543761" name="Text Box 17"/>
            <p:cNvSpPr txBox="1">
              <a:spLocks noChangeArrowheads="1"/>
            </p:cNvSpPr>
            <p:nvPr/>
          </p:nvSpPr>
          <p:spPr bwMode="auto">
            <a:xfrm>
              <a:off x="72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543762" name="Group 18"/>
          <p:cNvGrpSpPr/>
          <p:nvPr/>
        </p:nvGrpSpPr>
        <p:grpSpPr bwMode="auto">
          <a:xfrm>
            <a:off x="9407525" y="1295400"/>
            <a:ext cx="914400" cy="685800"/>
            <a:chOff x="0" y="0"/>
            <a:chExt cx="576" cy="432"/>
          </a:xfrm>
        </p:grpSpPr>
        <p:sp>
          <p:nvSpPr>
            <p:cNvPr id="543763" name="Line 19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288" cy="432"/>
            </a:xfrm>
            <a:prstGeom prst="line">
              <a:avLst/>
            </a:prstGeom>
            <a:noFill/>
            <a:ln w="19050" cmpd="sng">
              <a:solidFill>
                <a:srgbClr val="99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43764" name="Text Box 20"/>
            <p:cNvSpPr txBox="1">
              <a:spLocks noChangeArrowheads="1"/>
            </p:cNvSpPr>
            <p:nvPr/>
          </p:nvSpPr>
          <p:spPr bwMode="auto">
            <a:xfrm>
              <a:off x="144" y="96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*</a:t>
              </a:r>
              <a:r>
                <a:rPr lang="zh-CN" altLang="zh-CN" sz="1600" b="1">
                  <a:solidFill>
                    <a:srgbClr val="0033CC"/>
                  </a:solidFill>
                </a:rPr>
                <a:t>y</a:t>
              </a:r>
              <a:r>
                <a:rPr lang="zh-CN" altLang="zh-CN" sz="1200" b="1">
                  <a:solidFill>
                    <a:srgbClr val="0033CC"/>
                  </a:solidFill>
                </a:rPr>
                <a:t>==</a:t>
              </a:r>
              <a:r>
                <a:rPr lang="zh-CN" altLang="zh-CN" sz="1600" b="1">
                  <a:solidFill>
                    <a:srgbClr val="0033CC"/>
                  </a:solidFill>
                </a:rPr>
                <a:t>b</a:t>
              </a:r>
            </a:p>
          </p:txBody>
        </p:sp>
      </p:grpSp>
      <p:grpSp>
        <p:nvGrpSpPr>
          <p:cNvPr id="543765" name="Group 21"/>
          <p:cNvGrpSpPr/>
          <p:nvPr/>
        </p:nvGrpSpPr>
        <p:grpSpPr bwMode="auto">
          <a:xfrm>
            <a:off x="7197725" y="1295400"/>
            <a:ext cx="1023938" cy="685800"/>
            <a:chOff x="0" y="0"/>
            <a:chExt cx="576" cy="432"/>
          </a:xfrm>
        </p:grpSpPr>
        <p:sp>
          <p:nvSpPr>
            <p:cNvPr id="543766" name="Line 22"/>
            <p:cNvSpPr>
              <a:spLocks noChangeShapeType="1"/>
            </p:cNvSpPr>
            <p:nvPr/>
          </p:nvSpPr>
          <p:spPr bwMode="auto">
            <a:xfrm flipV="1">
              <a:off x="288" y="0"/>
              <a:ext cx="288" cy="432"/>
            </a:xfrm>
            <a:prstGeom prst="line">
              <a:avLst/>
            </a:prstGeom>
            <a:noFill/>
            <a:ln w="19050" cmpd="sng">
              <a:solidFill>
                <a:srgbClr val="99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43767" name="Text Box 23"/>
            <p:cNvSpPr txBox="1">
              <a:spLocks noChangeArrowheads="1"/>
            </p:cNvSpPr>
            <p:nvPr/>
          </p:nvSpPr>
          <p:spPr bwMode="auto">
            <a:xfrm>
              <a:off x="0" y="96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*</a:t>
              </a:r>
              <a:r>
                <a:rPr lang="zh-CN" altLang="zh-CN" sz="1600" b="1">
                  <a:solidFill>
                    <a:srgbClr val="0033CC"/>
                  </a:solidFill>
                </a:rPr>
                <a:t>x</a:t>
              </a:r>
              <a:r>
                <a:rPr lang="zh-CN" altLang="zh-CN" sz="1200" b="1">
                  <a:solidFill>
                    <a:srgbClr val="0033CC"/>
                  </a:solidFill>
                </a:rPr>
                <a:t>==</a:t>
              </a:r>
              <a:r>
                <a:rPr lang="zh-CN" altLang="zh-CN" sz="1600" b="1">
                  <a:solidFill>
                    <a:srgbClr val="0033CC"/>
                  </a:solidFill>
                </a:rPr>
                <a:t>a</a:t>
              </a:r>
            </a:p>
          </p:txBody>
        </p:sp>
      </p:grpSp>
      <p:grpSp>
        <p:nvGrpSpPr>
          <p:cNvPr id="543768" name="Group 24"/>
          <p:cNvGrpSpPr/>
          <p:nvPr/>
        </p:nvGrpSpPr>
        <p:grpSpPr bwMode="auto">
          <a:xfrm>
            <a:off x="7924801" y="955675"/>
            <a:ext cx="1063625" cy="2349500"/>
            <a:chOff x="0" y="0"/>
            <a:chExt cx="672" cy="1623"/>
          </a:xfrm>
        </p:grpSpPr>
        <p:sp>
          <p:nvSpPr>
            <p:cNvPr id="543769" name="Text Box 25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543770" name="Text Box 26"/>
            <p:cNvSpPr txBox="1">
              <a:spLocks noChangeArrowheads="1"/>
            </p:cNvSpPr>
            <p:nvPr/>
          </p:nvSpPr>
          <p:spPr bwMode="auto">
            <a:xfrm>
              <a:off x="384" y="1393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543771" name="Line 27"/>
            <p:cNvSpPr>
              <a:spLocks noChangeShapeType="1"/>
            </p:cNvSpPr>
            <p:nvPr/>
          </p:nvSpPr>
          <p:spPr bwMode="auto">
            <a:xfrm flipH="1" flipV="1">
              <a:off x="168" y="241"/>
              <a:ext cx="336" cy="1152"/>
            </a:xfrm>
            <a:prstGeom prst="line">
              <a:avLst/>
            </a:prstGeom>
            <a:noFill/>
            <a:ln w="22225" cmpd="sng">
              <a:solidFill>
                <a:srgbClr val="99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543772" name="Group 28"/>
          <p:cNvGrpSpPr/>
          <p:nvPr/>
        </p:nvGrpSpPr>
        <p:grpSpPr bwMode="auto">
          <a:xfrm>
            <a:off x="7924801" y="938214"/>
            <a:ext cx="1649413" cy="350037"/>
            <a:chOff x="0" y="0"/>
            <a:chExt cx="1032" cy="230"/>
          </a:xfrm>
        </p:grpSpPr>
        <p:sp>
          <p:nvSpPr>
            <p:cNvPr id="543773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20</a:t>
              </a:r>
            </a:p>
          </p:txBody>
        </p:sp>
        <p:sp>
          <p:nvSpPr>
            <p:cNvPr id="543774" name="Text Box 30"/>
            <p:cNvSpPr txBox="1">
              <a:spLocks noChangeArrowheads="1"/>
            </p:cNvSpPr>
            <p:nvPr/>
          </p:nvSpPr>
          <p:spPr bwMode="auto">
            <a:xfrm>
              <a:off x="744" y="6"/>
              <a:ext cx="288" cy="222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20</a:t>
              </a:r>
            </a:p>
          </p:txBody>
        </p:sp>
        <p:sp>
          <p:nvSpPr>
            <p:cNvPr id="543775" name="Line 31"/>
            <p:cNvSpPr>
              <a:spLocks noChangeShapeType="1"/>
            </p:cNvSpPr>
            <p:nvPr/>
          </p:nvSpPr>
          <p:spPr bwMode="auto">
            <a:xfrm>
              <a:off x="312" y="115"/>
              <a:ext cx="432" cy="0"/>
            </a:xfrm>
            <a:prstGeom prst="line">
              <a:avLst/>
            </a:prstGeom>
            <a:noFill/>
            <a:ln w="22225" cmpd="sng">
              <a:solidFill>
                <a:srgbClr val="99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543776" name="Text Box 32"/>
          <p:cNvSpPr txBox="1">
            <a:spLocks noChangeArrowheads="1"/>
          </p:cNvSpPr>
          <p:nvPr/>
        </p:nvSpPr>
        <p:spPr bwMode="auto">
          <a:xfrm>
            <a:off x="2613025" y="379413"/>
            <a:ext cx="5018088" cy="933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5480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b="1">
                <a:solidFill>
                  <a:srgbClr val="000000"/>
                </a:solidFill>
                <a:ea typeface="黑体" panose="02010609060101010101" pitchFamily="49" charset="-122"/>
              </a:rPr>
              <a:t>. 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主函数</a:t>
            </a:r>
            <a:r>
              <a:rPr lang="zh-CN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定义变量</a:t>
            </a:r>
            <a:r>
              <a:rPr lang="zh-CN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1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b,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并初始化</a:t>
            </a:r>
            <a:r>
              <a:rPr lang="zh-CN" altLang="en-US" sz="1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16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3777" name="Text Box 33"/>
          <p:cNvSpPr txBox="1">
            <a:spLocks noChangeArrowheads="1"/>
          </p:cNvSpPr>
          <p:nvPr/>
        </p:nvSpPr>
        <p:spPr bwMode="auto">
          <a:xfrm>
            <a:off x="2667001" y="52388"/>
            <a:ext cx="4803775" cy="13192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bIns="10800">
            <a:spAutoFit/>
          </a:bodyPr>
          <a:lstStyle/>
          <a:p>
            <a:pPr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主函数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调用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swap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 ),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将实参的值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地址</a:t>
            </a:r>
            <a:r>
              <a:rPr lang="zh-CN" altLang="en-US" sz="1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传递给形参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使得形参 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x,y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分别指向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543778" name="Text Box 34"/>
          <p:cNvSpPr txBox="1">
            <a:spLocks noChangeArrowheads="1"/>
          </p:cNvSpPr>
          <p:nvPr/>
        </p:nvSpPr>
        <p:spPr bwMode="auto">
          <a:xfrm>
            <a:off x="2654300" y="117476"/>
            <a:ext cx="4694238" cy="1235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0" bIns="180000"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3.swap( )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函数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交换形参*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的值。即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的值。</a:t>
            </a:r>
          </a:p>
        </p:txBody>
      </p:sp>
      <p:grpSp>
        <p:nvGrpSpPr>
          <p:cNvPr id="543779" name="Group 35"/>
          <p:cNvGrpSpPr/>
          <p:nvPr/>
        </p:nvGrpSpPr>
        <p:grpSpPr bwMode="auto">
          <a:xfrm>
            <a:off x="8534400" y="935038"/>
            <a:ext cx="1036638" cy="2373312"/>
            <a:chOff x="0" y="0"/>
            <a:chExt cx="648" cy="1617"/>
          </a:xfrm>
        </p:grpSpPr>
        <p:sp>
          <p:nvSpPr>
            <p:cNvPr id="543780" name="Text Box 36"/>
            <p:cNvSpPr txBox="1">
              <a:spLocks noChangeArrowheads="1"/>
            </p:cNvSpPr>
            <p:nvPr/>
          </p:nvSpPr>
          <p:spPr bwMode="auto">
            <a:xfrm>
              <a:off x="360" y="0"/>
              <a:ext cx="288" cy="231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543781" name="Text Box 37"/>
            <p:cNvSpPr txBox="1">
              <a:spLocks noChangeArrowheads="1"/>
            </p:cNvSpPr>
            <p:nvPr/>
          </p:nvSpPr>
          <p:spPr bwMode="auto">
            <a:xfrm>
              <a:off x="0" y="1387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543782" name="Line 38"/>
            <p:cNvSpPr>
              <a:spLocks noChangeShapeType="1"/>
            </p:cNvSpPr>
            <p:nvPr/>
          </p:nvSpPr>
          <p:spPr bwMode="auto">
            <a:xfrm flipH="1">
              <a:off x="168" y="235"/>
              <a:ext cx="288" cy="1152"/>
            </a:xfrm>
            <a:prstGeom prst="line">
              <a:avLst/>
            </a:prstGeom>
            <a:noFill/>
            <a:ln w="22225" cmpd="sng">
              <a:solidFill>
                <a:srgbClr val="99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543783" name="AutoShape 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03388" y="1125538"/>
            <a:ext cx="304800" cy="228600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3784" name="AutoShape 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951038" y="765175"/>
            <a:ext cx="304800" cy="228600"/>
          </a:xfrm>
          <a:prstGeom prst="actionButtonForwardNext">
            <a:avLst/>
          </a:prstGeom>
          <a:noFill/>
          <a:ln w="0" cmpd="sng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3785" name="AutoShape 4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24100" y="1165225"/>
            <a:ext cx="304800" cy="228600"/>
          </a:xfrm>
          <a:prstGeom prst="actionButtonEnd">
            <a:avLst/>
          </a:prstGeom>
          <a:noFill/>
          <a:ln w="0" cmpd="sng">
            <a:solidFill>
              <a:srgbClr val="002BB4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3786" name="Text Box 42"/>
          <p:cNvSpPr txBox="1">
            <a:spLocks noChangeArrowheads="1"/>
          </p:cNvSpPr>
          <p:nvPr/>
        </p:nvSpPr>
        <p:spPr bwMode="auto">
          <a:xfrm>
            <a:off x="7107239" y="1306513"/>
            <a:ext cx="3430587" cy="24431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3787" name="Text Box 43"/>
          <p:cNvSpPr txBox="1">
            <a:spLocks noChangeArrowheads="1"/>
          </p:cNvSpPr>
          <p:nvPr/>
        </p:nvSpPr>
        <p:spPr bwMode="auto">
          <a:xfrm>
            <a:off x="8408988" y="920751"/>
            <a:ext cx="692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0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3788" name="Rectangle 44"/>
          <p:cNvSpPr>
            <a:spLocks noChangeArrowheads="1"/>
          </p:cNvSpPr>
          <p:nvPr/>
        </p:nvSpPr>
        <p:spPr bwMode="auto">
          <a:xfrm>
            <a:off x="5556251" y="1712914"/>
            <a:ext cx="3889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>
                <a:solidFill>
                  <a:srgbClr val="000000"/>
                </a:solidFill>
                <a:ea typeface="Dotum" pitchFamily="34" charset="-127"/>
              </a:rPr>
              <a:t>//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形参为同类型的指针变量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54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4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4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4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4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8" grpId="0" animBg="1" autoUpdateAnimBg="0"/>
      <p:bldP spid="543776" grpId="0" animBg="1" autoUpdateAnimBg="0"/>
      <p:bldP spid="543777" grpId="0" animBg="1" autoUpdateAnimBg="0"/>
      <p:bldP spid="543778" grpId="0" animBg="1" autoUpdateAnimBg="0"/>
      <p:bldP spid="543786" grpId="0" animBg="1" autoUpdateAnimBg="0"/>
      <p:bldP spid="543787" grpId="0" animBg="1" autoUpdateAnimBg="0"/>
      <p:bldP spid="54378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14575" y="177800"/>
            <a:ext cx="7793038" cy="731838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8_2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形参指针变量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8364" y="1195388"/>
            <a:ext cx="8359775" cy="5308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3600" b="1"/>
              <a:t> </a:t>
            </a:r>
            <a:r>
              <a:rPr lang="zh-CN" altLang="zh-CN" sz="2400" b="1"/>
              <a:t>swap</a:t>
            </a:r>
            <a:r>
              <a:rPr lang="zh-CN" altLang="zh-CN" sz="2400" b="1">
                <a:latin typeface="Times New Roman" panose="02020603050405020304" pitchFamily="18" charset="0"/>
              </a:rPr>
              <a:t>( </a:t>
            </a:r>
            <a:r>
              <a:rPr lang="zh-CN" altLang="zh-CN" sz="2400" b="1"/>
              <a:t>int 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x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int 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y </a:t>
            </a:r>
            <a:r>
              <a:rPr lang="zh-CN" altLang="zh-CN" sz="2400" b="1">
                <a:latin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/>
              <a:t>{ int  </a:t>
            </a:r>
            <a:r>
              <a:rPr lang="zh-CN" altLang="zh-CN" sz="2400" b="1">
                <a:solidFill>
                  <a:srgbClr val="002A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2AB0"/>
                </a:solidFill>
              </a:rPr>
              <a:t>t 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  <a:br>
              <a:rPr lang="zh-CN" altLang="zh-CN" sz="2400" b="1"/>
            </a:br>
            <a:r>
              <a:rPr lang="zh-CN" altLang="zh-CN" sz="2400" b="1">
                <a:solidFill>
                  <a:srgbClr val="0000B0"/>
                </a:solidFill>
              </a:rPr>
              <a:t>t=x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  <a:r>
              <a:rPr lang="zh-CN" altLang="zh-CN" sz="2400" b="1">
                <a:solidFill>
                  <a:srgbClr val="0000B0"/>
                </a:solidFill>
              </a:rPr>
              <a:t>   x=y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  <a:r>
              <a:rPr lang="zh-CN" altLang="zh-CN" sz="2400" b="1">
                <a:solidFill>
                  <a:srgbClr val="0000B0"/>
                </a:solidFill>
              </a:rPr>
              <a:t>   y=t</a:t>
            </a:r>
            <a:r>
              <a:rPr lang="zh-CN" altLang="zh-CN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zh-CN" sz="2400" b="1"/>
              <a:t>}</a:t>
            </a:r>
            <a:r>
              <a:rPr lang="zh-CN" altLang="zh-CN" sz="2800" b="1"/>
              <a:t>  </a:t>
            </a:r>
            <a:r>
              <a:rPr lang="zh-CN" altLang="zh-CN" sz="2000">
                <a:solidFill>
                  <a:srgbClr val="CC0000"/>
                </a:solidFill>
              </a:rPr>
              <a:t>//</a:t>
            </a:r>
            <a:r>
              <a:rPr lang="zh-CN" altLang="en-US" sz="20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交换形参指针变量的值</a:t>
            </a:r>
            <a:endParaRPr lang="zh-CN" altLang="en-US" sz="2000" b="1">
              <a:solidFill>
                <a:srgbClr val="CC0000"/>
              </a:solidFill>
            </a:endParaRP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sz="2800" b="1"/>
              <a:t> </a:t>
            </a:r>
            <a:r>
              <a:rPr lang="zh-CN" altLang="zh-CN" sz="2400" b="1">
                <a:latin typeface="Arial" panose="020B0604020202020204" pitchFamily="34" charset="0"/>
                <a:ea typeface="黑体" panose="02010609060101010101" pitchFamily="49" charset="-122"/>
              </a:rPr>
              <a:t>void</a:t>
            </a:r>
            <a:r>
              <a:rPr lang="zh-CN" altLang="zh-CN" sz="2800" b="1"/>
              <a:t> </a:t>
            </a:r>
            <a:r>
              <a:rPr lang="zh-CN" altLang="zh-CN" sz="2400" b="1"/>
              <a:t>main</a:t>
            </a:r>
            <a:r>
              <a:rPr lang="zh-CN" altLang="zh-CN" sz="2400" b="1">
                <a:latin typeface="Times New Roman" panose="02020603050405020304" pitchFamily="18" charset="0"/>
              </a:rPr>
              <a:t>( 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/>
              <a:t>{ int  a=1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b=2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/>
              <a:t>   int 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p1=</a:t>
            </a:r>
            <a:r>
              <a:rPr lang="zh-CN" altLang="zh-CN" sz="2400"/>
              <a:t>&amp;</a:t>
            </a:r>
            <a:r>
              <a:rPr lang="zh-CN" altLang="zh-CN" sz="2400" b="1"/>
              <a:t>a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p2=</a:t>
            </a:r>
            <a:r>
              <a:rPr lang="zh-CN" altLang="zh-CN" sz="2400"/>
              <a:t>&amp;</a:t>
            </a:r>
            <a:r>
              <a:rPr lang="zh-CN" altLang="zh-CN" sz="2400" b="1"/>
              <a:t>b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zh-CN" sz="2400" b="1"/>
              <a:t>   printf</a:t>
            </a:r>
            <a:r>
              <a:rPr lang="zh-CN" altLang="zh-CN" sz="2400" b="1">
                <a:latin typeface="Times New Roman" panose="02020603050405020304" pitchFamily="18" charset="0"/>
              </a:rPr>
              <a:t>(“</a:t>
            </a:r>
            <a:r>
              <a:rPr lang="zh-CN" altLang="zh-CN" sz="2400" b="1"/>
              <a:t>1</a:t>
            </a:r>
            <a:r>
              <a:rPr lang="zh-CN" altLang="zh-CN" sz="2400" b="1">
                <a:latin typeface="Times New Roman" panose="02020603050405020304" pitchFamily="18" charset="0"/>
              </a:rPr>
              <a:t>) </a:t>
            </a:r>
            <a:r>
              <a:rPr lang="zh-CN" altLang="zh-CN" sz="2400" b="1"/>
              <a:t>a=%d</a:t>
            </a:r>
            <a:r>
              <a:rPr lang="zh-CN" altLang="zh-CN" sz="2400" b="1">
                <a:latin typeface="Times New Roman" panose="02020603050405020304" pitchFamily="18" charset="0"/>
              </a:rPr>
              <a:t>, </a:t>
            </a:r>
            <a:r>
              <a:rPr lang="zh-CN" altLang="zh-CN" sz="2400" b="1"/>
              <a:t>b=%d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anose="02020603050405020304" pitchFamily="18" charset="0"/>
              </a:rPr>
              <a:t>”,</a:t>
            </a:r>
            <a:r>
              <a:rPr lang="zh-CN" altLang="zh-CN" sz="2400" b="1"/>
              <a:t>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p1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p2</a:t>
            </a:r>
            <a:r>
              <a:rPr lang="zh-CN" altLang="zh-CN" sz="2400" b="1"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/>
              <a:t>   </a:t>
            </a:r>
            <a:r>
              <a:rPr lang="zh-CN" altLang="zh-CN" sz="2400" b="1">
                <a:solidFill>
                  <a:srgbClr val="00009E"/>
                </a:solidFill>
              </a:rPr>
              <a:t>swap</a:t>
            </a:r>
            <a:r>
              <a:rPr lang="zh-CN" altLang="zh-CN" sz="2400" b="1">
                <a:solidFill>
                  <a:srgbClr val="00009E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400" b="1">
                <a:solidFill>
                  <a:srgbClr val="00009E"/>
                </a:solidFill>
              </a:rPr>
              <a:t> p1</a:t>
            </a:r>
            <a:r>
              <a:rPr lang="zh-CN" altLang="zh-CN" sz="2400" b="1">
                <a:solidFill>
                  <a:srgbClr val="00009E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>
                <a:solidFill>
                  <a:srgbClr val="00009E"/>
                </a:solidFill>
              </a:rPr>
              <a:t> p2 </a:t>
            </a:r>
            <a:r>
              <a:rPr lang="zh-CN" altLang="zh-CN" sz="2400" b="1">
                <a:solidFill>
                  <a:srgbClr val="00009E"/>
                </a:solidFill>
                <a:latin typeface="Times New Roman" panose="02020603050405020304" pitchFamily="18" charset="0"/>
              </a:rPr>
              <a:t>);   </a:t>
            </a:r>
            <a:r>
              <a:rPr lang="zh-CN" altLang="zh-CN" sz="2800" b="1">
                <a:solidFill>
                  <a:srgbClr val="00009E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zh-CN" sz="2000"/>
              <a:t>//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实参为指针变量</a:t>
            </a:r>
            <a:endParaRPr lang="zh-CN" altLang="en-US" sz="2000">
              <a:solidFill>
                <a:srgbClr val="00009E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</a:t>
            </a:r>
            <a:r>
              <a:rPr lang="zh-CN" altLang="zh-CN" sz="2400" b="1"/>
              <a:t>printf</a:t>
            </a:r>
            <a:r>
              <a:rPr lang="zh-CN" altLang="zh-CN" sz="2400" b="1">
                <a:latin typeface="Times New Roman" panose="02020603050405020304" pitchFamily="18" charset="0"/>
              </a:rPr>
              <a:t>(“</a:t>
            </a:r>
            <a:r>
              <a:rPr lang="zh-CN" altLang="zh-CN" sz="2400" b="1"/>
              <a:t>2</a:t>
            </a:r>
            <a:r>
              <a:rPr lang="zh-CN" altLang="zh-CN" sz="2400" b="1">
                <a:latin typeface="Times New Roman" panose="02020603050405020304" pitchFamily="18" charset="0"/>
              </a:rPr>
              <a:t>) </a:t>
            </a:r>
            <a:r>
              <a:rPr lang="zh-CN" altLang="zh-CN" sz="2400" b="1"/>
              <a:t>a=%d</a:t>
            </a:r>
            <a:r>
              <a:rPr lang="zh-CN" altLang="zh-CN" sz="2400" b="1">
                <a:latin typeface="Times New Roman" panose="02020603050405020304" pitchFamily="18" charset="0"/>
              </a:rPr>
              <a:t>, </a:t>
            </a:r>
            <a:r>
              <a:rPr lang="zh-CN" altLang="zh-CN" sz="2400" b="1"/>
              <a:t>b=%d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anose="02020603050405020304" pitchFamily="18" charset="0"/>
              </a:rPr>
              <a:t>”,</a:t>
            </a:r>
            <a:r>
              <a:rPr lang="zh-CN" altLang="zh-CN" sz="2400" b="1"/>
              <a:t>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p1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/>
              <a:t>p2</a:t>
            </a:r>
            <a:r>
              <a:rPr lang="zh-CN" altLang="zh-CN" sz="2400" b="1">
                <a:latin typeface="Times New Roman" panose="02020603050405020304" pitchFamily="18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/>
              <a:t>}</a:t>
            </a:r>
          </a:p>
        </p:txBody>
      </p:sp>
      <p:sp>
        <p:nvSpPr>
          <p:cNvPr id="544772" name="Text Box 4"/>
          <p:cNvSpPr txBox="1">
            <a:spLocks noChangeArrowheads="1"/>
          </p:cNvSpPr>
          <p:nvPr/>
        </p:nvSpPr>
        <p:spPr bwMode="auto">
          <a:xfrm>
            <a:off x="7680325" y="260351"/>
            <a:ext cx="1981200" cy="1084263"/>
          </a:xfrm>
          <a:prstGeom prst="rect">
            <a:avLst/>
          </a:prstGeom>
          <a:solidFill>
            <a:schemeClr val="bg1"/>
          </a:solidFill>
          <a:ln w="31750" cmpd="sng">
            <a:solidFill>
              <a:srgbClr val="00009E"/>
            </a:solidFill>
            <a:miter lim="800000"/>
          </a:ln>
          <a:effectLst>
            <a:outerShdw dist="71842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latin typeface="Courier New" panose="02070309020205020404" pitchFamily="49" charset="0"/>
              </a:rPr>
              <a:t>1)a=10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b="1">
                <a:solidFill>
                  <a:srgbClr val="000000"/>
                </a:solidFill>
                <a:latin typeface="Courier New" panose="02070309020205020404" pitchFamily="49" charset="0"/>
              </a:rPr>
              <a:t>b=20</a:t>
            </a: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latin typeface="Courier New" panose="02070309020205020404" pitchFamily="49" charset="0"/>
              </a:rPr>
              <a:t>2)a=10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b="1">
                <a:solidFill>
                  <a:srgbClr val="000000"/>
                </a:solidFill>
                <a:latin typeface="Courier New" panose="02070309020205020404" pitchFamily="49" charset="0"/>
              </a:rPr>
              <a:t>b=20</a:t>
            </a:r>
          </a:p>
        </p:txBody>
      </p:sp>
      <p:grpSp>
        <p:nvGrpSpPr>
          <p:cNvPr id="544773" name="Group 5"/>
          <p:cNvGrpSpPr/>
          <p:nvPr/>
        </p:nvGrpSpPr>
        <p:grpSpPr bwMode="auto">
          <a:xfrm>
            <a:off x="6934200" y="1006475"/>
            <a:ext cx="3333750" cy="744538"/>
            <a:chOff x="0" y="0"/>
            <a:chExt cx="2100" cy="469"/>
          </a:xfrm>
        </p:grpSpPr>
        <p:sp>
          <p:nvSpPr>
            <p:cNvPr id="544774" name="Text Box 6"/>
            <p:cNvSpPr txBox="1">
              <a:spLocks noChangeArrowheads="1"/>
            </p:cNvSpPr>
            <p:nvPr/>
          </p:nvSpPr>
          <p:spPr bwMode="auto">
            <a:xfrm>
              <a:off x="24" y="0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a</a:t>
              </a:r>
            </a:p>
          </p:txBody>
        </p:sp>
        <p:sp>
          <p:nvSpPr>
            <p:cNvPr id="544775" name="Text Box 7"/>
            <p:cNvSpPr txBox="1">
              <a:spLocks noChangeArrowheads="1"/>
            </p:cNvSpPr>
            <p:nvPr/>
          </p:nvSpPr>
          <p:spPr bwMode="auto">
            <a:xfrm>
              <a:off x="1836" y="0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b</a:t>
              </a:r>
            </a:p>
          </p:txBody>
        </p:sp>
        <p:sp>
          <p:nvSpPr>
            <p:cNvPr id="544776" name="Text Box 8"/>
            <p:cNvSpPr txBox="1">
              <a:spLocks noChangeArrowheads="1"/>
            </p:cNvSpPr>
            <p:nvPr/>
          </p:nvSpPr>
          <p:spPr bwMode="auto">
            <a:xfrm>
              <a:off x="0" y="239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544777" name="Text Box 9"/>
            <p:cNvSpPr txBox="1">
              <a:spLocks noChangeArrowheads="1"/>
            </p:cNvSpPr>
            <p:nvPr/>
          </p:nvSpPr>
          <p:spPr bwMode="auto">
            <a:xfrm>
              <a:off x="1812" y="239"/>
              <a:ext cx="288" cy="218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544778" name="Group 10"/>
          <p:cNvGrpSpPr/>
          <p:nvPr/>
        </p:nvGrpSpPr>
        <p:grpSpPr bwMode="auto">
          <a:xfrm>
            <a:off x="6934200" y="1387477"/>
            <a:ext cx="3333750" cy="365125"/>
            <a:chOff x="0" y="3"/>
            <a:chExt cx="2100" cy="230"/>
          </a:xfrm>
        </p:grpSpPr>
        <p:sp>
          <p:nvSpPr>
            <p:cNvPr id="544779" name="Text Box 11"/>
            <p:cNvSpPr txBox="1">
              <a:spLocks noChangeArrowheads="1"/>
            </p:cNvSpPr>
            <p:nvPr/>
          </p:nvSpPr>
          <p:spPr bwMode="auto">
            <a:xfrm>
              <a:off x="0" y="3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544780" name="Text Box 12"/>
            <p:cNvSpPr txBox="1">
              <a:spLocks noChangeArrowheads="1"/>
            </p:cNvSpPr>
            <p:nvPr/>
          </p:nvSpPr>
          <p:spPr bwMode="auto">
            <a:xfrm>
              <a:off x="1812" y="5"/>
              <a:ext cx="288" cy="213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20</a:t>
              </a:r>
            </a:p>
          </p:txBody>
        </p:sp>
      </p:grpSp>
      <p:grpSp>
        <p:nvGrpSpPr>
          <p:cNvPr id="544781" name="Group 13"/>
          <p:cNvGrpSpPr/>
          <p:nvPr/>
        </p:nvGrpSpPr>
        <p:grpSpPr bwMode="auto">
          <a:xfrm>
            <a:off x="6934200" y="2209800"/>
            <a:ext cx="3333750" cy="685800"/>
            <a:chOff x="0" y="0"/>
            <a:chExt cx="2100" cy="432"/>
          </a:xfrm>
        </p:grpSpPr>
        <p:sp>
          <p:nvSpPr>
            <p:cNvPr id="544782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544783" name="Text Box 15"/>
            <p:cNvSpPr txBox="1">
              <a:spLocks noChangeArrowheads="1"/>
            </p:cNvSpPr>
            <p:nvPr/>
          </p:nvSpPr>
          <p:spPr bwMode="auto">
            <a:xfrm>
              <a:off x="0" y="24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p1</a:t>
              </a:r>
            </a:p>
          </p:txBody>
        </p:sp>
        <p:sp>
          <p:nvSpPr>
            <p:cNvPr id="544784" name="Text Box 16"/>
            <p:cNvSpPr txBox="1">
              <a:spLocks noChangeArrowheads="1"/>
            </p:cNvSpPr>
            <p:nvPr/>
          </p:nvSpPr>
          <p:spPr bwMode="auto">
            <a:xfrm>
              <a:off x="1812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544785" name="Text Box 17"/>
            <p:cNvSpPr txBox="1">
              <a:spLocks noChangeArrowheads="1"/>
            </p:cNvSpPr>
            <p:nvPr/>
          </p:nvSpPr>
          <p:spPr bwMode="auto">
            <a:xfrm>
              <a:off x="1812" y="24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p2</a:t>
              </a:r>
            </a:p>
          </p:txBody>
        </p:sp>
      </p:grpSp>
      <p:grpSp>
        <p:nvGrpSpPr>
          <p:cNvPr id="544786" name="Group 18"/>
          <p:cNvGrpSpPr/>
          <p:nvPr/>
        </p:nvGrpSpPr>
        <p:grpSpPr bwMode="auto">
          <a:xfrm>
            <a:off x="6934200" y="2209801"/>
            <a:ext cx="3333750" cy="365125"/>
            <a:chOff x="0" y="0"/>
            <a:chExt cx="2100" cy="230"/>
          </a:xfrm>
        </p:grpSpPr>
        <p:sp>
          <p:nvSpPr>
            <p:cNvPr id="544787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&amp;a</a:t>
              </a:r>
            </a:p>
          </p:txBody>
        </p:sp>
        <p:sp>
          <p:nvSpPr>
            <p:cNvPr id="544788" name="Text Box 20"/>
            <p:cNvSpPr txBox="1">
              <a:spLocks noChangeArrowheads="1"/>
            </p:cNvSpPr>
            <p:nvPr/>
          </p:nvSpPr>
          <p:spPr bwMode="auto">
            <a:xfrm>
              <a:off x="1812" y="0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&amp;b</a:t>
              </a:r>
            </a:p>
          </p:txBody>
        </p:sp>
      </p:grpSp>
      <p:grpSp>
        <p:nvGrpSpPr>
          <p:cNvPr id="544789" name="Group 21"/>
          <p:cNvGrpSpPr/>
          <p:nvPr/>
        </p:nvGrpSpPr>
        <p:grpSpPr bwMode="auto">
          <a:xfrm>
            <a:off x="7162800" y="1752600"/>
            <a:ext cx="2876550" cy="457200"/>
            <a:chOff x="0" y="0"/>
            <a:chExt cx="1812" cy="288"/>
          </a:xfrm>
        </p:grpSpPr>
        <p:sp>
          <p:nvSpPr>
            <p:cNvPr id="544790" name="Line 22"/>
            <p:cNvSpPr>
              <a:spLocks noChangeShapeType="1"/>
            </p:cNvSpPr>
            <p:nvPr/>
          </p:nvSpPr>
          <p:spPr bwMode="auto">
            <a:xfrm flipV="1">
              <a:off x="0" y="0"/>
              <a:ext cx="0" cy="288"/>
            </a:xfrm>
            <a:prstGeom prst="line">
              <a:avLst/>
            </a:prstGeom>
            <a:noFill/>
            <a:ln w="28575" cmpd="sng">
              <a:solidFill>
                <a:srgbClr val="0033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44791" name="Line 23"/>
            <p:cNvSpPr>
              <a:spLocks noChangeShapeType="1"/>
            </p:cNvSpPr>
            <p:nvPr/>
          </p:nvSpPr>
          <p:spPr bwMode="auto">
            <a:xfrm flipV="1">
              <a:off x="1812" y="0"/>
              <a:ext cx="0" cy="288"/>
            </a:xfrm>
            <a:prstGeom prst="line">
              <a:avLst/>
            </a:prstGeom>
            <a:noFill/>
            <a:ln w="28575" cmpd="sng">
              <a:solidFill>
                <a:srgbClr val="0033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544792" name="Group 24"/>
          <p:cNvGrpSpPr/>
          <p:nvPr/>
        </p:nvGrpSpPr>
        <p:grpSpPr bwMode="auto">
          <a:xfrm>
            <a:off x="7772400" y="1905001"/>
            <a:ext cx="1676400" cy="677863"/>
            <a:chOff x="0" y="0"/>
            <a:chExt cx="1056" cy="427"/>
          </a:xfrm>
        </p:grpSpPr>
        <p:sp>
          <p:nvSpPr>
            <p:cNvPr id="544793" name="Text Box 25"/>
            <p:cNvSpPr txBox="1">
              <a:spLocks noChangeArrowheads="1"/>
            </p:cNvSpPr>
            <p:nvPr/>
          </p:nvSpPr>
          <p:spPr bwMode="auto">
            <a:xfrm>
              <a:off x="0" y="197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544794" name="Text Box 26"/>
            <p:cNvSpPr txBox="1">
              <a:spLocks noChangeArrowheads="1"/>
            </p:cNvSpPr>
            <p:nvPr/>
          </p:nvSpPr>
          <p:spPr bwMode="auto">
            <a:xfrm>
              <a:off x="768" y="197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16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544795" name="Text Box 27"/>
            <p:cNvSpPr txBox="1">
              <a:spLocks noChangeArrowheads="1"/>
            </p:cNvSpPr>
            <p:nvPr/>
          </p:nvSpPr>
          <p:spPr bwMode="auto">
            <a:xfrm>
              <a:off x="816" y="0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y</a:t>
              </a:r>
            </a:p>
          </p:txBody>
        </p:sp>
        <p:sp>
          <p:nvSpPr>
            <p:cNvPr id="544796" name="Text Box 28"/>
            <p:cNvSpPr txBox="1">
              <a:spLocks noChangeArrowheads="1"/>
            </p:cNvSpPr>
            <p:nvPr/>
          </p:nvSpPr>
          <p:spPr bwMode="auto">
            <a:xfrm>
              <a:off x="48" y="0"/>
              <a:ext cx="192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x</a:t>
              </a:r>
            </a:p>
          </p:txBody>
        </p:sp>
      </p:grpSp>
      <p:grpSp>
        <p:nvGrpSpPr>
          <p:cNvPr id="544797" name="Group 29"/>
          <p:cNvGrpSpPr/>
          <p:nvPr/>
        </p:nvGrpSpPr>
        <p:grpSpPr bwMode="auto">
          <a:xfrm>
            <a:off x="7391400" y="2209801"/>
            <a:ext cx="2438400" cy="365125"/>
            <a:chOff x="0" y="0"/>
            <a:chExt cx="1536" cy="230"/>
          </a:xfrm>
        </p:grpSpPr>
        <p:sp>
          <p:nvSpPr>
            <p:cNvPr id="544798" name="Text Box 30"/>
            <p:cNvSpPr txBox="1">
              <a:spLocks noChangeArrowheads="1"/>
            </p:cNvSpPr>
            <p:nvPr/>
          </p:nvSpPr>
          <p:spPr bwMode="auto">
            <a:xfrm>
              <a:off x="240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&amp;a</a:t>
              </a:r>
            </a:p>
          </p:txBody>
        </p:sp>
        <p:sp>
          <p:nvSpPr>
            <p:cNvPr id="544799" name="Text Box 31"/>
            <p:cNvSpPr txBox="1">
              <a:spLocks noChangeArrowheads="1"/>
            </p:cNvSpPr>
            <p:nvPr/>
          </p:nvSpPr>
          <p:spPr bwMode="auto">
            <a:xfrm>
              <a:off x="1008" y="0"/>
              <a:ext cx="288" cy="230"/>
            </a:xfrm>
            <a:prstGeom prst="rect">
              <a:avLst/>
            </a:prstGeom>
            <a:solidFill>
              <a:srgbClr val="FFFFCC"/>
            </a:solidFill>
            <a:ln w="95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&amp;b</a:t>
              </a:r>
            </a:p>
          </p:txBody>
        </p:sp>
        <p:grpSp>
          <p:nvGrpSpPr>
            <p:cNvPr id="544800" name="Group 32"/>
            <p:cNvGrpSpPr/>
            <p:nvPr/>
          </p:nvGrpSpPr>
          <p:grpSpPr bwMode="auto">
            <a:xfrm>
              <a:off x="0" y="110"/>
              <a:ext cx="1536" cy="0"/>
              <a:chOff x="0" y="0"/>
              <a:chExt cx="1536" cy="0"/>
            </a:xfrm>
          </p:grpSpPr>
          <p:sp>
            <p:nvSpPr>
              <p:cNvPr id="544801" name="Line 33"/>
              <p:cNvSpPr>
                <a:spLocks noChangeShapeType="1"/>
              </p:cNvSpPr>
              <p:nvPr/>
            </p:nvSpPr>
            <p:spPr bwMode="auto">
              <a:xfrm rot="16200000">
                <a:off x="120" y="-120"/>
                <a:ext cx="0" cy="240"/>
              </a:xfrm>
              <a:prstGeom prst="line">
                <a:avLst/>
              </a:prstGeom>
              <a:noFill/>
              <a:ln w="38100" cmpd="sng">
                <a:solidFill>
                  <a:srgbClr val="FF99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544802" name="Line 34"/>
              <p:cNvSpPr>
                <a:spLocks noChangeShapeType="1"/>
              </p:cNvSpPr>
              <p:nvPr/>
            </p:nvSpPr>
            <p:spPr bwMode="auto">
              <a:xfrm rot="5400000">
                <a:off x="1416" y="-120"/>
                <a:ext cx="0" cy="240"/>
              </a:xfrm>
              <a:prstGeom prst="line">
                <a:avLst/>
              </a:prstGeom>
              <a:noFill/>
              <a:ln w="38100" cmpd="sng">
                <a:solidFill>
                  <a:srgbClr val="FF99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</p:grpSp>
      <p:grpSp>
        <p:nvGrpSpPr>
          <p:cNvPr id="544803" name="Group 35"/>
          <p:cNvGrpSpPr/>
          <p:nvPr/>
        </p:nvGrpSpPr>
        <p:grpSpPr bwMode="auto">
          <a:xfrm>
            <a:off x="7391400" y="1676400"/>
            <a:ext cx="2438400" cy="533400"/>
            <a:chOff x="0" y="0"/>
            <a:chExt cx="1536" cy="336"/>
          </a:xfrm>
        </p:grpSpPr>
        <p:sp>
          <p:nvSpPr>
            <p:cNvPr id="544804" name="Line 36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336" cy="336"/>
            </a:xfrm>
            <a:prstGeom prst="line">
              <a:avLst/>
            </a:prstGeom>
            <a:noFill/>
            <a:ln w="28575" cmpd="sng">
              <a:solidFill>
                <a:srgbClr val="0033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44805" name="Line 37"/>
            <p:cNvSpPr>
              <a:spLocks noChangeShapeType="1"/>
            </p:cNvSpPr>
            <p:nvPr/>
          </p:nvSpPr>
          <p:spPr bwMode="auto">
            <a:xfrm rot="5400000" flipH="1" flipV="1">
              <a:off x="1200" y="0"/>
              <a:ext cx="336" cy="336"/>
            </a:xfrm>
            <a:prstGeom prst="line">
              <a:avLst/>
            </a:prstGeom>
            <a:noFill/>
            <a:ln w="28575" cmpd="sng">
              <a:solidFill>
                <a:srgbClr val="0033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544806" name="Group 38"/>
          <p:cNvGrpSpPr/>
          <p:nvPr/>
        </p:nvGrpSpPr>
        <p:grpSpPr bwMode="auto">
          <a:xfrm>
            <a:off x="8005763" y="2570164"/>
            <a:ext cx="895350" cy="1163637"/>
            <a:chOff x="0" y="0"/>
            <a:chExt cx="564" cy="733"/>
          </a:xfrm>
        </p:grpSpPr>
        <p:sp>
          <p:nvSpPr>
            <p:cNvPr id="544807" name="Text Box 39"/>
            <p:cNvSpPr txBox="1">
              <a:spLocks noChangeArrowheads="1"/>
            </p:cNvSpPr>
            <p:nvPr/>
          </p:nvSpPr>
          <p:spPr bwMode="auto">
            <a:xfrm>
              <a:off x="276" y="503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&amp;a</a:t>
              </a:r>
            </a:p>
          </p:txBody>
        </p:sp>
        <p:sp>
          <p:nvSpPr>
            <p:cNvPr id="544808" name="Line 40"/>
            <p:cNvSpPr>
              <a:spLocks noChangeShapeType="1"/>
            </p:cNvSpPr>
            <p:nvPr/>
          </p:nvSpPr>
          <p:spPr bwMode="auto">
            <a:xfrm>
              <a:off x="0" y="0"/>
              <a:ext cx="432" cy="480"/>
            </a:xfrm>
            <a:prstGeom prst="line">
              <a:avLst/>
            </a:prstGeom>
            <a:noFill/>
            <a:ln w="28575" cmpd="sng">
              <a:solidFill>
                <a:srgbClr val="99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544809" name="Group 41"/>
          <p:cNvGrpSpPr/>
          <p:nvPr/>
        </p:nvGrpSpPr>
        <p:grpSpPr bwMode="auto">
          <a:xfrm>
            <a:off x="7766050" y="2205039"/>
            <a:ext cx="1219200" cy="365125"/>
            <a:chOff x="0" y="0"/>
            <a:chExt cx="768" cy="230"/>
          </a:xfrm>
        </p:grpSpPr>
        <p:sp>
          <p:nvSpPr>
            <p:cNvPr id="544810" name="Text Box 42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&amp;b</a:t>
              </a:r>
            </a:p>
          </p:txBody>
        </p:sp>
        <p:sp>
          <p:nvSpPr>
            <p:cNvPr id="544811" name="Line 43"/>
            <p:cNvSpPr>
              <a:spLocks noChangeShapeType="1"/>
            </p:cNvSpPr>
            <p:nvPr/>
          </p:nvSpPr>
          <p:spPr bwMode="auto">
            <a:xfrm flipH="1">
              <a:off x="288" y="115"/>
              <a:ext cx="480" cy="0"/>
            </a:xfrm>
            <a:prstGeom prst="line">
              <a:avLst/>
            </a:prstGeom>
            <a:noFill/>
            <a:ln w="28575" cmpd="sng">
              <a:solidFill>
                <a:srgbClr val="99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544812" name="Group 44"/>
          <p:cNvGrpSpPr/>
          <p:nvPr/>
        </p:nvGrpSpPr>
        <p:grpSpPr bwMode="auto">
          <a:xfrm>
            <a:off x="8704264" y="2209801"/>
            <a:ext cx="744537" cy="1165225"/>
            <a:chOff x="0" y="0"/>
            <a:chExt cx="469" cy="734"/>
          </a:xfrm>
        </p:grpSpPr>
        <p:sp>
          <p:nvSpPr>
            <p:cNvPr id="544813" name="Text Box 45"/>
            <p:cNvSpPr txBox="1">
              <a:spLocks noChangeArrowheads="1"/>
            </p:cNvSpPr>
            <p:nvPr/>
          </p:nvSpPr>
          <p:spPr bwMode="auto">
            <a:xfrm>
              <a:off x="181" y="0"/>
              <a:ext cx="288" cy="230"/>
            </a:xfrm>
            <a:prstGeom prst="rect">
              <a:avLst/>
            </a:prstGeom>
            <a:solidFill>
              <a:srgbClr val="FFFFCC"/>
            </a:solidFill>
            <a:ln w="22225" cmpd="sng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1600" b="1">
                  <a:solidFill>
                    <a:srgbClr val="CC0000"/>
                  </a:solidFill>
                </a:rPr>
                <a:t>&amp;a</a:t>
              </a:r>
            </a:p>
          </p:txBody>
        </p:sp>
        <p:sp>
          <p:nvSpPr>
            <p:cNvPr id="544814" name="Line 46"/>
            <p:cNvSpPr>
              <a:spLocks noChangeShapeType="1"/>
            </p:cNvSpPr>
            <p:nvPr/>
          </p:nvSpPr>
          <p:spPr bwMode="auto">
            <a:xfrm flipH="1">
              <a:off x="0" y="212"/>
              <a:ext cx="317" cy="522"/>
            </a:xfrm>
            <a:prstGeom prst="line">
              <a:avLst/>
            </a:prstGeom>
            <a:noFill/>
            <a:ln w="28575" cmpd="sng">
              <a:solidFill>
                <a:srgbClr val="99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544815" name="Line 47"/>
          <p:cNvSpPr>
            <a:spLocks noChangeShapeType="1"/>
          </p:cNvSpPr>
          <p:nvPr/>
        </p:nvSpPr>
        <p:spPr bwMode="auto">
          <a:xfrm flipV="1">
            <a:off x="8128000" y="1565275"/>
            <a:ext cx="1676400" cy="609600"/>
          </a:xfrm>
          <a:prstGeom prst="line">
            <a:avLst/>
          </a:prstGeom>
          <a:noFill/>
          <a:ln w="28575" cmpd="sng">
            <a:solidFill>
              <a:srgbClr val="0033CC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16" name="Line 48"/>
          <p:cNvSpPr>
            <a:spLocks noChangeShapeType="1"/>
          </p:cNvSpPr>
          <p:nvPr/>
        </p:nvSpPr>
        <p:spPr bwMode="auto">
          <a:xfrm flipH="1" flipV="1">
            <a:off x="7392988" y="1585913"/>
            <a:ext cx="1676400" cy="609600"/>
          </a:xfrm>
          <a:prstGeom prst="line">
            <a:avLst/>
          </a:prstGeom>
          <a:noFill/>
          <a:ln w="28575" cmpd="sng">
            <a:solidFill>
              <a:srgbClr val="0033CC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17" name="AutoShape 4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992313" y="549275"/>
            <a:ext cx="273050" cy="236538"/>
          </a:xfrm>
          <a:prstGeom prst="actionButtonBackPrevious">
            <a:avLst/>
          </a:prstGeom>
          <a:noFill/>
          <a:ln w="0" cmpd="sng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18" name="Text Box 50"/>
          <p:cNvSpPr txBox="1">
            <a:spLocks noChangeArrowheads="1"/>
          </p:cNvSpPr>
          <p:nvPr/>
        </p:nvSpPr>
        <p:spPr bwMode="auto">
          <a:xfrm>
            <a:off x="8486775" y="3757613"/>
            <a:ext cx="381000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544819" name="AutoShape 5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51089" y="865188"/>
            <a:ext cx="319087" cy="260350"/>
          </a:xfrm>
          <a:prstGeom prst="actionButtonBackPrevious">
            <a:avLst/>
          </a:prstGeom>
          <a:noFill/>
          <a:ln w="0" cmpd="sng">
            <a:solidFill>
              <a:srgbClr val="002BB4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20" name="Line 52"/>
          <p:cNvSpPr>
            <a:spLocks noChangeShapeType="1"/>
          </p:cNvSpPr>
          <p:nvPr/>
        </p:nvSpPr>
        <p:spPr bwMode="auto">
          <a:xfrm>
            <a:off x="7391401" y="1657350"/>
            <a:ext cx="519113" cy="528638"/>
          </a:xfrm>
          <a:prstGeom prst="line">
            <a:avLst/>
          </a:prstGeom>
          <a:noFill/>
          <a:ln w="63500" cmpd="sng">
            <a:solidFill>
              <a:schemeClr val="bg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21" name="Line 53"/>
          <p:cNvSpPr>
            <a:spLocks noChangeShapeType="1"/>
          </p:cNvSpPr>
          <p:nvPr/>
        </p:nvSpPr>
        <p:spPr bwMode="auto">
          <a:xfrm flipH="1">
            <a:off x="9293225" y="1685926"/>
            <a:ext cx="503238" cy="519113"/>
          </a:xfrm>
          <a:prstGeom prst="line">
            <a:avLst/>
          </a:prstGeom>
          <a:noFill/>
          <a:ln w="76200" cmpd="sng">
            <a:solidFill>
              <a:schemeClr val="bg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22" name="Text Box 54"/>
          <p:cNvSpPr txBox="1">
            <a:spLocks noChangeArrowheads="1"/>
          </p:cNvSpPr>
          <p:nvPr/>
        </p:nvSpPr>
        <p:spPr bwMode="auto">
          <a:xfrm>
            <a:off x="7405688" y="1341439"/>
            <a:ext cx="2393950" cy="3038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44823" name="Rectangle 55"/>
          <p:cNvSpPr>
            <a:spLocks noChangeArrowheads="1"/>
          </p:cNvSpPr>
          <p:nvPr/>
        </p:nvSpPr>
        <p:spPr bwMode="auto">
          <a:xfrm>
            <a:off x="5591176" y="1412876"/>
            <a:ext cx="3889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>
                <a:solidFill>
                  <a:srgbClr val="000000"/>
                </a:solidFill>
                <a:ea typeface="Dotum" pitchFamily="34" charset="-127"/>
              </a:rPr>
              <a:t>//</a:t>
            </a:r>
            <a:r>
              <a:rPr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形参为同类型的指针变量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4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4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4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4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4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4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4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4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54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4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54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2" grpId="0" animBg="1" autoUpdateAnimBg="0"/>
      <p:bldP spid="544815" grpId="0" animBg="1"/>
      <p:bldP spid="544816" grpId="0" animBg="1"/>
      <p:bldP spid="544818" grpId="0" animBg="1" autoUpdateAnimBg="0"/>
      <p:bldP spid="544820" grpId="0" animBg="1"/>
      <p:bldP spid="544821" grpId="0" animBg="1"/>
      <p:bldP spid="544822" grpId="0" animBg="1" autoUpdateAnimBg="0"/>
      <p:bldP spid="54482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75460" y="764540"/>
            <a:ext cx="9753600" cy="50288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已有变量定义和函数调用语句：输出结果是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void fun(int *x)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{(*x)++;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</a:p>
          <a:p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int a=25;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fun(&amp;a);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n",a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891044" y="5301208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24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929165" y="5301208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25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967286" y="5365501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26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073232" y="5301208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出错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24269" y="536550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062390" y="536550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100511" y="5429794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206457" y="536550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223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#include 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stdio</a:t>
            </a:r>
            <a:r>
              <a:rPr lang="zh-CN" altLang="zh-CN" sz="2800" b="1" dirty="0">
                <a:latin typeface="Times New Roman" panose="02020603050405020304" pitchFamily="18" charset="0"/>
              </a:rPr>
              <a:t>.</a:t>
            </a:r>
            <a:r>
              <a:rPr lang="zh-CN" altLang="zh-CN" sz="2800" b="1" dirty="0"/>
              <a:t>h</a:t>
            </a:r>
            <a:r>
              <a:rPr lang="zh-CN" altLang="zh-CN" sz="2800" dirty="0"/>
              <a:t>&gt;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func1</a:t>
            </a:r>
            <a:r>
              <a:rPr lang="zh-CN" altLang="zh-CN" sz="2800" b="1" dirty="0">
                <a:latin typeface="Times New Roman" panose="02020603050405020304" pitchFamily="18" charset="0"/>
              </a:rPr>
              <a:t>( </a:t>
            </a:r>
            <a:r>
              <a:rPr lang="zh-CN" altLang="zh-CN" sz="2800" b="1" dirty="0"/>
              <a:t>int  x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int  y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int 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/>
              <a:t>a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int 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/>
              <a:t>b</a:t>
            </a:r>
            <a:r>
              <a:rPr lang="zh-CN" altLang="zh-CN" sz="2800" b="1" dirty="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{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/>
              <a:t>a=x+y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  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/>
              <a:t>b=x-y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800" b="1" dirty="0"/>
              <a:t>}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main</a:t>
            </a:r>
            <a:r>
              <a:rPr lang="zh-CN" altLang="zh-CN" sz="2800" b="1" dirty="0">
                <a:latin typeface="Times New Roman" panose="02020603050405020304" pitchFamily="18" charset="0"/>
              </a:rPr>
              <a:t>( 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{ int  i=9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j=3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n1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n2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   </a:t>
            </a:r>
            <a:r>
              <a:rPr lang="zh-CN" altLang="zh-CN" sz="2800" b="1" dirty="0">
                <a:solidFill>
                  <a:srgbClr val="0000B2"/>
                </a:solidFill>
              </a:rPr>
              <a:t>func1</a:t>
            </a:r>
            <a:r>
              <a:rPr lang="zh-CN" altLang="zh-CN" sz="2800" b="1" dirty="0">
                <a:solidFill>
                  <a:srgbClr val="0000B2"/>
                </a:solidFill>
                <a:latin typeface="Times New Roman" panose="02020603050405020304" pitchFamily="18" charset="0"/>
              </a:rPr>
              <a:t>( </a:t>
            </a:r>
            <a:r>
              <a:rPr lang="zh-CN" altLang="zh-CN" sz="2800" b="1" dirty="0">
                <a:solidFill>
                  <a:srgbClr val="0000B2"/>
                </a:solidFill>
              </a:rPr>
              <a:t>i</a:t>
            </a:r>
            <a:r>
              <a:rPr lang="zh-CN" altLang="zh-CN" sz="2800" b="1" dirty="0">
                <a:solidFill>
                  <a:srgbClr val="0000B2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zh-CN" sz="2800" b="1" dirty="0">
                <a:solidFill>
                  <a:srgbClr val="0000B2"/>
                </a:solidFill>
              </a:rPr>
              <a:t>j</a:t>
            </a:r>
            <a:r>
              <a:rPr lang="zh-CN" altLang="zh-CN" sz="2800" b="1" dirty="0">
                <a:solidFill>
                  <a:srgbClr val="0000B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sz="2800" dirty="0">
                <a:solidFill>
                  <a:srgbClr val="0000B2"/>
                </a:solidFill>
              </a:rPr>
              <a:t>&amp;</a:t>
            </a:r>
            <a:r>
              <a:rPr lang="zh-CN" altLang="zh-CN" sz="2800" b="1" dirty="0">
                <a:solidFill>
                  <a:srgbClr val="0000B2"/>
                </a:solidFill>
              </a:rPr>
              <a:t>n1</a:t>
            </a:r>
            <a:r>
              <a:rPr lang="zh-CN" altLang="zh-CN" sz="2800" b="1" dirty="0">
                <a:solidFill>
                  <a:srgbClr val="0000B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sz="2800" dirty="0">
                <a:solidFill>
                  <a:srgbClr val="0000B2"/>
                </a:solidFill>
              </a:rPr>
              <a:t>&amp;</a:t>
            </a:r>
            <a:r>
              <a:rPr lang="zh-CN" altLang="zh-CN" sz="2800" b="1" dirty="0">
                <a:solidFill>
                  <a:srgbClr val="0000B2"/>
                </a:solidFill>
              </a:rPr>
              <a:t>n2</a:t>
            </a:r>
            <a:r>
              <a:rPr lang="zh-CN" altLang="zh-CN" sz="2800" b="1" dirty="0">
                <a:solidFill>
                  <a:srgbClr val="0000B2"/>
                </a:solidFill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   printf</a:t>
            </a:r>
            <a:r>
              <a:rPr lang="zh-CN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zh-CN" sz="2800" b="1" dirty="0">
                <a:latin typeface="Times New Roman" panose="02020603050405020304"/>
              </a:rPr>
              <a:t>“</a:t>
            </a:r>
            <a:r>
              <a:rPr lang="zh-CN" altLang="zh-CN" sz="2800" b="1" dirty="0"/>
              <a:t>%d</a:t>
            </a:r>
            <a:r>
              <a:rPr lang="en-US" altLang="zh-CN" sz="2800" b="1" dirty="0"/>
              <a:t>,</a:t>
            </a:r>
            <a:r>
              <a:rPr lang="zh-CN" altLang="zh-CN" sz="2800" b="1" dirty="0"/>
              <a:t>%d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anose="02020603050405020304" pitchFamily="18" charset="0"/>
              </a:rPr>
              <a:t>”, </a:t>
            </a:r>
            <a:r>
              <a:rPr lang="zh-CN" altLang="zh-CN" sz="2800" b="1" dirty="0"/>
              <a:t>n1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zh-CN" sz="2800" b="1" dirty="0"/>
              <a:t>n2</a:t>
            </a:r>
            <a:r>
              <a:rPr lang="zh-CN" altLang="zh-CN" sz="2800" b="1" dirty="0">
                <a:latin typeface="Times New Roman" panose="02020603050405020304" pitchFamily="18" charset="0"/>
              </a:rPr>
              <a:t>);</a:t>
            </a:r>
            <a:r>
              <a:rPr lang="zh-CN" altLang="en-US" sz="2800" b="1" dirty="0">
                <a:latin typeface="Times New Roman" panose="02020603050405020304" pitchFamily="18" charset="0"/>
              </a:rPr>
              <a:t>输出结果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}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49700" y="258764"/>
            <a:ext cx="5113338" cy="854075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指针与数组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7151" y="2073276"/>
            <a:ext cx="6594475" cy="3008313"/>
          </a:xfrm>
        </p:spPr>
        <p:txBody>
          <a:bodyPr/>
          <a:lstStyle/>
          <a:p>
            <a:pPr>
              <a:spcBef>
                <a:spcPct val="9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4" action="ppaction://hlinksldjump"/>
              </a:rPr>
              <a:t>7.</a:t>
            </a:r>
            <a:r>
              <a:rPr lang="zh-CN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4" action="ppaction://hlinksldjump"/>
              </a:rPr>
              <a:t>3</a:t>
            </a:r>
            <a:r>
              <a:rPr lang="zh-CN" altLang="zh-CN" sz="2800" b="1" dirty="0">
                <a:solidFill>
                  <a:srgbClr val="002FC4"/>
                </a:solidFill>
                <a:latin typeface="Times New Roman" panose="02020603050405020304" pitchFamily="18" charset="0"/>
                <a:hlinkClick r:id="rId4" action="ppaction://hlinksldjump"/>
              </a:rPr>
              <a:t>.</a:t>
            </a:r>
            <a:r>
              <a:rPr lang="zh-CN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4" action="ppaction://hlinksldjump"/>
              </a:rPr>
              <a:t>1 </a:t>
            </a:r>
            <a:r>
              <a:rPr lang="zh-CN" altLang="en-US" sz="2800" b="1" dirty="0">
                <a:solidFill>
                  <a:srgbClr val="00009E"/>
                </a:solidFill>
                <a:latin typeface="Courier New" panose="02070309020205020404" pitchFamily="49" charset="0"/>
                <a:ea typeface="黑体" panose="02010609060101010101" pitchFamily="49" charset="-122"/>
                <a:hlinkClick r:id="rId4" action="ppaction://hlinksldjump"/>
              </a:rPr>
              <a:t>指针变量的运算</a:t>
            </a:r>
            <a:endParaRPr lang="zh-CN" altLang="en-US" sz="2800" b="1" dirty="0">
              <a:solidFill>
                <a:srgbClr val="002FC4"/>
              </a:solidFill>
              <a:latin typeface="Courier New" panose="02070309020205020404" pitchFamily="49" charset="0"/>
              <a:hlinkClick r:id="rId5" action="ppaction://hlinksldjump"/>
            </a:endParaRPr>
          </a:p>
          <a:p>
            <a:pPr>
              <a:spcBef>
                <a:spcPct val="9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5" action="ppaction://hlinksldjump"/>
              </a:rPr>
              <a:t>7.</a:t>
            </a:r>
            <a:r>
              <a:rPr lang="zh-CN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5" action="ppaction://hlinksldjump"/>
              </a:rPr>
              <a:t>3</a:t>
            </a:r>
            <a:r>
              <a:rPr lang="zh-CN" altLang="zh-CN" sz="2800" b="1" dirty="0">
                <a:solidFill>
                  <a:srgbClr val="002FC4"/>
                </a:solidFill>
                <a:latin typeface="Times New Roman" panose="02020603050405020304" pitchFamily="18" charset="0"/>
                <a:hlinkClick r:id="rId5" action="ppaction://hlinksldjump"/>
              </a:rPr>
              <a:t>.</a:t>
            </a:r>
            <a:r>
              <a:rPr lang="zh-CN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5" action="ppaction://hlinksldjump"/>
              </a:rPr>
              <a:t>2 </a:t>
            </a:r>
            <a:r>
              <a:rPr lang="zh-CN" altLang="en-US" sz="2800" b="1" dirty="0">
                <a:latin typeface="Courier New" panose="02070309020205020404" pitchFamily="49" charset="0"/>
                <a:ea typeface="黑体" panose="02010609060101010101" pitchFamily="49" charset="-122"/>
                <a:hlinkClick r:id="rId5" action="ppaction://hlinksldjump"/>
              </a:rPr>
              <a:t>一维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数组的指针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9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6" action="ppaction://hlinksldjump"/>
              </a:rPr>
              <a:t>7.</a:t>
            </a:r>
            <a:r>
              <a:rPr lang="zh-CN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6" action="ppaction://hlinksldjump"/>
              </a:rPr>
              <a:t>3</a:t>
            </a:r>
            <a:r>
              <a:rPr lang="zh-CN" altLang="zh-CN" sz="2800" b="1" dirty="0">
                <a:solidFill>
                  <a:srgbClr val="002FC4"/>
                </a:solidFill>
                <a:latin typeface="Times New Roman" panose="02020603050405020304" pitchFamily="18" charset="0"/>
                <a:hlinkClick r:id="rId6" action="ppaction://hlinksldjump"/>
              </a:rPr>
              <a:t>.</a:t>
            </a:r>
            <a:r>
              <a:rPr lang="zh-CN" altLang="zh-CN" sz="2800" b="1" dirty="0">
                <a:solidFill>
                  <a:srgbClr val="002FC4"/>
                </a:solidFill>
                <a:latin typeface="Courier New" panose="02070309020205020404" pitchFamily="49" charset="0"/>
                <a:hlinkClick r:id="rId6" action="ppaction://hlinksldjump"/>
              </a:rPr>
              <a:t>3 </a:t>
            </a:r>
            <a:r>
              <a:rPr lang="zh-CN" altLang="en-US" sz="2800" b="1" dirty="0">
                <a:solidFill>
                  <a:srgbClr val="002FC4"/>
                </a:solidFill>
                <a:latin typeface="Courier New" panose="02070309020205020404" pitchFamily="49" charset="0"/>
                <a:ea typeface="黑体" panose="02010609060101010101" pitchFamily="49" charset="-122"/>
                <a:hlinkClick r:id="rId6" action="ppaction://hlinksldjump"/>
              </a:rPr>
              <a:t>数组名作为函数参数</a:t>
            </a:r>
            <a:endParaRPr lang="zh-CN" altLang="en-US" sz="2800" b="1" dirty="0">
              <a:solidFill>
                <a:srgbClr val="002FC4"/>
              </a:solidFill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dirty="0"/>
              <a:t>     </a:t>
            </a:r>
          </a:p>
        </p:txBody>
      </p:sp>
      <p:pic>
        <p:nvPicPr>
          <p:cNvPr id="547844" name="Picture 4" descr="b14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1" y="5943600"/>
            <a:ext cx="18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41663" y="1"/>
            <a:ext cx="5097462" cy="84137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3.1  </a:t>
            </a:r>
            <a:r>
              <a:rPr lang="zh-CN" altLang="en-US" sz="3600" dirty="0">
                <a:latin typeface="楷体_GB2312" pitchFamily="49" charset="-122"/>
              </a:rPr>
              <a:t>指针变量的运算</a:t>
            </a:r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0901" y="1257301"/>
            <a:ext cx="8348663" cy="4627563"/>
          </a:xfrm>
        </p:spPr>
        <p:txBody>
          <a:bodyPr/>
          <a:lstStyle/>
          <a:p>
            <a:pPr marL="269875" indent="-269875">
              <a:lnSpc>
                <a:spcPct val="105000"/>
              </a:lnSpc>
              <a:spcBef>
                <a:spcPct val="40000"/>
              </a:spcBef>
            </a:pPr>
            <a:r>
              <a:rPr lang="zh-CN" altLang="en-US" sz="2800" b="1" dirty="0">
                <a:latin typeface="Courier New" panose="02070309020205020404" pitchFamily="49" charset="0"/>
              </a:rPr>
              <a:t>实质</a:t>
            </a:r>
            <a:r>
              <a:rPr lang="zh-CN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latin typeface="Courier New" panose="02070309020205020404" pitchFamily="49" charset="0"/>
              </a:rPr>
              <a:t>地址的运算</a:t>
            </a:r>
          </a:p>
          <a:p>
            <a:pPr marL="269875" indent="-269875">
              <a:lnSpc>
                <a:spcPct val="105000"/>
              </a:lnSpc>
              <a:spcBef>
                <a:spcPct val="40000"/>
              </a:spcBef>
            </a:pPr>
            <a:r>
              <a:rPr lang="zh-CN" altLang="en-US" sz="2800" b="1" dirty="0">
                <a:latin typeface="Courier New" panose="02070309020205020404" pitchFamily="49" charset="0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有一套特定运算规则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不同于整数</a:t>
            </a:r>
            <a:r>
              <a:rPr lang="en-US" altLang="zh-CN" sz="2800" b="1" dirty="0">
                <a:latin typeface="Courier New" panose="02070309020205020404" pitchFamily="49" charset="0"/>
              </a:rPr>
              <a:t>)</a:t>
            </a:r>
            <a:endParaRPr lang="zh-CN" altLang="en-US" sz="2800" b="1" dirty="0">
              <a:latin typeface="Courier New" panose="02070309020205020404" pitchFamily="49" charset="0"/>
            </a:endParaRPr>
          </a:p>
          <a:p>
            <a:pPr marL="269875" indent="-269875">
              <a:lnSpc>
                <a:spcPct val="105000"/>
              </a:lnSpc>
              <a:spcBef>
                <a:spcPct val="40000"/>
              </a:spcBef>
            </a:pPr>
            <a:r>
              <a:rPr lang="zh-CN" altLang="en-US" sz="2800" b="1" dirty="0"/>
              <a:t>指针可以进行以下</a:t>
            </a:r>
            <a:r>
              <a:rPr lang="zh-CN" altLang="en-US" sz="2800" b="1"/>
              <a:t>运算</a:t>
            </a:r>
            <a:r>
              <a:rPr lang="zh-CN" altLang="zh-CN" sz="2800" b="1">
                <a:latin typeface="Times New Roman" panose="02020603050405020304" pitchFamily="18" charset="0"/>
              </a:rPr>
              <a:t>: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marL="269875" indent="-269875">
              <a:lnSpc>
                <a:spcPct val="105000"/>
              </a:lnSpc>
              <a:spcBef>
                <a:spcPct val="40000"/>
              </a:spcBef>
            </a:pPr>
            <a:endParaRPr lang="zh-CN" altLang="zh-CN" sz="2800" b="1" dirty="0">
              <a:latin typeface="Times New Roman" panose="02020603050405020304" pitchFamily="18" charset="0"/>
            </a:endParaRPr>
          </a:p>
          <a:p>
            <a:pPr marL="630555" lvl="1" indent="-180975">
              <a:lnSpc>
                <a:spcPct val="105000"/>
              </a:lnSpc>
              <a:spcBef>
                <a:spcPct val="4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赋值运算</a:t>
            </a:r>
            <a:r>
              <a:rPr lang="zh-CN" altLang="zh-CN" b="1" dirty="0">
                <a:latin typeface="Times New Roman" panose="02020603050405020304" pitchFamily="18" charset="0"/>
              </a:rPr>
              <a:t>:  </a:t>
            </a:r>
            <a:r>
              <a:rPr lang="zh-CN" b="1" dirty="0"/>
              <a:t>给指针</a:t>
            </a:r>
            <a:r>
              <a:rPr lang="zh-CN" b="1"/>
              <a:t>变量赋值</a:t>
            </a:r>
            <a:endParaRPr lang="en-US" altLang="zh-CN" b="1"/>
          </a:p>
          <a:p>
            <a:pPr marL="963930" lvl="1" indent="-514350">
              <a:lnSpc>
                <a:spcPct val="105000"/>
              </a:lnSpc>
              <a:spcBef>
                <a:spcPct val="40000"/>
              </a:spcBef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en-US" altLang="zh-CN" b="1">
                <a:latin typeface="黑体" panose="02010609060101010101" pitchFamily="49" charset="-122"/>
              </a:rPr>
              <a:t>int a=5,*p=&amp;a,*p1;//</a:t>
            </a:r>
            <a:r>
              <a:rPr lang="zh-CN" altLang="en-US" b="1">
                <a:latin typeface="黑体" panose="02010609060101010101" pitchFamily="49" charset="-122"/>
              </a:rPr>
              <a:t>初始化</a:t>
            </a:r>
            <a:endParaRPr lang="en-US" altLang="zh-CN" b="1">
              <a:latin typeface="黑体" panose="02010609060101010101" pitchFamily="49" charset="-122"/>
            </a:endParaRPr>
          </a:p>
          <a:p>
            <a:pPr marL="963930" lvl="1" indent="-514350">
              <a:lnSpc>
                <a:spcPct val="105000"/>
              </a:lnSpc>
              <a:spcBef>
                <a:spcPct val="40000"/>
              </a:spcBef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en-US" altLang="zh-CN" b="1">
                <a:latin typeface="黑体" panose="02010609060101010101" pitchFamily="49" charset="-122"/>
              </a:rPr>
              <a:t>p=&amp;a;  p1=p;</a:t>
            </a:r>
            <a:endParaRPr lang="zh-CN" b="1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41663" y="1"/>
            <a:ext cx="5097462" cy="84137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3.1  </a:t>
            </a:r>
            <a:r>
              <a:rPr lang="zh-CN" altLang="en-US" sz="3600" dirty="0">
                <a:latin typeface="楷体_GB2312" pitchFamily="49" charset="-122"/>
              </a:rPr>
              <a:t>指针变量的运算</a:t>
            </a:r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0901" y="1257301"/>
            <a:ext cx="8348663" cy="4627563"/>
          </a:xfrm>
        </p:spPr>
        <p:txBody>
          <a:bodyPr/>
          <a:lstStyle/>
          <a:p>
            <a:pPr marL="49530" indent="0">
              <a:lnSpc>
                <a:spcPct val="105000"/>
              </a:lnSpc>
              <a:spcBef>
                <a:spcPct val="40000"/>
              </a:spcBef>
              <a:buSzPct val="85000"/>
              <a:buNone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以下操作都是在指向</a:t>
            </a: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数组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时有意义</a:t>
            </a:r>
            <a:endParaRPr lang="en-US" altLang="zh-CN" b="1">
              <a:latin typeface="黑体" panose="02010609060101010101" pitchFamily="49" charset="-122"/>
            </a:endParaRPr>
          </a:p>
          <a:p>
            <a:pPr marL="963930" lvl="1" indent="-514350">
              <a:lnSpc>
                <a:spcPct val="105000"/>
              </a:lnSpc>
              <a:spcBef>
                <a:spcPct val="40000"/>
              </a:spcBef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b="1">
                <a:latin typeface="黑体" panose="02010609060101010101" pitchFamily="49" charset="-122"/>
              </a:rPr>
              <a:t>算术运算</a:t>
            </a:r>
            <a:endParaRPr lang="zh-CN" altLang="zh-CN" b="1" dirty="0">
              <a:latin typeface="Times New Roman" panose="02020603050405020304" pitchFamily="18" charset="0"/>
            </a:endParaRPr>
          </a:p>
          <a:p>
            <a:pPr marL="1323975" lvl="2" indent="-514350">
              <a:lnSpc>
                <a:spcPct val="105000"/>
              </a:lnSpc>
              <a:spcBef>
                <a:spcPct val="40000"/>
              </a:spcBef>
              <a:buClr>
                <a:srgbClr val="FF0000"/>
              </a:buClr>
              <a:buSzPct val="85000"/>
              <a:buFont typeface="+mj-ea"/>
              <a:buAutoNum type="circleNumDbPlai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指针加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减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一个整数</a:t>
            </a:r>
          </a:p>
          <a:p>
            <a:pPr marL="1323975" lvl="2" indent="-514350">
              <a:lnSpc>
                <a:spcPct val="105000"/>
              </a:lnSpc>
              <a:spcBef>
                <a:spcPct val="40000"/>
              </a:spcBef>
              <a:buClr>
                <a:srgbClr val="FF0000"/>
              </a:buClr>
              <a:buSzPct val="85000"/>
              <a:buFont typeface="+mj-ea"/>
              <a:buAutoNum type="circleNumDbPlai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两个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指针相减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9625" lvl="2" indent="0">
              <a:lnSpc>
                <a:spcPct val="105000"/>
              </a:lnSpc>
              <a:spcBef>
                <a:spcPct val="40000"/>
              </a:spcBef>
              <a:buClr>
                <a:srgbClr val="FF0000"/>
              </a:buClr>
              <a:buSzPct val="85000"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63930" lvl="1" indent="-514350">
              <a:lnSpc>
                <a:spcPct val="105000"/>
              </a:lnSpc>
              <a:spcBef>
                <a:spcPct val="40000"/>
              </a:spcBef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b="1" dirty="0">
                <a:latin typeface="黑体" panose="02010609060101010101" pitchFamily="49" charset="-122"/>
              </a:rPr>
              <a:t>关系运算</a:t>
            </a:r>
            <a:r>
              <a:rPr lang="zh-CN" altLang="zh-CN" b="1" dirty="0">
                <a:latin typeface="Times New Roman" panose="02020603050405020304" pitchFamily="18" charset="0"/>
              </a:rPr>
              <a:t>:  </a:t>
            </a:r>
            <a:r>
              <a:rPr lang="zh-CN" b="1" dirty="0">
                <a:latin typeface="黑体" panose="02010609060101010101" pitchFamily="49" charset="-122"/>
              </a:rPr>
              <a:t>两个指针</a:t>
            </a:r>
            <a:r>
              <a:rPr lang="zh-CN" b="1" dirty="0"/>
              <a:t>之间的</a:t>
            </a:r>
            <a:r>
              <a:rPr lang="zh-CN" b="1" dirty="0">
                <a:latin typeface="黑体" panose="02010609060101010101" pitchFamily="49" charset="-122"/>
              </a:rPr>
              <a:t>比较运算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188913"/>
            <a:ext cx="6705600" cy="620712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r>
              <a:rPr lang="zh-CN" altLang="zh-CN" sz="280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指针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的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算术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运算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7726" y="1214438"/>
            <a:ext cx="8316913" cy="5040312"/>
          </a:xfrm>
        </p:spPr>
        <p:txBody>
          <a:bodyPr/>
          <a:lstStyle/>
          <a:p>
            <a:pPr marL="457200" indent="-457200">
              <a:lnSpc>
                <a:spcPct val="115000"/>
              </a:lnSpc>
              <a:spcBef>
                <a:spcPct val="350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3600" b="1" dirty="0">
                <a:latin typeface="黑体" panose="02010609060101010101" pitchFamily="49" charset="-122"/>
              </a:rPr>
              <a:t>自增自减（</a:t>
            </a:r>
            <a:r>
              <a:rPr lang="zh-CN" altLang="zh-CN" sz="3600" b="1" dirty="0"/>
              <a:t>++</a:t>
            </a:r>
            <a:r>
              <a:rPr lang="zh-CN" altLang="zh-CN" sz="3600" b="1" dirty="0">
                <a:latin typeface="Times New Roman" panose="02020603050405020304" pitchFamily="18" charset="0"/>
              </a:rPr>
              <a:t>, </a:t>
            </a:r>
            <a:r>
              <a:rPr lang="zh-CN" altLang="zh-CN" sz="3600" b="1" dirty="0"/>
              <a:t>--</a:t>
            </a:r>
            <a:r>
              <a:rPr lang="zh-CN" altLang="en-US" sz="3600" b="1" dirty="0">
                <a:latin typeface="黑体" panose="02010609060101010101" pitchFamily="49" charset="-122"/>
              </a:rPr>
              <a:t>）</a:t>
            </a:r>
          </a:p>
          <a:p>
            <a:pPr marL="457200" indent="-457200">
              <a:lnSpc>
                <a:spcPct val="115000"/>
              </a:lnSpc>
              <a:spcBef>
                <a:spcPct val="400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3600" b="1" dirty="0">
                <a:latin typeface="黑体" panose="02010609060101010101" pitchFamily="49" charset="-122"/>
              </a:rPr>
              <a:t>加上一个整数（</a:t>
            </a:r>
            <a:r>
              <a:rPr lang="zh-CN" altLang="zh-CN" sz="3600" b="1" dirty="0"/>
              <a:t>+</a:t>
            </a:r>
            <a:r>
              <a:rPr lang="zh-CN" altLang="zh-CN" sz="3600" b="1" dirty="0">
                <a:latin typeface="Times New Roman" panose="02020603050405020304" pitchFamily="18" charset="0"/>
              </a:rPr>
              <a:t>, </a:t>
            </a:r>
            <a:r>
              <a:rPr lang="zh-CN" altLang="zh-CN" sz="3600" b="1" dirty="0"/>
              <a:t>+=</a:t>
            </a:r>
            <a:r>
              <a:rPr lang="zh-CN" altLang="zh-CN" sz="3600" b="1" dirty="0">
                <a:latin typeface="Times New Roman" panose="02020603050405020304" pitchFamily="18" charset="0"/>
              </a:rPr>
              <a:t>, </a:t>
            </a:r>
            <a:r>
              <a:rPr lang="zh-CN" altLang="zh-CN" sz="3600" b="1" dirty="0"/>
              <a:t>-</a:t>
            </a:r>
            <a:r>
              <a:rPr lang="zh-CN" altLang="zh-CN" sz="3600" b="1" dirty="0">
                <a:latin typeface="Times New Roman" panose="02020603050405020304" pitchFamily="18" charset="0"/>
              </a:rPr>
              <a:t>, </a:t>
            </a:r>
            <a:r>
              <a:rPr lang="zh-CN" altLang="zh-CN" sz="3600" b="1" dirty="0"/>
              <a:t>-=</a:t>
            </a:r>
            <a:r>
              <a:rPr lang="zh-CN" altLang="en-US" sz="3600" b="1" dirty="0">
                <a:latin typeface="黑体" panose="02010609060101010101" pitchFamily="49" charset="-122"/>
              </a:rPr>
              <a:t>）</a:t>
            </a:r>
          </a:p>
          <a:p>
            <a:pPr marL="274955" indent="-274955">
              <a:lnSpc>
                <a:spcPct val="115000"/>
              </a:lnSpc>
              <a:spcBef>
                <a:spcPct val="40000"/>
              </a:spcBef>
              <a:buSzPct val="50000"/>
            </a:pPr>
            <a:r>
              <a:rPr lang="zh-CN" altLang="en-US" sz="2400" b="1">
                <a:latin typeface="黑体" panose="02010609060101010101" pitchFamily="49" charset="-122"/>
              </a:rPr>
              <a:t>说明</a:t>
            </a:r>
            <a:r>
              <a:rPr lang="zh-CN" altLang="en-US" sz="2400" b="1" dirty="0">
                <a:latin typeface="黑体" panose="02010609060101010101" pitchFamily="49" charset="-122"/>
              </a:rPr>
              <a:t>：</a:t>
            </a:r>
          </a:p>
          <a:p>
            <a:pPr marL="675005" lvl="1" indent="-274955">
              <a:lnSpc>
                <a:spcPct val="115000"/>
              </a:lnSpc>
              <a:spcBef>
                <a:spcPct val="50000"/>
              </a:spcBef>
              <a:buSzPct val="5000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</a:rPr>
              <a:t>只有当指针指向数组时</a:t>
            </a:r>
            <a:r>
              <a:rPr lang="zh-CN" altLang="zh-CN" b="1" dirty="0"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latin typeface="黑体" panose="02010609060101010101" pitchFamily="49" charset="-122"/>
              </a:rPr>
              <a:t>指针的加减运算才有意义。</a:t>
            </a:r>
          </a:p>
          <a:p>
            <a:pPr marL="675005" lvl="1" indent="-274955">
              <a:lnSpc>
                <a:spcPct val="115000"/>
              </a:lnSpc>
              <a:spcBef>
                <a:spcPct val="50000"/>
              </a:spcBef>
              <a:buSzPct val="50000"/>
            </a:pPr>
            <a:r>
              <a:rPr lang="zh-CN" altLang="en-US" b="1" dirty="0">
                <a:latin typeface="黑体" panose="02010609060101010101" pitchFamily="49" charset="-122"/>
              </a:rPr>
              <a:t>指针加</a:t>
            </a:r>
            <a:r>
              <a:rPr lang="zh-CN" altLang="zh-CN" b="1" dirty="0">
                <a:latin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</a:rPr>
              <a:t>减</a:t>
            </a:r>
            <a:r>
              <a:rPr lang="zh-CN" altLang="zh-CN" b="1" dirty="0">
                <a:latin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</a:rPr>
              <a:t>一个整数</a:t>
            </a:r>
            <a:r>
              <a:rPr lang="zh-CN" altLang="zh-CN" b="1" dirty="0"/>
              <a:t>n</a:t>
            </a:r>
            <a:r>
              <a:rPr lang="zh-CN" altLang="en-US" b="1" dirty="0">
                <a:latin typeface="黑体" panose="02010609060101010101" pitchFamily="49" charset="-122"/>
              </a:rPr>
              <a:t>的意义</a:t>
            </a:r>
            <a:r>
              <a:rPr lang="zh-CN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黑体" panose="02010609060101010101" pitchFamily="49" charset="-122"/>
              </a:rPr>
              <a:t>是使指针向前或向后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移动</a:t>
            </a:r>
            <a:r>
              <a:rPr lang="zh-CN" altLang="en-US" b="1" dirty="0">
                <a:latin typeface="黑体" panose="02010609060101010101" pitchFamily="49" charset="-122"/>
              </a:rPr>
              <a:t>一</a:t>
            </a:r>
            <a:r>
              <a:rPr lang="zh-CN" altLang="en-US" b="1">
                <a:latin typeface="黑体" panose="02010609060101010101" pitchFamily="49" charset="-122"/>
              </a:rPr>
              <a:t>个或</a:t>
            </a:r>
            <a:r>
              <a:rPr lang="en-US" altLang="zh-CN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n</a:t>
            </a:r>
            <a:r>
              <a:rPr lang="zh-CN" altLang="en-US" b="1">
                <a:latin typeface="黑体" panose="02010609060101010101" pitchFamily="49" charset="-122"/>
              </a:rPr>
              <a:t>个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数组元素的位置</a:t>
            </a:r>
            <a:r>
              <a:rPr lang="zh-CN" altLang="en-US" b="1" dirty="0">
                <a:latin typeface="黑体" panose="02010609060101010101" pitchFamily="49" charset="-122"/>
              </a:rPr>
              <a:t>。 </a:t>
            </a:r>
          </a:p>
        </p:txBody>
      </p:sp>
      <p:sp>
        <p:nvSpPr>
          <p:cNvPr id="55091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04800" cy="22860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50917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919288" y="404814"/>
            <a:ext cx="360362" cy="300037"/>
          </a:xfrm>
          <a:prstGeom prst="actionButtonEnd">
            <a:avLst/>
          </a:prstGeom>
          <a:noFill/>
          <a:ln w="0" cmpd="sng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800">
              <a:solidFill>
                <a:srgbClr val="FF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188913"/>
            <a:ext cx="6705600" cy="620712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r>
              <a:rPr lang="zh-CN" altLang="zh-CN" sz="280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指针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的算术运算</a:t>
            </a:r>
          </a:p>
        </p:txBody>
      </p:sp>
      <p:sp>
        <p:nvSpPr>
          <p:cNvPr id="55091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04800" cy="22860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50917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919288" y="404814"/>
            <a:ext cx="360362" cy="300037"/>
          </a:xfrm>
          <a:prstGeom prst="actionButtonEnd">
            <a:avLst/>
          </a:prstGeom>
          <a:noFill/>
          <a:ln w="0" cmpd="sng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800">
              <a:solidFill>
                <a:srgbClr val="FF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45751" y="141277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# include  &lt;stdio.h&gt;</a:t>
            </a:r>
          </a:p>
          <a:p>
            <a:r>
              <a:rPr lang="zh-CN" altLang="en-US" sz="2400" b="1" dirty="0"/>
              <a:t>main( )</a:t>
            </a:r>
          </a:p>
          <a:p>
            <a:r>
              <a:rPr lang="zh-CN" altLang="en-US" sz="2400" b="1" dirty="0"/>
              <a:t>{ </a:t>
            </a:r>
          </a:p>
          <a:p>
            <a:r>
              <a:rPr lang="zh-CN" altLang="en-US" sz="2400" b="1" dirty="0"/>
              <a:t>	int a[5]={10,20,30,40,50};</a:t>
            </a:r>
          </a:p>
          <a:p>
            <a:r>
              <a:rPr lang="zh-CN" altLang="en-US" sz="2400" b="1"/>
              <a:t>	</a:t>
            </a:r>
            <a:r>
              <a:rPr lang="en-US" altLang="zh-CN" sz="2400" b="1"/>
              <a:t>int</a:t>
            </a:r>
            <a:r>
              <a:rPr lang="zh-CN" altLang="en-US" sz="2400" b="1"/>
              <a:t> </a:t>
            </a:r>
            <a:r>
              <a:rPr lang="zh-CN" altLang="en-US" sz="2400" b="1" dirty="0"/>
              <a:t>*p=a;</a:t>
            </a:r>
          </a:p>
          <a:p>
            <a:r>
              <a:rPr lang="zh-CN" altLang="en-US" sz="2400" b="1" dirty="0"/>
              <a:t>	p+=2;</a:t>
            </a:r>
          </a:p>
          <a:p>
            <a:r>
              <a:rPr lang="zh-CN" altLang="en-US" sz="2400" b="1" dirty="0"/>
              <a:t>	printf("%d\n",*p);</a:t>
            </a:r>
          </a:p>
          <a:p>
            <a:r>
              <a:rPr lang="zh-CN" altLang="en-US" sz="2400" b="1" dirty="0"/>
              <a:t>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4268787"/>
            <a:ext cx="5446151" cy="1977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188913"/>
            <a:ext cx="6705600" cy="620712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r>
              <a:rPr lang="zh-CN" altLang="zh-CN" sz="280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指针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的算术运算</a:t>
            </a:r>
          </a:p>
        </p:txBody>
      </p:sp>
      <p:sp>
        <p:nvSpPr>
          <p:cNvPr id="55091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04800" cy="22860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50917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919288" y="404814"/>
            <a:ext cx="360362" cy="300037"/>
          </a:xfrm>
          <a:prstGeom prst="actionButtonEnd">
            <a:avLst/>
          </a:prstGeom>
          <a:noFill/>
          <a:ln w="0" cmpd="sng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800">
              <a:solidFill>
                <a:srgbClr val="FF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45751" y="141277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# include  &lt;stdio.h&gt;</a:t>
            </a:r>
          </a:p>
          <a:p>
            <a:r>
              <a:rPr lang="zh-CN" altLang="en-US" sz="2400" b="1" dirty="0"/>
              <a:t>main( )</a:t>
            </a:r>
          </a:p>
          <a:p>
            <a:r>
              <a:rPr lang="zh-CN" altLang="en-US" sz="2400" b="1" dirty="0"/>
              <a:t>{ </a:t>
            </a:r>
          </a:p>
          <a:p>
            <a:r>
              <a:rPr lang="zh-CN" altLang="en-US" sz="2400" b="1" dirty="0"/>
              <a:t>	int a[5]={10,20,30,40,50};</a:t>
            </a:r>
          </a:p>
          <a:p>
            <a:r>
              <a:rPr lang="zh-CN" altLang="en-US" sz="2400" b="1" dirty="0"/>
              <a:t>	short *p=a;</a:t>
            </a:r>
          </a:p>
          <a:p>
            <a:r>
              <a:rPr lang="zh-CN" altLang="en-US" sz="2400" b="1" dirty="0"/>
              <a:t>	p+=2;</a:t>
            </a:r>
          </a:p>
          <a:p>
            <a:r>
              <a:rPr lang="zh-CN" altLang="en-US" sz="2400" b="1" dirty="0"/>
              <a:t>	printf("%d\n",*p);</a:t>
            </a:r>
          </a:p>
          <a:p>
            <a:r>
              <a:rPr lang="zh-CN" altLang="en-US" sz="2400" b="1" dirty="0"/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4581128"/>
            <a:ext cx="5656264" cy="18422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09825" y="236539"/>
            <a:ext cx="5905500" cy="738187"/>
          </a:xfrm>
        </p:spPr>
        <p:txBody>
          <a:bodyPr/>
          <a:lstStyle/>
          <a:p>
            <a:r>
              <a:rPr lang="zh-CN" altLang="en-US" sz="3200" b="0"/>
              <a:t>说明</a:t>
            </a:r>
          </a:p>
        </p:txBody>
      </p:sp>
      <p:sp>
        <p:nvSpPr>
          <p:cNvPr id="555057" name="Rectangle 49"/>
          <p:cNvSpPr>
            <a:spLocks noChangeArrowheads="1"/>
          </p:cNvSpPr>
          <p:nvPr/>
        </p:nvSpPr>
        <p:spPr bwMode="auto">
          <a:xfrm>
            <a:off x="2135188" y="1287464"/>
            <a:ext cx="8532812" cy="444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76530" indent="-17653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p=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;  </a:t>
            </a:r>
            <a:r>
              <a:rPr lang="zh-CN" altLang="en-US" sz="2800" b="1" dirty="0">
                <a:solidFill>
                  <a:srgbClr val="000000"/>
                </a:solidFill>
              </a:rPr>
              <a:t>这里数组名作为数组的起始地址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</a:rPr>
              <a:t>即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000000"/>
                </a:solidFill>
                <a:latin typeface="Courier New" panose="02070309020205020404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0</a:t>
            </a:r>
            <a:r>
              <a:rPr lang="zh-CN" altLang="zh-CN" sz="2800" b="1" dirty="0">
                <a:solidFill>
                  <a:srgbClr val="000000"/>
                </a:solidFill>
                <a:latin typeface="Courier New" panose="02070309020205020404" pitchFamily="49" charset="0"/>
                <a:ea typeface="Dotum" pitchFamily="34" charset="-127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</a:rPr>
              <a:t>的地址。</a:t>
            </a:r>
            <a:b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</a:br>
            <a:r>
              <a:rPr lang="zh-CN" altLang="en-US" sz="2800" b="1" dirty="0">
                <a:solidFill>
                  <a:srgbClr val="000000"/>
                </a:solidFill>
              </a:rPr>
              <a:t>因此</a:t>
            </a:r>
            <a: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p=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等效于</a:t>
            </a:r>
            <a: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p=</a:t>
            </a:r>
            <a:r>
              <a:rPr lang="zh-CN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&amp;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0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Dotum" pitchFamily="34" charset="-127"/>
              </a:rPr>
              <a:t>]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;</a:t>
            </a:r>
          </a:p>
          <a:p>
            <a:pPr marL="176530" indent="-176530" fontAlgn="base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en-US" altLang="zh-CN" sz="2800" b="1">
                <a:solidFill>
                  <a:srgbClr val="000000"/>
                </a:solidFill>
                <a:ea typeface="Dotum" pitchFamily="34" charset="-127"/>
              </a:rPr>
              <a:t>        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p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=p+1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;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p</a:t>
            </a:r>
            <a:r>
              <a:rPr lang="zh-CN" altLang="en-US" sz="2800" b="1" dirty="0">
                <a:solidFill>
                  <a:srgbClr val="000000"/>
                </a:solidFill>
              </a:rPr>
              <a:t>指向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000000"/>
                </a:solidFill>
                <a:latin typeface="Courier New" panose="02070309020205020404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1</a:t>
            </a:r>
            <a:r>
              <a:rPr lang="zh-CN" altLang="zh-CN" sz="2800" b="1" dirty="0">
                <a:solidFill>
                  <a:srgbClr val="000000"/>
                </a:solidFill>
                <a:latin typeface="Courier New" panose="02070309020205020404" pitchFamily="49" charset="0"/>
                <a:ea typeface="Dotum" pitchFamily="34" charset="-127"/>
              </a:rPr>
              <a:t>]</a:t>
            </a:r>
          </a:p>
          <a:p>
            <a:pPr marL="176530" indent="-176530" fontAlgn="base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endParaRPr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Dotum" pitchFamily="34" charset="-127"/>
            </a:endParaRPr>
          </a:p>
          <a:p>
            <a:pPr marL="176530" indent="-176530" fontAlgn="base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p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=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等效于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p=&amp;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0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; </a:t>
            </a:r>
            <a:r>
              <a:rPr lang="zh-CN" altLang="en-US" sz="2800" b="1">
                <a:solidFill>
                  <a:srgbClr val="000000"/>
                </a:solidFill>
                <a:ea typeface="Dotum" pitchFamily="34" charset="-127"/>
              </a:rPr>
              <a:t> </a:t>
            </a:r>
            <a:endParaRPr lang="en-US" altLang="zh-CN" sz="2800" b="1">
              <a:solidFill>
                <a:srgbClr val="000000"/>
              </a:solidFill>
              <a:ea typeface="Dotum" pitchFamily="34" charset="-127"/>
            </a:endParaRPr>
          </a:p>
          <a:p>
            <a:pPr marL="176530" indent="-176530" fontAlgn="base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p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=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+4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等效于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p=&amp;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Dotum" pitchFamily="34" charset="-127"/>
              </a:rPr>
              <a:t>a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4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Dotum" pitchFamily="34" charset="-127"/>
              </a:rPr>
              <a:t>]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;</a:t>
            </a:r>
          </a:p>
        </p:txBody>
      </p:sp>
      <p:sp>
        <p:nvSpPr>
          <p:cNvPr id="555058" name="AutoShape 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60539" y="847726"/>
            <a:ext cx="433387" cy="288925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551442" y="680720"/>
            <a:ext cx="9989368" cy="6223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400" b="1" dirty="0" err="1">
                <a:solidFill>
                  <a:srgbClr val="000000"/>
                </a:solidFill>
              </a:rPr>
              <a:t>stdio.h</a:t>
            </a:r>
            <a:r>
              <a:rPr lang="en-US" altLang="zh-CN" sz="2400" b="1" dirty="0">
                <a:solidFill>
                  <a:srgbClr val="000000"/>
                </a:solidFill>
              </a:rPr>
              <a:t>&gt;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main( 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{ int  a[10]={1, 3, 5, 7, 9, 11, 13, 15, 17, 19};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   </a:t>
            </a:r>
            <a:r>
              <a:rPr lang="en-US" altLang="zh-CN" sz="2400" b="1">
                <a:solidFill>
                  <a:srgbClr val="000000"/>
                </a:solidFill>
              </a:rPr>
              <a:t>int  *</a:t>
            </a:r>
            <a:r>
              <a:rPr lang="en-US" altLang="zh-CN" sz="2400" b="1" dirty="0">
                <a:solidFill>
                  <a:srgbClr val="000000"/>
                </a:solidFill>
              </a:rPr>
              <a:t>p1=a, *</a:t>
            </a:r>
            <a:r>
              <a:rPr lang="en-US" altLang="zh-CN" sz="2400" b="1">
                <a:solidFill>
                  <a:srgbClr val="000000"/>
                </a:solidFill>
              </a:rPr>
              <a:t>p2 =&amp;a[0];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   </a:t>
            </a:r>
            <a:r>
              <a:rPr lang="en-US" altLang="zh-CN" sz="24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400" b="1" dirty="0">
                <a:solidFill>
                  <a:srgbClr val="000000"/>
                </a:solidFill>
              </a:rPr>
              <a:t>(“%d, %d\n”, *p1, *p2 ) ;//</a:t>
            </a:r>
            <a:r>
              <a:rPr lang="zh-CN" altLang="en-US" sz="2400" b="1" dirty="0">
                <a:solidFill>
                  <a:srgbClr val="000000"/>
                </a:solidFill>
              </a:rPr>
              <a:t>此处输出 </a:t>
            </a:r>
            <a:r>
              <a:rPr lang="en-US" altLang="zh-CN" sz="2400" b="1" dirty="0">
                <a:solidFill>
                  <a:srgbClr val="639EF4"/>
                </a:solidFill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</a:rPr>
              <a:t>1]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639EF4"/>
                </a:solidFill>
              </a:rPr>
              <a:t>   </a:t>
            </a:r>
            <a:r>
              <a:rPr lang="en-US" altLang="zh-CN" sz="2400" b="1" dirty="0">
                <a:solidFill>
                  <a:srgbClr val="000000"/>
                </a:solidFill>
              </a:rPr>
              <a:t>p1=p1+1 ;    p2+=3 ;      </a:t>
            </a:r>
            <a:endParaRPr lang="zh-CN" altLang="en-US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</a:rPr>
              <a:t>   </a:t>
            </a:r>
            <a:r>
              <a:rPr lang="en-US" altLang="zh-CN" sz="24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400" b="1" dirty="0">
                <a:solidFill>
                  <a:srgbClr val="000000"/>
                </a:solidFill>
              </a:rPr>
              <a:t>(“%d, %d\n”, *p1, *p2 ) ;//</a:t>
            </a:r>
            <a:r>
              <a:rPr lang="zh-CN" altLang="en-US" sz="2400" b="1" dirty="0">
                <a:solidFill>
                  <a:srgbClr val="000000"/>
                </a:solidFill>
              </a:rPr>
              <a:t>此处输出</a:t>
            </a:r>
            <a:r>
              <a:rPr lang="en-US" altLang="zh-CN" sz="2400" b="1" dirty="0">
                <a:solidFill>
                  <a:srgbClr val="639EF4"/>
                </a:solidFill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</a:rPr>
              <a:t>2]</a:t>
            </a: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endParaRPr lang="zh-CN" altLang="en-US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   </a:t>
            </a:r>
            <a:r>
              <a:rPr lang="en-US" altLang="zh-CN" sz="2400" b="1" dirty="0">
                <a:solidFill>
                  <a:srgbClr val="000000"/>
                </a:solidFill>
              </a:rPr>
              <a:t>p1++;    p2-- 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   </a:t>
            </a:r>
            <a:r>
              <a:rPr lang="en-US" altLang="zh-CN" sz="24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400" b="1" dirty="0">
                <a:solidFill>
                  <a:srgbClr val="000000"/>
                </a:solidFill>
              </a:rPr>
              <a:t>(“%d, %d\n”, *p1, *p2 ) ;//</a:t>
            </a:r>
            <a:r>
              <a:rPr lang="zh-CN" altLang="en-US" sz="2400" b="1" dirty="0">
                <a:solidFill>
                  <a:srgbClr val="000000"/>
                </a:solidFill>
              </a:rPr>
              <a:t>此处输出</a:t>
            </a:r>
            <a:r>
              <a:rPr lang="zh-CN" altLang="en-US" sz="2400" b="1" dirty="0">
                <a:solidFill>
                  <a:srgbClr val="639EF4"/>
                </a:solidFill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</a:rPr>
              <a:t>3]</a:t>
            </a: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endParaRPr lang="zh-CN" altLang="en-US" sz="2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36788" y="2063750"/>
            <a:ext cx="6737350" cy="4103688"/>
          </a:xfrm>
        </p:spPr>
        <p:txBody>
          <a:bodyPr/>
          <a:lstStyle/>
          <a:p>
            <a:pPr marL="274955" indent="-274955">
              <a:lnSpc>
                <a:spcPct val="110000"/>
              </a:lnSpc>
              <a:buNone/>
            </a:pPr>
            <a:r>
              <a:rPr lang="zh-CN" altLang="en-US" sz="2400" b="1"/>
              <a:t>#include </a:t>
            </a:r>
            <a:r>
              <a:rPr lang="zh-CN" altLang="en-US" sz="2400"/>
              <a:t>&lt;</a:t>
            </a:r>
            <a:r>
              <a:rPr lang="zh-CN" altLang="en-US" sz="2400" b="1"/>
              <a:t>stdio</a:t>
            </a:r>
            <a:r>
              <a:rPr lang="zh-CN" altLang="en-US" sz="2400" b="1">
                <a:latin typeface="Times New Roman" panose="02020603050405020304" pitchFamily="18" charset="0"/>
              </a:rPr>
              <a:t>.</a:t>
            </a:r>
            <a:r>
              <a:rPr lang="zh-CN" altLang="en-US" sz="2400" b="1"/>
              <a:t>h</a:t>
            </a:r>
            <a:r>
              <a:rPr lang="zh-CN" altLang="en-US" sz="2400"/>
              <a:t>&gt;</a:t>
            </a:r>
            <a:r>
              <a:rPr lang="en-GB" altLang="en-US" sz="2400" b="1"/>
              <a:t>    </a:t>
            </a:r>
          </a:p>
          <a:p>
            <a:pPr marL="274955" indent="-274955">
              <a:lnSpc>
                <a:spcPct val="110000"/>
              </a:lnSpc>
              <a:spcBef>
                <a:spcPct val="15000"/>
              </a:spcBef>
              <a:buClrTx/>
              <a:buSzTx/>
              <a:buNone/>
            </a:pPr>
            <a:r>
              <a:rPr lang="zh-CN" altLang="en-US" sz="2400" b="1"/>
              <a:t>void </a:t>
            </a:r>
            <a:r>
              <a:rPr lang="en-GB" altLang="en-US" sz="2400" b="1"/>
              <a:t>main</a:t>
            </a:r>
            <a:r>
              <a:rPr lang="en-GB" altLang="en-US" sz="2400" b="1">
                <a:latin typeface="Times New Roman" panose="02020603050405020304" pitchFamily="18" charset="0"/>
              </a:rPr>
              <a:t>( )</a:t>
            </a:r>
          </a:p>
          <a:p>
            <a:pPr marL="274955" indent="-274955">
              <a:lnSpc>
                <a:spcPct val="110000"/>
              </a:lnSpc>
              <a:spcBef>
                <a:spcPct val="25000"/>
              </a:spcBef>
              <a:buClrTx/>
              <a:buSzTx/>
              <a:buNone/>
            </a:pPr>
            <a:r>
              <a:rPr lang="en-GB" altLang="en-US" sz="2400" b="1"/>
              <a:t> { int  k</a:t>
            </a:r>
            <a:r>
              <a:rPr lang="en-GB" altLang="en-US" sz="2400" b="1">
                <a:latin typeface="Times New Roman" panose="02020603050405020304" pitchFamily="18" charset="0"/>
              </a:rPr>
              <a:t>,</a:t>
            </a:r>
            <a:r>
              <a:rPr lang="en-GB" altLang="en-US" sz="2400" b="1"/>
              <a:t> c</a:t>
            </a:r>
            <a:r>
              <a:rPr lang="en-GB" altLang="en-US" sz="2400" b="1">
                <a:latin typeface="黑体" panose="02010609060101010101" pitchFamily="49" charset="-122"/>
              </a:rPr>
              <a:t>[</a:t>
            </a:r>
            <a:r>
              <a:rPr lang="en-GB" altLang="en-US" sz="2400" b="1"/>
              <a:t>5</a:t>
            </a:r>
            <a:r>
              <a:rPr lang="en-GB" altLang="en-US" sz="2400" b="1">
                <a:latin typeface="黑体" panose="02010609060101010101" pitchFamily="49" charset="-122"/>
              </a:rPr>
              <a:t>]</a:t>
            </a:r>
            <a:r>
              <a:rPr lang="en-GB" altLang="en-US" sz="2400" b="1"/>
              <a:t>=</a:t>
            </a:r>
            <a:r>
              <a:rPr lang="en-GB" altLang="en-US" sz="2400"/>
              <a:t>{</a:t>
            </a:r>
            <a:r>
              <a:rPr lang="en-GB" altLang="en-US" sz="2400" b="1"/>
              <a:t>2</a:t>
            </a:r>
            <a:r>
              <a:rPr lang="en-GB" altLang="en-US" sz="2400" b="1">
                <a:latin typeface="Times New Roman" panose="02020603050405020304" pitchFamily="18" charset="0"/>
              </a:rPr>
              <a:t>,</a:t>
            </a:r>
            <a:r>
              <a:rPr lang="en-GB" altLang="en-US" sz="2400" b="1"/>
              <a:t>4</a:t>
            </a:r>
            <a:r>
              <a:rPr lang="en-GB" altLang="en-US" sz="2400" b="1">
                <a:latin typeface="Times New Roman" panose="02020603050405020304" pitchFamily="18" charset="0"/>
              </a:rPr>
              <a:t>,</a:t>
            </a:r>
            <a:r>
              <a:rPr lang="en-GB" altLang="en-US" sz="2400" b="1"/>
              <a:t>6</a:t>
            </a:r>
            <a:r>
              <a:rPr lang="en-GB" altLang="en-US" sz="2400" b="1">
                <a:latin typeface="Times New Roman" panose="02020603050405020304" pitchFamily="18" charset="0"/>
              </a:rPr>
              <a:t>,</a:t>
            </a:r>
            <a:r>
              <a:rPr lang="en-GB" altLang="en-US" sz="2400" b="1"/>
              <a:t>8</a:t>
            </a:r>
            <a:r>
              <a:rPr lang="en-GB" altLang="en-US" sz="2400" b="1">
                <a:latin typeface="Times New Roman" panose="02020603050405020304" pitchFamily="18" charset="0"/>
              </a:rPr>
              <a:t>,</a:t>
            </a:r>
            <a:r>
              <a:rPr lang="en-GB" altLang="en-US" sz="2400" b="1"/>
              <a:t>1</a:t>
            </a:r>
            <a:r>
              <a:rPr lang="en-GB" altLang="en-US" sz="2400" b="1">
                <a:latin typeface="Arial" panose="020B0604020202020204" pitchFamily="34" charset="0"/>
              </a:rPr>
              <a:t>0</a:t>
            </a:r>
            <a:r>
              <a:rPr lang="en-GB" altLang="en-US" sz="2400"/>
              <a:t>}</a:t>
            </a:r>
            <a:r>
              <a:rPr lang="en-GB" altLang="en-US" sz="2400" b="1"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10000"/>
              </a:lnSpc>
              <a:spcBef>
                <a:spcPct val="25000"/>
              </a:spcBef>
              <a:buClrTx/>
              <a:buSzTx/>
              <a:buNone/>
            </a:pPr>
            <a:r>
              <a:rPr lang="en-GB" altLang="en-US" sz="2400" b="1"/>
              <a:t>    int  </a:t>
            </a:r>
            <a:r>
              <a:rPr lang="en-GB" altLang="en-US" sz="2400" b="1">
                <a:latin typeface="黑体" panose="02010609060101010101" pitchFamily="49" charset="-122"/>
              </a:rPr>
              <a:t>*</a:t>
            </a:r>
            <a:r>
              <a:rPr lang="en-GB" altLang="en-US" sz="2400" b="1"/>
              <a:t>pc=</a:t>
            </a:r>
            <a:r>
              <a:rPr lang="en-GB" altLang="en-US" sz="2400"/>
              <a:t>&amp;</a:t>
            </a:r>
            <a:r>
              <a:rPr lang="en-GB" altLang="en-US" sz="2400" b="1"/>
              <a:t>c</a:t>
            </a:r>
            <a:r>
              <a:rPr lang="en-GB" altLang="en-US" sz="2400" b="1">
                <a:latin typeface="黑体" panose="02010609060101010101" pitchFamily="49" charset="-122"/>
              </a:rPr>
              <a:t>[</a:t>
            </a:r>
            <a:r>
              <a:rPr lang="en-GB" altLang="en-US" sz="2400" b="1">
                <a:latin typeface="Arial" panose="020B0604020202020204" pitchFamily="34" charset="0"/>
              </a:rPr>
              <a:t>0</a:t>
            </a:r>
            <a:r>
              <a:rPr lang="en-GB" altLang="en-US" sz="2400" b="1">
                <a:latin typeface="黑体" panose="02010609060101010101" pitchFamily="49" charset="-122"/>
              </a:rPr>
              <a:t>]</a:t>
            </a:r>
            <a:r>
              <a:rPr lang="en-GB" altLang="en-US" sz="2400" b="1">
                <a:latin typeface="Times New Roman" panose="02020603050405020304" pitchFamily="18" charset="0"/>
              </a:rPr>
              <a:t>, </a:t>
            </a:r>
            <a:r>
              <a:rPr lang="en-GB" altLang="en-US" sz="2400" b="1">
                <a:solidFill>
                  <a:srgbClr val="0000AC"/>
                </a:solidFill>
                <a:latin typeface="黑体" panose="02010609060101010101" pitchFamily="49" charset="-122"/>
              </a:rPr>
              <a:t>*</a:t>
            </a:r>
            <a:r>
              <a:rPr lang="en-GB" altLang="en-US" sz="2400" b="1">
                <a:solidFill>
                  <a:srgbClr val="0000AC"/>
                </a:solidFill>
              </a:rPr>
              <a:t>pc1= </a:t>
            </a:r>
            <a:r>
              <a:rPr lang="en-GB" altLang="en-US" sz="2400">
                <a:solidFill>
                  <a:srgbClr val="0000B0"/>
                </a:solidFill>
              </a:rPr>
              <a:t>&amp;</a:t>
            </a:r>
            <a:r>
              <a:rPr lang="en-GB" altLang="en-US" sz="2400" b="1">
                <a:solidFill>
                  <a:srgbClr val="0000B0"/>
                </a:solidFill>
              </a:rPr>
              <a:t>c</a:t>
            </a:r>
            <a:r>
              <a:rPr lang="en-GB" altLang="en-US" sz="2400" b="1">
                <a:solidFill>
                  <a:srgbClr val="0000B0"/>
                </a:solidFill>
                <a:latin typeface="黑体" panose="02010609060101010101" pitchFamily="49" charset="-122"/>
              </a:rPr>
              <a:t>[</a:t>
            </a:r>
            <a:r>
              <a:rPr lang="en-GB" altLang="en-US" sz="2400" b="1">
                <a:solidFill>
                  <a:srgbClr val="0000B0"/>
                </a:solidFill>
                <a:latin typeface="Arial" panose="020B0604020202020204" pitchFamily="34" charset="0"/>
              </a:rPr>
              <a:t>3</a:t>
            </a:r>
            <a:r>
              <a:rPr lang="en-GB" altLang="en-US" sz="2400" b="1">
                <a:solidFill>
                  <a:srgbClr val="0000B0"/>
                </a:solidFill>
                <a:latin typeface="黑体" panose="02010609060101010101" pitchFamily="49" charset="-122"/>
              </a:rPr>
              <a:t>]</a:t>
            </a:r>
            <a:r>
              <a:rPr lang="en-GB" altLang="en-US" sz="2400" b="1">
                <a:solidFill>
                  <a:srgbClr val="0000B0"/>
                </a:solidFill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10000"/>
              </a:lnSpc>
              <a:spcBef>
                <a:spcPct val="25000"/>
              </a:spcBef>
              <a:buClrTx/>
              <a:buSzTx/>
              <a:buNone/>
            </a:pPr>
            <a:r>
              <a:rPr lang="en-GB" altLang="en-US" sz="2400" b="1"/>
              <a:t>    </a:t>
            </a:r>
            <a:r>
              <a:rPr lang="en-GB" altLang="en-US" sz="2400" b="1">
                <a:solidFill>
                  <a:srgbClr val="0000AC"/>
                </a:solidFill>
              </a:rPr>
              <a:t>k=pc1-pc</a:t>
            </a:r>
            <a:r>
              <a:rPr lang="en-GB" altLang="en-US" sz="2400" b="1">
                <a:latin typeface="Times New Roman" panose="02020603050405020304" pitchFamily="18" charset="0"/>
              </a:rPr>
              <a:t>;</a:t>
            </a:r>
          </a:p>
          <a:p>
            <a:pPr marL="274955" indent="-274955">
              <a:lnSpc>
                <a:spcPct val="110000"/>
              </a:lnSpc>
              <a:spcBef>
                <a:spcPct val="25000"/>
              </a:spcBef>
              <a:buClrTx/>
              <a:buSzTx/>
              <a:buNone/>
            </a:pPr>
            <a:r>
              <a:rPr lang="en-GB" altLang="en-US" sz="2400" b="1"/>
              <a:t>    printf</a:t>
            </a:r>
            <a:r>
              <a:rPr lang="en-GB" altLang="en-US" sz="2400" b="1">
                <a:latin typeface="Times New Roman" panose="02020603050405020304" pitchFamily="18" charset="0"/>
              </a:rPr>
              <a:t>(“</a:t>
            </a:r>
            <a:r>
              <a:rPr lang="en-GB" altLang="en-US" sz="2400" b="1">
                <a:latin typeface="黑体" panose="02010609060101010101" pitchFamily="49" charset="-122"/>
              </a:rPr>
              <a:t>*</a:t>
            </a:r>
            <a:r>
              <a:rPr lang="en-GB" altLang="en-US" sz="2400" b="1"/>
              <a:t>pc=%d</a:t>
            </a:r>
            <a:r>
              <a:rPr lang="en-GB" altLang="en-US" sz="2400" b="1">
                <a:latin typeface="Times New Roman" panose="02020603050405020304" pitchFamily="18" charset="0"/>
              </a:rPr>
              <a:t>,</a:t>
            </a:r>
            <a:r>
              <a:rPr lang="en-GB" altLang="en-US" sz="2400" b="1">
                <a:latin typeface="黑体" panose="02010609060101010101" pitchFamily="49" charset="-122"/>
              </a:rPr>
              <a:t>*</a:t>
            </a:r>
            <a:r>
              <a:rPr lang="en-GB" altLang="en-US" sz="2400" b="1"/>
              <a:t>pc1=%d</a:t>
            </a:r>
            <a:r>
              <a:rPr lang="en-GB" altLang="en-US" sz="2400"/>
              <a:t>\</a:t>
            </a:r>
            <a:r>
              <a:rPr lang="en-GB" altLang="en-US" sz="2400" b="1"/>
              <a:t>n</a:t>
            </a:r>
            <a:r>
              <a:rPr lang="en-GB" altLang="en-US" sz="2400" b="1">
                <a:latin typeface="Times New Roman" panose="02020603050405020304" pitchFamily="18" charset="0"/>
              </a:rPr>
              <a:t>”, </a:t>
            </a:r>
            <a:r>
              <a:rPr lang="en-GB" altLang="en-US" sz="2400" b="1">
                <a:latin typeface="黑体" panose="02010609060101010101" pitchFamily="49" charset="-122"/>
              </a:rPr>
              <a:t>*</a:t>
            </a:r>
            <a:r>
              <a:rPr lang="en-GB" altLang="en-US" sz="2400" b="1"/>
              <a:t>pc</a:t>
            </a:r>
            <a:r>
              <a:rPr lang="en-GB" altLang="en-US" sz="2400" b="1">
                <a:latin typeface="Times New Roman" panose="02020603050405020304" pitchFamily="18" charset="0"/>
              </a:rPr>
              <a:t>, </a:t>
            </a:r>
            <a:r>
              <a:rPr lang="en-GB" altLang="en-US" sz="2400" b="1">
                <a:latin typeface="黑体" panose="02010609060101010101" pitchFamily="49" charset="-122"/>
              </a:rPr>
              <a:t>*</a:t>
            </a:r>
            <a:r>
              <a:rPr lang="en-GB" altLang="en-US" sz="2400" b="1"/>
              <a:t>pc1</a:t>
            </a:r>
            <a:r>
              <a:rPr lang="en-GB" altLang="en-US" sz="2400" b="1">
                <a:latin typeface="Times New Roman" panose="02020603050405020304" pitchFamily="18" charset="0"/>
              </a:rPr>
              <a:t>);</a:t>
            </a:r>
          </a:p>
          <a:p>
            <a:pPr marL="274955" indent="-274955">
              <a:lnSpc>
                <a:spcPct val="110000"/>
              </a:lnSpc>
              <a:spcBef>
                <a:spcPct val="25000"/>
              </a:spcBef>
              <a:buClrTx/>
              <a:buSzTx/>
              <a:buNone/>
            </a:pPr>
            <a:r>
              <a:rPr lang="en-GB" altLang="en-US" sz="2400" b="1"/>
              <a:t>    printf</a:t>
            </a:r>
            <a:r>
              <a:rPr lang="en-GB" altLang="en-US" sz="2400" b="1">
                <a:latin typeface="Times New Roman" panose="02020603050405020304" pitchFamily="18" charset="0"/>
              </a:rPr>
              <a:t>(“</a:t>
            </a:r>
            <a:r>
              <a:rPr lang="en-GB" altLang="en-US" sz="2400" b="1"/>
              <a:t>k=%d</a:t>
            </a:r>
            <a:r>
              <a:rPr lang="en-GB" altLang="en-US" sz="2400"/>
              <a:t>\</a:t>
            </a:r>
            <a:r>
              <a:rPr lang="en-GB" altLang="en-US" sz="2400" b="1"/>
              <a:t>n</a:t>
            </a:r>
            <a:r>
              <a:rPr lang="en-GB" altLang="en-US" sz="2400" b="1">
                <a:latin typeface="Times New Roman" panose="02020603050405020304" pitchFamily="18" charset="0"/>
              </a:rPr>
              <a:t>”, </a:t>
            </a:r>
            <a:r>
              <a:rPr lang="en-GB" altLang="en-US" sz="2400" b="1"/>
              <a:t>k</a:t>
            </a:r>
            <a:r>
              <a:rPr lang="en-GB" altLang="en-US" sz="2400" b="1">
                <a:latin typeface="Times New Roman" panose="02020603050405020304" pitchFamily="18" charset="0"/>
              </a:rPr>
              <a:t>);</a:t>
            </a:r>
          </a:p>
          <a:p>
            <a:pPr marL="274955" indent="-274955">
              <a:lnSpc>
                <a:spcPct val="105000"/>
              </a:lnSpc>
              <a:buClrTx/>
              <a:buSzTx/>
              <a:buNone/>
            </a:pPr>
            <a:r>
              <a:rPr lang="zh-CN" altLang="en-US" sz="2400" b="1"/>
              <a:t> }</a:t>
            </a:r>
          </a:p>
        </p:txBody>
      </p:sp>
      <p:sp>
        <p:nvSpPr>
          <p:cNvPr id="556035" name="Text Box 3"/>
          <p:cNvSpPr txBox="1">
            <a:spLocks noChangeArrowheads="1"/>
          </p:cNvSpPr>
          <p:nvPr/>
        </p:nvSpPr>
        <p:spPr bwMode="auto">
          <a:xfrm>
            <a:off x="7896225" y="2336800"/>
            <a:ext cx="2286000" cy="1092200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2AB0"/>
            </a:solidFill>
            <a:miter lim="800000"/>
          </a:ln>
          <a:effectLst>
            <a:outerShdw dist="8980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259C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000" b="1">
                <a:solidFill>
                  <a:srgbClr val="00259C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br>
              <a:rPr lang="zh-CN" altLang="zh-CN" sz="2400" b="1">
                <a:solidFill>
                  <a:srgbClr val="DA00A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zh-CN" sz="2400" b="1">
                <a:solidFill>
                  <a:srgbClr val="DA00A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000" b="1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pc=2</a:t>
            </a: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000" b="1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pc1=8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 k=3</a:t>
            </a:r>
            <a:endParaRPr lang="zh-CN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56036" name="Rectangle 4"/>
          <p:cNvSpPr>
            <a:spLocks noChangeArrowheads="1"/>
          </p:cNvSpPr>
          <p:nvPr/>
        </p:nvSpPr>
        <p:spPr bwMode="auto">
          <a:xfrm>
            <a:off x="2313065" y="231776"/>
            <a:ext cx="307007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两个指针变量相减</a:t>
            </a:r>
          </a:p>
        </p:txBody>
      </p:sp>
      <p:graphicFrame>
        <p:nvGraphicFramePr>
          <p:cNvPr id="556037" name="Group 5"/>
          <p:cNvGraphicFramePr>
            <a:graphicFrameLocks noGrp="1"/>
          </p:cNvGraphicFramePr>
          <p:nvPr/>
        </p:nvGraphicFramePr>
        <p:xfrm>
          <a:off x="9798051" y="215900"/>
          <a:ext cx="715963" cy="1677670"/>
        </p:xfrm>
        <a:graphic>
          <a:graphicData uri="http://schemas.openxmlformats.org/drawingml/2006/table">
            <a:tbl>
              <a:tblPr/>
              <a:tblGrid>
                <a:gridCol w="71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]</a:t>
                      </a: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]</a:t>
                      </a: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]</a:t>
                      </a:r>
                      <a:endParaRPr kumimoji="0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6051" name="Group 19"/>
          <p:cNvGraphicFramePr>
            <a:graphicFrameLocks noGrp="1"/>
          </p:cNvGraphicFramePr>
          <p:nvPr/>
        </p:nvGraphicFramePr>
        <p:xfrm>
          <a:off x="8518525" y="65088"/>
          <a:ext cx="1009650" cy="1677670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3000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3004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3008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3012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3016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6069" name="Text Box 37"/>
          <p:cNvSpPr txBox="1">
            <a:spLocks noChangeArrowheads="1"/>
          </p:cNvSpPr>
          <p:nvPr/>
        </p:nvSpPr>
        <p:spPr bwMode="auto">
          <a:xfrm>
            <a:off x="7985125" y="-26988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b="1">
                <a:solidFill>
                  <a:srgbClr val="FF0000"/>
                </a:solidFill>
                <a:latin typeface="黑体" panose="02010609060101010101" pitchFamily="49" charset="-122"/>
              </a:rPr>
              <a:t> </a:t>
            </a:r>
            <a:r>
              <a:rPr lang="en-GB" altLang="en-US" sz="2000" b="1">
                <a:solidFill>
                  <a:srgbClr val="FF0000"/>
                </a:solidFill>
              </a:rPr>
              <a:t>pc →</a:t>
            </a:r>
            <a:r>
              <a:rPr lang="en-GB" altLang="en-US" sz="2400" b="1">
                <a:solidFill>
                  <a:srgbClr val="000000"/>
                </a:solidFill>
              </a:rPr>
              <a:t> </a:t>
            </a: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556070" name="Text Box 38"/>
          <p:cNvSpPr txBox="1">
            <a:spLocks noChangeArrowheads="1"/>
          </p:cNvSpPr>
          <p:nvPr/>
        </p:nvSpPr>
        <p:spPr bwMode="auto">
          <a:xfrm>
            <a:off x="7967663" y="981075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b="1">
                <a:solidFill>
                  <a:srgbClr val="FF0000"/>
                </a:solidFill>
                <a:latin typeface="黑体" panose="02010609060101010101" pitchFamily="49" charset="-122"/>
              </a:rPr>
              <a:t> </a:t>
            </a:r>
            <a:r>
              <a:rPr lang="en-GB" altLang="en-US" sz="2000" b="1">
                <a:solidFill>
                  <a:srgbClr val="FF0000"/>
                </a:solidFill>
              </a:rPr>
              <a:t>pc1→</a:t>
            </a:r>
            <a:r>
              <a:rPr lang="en-GB" altLang="en-US" sz="2400" b="1">
                <a:solidFill>
                  <a:srgbClr val="000000"/>
                </a:solidFill>
              </a:rPr>
              <a:t> </a:t>
            </a:r>
            <a:endParaRPr lang="zh-CN" altLang="en-US" sz="2400" b="1">
              <a:solidFill>
                <a:srgbClr val="000000"/>
              </a:solidFill>
            </a:endParaRPr>
          </a:p>
        </p:txBody>
      </p:sp>
      <p:graphicFrame>
        <p:nvGraphicFramePr>
          <p:cNvPr id="556071" name="Group 39"/>
          <p:cNvGraphicFramePr>
            <a:graphicFrameLocks noGrp="1"/>
          </p:cNvGraphicFramePr>
          <p:nvPr/>
        </p:nvGraphicFramePr>
        <p:xfrm>
          <a:off x="9436100" y="220663"/>
          <a:ext cx="381000" cy="16764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6089" name="AutoShape 57"/>
          <p:cNvSpPr>
            <a:spLocks noChangeArrowheads="1"/>
          </p:cNvSpPr>
          <p:nvPr/>
        </p:nvSpPr>
        <p:spPr bwMode="auto">
          <a:xfrm>
            <a:off x="5232401" y="5734050"/>
            <a:ext cx="1712913" cy="719138"/>
          </a:xfrm>
          <a:prstGeom prst="wedgeRectCallout">
            <a:avLst>
              <a:gd name="adj1" fmla="val -35542"/>
              <a:gd name="adj2" fmla="val -85764"/>
            </a:avLst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828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pc1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之间元素的个数</a:t>
            </a:r>
          </a:p>
        </p:txBody>
      </p:sp>
      <p:sp>
        <p:nvSpPr>
          <p:cNvPr id="556090" name="Rectangle 58"/>
          <p:cNvSpPr>
            <a:spLocks noChangeArrowheads="1"/>
          </p:cNvSpPr>
          <p:nvPr/>
        </p:nvSpPr>
        <p:spPr bwMode="auto">
          <a:xfrm>
            <a:off x="2093914" y="995364"/>
            <a:ext cx="5730875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2880" indent="-182880" fontAlgn="base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</a:rPr>
              <a:t>当两个指针指向</a:t>
            </a:r>
            <a:r>
              <a:rPr lang="zh-CN" altLang="en-US" sz="2400" b="1">
                <a:solidFill>
                  <a:srgbClr val="00009E"/>
                </a:solidFill>
                <a:latin typeface="黑体" panose="02010609060101010101" pitchFamily="49" charset="-122"/>
              </a:rPr>
              <a:t>同一</a:t>
            </a:r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</a:rPr>
              <a:t>数组时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</a:rPr>
              <a:t>两个指针相减其差值为两个指针相隔的元素个数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5" grpId="0" build="p" animBg="1" autoUpdateAnimBg="0"/>
      <p:bldP spid="556069" grpId="0" autoUpdateAnimBg="0"/>
      <p:bldP spid="556070" grpId="0" autoUpdateAnimBg="0"/>
      <p:bldP spid="556089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75520" y="1268760"/>
            <a:ext cx="6737350" cy="4103688"/>
          </a:xfrm>
        </p:spPr>
        <p:txBody>
          <a:bodyPr/>
          <a:lstStyle/>
          <a:p>
            <a:pPr marL="274955" indent="-274955">
              <a:lnSpc>
                <a:spcPct val="110000"/>
              </a:lnSpc>
              <a:buNone/>
            </a:pPr>
            <a:r>
              <a:rPr lang="en-US" altLang="zh-CN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a[10]</a:t>
            </a:r>
          </a:p>
          <a:p>
            <a:pPr marL="274955" indent="-274955">
              <a:lnSpc>
                <a:spcPct val="110000"/>
              </a:lnSpc>
              <a:buNone/>
            </a:pPr>
            <a:endParaRPr lang="en-US" altLang="zh-CN" sz="4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74955" indent="-274955">
              <a:lnSpc>
                <a:spcPct val="110000"/>
              </a:lnSpc>
              <a:buNone/>
            </a:pP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则</a:t>
            </a:r>
            <a:r>
              <a:rPr lang="en-US" altLang="zh-CN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:&amp;a[i]-a  </a:t>
            </a:r>
            <a:r>
              <a:rPr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的值为</a:t>
            </a:r>
            <a:r>
              <a:rPr lang="en-US" altLang="zh-CN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i</a:t>
            </a:r>
            <a:endParaRPr lang="zh-CN" altLang="en-US" sz="4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6036" name="Rectangle 4"/>
          <p:cNvSpPr>
            <a:spLocks noChangeArrowheads="1"/>
          </p:cNvSpPr>
          <p:nvPr/>
        </p:nvSpPr>
        <p:spPr bwMode="auto">
          <a:xfrm>
            <a:off x="2313065" y="231776"/>
            <a:ext cx="307007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两个指针变量相减</a:t>
            </a:r>
          </a:p>
        </p:txBody>
      </p:sp>
    </p:spTree>
    <p:extLst>
      <p:ext uri="{BB962C8B-B14F-4D97-AF65-F5344CB8AC3E}">
        <p14:creationId xmlns:p14="http://schemas.microsoft.com/office/powerpoint/2010/main" val="2182120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223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#include &lt;</a:t>
            </a:r>
            <a:r>
              <a:rPr lang="en-US" altLang="zh-CN" sz="2800" b="1" dirty="0" err="1"/>
              <a:t>stdio.h</a:t>
            </a:r>
            <a:r>
              <a:rPr lang="en-US" altLang="zh-CN" sz="2800" b="1" dirty="0"/>
              <a:t>&gt;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main( 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{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int  </a:t>
            </a:r>
            <a:r>
              <a:rPr lang="en-US" altLang="zh-CN" sz="2800" b="1" dirty="0" err="1"/>
              <a:t>i,a</a:t>
            </a:r>
            <a:r>
              <a:rPr lang="en-US" altLang="zh-CN" sz="2800" b="1" dirty="0"/>
              <a:t>[10],*</a:t>
            </a:r>
            <a:r>
              <a:rPr lang="en-US" altLang="zh-CN" sz="2800" b="1" dirty="0" err="1"/>
              <a:t>pmin</a:t>
            </a:r>
            <a:r>
              <a:rPr lang="en-US" altLang="zh-CN" sz="2800" b="1" dirty="0"/>
              <a:t>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for(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=0;i&lt;10;i++)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	</a:t>
            </a:r>
            <a:r>
              <a:rPr lang="en-US" altLang="zh-CN" sz="2800" b="1" dirty="0" err="1"/>
              <a:t>scanf</a:t>
            </a:r>
            <a:r>
              <a:rPr lang="en-US" altLang="zh-CN" sz="2800" b="1" dirty="0"/>
              <a:t>("%d",</a:t>
            </a:r>
            <a:r>
              <a:rPr lang="en-US" altLang="zh-CN" sz="2800" b="1" dirty="0" err="1"/>
              <a:t>a+i</a:t>
            </a:r>
            <a:r>
              <a:rPr lang="en-US" altLang="zh-CN" sz="2800" b="1" dirty="0"/>
              <a:t>);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dirty="0" err="1"/>
              <a:t>pmin</a:t>
            </a:r>
            <a:r>
              <a:rPr lang="en-US" altLang="zh-CN" sz="2800" b="1" dirty="0"/>
              <a:t>=a;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for(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=1;i&lt;10;i++)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	if(a[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]&lt;*</a:t>
            </a:r>
            <a:r>
              <a:rPr lang="en-US" altLang="zh-CN" sz="2800" b="1" dirty="0" err="1"/>
              <a:t>pmin</a:t>
            </a:r>
            <a:r>
              <a:rPr lang="en-US" altLang="zh-CN" sz="2800" b="1" dirty="0"/>
              <a:t>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		</a:t>
            </a:r>
            <a:r>
              <a:rPr lang="en-US" altLang="zh-CN" sz="2800" b="1" dirty="0" err="1"/>
              <a:t>pmin</a:t>
            </a:r>
            <a:r>
              <a:rPr lang="en-US" altLang="zh-CN" sz="2800" b="1" dirty="0"/>
              <a:t>=&amp;a[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];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("</a:t>
            </a:r>
            <a:r>
              <a:rPr lang="zh-CN" altLang="en-US" sz="2800" b="1" dirty="0"/>
              <a:t>最小元素的下标为</a:t>
            </a:r>
            <a:r>
              <a:rPr lang="en-US" altLang="zh-CN" sz="2800" b="1" dirty="0"/>
              <a:t>%d\n",</a:t>
            </a:r>
            <a:r>
              <a:rPr lang="en-US" altLang="zh-CN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 [</a:t>
            </a:r>
            <a:r>
              <a:rPr lang="zh-CN" altLang="en-US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Times New Roman" panose="02020603050405020304" pitchFamily="18" charset="0"/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/>
              <a:t>);  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}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50" y="163513"/>
            <a:ext cx="7793038" cy="652462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两个指针变量的比较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7725" y="1130300"/>
            <a:ext cx="7772400" cy="5467052"/>
          </a:xfrm>
        </p:spPr>
        <p:txBody>
          <a:bodyPr/>
          <a:lstStyle/>
          <a:p>
            <a:pPr marL="265430" indent="-265430">
              <a:lnSpc>
                <a:spcPct val="115000"/>
              </a:lnSpc>
            </a:pPr>
            <a:r>
              <a:rPr lang="zh-CN" altLang="en-US" sz="2800" b="1" dirty="0"/>
              <a:t>比较两个指针变量所存放的内存地址</a:t>
            </a:r>
            <a:endParaRPr lang="zh-CN" b="1" dirty="0"/>
          </a:p>
          <a:p>
            <a:pPr marL="265430" indent="-265430"/>
            <a:endParaRPr lang="zh-CN" altLang="zh-CN" dirty="0"/>
          </a:p>
        </p:txBody>
      </p:sp>
      <p:pic>
        <p:nvPicPr>
          <p:cNvPr id="5570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13" y="2138364"/>
            <a:ext cx="4792662" cy="197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7062" name="Rectangle 6"/>
          <p:cNvSpPr>
            <a:spLocks noChangeArrowheads="1"/>
          </p:cNvSpPr>
          <p:nvPr/>
        </p:nvSpPr>
        <p:spPr bwMode="auto">
          <a:xfrm>
            <a:off x="2347914" y="4316555"/>
            <a:ext cx="7921625" cy="211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/>
              <a:t>两个指针的关系运算运算用于两个指针在指向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同一个数组</a:t>
            </a:r>
            <a:r>
              <a:rPr lang="zh-CN" altLang="en-US" sz="2800" b="1" dirty="0">
                <a:latin typeface="Times New Roman" panose="02020603050405020304" pitchFamily="18" charset="0"/>
              </a:rPr>
              <a:t>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  <a:p>
            <a:pPr marL="457200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判定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两个指针变量所指向的数组元素的位置先后。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85975" y="1108075"/>
            <a:ext cx="8383588" cy="5335588"/>
          </a:xfrm>
        </p:spPr>
        <p:txBody>
          <a:bodyPr/>
          <a:lstStyle/>
          <a:p>
            <a:pPr marL="271780" indent="-271780">
              <a:lnSpc>
                <a:spcPct val="115000"/>
              </a:lnSpc>
              <a:buClr>
                <a:srgbClr val="009900"/>
              </a:buClr>
              <a:buNone/>
            </a:pPr>
            <a:r>
              <a:rPr lang="zh-CN" altLang="zh-CN" sz="2400" b="1"/>
              <a:t> #include</a:t>
            </a:r>
            <a:r>
              <a:rPr lang="zh-CN" altLang="zh-CN" sz="2400"/>
              <a:t>&lt;</a:t>
            </a:r>
            <a:r>
              <a:rPr lang="zh-CN" altLang="zh-CN" sz="2400" b="1"/>
              <a:t>stdio</a:t>
            </a:r>
            <a:r>
              <a:rPr lang="zh-CN" altLang="zh-CN" sz="2400" b="1">
                <a:latin typeface="Times New Roman" panose="02020603050405020304" pitchFamily="18" charset="0"/>
              </a:rPr>
              <a:t>.</a:t>
            </a:r>
            <a:r>
              <a:rPr lang="zh-CN" altLang="zh-CN" sz="2400" b="1"/>
              <a:t>h</a:t>
            </a:r>
            <a:r>
              <a:rPr lang="zh-CN" altLang="zh-CN" sz="2400"/>
              <a:t>&gt;</a:t>
            </a:r>
            <a:r>
              <a:rPr lang="zh-CN" altLang="zh-CN" sz="2400" b="1"/>
              <a:t>  </a:t>
            </a:r>
          </a:p>
          <a:p>
            <a:pPr marL="271780" indent="-271780">
              <a:lnSpc>
                <a:spcPct val="110000"/>
              </a:lnSpc>
              <a:buClr>
                <a:srgbClr val="009900"/>
              </a:buClr>
              <a:buNone/>
            </a:pPr>
            <a:r>
              <a:rPr lang="en-US" altLang="zh-CN" sz="2400" b="1"/>
              <a:t>void fun(int *,int *);/</a:t>
            </a:r>
            <a:r>
              <a:rPr lang="en-US" altLang="zh-CN" sz="2400" b="1">
                <a:solidFill>
                  <a:srgbClr val="92D050"/>
                </a:solidFill>
              </a:rPr>
              <a:t>/</a:t>
            </a:r>
            <a:r>
              <a:rPr lang="zh-CN" altLang="en-US" sz="2400" b="1">
                <a:solidFill>
                  <a:srgbClr val="92D050"/>
                </a:solidFill>
              </a:rPr>
              <a:t>声明</a:t>
            </a:r>
            <a:r>
              <a:rPr lang="zh-CN" altLang="zh-CN" sz="2400" b="1">
                <a:solidFill>
                  <a:srgbClr val="92D050"/>
                </a:solidFill>
              </a:rPr>
              <a:t> </a:t>
            </a:r>
            <a:endParaRPr lang="en-US" altLang="zh-CN" sz="2400" b="1">
              <a:solidFill>
                <a:srgbClr val="92D050"/>
              </a:solidFill>
            </a:endParaRPr>
          </a:p>
          <a:p>
            <a:pPr marL="271780" indent="-271780">
              <a:lnSpc>
                <a:spcPct val="110000"/>
              </a:lnSpc>
              <a:buClr>
                <a:srgbClr val="009900"/>
              </a:buClr>
              <a:buNone/>
            </a:pPr>
            <a:r>
              <a:rPr lang="zh-CN" altLang="zh-CN" sz="2400" b="1"/>
              <a:t>void main</a:t>
            </a:r>
            <a:r>
              <a:rPr lang="zh-CN" altLang="zh-CN" sz="2400" b="1">
                <a:latin typeface="Times New Roman" panose="02020603050405020304" pitchFamily="18" charset="0"/>
              </a:rPr>
              <a:t>( )</a:t>
            </a:r>
          </a:p>
          <a:p>
            <a:pPr marL="271780" indent="-271780">
              <a:lnSpc>
                <a:spcPct val="120000"/>
              </a:lnSpc>
              <a:buNone/>
            </a:pPr>
            <a:r>
              <a:rPr lang="zh-CN" altLang="zh-CN" sz="2400" b="1"/>
              <a:t>{ int </a:t>
            </a:r>
            <a:r>
              <a:rPr lang="en-US" altLang="zh-CN" sz="2400" b="1"/>
              <a:t>i,</a:t>
            </a:r>
            <a:r>
              <a:rPr lang="zh-CN" altLang="zh-CN" sz="2400" b="1"/>
              <a:t>a</a:t>
            </a:r>
            <a:r>
              <a:rPr lang="zh-CN" altLang="zh-CN" sz="2400" b="1">
                <a:latin typeface="Times New Roman" panose="02020603050405020304" pitchFamily="18" charset="0"/>
              </a:rPr>
              <a:t>[</a:t>
            </a:r>
            <a:r>
              <a:rPr lang="zh-CN" altLang="zh-CN" sz="2400" b="1"/>
              <a:t>1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]</a:t>
            </a:r>
            <a:r>
              <a:rPr lang="zh-CN" altLang="zh-CN" sz="2400" b="1"/>
              <a:t>={1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3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5</a:t>
            </a:r>
            <a:r>
              <a:rPr lang="zh-CN" altLang="zh-CN" sz="2400" b="1">
                <a:latin typeface="Times New Roman" panose="02020603050405020304" pitchFamily="18" charset="0"/>
              </a:rPr>
              <a:t>, </a:t>
            </a:r>
            <a:r>
              <a:rPr lang="zh-CN" altLang="zh-CN" sz="2400" b="1"/>
              <a:t>7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9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11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13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15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17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19}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</a:p>
          <a:p>
            <a:pPr marL="271780" indent="-271780">
              <a:lnSpc>
                <a:spcPct val="120000"/>
              </a:lnSpc>
              <a:buNone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fun(a,&amp;a[9]);    //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71780" indent="-271780">
              <a:lnSpc>
                <a:spcPct val="120000"/>
              </a:lnSpc>
              <a:buNone/>
            </a:pPr>
            <a:r>
              <a:rPr lang="en-US" altLang="zh-CN" sz="2400" b="1"/>
              <a:t>   </a:t>
            </a:r>
            <a:r>
              <a:rPr lang="zh-CN" altLang="zh-CN" sz="2400" b="1"/>
              <a:t>for</a:t>
            </a:r>
            <a:r>
              <a:rPr lang="zh-CN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/>
              <a:t>i</a:t>
            </a:r>
            <a:r>
              <a:rPr lang="zh-CN" altLang="zh-CN" sz="2400" b="1"/>
              <a:t>=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  <a:r>
              <a:rPr lang="zh-CN" altLang="zh-CN" sz="2400" b="1"/>
              <a:t> </a:t>
            </a:r>
            <a:r>
              <a:rPr lang="en-US" altLang="zh-CN" sz="2400" b="1"/>
              <a:t>i</a:t>
            </a:r>
            <a:r>
              <a:rPr lang="zh-CN" altLang="zh-CN" sz="2400"/>
              <a:t>&lt;</a:t>
            </a:r>
            <a:r>
              <a:rPr lang="zh-CN" altLang="zh-CN" sz="2400" b="1"/>
              <a:t>1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  <a:r>
              <a:rPr lang="zh-CN" altLang="zh-CN" sz="2400" b="1"/>
              <a:t> </a:t>
            </a:r>
            <a:r>
              <a:rPr lang="en-US" altLang="zh-CN" sz="2400" b="1"/>
              <a:t>i</a:t>
            </a:r>
            <a:r>
              <a:rPr lang="zh-CN" altLang="zh-CN" sz="2400" b="1"/>
              <a:t>++</a:t>
            </a:r>
            <a:r>
              <a:rPr lang="zh-CN" altLang="zh-CN" sz="2400" b="1">
                <a:latin typeface="Times New Roman" panose="02020603050405020304" pitchFamily="18" charset="0"/>
              </a:rPr>
              <a:t>)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271780" indent="-271780">
              <a:lnSpc>
                <a:spcPct val="120000"/>
              </a:lnSpc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</a:t>
            </a:r>
            <a:r>
              <a:rPr lang="zh-CN" altLang="zh-CN" sz="2400" b="1"/>
              <a:t>printf</a:t>
            </a:r>
            <a:r>
              <a:rPr lang="zh-CN" altLang="zh-CN" sz="2400" b="1">
                <a:latin typeface="Times New Roman" panose="02020603050405020304" pitchFamily="18" charset="0"/>
              </a:rPr>
              <a:t>(“</a:t>
            </a:r>
            <a:r>
              <a:rPr lang="zh-CN" altLang="zh-CN" sz="2400" b="1"/>
              <a:t>a</a:t>
            </a:r>
            <a:r>
              <a:rPr lang="zh-CN" altLang="zh-CN" sz="2400" b="1">
                <a:latin typeface="Times New Roman" panose="02020603050405020304" pitchFamily="18" charset="0"/>
              </a:rPr>
              <a:t>[</a:t>
            </a:r>
            <a:r>
              <a:rPr lang="zh-CN" altLang="zh-CN" sz="2400" b="1"/>
              <a:t>%d</a:t>
            </a:r>
            <a:r>
              <a:rPr lang="zh-CN" altLang="zh-CN" sz="2400" b="1">
                <a:latin typeface="Times New Roman" panose="02020603050405020304" pitchFamily="18" charset="0"/>
              </a:rPr>
              <a:t>]</a:t>
            </a:r>
            <a:r>
              <a:rPr lang="zh-CN" altLang="zh-CN" sz="2400" b="1"/>
              <a:t>=%d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anose="02020603050405020304" pitchFamily="18" charset="0"/>
              </a:rPr>
              <a:t>”,</a:t>
            </a:r>
            <a:r>
              <a:rPr lang="zh-CN" altLang="zh-CN" sz="2400" b="1"/>
              <a:t> </a:t>
            </a:r>
            <a:r>
              <a:rPr lang="en-US" altLang="zh-CN" sz="2400" b="1"/>
              <a:t>i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a</a:t>
            </a:r>
            <a:r>
              <a:rPr lang="zh-CN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/>
              <a:t>i</a:t>
            </a:r>
            <a:r>
              <a:rPr lang="zh-CN" altLang="zh-CN" sz="2400" b="1">
                <a:latin typeface="Times New Roman" panose="02020603050405020304" pitchFamily="18" charset="0"/>
              </a:rPr>
              <a:t>]); </a:t>
            </a:r>
            <a:r>
              <a:rPr lang="zh-CN" altLang="zh-CN" sz="2400" b="1"/>
              <a:t> }</a:t>
            </a:r>
            <a:r>
              <a:rPr lang="zh-CN" altLang="zh-CN" sz="2000" b="1"/>
              <a:t>   </a:t>
            </a:r>
            <a:endParaRPr lang="en-US" altLang="zh-CN" sz="2000" b="1"/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/>
              <a:t>void fun(int *p1,int *p2) //</a:t>
            </a:r>
            <a:r>
              <a:rPr lang="zh-CN" altLang="en-US" sz="2000" b="1"/>
              <a:t>定义</a:t>
            </a:r>
            <a:endParaRPr lang="en-US" altLang="zh-CN" sz="2000" b="1"/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/>
              <a:t>{</a:t>
            </a:r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/>
              <a:t>   int  t ;</a:t>
            </a:r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/>
              <a:t>   while( p1&lt;p2 )                       </a:t>
            </a:r>
            <a:r>
              <a:rPr lang="en-US" altLang="zh-CN" sz="2000" b="1">
                <a:solidFill>
                  <a:srgbClr val="92D050"/>
                </a:solidFill>
              </a:rPr>
              <a:t>/*</a:t>
            </a:r>
            <a:r>
              <a:rPr lang="zh-CN" altLang="en-US" sz="2000" b="1">
                <a:solidFill>
                  <a:srgbClr val="92D050"/>
                </a:solidFill>
              </a:rPr>
              <a:t>两个指针变量比较*</a:t>
            </a:r>
            <a:r>
              <a:rPr lang="en-US" altLang="zh-CN" sz="2000" b="1">
                <a:solidFill>
                  <a:srgbClr val="92D050"/>
                </a:solidFill>
              </a:rPr>
              <a:t>/</a:t>
            </a:r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/>
              <a:t>    {  t=*p1; *p1=*p2; *p2=t; </a:t>
            </a:r>
            <a:r>
              <a:rPr lang="en-US" altLang="zh-CN" sz="2000" b="1">
                <a:solidFill>
                  <a:srgbClr val="92D050"/>
                </a:solidFill>
              </a:rPr>
              <a:t>//</a:t>
            </a:r>
            <a:r>
              <a:rPr lang="zh-CN" altLang="en-US" sz="2000" b="1">
                <a:solidFill>
                  <a:srgbClr val="92D050"/>
                </a:solidFill>
              </a:rPr>
              <a:t>将</a:t>
            </a:r>
            <a:r>
              <a:rPr lang="en-US" altLang="zh-CN" sz="2000" b="1">
                <a:solidFill>
                  <a:srgbClr val="92D050"/>
                </a:solidFill>
              </a:rPr>
              <a:t>p1, p2</a:t>
            </a:r>
            <a:r>
              <a:rPr lang="zh-CN" altLang="en-US" sz="2000" b="1">
                <a:solidFill>
                  <a:srgbClr val="92D050"/>
                </a:solidFill>
              </a:rPr>
              <a:t>所指向元素的值交换</a:t>
            </a:r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b="1"/>
              <a:t>        </a:t>
            </a:r>
            <a:r>
              <a:rPr lang="en-US" altLang="zh-CN" sz="2000" b="1"/>
              <a:t>p1++;  p2--;    }</a:t>
            </a:r>
          </a:p>
          <a:p>
            <a:pPr marL="271780" indent="-271780">
              <a:lnSpc>
                <a:spcPct val="120000"/>
              </a:lnSpc>
              <a:spcBef>
                <a:spcPct val="0"/>
              </a:spcBef>
              <a:buNone/>
            </a:pPr>
            <a:endParaRPr lang="zh-CN" altLang="zh-CN" sz="2000" b="1"/>
          </a:p>
        </p:txBody>
      </p:sp>
      <p:sp>
        <p:nvSpPr>
          <p:cNvPr id="558083" name="Rectangle 3"/>
          <p:cNvSpPr>
            <a:spLocks noChangeArrowheads="1"/>
          </p:cNvSpPr>
          <p:nvPr/>
        </p:nvSpPr>
        <p:spPr bwMode="auto">
          <a:xfrm>
            <a:off x="2321938" y="206376"/>
            <a:ext cx="5174815" cy="543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45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例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zh-CN" sz="2800" b="1">
                <a:solidFill>
                  <a:srgbClr val="000000"/>
                </a:solidFill>
                <a:latin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比较指针变量逆序数组元素</a:t>
            </a:r>
          </a:p>
        </p:txBody>
      </p:sp>
      <p:sp>
        <p:nvSpPr>
          <p:cNvPr id="558084" name="Rectangle 4"/>
          <p:cNvSpPr>
            <a:spLocks noChangeArrowheads="1"/>
          </p:cNvSpPr>
          <p:nvPr/>
        </p:nvSpPr>
        <p:spPr bwMode="auto">
          <a:xfrm>
            <a:off x="2808288" y="4983163"/>
            <a:ext cx="184150" cy="96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8085" name="Text Box 5"/>
          <p:cNvSpPr txBox="1">
            <a:spLocks noChangeArrowheads="1"/>
          </p:cNvSpPr>
          <p:nvPr/>
        </p:nvSpPr>
        <p:spPr bwMode="auto">
          <a:xfrm>
            <a:off x="9129713" y="19051"/>
            <a:ext cx="1484312" cy="2049463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00B0"/>
            </a:solidFill>
            <a:miter lim="800000"/>
          </a:ln>
          <a:effectLst>
            <a:outerShdw dist="71842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B0"/>
                </a:solidFill>
                <a:latin typeface="楷体_GB2312" pitchFamily="49" charset="-122"/>
                <a:ea typeface="楷体_GB2312" pitchFamily="49" charset="-122"/>
              </a:rPr>
              <a:t>运行结果</a:t>
            </a:r>
            <a:r>
              <a:rPr lang="zh-CN" altLang="zh-CN" sz="2000" b="1">
                <a:solidFill>
                  <a:srgbClr val="0000B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]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=19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]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=17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]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=15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┆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9</a:t>
            </a:r>
            <a:r>
              <a:rPr lang="zh-CN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]</a:t>
            </a:r>
            <a:r>
              <a:rPr lang="zh-CN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=1</a:t>
            </a:r>
            <a:endParaRPr lang="zh-CN" altLang="zh-CN" sz="20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342900" indent="-34290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en-US" sz="2800" b="1" dirty="0">
                <a:solidFill>
                  <a:srgbClr val="000000"/>
                </a:solidFill>
              </a:rPr>
              <a:t>若已定义</a:t>
            </a:r>
            <a:r>
              <a:rPr lang="zh-CN" altLang="zh-CN" sz="2800" b="1" dirty="0">
                <a:solidFill>
                  <a:srgbClr val="000000"/>
                </a:solidFill>
              </a:rPr>
              <a:t>x</a:t>
            </a:r>
            <a:r>
              <a:rPr lang="zh-CN" altLang="en-US" sz="2800" b="1" dirty="0">
                <a:solidFill>
                  <a:srgbClr val="000000"/>
                </a:solidFill>
              </a:rPr>
              <a:t>为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int</a:t>
            </a:r>
            <a:r>
              <a:rPr lang="zh-CN" altLang="en-US" sz="2800" b="1" dirty="0">
                <a:solidFill>
                  <a:srgbClr val="000000"/>
                </a:solidFill>
              </a:rPr>
              <a:t>型变量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</a:rPr>
              <a:t>下列说明指针变量</a:t>
            </a:r>
            <a:r>
              <a:rPr lang="zh-CN" altLang="zh-CN" sz="2800" b="1" dirty="0">
                <a:solidFill>
                  <a:srgbClr val="000000"/>
                </a:solidFill>
              </a:rPr>
              <a:t>p</a:t>
            </a:r>
            <a:r>
              <a:rPr lang="zh-CN" altLang="en-US" sz="2800" b="1" dirty="0">
                <a:solidFill>
                  <a:srgbClr val="000000"/>
                </a:solidFill>
              </a:rPr>
              <a:t>的正确语句是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</a:rPr>
              <a:t>int  p=</a:t>
            </a:r>
            <a:r>
              <a:rPr lang="zh-CN" altLang="zh-CN" sz="2800" dirty="0">
                <a:solidFill>
                  <a:srgbClr val="000000"/>
                </a:solidFill>
              </a:rPr>
              <a:t>&amp;</a:t>
            </a:r>
            <a:r>
              <a:rPr lang="zh-CN" altLang="zh-CN" sz="2800" b="1" dirty="0">
                <a:solidFill>
                  <a:srgbClr val="000000"/>
                </a:solidFill>
              </a:rPr>
              <a:t>x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342900" indent="-342900" fontAlgn="base">
              <a:spcBef>
                <a:spcPct val="65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800" b="1" dirty="0">
                <a:solidFill>
                  <a:srgbClr val="000000"/>
                </a:solidFill>
              </a:rPr>
              <a:t>int  </a:t>
            </a:r>
            <a:r>
              <a:rPr lang="zh-CN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</a:rPr>
              <a:t>p=x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</a:rPr>
              <a:t>int  </a:t>
            </a:r>
            <a:r>
              <a:rPr lang="zh-CN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</a:rPr>
              <a:t>p=</a:t>
            </a:r>
            <a:r>
              <a:rPr lang="zh-CN" altLang="zh-CN" sz="2800" dirty="0">
                <a:solidFill>
                  <a:srgbClr val="000000"/>
                </a:solidFill>
              </a:rPr>
              <a:t>&amp;</a:t>
            </a:r>
            <a:r>
              <a:rPr lang="zh-CN" altLang="zh-CN" sz="2800" b="1" dirty="0">
                <a:solidFill>
                  <a:srgbClr val="000000"/>
                </a:solidFill>
              </a:rPr>
              <a:t>x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</a:rPr>
              <a:t>int *p;   </a:t>
            </a:r>
            <a:r>
              <a:rPr lang="zh-CN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</a:rPr>
              <a:t>p= </a:t>
            </a:r>
            <a:r>
              <a:rPr lang="zh-CN" altLang="zh-CN" sz="2800" dirty="0">
                <a:solidFill>
                  <a:srgbClr val="000000"/>
                </a:solidFill>
              </a:rPr>
              <a:t>&amp;</a:t>
            </a:r>
            <a:r>
              <a:rPr lang="zh-CN" altLang="zh-CN" sz="2800" b="1" dirty="0">
                <a:solidFill>
                  <a:srgbClr val="000000"/>
                </a:solidFill>
              </a:rPr>
              <a:t>x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spcBef>
                <a:spcPct val="125000"/>
              </a:spcBef>
              <a:buFont typeface="Wingdings" panose="05000000000000000000" pitchFamily="2" charset="2"/>
              <a:buNone/>
            </a:pPr>
            <a:r>
              <a:rPr lang="zh-CN" altLang="zh-CN" sz="2800" b="1" dirty="0"/>
              <a:t>两个指针变量不可以 </a:t>
            </a:r>
            <a:r>
              <a:rPr lang="zh-CN" altLang="zh-CN" sz="2800" dirty="0"/>
              <a:t>____</a:t>
            </a:r>
            <a:r>
              <a:rPr lang="zh-CN" altLang="zh-CN" sz="2800" b="1" dirty="0"/>
              <a:t> 。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215680" y="4031331"/>
            <a:ext cx="23831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相加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6894984" y="4031331"/>
            <a:ext cx="23831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 sz="2800" b="1" dirty="0"/>
              <a:t>比较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244309" y="5102893"/>
            <a:ext cx="23831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相减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923613" y="5102893"/>
            <a:ext cx="23831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zh-CN" sz="2800" b="1" dirty="0"/>
              <a:t>指向同一地址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501305" y="4095624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180609" y="409562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529934" y="516718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209238" y="516718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8945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zh-CN" sz="2800" b="1" dirty="0"/>
              <a:t>已知</a:t>
            </a:r>
            <a:r>
              <a:rPr lang="zh-CN" altLang="zh-CN" sz="2800" b="1" dirty="0">
                <a:latin typeface="Arial" panose="020B0604020202020204" pitchFamily="34" charset="0"/>
              </a:rPr>
              <a:t>p、p</a:t>
            </a:r>
            <a:r>
              <a:rPr lang="zh-CN" altLang="zh-CN" sz="2800" b="1" dirty="0">
                <a:latin typeface="黑体" panose="02010609060101010101" pitchFamily="49" charset="-122"/>
              </a:rPr>
              <a:t>1为指针变量</a:t>
            </a:r>
            <a:r>
              <a:rPr lang="zh-CN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</a:rPr>
              <a:t>为数组名</a:t>
            </a:r>
            <a:r>
              <a:rPr lang="zh-CN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zh-CN" sz="2800" b="1" dirty="0">
                <a:latin typeface="Arial" panose="020B0604020202020204" pitchFamily="34" charset="0"/>
              </a:rPr>
              <a:t>i</a:t>
            </a:r>
            <a:r>
              <a:rPr lang="zh-CN" altLang="zh-CN" sz="2800" b="1" dirty="0">
                <a:latin typeface="黑体" panose="02010609060101010101" pitchFamily="49" charset="-122"/>
              </a:rPr>
              <a:t>为整型变量</a:t>
            </a:r>
            <a:r>
              <a:rPr lang="zh-CN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zh-CN" sz="2800" b="1" dirty="0"/>
              <a:t>   下列赋值语句中不正确的是</a:t>
            </a:r>
            <a:r>
              <a:rPr lang="zh-CN" altLang="zh-CN" sz="2800" dirty="0"/>
              <a:t>____</a:t>
            </a:r>
            <a:r>
              <a:rPr lang="zh-CN" altLang="zh-CN" sz="2800" b="1" dirty="0"/>
              <a:t> 。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3573016"/>
            <a:ext cx="216713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</a:t>
            </a:r>
            <a:r>
              <a:rPr lang="zh-CN" altLang="zh-CN" sz="2800" dirty="0"/>
              <a:t>&amp;</a:t>
            </a:r>
            <a:r>
              <a:rPr lang="zh-CN" altLang="zh-CN" sz="2800" b="1" dirty="0"/>
              <a:t>i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060432" y="3573016"/>
            <a:ext cx="216713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</a:t>
            </a:r>
            <a:r>
              <a:rPr lang="zh-CN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712854"/>
            <a:ext cx="216713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</a:t>
            </a:r>
            <a:r>
              <a:rPr lang="zh-CN" altLang="zh-CN" sz="2800" dirty="0"/>
              <a:t>&amp;</a:t>
            </a:r>
            <a:r>
              <a:rPr lang="zh-CN" altLang="zh-CN" sz="2800" b="1" dirty="0"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</a:rPr>
              <a:t>[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黑体" panose="02010609060101010101" pitchFamily="49" charset="-122"/>
              </a:rPr>
              <a:t>]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060432" y="4648559"/>
            <a:ext cx="216713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</a:t>
            </a:r>
            <a:r>
              <a:rPr lang="zh-CN" altLang="zh-CN" sz="2800" b="1" dirty="0">
                <a:latin typeface="Arial" panose="020B0604020202020204" pitchFamily="34" charset="0"/>
              </a:rPr>
              <a:t>10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3637309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346057" y="3637309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77714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346057" y="4712852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24075" y="1274764"/>
            <a:ext cx="8408988" cy="5038725"/>
          </a:xfrm>
        </p:spPr>
        <p:txBody>
          <a:bodyPr/>
          <a:lstStyle/>
          <a:p>
            <a:pPr marL="274955" indent="-274955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数组名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数组的首地址</a:t>
            </a:r>
          </a:p>
          <a:p>
            <a:pPr marL="717550" lvl="1" indent="-263525">
              <a:lnSpc>
                <a:spcPct val="120000"/>
              </a:lnSpc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名是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指针常量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执行期间任何给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数组名赋值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的语句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都是错误的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</a:endParaRPr>
          </a:p>
          <a:p>
            <a:pPr marL="274955" indent="-274955">
              <a:lnSpc>
                <a:spcPct val="120000"/>
              </a:lnSpc>
              <a:spcBef>
                <a:spcPct val="40000"/>
              </a:spcBef>
            </a:pPr>
            <a:r>
              <a:rPr lang="zh-CN" altLang="en-US" sz="2800" b="1" dirty="0">
                <a:latin typeface="黑体" panose="02010609060101010101" pitchFamily="49" charset="-122"/>
              </a:rPr>
              <a:t>Ｃ语言规定</a:t>
            </a:r>
            <a:r>
              <a:rPr lang="zh-CN" altLang="en-US" sz="2800" b="1" dirty="0">
                <a:latin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latin typeface="黑体" panose="02010609060101010101" pitchFamily="49" charset="-122"/>
              </a:rPr>
              <a:t>数组名代表数组第一个元素的地址</a:t>
            </a:r>
          </a:p>
          <a:p>
            <a:pPr marL="274955" indent="-274955">
              <a:lnSpc>
                <a:spcPct val="115000"/>
              </a:lnSpc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800" b="1" dirty="0">
                <a:latin typeface="黑体" panose="02010609060101010101" pitchFamily="49" charset="-122"/>
              </a:rPr>
              <a:t>  因此</a:t>
            </a:r>
            <a:r>
              <a:rPr lang="zh-CN" altLang="en-US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黑体" panose="02010609060101010101" pitchFamily="49" charset="-122"/>
              </a:rPr>
              <a:t>对于数组</a:t>
            </a:r>
            <a:r>
              <a:rPr lang="zh-CN" altLang="en-US" sz="2800" b="1" dirty="0"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黑体" panose="02010609060101010101" pitchFamily="49" charset="-122"/>
              </a:rPr>
              <a:t>有</a:t>
            </a:r>
            <a:r>
              <a:rPr lang="zh-CN" altLang="en-US" sz="2800" b="1" dirty="0">
                <a:latin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solidFill>
                  <a:schemeClr val="hlink"/>
                </a:solidFill>
              </a:rPr>
              <a:t>  等于 ＆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</a:rPr>
              <a:t>[</a:t>
            </a:r>
            <a:r>
              <a:rPr lang="zh-CN" altLang="en-US" sz="2800" dirty="0">
                <a:solidFill>
                  <a:schemeClr val="hlink"/>
                </a:solidFill>
              </a:rPr>
              <a:t>0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</a:rPr>
              <a:t>]</a:t>
            </a:r>
            <a:endParaRPr lang="zh-CN" altLang="en-US" sz="2800" b="1" dirty="0">
              <a:solidFill>
                <a:schemeClr val="bg2"/>
              </a:solidFill>
              <a:latin typeface="黑体" panose="02010609060101010101" pitchFamily="49" charset="-122"/>
            </a:endParaRPr>
          </a:p>
          <a:p>
            <a:pPr marL="274955" indent="-274955">
              <a:lnSpc>
                <a:spcPct val="115000"/>
              </a:lnSpc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    若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zh-CN" altLang="en-US" sz="2800" b="1" dirty="0"/>
              <a:t>int  a</a:t>
            </a:r>
            <a:r>
              <a:rPr lang="zh-CN" altLang="en-US" sz="2800" b="1" dirty="0">
                <a:latin typeface="黑体" panose="02010609060101010101" pitchFamily="49" charset="-122"/>
              </a:rPr>
              <a:t>[</a:t>
            </a:r>
            <a:r>
              <a:rPr lang="zh-CN" altLang="en-US" sz="2800" b="1" dirty="0">
                <a:latin typeface="Arial" panose="020B0604020202020204" pitchFamily="34" charset="0"/>
              </a:rPr>
              <a:t>10</a:t>
            </a:r>
            <a:r>
              <a:rPr lang="zh-CN" altLang="en-US" sz="2800" b="1" dirty="0">
                <a:latin typeface="黑体" panose="02010609060101010101" pitchFamily="49" charset="-122"/>
              </a:rPr>
              <a:t>]</a:t>
            </a:r>
            <a:r>
              <a:rPr lang="zh-CN" altLang="en-US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latin typeface="黑体" panose="02010609060101010101" pitchFamily="49" charset="-122"/>
              </a:rPr>
              <a:t>*</a:t>
            </a:r>
            <a:r>
              <a:rPr lang="zh-CN" altLang="en-US" sz="2800" b="1" dirty="0"/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 ;</a:t>
            </a:r>
          </a:p>
          <a:p>
            <a:pPr marL="274955" indent="-274955">
              <a:lnSpc>
                <a:spcPct val="115000"/>
              </a:lnSpc>
              <a:spcBef>
                <a:spcPct val="50000"/>
              </a:spcBef>
              <a:buNone/>
            </a:pPr>
            <a:r>
              <a:rPr lang="zh-CN" altLang="en-US" sz="2800" b="1" dirty="0"/>
              <a:t>             p=a</a:t>
            </a:r>
            <a:r>
              <a:rPr lang="zh-CN" altLang="en-US" sz="2800" b="1" dirty="0">
                <a:latin typeface="Times New Roman" panose="02020603050405020304" pitchFamily="18" charset="0"/>
              </a:rPr>
              <a:t>;     </a:t>
            </a:r>
            <a:r>
              <a:rPr lang="zh-CN" altLang="en-US" sz="2800" b="1" dirty="0"/>
              <a:t>等价于    p=</a:t>
            </a:r>
            <a:r>
              <a:rPr lang="zh-CN" altLang="en-US" sz="2800" dirty="0"/>
              <a:t>&amp;</a:t>
            </a:r>
            <a:r>
              <a:rPr lang="zh-CN" altLang="en-US" sz="2800" b="1" dirty="0"/>
              <a:t>a</a:t>
            </a:r>
            <a:r>
              <a:rPr lang="zh-CN" altLang="en-US" sz="2800" b="1" dirty="0">
                <a:latin typeface="黑体" panose="02010609060101010101" pitchFamily="49" charset="-122"/>
              </a:rPr>
              <a:t>[</a:t>
            </a:r>
            <a:r>
              <a:rPr lang="zh-CN" altLang="en-US" sz="2800" b="1" dirty="0">
                <a:latin typeface="Arial" panose="020B0604020202020204" pitchFamily="34" charset="0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</a:rPr>
              <a:t>]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   </a:t>
            </a:r>
          </a:p>
          <a:p>
            <a:pPr marL="274955" indent="-274955">
              <a:spcBef>
                <a:spcPct val="50000"/>
              </a:spcBef>
              <a:buClrTx/>
              <a:buSzTx/>
              <a:buNone/>
            </a:pPr>
            <a:endParaRPr lang="zh-CN" altLang="en-US" sz="2400" b="1" dirty="0">
              <a:latin typeface="黑体" panose="02010609060101010101" pitchFamily="49" charset="-122"/>
            </a:endParaRPr>
          </a:p>
        </p:txBody>
      </p:sp>
      <p:sp>
        <p:nvSpPr>
          <p:cNvPr id="563203" name="Rectangle 3"/>
          <p:cNvSpPr>
            <a:spLocks noChangeArrowheads="1"/>
          </p:cNvSpPr>
          <p:nvPr/>
        </p:nvSpPr>
        <p:spPr bwMode="auto">
          <a:xfrm>
            <a:off x="3189289" y="177800"/>
            <a:ext cx="58118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en-US" altLang="zh-CN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zh-CN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一维数组的指针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7376" y="-22225"/>
            <a:ext cx="6062663" cy="798513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3.</a:t>
            </a:r>
            <a:r>
              <a:rPr lang="en-US" altLang="zh-CN" sz="3600" dirty="0">
                <a:latin typeface="楷体_GB2312" pitchFamily="49" charset="-122"/>
              </a:rPr>
              <a:t>2</a:t>
            </a:r>
            <a:r>
              <a:rPr lang="zh-CN" altLang="zh-CN" sz="3600" dirty="0">
                <a:latin typeface="楷体_GB2312" pitchFamily="49" charset="-122"/>
              </a:rPr>
              <a:t> </a:t>
            </a:r>
            <a:r>
              <a:rPr lang="zh-CN" altLang="en-US" sz="3600" dirty="0">
                <a:latin typeface="楷体_GB2312" pitchFamily="49" charset="-122"/>
              </a:rPr>
              <a:t>一维数组的指针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5025" y="1235076"/>
            <a:ext cx="8547100" cy="3813175"/>
          </a:xfrm>
        </p:spPr>
        <p:txBody>
          <a:bodyPr/>
          <a:lstStyle/>
          <a:p>
            <a:pPr marL="274955" indent="-274955">
              <a:lnSpc>
                <a:spcPct val="110000"/>
              </a:lnSpc>
            </a:pPr>
            <a:r>
              <a:rPr lang="zh-CN" altLang="en-US" sz="2400" b="1"/>
              <a:t>一维数组的首地址加上偏移量 </a:t>
            </a:r>
            <a:r>
              <a:rPr lang="zh-CN" altLang="zh-CN" sz="2400" b="1"/>
              <a:t>i </a:t>
            </a:r>
            <a:r>
              <a:rPr lang="zh-CN" altLang="en-US" sz="2400" b="1"/>
              <a:t>可以得到其他元素的地址</a:t>
            </a:r>
            <a:r>
              <a:rPr lang="zh-CN" altLang="en-US" sz="2000" b="1"/>
              <a:t>。</a:t>
            </a:r>
          </a:p>
          <a:p>
            <a:pPr marL="274955" indent="-274955">
              <a:lnSpc>
                <a:spcPct val="115000"/>
              </a:lnSpc>
              <a:spcBef>
                <a:spcPct val="35000"/>
              </a:spcBef>
              <a:buNone/>
            </a:pPr>
            <a:r>
              <a:rPr lang="zh-CN" altLang="en-US" sz="2400" b="1"/>
              <a:t>    如</a:t>
            </a:r>
            <a:r>
              <a:rPr lang="zh-CN" altLang="zh-CN" sz="2400" b="1">
                <a:latin typeface="Times New Roman" panose="02020603050405020304" pitchFamily="18" charset="0"/>
              </a:rPr>
              <a:t>:   </a:t>
            </a:r>
            <a:r>
              <a:rPr lang="zh-CN" altLang="zh-CN" sz="2400" b="1"/>
              <a:t>int   a</a:t>
            </a:r>
            <a:r>
              <a:rPr lang="zh-CN" altLang="zh-CN" sz="2400" b="1">
                <a:latin typeface="Courier New" panose="02070309020205020404" pitchFamily="49" charset="0"/>
              </a:rPr>
              <a:t>[</a:t>
            </a:r>
            <a:r>
              <a:rPr lang="zh-CN" altLang="zh-CN" sz="2400" b="1"/>
              <a:t>1</a:t>
            </a:r>
            <a:r>
              <a:rPr lang="zh-CN" altLang="zh-CN" sz="2400" b="1">
                <a:latin typeface="Arial" panose="020B0604020202020204" pitchFamily="34" charset="0"/>
              </a:rPr>
              <a:t>0</a:t>
            </a:r>
            <a:r>
              <a:rPr lang="zh-CN" altLang="zh-CN" sz="2400" b="1">
                <a:latin typeface="Courier New" panose="02070309020205020404" pitchFamily="49" charset="0"/>
              </a:rPr>
              <a:t>]</a:t>
            </a:r>
            <a:r>
              <a:rPr lang="zh-CN" altLang="zh-CN" sz="2400" b="1">
                <a:latin typeface="Times New Roman" panose="02020603050405020304" pitchFamily="18" charset="0"/>
              </a:rPr>
              <a:t>,</a:t>
            </a:r>
            <a:r>
              <a:rPr lang="zh-CN" altLang="zh-CN" sz="2400" b="1"/>
              <a:t> </a:t>
            </a:r>
            <a:r>
              <a:rPr lang="zh-CN" altLang="zh-CN" sz="2400" b="1">
                <a:latin typeface="黑体" panose="02010609060101010101" pitchFamily="49" charset="-122"/>
              </a:rPr>
              <a:t>*</a:t>
            </a:r>
            <a:r>
              <a:rPr lang="zh-CN" altLang="zh-CN" sz="2400" b="1"/>
              <a:t>p=a</a:t>
            </a:r>
            <a:r>
              <a:rPr lang="zh-CN" altLang="zh-CN" sz="2400" b="1">
                <a:latin typeface="Times New Roman" panose="02020603050405020304" pitchFamily="18" charset="0"/>
              </a:rPr>
              <a:t>;</a:t>
            </a:r>
            <a:r>
              <a:rPr lang="zh-CN" altLang="zh-CN" sz="2400"/>
              <a:t> </a:t>
            </a:r>
          </a:p>
          <a:p>
            <a:pPr marL="274955" indent="-274955"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zh-CN" sz="2400" b="1"/>
              <a:t>           </a:t>
            </a:r>
            <a:r>
              <a:rPr lang="zh-CN" altLang="en-US" sz="2400" b="1"/>
              <a:t>＆</a:t>
            </a:r>
            <a:r>
              <a:rPr lang="zh-CN" altLang="zh-CN" sz="2400" b="1"/>
              <a:t>a</a:t>
            </a:r>
            <a:r>
              <a:rPr lang="zh-CN" altLang="zh-CN" sz="2400" b="1">
                <a:latin typeface="Courier New" panose="02070309020205020404" pitchFamily="49" charset="0"/>
              </a:rPr>
              <a:t>[</a:t>
            </a:r>
            <a:r>
              <a:rPr lang="zh-CN" altLang="zh-CN" sz="2400" b="1"/>
              <a:t>1</a:t>
            </a:r>
            <a:r>
              <a:rPr lang="zh-CN" altLang="zh-CN" sz="2400" b="1">
                <a:latin typeface="Courier New" panose="02070309020205020404" pitchFamily="49" charset="0"/>
              </a:rPr>
              <a:t>]</a:t>
            </a:r>
            <a:r>
              <a:rPr lang="zh-CN" altLang="zh-CN" sz="2400" b="1"/>
              <a:t> </a:t>
            </a:r>
            <a:r>
              <a:rPr lang="zh-CN" altLang="en-US" sz="2400" b="1"/>
              <a:t>表示数组元素</a:t>
            </a:r>
            <a:r>
              <a:rPr lang="zh-CN" altLang="zh-CN" sz="2400" b="1"/>
              <a:t>a</a:t>
            </a:r>
            <a:r>
              <a:rPr lang="zh-CN" altLang="zh-CN" sz="2400" b="1">
                <a:latin typeface="Courier New" panose="02070309020205020404" pitchFamily="49" charset="0"/>
              </a:rPr>
              <a:t>[</a:t>
            </a:r>
            <a:r>
              <a:rPr lang="zh-CN" altLang="zh-CN" sz="2400" b="1"/>
              <a:t>1</a:t>
            </a:r>
            <a:r>
              <a:rPr lang="zh-CN" altLang="zh-CN" sz="2400" b="1">
                <a:latin typeface="Courier New" panose="02070309020205020404" pitchFamily="49" charset="0"/>
              </a:rPr>
              <a:t>]</a:t>
            </a:r>
            <a:r>
              <a:rPr lang="zh-CN" altLang="en-US" sz="2400" b="1"/>
              <a:t>的地址</a:t>
            </a:r>
          </a:p>
          <a:p>
            <a:pPr lvl="1">
              <a:lnSpc>
                <a:spcPct val="10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400" b="1"/>
              <a:t>      等价于   </a:t>
            </a:r>
            <a:r>
              <a:rPr lang="zh-CN" altLang="zh-CN" sz="2400" b="1">
                <a:solidFill>
                  <a:srgbClr val="CC00CC"/>
                </a:solidFill>
              </a:rPr>
              <a:t>a+1</a:t>
            </a:r>
            <a:r>
              <a:rPr lang="zh-CN" altLang="zh-CN" sz="2400" b="1">
                <a:solidFill>
                  <a:srgbClr val="00009E"/>
                </a:solidFill>
              </a:rPr>
              <a:t>   </a:t>
            </a:r>
            <a:r>
              <a:rPr lang="zh-CN" altLang="en-US" sz="2400" b="1"/>
              <a:t>或</a:t>
            </a:r>
            <a:r>
              <a:rPr lang="zh-CN" altLang="en-US" sz="2400" b="1">
                <a:solidFill>
                  <a:srgbClr val="00009E"/>
                </a:solidFill>
              </a:rPr>
              <a:t>    </a:t>
            </a:r>
            <a:r>
              <a:rPr lang="zh-CN" altLang="zh-CN" sz="2400" b="1">
                <a:solidFill>
                  <a:srgbClr val="CC00CC"/>
                </a:solidFill>
              </a:rPr>
              <a:t>p+1</a:t>
            </a:r>
            <a:r>
              <a:rPr lang="zh-CN" altLang="zh-CN" sz="2400" b="1"/>
              <a:t> </a:t>
            </a:r>
          </a:p>
          <a:p>
            <a:pPr lvl="1">
              <a:lnSpc>
                <a:spcPct val="10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 sz="2400" b="1"/>
              <a:t>      </a:t>
            </a:r>
            <a:r>
              <a:rPr lang="zh-CN" altLang="en-US" sz="2400" b="1"/>
              <a:t>＆</a:t>
            </a:r>
            <a:r>
              <a:rPr lang="zh-CN" altLang="zh-CN" sz="2400" b="1"/>
              <a:t>a</a:t>
            </a:r>
            <a:r>
              <a:rPr lang="zh-CN" altLang="zh-CN" sz="2400" b="1">
                <a:latin typeface="Courier New" panose="02070309020205020404" pitchFamily="49" charset="0"/>
              </a:rPr>
              <a:t>[</a:t>
            </a:r>
            <a:r>
              <a:rPr lang="zh-CN" altLang="zh-CN" sz="2400" b="1"/>
              <a:t>i</a:t>
            </a:r>
            <a:r>
              <a:rPr lang="zh-CN" altLang="zh-CN" sz="2400" b="1">
                <a:latin typeface="Courier New" panose="02070309020205020404" pitchFamily="49" charset="0"/>
              </a:rPr>
              <a:t>]</a:t>
            </a:r>
            <a:r>
              <a:rPr lang="zh-CN" altLang="zh-CN" sz="2400" b="1"/>
              <a:t> </a:t>
            </a:r>
            <a:r>
              <a:rPr lang="zh-CN" altLang="en-US" sz="2400" b="1"/>
              <a:t>表示数组元素</a:t>
            </a:r>
            <a:r>
              <a:rPr lang="zh-CN" altLang="zh-CN" sz="2400" b="1"/>
              <a:t>a</a:t>
            </a:r>
            <a:r>
              <a:rPr lang="zh-CN" altLang="zh-CN" sz="2400" b="1">
                <a:latin typeface="Courier New" panose="02070309020205020404" pitchFamily="49" charset="0"/>
              </a:rPr>
              <a:t>[</a:t>
            </a:r>
            <a:r>
              <a:rPr lang="zh-CN" altLang="zh-CN" sz="2400" b="1"/>
              <a:t>i</a:t>
            </a:r>
            <a:r>
              <a:rPr lang="zh-CN" altLang="zh-CN" sz="2400" b="1">
                <a:latin typeface="Courier New" panose="02070309020205020404" pitchFamily="49" charset="0"/>
              </a:rPr>
              <a:t>]</a:t>
            </a:r>
            <a:r>
              <a:rPr lang="zh-CN" altLang="en-US" sz="2400" b="1"/>
              <a:t>的地址</a:t>
            </a:r>
          </a:p>
          <a:p>
            <a:pPr lvl="1">
              <a:lnSpc>
                <a:spcPct val="10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400" b="1"/>
              <a:t>      等价于   </a:t>
            </a:r>
            <a:r>
              <a:rPr lang="zh-CN" altLang="zh-CN" sz="2400" b="1">
                <a:solidFill>
                  <a:srgbClr val="CC00CC"/>
                </a:solidFill>
              </a:rPr>
              <a:t>a+i</a:t>
            </a:r>
            <a:r>
              <a:rPr lang="zh-CN" altLang="zh-CN" sz="2400" b="1">
                <a:solidFill>
                  <a:srgbClr val="00009E"/>
                </a:solidFill>
              </a:rPr>
              <a:t>    </a:t>
            </a:r>
            <a:r>
              <a:rPr lang="zh-CN" altLang="en-US" sz="2400" b="1"/>
              <a:t>或    </a:t>
            </a:r>
            <a:r>
              <a:rPr lang="zh-CN" altLang="zh-CN" sz="2400" b="1">
                <a:solidFill>
                  <a:srgbClr val="CC00CC"/>
                </a:solidFill>
              </a:rPr>
              <a:t>p+i </a:t>
            </a:r>
          </a:p>
          <a:p>
            <a:pPr marL="274955" indent="-274955">
              <a:buNone/>
            </a:pPr>
            <a:endParaRPr lang="zh-CN" altLang="zh-CN" sz="2400"/>
          </a:p>
        </p:txBody>
      </p:sp>
      <p:sp>
        <p:nvSpPr>
          <p:cNvPr id="564228" name="Rectangle 4"/>
          <p:cNvSpPr>
            <a:spLocks noChangeArrowheads="1"/>
          </p:cNvSpPr>
          <p:nvPr/>
        </p:nvSpPr>
        <p:spPr bwMode="auto">
          <a:xfrm>
            <a:off x="2120900" y="4591051"/>
            <a:ext cx="8066088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2880" indent="-18288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</a:rPr>
              <a:t>注意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zh-CN" sz="2400" b="1">
                <a:solidFill>
                  <a:srgbClr val="000000"/>
                </a:solidFill>
              </a:rPr>
              <a:t>p+i </a:t>
            </a:r>
            <a:r>
              <a:rPr lang="zh-CN" altLang="en-US" sz="2400" b="1">
                <a:solidFill>
                  <a:srgbClr val="000000"/>
                </a:solidFill>
              </a:rPr>
              <a:t>指向数组的</a:t>
            </a:r>
            <a:r>
              <a:rPr lang="zh-CN" altLang="zh-CN" sz="2400" b="1">
                <a:solidFill>
                  <a:srgbClr val="000000"/>
                </a:solidFill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</a:rPr>
              <a:t>[</a:t>
            </a:r>
            <a:r>
              <a:rPr lang="zh-CN" altLang="zh-CN" sz="2400" b="1">
                <a:solidFill>
                  <a:srgbClr val="000000"/>
                </a:solidFill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</a:rPr>
              <a:t>]</a:t>
            </a:r>
            <a:r>
              <a:rPr lang="zh-CN" altLang="en-US" sz="2400" b="1">
                <a:solidFill>
                  <a:srgbClr val="000000"/>
                </a:solidFill>
              </a:rPr>
              <a:t>元素，不是简单地使指针变量 </a:t>
            </a:r>
            <a:r>
              <a:rPr lang="zh-CN" altLang="zh-CN" sz="2400" b="1">
                <a:solidFill>
                  <a:srgbClr val="000000"/>
                </a:solidFill>
              </a:rPr>
              <a:t>p</a:t>
            </a:r>
            <a:r>
              <a:rPr lang="zh-CN" altLang="en-US" sz="2400" b="1">
                <a:solidFill>
                  <a:srgbClr val="000000"/>
                </a:solidFill>
              </a:rPr>
              <a:t>的值加 </a:t>
            </a:r>
            <a:r>
              <a:rPr lang="zh-CN" altLang="zh-CN" sz="2400" b="1">
                <a:solidFill>
                  <a:srgbClr val="000000"/>
                </a:solidFill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>
                <a:solidFill>
                  <a:srgbClr val="000000"/>
                </a:solidFill>
              </a:rPr>
              <a:t>  </a:t>
            </a:r>
            <a:r>
              <a:rPr lang="zh-CN" altLang="en-US" sz="2400" b="1">
                <a:solidFill>
                  <a:srgbClr val="000000"/>
                </a:solidFill>
              </a:rPr>
              <a:t>其所代表的地址实际上是  </a:t>
            </a:r>
            <a:r>
              <a:rPr lang="zh-CN" altLang="zh-CN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p+i×size</a:t>
            </a:r>
            <a:r>
              <a:rPr lang="zh-CN" altLang="en-US" sz="2400" b="1">
                <a:solidFill>
                  <a:srgbClr val="000000"/>
                </a:solidFill>
              </a:rPr>
              <a:t>。</a:t>
            </a:r>
          </a:p>
          <a:p>
            <a:pPr marL="182880" indent="-182880" fontAlgn="base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en-US" sz="2400" b="1">
                <a:solidFill>
                  <a:srgbClr val="000000"/>
                </a:solidFill>
              </a:rPr>
              <a:t> （</a:t>
            </a:r>
            <a:r>
              <a:rPr lang="zh-CN" altLang="zh-CN" sz="2400" b="1">
                <a:solidFill>
                  <a:srgbClr val="000000"/>
                </a:solidFill>
              </a:rPr>
              <a:t>size</a:t>
            </a:r>
            <a:r>
              <a:rPr lang="zh-CN" altLang="en-US" sz="2400" b="1">
                <a:solidFill>
                  <a:srgbClr val="000000"/>
                </a:solidFill>
              </a:rPr>
              <a:t>为数组元素的数据类型所占的字节数）。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5688" y="258763"/>
            <a:ext cx="8001000" cy="715962"/>
          </a:xfrm>
        </p:spPr>
        <p:txBody>
          <a:bodyPr/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语言中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对数组元素的访问可用以下两种形式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6775" y="1449389"/>
            <a:ext cx="8280400" cy="4537075"/>
          </a:xfrm>
        </p:spPr>
        <p:txBody>
          <a:bodyPr/>
          <a:lstStyle/>
          <a:p>
            <a:pPr marL="274955" indent="-274955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下标法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lang="zh-CN" altLang="en-US" b="1" dirty="0">
                <a:ea typeface="黑体" panose="02010609060101010101" pitchFamily="49" charset="-122"/>
              </a:rPr>
              <a:t>用</a:t>
            </a:r>
            <a:r>
              <a:rPr lang="zh-CN" altLang="zh-CN" b="1" dirty="0">
                <a:solidFill>
                  <a:srgbClr val="0000B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b="1" dirty="0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b="1" dirty="0">
                <a:solidFill>
                  <a:srgbClr val="0000B0"/>
                </a:solidFill>
                <a:ea typeface="黑体" panose="02010609060101010101" pitchFamily="49" charset="-122"/>
              </a:rPr>
              <a:t>i</a:t>
            </a:r>
            <a:r>
              <a:rPr lang="zh-CN" altLang="zh-CN" b="1" dirty="0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b="1" dirty="0">
                <a:ea typeface="黑体" panose="02010609060101010101" pitchFamily="49" charset="-122"/>
              </a:rPr>
              <a:t>的形式存取数组元素</a:t>
            </a:r>
          </a:p>
          <a:p>
            <a:pPr marL="274955" indent="-274955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指针法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lang="zh-CN" altLang="en-US" b="1" dirty="0">
                <a:ea typeface="黑体" panose="02010609060101010101" pitchFamily="49" charset="-122"/>
              </a:rPr>
              <a:t>用 </a:t>
            </a:r>
            <a:r>
              <a:rPr lang="zh-CN" altLang="en-US" b="1" dirty="0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b="1" dirty="0">
                <a:solidFill>
                  <a:srgbClr val="0000B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b="1" dirty="0">
                <a:solidFill>
                  <a:srgbClr val="0000B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b="1" dirty="0">
                <a:solidFill>
                  <a:srgbClr val="0000B0"/>
                </a:solidFill>
                <a:ea typeface="黑体" panose="02010609060101010101" pitchFamily="49" charset="-122"/>
              </a:rPr>
              <a:t>+i </a:t>
            </a:r>
            <a:r>
              <a:rPr lang="zh-CN" altLang="zh-CN" b="1" dirty="0">
                <a:solidFill>
                  <a:srgbClr val="0000B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b="1" dirty="0">
                <a:solidFill>
                  <a:srgbClr val="0028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ea typeface="黑体" panose="02010609060101010101" pitchFamily="49" charset="-122"/>
              </a:rPr>
              <a:t>或</a:t>
            </a:r>
            <a:r>
              <a:rPr lang="zh-CN" altLang="en-US" b="1" dirty="0"/>
              <a:t>  </a:t>
            </a:r>
            <a:r>
              <a:rPr lang="zh-CN" altLang="en-US" b="1" dirty="0">
                <a:solidFill>
                  <a:srgbClr val="0000B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b="1" dirty="0">
                <a:solidFill>
                  <a:srgbClr val="0000B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b="1" dirty="0">
                <a:solidFill>
                  <a:srgbClr val="0000B0"/>
                </a:solidFill>
              </a:rPr>
              <a:t>p+i</a:t>
            </a:r>
            <a:r>
              <a:rPr lang="zh-CN" altLang="zh-CN" b="1" dirty="0">
                <a:solidFill>
                  <a:srgbClr val="0000B0"/>
                </a:solidFill>
                <a:latin typeface="Times New Roman" panose="02020603050405020304" pitchFamily="18" charset="0"/>
              </a:rPr>
              <a:t>)</a:t>
            </a:r>
            <a:r>
              <a:rPr lang="zh-CN" altLang="zh-CN" b="1" dirty="0"/>
              <a:t> </a:t>
            </a:r>
            <a:r>
              <a:rPr lang="zh-CN" altLang="en-US" b="1" dirty="0">
                <a:ea typeface="黑体" panose="02010609060101010101" pitchFamily="49" charset="-122"/>
              </a:rPr>
              <a:t>的形式存取数组元素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274955" indent="-274955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  <a:p>
            <a:pPr marL="274955" indent="-274955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下标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法可读性好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但在编译时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下标法自动转换为指针法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所以指针法的速度快</a:t>
            </a:r>
          </a:p>
          <a:p>
            <a:pPr marL="274955" indent="-274955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5688" y="258763"/>
            <a:ext cx="8001000" cy="715962"/>
          </a:xfrm>
        </p:spPr>
        <p:txBody>
          <a:bodyPr/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语言中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对数组元素的访问可用以下两种形式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565252" name="Rectangle 4"/>
          <p:cNvSpPr>
            <a:spLocks noChangeArrowheads="1"/>
          </p:cNvSpPr>
          <p:nvPr/>
        </p:nvSpPr>
        <p:spPr bwMode="auto">
          <a:xfrm>
            <a:off x="2282920" y="1700808"/>
            <a:ext cx="8077200" cy="4222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在</a:t>
            </a:r>
            <a:r>
              <a:rPr lang="en-US" altLang="zh-CN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指向</a:t>
            </a:r>
            <a:r>
              <a:rPr lang="en-US" altLang="zh-CN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a[0],</a:t>
            </a:r>
            <a:r>
              <a:rPr lang="zh-CN" altLang="en-US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若访问下标为 </a:t>
            </a:r>
            <a:r>
              <a:rPr lang="zh-CN" altLang="zh-CN" sz="4000" b="1" dirty="0">
                <a:solidFill>
                  <a:srgbClr val="0028A8"/>
                </a:solidFill>
                <a:ea typeface="黑体" panose="02010609060101010101" pitchFamily="49" charset="-122"/>
              </a:rPr>
              <a:t>i </a:t>
            </a:r>
            <a:r>
              <a:rPr lang="zh-CN" altLang="en-US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的元素</a:t>
            </a:r>
            <a:r>
              <a:rPr lang="zh-CN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下标法                指针法</a:t>
            </a:r>
            <a:endParaRPr lang="zh-CN" altLang="zh-CN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fontAlgn="base">
              <a:lnSpc>
                <a:spcPct val="110000"/>
              </a:lnSpc>
              <a:spcBef>
                <a:spcPct val="5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   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i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等价于    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+i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    </a:t>
            </a:r>
            <a:endParaRPr lang="en-US" altLang="zh-CN" sz="40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fontAlgn="base">
              <a:lnSpc>
                <a:spcPct val="110000"/>
              </a:lnSpc>
              <a:spcBef>
                <a:spcPct val="5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i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en-US" altLang="zh-CN" sz="4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4000" b="1" dirty="0">
                <a:solidFill>
                  <a:srgbClr val="000000"/>
                </a:solidFill>
                <a:ea typeface="黑体" panose="02010609060101010101" pitchFamily="49" charset="-122"/>
              </a:rPr>
              <a:t>等价于    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+i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zh-CN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295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2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33638" y="1204913"/>
            <a:ext cx="7910512" cy="54229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ea typeface="黑体" panose="02010609060101010101" pitchFamily="49" charset="-122"/>
              </a:rPr>
              <a:t>①</a:t>
            </a:r>
            <a:r>
              <a:rPr lang="zh-CN" altLang="en-US" sz="2400" b="1" dirty="0">
                <a:ea typeface="黑体" panose="02010609060101010101" pitchFamily="49" charset="-122"/>
              </a:rPr>
              <a:t>用</a:t>
            </a:r>
            <a:r>
              <a:rPr lang="zh-CN" altLang="en-US" sz="2400" b="1" dirty="0">
                <a:solidFill>
                  <a:srgbClr val="CC00CC"/>
                </a:solidFill>
                <a:ea typeface="黑体" panose="02010609060101010101" pitchFamily="49" charset="-122"/>
              </a:rPr>
              <a:t>下标法</a:t>
            </a:r>
            <a:r>
              <a:rPr lang="zh-CN" altLang="en-US" sz="2400" b="1" dirty="0">
                <a:ea typeface="黑体" panose="02010609060101010101" pitchFamily="49" charset="-122"/>
              </a:rPr>
              <a:t>存取数组元素 </a:t>
            </a:r>
            <a:br>
              <a:rPr lang="zh-CN" altLang="en-US" sz="2400" b="1" dirty="0">
                <a:ea typeface="黑体" panose="02010609060101010101" pitchFamily="49" charset="-122"/>
              </a:rPr>
            </a:br>
            <a:r>
              <a:rPr lang="zh-CN" altLang="en-US" sz="2400" dirty="0"/>
              <a:t> </a:t>
            </a:r>
            <a:r>
              <a:rPr lang="zh-CN" altLang="zh-CN" sz="2400" b="1" dirty="0"/>
              <a:t>#include 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stdio</a:t>
            </a:r>
            <a:r>
              <a:rPr lang="zh-CN" altLang="zh-CN" sz="2400" b="1" dirty="0">
                <a:latin typeface="Times New Roman" panose="02020603050405020304" pitchFamily="18" charset="0"/>
              </a:rPr>
              <a:t>.</a:t>
            </a:r>
            <a:r>
              <a:rPr lang="zh-CN" altLang="zh-CN" sz="2400" b="1" dirty="0"/>
              <a:t>h</a:t>
            </a:r>
            <a:r>
              <a:rPr lang="zh-CN" altLang="zh-CN" sz="2400" dirty="0"/>
              <a:t>&gt; </a:t>
            </a:r>
            <a:r>
              <a:rPr lang="zh-CN" altLang="zh-CN" sz="2400" b="1" dirty="0">
                <a:solidFill>
                  <a:srgbClr val="A50021"/>
                </a:solidFill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ea typeface="黑体" panose="02010609060101010101" pitchFamily="49" charset="-122"/>
              </a:rPr>
              <a:t>     void</a:t>
            </a:r>
            <a:r>
              <a:rPr lang="zh-CN" altLang="zh-CN" sz="2400" b="1" dirty="0">
                <a:solidFill>
                  <a:srgbClr val="A50021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400" b="1" dirty="0">
                <a:ea typeface="黑体" panose="02010609060101010101" pitchFamily="49" charset="-122"/>
              </a:rPr>
              <a:t>main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 )</a:t>
            </a:r>
            <a:br>
              <a:rPr lang="zh-CN" altLang="zh-CN" sz="2400" b="1" dirty="0">
                <a:ea typeface="黑体" panose="02010609060101010101" pitchFamily="49" charset="-122"/>
              </a:rPr>
            </a:br>
            <a:r>
              <a:rPr lang="zh-CN" altLang="zh-CN" sz="2400" b="1" dirty="0">
                <a:ea typeface="黑体" panose="02010609060101010101" pitchFamily="49" charset="-122"/>
              </a:rPr>
              <a:t>{ int   a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zh-CN" sz="2400" b="1" dirty="0">
                <a:ea typeface="黑体" panose="02010609060101010101" pitchFamily="49" charset="-122"/>
              </a:rPr>
              <a:t>i 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br>
              <a:rPr lang="zh-CN" altLang="zh-CN" sz="2400" b="1" dirty="0">
                <a:ea typeface="黑体" panose="02010609060101010101" pitchFamily="49" charset="-122"/>
              </a:rPr>
            </a:br>
            <a:r>
              <a:rPr lang="zh-CN" altLang="zh-CN" sz="2400" b="1" dirty="0">
                <a:ea typeface="黑体" panose="02010609060101010101" pitchFamily="49" charset="-122"/>
              </a:rPr>
              <a:t>   </a:t>
            </a:r>
            <a:r>
              <a:rPr lang="zh-CN" altLang="zh-CN" sz="2400" b="1" dirty="0"/>
              <a:t>for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dirty="0"/>
              <a:t> i=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400" b="1" dirty="0">
                <a:latin typeface="Times New Roman" panose="02020603050405020304" pitchFamily="18" charset="0"/>
              </a:rPr>
              <a:t>;</a:t>
            </a:r>
            <a:r>
              <a:rPr lang="zh-CN" altLang="zh-CN" sz="2400" b="1" dirty="0"/>
              <a:t> i</a:t>
            </a:r>
            <a:r>
              <a:rPr lang="zh-CN" altLang="zh-CN" sz="2400" dirty="0"/>
              <a:t>&lt;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400" b="1" dirty="0">
                <a:latin typeface="Times New Roman" panose="02020603050405020304" pitchFamily="18" charset="0"/>
              </a:rPr>
              <a:t>; </a:t>
            </a:r>
            <a:r>
              <a:rPr lang="zh-CN" altLang="zh-CN" sz="2400" b="1" dirty="0"/>
              <a:t>i++</a:t>
            </a:r>
            <a:r>
              <a:rPr lang="zh-CN" altLang="zh-CN" sz="2400" b="1" dirty="0">
                <a:latin typeface="Times New Roman" panose="02020603050405020304" pitchFamily="18" charset="0"/>
              </a:rPr>
              <a:t>)</a:t>
            </a:r>
            <a:br>
              <a:rPr lang="zh-CN" altLang="zh-CN" sz="2400" b="1" dirty="0">
                <a:latin typeface="Times New Roman" panose="02020603050405020304" pitchFamily="18" charset="0"/>
              </a:rPr>
            </a:br>
            <a:r>
              <a:rPr lang="zh-CN" altLang="zh-CN" sz="2400" b="1" dirty="0"/>
              <a:t>      scanf</a:t>
            </a:r>
            <a:r>
              <a:rPr lang="zh-CN" altLang="zh-CN" sz="2400" b="1" dirty="0">
                <a:latin typeface="Times New Roman" panose="02020603050405020304" pitchFamily="18" charset="0"/>
              </a:rPr>
              <a:t>(“</a:t>
            </a:r>
            <a:r>
              <a:rPr lang="zh-CN" altLang="zh-CN" sz="2400" b="1" dirty="0"/>
              <a:t>%d</a:t>
            </a:r>
            <a:r>
              <a:rPr lang="zh-CN" altLang="zh-CN" sz="2400" b="1" dirty="0">
                <a:latin typeface="Times New Roman" panose="02020603050405020304" pitchFamily="18" charset="0"/>
              </a:rPr>
              <a:t>”,</a:t>
            </a:r>
            <a:r>
              <a:rPr lang="zh-CN" altLang="zh-CN" sz="2400" b="1" dirty="0"/>
              <a:t> </a:t>
            </a:r>
            <a:r>
              <a:rPr lang="zh-CN" altLang="zh-CN" sz="2400" dirty="0">
                <a:solidFill>
                  <a:srgbClr val="CC00CC"/>
                </a:solidFill>
              </a:rPr>
              <a:t>&amp;</a:t>
            </a:r>
            <a:r>
              <a:rPr lang="zh-CN" altLang="zh-CN" sz="2400" b="1" dirty="0">
                <a:solidFill>
                  <a:srgbClr val="CC00CC"/>
                </a:solidFill>
              </a:rPr>
              <a:t>a</a:t>
            </a:r>
            <a:r>
              <a:rPr lang="zh-CN" altLang="zh-CN" sz="24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b="1" dirty="0">
                <a:solidFill>
                  <a:srgbClr val="CC00CC"/>
                </a:solidFill>
              </a:rPr>
              <a:t>i</a:t>
            </a:r>
            <a:r>
              <a:rPr lang="zh-CN" altLang="zh-CN" sz="24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400" b="1" dirty="0"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zh-CN" sz="2400" b="1" dirty="0">
                <a:ea typeface="黑体" panose="02010609060101010101" pitchFamily="49" charset="-122"/>
              </a:rPr>
              <a:t>      for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zh-CN" altLang="zh-CN" sz="2400" b="1" dirty="0">
                <a:ea typeface="黑体" panose="02010609060101010101" pitchFamily="49" charset="-122"/>
              </a:rPr>
              <a:t>i=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lang="zh-CN" altLang="zh-CN" sz="2400" b="1" dirty="0">
                <a:ea typeface="黑体" panose="02010609060101010101" pitchFamily="49" charset="-122"/>
              </a:rPr>
              <a:t> i</a:t>
            </a:r>
            <a:r>
              <a:rPr lang="zh-CN" altLang="zh-CN" sz="2400" dirty="0">
                <a:ea typeface="黑体" panose="02010609060101010101" pitchFamily="49" charset="-122"/>
              </a:rPr>
              <a:t>&lt;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 </a:t>
            </a:r>
            <a:r>
              <a:rPr lang="zh-CN" altLang="zh-CN" sz="2400" b="1" dirty="0">
                <a:ea typeface="黑体" panose="02010609060101010101" pitchFamily="49" charset="-122"/>
              </a:rPr>
              <a:t>i++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b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zh-CN" sz="2400" b="1" dirty="0">
                <a:ea typeface="黑体" panose="02010609060101010101" pitchFamily="49" charset="-122"/>
              </a:rPr>
              <a:t>      printf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400" b="1" dirty="0"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zh-CN" sz="2400" b="1" dirty="0">
                <a:ea typeface="黑体" panose="02010609060101010101" pitchFamily="49" charset="-122"/>
              </a:rPr>
              <a:t>%d </a:t>
            </a:r>
            <a:r>
              <a:rPr lang="zh-CN" altLang="zh-CN" sz="2400" b="1" dirty="0"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zh-CN" sz="2400" b="1" dirty="0">
                <a:ea typeface="黑体" panose="02010609060101010101" pitchFamily="49" charset="-122"/>
              </a:rPr>
              <a:t> </a:t>
            </a:r>
            <a:r>
              <a:rPr lang="zh-CN" altLang="zh-CN" sz="2400" b="1" dirty="0">
                <a:solidFill>
                  <a:srgbClr val="CC00CC"/>
                </a:solidFill>
                <a:ea typeface="黑体" panose="02010609060101010101" pitchFamily="49" charset="-122"/>
              </a:rPr>
              <a:t>a</a:t>
            </a:r>
            <a:r>
              <a:rPr lang="zh-CN" altLang="zh-CN" sz="24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b="1" dirty="0">
                <a:solidFill>
                  <a:srgbClr val="CC00CC"/>
                </a:solidFill>
                <a:ea typeface="黑体" panose="02010609060101010101" pitchFamily="49" charset="-122"/>
              </a:rPr>
              <a:t>i</a:t>
            </a:r>
            <a:r>
              <a:rPr lang="zh-CN" altLang="zh-CN" sz="24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b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zh-CN" sz="2400" b="1" dirty="0">
                <a:ea typeface="黑体" panose="02010609060101010101" pitchFamily="49" charset="-122"/>
              </a:rPr>
              <a:t>   printf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400" b="1" dirty="0"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zh-CN" sz="2400" dirty="0">
                <a:ea typeface="黑体" panose="02010609060101010101" pitchFamily="49" charset="-122"/>
              </a:rPr>
              <a:t>\</a:t>
            </a:r>
            <a:r>
              <a:rPr lang="zh-CN" altLang="zh-CN" sz="2400" b="1" dirty="0">
                <a:ea typeface="黑体" panose="02010609060101010101" pitchFamily="49" charset="-122"/>
              </a:rPr>
              <a:t>n</a:t>
            </a:r>
            <a:r>
              <a:rPr lang="zh-CN" altLang="zh-CN" sz="2400" b="1" dirty="0"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b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zh-CN" sz="2400" b="1" dirty="0">
                <a:ea typeface="黑体" panose="02010609060101010101" pitchFamily="49" charset="-122"/>
              </a:rPr>
              <a:t> }</a:t>
            </a:r>
          </a:p>
        </p:txBody>
      </p:sp>
      <p:sp>
        <p:nvSpPr>
          <p:cNvPr id="566275" name="Text Box 3"/>
          <p:cNvSpPr txBox="1">
            <a:spLocks noChangeArrowheads="1"/>
          </p:cNvSpPr>
          <p:nvPr/>
        </p:nvSpPr>
        <p:spPr bwMode="auto">
          <a:xfrm>
            <a:off x="4887913" y="2701925"/>
            <a:ext cx="1524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1C1C1C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sz="2400" b="1">
                <a:solidFill>
                  <a:srgbClr val="0000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B6"/>
                </a:solidFill>
              </a:rPr>
              <a:t>p=a</a:t>
            </a:r>
            <a:r>
              <a:rPr lang="zh-CN" altLang="zh-CN" sz="2400" b="1">
                <a:solidFill>
                  <a:srgbClr val="FF0000"/>
                </a:solidFill>
              </a:rPr>
              <a:t> </a:t>
            </a:r>
            <a:r>
              <a:rPr lang="zh-CN" altLang="zh-CN" sz="2400" b="1">
                <a:solidFill>
                  <a:srgbClr val="1C1C1C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566276" name="Text Box 4"/>
          <p:cNvSpPr txBox="1">
            <a:spLocks noChangeArrowheads="1"/>
          </p:cNvSpPr>
          <p:nvPr/>
        </p:nvSpPr>
        <p:spPr bwMode="auto">
          <a:xfrm>
            <a:off x="5663953" y="3573016"/>
            <a:ext cx="17748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dirty="0">
                <a:solidFill>
                  <a:srgbClr val="0000B0"/>
                </a:solidFill>
              </a:rPr>
              <a:t>&amp;</a:t>
            </a:r>
            <a:r>
              <a:rPr lang="zh-CN" altLang="zh-CN" sz="2400" b="1" dirty="0">
                <a:solidFill>
                  <a:srgbClr val="0000B6"/>
                </a:solidFill>
              </a:rPr>
              <a:t>p</a:t>
            </a:r>
            <a:r>
              <a:rPr lang="zh-CN" altLang="zh-CN" sz="2400" b="1" dirty="0">
                <a:solidFill>
                  <a:srgbClr val="0000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b="1" dirty="0">
                <a:solidFill>
                  <a:srgbClr val="0000B6"/>
                </a:solidFill>
              </a:rPr>
              <a:t>i</a:t>
            </a:r>
            <a:r>
              <a:rPr lang="zh-CN" altLang="zh-CN" sz="2400" b="1" dirty="0">
                <a:solidFill>
                  <a:srgbClr val="0000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zh-CN" sz="24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) ;</a:t>
            </a:r>
          </a:p>
        </p:txBody>
      </p:sp>
      <p:sp>
        <p:nvSpPr>
          <p:cNvPr id="566277" name="Rectangle 5"/>
          <p:cNvSpPr>
            <a:spLocks noChangeArrowheads="1"/>
          </p:cNvSpPr>
          <p:nvPr/>
        </p:nvSpPr>
        <p:spPr bwMode="auto">
          <a:xfrm>
            <a:off x="2447925" y="98426"/>
            <a:ext cx="7981950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例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设数组</a:t>
            </a:r>
            <a:r>
              <a:rPr lang="zh-CN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有</a:t>
            </a:r>
            <a:r>
              <a:rPr lang="zh-CN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个元素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试存取数组中的所有数组元素。</a:t>
            </a:r>
          </a:p>
        </p:txBody>
      </p:sp>
      <p:sp>
        <p:nvSpPr>
          <p:cNvPr id="566278" name="Text Box 6"/>
          <p:cNvSpPr txBox="1">
            <a:spLocks noChangeArrowheads="1"/>
          </p:cNvSpPr>
          <p:nvPr/>
        </p:nvSpPr>
        <p:spPr bwMode="auto">
          <a:xfrm>
            <a:off x="5735960" y="4581128"/>
            <a:ext cx="1371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B6"/>
                </a:solidFill>
              </a:rPr>
              <a:t>p</a:t>
            </a:r>
            <a:r>
              <a:rPr lang="zh-CN" altLang="zh-CN" sz="2400" b="1" dirty="0">
                <a:solidFill>
                  <a:srgbClr val="0000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b="1" dirty="0">
                <a:solidFill>
                  <a:srgbClr val="0000B6"/>
                </a:solidFill>
              </a:rPr>
              <a:t>i</a:t>
            </a:r>
            <a:r>
              <a:rPr lang="zh-CN" altLang="zh-CN" sz="2400" b="1" dirty="0">
                <a:solidFill>
                  <a:srgbClr val="0000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zh-CN" sz="24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) 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animBg="1" autoUpdateAnimBg="0"/>
      <p:bldP spid="566276" grpId="0" animBg="1" autoUpdateAnimBg="0"/>
      <p:bldP spid="566278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74900" y="274638"/>
            <a:ext cx="8293100" cy="715962"/>
          </a:xfrm>
        </p:spPr>
        <p:txBody>
          <a:bodyPr/>
          <a:lstStyle/>
          <a:p>
            <a:r>
              <a:rPr lang="zh-CN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②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用指针</a:t>
            </a:r>
            <a:r>
              <a:rPr lang="zh-CN" altLang="en-US" sz="2800" b="1" dirty="0">
                <a:solidFill>
                  <a:srgbClr val="CC00CC"/>
                </a:solidFill>
                <a:ea typeface="黑体" panose="02010609060101010101" pitchFamily="49" charset="-122"/>
              </a:rPr>
              <a:t>法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输入输出数组各元素 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数组名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偏移量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7214" y="1509713"/>
            <a:ext cx="8620125" cy="5059362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zh-CN" altLang="zh-CN" sz="2800" b="1" dirty="0">
                <a:ea typeface="黑体" panose="02010609060101010101" pitchFamily="49" charset="-122"/>
              </a:rPr>
              <a:t>  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void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main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 )</a:t>
            </a:r>
            <a:b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zh-CN" sz="2800" b="1" dirty="0">
                <a:ea typeface="黑体" panose="02010609060101010101" pitchFamily="49" charset="-122"/>
              </a:rPr>
              <a:t>{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zh-CN" altLang="zh-CN" sz="2800" b="1" dirty="0">
                <a:ea typeface="黑体" panose="02010609060101010101" pitchFamily="49" charset="-122"/>
              </a:rPr>
              <a:t>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zh-CN" sz="2800" b="1" dirty="0">
                <a:ea typeface="黑体" panose="02010609060101010101" pitchFamily="49" charset="-122"/>
              </a:rPr>
              <a:t>i 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br>
              <a:rPr lang="zh-CN" altLang="zh-CN" sz="2800" b="1" dirty="0">
                <a:ea typeface="黑体" panose="02010609060101010101" pitchFamily="49" charset="-122"/>
              </a:rPr>
            </a:br>
            <a:r>
              <a:rPr lang="zh-CN" altLang="zh-CN" sz="2800" b="1" dirty="0">
                <a:ea typeface="黑体" panose="02010609060101010101" pitchFamily="49" charset="-122"/>
              </a:rPr>
              <a:t>  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for</a:t>
            </a:r>
            <a:r>
              <a:rPr lang="zh-CN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zh-CN" sz="2800" b="1" dirty="0"/>
              <a:t> i=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800" b="1" dirty="0">
                <a:latin typeface="Times New Roman" panose="02020603050405020304" pitchFamily="18" charset="0"/>
              </a:rPr>
              <a:t>; </a:t>
            </a:r>
            <a:r>
              <a:rPr lang="zh-CN" altLang="zh-CN" sz="2800" b="1" dirty="0"/>
              <a:t>i++</a:t>
            </a:r>
            <a:r>
              <a:rPr lang="zh-CN" altLang="zh-CN" sz="2800" b="1" dirty="0">
                <a:latin typeface="Times New Roman" panose="02020603050405020304" pitchFamily="18" charset="0"/>
              </a:rPr>
              <a:t>)</a:t>
            </a:r>
            <a:br>
              <a:rPr lang="zh-CN" altLang="zh-CN" sz="2800" b="1" dirty="0">
                <a:latin typeface="Times New Roman" panose="02020603050405020304" pitchFamily="18" charset="0"/>
              </a:rPr>
            </a:br>
            <a:r>
              <a:rPr lang="zh-CN" altLang="zh-CN" sz="2800" b="1" dirty="0"/>
              <a:t>       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scanf</a:t>
            </a:r>
            <a:r>
              <a:rPr lang="zh-CN" altLang="zh-CN" sz="2800" b="1" dirty="0">
                <a:latin typeface="Times New Roman" panose="02020603050405020304" pitchFamily="18" charset="0"/>
              </a:rPr>
              <a:t>(“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%d</a:t>
            </a:r>
            <a:r>
              <a:rPr lang="zh-CN" altLang="zh-CN" sz="2800" b="1" dirty="0">
                <a:latin typeface="Times New Roman" panose="02020603050405020304" pitchFamily="18" charset="0"/>
              </a:rPr>
              <a:t>”,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solidFill>
                  <a:srgbClr val="CC00CC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solidFill>
                  <a:srgbClr val="CC00CC"/>
                </a:solidFill>
              </a:rPr>
              <a:t>+i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);</a:t>
            </a:r>
            <a:endParaRPr lang="zh-CN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zh-CN" altLang="zh-CN" sz="2800" b="1" dirty="0">
                <a:ea typeface="黑体" panose="02010609060101010101" pitchFamily="49" charset="-122"/>
              </a:rPr>
              <a:t>     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for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lang="zh-CN" altLang="zh-CN" sz="2800" b="1" dirty="0">
                <a:ea typeface="黑体" panose="02010609060101010101" pitchFamily="49" charset="-122"/>
              </a:rPr>
              <a:t>i=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lang="zh-CN" altLang="zh-CN" sz="2800" b="1" dirty="0">
                <a:ea typeface="黑体" panose="02010609060101010101" pitchFamily="49" charset="-122"/>
              </a:rPr>
              <a:t> i</a:t>
            </a:r>
            <a:r>
              <a:rPr lang="zh-CN" altLang="zh-CN" sz="2800" dirty="0">
                <a:ea typeface="黑体" panose="02010609060101010101" pitchFamily="49" charset="-122"/>
              </a:rPr>
              <a:t>&lt;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lang="zh-CN" altLang="zh-CN" sz="2800" b="1" dirty="0">
                <a:ea typeface="黑体" panose="02010609060101010101" pitchFamily="49" charset="-122"/>
              </a:rPr>
              <a:t> i++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br>
              <a:rPr lang="zh-CN" altLang="zh-CN" sz="2800" b="1" dirty="0">
                <a:ea typeface="黑体" panose="02010609060101010101" pitchFamily="49" charset="-122"/>
              </a:rPr>
            </a:br>
            <a:r>
              <a:rPr lang="zh-CN" altLang="zh-CN" sz="2800" b="1" dirty="0">
                <a:ea typeface="黑体" panose="02010609060101010101" pitchFamily="49" charset="-122"/>
              </a:rPr>
              <a:t>       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printf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800" b="1" dirty="0"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%d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800" b="1" dirty="0">
                <a:solidFill>
                  <a:srgbClr val="CC00CC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 dirty="0">
                <a:solidFill>
                  <a:srgbClr val="CC00CC"/>
                </a:solidFill>
                <a:ea typeface="黑体" panose="02010609060101010101" pitchFamily="49" charset="-122"/>
              </a:rPr>
              <a:t>+i</a:t>
            </a:r>
            <a:r>
              <a:rPr lang="zh-CN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b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zh-CN" sz="2800" b="1" dirty="0">
                <a:ea typeface="黑体" panose="02010609060101010101" pitchFamily="49" charset="-122"/>
              </a:rPr>
              <a:t>  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printf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800" b="1" dirty="0"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zh-CN" sz="2800" dirty="0">
                <a:ea typeface="黑体" panose="02010609060101010101" pitchFamily="49" charset="-122"/>
              </a:rPr>
              <a:t>\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zh-CN" sz="2800" b="1" dirty="0"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b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zh-CN" sz="2800" b="1" dirty="0"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567300" name="Text Box 4"/>
          <p:cNvSpPr txBox="1">
            <a:spLocks noChangeArrowheads="1"/>
          </p:cNvSpPr>
          <p:nvPr/>
        </p:nvSpPr>
        <p:spPr bwMode="auto">
          <a:xfrm>
            <a:off x="4802189" y="2143126"/>
            <a:ext cx="2033587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1C1C1C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b="1">
                <a:solidFill>
                  <a:srgbClr val="1C1C1C"/>
                </a:solidFill>
              </a:rPr>
              <a:t> </a:t>
            </a:r>
            <a:r>
              <a:rPr lang="zh-CN" altLang="zh-CN" sz="2800" b="1">
                <a:solidFill>
                  <a:srgbClr val="002B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>
                <a:solidFill>
                  <a:srgbClr val="002BB6"/>
                </a:solidFill>
              </a:rPr>
              <a:t>p=</a:t>
            </a:r>
            <a:r>
              <a:rPr lang="zh-CN" altLang="zh-CN" sz="2800" b="1">
                <a:solidFill>
                  <a:srgbClr val="002BB6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>
                <a:solidFill>
                  <a:srgbClr val="FF0000"/>
                </a:solidFill>
              </a:rPr>
              <a:t> </a:t>
            </a:r>
            <a:r>
              <a:rPr lang="zh-CN" altLang="zh-CN" sz="2800" b="1">
                <a:solidFill>
                  <a:srgbClr val="1C1C1C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567301" name="Text Box 5"/>
          <p:cNvSpPr txBox="1">
            <a:spLocks noChangeArrowheads="1"/>
          </p:cNvSpPr>
          <p:nvPr/>
        </p:nvSpPr>
        <p:spPr bwMode="auto">
          <a:xfrm>
            <a:off x="5951985" y="4494064"/>
            <a:ext cx="1774825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2BB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 dirty="0">
                <a:solidFill>
                  <a:srgbClr val="002BB6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800" b="1" dirty="0">
                <a:solidFill>
                  <a:srgbClr val="002BB6"/>
                </a:solidFill>
              </a:rPr>
              <a:t>p+i</a:t>
            </a:r>
            <a:r>
              <a:rPr lang="zh-CN" altLang="zh-CN" sz="2800" b="1" dirty="0">
                <a:solidFill>
                  <a:srgbClr val="002BB6"/>
                </a:solidFill>
                <a:latin typeface="Times New Roman" panose="02020603050405020304" pitchFamily="18" charset="0"/>
              </a:rPr>
              <a:t>)</a:t>
            </a:r>
            <a:r>
              <a:rPr lang="zh-CN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) ;</a:t>
            </a:r>
          </a:p>
        </p:txBody>
      </p:sp>
      <p:sp>
        <p:nvSpPr>
          <p:cNvPr id="567302" name="Text Box 6"/>
          <p:cNvSpPr txBox="1">
            <a:spLocks noChangeArrowheads="1"/>
          </p:cNvSpPr>
          <p:nvPr/>
        </p:nvSpPr>
        <p:spPr bwMode="auto">
          <a:xfrm>
            <a:off x="5905352" y="3197920"/>
            <a:ext cx="1774825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2BB6"/>
                </a:solidFill>
              </a:rPr>
              <a:t>p+i</a:t>
            </a:r>
            <a:r>
              <a:rPr lang="zh-CN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) ;</a:t>
            </a:r>
          </a:p>
        </p:txBody>
      </p:sp>
      <p:sp>
        <p:nvSpPr>
          <p:cNvPr id="567303" name="Rectangle 7"/>
          <p:cNvSpPr>
            <a:spLocks noChangeArrowheads="1"/>
          </p:cNvSpPr>
          <p:nvPr/>
        </p:nvSpPr>
        <p:spPr bwMode="auto">
          <a:xfrm>
            <a:off x="2400300" y="1192213"/>
            <a:ext cx="3494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#include 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&lt;</a:t>
            </a:r>
            <a:r>
              <a:rPr lang="zh-CN" altLang="zh-CN" sz="2800" b="1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stdio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Dotum" pitchFamily="34" charset="-127"/>
              </a:rPr>
              <a:t>.</a:t>
            </a:r>
            <a:r>
              <a:rPr lang="zh-CN" altLang="zh-CN" sz="2800" b="1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h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Dotum" pitchFamily="34" charset="-127"/>
              </a:rPr>
              <a:t>&gt;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00" grpId="0" animBg="1" autoUpdateAnimBg="0"/>
      <p:bldP spid="567301" grpId="0" animBg="1" autoUpdateAnimBg="0"/>
      <p:bldP spid="567302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62125" y="1014413"/>
            <a:ext cx="8655050" cy="5078412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800" b="1">
                <a:latin typeface="Arial" panose="020B0604020202020204" pitchFamily="34" charset="0"/>
              </a:rPr>
              <a:t>         #include</a:t>
            </a:r>
            <a:r>
              <a:rPr lang="zh-CN" altLang="zh-CN" sz="2800" b="1"/>
              <a:t> </a:t>
            </a:r>
            <a:r>
              <a:rPr lang="zh-CN" altLang="zh-CN" sz="2800"/>
              <a:t>&lt;</a:t>
            </a:r>
            <a:r>
              <a:rPr lang="zh-CN" altLang="zh-CN" sz="2800" b="1">
                <a:latin typeface="Arial" panose="020B0604020202020204" pitchFamily="34" charset="0"/>
              </a:rPr>
              <a:t>stdio</a:t>
            </a:r>
            <a:r>
              <a:rPr lang="zh-CN" altLang="zh-CN" sz="2800" b="1">
                <a:latin typeface="Times New Roman" panose="02020603050405020304" pitchFamily="18" charset="0"/>
              </a:rPr>
              <a:t>.</a:t>
            </a:r>
            <a:r>
              <a:rPr lang="zh-CN" altLang="zh-CN" sz="2800" b="1">
                <a:latin typeface="Arial" panose="020B0604020202020204" pitchFamily="34" charset="0"/>
              </a:rPr>
              <a:t>h</a:t>
            </a:r>
            <a:r>
              <a:rPr lang="zh-CN" altLang="zh-CN" sz="2800"/>
              <a:t>&gt;</a:t>
            </a:r>
            <a:endParaRPr lang="zh-CN" altLang="zh-CN" sz="2800" b="1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800" b="1">
                <a:latin typeface="Arial" panose="020B0604020202020204" pitchFamily="34" charset="0"/>
              </a:rPr>
              <a:t>         void</a:t>
            </a:r>
            <a:r>
              <a:rPr lang="zh-CN" altLang="zh-CN" b="1"/>
              <a:t> </a:t>
            </a:r>
            <a:r>
              <a:rPr lang="zh-CN" altLang="zh-CN" sz="2800" b="1">
                <a:latin typeface="Arial" panose="020B0604020202020204" pitchFamily="34" charset="0"/>
              </a:rPr>
              <a:t>main</a:t>
            </a:r>
            <a:r>
              <a:rPr lang="zh-CN" altLang="zh-CN" sz="2800" b="1">
                <a:latin typeface="Times New Roman" panose="02020603050405020304" pitchFamily="18" charset="0"/>
              </a:rPr>
              <a:t>( )</a:t>
            </a:r>
          </a:p>
          <a:p>
            <a:pPr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zh-CN" altLang="zh-CN" sz="2800" b="1"/>
              <a:t>      {  </a:t>
            </a:r>
            <a:r>
              <a:rPr lang="zh-CN" altLang="zh-CN" sz="2800" b="1">
                <a:latin typeface="Arial" panose="020B0604020202020204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anose="020B0604020202020204" pitchFamily="34" charset="0"/>
              </a:rPr>
              <a:t>a</a:t>
            </a:r>
            <a:r>
              <a:rPr lang="zh-CN" altLang="zh-CN" sz="2800" b="1">
                <a:latin typeface="黑体" panose="02010609060101010101" pitchFamily="49" charset="-122"/>
              </a:rPr>
              <a:t>[</a:t>
            </a:r>
            <a:r>
              <a:rPr lang="zh-CN" altLang="zh-CN" sz="2800" b="1">
                <a:latin typeface="Arial" panose="020B0604020202020204" pitchFamily="34" charset="0"/>
              </a:rPr>
              <a:t>10</a:t>
            </a:r>
            <a:r>
              <a:rPr lang="zh-CN" altLang="zh-CN" sz="2800" b="1">
                <a:latin typeface="黑体" panose="02010609060101010101" pitchFamily="49" charset="-122"/>
              </a:rPr>
              <a:t>]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anose="02020603050405020304" pitchFamily="18" charset="0"/>
              </a:rPr>
              <a:t>, </a:t>
            </a:r>
            <a:r>
              <a:rPr lang="zh-CN" altLang="zh-CN" sz="2800" b="1"/>
              <a:t>i</a:t>
            </a:r>
            <a:r>
              <a:rPr lang="zh-CN" altLang="zh-CN" sz="2800" b="1">
                <a:latin typeface="Times New Roman" panose="02020603050405020304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黑体" panose="02010609060101010101" pitchFamily="49" charset="-122"/>
              </a:rPr>
              <a:t>*</a:t>
            </a:r>
            <a:r>
              <a:rPr lang="zh-CN" altLang="zh-CN" sz="2800" b="1"/>
              <a:t>p</a:t>
            </a:r>
            <a:r>
              <a:rPr lang="zh-CN" altLang="zh-CN" sz="2800" b="1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zh-CN" altLang="zh-CN" sz="2800" b="1"/>
              <a:t>           </a:t>
            </a:r>
            <a:r>
              <a:rPr lang="zh-CN" altLang="zh-CN" sz="2800" b="1">
                <a:latin typeface="Arial" panose="020B0604020202020204" pitchFamily="34" charset="0"/>
              </a:rPr>
              <a:t>for</a:t>
            </a:r>
            <a:r>
              <a:rPr lang="zh-CN" altLang="zh-CN" sz="2800" b="1">
                <a:latin typeface="Times New Roman" panose="02020603050405020304" pitchFamily="18" charset="0"/>
              </a:rPr>
              <a:t>(</a:t>
            </a:r>
            <a:r>
              <a:rPr lang="zh-CN" altLang="zh-CN" sz="2800" b="1"/>
              <a:t> </a:t>
            </a:r>
            <a:r>
              <a:rPr lang="zh-CN" altLang="zh-CN" sz="2800" b="1">
                <a:solidFill>
                  <a:srgbClr val="CC00CC"/>
                </a:solidFill>
              </a:rPr>
              <a:t>p=</a:t>
            </a:r>
            <a:r>
              <a:rPr lang="zh-CN" altLang="zh-CN" sz="2800" b="1">
                <a:solidFill>
                  <a:srgbClr val="CC00CC"/>
                </a:solidFill>
                <a:latin typeface="Arial" panose="020B0604020202020204" pitchFamily="34" charset="0"/>
              </a:rPr>
              <a:t>a</a:t>
            </a: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lang="zh-CN" altLang="zh-CN" sz="2800" b="1">
                <a:cs typeface="Courier New" panose="02070309020205020404" pitchFamily="49" charset="0"/>
              </a:rPr>
              <a:t>  p</a:t>
            </a:r>
            <a:r>
              <a:rPr lang="zh-CN" altLang="zh-CN" sz="2800">
                <a:cs typeface="Courier New" panose="02070309020205020404" pitchFamily="49" charset="0"/>
              </a:rPr>
              <a:t>&lt;</a:t>
            </a:r>
            <a:r>
              <a:rPr lang="zh-CN" altLang="zh-CN" sz="2800" b="1">
                <a:latin typeface="Arial" panose="020B0604020202020204" pitchFamily="34" charset="0"/>
              </a:rPr>
              <a:t>a</a:t>
            </a:r>
            <a:r>
              <a:rPr lang="zh-CN" altLang="zh-CN" sz="2800" b="1">
                <a:cs typeface="Courier New" panose="02070309020205020404" pitchFamily="49" charset="0"/>
              </a:rPr>
              <a:t>+</a:t>
            </a:r>
            <a:r>
              <a:rPr lang="zh-CN" altLang="zh-CN" sz="2800" b="1">
                <a:latin typeface="Arial" panose="020B0604020202020204" pitchFamily="34" charset="0"/>
              </a:rPr>
              <a:t>10</a:t>
            </a: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lang="zh-CN" altLang="zh-CN" sz="2800" b="1">
                <a:cs typeface="Courier New" panose="02070309020205020404" pitchFamily="49" charset="0"/>
              </a:rPr>
              <a:t>  </a:t>
            </a:r>
            <a:r>
              <a:rPr lang="zh-CN" altLang="zh-CN" sz="2800" b="1">
                <a:solidFill>
                  <a:srgbClr val="CC00CC"/>
                </a:solidFill>
                <a:cs typeface="Courier New" panose="02070309020205020404" pitchFamily="49" charset="0"/>
              </a:rPr>
              <a:t>p</a:t>
            </a:r>
            <a:r>
              <a:rPr lang="zh-CN" altLang="zh-CN" sz="2800" b="1">
                <a:solidFill>
                  <a:srgbClr val="CC00CC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++</a:t>
            </a: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zh-CN" altLang="zh-CN" sz="2800" b="1">
                <a:cs typeface="Courier New" panose="02070309020205020404" pitchFamily="49" charset="0"/>
              </a:rPr>
              <a:t>           </a:t>
            </a:r>
            <a:r>
              <a:rPr lang="zh-CN" altLang="zh-CN" sz="2800" b="1">
                <a:latin typeface="Arial" panose="020B0604020202020204" pitchFamily="34" charset="0"/>
              </a:rPr>
              <a:t>scanf</a:t>
            </a: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(“</a:t>
            </a:r>
            <a:r>
              <a:rPr lang="zh-CN" altLang="zh-CN" sz="2800" b="1">
                <a:cs typeface="Courier New" panose="02070309020205020404" pitchFamily="49" charset="0"/>
              </a:rPr>
              <a:t>%d</a:t>
            </a: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”,</a:t>
            </a:r>
            <a:r>
              <a:rPr lang="zh-CN" altLang="zh-CN" sz="2800" b="1">
                <a:cs typeface="Courier New" panose="02070309020205020404" pitchFamily="49" charset="0"/>
              </a:rPr>
              <a:t> </a:t>
            </a:r>
            <a:r>
              <a:rPr lang="zh-CN" altLang="zh-CN" sz="2800" b="1">
                <a:solidFill>
                  <a:srgbClr val="CC00CC"/>
                </a:solidFill>
                <a:cs typeface="Courier New" panose="02070309020205020404" pitchFamily="49" charset="0"/>
              </a:rPr>
              <a:t>p </a:t>
            </a:r>
            <a:r>
              <a:rPr lang="zh-CN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zh-CN" altLang="zh-CN" sz="2800" b="1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zh-CN" sz="2800" b="1"/>
              <a:t>           </a:t>
            </a:r>
            <a:r>
              <a:rPr lang="zh-CN" altLang="zh-CN" sz="2800" b="1">
                <a:latin typeface="Arial" panose="020B0604020202020204" pitchFamily="34" charset="0"/>
              </a:rPr>
              <a:t>for</a:t>
            </a:r>
            <a:r>
              <a:rPr lang="zh-CN" altLang="zh-CN" sz="2800" b="1">
                <a:latin typeface="Times New Roman" panose="02020603050405020304" pitchFamily="18" charset="0"/>
              </a:rPr>
              <a:t>( </a:t>
            </a:r>
            <a:r>
              <a:rPr lang="zh-CN" altLang="zh-CN" sz="2800" b="1"/>
              <a:t>p=</a:t>
            </a:r>
            <a:r>
              <a:rPr lang="zh-CN" altLang="zh-CN" sz="2800" b="1">
                <a:latin typeface="Arial" panose="020B0604020202020204" pitchFamily="34" charset="0"/>
              </a:rPr>
              <a:t>a</a:t>
            </a:r>
            <a:r>
              <a:rPr lang="zh-CN" altLang="zh-CN" sz="2800" b="1">
                <a:latin typeface="Times New Roman" panose="02020603050405020304" pitchFamily="18" charset="0"/>
              </a:rPr>
              <a:t>;</a:t>
            </a:r>
            <a:r>
              <a:rPr lang="zh-CN" altLang="zh-CN" sz="2800" b="1"/>
              <a:t>  p</a:t>
            </a:r>
            <a:r>
              <a:rPr lang="zh-CN" altLang="zh-CN" sz="2800"/>
              <a:t>&lt;</a:t>
            </a:r>
            <a:r>
              <a:rPr lang="zh-CN" altLang="zh-CN" sz="2800" b="1">
                <a:latin typeface="Times New Roman" panose="02020603050405020304" pitchFamily="18" charset="0"/>
              </a:rPr>
              <a:t>(</a:t>
            </a:r>
            <a:r>
              <a:rPr lang="zh-CN" altLang="zh-CN" sz="2800" b="1">
                <a:latin typeface="Arial" panose="020B0604020202020204" pitchFamily="34" charset="0"/>
              </a:rPr>
              <a:t>a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anose="020B0604020202020204" pitchFamily="34" charset="0"/>
              </a:rPr>
              <a:t>10</a:t>
            </a:r>
            <a:r>
              <a:rPr lang="zh-CN" altLang="zh-CN" sz="2800" b="1">
                <a:latin typeface="Times New Roman" panose="02020603050405020304" pitchFamily="18" charset="0"/>
              </a:rPr>
              <a:t>); </a:t>
            </a:r>
            <a:r>
              <a:rPr lang="zh-CN" altLang="zh-CN" sz="2800" b="1"/>
              <a:t> p</a:t>
            </a:r>
            <a:r>
              <a:rPr lang="zh-CN" altLang="zh-CN" sz="2800" b="1">
                <a:latin typeface="Times New Roman" panose="02020603050405020304" pitchFamily="18" charset="0"/>
              </a:rPr>
              <a:t>++</a:t>
            </a:r>
            <a:r>
              <a:rPr lang="zh-CN" altLang="zh-CN" sz="2800" b="1">
                <a:solidFill>
                  <a:schemeClr val="hlink"/>
                </a:solidFill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</a:rPr>
              <a:t>)</a:t>
            </a:r>
            <a:br>
              <a:rPr lang="zh-CN" altLang="zh-CN" sz="2800" b="1">
                <a:latin typeface="Times New Roman" panose="02020603050405020304" pitchFamily="18" charset="0"/>
              </a:rPr>
            </a:br>
            <a:r>
              <a:rPr lang="zh-CN" altLang="zh-CN" sz="2800" b="1"/>
              <a:t>               </a:t>
            </a:r>
            <a:r>
              <a:rPr lang="zh-CN" altLang="zh-CN" sz="2800" b="1">
                <a:latin typeface="Arial" panose="020B0604020202020204" pitchFamily="34" charset="0"/>
              </a:rPr>
              <a:t>printf</a:t>
            </a:r>
            <a:r>
              <a:rPr lang="zh-CN" altLang="zh-CN" sz="2800" b="1">
                <a:latin typeface="Times New Roman" panose="02020603050405020304" pitchFamily="18" charset="0"/>
              </a:rPr>
              <a:t>(</a:t>
            </a:r>
            <a:r>
              <a:rPr lang="zh-CN" altLang="zh-CN" sz="2800" b="1">
                <a:latin typeface="Times New Roman" panose="02020603050405020304"/>
              </a:rPr>
              <a:t>“</a:t>
            </a:r>
            <a:r>
              <a:rPr lang="zh-CN" altLang="zh-CN" sz="2800" b="1"/>
              <a:t>%</a:t>
            </a:r>
            <a:r>
              <a:rPr lang="zh-CN" altLang="zh-CN" sz="2800" b="1">
                <a:latin typeface="Arial" panose="020B0604020202020204" pitchFamily="34" charset="0"/>
              </a:rPr>
              <a:t>d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anose="02020603050405020304"/>
              </a:rPr>
              <a:t>”</a:t>
            </a:r>
            <a:r>
              <a:rPr lang="zh-CN" altLang="zh-CN" sz="2800" b="1">
                <a:latin typeface="Times New Roman" panose="02020603050405020304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solidFill>
                  <a:srgbClr val="CC00CC"/>
                </a:solidFill>
                <a:latin typeface="黑体" panose="02010609060101010101" pitchFamily="49" charset="-122"/>
              </a:rPr>
              <a:t>*</a:t>
            </a:r>
            <a:r>
              <a:rPr lang="zh-CN" altLang="zh-CN" sz="2800" b="1">
                <a:solidFill>
                  <a:srgbClr val="CC00CC"/>
                </a:solidFill>
              </a:rPr>
              <a:t>p </a:t>
            </a:r>
            <a:r>
              <a:rPr lang="zh-CN" altLang="zh-CN" sz="2800" b="1">
                <a:latin typeface="Times New Roman" panose="02020603050405020304" pitchFamily="18" charset="0"/>
              </a:rPr>
              <a:t>) ;</a:t>
            </a:r>
            <a:br>
              <a:rPr lang="zh-CN" altLang="zh-CN" sz="2800" b="1">
                <a:latin typeface="Times New Roman" panose="02020603050405020304" pitchFamily="18" charset="0"/>
              </a:rPr>
            </a:br>
            <a:r>
              <a:rPr lang="zh-CN" altLang="zh-CN" sz="2800" b="1"/>
              <a:t>        </a:t>
            </a:r>
            <a:r>
              <a:rPr lang="zh-CN" altLang="zh-CN" sz="2800" b="1">
                <a:latin typeface="Arial" panose="020B0604020202020204" pitchFamily="34" charset="0"/>
              </a:rPr>
              <a:t>printf</a:t>
            </a:r>
            <a:r>
              <a:rPr lang="zh-CN" altLang="zh-CN" sz="2800" b="1">
                <a:latin typeface="Times New Roman" panose="02020603050405020304" pitchFamily="18" charset="0"/>
              </a:rPr>
              <a:t>(</a:t>
            </a:r>
            <a:r>
              <a:rPr lang="zh-CN" altLang="zh-CN" sz="2800" b="1">
                <a:latin typeface="Times New Roman" panose="02020603050405020304"/>
              </a:rPr>
              <a:t>“</a:t>
            </a:r>
            <a:r>
              <a:rPr lang="zh-CN" altLang="zh-CN" sz="2800"/>
              <a:t>\</a:t>
            </a:r>
            <a:r>
              <a:rPr lang="zh-CN" altLang="zh-CN" sz="2800" b="1">
                <a:latin typeface="Arial" panose="020B0604020202020204" pitchFamily="34" charset="0"/>
              </a:rPr>
              <a:t>n</a:t>
            </a:r>
            <a:r>
              <a:rPr lang="zh-CN" altLang="zh-CN" sz="2800" b="1">
                <a:latin typeface="Times New Roman" panose="02020603050405020304"/>
              </a:rPr>
              <a:t>”</a:t>
            </a:r>
            <a:r>
              <a:rPr lang="zh-CN" altLang="zh-CN" sz="2800" b="1">
                <a:latin typeface="Times New Roman" panose="02020603050405020304" pitchFamily="18" charset="0"/>
              </a:rPr>
              <a:t>);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zh-CN" sz="2800" b="1"/>
              <a:t>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 sz="2800" b="1"/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title"/>
          </p:nvPr>
        </p:nvSpPr>
        <p:spPr>
          <a:xfrm>
            <a:off x="2351089" y="220663"/>
            <a:ext cx="7107237" cy="715962"/>
          </a:xfrm>
          <a:noFill/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ea typeface="黑体" panose="02010609060101010101" pitchFamily="49" charset="-122"/>
              </a:rPr>
              <a:t>③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用</a:t>
            </a:r>
            <a:r>
              <a:rPr lang="zh-CN" altLang="en-US" sz="2800">
                <a:solidFill>
                  <a:srgbClr val="CC00CC"/>
                </a:solidFill>
                <a:ea typeface="黑体" panose="02010609060101010101" pitchFamily="49" charset="-122"/>
              </a:rPr>
              <a:t>指针法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输入输出数组各元素 </a:t>
            </a:r>
            <a:r>
              <a:rPr lang="zh-CN" altLang="zh-CN" sz="2800">
                <a:latin typeface="楷体_GB2312" pitchFamily="49" charset="-122"/>
              </a:rPr>
              <a:t>(</a:t>
            </a:r>
            <a:r>
              <a:rPr lang="zh-CN" altLang="en-US" sz="2800">
                <a:latin typeface="楷体_GB2312" pitchFamily="49" charset="-122"/>
              </a:rPr>
              <a:t>移动指针</a:t>
            </a:r>
            <a:r>
              <a:rPr lang="zh-CN" altLang="zh-CN" sz="2800">
                <a:latin typeface="楷体_GB2312" pitchFamily="49" charset="-122"/>
              </a:rPr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latin typeface="Arial" panose="020B0604020202020204" pitchFamily="34" charset="0"/>
              </a:rPr>
              <a:t>经过语句 </a:t>
            </a:r>
            <a:r>
              <a:rPr lang="zh-CN" altLang="zh-CN" sz="2800" b="1" dirty="0"/>
              <a:t>int</a:t>
            </a:r>
            <a:r>
              <a:rPr lang="zh-CN" altLang="zh-CN" sz="2800" b="1" dirty="0">
                <a:latin typeface="Arial" panose="020B0604020202020204" pitchFamily="34" charset="0"/>
              </a:rPr>
              <a:t>  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zh-CN" sz="2800" b="1" dirty="0">
                <a:latin typeface="Arial" panose="020B0604020202020204" pitchFamily="34" charset="0"/>
              </a:rPr>
              <a:t> a</a:t>
            </a:r>
            <a:r>
              <a:rPr lang="zh-CN" altLang="zh-CN" sz="2800" b="1" dirty="0">
                <a:latin typeface="Courier New" panose="02070309020205020404" pitchFamily="49" charset="0"/>
              </a:rPr>
              <a:t>[</a:t>
            </a:r>
            <a:r>
              <a:rPr lang="zh-CN" altLang="zh-CN" sz="2800" b="1" dirty="0">
                <a:latin typeface="Arial" panose="020B0604020202020204" pitchFamily="34" charset="0"/>
              </a:rPr>
              <a:t>10</a:t>
            </a:r>
            <a:r>
              <a:rPr lang="zh-CN" altLang="zh-CN" sz="2800" b="1" dirty="0">
                <a:latin typeface="Courier New" panose="02070309020205020404" pitchFamily="49" charset="0"/>
              </a:rPr>
              <a:t>]</a:t>
            </a:r>
            <a:r>
              <a:rPr lang="zh-CN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zh-CN" sz="2800" b="1" dirty="0">
                <a:latin typeface="Arial" panose="020B0604020202020204" pitchFamily="34" charset="0"/>
              </a:rPr>
              <a:t> </a:t>
            </a:r>
            <a:r>
              <a:rPr lang="zh-CN" altLang="zh-CN" sz="2800" b="1" dirty="0">
                <a:latin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Arial" panose="020B0604020202020204" pitchFamily="34" charset="0"/>
              </a:rPr>
              <a:t>p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r>
              <a:rPr lang="zh-CN" altLang="zh-CN" sz="2800" b="1" dirty="0"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定义后</a:t>
            </a:r>
            <a:r>
              <a:rPr lang="zh-CN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Arial" panose="020B0604020202020204" pitchFamily="34" charset="0"/>
              </a:rPr>
              <a:t>下列语句中合法的是</a:t>
            </a:r>
            <a:r>
              <a:rPr lang="zh-CN" altLang="zh-CN" sz="2800" b="1" dirty="0">
                <a:latin typeface="Arial" panose="020B0604020202020204" pitchFamily="34" charset="0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567608" y="2924944"/>
            <a:ext cx="23042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</a:t>
            </a:r>
            <a:r>
              <a:rPr lang="zh-CN" altLang="zh-CN" sz="2800" b="1" dirty="0">
                <a:latin typeface="Arial" panose="020B0604020202020204" pitchFamily="34" charset="0"/>
              </a:rPr>
              <a:t>100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285882" y="2989237"/>
            <a:ext cx="23042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15000"/>
              </a:lnSpc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zh-CN" altLang="zh-CN" sz="2800" b="1" dirty="0"/>
              <a:t>p=a</a:t>
            </a:r>
            <a:r>
              <a:rPr lang="zh-CN" altLang="zh-CN" sz="2800" b="1" dirty="0">
                <a:latin typeface="黑体" panose="02010609060101010101" pitchFamily="49" charset="-122"/>
              </a:rPr>
              <a:t>[</a:t>
            </a:r>
            <a:r>
              <a:rPr lang="zh-CN" altLang="zh-CN" sz="2800" b="1" dirty="0"/>
              <a:t>5</a:t>
            </a:r>
            <a:r>
              <a:rPr lang="zh-CN" altLang="zh-CN" sz="2800" b="1" dirty="0">
                <a:latin typeface="黑体" panose="02010609060101010101" pitchFamily="49" charset="-122"/>
              </a:rPr>
              <a:t>]</a:t>
            </a:r>
            <a:r>
              <a:rPr lang="zh-CN" altLang="zh-CN" sz="2800" b="1" dirty="0">
                <a:latin typeface="Times New Roman" panose="02020603050405020304" pitchFamily="18" charset="0"/>
              </a:rPr>
              <a:t> ;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567608" y="3886165"/>
            <a:ext cx="23042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p=a</a:t>
            </a:r>
            <a:r>
              <a:rPr lang="zh-CN" altLang="zh-CN" sz="2800" b="1" dirty="0">
                <a:latin typeface="黑体" panose="02010609060101010101" pitchFamily="49" charset="-122"/>
              </a:rPr>
              <a:t>[</a:t>
            </a:r>
            <a:r>
              <a:rPr lang="zh-CN" altLang="zh-CN" sz="2800" b="1" dirty="0"/>
              <a:t>2</a:t>
            </a:r>
            <a:r>
              <a:rPr lang="zh-CN" altLang="zh-CN" sz="2800" b="1" dirty="0">
                <a:latin typeface="黑体" panose="02010609060101010101" pitchFamily="49" charset="-122"/>
              </a:rPr>
              <a:t>]</a:t>
            </a:r>
            <a:r>
              <a:rPr lang="zh-CN" altLang="zh-CN" sz="2800" b="1" dirty="0"/>
              <a:t>+2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285882" y="3821870"/>
            <a:ext cx="23042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</a:t>
            </a:r>
            <a:r>
              <a:rPr lang="zh-CN" altLang="zh-CN" sz="2800" dirty="0"/>
              <a:t>&amp;</a:t>
            </a:r>
            <a:r>
              <a:rPr lang="zh-CN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zh-CN" sz="2800" b="1" dirty="0"/>
              <a:t>i+2</a:t>
            </a:r>
            <a:r>
              <a:rPr lang="zh-CN" altLang="zh-CN" sz="2800" b="1" dirty="0">
                <a:latin typeface="Times New Roman" panose="02020603050405020304" pitchFamily="18" charset="0"/>
              </a:rPr>
              <a:t>) 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700833" y="298923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419107" y="3053530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700833" y="395045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419107" y="388616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 bwMode="auto">
          <a:xfrm>
            <a:off x="8760296" y="6017260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2567608" y="4810893"/>
            <a:ext cx="23042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p=a+2 </a:t>
            </a:r>
            <a:r>
              <a:rPr lang="zh-CN" altLang="zh-CN" sz="2800" b="1" dirty="0">
                <a:latin typeface="Times New Roman" panose="02020603050405020304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700833" y="487518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E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9202216" cy="40181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>
                <a:ea typeface="黑体" panose="02010609060101010101" pitchFamily="49" charset="-122"/>
              </a:rPr>
              <a:t>以下程序的输出结果是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609600" indent="-609600">
              <a:lnSpc>
                <a:spcPct val="110000"/>
              </a:lnSpc>
            </a:pPr>
            <a:r>
              <a:rPr lang="zh-CN" altLang="zh-CN" sz="2800" b="1" dirty="0">
                <a:latin typeface="Arial" panose="020B0604020202020204" pitchFamily="34" charset="0"/>
              </a:rPr>
              <a:t>#include</a:t>
            </a:r>
            <a:r>
              <a:rPr lang="zh-CN" altLang="zh-CN" sz="2800" b="1" dirty="0"/>
              <a:t> 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anose="020B0604020202020204" pitchFamily="34" charset="0"/>
              </a:rPr>
              <a:t>stdio</a:t>
            </a:r>
            <a:r>
              <a:rPr lang="zh-CN" altLang="zh-CN" sz="2800" b="1" dirty="0">
                <a:latin typeface="Times New Roman" panose="02020603050405020304" pitchFamily="18" charset="0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</a:rPr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>
                <a:ea typeface="黑体" panose="02010609060101010101" pitchFamily="49" charset="-122"/>
              </a:rPr>
              <a:t>    </a:t>
            </a:r>
          </a:p>
          <a:p>
            <a:pPr marL="609600" indent="-609600">
              <a:lnSpc>
                <a:spcPct val="90000"/>
              </a:lnSpc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  void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main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 )</a:t>
            </a:r>
          </a:p>
          <a:p>
            <a:pPr marL="609600" indent="-609600">
              <a:lnSpc>
                <a:spcPct val="90000"/>
              </a:lnSpc>
            </a:pPr>
            <a:r>
              <a:rPr lang="zh-CN" altLang="zh-CN" sz="2800" b="1" dirty="0">
                <a:ea typeface="黑体" panose="02010609060101010101" pitchFamily="49" charset="-122"/>
              </a:rPr>
              <a:t> {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float</a:t>
            </a:r>
            <a:r>
              <a:rPr lang="zh-CN" altLang="zh-CN" sz="2800" b="1" dirty="0">
                <a:ea typeface="黑体" panose="02010609060101010101" pitchFamily="49" charset="-122"/>
              </a:rPr>
              <a:t>  s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 ]</a:t>
            </a:r>
            <a:r>
              <a:rPr lang="zh-CN" altLang="zh-CN" sz="2800" b="1" dirty="0">
                <a:ea typeface="黑体" panose="02010609060101010101" pitchFamily="49" charset="-122"/>
              </a:rPr>
              <a:t>=</a:t>
            </a:r>
            <a:r>
              <a:rPr lang="zh-CN" altLang="zh-CN" sz="2800" dirty="0">
                <a:ea typeface="黑体" panose="02010609060101010101" pitchFamily="49" charset="-122"/>
              </a:rPr>
              <a:t>{</a:t>
            </a:r>
            <a:r>
              <a:rPr lang="zh-CN" altLang="zh-CN" sz="2800" b="1" dirty="0">
                <a:ea typeface="黑体" panose="02010609060101010101" pitchFamily="49" charset="-122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ea typeface="黑体" panose="02010609060101010101" pitchFamily="49" charset="-122"/>
              </a:rPr>
              <a:t>6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zh-CN" sz="2800" b="1"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ea typeface="黑体" panose="02010609060101010101" pitchFamily="49" charset="-122"/>
              </a:rPr>
              <a:t>-</a:t>
            </a:r>
            <a:r>
              <a:rPr lang="zh-CN" altLang="zh-CN" sz="2800" b="1" dirty="0">
                <a:ea typeface="黑体" panose="02010609060101010101" pitchFamily="49" charset="-122"/>
              </a:rPr>
              <a:t>5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ea typeface="黑体" panose="02010609060101010101" pitchFamily="49" charset="-122"/>
              </a:rPr>
              <a:t>4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zh-CN" sz="2800" b="1">
                <a:ea typeface="黑体" panose="02010609060101010101" pitchFamily="49" charset="-122"/>
              </a:rPr>
              <a:t>7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ea typeface="黑体" panose="02010609060101010101" pitchFamily="49" charset="-122"/>
              </a:rPr>
              <a:t>8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zh-CN" sz="2800" b="1">
                <a:ea typeface="黑体" panose="02010609060101010101" pitchFamily="49" charset="-122"/>
              </a:rPr>
              <a:t>94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dirty="0">
                <a:ea typeface="黑体" panose="02010609060101010101" pitchFamily="49" charset="-122"/>
              </a:rPr>
              <a:t>}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 dirty="0">
                <a:ea typeface="黑体" panose="02010609060101010101" pitchFamily="49" charset="-122"/>
              </a:rPr>
              <a:t>p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  <a:p>
            <a:pPr marL="609600" indent="-609600">
              <a:lnSpc>
                <a:spcPct val="90000"/>
              </a:lnSpc>
            </a:pPr>
            <a:r>
              <a:rPr lang="zh-CN" altLang="zh-CN" sz="2800" b="1" dirty="0">
                <a:ea typeface="黑体" panose="02010609060101010101" pitchFamily="49" charset="-122"/>
              </a:rPr>
              <a:t>    p=s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  <a:p>
            <a:pPr marL="609600" indent="-609600">
              <a:lnSpc>
                <a:spcPct val="90000"/>
              </a:lnSpc>
            </a:pPr>
            <a:r>
              <a:rPr lang="zh-CN" altLang="zh-CN" sz="2800" b="1" dirty="0">
                <a:ea typeface="黑体" panose="02010609060101010101" pitchFamily="49" charset="-122"/>
              </a:rPr>
              <a:t>    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printf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800" b="1" dirty="0"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%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1f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%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1f</a:t>
            </a:r>
            <a:r>
              <a:rPr lang="zh-CN" altLang="zh-CN" sz="2800" dirty="0">
                <a:ea typeface="黑体" panose="02010609060101010101" pitchFamily="49" charset="-122"/>
              </a:rPr>
              <a:t>\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”,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 dirty="0">
                <a:ea typeface="黑体" panose="02010609060101010101" pitchFamily="49" charset="-122"/>
              </a:rPr>
              <a:t>p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zh-CN" sz="2800" b="1" dirty="0"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800" b="1" dirty="0">
                <a:ea typeface="黑体" panose="02010609060101010101" pitchFamily="49" charset="-122"/>
              </a:rPr>
              <a:t>p+3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)) ;</a:t>
            </a:r>
          </a:p>
          <a:p>
            <a:pPr marL="609600" indent="-609600">
              <a:lnSpc>
                <a:spcPct val="90000"/>
              </a:lnSpc>
            </a:pPr>
            <a:r>
              <a:rPr lang="zh-CN" altLang="zh-CN" sz="2800" b="1" dirty="0">
                <a:ea typeface="黑体" panose="02010609060101010101" pitchFamily="49" charset="-122"/>
              </a:rPr>
              <a:t>  }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895600" y="4500562"/>
            <a:ext cx="209512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ea typeface="黑体" panose="02010609060101010101" pitchFamily="49" charset="-122"/>
              </a:rPr>
              <a:t>-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895600" y="5357812"/>
            <a:ext cx="209512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lnSpc>
                <a:spcPct val="90000"/>
              </a:lnSpc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ea typeface="黑体" panose="02010609060101010101" pitchFamily="49" charset="-122"/>
              </a:rPr>
              <a:t>-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6832301" y="4500562"/>
            <a:ext cx="209512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7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832301" y="5357812"/>
            <a:ext cx="209512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7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181225" y="456485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181225" y="542210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117926" y="456485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117926" y="5422105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6300" y="1406526"/>
            <a:ext cx="8521700" cy="4556125"/>
          </a:xfrm>
        </p:spPr>
        <p:txBody>
          <a:bodyPr/>
          <a:lstStyle/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数组名是一个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常量指针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不允许重新赋值。</a:t>
            </a:r>
          </a:p>
          <a:p>
            <a:pPr marL="625475" lvl="1" indent="-171450">
              <a:lnSpc>
                <a:spcPct val="110000"/>
              </a:lnSpc>
              <a:buClr>
                <a:srgbClr val="008000"/>
              </a:buClr>
              <a:buSzPct val="85000"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  </a:t>
            </a:r>
            <a:r>
              <a:rPr lang="zh-CN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b="1" dirty="0">
                <a:ea typeface="黑体" panose="02010609060101010101" pitchFamily="49" charset="-122"/>
              </a:rPr>
              <a:t>+=</a:t>
            </a:r>
            <a:r>
              <a:rPr lang="zh-CN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lang="zh-CN" altLang="zh-CN" sz="2400" b="1" dirty="0">
                <a:ea typeface="黑体" panose="02010609060101010101" pitchFamily="49" charset="-122"/>
              </a:rPr>
              <a:t>    </a:t>
            </a:r>
            <a:r>
              <a:rPr lang="zh-CN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++ 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25475" lvl="1" indent="-171450">
              <a:lnSpc>
                <a:spcPct val="110000"/>
              </a:lnSpc>
              <a:buClr>
                <a:srgbClr val="008000"/>
              </a:buClr>
              <a:buSzPct val="85000"/>
              <a:buNone/>
            </a:pP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25475" lvl="1" indent="-171450">
              <a:lnSpc>
                <a:spcPct val="110000"/>
              </a:lnSpc>
              <a:buClr>
                <a:srgbClr val="008000"/>
              </a:buClr>
              <a:buSzPct val="85000"/>
              <a:buNone/>
            </a:pPr>
            <a:endParaRPr lang="zh-CN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74955" indent="-274955">
              <a:lnSpc>
                <a:spcPct val="120000"/>
              </a:lnSpc>
              <a:spcBef>
                <a:spcPct val="30000"/>
              </a:spcBef>
              <a:buClr>
                <a:srgbClr val="009900"/>
              </a:buClr>
              <a:buSzPct val="45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指针变量是一个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可以重新赋值。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74955" indent="-274955">
              <a:lnSpc>
                <a:spcPct val="120000"/>
              </a:lnSpc>
              <a:spcBef>
                <a:spcPct val="30000"/>
              </a:spcBef>
              <a:buClr>
                <a:srgbClr val="009900"/>
              </a:buClr>
              <a:buSzPct val="45000"/>
              <a:buFont typeface="Wingdings" panose="05000000000000000000" pitchFamily="2" charset="2"/>
              <a:buChar char="l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p=a;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p=a+3;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p++;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74955" indent="-274955">
              <a:buNone/>
            </a:pPr>
            <a:endParaRPr lang="zh-CN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572421" name="Rectangle 5"/>
          <p:cNvSpPr>
            <a:spLocks noChangeArrowheads="1"/>
          </p:cNvSpPr>
          <p:nvPr/>
        </p:nvSpPr>
        <p:spPr bwMode="auto">
          <a:xfrm>
            <a:off x="2430463" y="206376"/>
            <a:ext cx="7696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CC00CC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333399"/>
                </a:solidFill>
                <a:latin typeface="Courier New" panose="02070309020205020404" pitchFamily="49" charset="0"/>
                <a:ea typeface="楷体_GB2312" pitchFamily="49" charset="-122"/>
              </a:rPr>
              <a:t>数组和指针互换使用的注意事项：</a:t>
            </a:r>
          </a:p>
        </p:txBody>
      </p:sp>
      <p:sp>
        <p:nvSpPr>
          <p:cNvPr id="572422" name="Text Box 6"/>
          <p:cNvSpPr txBox="1">
            <a:spLocks noChangeArrowheads="1"/>
          </p:cNvSpPr>
          <p:nvPr/>
        </p:nvSpPr>
        <p:spPr bwMode="auto">
          <a:xfrm>
            <a:off x="5534025" y="200342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2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2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6300" y="1406527"/>
            <a:ext cx="8521700" cy="2598538"/>
          </a:xfrm>
        </p:spPr>
        <p:txBody>
          <a:bodyPr/>
          <a:lstStyle/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int a[5]={10,20,30,40,50},p=a+2;</a:t>
            </a:r>
          </a:p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en-US" altLang="zh-CN" sz="2800" b="1" dirty="0" err="1">
                <a:latin typeface="Arial" panose="020B0604020202020204" pitchFamily="34" charset="0"/>
                <a:ea typeface="黑体" panose="02010609060101010101" pitchFamily="49" charset="-122"/>
              </a:rPr>
              <a:t>printf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(“%</a:t>
            </a:r>
            <a:r>
              <a:rPr lang="en-US" altLang="zh-CN" sz="2800" b="1" dirty="0" err="1">
                <a:latin typeface="Arial" panose="020B0604020202020204" pitchFamily="34" charset="0"/>
                <a:ea typeface="黑体" panose="02010609060101010101" pitchFamily="49" charset="-122"/>
              </a:rPr>
              <a:t>d,%d,%d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\n”,*(p-1),*p,*(p+1));</a:t>
            </a:r>
          </a:p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r>
              <a:rPr lang="en-US" altLang="zh-CN" sz="2800" b="1" dirty="0" err="1">
                <a:latin typeface="Arial" panose="020B0604020202020204" pitchFamily="34" charset="0"/>
                <a:ea typeface="黑体" panose="02010609060101010101" pitchFamily="49" charset="-122"/>
              </a:rPr>
              <a:t>printf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(“%</a:t>
            </a:r>
            <a:r>
              <a:rPr lang="en-US" altLang="zh-CN" sz="2800" b="1" dirty="0" err="1">
                <a:latin typeface="Arial" panose="020B0604020202020204" pitchFamily="34" charset="0"/>
                <a:ea typeface="黑体" panose="02010609060101010101" pitchFamily="49" charset="-122"/>
              </a:rPr>
              <a:t>d,%d,%d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\</a:t>
            </a:r>
            <a:r>
              <a:rPr lang="en-US" altLang="zh-CN" sz="2800" b="1" dirty="0" err="1">
                <a:latin typeface="Arial" panose="020B0604020202020204" pitchFamily="34" charset="0"/>
                <a:ea typeface="黑体" panose="02010609060101010101" pitchFamily="49" charset="-122"/>
              </a:rPr>
              <a:t>n”,p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[-1],p[0],p[1]));</a:t>
            </a:r>
          </a:p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274955" indent="-274955">
              <a:lnSpc>
                <a:spcPct val="110000"/>
              </a:lnSpc>
              <a:buClr>
                <a:srgbClr val="008000"/>
              </a:buClr>
              <a:buSzPct val="45000"/>
              <a:buFont typeface="Wingdings" panose="05000000000000000000" pitchFamily="2" charset="2"/>
              <a:buChar char="l"/>
            </a:pP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274955" indent="-274955">
              <a:buNone/>
            </a:pPr>
            <a:endParaRPr lang="zh-CN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572421" name="Rectangle 5"/>
          <p:cNvSpPr>
            <a:spLocks noChangeArrowheads="1"/>
          </p:cNvSpPr>
          <p:nvPr/>
        </p:nvSpPr>
        <p:spPr bwMode="auto">
          <a:xfrm>
            <a:off x="2430463" y="206376"/>
            <a:ext cx="7696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CC00CC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333399"/>
                </a:solidFill>
                <a:latin typeface="Courier New" panose="02070309020205020404" pitchFamily="49" charset="0"/>
                <a:ea typeface="楷体_GB2312" pitchFamily="49" charset="-122"/>
              </a:rPr>
              <a:t>数组和指针互换使用的注意事项：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575720" y="4149080"/>
            <a:ext cx="3168352" cy="1444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buClr>
                <a:srgbClr val="008000"/>
              </a:buClr>
              <a:buSzPct val="45000"/>
              <a:buNone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20,30,40</a:t>
            </a:r>
          </a:p>
          <a:p>
            <a:pPr marL="0" indent="0">
              <a:lnSpc>
                <a:spcPct val="110000"/>
              </a:lnSpc>
              <a:buClr>
                <a:srgbClr val="008000"/>
              </a:buClr>
              <a:buSzPct val="45000"/>
              <a:buNone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20,30,40</a:t>
            </a:r>
          </a:p>
          <a:p>
            <a:pPr marL="0" indent="0">
              <a:lnSpc>
                <a:spcPct val="110000"/>
              </a:lnSpc>
              <a:buClr>
                <a:srgbClr val="008000"/>
              </a:buClr>
              <a:buSzPct val="45000"/>
              <a:buNone/>
            </a:pPr>
            <a:endParaRPr lang="en-US" altLang="zh-CN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274955" indent="-274955">
              <a:buFont typeface="Wingdings" panose="05000000000000000000" pitchFamily="2" charset="2"/>
              <a:buNone/>
            </a:pPr>
            <a:endParaRPr lang="zh-CN" altLang="zh-CN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09812" y="209551"/>
            <a:ext cx="8826747" cy="784225"/>
          </a:xfrm>
        </p:spPr>
        <p:txBody>
          <a:bodyPr/>
          <a:lstStyle/>
          <a:p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如果先使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指向数组</a:t>
            </a:r>
            <a:r>
              <a:rPr lang="zh-CN" altLang="en-US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即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 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则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zh-CN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4831" y="3933056"/>
            <a:ext cx="10049841" cy="11149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latin typeface="Times New Roman" panose="02020603050405020304" pitchFamily="18" charset="0"/>
              </a:rPr>
              <a:t>2) (*</a:t>
            </a:r>
            <a:r>
              <a:rPr lang="zh-CN" altLang="zh-CN" b="1">
                <a:solidFill>
                  <a:srgbClr val="CC00CC"/>
                </a:solidFill>
              </a:rPr>
              <a:t>p</a:t>
            </a:r>
            <a:r>
              <a:rPr lang="en-US" altLang="zh-CN" b="1">
                <a:solidFill>
                  <a:srgbClr val="CC00CC"/>
                </a:solidFill>
              </a:rPr>
              <a:t>)</a:t>
            </a:r>
            <a:r>
              <a:rPr lang="zh-CN" altLang="zh-CN" b="1">
                <a:solidFill>
                  <a:srgbClr val="CC00CC"/>
                </a:solidFill>
              </a:rPr>
              <a:t>++</a:t>
            </a:r>
            <a:r>
              <a:rPr lang="en-US" altLang="zh-CN" b="1">
                <a:solidFill>
                  <a:srgbClr val="CC00CC"/>
                </a:solidFill>
              </a:rPr>
              <a:t> </a:t>
            </a:r>
            <a:r>
              <a:rPr lang="zh-CN" altLang="en-US" b="1">
                <a:solidFill>
                  <a:srgbClr val="000000"/>
                </a:solidFill>
                <a:ea typeface="黑体" panose="02010609060101010101" pitchFamily="49" charset="-122"/>
              </a:rPr>
              <a:t>先得到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b="1">
                <a:solidFill>
                  <a:srgbClr val="000000"/>
                </a:solidFill>
                <a:ea typeface="黑体" panose="02010609060101010101" pitchFamily="49" charset="-122"/>
              </a:rPr>
              <a:t>p</a:t>
            </a:r>
            <a:r>
              <a: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b="1">
                <a:solidFill>
                  <a:srgbClr val="000000"/>
                </a:solidFill>
                <a:ea typeface="黑体" panose="02010609060101010101" pitchFamily="49" charset="-122"/>
              </a:rPr>
              <a:t>再使</a:t>
            </a:r>
            <a:r>
              <a:rPr lang="en-US" altLang="zh-CN" b="1">
                <a:solidFill>
                  <a:srgbClr val="000000"/>
                </a:solidFill>
                <a:ea typeface="黑体" panose="02010609060101010101" pitchFamily="49" charset="-122"/>
              </a:rPr>
              <a:t>*</a:t>
            </a:r>
            <a:r>
              <a:rPr lang="zh-CN" altLang="zh-CN" b="1">
                <a:solidFill>
                  <a:srgbClr val="000000"/>
                </a:solidFill>
                <a:ea typeface="黑体" panose="02010609060101010101" pitchFamily="49" charset="-122"/>
              </a:rPr>
              <a:t>p=</a:t>
            </a:r>
            <a:r>
              <a:rPr lang="en-US" altLang="zh-CN" b="1">
                <a:solidFill>
                  <a:srgbClr val="000000"/>
                </a:solidFill>
                <a:ea typeface="黑体" panose="02010609060101010101" pitchFamily="49" charset="-122"/>
              </a:rPr>
              <a:t>*</a:t>
            </a:r>
            <a:r>
              <a:rPr lang="zh-CN" altLang="zh-CN" b="1">
                <a:solidFill>
                  <a:srgbClr val="000000"/>
                </a:solidFill>
                <a:ea typeface="黑体" panose="02010609060101010101" pitchFamily="49" charset="-122"/>
              </a:rPr>
              <a:t>p+1</a:t>
            </a:r>
            <a:endParaRPr lang="en-US" altLang="zh-CN" b="1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 相当于先取</a:t>
            </a:r>
            <a:r>
              <a:rPr lang="en-US" altLang="zh-CN" b="1">
                <a:latin typeface="Times New Roman" panose="02020603050405020304" pitchFamily="18" charset="0"/>
              </a:rPr>
              <a:t>a[0]</a:t>
            </a:r>
            <a:r>
              <a:rPr lang="zh-CN" altLang="en-US" b="1">
                <a:latin typeface="Times New Roman" panose="02020603050405020304" pitchFamily="18" charset="0"/>
              </a:rPr>
              <a:t>的值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然后</a:t>
            </a:r>
            <a:r>
              <a:rPr lang="en-US" altLang="zh-CN" b="1">
                <a:latin typeface="Times New Roman" panose="02020603050405020304" pitchFamily="18" charset="0"/>
              </a:rPr>
              <a:t>a[0]++</a:t>
            </a:r>
          </a:p>
          <a:p>
            <a:pPr>
              <a:spcBef>
                <a:spcPct val="25000"/>
              </a:spcBef>
              <a:buNone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p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所指向的位置没有动</a:t>
            </a:r>
            <a:endParaRPr lang="zh-CN" altLang="zh-CN" b="1" dirty="0">
              <a:ea typeface="黑体" panose="02010609060101010101" pitchFamily="49" charset="-122"/>
              <a:sym typeface="Wingdings 3" panose="05040102010807070707" pitchFamily="18" charset="2"/>
            </a:endParaRPr>
          </a:p>
        </p:txBody>
      </p:sp>
      <p:sp>
        <p:nvSpPr>
          <p:cNvPr id="573444" name="Rectangle 4"/>
          <p:cNvSpPr>
            <a:spLocks noChangeArrowheads="1"/>
          </p:cNvSpPr>
          <p:nvPr/>
        </p:nvSpPr>
        <p:spPr bwMode="auto">
          <a:xfrm>
            <a:off x="2051049" y="1556792"/>
            <a:ext cx="8294688" cy="2010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32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zh-CN" sz="3200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200" b="1">
                <a:solidFill>
                  <a:srgbClr val="CC00CC"/>
                </a:solidFill>
                <a:ea typeface="楷体_GB2312" pitchFamily="49" charset="-122"/>
              </a:rPr>
              <a:t>p++</a:t>
            </a:r>
            <a:r>
              <a:rPr lang="zh-CN" altLang="zh-CN" sz="32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等价于</a:t>
            </a:r>
            <a:r>
              <a:rPr lang="zh-CN" altLang="en-US" sz="32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3200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2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3200" b="1">
                <a:solidFill>
                  <a:srgbClr val="CC00CC"/>
                </a:solidFill>
                <a:ea typeface="黑体" panose="02010609060101010101" pitchFamily="49" charset="-122"/>
              </a:rPr>
              <a:t>p++</a:t>
            </a:r>
            <a:r>
              <a:rPr lang="zh-CN" altLang="zh-CN" sz="32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sz="32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右结合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zh-CN" sz="3200" b="1">
              <a:solidFill>
                <a:srgbClr val="1C1C1C"/>
              </a:solidFill>
              <a:ea typeface="黑体" panose="02010609060101010101" pitchFamily="49" charset="-122"/>
            </a:endParaRPr>
          </a:p>
          <a:p>
            <a:pPr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zh-CN" sz="3200" b="1">
                <a:solidFill>
                  <a:srgbClr val="000000"/>
                </a:solidFill>
                <a:ea typeface="黑体" panose="02010609060101010101" pitchFamily="49" charset="-122"/>
              </a:rPr>
              <a:t>                </a:t>
            </a:r>
            <a:r>
              <a:rPr lang="zh-CN" altLang="en-US" sz="3200" b="1">
                <a:solidFill>
                  <a:srgbClr val="000000"/>
                </a:solidFill>
                <a:ea typeface="黑体" panose="02010609060101010101" pitchFamily="49" charset="-122"/>
              </a:rPr>
              <a:t>作用是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lang="zh-CN" altLang="en-US" sz="3200" b="1">
                <a:solidFill>
                  <a:srgbClr val="000000"/>
                </a:solidFill>
                <a:ea typeface="黑体" panose="02010609060101010101" pitchFamily="49" charset="-122"/>
              </a:rPr>
              <a:t>先得到</a:t>
            </a:r>
            <a:r>
              <a:rPr lang="zh-CN" altLang="en-US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200" b="1">
                <a:solidFill>
                  <a:srgbClr val="000000"/>
                </a:solidFill>
                <a:ea typeface="黑体" panose="02010609060101010101" pitchFamily="49" charset="-122"/>
              </a:rPr>
              <a:t>p</a:t>
            </a:r>
            <a:r>
              <a: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3200" b="1">
                <a:solidFill>
                  <a:srgbClr val="000000"/>
                </a:solidFill>
                <a:ea typeface="黑体" panose="02010609060101010101" pitchFamily="49" charset="-122"/>
              </a:rPr>
              <a:t>再使</a:t>
            </a:r>
            <a:r>
              <a:rPr lang="zh-CN" altLang="zh-CN" sz="3200" b="1">
                <a:solidFill>
                  <a:srgbClr val="000000"/>
                </a:solidFill>
                <a:ea typeface="黑体" panose="02010609060101010101" pitchFamily="49" charset="-122"/>
              </a:rPr>
              <a:t>p=p+1</a:t>
            </a:r>
            <a:r>
              <a:rPr lang="zh-CN" altLang="en-US" sz="3200" b="1">
                <a:solidFill>
                  <a:srgbClr val="000000"/>
                </a:solidFill>
                <a:ea typeface="黑体" panose="02010609060101010101" pitchFamily="49" charset="-122"/>
              </a:rPr>
              <a:t>。</a:t>
            </a:r>
          </a:p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85000"/>
              <a:buFont typeface="Wingdings" panose="05000000000000000000" pitchFamily="2" charset="2"/>
              <a:buNone/>
            </a:pPr>
            <a:endParaRPr lang="zh-CN" altLang="zh-CN" sz="3200" b="1">
              <a:solidFill>
                <a:srgbClr val="000000"/>
              </a:solidFill>
              <a:ea typeface="黑体" panose="02010609060101010101" pitchFamily="49" charset="-122"/>
              <a:sym typeface="Wingdings 3" panose="050401020108070707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7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build="p"/>
      <p:bldP spid="573444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09813" y="209551"/>
            <a:ext cx="7853362" cy="784225"/>
          </a:xfrm>
        </p:spPr>
        <p:txBody>
          <a:bodyPr/>
          <a:lstStyle/>
          <a:p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如果先使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指向数组</a:t>
            </a:r>
            <a:r>
              <a:rPr lang="zh-CN" altLang="en-US" sz="1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即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 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则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73445" name="Rectangle 5"/>
          <p:cNvSpPr>
            <a:spLocks noChangeArrowheads="1"/>
          </p:cNvSpPr>
          <p:nvPr/>
        </p:nvSpPr>
        <p:spPr bwMode="auto">
          <a:xfrm>
            <a:off x="1905000" y="1556792"/>
            <a:ext cx="8382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36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 3" panose="05040102010807070707" pitchFamily="18" charset="2"/>
              </a:rPr>
              <a:t>3) </a:t>
            </a:r>
            <a:r>
              <a:rPr lang="zh-CN" altLang="zh-CN" sz="3600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600" b="1">
                <a:solidFill>
                  <a:srgbClr val="CC00CC"/>
                </a:solidFill>
                <a:ea typeface="黑体" panose="02010609060101010101" pitchFamily="49" charset="-122"/>
              </a:rPr>
              <a:t>++p</a:t>
            </a:r>
            <a:r>
              <a:rPr lang="zh-CN" altLang="zh-CN" sz="36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36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等价于</a:t>
            </a:r>
            <a:r>
              <a:rPr lang="zh-CN" altLang="zh-CN" sz="3600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6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3600" b="1">
                <a:solidFill>
                  <a:srgbClr val="CC00CC"/>
                </a:solidFill>
                <a:ea typeface="黑体" panose="02010609060101010101" pitchFamily="49" charset="-122"/>
              </a:rPr>
              <a:t>++p</a:t>
            </a:r>
            <a:r>
              <a:rPr lang="zh-CN" altLang="zh-CN" sz="36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endParaRPr lang="en-US" altLang="zh-CN" sz="3600" b="1">
              <a:solidFill>
                <a:srgbClr val="CC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zh-CN" altLang="en-US" sz="3600" b="1">
                <a:solidFill>
                  <a:srgbClr val="1C1C1C"/>
                </a:solidFill>
                <a:ea typeface="黑体" panose="02010609060101010101" pitchFamily="49" charset="-122"/>
              </a:rPr>
              <a:t>作用是</a:t>
            </a:r>
            <a:r>
              <a:rPr lang="zh-CN" altLang="zh-CN" sz="36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lang="zh-CN" altLang="en-US" sz="3600" b="1">
                <a:solidFill>
                  <a:srgbClr val="1C1C1C"/>
                </a:solidFill>
                <a:ea typeface="黑体" panose="02010609060101010101" pitchFamily="49" charset="-122"/>
              </a:rPr>
              <a:t>先</a:t>
            </a:r>
            <a:r>
              <a:rPr lang="en-US" altLang="zh-CN" sz="3600" b="1">
                <a:solidFill>
                  <a:srgbClr val="1C1C1C"/>
                </a:solidFill>
                <a:ea typeface="黑体" panose="02010609060101010101" pitchFamily="49" charset="-122"/>
              </a:rPr>
              <a:t>++</a:t>
            </a:r>
            <a:r>
              <a:rPr lang="zh-CN" altLang="zh-CN" sz="3600" b="1">
                <a:solidFill>
                  <a:srgbClr val="1C1C1C"/>
                </a:solidFill>
                <a:ea typeface="黑体" panose="02010609060101010101" pitchFamily="49" charset="-122"/>
              </a:rPr>
              <a:t>p</a:t>
            </a:r>
            <a:r>
              <a:rPr lang="zh-CN" altLang="zh-CN" sz="3600" b="1">
                <a:solidFill>
                  <a:srgbClr val="1C1C1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lang="zh-CN" altLang="en-US" sz="3600" b="1">
                <a:solidFill>
                  <a:srgbClr val="1C1C1C"/>
                </a:solidFill>
                <a:ea typeface="黑体" panose="02010609060101010101" pitchFamily="49" charset="-122"/>
              </a:rPr>
              <a:t>再取</a:t>
            </a:r>
            <a:r>
              <a:rPr lang="zh-CN" altLang="en-US" sz="3600" b="1">
                <a:solidFill>
                  <a:srgbClr val="1C1C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600" b="1">
                <a:solidFill>
                  <a:srgbClr val="1C1C1C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3600" b="1">
                <a:solidFill>
                  <a:srgbClr val="1C1C1C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911455" y="3573016"/>
            <a:ext cx="9371029" cy="2323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zh-CN" sz="3600" b="1" ker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 3" panose="05040102010807070707" pitchFamily="18" charset="2"/>
              </a:rPr>
              <a:t>4) </a:t>
            </a:r>
            <a:r>
              <a:rPr lang="zh-CN" altLang="zh-CN" sz="3600" b="1" kern="0">
                <a:solidFill>
                  <a:srgbClr val="CC00CC"/>
                </a:solidFill>
                <a:ea typeface="黑体" panose="02010609060101010101" pitchFamily="49" charset="-122"/>
              </a:rPr>
              <a:t>++</a:t>
            </a:r>
            <a:r>
              <a:rPr lang="zh-CN" altLang="zh-CN" sz="3600" b="1" kern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600" b="1" kern="0">
                <a:solidFill>
                  <a:srgbClr val="CC00CC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36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等价于</a:t>
            </a:r>
            <a:r>
              <a:rPr lang="zh-CN" altLang="zh-CN" sz="3600" b="1" kern="0">
                <a:solidFill>
                  <a:srgbClr val="CC00CC"/>
                </a:solidFill>
                <a:ea typeface="黑体" panose="02010609060101010101" pitchFamily="49" charset="-122"/>
              </a:rPr>
              <a:t>++</a:t>
            </a:r>
            <a:r>
              <a:rPr lang="zh-CN" altLang="zh-CN" sz="3600" b="1" ker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 3" panose="05040102010807070707" pitchFamily="18" charset="2"/>
              </a:rPr>
              <a:t> </a:t>
            </a:r>
            <a:r>
              <a:rPr lang="zh-CN" altLang="zh-CN" sz="3600" b="1" kern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3600" b="1" kern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3600" b="1" kern="0">
                <a:solidFill>
                  <a:srgbClr val="CC00CC"/>
                </a:solidFill>
                <a:ea typeface="黑体" panose="02010609060101010101" pitchFamily="49" charset="-122"/>
              </a:rPr>
              <a:t>p</a:t>
            </a:r>
            <a:r>
              <a:rPr lang="zh-CN" altLang="zh-CN" sz="3600" b="1" kern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:</a:t>
            </a:r>
            <a:r>
              <a:rPr lang="zh-CN" altLang="zh-CN" sz="3600" b="1" kern="0">
                <a:solidFill>
                  <a:schemeClr val="hlink"/>
                </a:solidFill>
                <a:ea typeface="黑体" panose="02010609060101010101" pitchFamily="49" charset="-122"/>
              </a:rPr>
              <a:t>   </a:t>
            </a:r>
            <a:endParaRPr lang="en-US" altLang="zh-CN" sz="3600" b="1" kern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en-US" sz="3600" b="1" kern="0">
                <a:ea typeface="黑体" panose="02010609060101010101" pitchFamily="49" charset="-122"/>
              </a:rPr>
              <a:t>表示</a:t>
            </a:r>
            <a:r>
              <a:rPr lang="zh-CN" altLang="zh-CN" sz="3600" b="1" kern="0">
                <a:ea typeface="黑体" panose="02010609060101010101" pitchFamily="49" charset="-122"/>
              </a:rPr>
              <a:t>p</a:t>
            </a:r>
            <a:r>
              <a:rPr lang="zh-CN" altLang="en-US" sz="3600" b="1" kern="0">
                <a:ea typeface="黑体" panose="02010609060101010101" pitchFamily="49" charset="-122"/>
              </a:rPr>
              <a:t>所指向的变量</a:t>
            </a:r>
            <a:r>
              <a:rPr lang="zh-CN" altLang="zh-CN" sz="3600" b="1" kern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3600" b="1" kern="0">
                <a:ea typeface="黑体" panose="02010609060101010101" pitchFamily="49" charset="-122"/>
              </a:rPr>
              <a:t>元素</a:t>
            </a:r>
            <a:r>
              <a:rPr lang="zh-CN" altLang="zh-CN" sz="3600" b="1" kern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3600" b="1" kern="0">
                <a:ea typeface="黑体" panose="02010609060101010101" pitchFamily="49" charset="-122"/>
              </a:rPr>
              <a:t>的值</a:t>
            </a:r>
            <a:r>
              <a:rPr lang="zh-CN" altLang="zh-CN" sz="3600" b="1" kern="0">
                <a:ea typeface="黑体" panose="02010609060101010101" pitchFamily="49" charset="-122"/>
              </a:rPr>
              <a:t>+1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zh-CN" sz="3600" b="1" kern="0">
                <a:ea typeface="黑体" panose="02010609060101010101" pitchFamily="49" charset="-122"/>
              </a:rPr>
              <a:t>         </a:t>
            </a:r>
            <a:r>
              <a:rPr lang="zh-CN" altLang="en-US" sz="3600" b="1" kern="0">
                <a:ea typeface="黑体" panose="02010609060101010101" pitchFamily="49" charset="-122"/>
              </a:rPr>
              <a:t>表达式的值是增加之后的值</a:t>
            </a:r>
            <a:endParaRPr lang="zh-CN" altLang="zh-CN" sz="3600" b="1" kern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5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47528" y="1055695"/>
            <a:ext cx="9753600" cy="538628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main( )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int a[5]={0, 2, 4, 6, 8},*p=a+1; 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("%d\n", *p++);//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此处输出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("%d\n", (*p)++);//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此处输出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("%d\n", *p);//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此处输出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223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main( )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int a[5]={0, 2, 4, 6, 8},*p=a+1; 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("%d\n", *++p);//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此处输出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("%d\n", ++*p);//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此处输出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("%d\n", *p);//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此处输出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142876"/>
            <a:ext cx="6816725" cy="6826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3.3 </a:t>
            </a:r>
            <a:r>
              <a:rPr lang="zh-CN" altLang="en-US" sz="3600" dirty="0">
                <a:latin typeface="楷体_GB2312" pitchFamily="49" charset="-122"/>
              </a:rPr>
              <a:t>数组名作为函数参数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9150" y="1263651"/>
            <a:ext cx="8320088" cy="5095875"/>
          </a:xfrm>
        </p:spPr>
        <p:txBody>
          <a:bodyPr/>
          <a:lstStyle/>
          <a:p>
            <a:pPr marL="0" indent="0">
              <a:spcBef>
                <a:spcPct val="60000"/>
              </a:spcBef>
              <a:buSzPct val="50000"/>
            </a:pPr>
            <a:r>
              <a:rPr lang="zh-CN" altLang="zh-CN" sz="2400" b="1" dirty="0"/>
              <a:t> </a:t>
            </a:r>
            <a:r>
              <a:rPr lang="zh-CN" altLang="en-US" sz="2400" b="1" dirty="0"/>
              <a:t>特点</a:t>
            </a:r>
            <a:r>
              <a:rPr lang="zh-CN" altLang="zh-CN" sz="2400" b="1" dirty="0">
                <a:latin typeface="Times New Roman" panose="02020603050405020304" pitchFamily="18" charset="0"/>
              </a:rPr>
              <a:t>:</a:t>
            </a: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/>
              <a:t>作为实参的</a:t>
            </a:r>
            <a:r>
              <a:rPr lang="zh-CN" altLang="en-US" sz="2400" b="1" dirty="0">
                <a:latin typeface="Courier New" panose="02070309020205020404" pitchFamily="49" charset="0"/>
              </a:rPr>
              <a:t>数组名表示数组的首地址</a:t>
            </a:r>
            <a:r>
              <a:rPr lang="zh-CN" altLang="zh-CN" sz="2400" b="1" dirty="0">
                <a:latin typeface="Times New Roman" panose="02020603050405020304" pitchFamily="18" charset="0"/>
              </a:rPr>
              <a:t>,   </a:t>
            </a:r>
            <a:r>
              <a:rPr lang="zh-CN" altLang="en-US" sz="2400" b="1" dirty="0"/>
              <a:t>是一个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地址常量</a:t>
            </a:r>
            <a:r>
              <a:rPr lang="zh-CN" altLang="en-US" sz="2400" b="1" dirty="0">
                <a:latin typeface="Courier New" panose="02070309020205020404" pitchFamily="49" charset="0"/>
              </a:rPr>
              <a:t>。</a:t>
            </a: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latin typeface="Courier New" panose="02070309020205020404" pitchFamily="49" charset="0"/>
              </a:rPr>
              <a:t>如</a:t>
            </a:r>
            <a:r>
              <a:rPr lang="en-US" altLang="zh-CN" sz="2400" b="1" dirty="0">
                <a:latin typeface="Courier New" panose="02070309020205020404" pitchFamily="49" charset="0"/>
              </a:rPr>
              <a:t>:int a[10];</a:t>
            </a:r>
            <a:br>
              <a:rPr lang="en-US" altLang="zh-CN" sz="2400" b="1" dirty="0">
                <a:latin typeface="Courier New" panose="02070309020205020404" pitchFamily="49" charset="0"/>
              </a:rPr>
            </a:br>
            <a:r>
              <a:rPr lang="en-US" altLang="zh-CN" sz="2400" b="1" dirty="0">
                <a:latin typeface="Courier New" panose="02070309020205020404" pitchFamily="49" charset="0"/>
              </a:rPr>
              <a:t>   test(a);//</a:t>
            </a:r>
            <a:r>
              <a:rPr lang="zh-CN" altLang="en-US" sz="2400" b="1" dirty="0">
                <a:latin typeface="Courier New" panose="02070309020205020404" pitchFamily="49" charset="0"/>
              </a:rPr>
              <a:t>数组名作实参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latin typeface="Courier New" panose="02070309020205020404" pitchFamily="49" charset="0"/>
              </a:rPr>
              <a:t>其对应的形参必须是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基类型相同的指针变量</a:t>
            </a:r>
            <a:r>
              <a:rPr lang="en-US" altLang="zh-CN" sz="2400" b="1" dirty="0">
                <a:latin typeface="Courier New" panose="02070309020205020404" pitchFamily="49" charset="0"/>
              </a:rPr>
              <a:t>,</a:t>
            </a:r>
            <a:r>
              <a:rPr lang="zh-CN" altLang="en-US" sz="2400" b="1" dirty="0">
                <a:latin typeface="Courier New" panose="02070309020205020404" pitchFamily="49" charset="0"/>
              </a:rPr>
              <a:t>为了提高可读性</a:t>
            </a:r>
            <a:r>
              <a:rPr lang="en-US" altLang="zh-CN" sz="2400" b="1" dirty="0">
                <a:latin typeface="Courier New" panose="02070309020205020404" pitchFamily="49" charset="0"/>
              </a:rPr>
              <a:t>,</a:t>
            </a:r>
            <a:r>
              <a:rPr lang="zh-CN" altLang="en-US" sz="2400" b="1" dirty="0">
                <a:latin typeface="Courier New" panose="02070309020205020404" pitchFamily="49" charset="0"/>
              </a:rPr>
              <a:t>允许有以下几种写法</a:t>
            </a:r>
            <a:r>
              <a:rPr lang="en-US" altLang="zh-CN" sz="2400" b="1" dirty="0">
                <a:latin typeface="Courier New" panose="02070309020205020404" pitchFamily="49" charset="0"/>
              </a:rPr>
              <a:t>.</a:t>
            </a: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en-US" altLang="zh-CN" sz="2400" b="1" dirty="0">
                <a:latin typeface="Courier New" panose="02070309020205020404" pitchFamily="49" charset="0"/>
              </a:rPr>
              <a:t>void test(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int *p</a:t>
            </a:r>
            <a:r>
              <a:rPr lang="en-US" altLang="zh-CN" sz="2400" b="1" dirty="0">
                <a:latin typeface="Courier New" panose="02070309020205020404" pitchFamily="49" charset="0"/>
              </a:rPr>
              <a:t>);</a:t>
            </a:r>
            <a:br>
              <a:rPr lang="en-US" altLang="zh-CN" sz="2400" b="1" dirty="0">
                <a:latin typeface="Courier New" panose="02070309020205020404" pitchFamily="49" charset="0"/>
              </a:rPr>
            </a:br>
            <a:r>
              <a:rPr lang="en-US" altLang="zh-CN" sz="2400" b="1" dirty="0">
                <a:latin typeface="Courier New" panose="02070309020205020404" pitchFamily="49" charset="0"/>
              </a:rPr>
              <a:t>void test(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int p[]</a:t>
            </a:r>
            <a:r>
              <a:rPr lang="en-US" altLang="zh-CN" sz="2400" b="1" dirty="0">
                <a:latin typeface="Courier New" panose="02070309020205020404" pitchFamily="49" charset="0"/>
              </a:rPr>
              <a:t>)</a:t>
            </a:r>
            <a:br>
              <a:rPr lang="en-US" altLang="zh-CN" sz="2400" b="1" dirty="0">
                <a:latin typeface="Courier New" panose="02070309020205020404" pitchFamily="49" charset="0"/>
              </a:rPr>
            </a:br>
            <a:r>
              <a:rPr lang="en-US" altLang="zh-CN" sz="2400" b="1" dirty="0">
                <a:latin typeface="Courier New" panose="02070309020205020404" pitchFamily="49" charset="0"/>
              </a:rPr>
              <a:t>void test(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int p[10]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)</a:t>
            </a: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latin typeface="Courier New" panose="02070309020205020404" pitchFamily="49" charset="0"/>
              </a:rPr>
              <a:t>以上几种写法中</a:t>
            </a:r>
            <a:r>
              <a:rPr lang="en-US" altLang="zh-CN" sz="2400" b="1" dirty="0">
                <a:latin typeface="Courier New" panose="02070309020205020404" pitchFamily="49" charset="0"/>
              </a:rPr>
              <a:t>,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p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的本质都是指针变量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</a:endParaRP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endParaRPr lang="zh-CN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58061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04800" cy="22860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142876"/>
            <a:ext cx="6816725" cy="6826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3.3 </a:t>
            </a:r>
            <a:r>
              <a:rPr lang="zh-CN" altLang="en-US" sz="3600" dirty="0">
                <a:latin typeface="楷体_GB2312" pitchFamily="49" charset="-122"/>
              </a:rPr>
              <a:t>数组名作为函数参数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9150" y="1263651"/>
            <a:ext cx="8320088" cy="5095875"/>
          </a:xfrm>
        </p:spPr>
        <p:txBody>
          <a:bodyPr/>
          <a:lstStyle/>
          <a:p>
            <a:pPr marL="0" indent="0">
              <a:spcBef>
                <a:spcPct val="60000"/>
              </a:spcBef>
              <a:buSzPct val="50000"/>
            </a:pPr>
            <a:r>
              <a:rPr lang="zh-CN" altLang="zh-CN" sz="2400" b="1" dirty="0"/>
              <a:t> </a:t>
            </a:r>
            <a:r>
              <a:rPr lang="zh-CN" altLang="en-US" sz="2400" b="1" dirty="0"/>
              <a:t>特点</a:t>
            </a:r>
            <a:r>
              <a:rPr lang="zh-CN" altLang="zh-CN" sz="2400" b="1" dirty="0">
                <a:latin typeface="Times New Roman" panose="02020603050405020304" pitchFamily="18" charset="0"/>
              </a:rPr>
              <a:t>:</a:t>
            </a: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/>
              <a:t>作为实参的</a:t>
            </a:r>
            <a:r>
              <a:rPr lang="zh-CN" altLang="en-US" sz="2400" b="1" dirty="0">
                <a:latin typeface="Courier New" panose="02070309020205020404" pitchFamily="49" charset="0"/>
              </a:rPr>
              <a:t>数组名表示数组的首地址</a:t>
            </a:r>
            <a:r>
              <a:rPr lang="zh-CN" altLang="zh-CN" sz="2400" b="1" dirty="0">
                <a:latin typeface="Times New Roman" panose="02020603050405020304" pitchFamily="18" charset="0"/>
              </a:rPr>
              <a:t>,   </a:t>
            </a:r>
            <a:r>
              <a:rPr lang="zh-CN" altLang="en-US" sz="2400" b="1" dirty="0"/>
              <a:t>是一个地址常量</a:t>
            </a:r>
            <a:r>
              <a:rPr lang="zh-CN" altLang="en-US" sz="2400" b="1" dirty="0">
                <a:latin typeface="Courier New" panose="02070309020205020404" pitchFamily="49" charset="0"/>
              </a:rPr>
              <a:t>。</a:t>
            </a:r>
          </a:p>
          <a:p>
            <a:pPr marL="533400" lvl="1" indent="-259080">
              <a:lnSpc>
                <a:spcPct val="11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solidFill>
                  <a:srgbClr val="FF0000"/>
                </a:solidFill>
              </a:rPr>
              <a:t>作为形参的</a:t>
            </a:r>
            <a:r>
              <a:rPr lang="zh-CN" altLang="en-US" sz="2400" b="1">
                <a:solidFill>
                  <a:srgbClr val="FF0000"/>
                </a:solidFill>
              </a:rPr>
              <a:t>数组名是</a:t>
            </a:r>
            <a:r>
              <a:rPr lang="zh-CN" altLang="en-US" sz="3200" b="1">
                <a:solidFill>
                  <a:srgbClr val="FF0000"/>
                </a:solidFill>
              </a:rPr>
              <a:t>一</a:t>
            </a:r>
            <a:r>
              <a:rPr lang="zh-CN" altLang="en-US" sz="3200" b="1" dirty="0">
                <a:solidFill>
                  <a:srgbClr val="FF0000"/>
                </a:solidFill>
              </a:rPr>
              <a:t>个指针变量</a:t>
            </a:r>
            <a:r>
              <a:rPr lang="zh-CN" altLang="en-US" sz="2400" b="1" dirty="0">
                <a:solidFill>
                  <a:srgbClr val="FF0000"/>
                </a:solidFill>
              </a:rPr>
              <a:t>；</a:t>
            </a:r>
            <a:endParaRPr lang="zh-CN" altLang="en-US" sz="2400" b="1" dirty="0">
              <a:latin typeface="Courier New" panose="02070309020205020404" pitchFamily="49" charset="0"/>
            </a:endParaRPr>
          </a:p>
          <a:p>
            <a:pPr marL="533400" lvl="1" indent="-259080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Tahoma" panose="020B0604030504040204" pitchFamily="34" charset="0"/>
              <a:buChar char="−"/>
            </a:pPr>
            <a:r>
              <a:rPr lang="zh-CN" altLang="en-US" sz="2400" b="1" dirty="0">
                <a:latin typeface="Courier New" panose="02070309020205020404" pitchFamily="49" charset="0"/>
              </a:rPr>
              <a:t>在函数调用时</a:t>
            </a:r>
            <a:r>
              <a:rPr lang="zh-CN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/>
              <a:t>实参向形参</a:t>
            </a:r>
            <a:r>
              <a:rPr lang="zh-CN" altLang="en-US" sz="2400" b="1" dirty="0">
                <a:latin typeface="Courier New" panose="02070309020205020404" pitchFamily="49" charset="0"/>
              </a:rPr>
              <a:t>传递的是数组的首地址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使</a:t>
            </a:r>
            <a:r>
              <a:rPr lang="zh-CN" altLang="en-US" sz="2400" b="1" dirty="0">
                <a:latin typeface="Courier New" panose="02070309020205020404" pitchFamily="49" charset="0"/>
              </a:rPr>
              <a:t>形参指针变量指向实参数组</a:t>
            </a:r>
            <a:r>
              <a:rPr lang="en-US" altLang="zh-CN" sz="2400" b="1" dirty="0">
                <a:latin typeface="Courier New" panose="02070309020205020404" pitchFamily="49" charset="0"/>
              </a:rPr>
              <a:t>,</a:t>
            </a:r>
            <a:r>
              <a:rPr lang="zh-CN" altLang="en-US" sz="2400" b="1" dirty="0">
                <a:latin typeface="Courier New" panose="02070309020205020404" pitchFamily="49" charset="0"/>
              </a:rPr>
              <a:t>从而可以在被调函数中用该指针变量操作实参数组。</a:t>
            </a:r>
          </a:p>
        </p:txBody>
      </p:sp>
      <p:sp>
        <p:nvSpPr>
          <p:cNvPr id="58061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04800" cy="228600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0" y="161925"/>
            <a:ext cx="7793038" cy="666750"/>
          </a:xfrm>
        </p:spPr>
        <p:txBody>
          <a:bodyPr/>
          <a:lstStyle/>
          <a:p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用选择法对任意</a:t>
            </a:r>
            <a:r>
              <a:rPr lang="zh-CN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个整数按从大到小顺序排序。</a:t>
            </a:r>
          </a:p>
        </p:txBody>
      </p:sp>
      <p:sp>
        <p:nvSpPr>
          <p:cNvPr id="581635" name="AutoShape 3"/>
          <p:cNvSpPr>
            <a:spLocks noChangeArrowheads="1"/>
          </p:cNvSpPr>
          <p:nvPr/>
        </p:nvSpPr>
        <p:spPr bwMode="auto">
          <a:xfrm>
            <a:off x="2465388" y="1924051"/>
            <a:ext cx="3886200" cy="3713163"/>
          </a:xfrm>
          <a:prstGeom prst="roundRect">
            <a:avLst>
              <a:gd name="adj" fmla="val 4866"/>
            </a:avLst>
          </a:prstGeom>
          <a:solidFill>
            <a:schemeClr val="bg1"/>
          </a:solidFill>
          <a:ln w="9525" cmpd="sng">
            <a:solidFill>
              <a:srgbClr val="008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void  sort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400" b="1">
                <a:solidFill>
                  <a:srgbClr val="000000"/>
                </a:solidFill>
              </a:rPr>
              <a:t> int 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solidFill>
                  <a:srgbClr val="000000"/>
                </a:solidFill>
              </a:rPr>
              <a:t>x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>
                <a:solidFill>
                  <a:srgbClr val="000000"/>
                </a:solidFill>
              </a:rPr>
              <a:t> int n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{</a:t>
            </a: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void  main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 )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{  int</a:t>
            </a:r>
            <a:r>
              <a:rPr lang="zh-CN" altLang="zh-CN" sz="2000" b="1">
                <a:solidFill>
                  <a:srgbClr val="000000"/>
                </a:solidFill>
              </a:rPr>
              <a:t>  </a:t>
            </a:r>
            <a:r>
              <a:rPr lang="zh-CN" altLang="zh-CN" sz="2400" b="1">
                <a:solidFill>
                  <a:srgbClr val="000000"/>
                </a:solidFill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zh-CN" altLang="zh-CN" sz="2400" b="1">
                <a:solidFill>
                  <a:srgbClr val="000000"/>
                </a:solidFill>
              </a:rPr>
              <a:t>1</a:t>
            </a:r>
            <a:r>
              <a:rPr lang="zh-CN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r>
              <a:rPr lang="zh-CN" altLang="zh-CN" sz="2400" b="1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sort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400" b="1">
                <a:solidFill>
                  <a:srgbClr val="000000"/>
                </a:solidFill>
              </a:rPr>
              <a:t>  a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400" b="1">
                <a:solidFill>
                  <a:srgbClr val="000000"/>
                </a:solidFill>
              </a:rPr>
              <a:t> 1</a:t>
            </a:r>
            <a:r>
              <a:rPr lang="zh-CN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0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);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}</a:t>
            </a: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1636" name="Oval 4"/>
          <p:cNvSpPr>
            <a:spLocks noChangeArrowheads="1"/>
          </p:cNvSpPr>
          <p:nvPr/>
        </p:nvSpPr>
        <p:spPr bwMode="auto">
          <a:xfrm>
            <a:off x="3760789" y="4489451"/>
            <a:ext cx="357187" cy="373063"/>
          </a:xfrm>
          <a:prstGeom prst="ellipse">
            <a:avLst/>
          </a:prstGeom>
          <a:noFill/>
          <a:ln w="38100" cmpd="sng">
            <a:solidFill>
              <a:srgbClr val="FF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1637" name="Oval 5"/>
          <p:cNvSpPr>
            <a:spLocks noChangeArrowheads="1"/>
          </p:cNvSpPr>
          <p:nvPr/>
        </p:nvSpPr>
        <p:spPr bwMode="auto">
          <a:xfrm>
            <a:off x="4146550" y="2003425"/>
            <a:ext cx="1062038" cy="452438"/>
          </a:xfrm>
          <a:prstGeom prst="ellipse">
            <a:avLst/>
          </a:prstGeom>
          <a:noFill/>
          <a:ln w="38100" cmpd="sng">
            <a:solidFill>
              <a:srgbClr val="FF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grpSp>
        <p:nvGrpSpPr>
          <p:cNvPr id="581638" name="Group 6"/>
          <p:cNvGrpSpPr/>
          <p:nvPr/>
        </p:nvGrpSpPr>
        <p:grpSpPr bwMode="auto">
          <a:xfrm>
            <a:off x="4121151" y="2586039"/>
            <a:ext cx="1863725" cy="1792287"/>
            <a:chOff x="0" y="0"/>
            <a:chExt cx="1174" cy="1185"/>
          </a:xfrm>
        </p:grpSpPr>
        <p:sp>
          <p:nvSpPr>
            <p:cNvPr id="581639" name="未知"/>
            <p:cNvSpPr/>
            <p:nvPr/>
          </p:nvSpPr>
          <p:spPr bwMode="auto">
            <a:xfrm>
              <a:off x="0" y="0"/>
              <a:ext cx="679" cy="1185"/>
            </a:xfrm>
            <a:custGeom>
              <a:avLst/>
              <a:gdLst>
                <a:gd name="T0" fmla="*/ 0 w 679"/>
                <a:gd name="T1" fmla="*/ 1185 h 1185"/>
                <a:gd name="T2" fmla="*/ 625 w 679"/>
                <a:gd name="T3" fmla="*/ 576 h 1185"/>
                <a:gd name="T4" fmla="*/ 325 w 679"/>
                <a:gd name="T5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9" h="1185">
                  <a:moveTo>
                    <a:pt x="0" y="1185"/>
                  </a:moveTo>
                  <a:cubicBezTo>
                    <a:pt x="285" y="979"/>
                    <a:pt x="571" y="773"/>
                    <a:pt x="625" y="576"/>
                  </a:cubicBezTo>
                  <a:cubicBezTo>
                    <a:pt x="679" y="379"/>
                    <a:pt x="502" y="189"/>
                    <a:pt x="325" y="0"/>
                  </a:cubicBezTo>
                </a:path>
              </a:pathLst>
            </a:custGeom>
            <a:noFill/>
            <a:ln w="28575" cap="flat" cmpd="sng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81640" name="Oval 8"/>
            <p:cNvSpPr>
              <a:spLocks noChangeArrowheads="1"/>
            </p:cNvSpPr>
            <p:nvPr/>
          </p:nvSpPr>
          <p:spPr bwMode="auto">
            <a:xfrm>
              <a:off x="671" y="237"/>
              <a:ext cx="503" cy="503"/>
            </a:xfrm>
            <a:prstGeom prst="ellipse">
              <a:avLst/>
            </a:prstGeom>
            <a:solidFill>
              <a:srgbClr val="FFFF00"/>
            </a:solidFill>
            <a:ln w="9525" cmpd="sng">
              <a:solidFill>
                <a:schemeClr val="folHlink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地址</a:t>
              </a:r>
              <a:endParaRPr lang="zh-CN" altLang="en-US" sz="2800">
                <a:solidFill>
                  <a:srgbClr val="000000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581641" name="Group 9"/>
          <p:cNvGrpSpPr/>
          <p:nvPr/>
        </p:nvGrpSpPr>
        <p:grpSpPr bwMode="auto">
          <a:xfrm>
            <a:off x="6931025" y="2054226"/>
            <a:ext cx="2413000" cy="3216275"/>
            <a:chOff x="0" y="0"/>
            <a:chExt cx="1520" cy="2026"/>
          </a:xfrm>
        </p:grpSpPr>
        <p:sp>
          <p:nvSpPr>
            <p:cNvPr id="581642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5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00"/>
                  </a:solidFill>
                </a:rPr>
                <a:t>a</a:t>
              </a:r>
              <a:r>
                <a:rPr lang="zh-CN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zh-CN" sz="2000" b="1">
                  <a:solidFill>
                    <a:srgbClr val="000000"/>
                  </a:solidFill>
                </a:rPr>
                <a:t> x</a:t>
              </a:r>
              <a:endParaRPr lang="zh-CN" altLang="zh-CN" sz="20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81643" name="Line 11"/>
            <p:cNvSpPr>
              <a:spLocks noChangeShapeType="1"/>
            </p:cNvSpPr>
            <p:nvPr/>
          </p:nvSpPr>
          <p:spPr bwMode="auto">
            <a:xfrm>
              <a:off x="551" y="130"/>
              <a:ext cx="462" cy="0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grpSp>
          <p:nvGrpSpPr>
            <p:cNvPr id="581644" name="Group 12"/>
            <p:cNvGrpSpPr/>
            <p:nvPr/>
          </p:nvGrpSpPr>
          <p:grpSpPr bwMode="auto">
            <a:xfrm>
              <a:off x="1024" y="21"/>
              <a:ext cx="496" cy="2005"/>
              <a:chOff x="0" y="0"/>
              <a:chExt cx="496" cy="2005"/>
            </a:xfrm>
          </p:grpSpPr>
          <p:sp>
            <p:nvSpPr>
              <p:cNvPr id="581645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a[0]</a:t>
                </a:r>
                <a:endParaRPr lang="zh-CN" altLang="zh-CN" sz="28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581646" name="Rectangle 14"/>
              <p:cNvSpPr>
                <a:spLocks noChangeArrowheads="1"/>
              </p:cNvSpPr>
              <p:nvPr/>
            </p:nvSpPr>
            <p:spPr bwMode="auto">
              <a:xfrm>
                <a:off x="0" y="200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a[1]</a:t>
                </a:r>
              </a:p>
            </p:txBody>
          </p:sp>
          <p:sp>
            <p:nvSpPr>
              <p:cNvPr id="581647" name="Rectangle 15"/>
              <p:cNvSpPr>
                <a:spLocks noChangeArrowheads="1"/>
              </p:cNvSpPr>
              <p:nvPr/>
            </p:nvSpPr>
            <p:spPr bwMode="auto">
              <a:xfrm>
                <a:off x="0" y="400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a[2]</a:t>
                </a:r>
              </a:p>
            </p:txBody>
          </p:sp>
          <p:sp>
            <p:nvSpPr>
              <p:cNvPr id="581648" name="Rectangle 16"/>
              <p:cNvSpPr>
                <a:spLocks noChangeArrowheads="1"/>
              </p:cNvSpPr>
              <p:nvPr/>
            </p:nvSpPr>
            <p:spPr bwMode="auto">
              <a:xfrm>
                <a:off x="0" y="600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a[3]</a:t>
                </a:r>
              </a:p>
            </p:txBody>
          </p:sp>
          <p:sp>
            <p:nvSpPr>
              <p:cNvPr id="581649" name="Rectangle 17"/>
              <p:cNvSpPr>
                <a:spLocks noChangeArrowheads="1"/>
              </p:cNvSpPr>
              <p:nvPr/>
            </p:nvSpPr>
            <p:spPr bwMode="auto">
              <a:xfrm>
                <a:off x="0" y="800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a[4]</a:t>
                </a:r>
              </a:p>
            </p:txBody>
          </p:sp>
          <p:sp>
            <p:nvSpPr>
              <p:cNvPr id="581650" name="Rectangle 18"/>
              <p:cNvSpPr>
                <a:spLocks noChangeArrowheads="1"/>
              </p:cNvSpPr>
              <p:nvPr/>
            </p:nvSpPr>
            <p:spPr bwMode="auto">
              <a:xfrm>
                <a:off x="0" y="1003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a[5]</a:t>
                </a:r>
              </a:p>
            </p:txBody>
          </p:sp>
          <p:sp>
            <p:nvSpPr>
              <p:cNvPr id="581651" name="Rectangle 19"/>
              <p:cNvSpPr>
                <a:spLocks noChangeArrowheads="1"/>
              </p:cNvSpPr>
              <p:nvPr/>
            </p:nvSpPr>
            <p:spPr bwMode="auto">
              <a:xfrm>
                <a:off x="0" y="1203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a[6]</a:t>
                </a:r>
              </a:p>
            </p:txBody>
          </p:sp>
          <p:sp>
            <p:nvSpPr>
              <p:cNvPr id="581652" name="Rectangle 20"/>
              <p:cNvSpPr>
                <a:spLocks noChangeArrowheads="1"/>
              </p:cNvSpPr>
              <p:nvPr/>
            </p:nvSpPr>
            <p:spPr bwMode="auto">
              <a:xfrm>
                <a:off x="0" y="1403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a[7]</a:t>
                </a:r>
              </a:p>
            </p:txBody>
          </p:sp>
          <p:sp>
            <p:nvSpPr>
              <p:cNvPr id="581653" name="Rectangle 21"/>
              <p:cNvSpPr>
                <a:spLocks noChangeArrowheads="1"/>
              </p:cNvSpPr>
              <p:nvPr/>
            </p:nvSpPr>
            <p:spPr bwMode="auto">
              <a:xfrm>
                <a:off x="0" y="1603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a[8]</a:t>
                </a:r>
              </a:p>
            </p:txBody>
          </p:sp>
          <p:sp>
            <p:nvSpPr>
              <p:cNvPr id="581654" name="Rectangle 22"/>
              <p:cNvSpPr>
                <a:spLocks noChangeArrowheads="1"/>
              </p:cNvSpPr>
              <p:nvPr/>
            </p:nvSpPr>
            <p:spPr bwMode="auto">
              <a:xfrm>
                <a:off x="0" y="1803"/>
                <a:ext cx="496" cy="202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a[9]</a:t>
                </a:r>
              </a:p>
            </p:txBody>
          </p:sp>
        </p:grpSp>
      </p:grpSp>
      <p:sp>
        <p:nvSpPr>
          <p:cNvPr id="581655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03388" y="836614"/>
            <a:ext cx="360362" cy="288925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1656" name="AutoShape 24"/>
          <p:cNvSpPr>
            <a:spLocks noChangeArrowheads="1"/>
          </p:cNvSpPr>
          <p:nvPr/>
        </p:nvSpPr>
        <p:spPr bwMode="auto">
          <a:xfrm>
            <a:off x="2711451" y="1166813"/>
            <a:ext cx="3382963" cy="476250"/>
          </a:xfrm>
          <a:prstGeom prst="wedgeRectCallout">
            <a:avLst>
              <a:gd name="adj1" fmla="val 3963"/>
              <a:gd name="adj2" fmla="val 106000"/>
            </a:avLst>
          </a:prstGeom>
          <a:noFill/>
          <a:ln w="19050" cmpd="sng">
            <a:solidFill>
              <a:srgbClr val="008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int  x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 ]</a:t>
            </a:r>
            <a:r>
              <a:rPr lang="zh-CN" altLang="zh-CN" sz="1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int  x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zh-CN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 </a:t>
            </a:r>
          </a:p>
        </p:txBody>
      </p:sp>
      <p:sp>
        <p:nvSpPr>
          <p:cNvPr id="581657" name="AutoShape 2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51089" y="908050"/>
            <a:ext cx="288925" cy="217488"/>
          </a:xfrm>
          <a:prstGeom prst="actionButtonEnd">
            <a:avLst/>
          </a:prstGeom>
          <a:noFill/>
          <a:ln w="0" cmpd="sng">
            <a:solidFill>
              <a:srgbClr val="0000B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1658" name="Rectangle 26"/>
          <p:cNvSpPr>
            <a:spLocks noChangeArrowheads="1"/>
          </p:cNvSpPr>
          <p:nvPr/>
        </p:nvSpPr>
        <p:spPr bwMode="auto">
          <a:xfrm>
            <a:off x="8558213" y="5267325"/>
            <a:ext cx="781050" cy="293688"/>
          </a:xfrm>
          <a:prstGeom prst="rect">
            <a:avLst/>
          </a:prstGeom>
          <a:solidFill>
            <a:srgbClr val="CCECFF"/>
          </a:solidFill>
          <a:ln w="12700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1661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919288" y="476251"/>
            <a:ext cx="360362" cy="288925"/>
          </a:xfrm>
          <a:prstGeom prst="actionButtonForwardNext">
            <a:avLst/>
          </a:prstGeom>
          <a:noFill/>
          <a:ln w="0" cmpd="sng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1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1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8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1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1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8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36" grpId="0" animBg="1"/>
      <p:bldP spid="581637" grpId="0" animBg="1"/>
      <p:bldP spid="581656" grpId="0" animBg="1" autoUpdateAnimBg="0"/>
      <p:bldP spid="58165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504" y="181233"/>
            <a:ext cx="7793038" cy="698500"/>
          </a:xfrm>
        </p:spPr>
        <p:txBody>
          <a:bodyPr/>
          <a:lstStyle/>
          <a:p>
            <a:pPr>
              <a:lnSpc>
                <a:spcPct val="95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用选择法对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个整数按从大到小顺序排序。</a:t>
            </a:r>
            <a:r>
              <a:rPr lang="zh-CN" altLang="en-US" sz="24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84707" name="Text Box 3"/>
          <p:cNvSpPr txBox="1">
            <a:spLocks noChangeArrowheads="1"/>
          </p:cNvSpPr>
          <p:nvPr/>
        </p:nvSpPr>
        <p:spPr bwMode="auto">
          <a:xfrm>
            <a:off x="2193926" y="1860550"/>
            <a:ext cx="7769225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00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709" name="Rectangle 5"/>
          <p:cNvSpPr>
            <a:spLocks noChangeArrowheads="1"/>
          </p:cNvSpPr>
          <p:nvPr/>
        </p:nvSpPr>
        <p:spPr bwMode="auto">
          <a:xfrm>
            <a:off x="2265363" y="1231901"/>
            <a:ext cx="4176712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zh-CN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84711" name="Picture 7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1" y="611505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390651" y="1196974"/>
            <a:ext cx="10363200" cy="540037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stdlib.h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time.h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(int *,</a:t>
            </a:r>
            <a:r>
              <a:rPr lang="en-US" altLang="zh-CN" sz="2400" dirty="0" err="1"/>
              <a:t>int,int</a:t>
            </a:r>
            <a:r>
              <a:rPr lang="en-US" altLang="zh-CN" sz="2400" dirty="0"/>
              <a:t>),prn(int *),sort(int *,int</a:t>
            </a:r>
            <a:r>
              <a:rPr lang="en-US" altLang="zh-CN" sz="2400" dirty="0">
                <a:solidFill>
                  <a:srgbClr val="92D050"/>
                </a:solidFill>
              </a:rPr>
              <a:t>);//</a:t>
            </a:r>
            <a:r>
              <a:rPr lang="zh-CN" altLang="en-US" sz="2400" dirty="0">
                <a:solidFill>
                  <a:srgbClr val="92D050"/>
                </a:solidFill>
              </a:rPr>
              <a:t>声明</a:t>
            </a:r>
            <a:endParaRPr lang="en-US" altLang="zh-CN" sz="24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main( )</a:t>
            </a:r>
          </a:p>
          <a:p>
            <a:pPr marL="0" indent="0">
              <a:buNone/>
            </a:pPr>
            <a:r>
              <a:rPr lang="en-US" altLang="zh-CN" sz="2400" dirty="0"/>
              <a:t>{ </a:t>
            </a:r>
          </a:p>
          <a:p>
            <a:pPr marL="0" indent="0">
              <a:buNone/>
            </a:pPr>
            <a:r>
              <a:rPr lang="en-US" altLang="zh-CN" sz="2400" dirty="0"/>
              <a:t>	int a[10]; 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(a,10,99);//</a:t>
            </a:r>
            <a:r>
              <a:rPr lang="zh-CN" altLang="en-US" sz="2400" dirty="0">
                <a:solidFill>
                  <a:srgbClr val="92D050"/>
                </a:solidFill>
              </a:rPr>
              <a:t>初始化</a:t>
            </a:r>
            <a:r>
              <a:rPr lang="en-US" altLang="zh-CN" sz="2400" dirty="0">
                <a:solidFill>
                  <a:srgbClr val="92D050"/>
                </a:solidFill>
              </a:rPr>
              <a:t>,</a:t>
            </a:r>
            <a:r>
              <a:rPr lang="zh-CN" altLang="en-US" sz="2400" dirty="0">
                <a:solidFill>
                  <a:srgbClr val="92D050"/>
                </a:solidFill>
              </a:rPr>
              <a:t>给</a:t>
            </a:r>
            <a:r>
              <a:rPr lang="en-US" altLang="zh-CN" sz="2400" dirty="0">
                <a:solidFill>
                  <a:srgbClr val="92D050"/>
                </a:solidFill>
              </a:rPr>
              <a:t>a</a:t>
            </a:r>
            <a:r>
              <a:rPr lang="zh-CN" altLang="en-US" sz="2400" dirty="0">
                <a:solidFill>
                  <a:srgbClr val="92D050"/>
                </a:solidFill>
              </a:rPr>
              <a:t>中各元素赋值</a:t>
            </a:r>
            <a:r>
              <a:rPr lang="en-US" altLang="zh-CN" sz="2400" dirty="0">
                <a:solidFill>
                  <a:srgbClr val="92D050"/>
                </a:solidFill>
              </a:rPr>
              <a:t>[10,99)</a:t>
            </a:r>
            <a:r>
              <a:rPr lang="zh-CN" altLang="en-US" sz="2400" dirty="0">
                <a:solidFill>
                  <a:srgbClr val="92D050"/>
                </a:solidFill>
              </a:rPr>
              <a:t>区间的数</a:t>
            </a:r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prn(a</a:t>
            </a:r>
            <a:r>
              <a:rPr lang="en-US" altLang="zh-CN" sz="2400" dirty="0">
                <a:solidFill>
                  <a:srgbClr val="92D050"/>
                </a:solidFill>
              </a:rPr>
              <a:t>);//</a:t>
            </a:r>
            <a:r>
              <a:rPr lang="zh-CN" altLang="en-US" sz="2400" dirty="0">
                <a:solidFill>
                  <a:srgbClr val="92D050"/>
                </a:solidFill>
              </a:rPr>
              <a:t>打印</a:t>
            </a:r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sort(a,10</a:t>
            </a:r>
            <a:r>
              <a:rPr lang="en-US" altLang="zh-CN" sz="2400" dirty="0">
                <a:solidFill>
                  <a:srgbClr val="92D050"/>
                </a:solidFill>
              </a:rPr>
              <a:t>);//</a:t>
            </a:r>
            <a:r>
              <a:rPr lang="zh-CN" altLang="en-US" sz="2400" dirty="0">
                <a:solidFill>
                  <a:srgbClr val="92D050"/>
                </a:solidFill>
              </a:rPr>
              <a:t>实现排序</a:t>
            </a:r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</a:t>
            </a:r>
            <a:r>
              <a:rPr lang="zh-CN" altLang="en-US" sz="2400" dirty="0"/>
              <a:t>打印后</a:t>
            </a:r>
            <a:r>
              <a:rPr lang="en-US" altLang="zh-CN" sz="2400" dirty="0"/>
              <a:t>:\n");</a:t>
            </a:r>
          </a:p>
          <a:p>
            <a:pPr marL="0" indent="0">
              <a:buNone/>
            </a:pPr>
            <a:r>
              <a:rPr lang="en-US" altLang="zh-CN" sz="2400" dirty="0"/>
              <a:t>	prn(a);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5303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void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init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1],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int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x,int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y)//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参数名为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int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srand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(time(NULL));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for(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=0;i&lt;10;i++)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=rand()%(y-x+1)+x;//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用指针法实现对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                              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数组的各元素赋区间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内的值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4582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void prn(int a[])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int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for(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=0;i&lt;10;i++)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(“%5d”,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);//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下标法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("\n");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7463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void sort(int a[],int n)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int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i,j,mini,t</a:t>
            </a:r>
            <a:r>
              <a:rPr lang="en-US" altLang="zh-CN" sz="2600" dirty="0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;      //mini</a:t>
            </a:r>
            <a:r>
              <a:rPr lang="zh-CN" altLang="en-US" sz="2600" dirty="0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存放最小元素的下标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for(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=0;i&lt;=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;i++)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for(j=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;j&lt;=n-1;j++)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	if(a[j]&lt;a[mini])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		mini=j;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if(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		t=a[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],a[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]=a[mini],a[mini]=t;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	}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Dotum" pitchFamily="34" charset="-127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Q1YTgwNGRiMTMxMDJkZjc2MDNlYjZiNDJhMjJjN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12,6&quot;]}]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1,1&quot;]},{&quot;num&quot;:2,&quot;caseSensitive&quot;:false,&quot;fuzzyMatch&quot;:false,&quot;Score&quot;:1.0,&quot;answers&quot;:[&quot;3,7&quot;]},{&quot;num&quot;:3,&quot;caseSensitive&quot;:false,&quot;fuzzyMatch&quot;:false,&quot;Score&quot;:1.0,&quot;answers&quot;:[&quot;5,5&quot;]}]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pmin-a&quot;,&quot;pmin-&amp;a[0]&quot;]}]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2&quot;]},{&quot;num&quot;:2,&quot;caseSensitive&quot;:false,&quot;fuzzyMatch&quot;:false,&quot;Score&quot;:1.0,&quot;answers&quot;:[&quot;4&quot;]},{&quot;num&quot;:3,&quot;caseSensitive&quot;:false,&quot;fuzzyMatch&quot;:false,&quot;Score&quot;:1.0,&quot;answers&quot;:[&quot;5&quot;]}]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4&quot;]},{&quot;num&quot;:2,&quot;caseSensitive&quot;:false,&quot;fuzzyMatch&quot;:false,&quot;Score&quot;:1.0,&quot;answers&quot;:[&quot;5&quot;]},{&quot;num&quot;:3,&quot;caseSensitive&quot;:false,&quot;fuzzyMatch&quot;:false,&quot;Score&quot;:1.0,&quot;answers&quot;:[&quot;5&quot;]}]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int *a&quot;,&quot;int a[]&quot;,&quot;int a[10]&quot;]},{&quot;num&quot;:2,&quot;caseSensitive&quot;:true,&quot;fuzzyMatch&quot;:false,&quot;Score&quot;:1.0,&quot;answers&quot;:[&quot;*(a+i)&quot;]}]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a[i]&quot;]}]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n-2&quot;,&quot;8&quot;]},{&quot;num&quot;:2,&quot;caseSensitive&quot;:false,&quot;fuzzyMatch&quot;:false,&quot;Score&quot;:1.0,&quot;answers&quot;:[&quot;mini=i&quot;]},{&quot;num&quot;:3,&quot;caseSensitive&quot;:true,&quot;fuzzyMatch&quot;:false,&quot;Score&quot;:1.0,&quot;answers&quot;:[&quot;i+1&quot;]},{&quot;num&quot;:4,&quot;caseSensitive&quot;:true,&quot;fuzzyMatch&quot;:false,&quot;Score&quot;:1.0,&quot;answers&quot;:[&quot;i!=mini&quot;,&quot;mini!=i&quot;]}]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9900"/>
      </a:hlink>
      <a:folHlink>
        <a:srgbClr val="FFCC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hu8">
  <a:themeElements>
    <a:clrScheme name="whu8 11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000099"/>
      </a:folHlink>
    </a:clrScheme>
    <a:fontScheme name="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Dotum" pitchFamily="34" charset="-127"/>
          </a:defRPr>
        </a:defPPr>
      </a:lstStyle>
    </a:lnDef>
  </a:objectDefaults>
  <a:extraClrSchemeLst>
    <a:extraClrScheme>
      <a:clrScheme name="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hu8 10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000099"/>
    </a:hlink>
    <a:folHlink>
      <a:srgbClr val="008000"/>
    </a:folHlink>
  </a:clrScheme>
</a:themeOverride>
</file>

<file path=ppt/theme/themeOverride2.xml><?xml version="1.0" encoding="utf-8"?>
<a:themeOverride xmlns:a="http://schemas.openxmlformats.org/drawingml/2006/main">
  <a:clrScheme name="whu8 10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000099"/>
    </a:hlink>
    <a:folHlink>
      <a:srgbClr val="008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3169</TotalTime>
  <Words>5231</Words>
  <Application>Microsoft Office PowerPoint</Application>
  <PresentationFormat>宽屏</PresentationFormat>
  <Paragraphs>644</Paragraphs>
  <Slides>60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黑体</vt:lpstr>
      <vt:lpstr>楷体_GB2312</vt:lpstr>
      <vt:lpstr>微软雅黑</vt:lpstr>
      <vt:lpstr>幼圆</vt:lpstr>
      <vt:lpstr>Arial</vt:lpstr>
      <vt:lpstr>Calibri</vt:lpstr>
      <vt:lpstr>Comic Sans MS</vt:lpstr>
      <vt:lpstr>Courier New</vt:lpstr>
      <vt:lpstr>Tahoma</vt:lpstr>
      <vt:lpstr>Times New Roman</vt:lpstr>
      <vt:lpstr>Wingdings</vt:lpstr>
      <vt:lpstr>Office 主题​​</vt:lpstr>
      <vt:lpstr>Blends</vt:lpstr>
      <vt:lpstr>3_whu8</vt:lpstr>
      <vt:lpstr>1_whu8</vt:lpstr>
      <vt:lpstr>whu8</vt:lpstr>
      <vt:lpstr>Picture</vt:lpstr>
      <vt:lpstr>第七章   指针</vt:lpstr>
      <vt:lpstr>7.1  指针和指针变量的概念</vt:lpstr>
      <vt:lpstr>7.1  指针和指针变量的概念</vt:lpstr>
      <vt:lpstr>7.1  指针和指针变量的概念</vt:lpstr>
      <vt:lpstr>PowerPoint 演示文稿</vt:lpstr>
      <vt:lpstr>7.2 指针变量</vt:lpstr>
      <vt:lpstr>7.2.1 指针变量的定义</vt:lpstr>
      <vt:lpstr>说明:</vt:lpstr>
      <vt:lpstr>说明:</vt:lpstr>
      <vt:lpstr>7.2.2  指针变量的引用</vt:lpstr>
      <vt:lpstr>1. &amp; ─  取地址运算符</vt:lpstr>
      <vt:lpstr>2.  * ─ 指针运算符（间接访问运算符）</vt:lpstr>
      <vt:lpstr>PowerPoint 演示文稿</vt:lpstr>
      <vt:lpstr>说明:</vt:lpstr>
      <vt:lpstr>说明:</vt:lpstr>
      <vt:lpstr>说明:</vt:lpstr>
      <vt:lpstr>说明:</vt:lpstr>
      <vt:lpstr>7.2.4 指针变量作为函数参数</vt:lpstr>
      <vt:lpstr>例7.8 交换两个元素之值</vt:lpstr>
      <vt:lpstr>例7.8_2交换形参指针变量的值</vt:lpstr>
      <vt:lpstr>PowerPoint 演示文稿</vt:lpstr>
      <vt:lpstr>PowerPoint 演示文稿</vt:lpstr>
      <vt:lpstr>7.3 指针与数组</vt:lpstr>
      <vt:lpstr>7.3.1  指针变量的运算</vt:lpstr>
      <vt:lpstr>7.3.1  指针变量的运算</vt:lpstr>
      <vt:lpstr>2. 指针的算术运算</vt:lpstr>
      <vt:lpstr>2. 指针的算术运算</vt:lpstr>
      <vt:lpstr>2. 指针的算术运算</vt:lpstr>
      <vt:lpstr>说明</vt:lpstr>
      <vt:lpstr>PowerPoint 演示文稿</vt:lpstr>
      <vt:lpstr>PowerPoint 演示文稿</vt:lpstr>
      <vt:lpstr>PowerPoint 演示文稿</vt:lpstr>
      <vt:lpstr>PowerPoint 演示文稿</vt:lpstr>
      <vt:lpstr>3. 两个指针变量的比较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7.3.2 一维数组的指针</vt:lpstr>
      <vt:lpstr>在C语言中,对数组元素的访问可用以下两种形式:</vt:lpstr>
      <vt:lpstr>在C语言中,对数组元素的访问可用以下两种形式:</vt:lpstr>
      <vt:lpstr>PowerPoint 演示文稿</vt:lpstr>
      <vt:lpstr>②用指针法输入输出数组各元素 (数组名+偏移量)</vt:lpstr>
      <vt:lpstr>③用指针法输入输出数组各元素 (移动指针)</vt:lpstr>
      <vt:lpstr>PowerPoint 演示文稿</vt:lpstr>
      <vt:lpstr>PowerPoint 演示文稿</vt:lpstr>
      <vt:lpstr>PowerPoint 演示文稿</vt:lpstr>
      <vt:lpstr>PowerPoint 演示文稿</vt:lpstr>
      <vt:lpstr>注意：如果先使p指向数组 a,  即p=a;  则:</vt:lpstr>
      <vt:lpstr>注意：如果先使p指向数组 a,  即p=a;  则:</vt:lpstr>
      <vt:lpstr>PowerPoint 演示文稿</vt:lpstr>
      <vt:lpstr>PowerPoint 演示文稿</vt:lpstr>
      <vt:lpstr>7.3.3 数组名作为函数参数</vt:lpstr>
      <vt:lpstr>7.3.3 数组名作为函数参数</vt:lpstr>
      <vt:lpstr>例 用选择法对任意10个整数按从大到小顺序排序。</vt:lpstr>
      <vt:lpstr>例 用选择法对10个整数按从大到小顺序排序。 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  指针</dc:title>
  <dc:creator>wwb</dc:creator>
  <cp:lastModifiedBy>Administrator</cp:lastModifiedBy>
  <cp:revision>95</cp:revision>
  <dcterms:created xsi:type="dcterms:W3CDTF">2020-01-14T21:53:00Z</dcterms:created>
  <dcterms:modified xsi:type="dcterms:W3CDTF">2025-07-24T02:07:58Z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5905896D292C4F82AC9AC80E489D8436_12</vt:lpwstr>
  </property>
  <property fmtid="{D5CDD505-2E9C-101B-9397-08002B2CF9AE}" pid="3" name="KSOProductBuildVer">
    <vt:lpwstr>2052-12.1.0.17147</vt:lpwstr>
  </property>
</Properties>
</file>