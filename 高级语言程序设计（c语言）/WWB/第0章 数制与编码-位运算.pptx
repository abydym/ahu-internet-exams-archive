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4174" r:id="rId2"/>
  </p:sldMasterIdLst>
  <p:notesMasterIdLst>
    <p:notesMasterId r:id="rId23"/>
  </p:notesMasterIdLst>
  <p:sldIdLst>
    <p:sldId id="370" r:id="rId3"/>
    <p:sldId id="257" r:id="rId4"/>
    <p:sldId id="271" r:id="rId5"/>
    <p:sldId id="334" r:id="rId6"/>
    <p:sldId id="371" r:id="rId7"/>
    <p:sldId id="360" r:id="rId8"/>
    <p:sldId id="361" r:id="rId9"/>
    <p:sldId id="356" r:id="rId10"/>
    <p:sldId id="369" r:id="rId11"/>
    <p:sldId id="347" r:id="rId12"/>
    <p:sldId id="362" r:id="rId13"/>
    <p:sldId id="363" r:id="rId14"/>
    <p:sldId id="348" r:id="rId15"/>
    <p:sldId id="354" r:id="rId16"/>
    <p:sldId id="349" r:id="rId17"/>
    <p:sldId id="350" r:id="rId18"/>
    <p:sldId id="355" r:id="rId19"/>
    <p:sldId id="364" r:id="rId20"/>
    <p:sldId id="357" r:id="rId21"/>
    <p:sldId id="358" r:id="rId22"/>
  </p:sldIdLst>
  <p:sldSz cx="9144000" cy="5143500" type="screen16x9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00"/>
    <a:srgbClr val="FFFFFF"/>
    <a:srgbClr val="3399FF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593" autoAdjust="0"/>
  </p:normalViewPr>
  <p:slideViewPr>
    <p:cSldViewPr>
      <p:cViewPr varScale="1">
        <p:scale>
          <a:sx n="82" d="100"/>
          <a:sy n="82" d="100"/>
        </p:scale>
        <p:origin x="820" y="40"/>
      </p:cViewPr>
      <p:guideLst>
        <p:guide orient="horz" pos="1620"/>
        <p:guide pos="288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33" cy="72033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页眉占位符 1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3075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fld id="{C3B1BE61-94A4-45DA-BACC-9F307604E9B1}" type="datetime1">
              <a:rPr lang="zh-CN" altLang="en-US"/>
              <a:pPr>
                <a:defRPr/>
              </a:pPr>
              <a:t>2025/7/31 Thursday</a:t>
            </a:fld>
            <a:endParaRPr lang="zh-CN" altLang="en-US"/>
          </a:p>
        </p:txBody>
      </p:sp>
      <p:sp>
        <p:nvSpPr>
          <p:cNvPr id="26628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7413" name="备注占位符 4"/>
          <p:cNvSpPr>
            <a:spLocks noGrp="1" noRot="1" noChangeAspect="1"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defTabSz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defTabSz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defTabSz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defTabSz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>
              <a:spcBef>
                <a:spcPct val="30000"/>
              </a:spcBef>
              <a:defRPr/>
            </a:pPr>
            <a:r>
              <a:rPr lang="zh-CN" altLang="en-US" sz="1200"/>
              <a:t>单击此处编辑母版文本样式</a:t>
            </a:r>
          </a:p>
          <a:p>
            <a:pPr>
              <a:spcBef>
                <a:spcPct val="30000"/>
              </a:spcBef>
              <a:defRPr/>
            </a:pPr>
            <a:r>
              <a:rPr lang="zh-CN" altLang="en-US" sz="1200"/>
              <a:t>第二级</a:t>
            </a:r>
          </a:p>
          <a:p>
            <a:pPr>
              <a:spcBef>
                <a:spcPct val="30000"/>
              </a:spcBef>
              <a:defRPr/>
            </a:pPr>
            <a:r>
              <a:rPr lang="zh-CN" altLang="en-US" sz="1200"/>
              <a:t>第三级</a:t>
            </a:r>
          </a:p>
          <a:p>
            <a:pPr>
              <a:spcBef>
                <a:spcPct val="30000"/>
              </a:spcBef>
              <a:defRPr/>
            </a:pPr>
            <a:r>
              <a:rPr lang="zh-CN" altLang="en-US" sz="1200"/>
              <a:t>第四级</a:t>
            </a:r>
          </a:p>
          <a:p>
            <a:pPr>
              <a:spcBef>
                <a:spcPct val="30000"/>
              </a:spcBef>
              <a:defRPr/>
            </a:pPr>
            <a:r>
              <a:rPr lang="zh-CN" altLang="en-US" sz="1200"/>
              <a:t>第五级</a:t>
            </a:r>
          </a:p>
        </p:txBody>
      </p:sp>
      <p:sp>
        <p:nvSpPr>
          <p:cNvPr id="3078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3079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fld id="{B909AF1C-B5E5-4EF7-B417-53DE469DC20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1522728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1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25913483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078826785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2" y="3305179"/>
            <a:ext cx="7772401" cy="1021557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2" y="2180035"/>
            <a:ext cx="7772401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325152936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8313" y="735807"/>
            <a:ext cx="4027487" cy="403026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735807"/>
            <a:ext cx="4027488" cy="403026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154489472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33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33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34933735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140097788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2049319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9" y="204790"/>
            <a:ext cx="3008312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92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9" y="1076328"/>
            <a:ext cx="3008312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179997026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7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26229325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91648109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4639" y="86920"/>
            <a:ext cx="2051050" cy="467915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68319" y="86920"/>
            <a:ext cx="6003925" cy="467915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717619435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80902" y="950797"/>
            <a:ext cx="7182197" cy="3230963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085851" y="1058711"/>
            <a:ext cx="6972300" cy="3026078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3851910" y="950798"/>
            <a:ext cx="1440180" cy="5486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3937635" y="950798"/>
            <a:ext cx="1268730" cy="483971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1281" y="1568447"/>
            <a:ext cx="6801440" cy="19431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5400" b="0" kern="1200" cap="all" spc="-75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1575" y="3511547"/>
            <a:ext cx="6803136" cy="3429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200" spc="60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200"/>
            </a:lvl2pPr>
            <a:lvl3pPr marL="685800" indent="0" algn="ctr">
              <a:buNone/>
              <a:defRPr sz="12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3989070" y="1005942"/>
            <a:ext cx="1165860" cy="395410"/>
          </a:xfrm>
        </p:spPr>
        <p:txBody>
          <a:bodyPr/>
          <a:lstStyle>
            <a:lvl1pPr algn="ctr">
              <a:defRPr sz="975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48A87A34-81AB-432B-8DAE-1953F412C126}" type="datetimeFigureOut">
              <a:rPr lang="en-US" smtClean="0"/>
              <a:t>7/31/2025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090422" y="3908295"/>
            <a:ext cx="4429125" cy="17145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6455190" y="3909060"/>
            <a:ext cx="1583911" cy="1714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96450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7/31/2025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11527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980902" y="950797"/>
            <a:ext cx="7182197" cy="3230963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085850" y="1058711"/>
            <a:ext cx="6972300" cy="3026078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3851910" y="950798"/>
            <a:ext cx="1440180" cy="5486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3937635" y="950798"/>
            <a:ext cx="1268730" cy="483971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2717" y="1570732"/>
            <a:ext cx="6803136" cy="1940814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5400" kern="1200" cap="all" spc="-75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2718" y="3511547"/>
            <a:ext cx="6803136" cy="342900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>
                <a:solidFill>
                  <a:schemeClr val="tx1"/>
                </a:solidFill>
                <a:effectLst/>
              </a:defRPr>
            </a:lvl1pPr>
            <a:lvl2pPr marL="3429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991356" y="1008377"/>
            <a:ext cx="1165860" cy="397764"/>
          </a:xfrm>
        </p:spPr>
        <p:txBody>
          <a:bodyPr/>
          <a:lstStyle>
            <a:lvl1pPr algn="ctr">
              <a:defRPr lang="en-US" sz="975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48A87A34-81AB-432B-8DAE-1953F412C126}" type="datetimeFigureOut">
              <a:rPr lang="en-US" smtClean="0"/>
              <a:t>7/31/2025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90165" y="3908295"/>
            <a:ext cx="4430268" cy="17145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3378" y="3908295"/>
            <a:ext cx="1584198" cy="171450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17357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0100" y="1577340"/>
            <a:ext cx="3566160" cy="2811780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7740" y="1577340"/>
            <a:ext cx="3566160" cy="2811780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7/31/2025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5308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2386" y="1555751"/>
            <a:ext cx="3566160" cy="48006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425" b="0">
                <a:solidFill>
                  <a:schemeClr val="tx2"/>
                </a:solidFill>
                <a:latin typeface="+mn-lt"/>
              </a:defRPr>
            </a:lvl1pPr>
            <a:lvl2pPr marL="342900" indent="0">
              <a:buNone/>
              <a:defRPr sz="1425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02386" y="2066924"/>
            <a:ext cx="3566160" cy="2400300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80026" y="1555751"/>
            <a:ext cx="3566160" cy="48006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425" b="0">
                <a:solidFill>
                  <a:schemeClr val="tx2"/>
                </a:solidFill>
              </a:defRPr>
            </a:lvl1pPr>
            <a:lvl2pPr marL="342900" indent="0">
              <a:buNone/>
              <a:defRPr sz="1425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80026" y="2067436"/>
            <a:ext cx="3566160" cy="2400300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7/31/2025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39238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7/31/2025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0088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7/31/2025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90809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84147" y="178308"/>
            <a:ext cx="6398514" cy="478688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6765290" y="178308"/>
            <a:ext cx="2194560" cy="4786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2300" y="455544"/>
            <a:ext cx="1823085" cy="1234440"/>
          </a:xfrm>
        </p:spPr>
        <p:txBody>
          <a:bodyPr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1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350" y="457200"/>
            <a:ext cx="5829300" cy="4000500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2300" y="1714500"/>
            <a:ext cx="1823085" cy="26289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1050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7/31/2025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7795258" y="4667252"/>
            <a:ext cx="1097280" cy="20574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6868160" y="281178"/>
            <a:ext cx="1988820" cy="4581144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04580060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6765290" y="178308"/>
            <a:ext cx="2194560" cy="4786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2300" y="452628"/>
            <a:ext cx="1824228" cy="1234440"/>
          </a:xfrm>
        </p:spPr>
        <p:txBody>
          <a:bodyPr anchor="b">
            <a:noAutofit/>
          </a:bodyPr>
          <a:lstStyle>
            <a:lvl1pPr algn="l">
              <a:defRPr sz="21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1449" y="178308"/>
            <a:ext cx="6398514" cy="4786884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2300" y="1714500"/>
            <a:ext cx="1824228" cy="2626614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600"/>
              </a:spcBef>
              <a:buNone/>
              <a:defRPr sz="1050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48A87A34-81AB-432B-8DAE-1953F412C126}" type="datetimeFigureOut">
              <a:rPr lang="en-US" smtClean="0"/>
              <a:t>7/31/2025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685800" rtl="0" eaLnBrk="1" latinLnBrk="0" hangingPunct="1">
              <a:defRPr lang="en-US" sz="75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97546" y="4670298"/>
            <a:ext cx="1097280" cy="20574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6868160" y="281178"/>
            <a:ext cx="1988820" cy="4581144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1560696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7/31/2025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7981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571500"/>
            <a:ext cx="1771650" cy="394335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571500"/>
            <a:ext cx="6057900" cy="39433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7/31/2025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3744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2-2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68314" y="87313"/>
            <a:ext cx="8207375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标题文本样式：微软雅黑</a:t>
            </a:r>
            <a:r>
              <a:rPr lang="en-US" altLang="zh-CN"/>
              <a:t>/28</a:t>
            </a:r>
            <a:r>
              <a:rPr lang="zh-CN" altLang="en-US"/>
              <a:t>号  </a:t>
            </a:r>
            <a:r>
              <a:rPr lang="en-US" altLang="zh-CN"/>
              <a:t>Arial/28pt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8314" y="735013"/>
            <a:ext cx="8207375" cy="4030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第一级内容文本样式：微软雅黑</a:t>
            </a:r>
            <a:r>
              <a:rPr lang="en-US" altLang="zh-CN"/>
              <a:t>/20</a:t>
            </a:r>
            <a:r>
              <a:rPr lang="zh-CN" altLang="en-US"/>
              <a:t>号  </a:t>
            </a:r>
            <a:r>
              <a:rPr lang="en-US" altLang="zh-CN"/>
              <a:t>Arial/20pt</a:t>
            </a:r>
          </a:p>
          <a:p>
            <a:pPr lvl="1"/>
            <a:r>
              <a:rPr lang="zh-CN" altLang="en-US"/>
              <a:t>第二级内容文本样式：微软雅黑</a:t>
            </a:r>
            <a:r>
              <a:rPr lang="en-US" altLang="zh-CN"/>
              <a:t>/18</a:t>
            </a:r>
            <a:r>
              <a:rPr lang="zh-CN" altLang="en-US"/>
              <a:t>号  </a:t>
            </a:r>
            <a:r>
              <a:rPr lang="en-US" altLang="zh-CN"/>
              <a:t>Arial/18pt</a:t>
            </a:r>
          </a:p>
          <a:p>
            <a:pPr lvl="2"/>
            <a:r>
              <a:rPr lang="zh-CN" altLang="en-US"/>
              <a:t>第三级内容文本样式：微软雅黑</a:t>
            </a:r>
            <a:r>
              <a:rPr lang="en-US" altLang="zh-CN"/>
              <a:t>/16</a:t>
            </a:r>
            <a:r>
              <a:rPr lang="zh-CN" altLang="en-US"/>
              <a:t>号  </a:t>
            </a:r>
            <a:r>
              <a:rPr lang="en-US" altLang="zh-CN"/>
              <a:t>Arial/16pt</a:t>
            </a:r>
          </a:p>
          <a:p>
            <a:pPr lvl="3"/>
            <a:r>
              <a:rPr lang="zh-CN" altLang="en-US"/>
              <a:t>第四级内容文本样式：微软雅黑</a:t>
            </a:r>
            <a:r>
              <a:rPr lang="en-US" altLang="zh-CN"/>
              <a:t>/14</a:t>
            </a:r>
            <a:r>
              <a:rPr lang="zh-CN" altLang="en-US"/>
              <a:t>号  </a:t>
            </a:r>
            <a:r>
              <a:rPr lang="en-US" altLang="zh-CN"/>
              <a:t>Arial/14pt</a:t>
            </a:r>
          </a:p>
          <a:p>
            <a:pPr lvl="4"/>
            <a:r>
              <a:rPr lang="zh-CN" altLang="en-US"/>
              <a:t>第五级内容文本样式：微软雅黑</a:t>
            </a:r>
            <a:r>
              <a:rPr lang="en-US" altLang="zh-CN"/>
              <a:t>/12</a:t>
            </a:r>
            <a:r>
              <a:rPr lang="zh-CN" altLang="en-US"/>
              <a:t>号  </a:t>
            </a:r>
            <a:r>
              <a:rPr lang="en-US" altLang="zh-CN"/>
              <a:t>Arial/12pt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36" r:id="rId1"/>
    <p:sldLayoutId id="2147484026" r:id="rId2"/>
    <p:sldLayoutId id="2147484027" r:id="rId3"/>
    <p:sldLayoutId id="2147484028" r:id="rId4"/>
    <p:sldLayoutId id="2147484029" r:id="rId5"/>
    <p:sldLayoutId id="2147484030" r:id="rId6"/>
    <p:sldLayoutId id="2147484031" r:id="rId7"/>
    <p:sldLayoutId id="2147484032" r:id="rId8"/>
    <p:sldLayoutId id="2147484033" r:id="rId9"/>
    <p:sldLayoutId id="2147484034" r:id="rId10"/>
    <p:sldLayoutId id="2147484035" r:id="rId11"/>
  </p:sldLayoutIdLst>
  <p:transition>
    <p:fade/>
  </p:transition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+mj-lt"/>
          <a:ea typeface="+mj-ea"/>
          <a:cs typeface="微软雅黑" pitchFamily="34" charset="-122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ea typeface="微软雅黑" pitchFamily="34" charset="-122"/>
          <a:cs typeface="微软雅黑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ea typeface="微软雅黑" pitchFamily="34" charset="-122"/>
          <a:cs typeface="微软雅黑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ea typeface="微软雅黑" pitchFamily="34" charset="-122"/>
          <a:cs typeface="微软雅黑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ea typeface="微软雅黑" pitchFamily="34" charset="-122"/>
          <a:cs typeface="微软雅黑" pitchFamily="34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ea typeface="微软雅黑" pitchFamily="34" charset="-122"/>
          <a:cs typeface="宋体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ea typeface="微软雅黑" pitchFamily="34" charset="-122"/>
          <a:cs typeface="宋体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ea typeface="微软雅黑" pitchFamily="34" charset="-122"/>
          <a:cs typeface="宋体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ea typeface="微软雅黑" pitchFamily="34" charset="-122"/>
          <a:cs typeface="宋体" charset="-122"/>
        </a:defRPr>
      </a:lvl9pPr>
    </p:titleStyle>
    <p:bodyStyle>
      <a:lvl1pPr marL="180975" indent="-18097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itchFamily="2" charset="2"/>
        <a:buChar char="l"/>
        <a:defRPr sz="2000" b="1">
          <a:solidFill>
            <a:schemeClr val="tx1"/>
          </a:solidFill>
          <a:latin typeface="+mn-lt"/>
          <a:ea typeface="+mn-ea"/>
          <a:cs typeface="微软雅黑" pitchFamily="34" charset="-122"/>
        </a:defRPr>
      </a:lvl1pPr>
      <a:lvl2pPr marL="541338" indent="-18097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itchFamily="2" charset="2"/>
        <a:buChar char="l"/>
        <a:defRPr sz="2800">
          <a:solidFill>
            <a:schemeClr val="tx1"/>
          </a:solidFill>
          <a:latin typeface="+mn-lt"/>
          <a:ea typeface="+mn-ea"/>
          <a:cs typeface="微软雅黑" pitchFamily="34" charset="-122"/>
        </a:defRPr>
      </a:lvl2pPr>
      <a:lvl3pPr marL="895350" indent="-17462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itchFamily="2" charset="2"/>
        <a:buChar char="l"/>
        <a:defRPr sz="1600">
          <a:solidFill>
            <a:schemeClr val="tx1"/>
          </a:solidFill>
          <a:latin typeface="+mn-lt"/>
          <a:ea typeface="+mn-ea"/>
          <a:cs typeface="微软雅黑" pitchFamily="34" charset="-122"/>
        </a:defRPr>
      </a:lvl3pPr>
      <a:lvl4pPr marL="1255713" indent="-18097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itchFamily="2" charset="2"/>
        <a:buChar char="l"/>
        <a:defRPr sz="1400">
          <a:solidFill>
            <a:schemeClr val="tx1"/>
          </a:solidFill>
          <a:latin typeface="+mn-lt"/>
          <a:ea typeface="+mn-ea"/>
          <a:cs typeface="微软雅黑" pitchFamily="34" charset="-122"/>
        </a:defRPr>
      </a:lvl4pPr>
      <a:lvl5pPr marL="1619250" indent="-184150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itchFamily="2" charset="2"/>
        <a:buChar char="l"/>
        <a:defRPr sz="1200">
          <a:solidFill>
            <a:schemeClr val="tx1"/>
          </a:solidFill>
          <a:latin typeface="+mn-lt"/>
          <a:ea typeface="+mn-ea"/>
          <a:cs typeface="微软雅黑" pitchFamily="34" charset="-122"/>
        </a:defRPr>
      </a:lvl5pPr>
      <a:lvl6pPr marL="20764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itchFamily="2" charset="2"/>
        <a:buChar char="l"/>
        <a:defRPr sz="1200">
          <a:solidFill>
            <a:schemeClr val="tx1"/>
          </a:solidFill>
          <a:latin typeface="+mn-lt"/>
          <a:ea typeface="+mn-ea"/>
          <a:cs typeface="+mn-cs"/>
        </a:defRPr>
      </a:lvl6pPr>
      <a:lvl7pPr marL="25336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itchFamily="2" charset="2"/>
        <a:buChar char="l"/>
        <a:defRPr sz="1200">
          <a:solidFill>
            <a:schemeClr val="tx1"/>
          </a:solidFill>
          <a:latin typeface="+mn-lt"/>
          <a:ea typeface="+mn-ea"/>
          <a:cs typeface="+mn-cs"/>
        </a:defRPr>
      </a:lvl7pPr>
      <a:lvl8pPr marL="29908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itchFamily="2" charset="2"/>
        <a:buChar char="l"/>
        <a:defRPr sz="1200">
          <a:solidFill>
            <a:schemeClr val="tx1"/>
          </a:solidFill>
          <a:latin typeface="+mn-lt"/>
          <a:ea typeface="+mn-ea"/>
          <a:cs typeface="+mn-cs"/>
        </a:defRPr>
      </a:lvl8pPr>
      <a:lvl9pPr marL="34480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itchFamily="2" charset="2"/>
        <a:buChar char="l"/>
        <a:defRPr sz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76022" y="178308"/>
            <a:ext cx="8791956" cy="4786884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00100" y="481946"/>
            <a:ext cx="7543800" cy="1028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0100" y="1577340"/>
            <a:ext cx="7543800" cy="29489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5740" y="4730754"/>
            <a:ext cx="2057400" cy="20574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7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BC48EC7-AF6A-48D3-8284-14BACBEBDD84}" type="datetimeFigureOut">
              <a:rPr lang="en-US" dirty="0"/>
              <a:t>7/31/2025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17470" y="4730754"/>
            <a:ext cx="3909060" cy="20574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7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52410" y="4730754"/>
            <a:ext cx="1097280" cy="20574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7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425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75" r:id="rId1"/>
    <p:sldLayoutId id="2147484176" r:id="rId2"/>
    <p:sldLayoutId id="2147484177" r:id="rId3"/>
    <p:sldLayoutId id="2147484178" r:id="rId4"/>
    <p:sldLayoutId id="2147484179" r:id="rId5"/>
    <p:sldLayoutId id="2147484180" r:id="rId6"/>
    <p:sldLayoutId id="2147484181" r:id="rId7"/>
    <p:sldLayoutId id="2147484182" r:id="rId8"/>
    <p:sldLayoutId id="2147484183" r:id="rId9"/>
    <p:sldLayoutId id="2147484184" r:id="rId10"/>
    <p:sldLayoutId id="214748418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lang="en-US" sz="36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37160" indent="-137160" algn="l" defTabSz="685800" rtl="0" eaLnBrk="1" latinLnBrk="0" hangingPunct="1">
        <a:lnSpc>
          <a:spcPct val="100000"/>
        </a:lnSpc>
        <a:spcBef>
          <a:spcPts val="675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3716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13716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754380" indent="-13716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960120" indent="-13716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1200000" indent="-17145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1425000" indent="-17145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1650000" indent="-17145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1875000" indent="-17145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1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5.tmp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tags" Target="../tags/tag30.xml"/><Relationship Id="rId18" Type="http://schemas.openxmlformats.org/officeDocument/2006/relationships/slideLayout" Target="../slideLayouts/slideLayout18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12" Type="http://schemas.openxmlformats.org/officeDocument/2006/relationships/tags" Target="../tags/tag29.xml"/><Relationship Id="rId17" Type="http://schemas.openxmlformats.org/officeDocument/2006/relationships/tags" Target="../tags/tag34.xml"/><Relationship Id="rId2" Type="http://schemas.openxmlformats.org/officeDocument/2006/relationships/tags" Target="../tags/tag19.xml"/><Relationship Id="rId16" Type="http://schemas.openxmlformats.org/officeDocument/2006/relationships/tags" Target="../tags/tag33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tags" Target="../tags/tag28.xml"/><Relationship Id="rId5" Type="http://schemas.openxmlformats.org/officeDocument/2006/relationships/tags" Target="../tags/tag22.xml"/><Relationship Id="rId15" Type="http://schemas.openxmlformats.org/officeDocument/2006/relationships/tags" Target="../tags/tag32.xml"/><Relationship Id="rId10" Type="http://schemas.openxmlformats.org/officeDocument/2006/relationships/tags" Target="../tags/tag27.xml"/><Relationship Id="rId19" Type="http://schemas.openxmlformats.org/officeDocument/2006/relationships/image" Target="../media/image5.tmp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tags" Target="../tags/tag3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13" Type="http://schemas.openxmlformats.org/officeDocument/2006/relationships/tags" Target="../tags/tag47.xml"/><Relationship Id="rId18" Type="http://schemas.openxmlformats.org/officeDocument/2006/relationships/slideLayout" Target="../slideLayouts/slideLayout18.xml"/><Relationship Id="rId3" Type="http://schemas.openxmlformats.org/officeDocument/2006/relationships/tags" Target="../tags/tag37.xml"/><Relationship Id="rId7" Type="http://schemas.openxmlformats.org/officeDocument/2006/relationships/tags" Target="../tags/tag41.xml"/><Relationship Id="rId12" Type="http://schemas.openxmlformats.org/officeDocument/2006/relationships/tags" Target="../tags/tag46.xml"/><Relationship Id="rId17" Type="http://schemas.openxmlformats.org/officeDocument/2006/relationships/tags" Target="../tags/tag51.xml"/><Relationship Id="rId2" Type="http://schemas.openxmlformats.org/officeDocument/2006/relationships/tags" Target="../tags/tag36.xml"/><Relationship Id="rId16" Type="http://schemas.openxmlformats.org/officeDocument/2006/relationships/tags" Target="../tags/tag50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tags" Target="../tags/tag45.xml"/><Relationship Id="rId5" Type="http://schemas.openxmlformats.org/officeDocument/2006/relationships/tags" Target="../tags/tag39.xml"/><Relationship Id="rId15" Type="http://schemas.openxmlformats.org/officeDocument/2006/relationships/tags" Target="../tags/tag49.xml"/><Relationship Id="rId10" Type="http://schemas.openxmlformats.org/officeDocument/2006/relationships/tags" Target="../tags/tag44.xml"/><Relationship Id="rId19" Type="http://schemas.openxmlformats.org/officeDocument/2006/relationships/image" Target="../media/image5.tmp"/><Relationship Id="rId4" Type="http://schemas.openxmlformats.org/officeDocument/2006/relationships/tags" Target="../tags/tag38.xml"/><Relationship Id="rId9" Type="http://schemas.openxmlformats.org/officeDocument/2006/relationships/tags" Target="../tags/tag43.xml"/><Relationship Id="rId14" Type="http://schemas.openxmlformats.org/officeDocument/2006/relationships/tags" Target="../tags/tag48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59.xml"/><Relationship Id="rId13" Type="http://schemas.openxmlformats.org/officeDocument/2006/relationships/tags" Target="../tags/tag64.xml"/><Relationship Id="rId18" Type="http://schemas.openxmlformats.org/officeDocument/2006/relationships/slideLayout" Target="../slideLayouts/slideLayout18.xml"/><Relationship Id="rId3" Type="http://schemas.openxmlformats.org/officeDocument/2006/relationships/tags" Target="../tags/tag54.xml"/><Relationship Id="rId7" Type="http://schemas.openxmlformats.org/officeDocument/2006/relationships/tags" Target="../tags/tag58.xml"/><Relationship Id="rId12" Type="http://schemas.openxmlformats.org/officeDocument/2006/relationships/tags" Target="../tags/tag63.xml"/><Relationship Id="rId17" Type="http://schemas.openxmlformats.org/officeDocument/2006/relationships/tags" Target="../tags/tag68.xml"/><Relationship Id="rId2" Type="http://schemas.openxmlformats.org/officeDocument/2006/relationships/tags" Target="../tags/tag53.xml"/><Relationship Id="rId16" Type="http://schemas.openxmlformats.org/officeDocument/2006/relationships/tags" Target="../tags/tag67.xml"/><Relationship Id="rId1" Type="http://schemas.openxmlformats.org/officeDocument/2006/relationships/tags" Target="../tags/tag52.xml"/><Relationship Id="rId6" Type="http://schemas.openxmlformats.org/officeDocument/2006/relationships/tags" Target="../tags/tag57.xml"/><Relationship Id="rId11" Type="http://schemas.openxmlformats.org/officeDocument/2006/relationships/tags" Target="../tags/tag62.xml"/><Relationship Id="rId5" Type="http://schemas.openxmlformats.org/officeDocument/2006/relationships/tags" Target="../tags/tag56.xml"/><Relationship Id="rId15" Type="http://schemas.openxmlformats.org/officeDocument/2006/relationships/tags" Target="../tags/tag66.xml"/><Relationship Id="rId10" Type="http://schemas.openxmlformats.org/officeDocument/2006/relationships/tags" Target="../tags/tag61.xml"/><Relationship Id="rId19" Type="http://schemas.openxmlformats.org/officeDocument/2006/relationships/image" Target="../media/image5.tmp"/><Relationship Id="rId4" Type="http://schemas.openxmlformats.org/officeDocument/2006/relationships/tags" Target="../tags/tag55.xml"/><Relationship Id="rId9" Type="http://schemas.openxmlformats.org/officeDocument/2006/relationships/tags" Target="../tags/tag60.xml"/><Relationship Id="rId14" Type="http://schemas.openxmlformats.org/officeDocument/2006/relationships/tags" Target="../tags/tag6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76.xml"/><Relationship Id="rId13" Type="http://schemas.openxmlformats.org/officeDocument/2006/relationships/tags" Target="../tags/tag81.xml"/><Relationship Id="rId18" Type="http://schemas.openxmlformats.org/officeDocument/2006/relationships/slideLayout" Target="../slideLayouts/slideLayout18.xml"/><Relationship Id="rId3" Type="http://schemas.openxmlformats.org/officeDocument/2006/relationships/tags" Target="../tags/tag71.xml"/><Relationship Id="rId7" Type="http://schemas.openxmlformats.org/officeDocument/2006/relationships/tags" Target="../tags/tag75.xml"/><Relationship Id="rId12" Type="http://schemas.openxmlformats.org/officeDocument/2006/relationships/tags" Target="../tags/tag80.xml"/><Relationship Id="rId17" Type="http://schemas.openxmlformats.org/officeDocument/2006/relationships/tags" Target="../tags/tag85.xml"/><Relationship Id="rId2" Type="http://schemas.openxmlformats.org/officeDocument/2006/relationships/tags" Target="../tags/tag70.xml"/><Relationship Id="rId16" Type="http://schemas.openxmlformats.org/officeDocument/2006/relationships/tags" Target="../tags/tag84.xml"/><Relationship Id="rId1" Type="http://schemas.openxmlformats.org/officeDocument/2006/relationships/tags" Target="../tags/tag69.xml"/><Relationship Id="rId6" Type="http://schemas.openxmlformats.org/officeDocument/2006/relationships/tags" Target="../tags/tag74.xml"/><Relationship Id="rId11" Type="http://schemas.openxmlformats.org/officeDocument/2006/relationships/tags" Target="../tags/tag79.xml"/><Relationship Id="rId5" Type="http://schemas.openxmlformats.org/officeDocument/2006/relationships/tags" Target="../tags/tag73.xml"/><Relationship Id="rId15" Type="http://schemas.openxmlformats.org/officeDocument/2006/relationships/tags" Target="../tags/tag83.xml"/><Relationship Id="rId10" Type="http://schemas.openxmlformats.org/officeDocument/2006/relationships/tags" Target="../tags/tag78.xml"/><Relationship Id="rId19" Type="http://schemas.openxmlformats.org/officeDocument/2006/relationships/image" Target="../media/image5.tmp"/><Relationship Id="rId4" Type="http://schemas.openxmlformats.org/officeDocument/2006/relationships/tags" Target="../tags/tag72.xml"/><Relationship Id="rId9" Type="http://schemas.openxmlformats.org/officeDocument/2006/relationships/tags" Target="../tags/tag77.xml"/><Relationship Id="rId14" Type="http://schemas.openxmlformats.org/officeDocument/2006/relationships/tags" Target="../tags/tag8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tags" Target="../tags/tag93.xml"/><Relationship Id="rId3" Type="http://schemas.openxmlformats.org/officeDocument/2006/relationships/tags" Target="../tags/tag88.xml"/><Relationship Id="rId7" Type="http://schemas.openxmlformats.org/officeDocument/2006/relationships/tags" Target="../tags/tag92.xml"/><Relationship Id="rId12" Type="http://schemas.openxmlformats.org/officeDocument/2006/relationships/image" Target="../media/image5.tmp"/><Relationship Id="rId2" Type="http://schemas.openxmlformats.org/officeDocument/2006/relationships/tags" Target="../tags/tag87.xml"/><Relationship Id="rId1" Type="http://schemas.openxmlformats.org/officeDocument/2006/relationships/tags" Target="../tags/tag86.xml"/><Relationship Id="rId6" Type="http://schemas.openxmlformats.org/officeDocument/2006/relationships/tags" Target="../tags/tag91.xml"/><Relationship Id="rId11" Type="http://schemas.openxmlformats.org/officeDocument/2006/relationships/slideLayout" Target="../slideLayouts/slideLayout18.xml"/><Relationship Id="rId5" Type="http://schemas.openxmlformats.org/officeDocument/2006/relationships/tags" Target="../tags/tag90.xml"/><Relationship Id="rId10" Type="http://schemas.openxmlformats.org/officeDocument/2006/relationships/tags" Target="../tags/tag95.xml"/><Relationship Id="rId4" Type="http://schemas.openxmlformats.org/officeDocument/2006/relationships/tags" Target="../tags/tag89.xml"/><Relationship Id="rId9" Type="http://schemas.openxmlformats.org/officeDocument/2006/relationships/tags" Target="../tags/tag94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103.xml"/><Relationship Id="rId3" Type="http://schemas.openxmlformats.org/officeDocument/2006/relationships/tags" Target="../tags/tag98.xml"/><Relationship Id="rId7" Type="http://schemas.openxmlformats.org/officeDocument/2006/relationships/tags" Target="../tags/tag102.xml"/><Relationship Id="rId12" Type="http://schemas.openxmlformats.org/officeDocument/2006/relationships/image" Target="../media/image5.tmp"/><Relationship Id="rId2" Type="http://schemas.openxmlformats.org/officeDocument/2006/relationships/tags" Target="../tags/tag97.xml"/><Relationship Id="rId1" Type="http://schemas.openxmlformats.org/officeDocument/2006/relationships/tags" Target="../tags/tag96.xml"/><Relationship Id="rId6" Type="http://schemas.openxmlformats.org/officeDocument/2006/relationships/tags" Target="../tags/tag101.xml"/><Relationship Id="rId11" Type="http://schemas.openxmlformats.org/officeDocument/2006/relationships/slideLayout" Target="../slideLayouts/slideLayout18.xml"/><Relationship Id="rId5" Type="http://schemas.openxmlformats.org/officeDocument/2006/relationships/tags" Target="../tags/tag100.xml"/><Relationship Id="rId10" Type="http://schemas.openxmlformats.org/officeDocument/2006/relationships/tags" Target="../tags/tag105.xml"/><Relationship Id="rId4" Type="http://schemas.openxmlformats.org/officeDocument/2006/relationships/tags" Target="../tags/tag99.xml"/><Relationship Id="rId9" Type="http://schemas.openxmlformats.org/officeDocument/2006/relationships/tags" Target="../tags/tag10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AAEBD673-BEDE-4326-853B-9449C908B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3208" y="2328069"/>
            <a:ext cx="3817749" cy="487362"/>
          </a:xfrm>
        </p:spPr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0</a:t>
            </a:r>
            <a:r>
              <a:rPr lang="zh-CN" altLang="en-US" dirty="0"/>
              <a:t>章</a:t>
            </a:r>
            <a:r>
              <a:rPr lang="en-US" altLang="zh-CN" dirty="0"/>
              <a:t>-5</a:t>
            </a:r>
            <a:r>
              <a:rPr lang="zh-CN" altLang="en-US" dirty="0"/>
              <a:t> 位运算</a:t>
            </a:r>
          </a:p>
        </p:txBody>
      </p:sp>
    </p:spTree>
    <p:extLst>
      <p:ext uri="{BB962C8B-B14F-4D97-AF65-F5344CB8AC3E}">
        <p14:creationId xmlns:p14="http://schemas.microsoft.com/office/powerpoint/2010/main" val="2999176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直接连接符 2"/>
          <p:cNvSpPr>
            <a:spLocks noChangeShapeType="1"/>
          </p:cNvSpPr>
          <p:nvPr/>
        </p:nvSpPr>
        <p:spPr bwMode="auto">
          <a:xfrm rot="5400000">
            <a:off x="856482" y="305077"/>
            <a:ext cx="612775" cy="2625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7" name="直接连接符 3"/>
          <p:cNvSpPr>
            <a:spLocks noChangeShapeType="1"/>
          </p:cNvSpPr>
          <p:nvPr/>
        </p:nvSpPr>
        <p:spPr bwMode="auto">
          <a:xfrm rot="5400000">
            <a:off x="1033228" y="179526"/>
            <a:ext cx="360363" cy="1312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8" name="标题 1"/>
          <p:cNvSpPr>
            <a:spLocks noGrp="1" noChangeArrowheads="1"/>
          </p:cNvSpPr>
          <p:nvPr>
            <p:ph type="ctrTitle"/>
          </p:nvPr>
        </p:nvSpPr>
        <p:spPr bwMode="auto">
          <a:xfrm>
            <a:off x="1330515" y="322266"/>
            <a:ext cx="6805137" cy="50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/>
          </a:bodyPr>
          <a:lstStyle/>
          <a:p>
            <a:pPr marL="0" indent="0" eaLnBrk="1" hangingPunct="1"/>
            <a:r>
              <a:rPr lang="zh-CN" altLang="en-US" sz="3200"/>
              <a:t>目 录</a:t>
            </a:r>
          </a:p>
        </p:txBody>
      </p:sp>
      <p:sp>
        <p:nvSpPr>
          <p:cNvPr id="6149" name="直接连接符 13"/>
          <p:cNvSpPr>
            <a:spLocks noChangeShapeType="1"/>
          </p:cNvSpPr>
          <p:nvPr/>
        </p:nvSpPr>
        <p:spPr bwMode="auto">
          <a:xfrm>
            <a:off x="2219609" y="3598865"/>
            <a:ext cx="3531215" cy="3175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50" name="直接连接符 12"/>
          <p:cNvSpPr>
            <a:spLocks noChangeShapeType="1"/>
          </p:cNvSpPr>
          <p:nvPr/>
        </p:nvSpPr>
        <p:spPr bwMode="auto">
          <a:xfrm>
            <a:off x="2167100" y="2519365"/>
            <a:ext cx="3531215" cy="1587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51" name="直接连接符 11"/>
          <p:cNvSpPr>
            <a:spLocks noChangeShapeType="1"/>
          </p:cNvSpPr>
          <p:nvPr/>
        </p:nvSpPr>
        <p:spPr bwMode="auto">
          <a:xfrm>
            <a:off x="2172351" y="1438275"/>
            <a:ext cx="3531215" cy="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52" name="椭圆 4"/>
          <p:cNvSpPr>
            <a:spLocks noChangeArrowheads="1"/>
          </p:cNvSpPr>
          <p:nvPr/>
        </p:nvSpPr>
        <p:spPr bwMode="auto">
          <a:xfrm>
            <a:off x="1945250" y="971551"/>
            <a:ext cx="443699" cy="538163"/>
          </a:xfrm>
          <a:prstGeom prst="ellipse">
            <a:avLst/>
          </a:prstGeom>
          <a:solidFill>
            <a:srgbClr val="DBB400"/>
          </a:solidFill>
          <a:ln w="25400">
            <a:solidFill>
              <a:schemeClr val="bg1"/>
            </a:solidFill>
            <a:round/>
            <a:headEnd/>
            <a:tailEnd/>
          </a:ln>
        </p:spPr>
        <p:txBody>
          <a:bodyPr anchor="ctr"/>
          <a:lstStyle/>
          <a:p>
            <a:pPr algn="ctr"/>
            <a:r>
              <a:rPr lang="en-US" altLang="zh-CN" b="1">
                <a:latin typeface="Verdana" pitchFamily="34" charset="0"/>
                <a:sym typeface="Verdana" pitchFamily="34" charset="0"/>
              </a:rPr>
              <a:t>1</a:t>
            </a:r>
            <a:endParaRPr lang="zh-CN" altLang="en-US"/>
          </a:p>
        </p:txBody>
      </p:sp>
      <p:sp>
        <p:nvSpPr>
          <p:cNvPr id="6153" name="椭圆 5"/>
          <p:cNvSpPr>
            <a:spLocks noChangeArrowheads="1"/>
          </p:cNvSpPr>
          <p:nvPr/>
        </p:nvSpPr>
        <p:spPr bwMode="auto">
          <a:xfrm>
            <a:off x="1945250" y="2052637"/>
            <a:ext cx="443699" cy="539750"/>
          </a:xfrm>
          <a:prstGeom prst="ellipse">
            <a:avLst/>
          </a:prstGeom>
          <a:solidFill>
            <a:srgbClr val="DBB400"/>
          </a:solidFill>
          <a:ln w="25400">
            <a:solidFill>
              <a:schemeClr val="bg1"/>
            </a:solidFill>
            <a:round/>
            <a:headEnd/>
            <a:tailEnd/>
          </a:ln>
        </p:spPr>
        <p:txBody>
          <a:bodyPr anchor="ctr"/>
          <a:lstStyle/>
          <a:p>
            <a:pPr algn="ctr"/>
            <a:r>
              <a:rPr lang="en-US" altLang="zh-CN" b="1">
                <a:latin typeface="Verdana" pitchFamily="34" charset="0"/>
                <a:sym typeface="Verdana" pitchFamily="34" charset="0"/>
              </a:rPr>
              <a:t>2</a:t>
            </a:r>
            <a:endParaRPr lang="zh-CN" altLang="en-US"/>
          </a:p>
        </p:txBody>
      </p:sp>
      <p:sp>
        <p:nvSpPr>
          <p:cNvPr id="6154" name="椭圆 6"/>
          <p:cNvSpPr>
            <a:spLocks noChangeArrowheads="1"/>
          </p:cNvSpPr>
          <p:nvPr/>
        </p:nvSpPr>
        <p:spPr bwMode="auto">
          <a:xfrm>
            <a:off x="1945250" y="3133726"/>
            <a:ext cx="443699" cy="538163"/>
          </a:xfrm>
          <a:prstGeom prst="ellipse">
            <a:avLst/>
          </a:prstGeom>
          <a:solidFill>
            <a:srgbClr val="DBB400"/>
          </a:solidFill>
          <a:ln w="25400">
            <a:solidFill>
              <a:schemeClr val="bg1"/>
            </a:solidFill>
            <a:round/>
            <a:headEnd/>
            <a:tailEnd/>
          </a:ln>
        </p:spPr>
        <p:txBody>
          <a:bodyPr anchor="ctr"/>
          <a:lstStyle/>
          <a:p>
            <a:pPr algn="ctr"/>
            <a:r>
              <a:rPr lang="en-US" altLang="zh-CN" b="1">
                <a:latin typeface="Verdana" pitchFamily="34" charset="0"/>
                <a:sym typeface="Verdana" pitchFamily="34" charset="0"/>
              </a:rPr>
              <a:t>3</a:t>
            </a:r>
            <a:endParaRPr lang="zh-CN" altLang="en-US"/>
          </a:p>
        </p:txBody>
      </p:sp>
      <p:sp>
        <p:nvSpPr>
          <p:cNvPr id="6156" name="TextBox 1"/>
          <p:cNvSpPr txBox="1">
            <a:spLocks noChangeArrowheads="1"/>
          </p:cNvSpPr>
          <p:nvPr/>
        </p:nvSpPr>
        <p:spPr bwMode="auto">
          <a:xfrm>
            <a:off x="2504468" y="3113088"/>
            <a:ext cx="3183344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200"/>
              <a:t>应用举例</a:t>
            </a:r>
          </a:p>
        </p:txBody>
      </p:sp>
      <p:sp>
        <p:nvSpPr>
          <p:cNvPr id="6157" name="TextBox 16"/>
          <p:cNvSpPr txBox="1">
            <a:spLocks noChangeArrowheads="1"/>
          </p:cNvSpPr>
          <p:nvPr/>
        </p:nvSpPr>
        <p:spPr bwMode="auto">
          <a:xfrm>
            <a:off x="2529410" y="1025527"/>
            <a:ext cx="3183345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200"/>
              <a:t>位运算简介</a:t>
            </a:r>
          </a:p>
        </p:txBody>
      </p:sp>
      <p:sp>
        <p:nvSpPr>
          <p:cNvPr id="6158" name="TextBox 17"/>
          <p:cNvSpPr txBox="1">
            <a:spLocks noChangeArrowheads="1"/>
          </p:cNvSpPr>
          <p:nvPr/>
        </p:nvSpPr>
        <p:spPr bwMode="auto">
          <a:xfrm>
            <a:off x="2546475" y="2033588"/>
            <a:ext cx="3183344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200" dirty="0"/>
              <a:t>移位运算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直接连接符 2"/>
          <p:cNvSpPr>
            <a:spLocks noChangeShapeType="1"/>
          </p:cNvSpPr>
          <p:nvPr/>
        </p:nvSpPr>
        <p:spPr bwMode="auto">
          <a:xfrm rot="5400000">
            <a:off x="856482" y="305077"/>
            <a:ext cx="612775" cy="2625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71" name="直接连接符 3"/>
          <p:cNvSpPr>
            <a:spLocks noChangeShapeType="1"/>
          </p:cNvSpPr>
          <p:nvPr/>
        </p:nvSpPr>
        <p:spPr bwMode="auto">
          <a:xfrm rot="5400000">
            <a:off x="1033228" y="179526"/>
            <a:ext cx="360363" cy="1312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72" name="标题 1"/>
          <p:cNvSpPr>
            <a:spLocks noGrp="1" noChangeArrowheads="1"/>
          </p:cNvSpPr>
          <p:nvPr>
            <p:ph type="ctrTitle"/>
          </p:nvPr>
        </p:nvSpPr>
        <p:spPr bwMode="auto">
          <a:xfrm>
            <a:off x="1169433" y="50800"/>
            <a:ext cx="6805137" cy="50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/>
          </a:bodyPr>
          <a:lstStyle/>
          <a:p>
            <a:pPr marL="0" indent="0" eaLnBrk="1" hangingPunct="1"/>
            <a:r>
              <a:rPr lang="en-US" altLang="zh-CN" sz="3200" dirty="0"/>
              <a:t>1 </a:t>
            </a:r>
            <a:r>
              <a:rPr lang="zh-CN" altLang="en-US" sz="3200" dirty="0"/>
              <a:t>位运算</a:t>
            </a:r>
          </a:p>
        </p:txBody>
      </p:sp>
      <p:sp>
        <p:nvSpPr>
          <p:cNvPr id="30" name="Rectangle 20"/>
          <p:cNvSpPr>
            <a:spLocks noChangeArrowheads="1"/>
          </p:cNvSpPr>
          <p:nvPr/>
        </p:nvSpPr>
        <p:spPr bwMode="auto">
          <a:xfrm>
            <a:off x="1132676" y="555382"/>
            <a:ext cx="6994168" cy="15610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623888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20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一．</a:t>
            </a:r>
            <a:r>
              <a:rPr lang="zh-CN" altLang="en-US" sz="2000" b="1" dirty="0">
                <a:solidFill>
                  <a:schemeClr val="accent1"/>
                </a:solidFill>
                <a:latin typeface="黑体" pitchFamily="49" charset="-122"/>
                <a:ea typeface="黑体" pitchFamily="49" charset="-122"/>
              </a:rPr>
              <a:t>引言</a:t>
            </a:r>
            <a:endParaRPr lang="zh-CN" altLang="en-US" sz="2000" b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itchFamily="49" charset="-122"/>
              <a:ea typeface="黑体" pitchFamily="49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2000" b="1" dirty="0">
                <a:latin typeface="Times New Roman" pitchFamily="18" charset="0"/>
              </a:rPr>
              <a:t>位运算是指按二进制位进行的运算。</a:t>
            </a:r>
            <a:r>
              <a:rPr lang="en-US" altLang="zh-CN" sz="2000" b="1" dirty="0">
                <a:latin typeface="Times New Roman" pitchFamily="18" charset="0"/>
              </a:rPr>
              <a:t>C</a:t>
            </a:r>
            <a:r>
              <a:rPr lang="zh-CN" altLang="en-US" sz="2000" b="1" dirty="0">
                <a:latin typeface="Times New Roman" pitchFamily="18" charset="0"/>
              </a:rPr>
              <a:t>语言提供了</a:t>
            </a:r>
            <a:r>
              <a:rPr lang="en-US" altLang="zh-CN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6</a:t>
            </a:r>
            <a:r>
              <a:rPr lang="zh-CN" altLang="en-US" sz="2000" b="1" dirty="0">
                <a:latin typeface="Times New Roman" pitchFamily="18" charset="0"/>
              </a:rPr>
              <a:t>个位操作运算符。这些运算符只能用于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整型</a:t>
            </a:r>
            <a:r>
              <a:rPr lang="zh-CN" altLang="en-US" sz="2000" b="1" dirty="0">
                <a:latin typeface="Times New Roman" pitchFamily="18" charset="0"/>
              </a:rPr>
              <a:t>操作数。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直接连接符 2"/>
          <p:cNvSpPr>
            <a:spLocks noChangeShapeType="1"/>
          </p:cNvSpPr>
          <p:nvPr/>
        </p:nvSpPr>
        <p:spPr bwMode="auto">
          <a:xfrm rot="5400000">
            <a:off x="856482" y="305077"/>
            <a:ext cx="612775" cy="2625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19" name="直接连接符 3"/>
          <p:cNvSpPr>
            <a:spLocks noChangeShapeType="1"/>
          </p:cNvSpPr>
          <p:nvPr/>
        </p:nvSpPr>
        <p:spPr bwMode="auto">
          <a:xfrm rot="5400000">
            <a:off x="1033228" y="179526"/>
            <a:ext cx="360363" cy="1312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20" name="标题 1"/>
          <p:cNvSpPr>
            <a:spLocks noGrp="1" noChangeArrowheads="1"/>
          </p:cNvSpPr>
          <p:nvPr>
            <p:ph type="ctrTitle"/>
          </p:nvPr>
        </p:nvSpPr>
        <p:spPr bwMode="auto">
          <a:xfrm>
            <a:off x="1169433" y="50800"/>
            <a:ext cx="6805137" cy="50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/>
          </a:bodyPr>
          <a:lstStyle/>
          <a:p>
            <a:pPr marL="0" indent="0" eaLnBrk="1" hangingPunct="1"/>
            <a:r>
              <a:rPr lang="en-US" altLang="zh-CN" sz="3200" dirty="0"/>
              <a:t>1 </a:t>
            </a:r>
            <a:r>
              <a:rPr lang="zh-CN" altLang="en-US" sz="3200" dirty="0"/>
              <a:t>位运算</a:t>
            </a:r>
          </a:p>
        </p:txBody>
      </p:sp>
      <p:sp>
        <p:nvSpPr>
          <p:cNvPr id="30" name="Rectangle 20"/>
          <p:cNvSpPr>
            <a:spLocks noChangeArrowheads="1"/>
          </p:cNvSpPr>
          <p:nvPr/>
        </p:nvSpPr>
        <p:spPr bwMode="auto">
          <a:xfrm>
            <a:off x="1132676" y="627065"/>
            <a:ext cx="6994168" cy="70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hangingPunct="0"/>
            <a:r>
              <a:rPr lang="en-US" altLang="zh-CN" sz="20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(1) </a:t>
            </a:r>
            <a:r>
              <a:rPr lang="zh-CN" altLang="en-US" sz="20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按位与运算“</a:t>
            </a:r>
            <a:r>
              <a:rPr lang="en-US" altLang="zh-CN" sz="20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&amp;”</a:t>
            </a:r>
            <a:r>
              <a:rPr lang="zh-CN" altLang="en-US" sz="20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（位乘法）</a:t>
            </a:r>
            <a:r>
              <a:rPr lang="en-US" altLang="zh-CN" sz="20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 </a:t>
            </a:r>
          </a:p>
          <a:p>
            <a:pPr eaLnBrk="0" hangingPunct="0"/>
            <a:endParaRPr lang="en-US" altLang="zh-CN" sz="2000" b="1" dirty="0">
              <a:solidFill>
                <a:schemeClr val="bg1"/>
              </a:solidFill>
              <a:latin typeface="仿宋" pitchFamily="49" charset="-122"/>
              <a:ea typeface="仿宋" pitchFamily="49" charset="-122"/>
            </a:endParaRPr>
          </a:p>
        </p:txBody>
      </p:sp>
      <p:sp>
        <p:nvSpPr>
          <p:cNvPr id="9222" name="矩形 1"/>
          <p:cNvSpPr>
            <a:spLocks noChangeArrowheads="1"/>
          </p:cNvSpPr>
          <p:nvPr/>
        </p:nvSpPr>
        <p:spPr bwMode="auto">
          <a:xfrm>
            <a:off x="1214066" y="1130302"/>
            <a:ext cx="6849769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buSzPct val="100000"/>
              <a:buFontTx/>
              <a:buAutoNum type="circleNumDbPlain"/>
            </a:pPr>
            <a:r>
              <a:rPr lang="zh-CN" altLang="en-US" sz="2000" b="1" dirty="0">
                <a:solidFill>
                  <a:srgbClr val="C00000"/>
                </a:solidFill>
                <a:latin typeface="仿宋" pitchFamily="49" charset="-122"/>
                <a:ea typeface="仿宋" pitchFamily="49" charset="-122"/>
              </a:rPr>
              <a:t>运算规则：</a:t>
            </a:r>
            <a:r>
              <a:rPr lang="zh-CN" altLang="en-US" sz="2000" b="1" dirty="0">
                <a:latin typeface="仿宋" pitchFamily="49" charset="-122"/>
                <a:ea typeface="仿宋" pitchFamily="49" charset="-122"/>
              </a:rPr>
              <a:t>当参加运算的两个二进制位皆为</a:t>
            </a:r>
            <a:r>
              <a:rPr lang="en-US" altLang="zh-CN" sz="2000" b="1" dirty="0">
                <a:latin typeface="仿宋" pitchFamily="49" charset="-122"/>
                <a:ea typeface="仿宋" pitchFamily="49" charset="-122"/>
              </a:rPr>
              <a:t>1</a:t>
            </a:r>
            <a:r>
              <a:rPr lang="zh-CN" altLang="en-US" sz="2000" b="1" dirty="0">
                <a:latin typeface="仿宋" pitchFamily="49" charset="-122"/>
                <a:ea typeface="仿宋" pitchFamily="49" charset="-122"/>
              </a:rPr>
              <a:t>时</a:t>
            </a:r>
            <a:r>
              <a:rPr lang="en-US" altLang="zh-CN" sz="2000" b="1" dirty="0">
                <a:latin typeface="仿宋" pitchFamily="49" charset="-122"/>
                <a:ea typeface="仿宋" pitchFamily="49" charset="-122"/>
              </a:rPr>
              <a:t>,</a:t>
            </a:r>
            <a:r>
              <a:rPr lang="zh-CN" altLang="en-US" sz="2000" b="1" dirty="0">
                <a:latin typeface="仿宋" pitchFamily="49" charset="-122"/>
                <a:ea typeface="仿宋" pitchFamily="49" charset="-122"/>
              </a:rPr>
              <a:t>结果为</a:t>
            </a:r>
            <a:r>
              <a:rPr lang="en-US" altLang="zh-CN" sz="2000" b="1" dirty="0">
                <a:latin typeface="仿宋" pitchFamily="49" charset="-122"/>
                <a:ea typeface="仿宋" pitchFamily="49" charset="-122"/>
              </a:rPr>
              <a:t>1,</a:t>
            </a:r>
            <a:r>
              <a:rPr lang="zh-CN" altLang="en-US" sz="2000" b="1" dirty="0">
                <a:latin typeface="仿宋" pitchFamily="49" charset="-122"/>
                <a:ea typeface="仿宋" pitchFamily="49" charset="-122"/>
              </a:rPr>
              <a:t>否则为</a:t>
            </a:r>
            <a:r>
              <a:rPr lang="en-US" altLang="zh-CN" sz="2000" b="1" dirty="0">
                <a:latin typeface="仿宋" pitchFamily="49" charset="-122"/>
                <a:ea typeface="仿宋" pitchFamily="49" charset="-122"/>
              </a:rPr>
              <a:t>0</a:t>
            </a:r>
            <a:r>
              <a:rPr lang="zh-CN" altLang="en-US" sz="2000" b="1" dirty="0">
                <a:latin typeface="仿宋" pitchFamily="49" charset="-122"/>
                <a:ea typeface="仿宋" pitchFamily="49" charset="-122"/>
              </a:rPr>
              <a:t>。</a:t>
            </a:r>
          </a:p>
          <a:p>
            <a:pPr eaLnBrk="0" hangingPunct="0">
              <a:buSzPct val="100000"/>
            </a:pPr>
            <a:r>
              <a:rPr lang="zh-CN" altLang="en-US" sz="2000" b="1" dirty="0">
                <a:latin typeface="仿宋" pitchFamily="49" charset="-122"/>
                <a:ea typeface="仿宋" pitchFamily="49" charset="-122"/>
              </a:rPr>
              <a:t>  例如：</a:t>
            </a:r>
            <a:r>
              <a:rPr lang="en-US" altLang="zh-CN" sz="2000" b="1" dirty="0">
                <a:latin typeface="仿宋" pitchFamily="49" charset="-122"/>
                <a:ea typeface="仿宋" pitchFamily="49" charset="-122"/>
              </a:rPr>
              <a:t>4&amp;5,</a:t>
            </a:r>
            <a:r>
              <a:rPr lang="zh-CN" altLang="en-US" sz="2000" b="1" dirty="0">
                <a:latin typeface="仿宋" pitchFamily="49" charset="-122"/>
                <a:ea typeface="仿宋" pitchFamily="49" charset="-122"/>
              </a:rPr>
              <a:t>结果为</a:t>
            </a:r>
            <a:r>
              <a:rPr lang="en-US" altLang="zh-CN" sz="2000" b="1" dirty="0">
                <a:latin typeface="仿宋" pitchFamily="49" charset="-122"/>
                <a:ea typeface="仿宋" pitchFamily="49" charset="-122"/>
              </a:rPr>
              <a:t>4</a:t>
            </a:r>
            <a:r>
              <a:rPr lang="zh-CN" altLang="en-US" sz="2000" b="1" dirty="0">
                <a:latin typeface="仿宋" pitchFamily="49" charset="-122"/>
                <a:ea typeface="仿宋" pitchFamily="49" charset="-122"/>
              </a:rPr>
              <a:t>。</a:t>
            </a:r>
            <a:r>
              <a:rPr lang="zh-CN" altLang="en-US" sz="2000" b="1" dirty="0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  </a:t>
            </a:r>
          </a:p>
        </p:txBody>
      </p:sp>
      <p:grpSp>
        <p:nvGrpSpPr>
          <p:cNvPr id="10" name="Group 14"/>
          <p:cNvGrpSpPr>
            <a:grpSpLocks/>
          </p:cNvGrpSpPr>
          <p:nvPr/>
        </p:nvGrpSpPr>
        <p:grpSpPr bwMode="auto">
          <a:xfrm>
            <a:off x="938395" y="2751932"/>
            <a:ext cx="3024505" cy="990600"/>
            <a:chOff x="414" y="2284"/>
            <a:chExt cx="2304" cy="624"/>
          </a:xfrm>
          <a:solidFill>
            <a:srgbClr val="000000"/>
          </a:solidFill>
        </p:grpSpPr>
        <p:sp>
          <p:nvSpPr>
            <p:cNvPr id="11" name="Text Box 15"/>
            <p:cNvSpPr txBox="1">
              <a:spLocks noChangeArrowheads="1"/>
            </p:cNvSpPr>
            <p:nvPr/>
          </p:nvSpPr>
          <p:spPr bwMode="auto">
            <a:xfrm>
              <a:off x="414" y="2284"/>
              <a:ext cx="2304" cy="62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pPr>
                <a:defRPr/>
              </a:pPr>
              <a:r>
                <a:rPr lang="en-US" altLang="zh-CN" sz="2000" b="1" dirty="0">
                  <a:solidFill>
                    <a:srgbClr val="FFFFFF"/>
                  </a:solidFill>
                  <a:latin typeface="Calibri" pitchFamily="34" charset="0"/>
                </a:rPr>
                <a:t>       00000100        x=4</a:t>
              </a:r>
              <a:endParaRPr lang="en-US" altLang="zh-CN" sz="2000" b="1" dirty="0">
                <a:solidFill>
                  <a:srgbClr val="FFFFFF"/>
                </a:solidFill>
              </a:endParaRPr>
            </a:p>
            <a:p>
              <a:pPr eaLnBrk="0" hangingPunct="0">
                <a:defRPr/>
              </a:pPr>
              <a:r>
                <a:rPr lang="en-US" altLang="zh-CN" sz="2000" b="1" dirty="0">
                  <a:solidFill>
                    <a:srgbClr val="FFFFFF"/>
                  </a:solidFill>
                  <a:latin typeface="Times New Roman" pitchFamily="18" charset="0"/>
                  <a:cs typeface="Times New Roman" pitchFamily="18" charset="0"/>
                </a:rPr>
                <a:t>&amp; </a:t>
              </a:r>
              <a:r>
                <a:rPr lang="en-US" altLang="zh-CN" sz="2000" b="1" dirty="0">
                  <a:solidFill>
                    <a:srgbClr val="FFFFFF"/>
                  </a:solidFill>
                  <a:latin typeface="Calibri" pitchFamily="34" charset="0"/>
                </a:rPr>
                <a:t>  00000101        y=5</a:t>
              </a:r>
              <a:endParaRPr lang="en-US" altLang="zh-CN" sz="2000" b="1" dirty="0">
                <a:solidFill>
                  <a:srgbClr val="FFFFFF"/>
                </a:solidFill>
              </a:endParaRPr>
            </a:p>
            <a:p>
              <a:pPr eaLnBrk="0" hangingPunct="0">
                <a:spcBef>
                  <a:spcPct val="50000"/>
                </a:spcBef>
                <a:defRPr/>
              </a:pPr>
              <a:r>
                <a:rPr lang="en-US" altLang="zh-CN" sz="2000" b="1" dirty="0">
                  <a:solidFill>
                    <a:srgbClr val="FFFFFF"/>
                  </a:solidFill>
                  <a:latin typeface="Calibri" pitchFamily="34" charset="0"/>
                </a:rPr>
                <a:t>       00000100        4</a:t>
              </a:r>
              <a:endParaRPr lang="en-US" altLang="zh-CN" sz="2000" b="1" dirty="0">
                <a:solidFill>
                  <a:srgbClr val="FFFFFF"/>
                </a:solidFill>
              </a:endParaRPr>
            </a:p>
          </p:txBody>
        </p:sp>
        <p:sp>
          <p:nvSpPr>
            <p:cNvPr id="12" name="Line 16"/>
            <p:cNvSpPr>
              <a:spLocks noChangeShapeType="1"/>
            </p:cNvSpPr>
            <p:nvPr/>
          </p:nvSpPr>
          <p:spPr bwMode="auto">
            <a:xfrm>
              <a:off x="672" y="2736"/>
              <a:ext cx="1536" cy="0"/>
            </a:xfrm>
            <a:prstGeom prst="line">
              <a:avLst/>
            </a:pr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pPr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</p:grpSp>
      <p:sp>
        <p:nvSpPr>
          <p:cNvPr id="9224" name="Rectangle 6"/>
          <p:cNvSpPr>
            <a:spLocks noChangeArrowheads="1"/>
          </p:cNvSpPr>
          <p:nvPr/>
        </p:nvSpPr>
        <p:spPr bwMode="auto">
          <a:xfrm>
            <a:off x="4221320" y="2132130"/>
            <a:ext cx="3947347" cy="25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06000" tIns="190800" bIns="190800" anchor="ctr">
            <a:spAutoFit/>
          </a:bodyPr>
          <a:lstStyle/>
          <a:p>
            <a:pPr eaLnBrk="0" hangingPunct="0"/>
            <a:r>
              <a:rPr lang="en-US" altLang="zh-CN" sz="2000" b="1" dirty="0">
                <a:latin typeface="仿宋" pitchFamily="49" charset="-122"/>
                <a:ea typeface="仿宋" pitchFamily="49" charset="-122"/>
              </a:rPr>
              <a:t>#include &lt;</a:t>
            </a:r>
            <a:r>
              <a:rPr lang="en-US" altLang="zh-CN" sz="2000" b="1" dirty="0" err="1">
                <a:latin typeface="仿宋" pitchFamily="49" charset="-122"/>
                <a:ea typeface="仿宋" pitchFamily="49" charset="-122"/>
              </a:rPr>
              <a:t>stdio.h</a:t>
            </a:r>
            <a:r>
              <a:rPr lang="en-US" altLang="zh-CN" sz="2000" b="1" dirty="0">
                <a:latin typeface="仿宋" pitchFamily="49" charset="-122"/>
                <a:ea typeface="仿宋" pitchFamily="49" charset="-122"/>
              </a:rPr>
              <a:t>&gt;</a:t>
            </a:r>
          </a:p>
          <a:p>
            <a:pPr eaLnBrk="0" hangingPunct="0"/>
            <a:r>
              <a:rPr lang="en-US" altLang="zh-CN" sz="2000" b="1" dirty="0">
                <a:latin typeface="仿宋" pitchFamily="49" charset="-122"/>
                <a:ea typeface="仿宋" pitchFamily="49" charset="-122"/>
              </a:rPr>
              <a:t>main()</a:t>
            </a:r>
          </a:p>
          <a:p>
            <a:pPr eaLnBrk="0" hangingPunct="0"/>
            <a:r>
              <a:rPr lang="en-US" altLang="zh-CN" sz="2000" b="1" dirty="0">
                <a:latin typeface="仿宋" pitchFamily="49" charset="-122"/>
                <a:ea typeface="仿宋" pitchFamily="49" charset="-122"/>
              </a:rPr>
              <a:t>{</a:t>
            </a:r>
          </a:p>
          <a:p>
            <a:pPr eaLnBrk="0" hangingPunct="0"/>
            <a:r>
              <a:rPr lang="en-US" altLang="zh-CN" sz="2000" b="1" dirty="0">
                <a:latin typeface="仿宋" pitchFamily="49" charset="-122"/>
                <a:ea typeface="仿宋" pitchFamily="49" charset="-122"/>
              </a:rPr>
              <a:t>  int x=4;</a:t>
            </a:r>
          </a:p>
          <a:p>
            <a:pPr eaLnBrk="0" hangingPunct="0"/>
            <a:r>
              <a:rPr lang="en-US" altLang="zh-CN" sz="2000" b="1" dirty="0">
                <a:latin typeface="仿宋" pitchFamily="49" charset="-122"/>
                <a:ea typeface="仿宋" pitchFamily="49" charset="-122"/>
              </a:rPr>
              <a:t>  int y =5;</a:t>
            </a:r>
          </a:p>
          <a:p>
            <a:pPr eaLnBrk="0" hangingPunct="0"/>
            <a:r>
              <a:rPr lang="pt-BR" altLang="zh-CN" sz="2000" b="1" dirty="0">
                <a:latin typeface="仿宋" pitchFamily="49" charset="-122"/>
                <a:ea typeface="仿宋" pitchFamily="49" charset="-122"/>
              </a:rPr>
              <a:t>  printf("x&amp;y=%d\n",x&amp;y);</a:t>
            </a:r>
          </a:p>
          <a:p>
            <a:pPr eaLnBrk="0" hangingPunct="0"/>
            <a:r>
              <a:rPr lang="en-US" altLang="zh-CN" sz="2000" b="1" dirty="0">
                <a:latin typeface="仿宋" pitchFamily="49" charset="-122"/>
                <a:ea typeface="仿宋" pitchFamily="49" charset="-122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直接连接符 2">
            <a:extLst>
              <a:ext uri="{FF2B5EF4-FFF2-40B4-BE49-F238E27FC236}">
                <a16:creationId xmlns:a16="http://schemas.microsoft.com/office/drawing/2014/main" id="{BD71AC0A-5C43-4E71-8CD5-404E7EF52C06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856482" y="305077"/>
            <a:ext cx="612775" cy="2625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直接连接符 3">
            <a:extLst>
              <a:ext uri="{FF2B5EF4-FFF2-40B4-BE49-F238E27FC236}">
                <a16:creationId xmlns:a16="http://schemas.microsoft.com/office/drawing/2014/main" id="{F05ACAA9-53FB-438C-8A45-F91DDA86D0F9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1033228" y="179526"/>
            <a:ext cx="360363" cy="1312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标题 1">
            <a:extLst>
              <a:ext uri="{FF2B5EF4-FFF2-40B4-BE49-F238E27FC236}">
                <a16:creationId xmlns:a16="http://schemas.microsoft.com/office/drawing/2014/main" id="{321DB739-8A77-4DE3-855D-189796591E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813" y="-60188"/>
            <a:ext cx="7543800" cy="1028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algn="ctr" defTabSz="685800" rtl="0" eaLnBrk="1" latinLnBrk="0" hangingPunct="1">
              <a:lnSpc>
                <a:spcPct val="83000"/>
              </a:lnSpc>
              <a:spcBef>
                <a:spcPct val="0"/>
              </a:spcBef>
              <a:buNone/>
              <a:defRPr lang="en-US" sz="5400" b="0" kern="1200" cap="all" spc="-75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zh-CN" sz="3200" dirty="0"/>
              <a:t>1 </a:t>
            </a:r>
            <a:r>
              <a:rPr lang="zh-CN" altLang="en-US" sz="3200" dirty="0"/>
              <a:t>位运算</a:t>
            </a:r>
          </a:p>
        </p:txBody>
      </p:sp>
      <p:sp>
        <p:nvSpPr>
          <p:cNvPr id="16" name="Rectangle 20">
            <a:extLst>
              <a:ext uri="{FF2B5EF4-FFF2-40B4-BE49-F238E27FC236}">
                <a16:creationId xmlns:a16="http://schemas.microsoft.com/office/drawing/2014/main" id="{3E65F7C7-1D91-4C72-8D25-AEA4AE126C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8394" y="927102"/>
            <a:ext cx="6994168" cy="70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hangingPunct="0"/>
            <a:r>
              <a:rPr lang="en-US" altLang="zh-CN" sz="20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(2)</a:t>
            </a:r>
            <a:r>
              <a:rPr lang="zh-CN" altLang="en-US" sz="20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按位或运算“</a:t>
            </a:r>
            <a:r>
              <a:rPr lang="en-US" altLang="zh-CN" sz="20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|” </a:t>
            </a:r>
          </a:p>
          <a:p>
            <a:pPr eaLnBrk="0" hangingPunct="0"/>
            <a:endParaRPr lang="en-US" altLang="zh-CN" sz="2000" b="1" dirty="0">
              <a:solidFill>
                <a:schemeClr val="bg1"/>
              </a:solidFill>
              <a:latin typeface="仿宋" pitchFamily="49" charset="-122"/>
              <a:ea typeface="仿宋" pitchFamily="49" charset="-122"/>
            </a:endParaRPr>
          </a:p>
        </p:txBody>
      </p:sp>
      <p:sp>
        <p:nvSpPr>
          <p:cNvPr id="18" name="矩形 1">
            <a:extLst>
              <a:ext uri="{FF2B5EF4-FFF2-40B4-BE49-F238E27FC236}">
                <a16:creationId xmlns:a16="http://schemas.microsoft.com/office/drawing/2014/main" id="{44C3A5A9-7164-46DB-85AD-70A5244035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5343" y="1397911"/>
            <a:ext cx="6484833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buSzPct val="100000"/>
              <a:buFontTx/>
              <a:buAutoNum type="circleNumDbPlain"/>
            </a:pPr>
            <a:r>
              <a:rPr lang="zh-CN" altLang="en-US" sz="2000" b="1" dirty="0">
                <a:latin typeface="仿宋" pitchFamily="49" charset="-122"/>
                <a:ea typeface="仿宋" pitchFamily="49" charset="-122"/>
              </a:rPr>
              <a:t>运算规则：两个二进制位有一个为</a:t>
            </a:r>
            <a:r>
              <a:rPr lang="en-US" altLang="zh-CN" sz="2000" b="1" dirty="0">
                <a:latin typeface="仿宋" pitchFamily="49" charset="-122"/>
                <a:ea typeface="仿宋" pitchFamily="49" charset="-122"/>
              </a:rPr>
              <a:t>1</a:t>
            </a:r>
            <a:r>
              <a:rPr lang="zh-CN" altLang="en-US" sz="2000" b="1" dirty="0">
                <a:latin typeface="仿宋" pitchFamily="49" charset="-122"/>
                <a:ea typeface="仿宋" pitchFamily="49" charset="-122"/>
              </a:rPr>
              <a:t>，则结果即为</a:t>
            </a:r>
            <a:r>
              <a:rPr lang="en-US" altLang="zh-CN" sz="2000" b="1" dirty="0">
                <a:latin typeface="仿宋" pitchFamily="49" charset="-122"/>
                <a:ea typeface="仿宋" pitchFamily="49" charset="-122"/>
              </a:rPr>
              <a:t>1</a:t>
            </a:r>
            <a:r>
              <a:rPr lang="zh-CN" altLang="en-US" sz="2000" b="1" dirty="0">
                <a:latin typeface="仿宋" pitchFamily="49" charset="-122"/>
                <a:ea typeface="仿宋" pitchFamily="49" charset="-122"/>
              </a:rPr>
              <a:t>，两个皆为</a:t>
            </a:r>
            <a:r>
              <a:rPr lang="en-US" altLang="zh-CN" sz="2000" b="1" dirty="0">
                <a:latin typeface="仿宋" pitchFamily="49" charset="-122"/>
                <a:ea typeface="仿宋" pitchFamily="49" charset="-122"/>
              </a:rPr>
              <a:t>0,</a:t>
            </a:r>
            <a:r>
              <a:rPr lang="zh-CN" altLang="en-US" sz="2000" b="1" dirty="0">
                <a:latin typeface="仿宋" pitchFamily="49" charset="-122"/>
                <a:ea typeface="仿宋" pitchFamily="49" charset="-122"/>
              </a:rPr>
              <a:t>结果才为</a:t>
            </a:r>
            <a:r>
              <a:rPr lang="en-US" altLang="zh-CN" sz="2000" b="1" dirty="0">
                <a:latin typeface="仿宋" pitchFamily="49" charset="-122"/>
                <a:ea typeface="仿宋" pitchFamily="49" charset="-122"/>
              </a:rPr>
              <a:t>0</a:t>
            </a:r>
            <a:r>
              <a:rPr lang="zh-CN" altLang="en-US" sz="2000" b="1" dirty="0">
                <a:latin typeface="仿宋" pitchFamily="49" charset="-122"/>
                <a:ea typeface="仿宋" pitchFamily="49" charset="-122"/>
              </a:rPr>
              <a:t>。</a:t>
            </a:r>
          </a:p>
          <a:p>
            <a:pPr eaLnBrk="0" hangingPunct="0">
              <a:spcBef>
                <a:spcPct val="50000"/>
              </a:spcBef>
            </a:pPr>
            <a:r>
              <a:rPr lang="zh-CN" altLang="en-US" sz="2000" b="1" dirty="0">
                <a:latin typeface="仿宋" pitchFamily="49" charset="-122"/>
                <a:ea typeface="仿宋" pitchFamily="49" charset="-122"/>
              </a:rPr>
              <a:t>  例如：将八进制数</a:t>
            </a:r>
            <a:r>
              <a:rPr lang="en-US" altLang="zh-CN" sz="2000" b="1" dirty="0">
                <a:latin typeface="仿宋" pitchFamily="49" charset="-122"/>
                <a:ea typeface="仿宋" pitchFamily="49" charset="-122"/>
              </a:rPr>
              <a:t>21</a:t>
            </a:r>
            <a:r>
              <a:rPr lang="zh-CN" altLang="en-US" sz="2000" b="1" dirty="0">
                <a:latin typeface="仿宋" pitchFamily="49" charset="-122"/>
                <a:ea typeface="仿宋" pitchFamily="49" charset="-122"/>
              </a:rPr>
              <a:t>与八进制数</a:t>
            </a:r>
            <a:r>
              <a:rPr lang="en-US" altLang="zh-CN" sz="2000" b="1" dirty="0">
                <a:latin typeface="仿宋" pitchFamily="49" charset="-122"/>
                <a:ea typeface="仿宋" pitchFamily="49" charset="-122"/>
              </a:rPr>
              <a:t>70</a:t>
            </a:r>
            <a:r>
              <a:rPr lang="zh-CN" altLang="en-US" sz="2000" b="1" dirty="0">
                <a:latin typeface="仿宋" pitchFamily="49" charset="-122"/>
                <a:ea typeface="仿宋" pitchFamily="49" charset="-122"/>
              </a:rPr>
              <a:t>进行按位或</a:t>
            </a:r>
            <a:r>
              <a:rPr lang="en-US" altLang="zh-CN" sz="2000" b="1" dirty="0">
                <a:latin typeface="仿宋" pitchFamily="49" charset="-122"/>
                <a:ea typeface="仿宋" pitchFamily="49" charset="-122"/>
              </a:rPr>
              <a:t>,</a:t>
            </a:r>
            <a:r>
              <a:rPr lang="zh-CN" altLang="en-US" sz="2000" b="1" dirty="0">
                <a:latin typeface="仿宋" pitchFamily="49" charset="-122"/>
                <a:ea typeface="仿宋" pitchFamily="49" charset="-122"/>
              </a:rPr>
              <a:t>结果为八进制数</a:t>
            </a:r>
            <a:r>
              <a:rPr lang="en-US" altLang="zh-CN" sz="2000" b="1" dirty="0">
                <a:latin typeface="仿宋" pitchFamily="49" charset="-122"/>
                <a:ea typeface="仿宋" pitchFamily="49" charset="-122"/>
              </a:rPr>
              <a:t>71</a:t>
            </a:r>
            <a:r>
              <a:rPr lang="zh-CN" altLang="en-US" sz="2000" b="1" dirty="0">
                <a:latin typeface="仿宋" pitchFamily="49" charset="-122"/>
                <a:ea typeface="仿宋" pitchFamily="49" charset="-122"/>
              </a:rPr>
              <a:t>。</a:t>
            </a:r>
          </a:p>
        </p:txBody>
      </p:sp>
      <p:sp>
        <p:nvSpPr>
          <p:cNvPr id="19" name="Text Box 6">
            <a:extLst>
              <a:ext uri="{FF2B5EF4-FFF2-40B4-BE49-F238E27FC236}">
                <a16:creationId xmlns:a16="http://schemas.microsoft.com/office/drawing/2014/main" id="{41EE7A3B-3A42-4C4A-9FA1-39A398546F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7775" y="3098800"/>
            <a:ext cx="3153152" cy="1201738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indent="200025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200" b="1" dirty="0">
                <a:solidFill>
                  <a:schemeClr val="bg1"/>
                </a:solidFill>
                <a:latin typeface="Calibri" pitchFamily="34" charset="0"/>
              </a:rPr>
              <a:t>     </a:t>
            </a:r>
            <a:r>
              <a:rPr lang="en-US" altLang="zh-CN" sz="2200" b="1" dirty="0">
                <a:solidFill>
                  <a:schemeClr val="bg1"/>
                </a:solidFill>
              </a:rPr>
              <a:t>00 010 001    x</a:t>
            </a:r>
          </a:p>
          <a:p>
            <a:pPr eaLnBrk="1" hangingPunct="1"/>
            <a:r>
              <a:rPr lang="en-US" altLang="zh-CN" sz="2200" b="1" dirty="0">
                <a:solidFill>
                  <a:schemeClr val="bg1"/>
                </a:solidFill>
                <a:cs typeface="Times New Roman" pitchFamily="18" charset="0"/>
              </a:rPr>
              <a:t>|</a:t>
            </a:r>
            <a:r>
              <a:rPr lang="en-US" altLang="zh-CN" sz="22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altLang="zh-CN" sz="2200" b="1" dirty="0">
                <a:solidFill>
                  <a:schemeClr val="bg1"/>
                </a:solidFill>
              </a:rPr>
              <a:t>00 111  </a:t>
            </a:r>
            <a:r>
              <a:rPr lang="en-US" altLang="zh-CN" sz="2200" b="1">
                <a:solidFill>
                  <a:schemeClr val="bg1"/>
                </a:solidFill>
              </a:rPr>
              <a:t>000    </a:t>
            </a:r>
            <a:r>
              <a:rPr lang="en-US" altLang="zh-CN" sz="2200" b="1" dirty="0">
                <a:solidFill>
                  <a:schemeClr val="bg1"/>
                </a:solidFill>
              </a:rPr>
              <a:t>y</a:t>
            </a:r>
          </a:p>
          <a:p>
            <a:pPr>
              <a:spcBef>
                <a:spcPct val="50000"/>
              </a:spcBef>
            </a:pPr>
            <a:r>
              <a:rPr lang="en-US" altLang="zh-CN" sz="2200" b="1" dirty="0">
                <a:solidFill>
                  <a:schemeClr val="bg1"/>
                </a:solidFill>
                <a:latin typeface="Calibri" pitchFamily="34" charset="0"/>
              </a:rPr>
              <a:t>     </a:t>
            </a:r>
            <a:r>
              <a:rPr lang="en-US" altLang="en-US" sz="2200" b="1" dirty="0">
                <a:solidFill>
                  <a:schemeClr val="bg1"/>
                </a:solidFill>
              </a:rPr>
              <a:t>00 111 001 </a:t>
            </a:r>
            <a:r>
              <a:rPr lang="en-US" altLang="zh-CN" sz="2200" b="1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20" name="Line 7">
            <a:extLst>
              <a:ext uri="{FF2B5EF4-FFF2-40B4-BE49-F238E27FC236}">
                <a16:creationId xmlns:a16="http://schemas.microsoft.com/office/drawing/2014/main" id="{FBE4ED19-70AF-493B-B8F0-1F5BE4F525B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77777" y="3868738"/>
            <a:ext cx="2760649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Rectangle 9">
            <a:extLst>
              <a:ext uri="{FF2B5EF4-FFF2-40B4-BE49-F238E27FC236}">
                <a16:creationId xmlns:a16="http://schemas.microsoft.com/office/drawing/2014/main" id="{B9E628F1-A915-439C-AAA7-0188FB5BF0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7760" y="2600190"/>
            <a:ext cx="4042723" cy="2537097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306000" tIns="82800" bIns="82800" anchor="ctr">
            <a:spAutoFit/>
          </a:bodyPr>
          <a:lstStyle>
            <a:lvl1pPr indent="1333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0" hangingPunct="0">
              <a:defRPr/>
            </a:pPr>
            <a:r>
              <a:rPr lang="en-US" altLang="zh-CN" sz="2200" dirty="0">
                <a:effectLst>
                  <a:outerShdw blurRad="38100" dist="38100" dir="2700000" algn="tl">
                    <a:srgbClr val="808080"/>
                  </a:outerShdw>
                </a:effectLst>
                <a:latin typeface="Times New Roman" pitchFamily="18" charset="0"/>
                <a:ea typeface="楷体_GB2312" charset="-122"/>
              </a:rPr>
              <a:t>#include &lt;stdio.h&gt;</a:t>
            </a:r>
            <a:endParaRPr lang="en-US" altLang="zh-CN" sz="2200" dirty="0">
              <a:effectLst>
                <a:outerShdw blurRad="38100" dist="38100" dir="2700000" algn="tl">
                  <a:srgbClr val="808080"/>
                </a:outerShdw>
              </a:effectLst>
            </a:endParaRPr>
          </a:p>
          <a:p>
            <a:pPr eaLnBrk="0" hangingPunct="0">
              <a:defRPr/>
            </a:pPr>
            <a:r>
              <a:rPr lang="en-US" altLang="zh-CN" sz="2200" dirty="0">
                <a:effectLst>
                  <a:outerShdw blurRad="38100" dist="38100" dir="2700000" algn="tl">
                    <a:srgbClr val="808080"/>
                  </a:outerShdw>
                </a:effectLst>
                <a:latin typeface="Arial Black" pitchFamily="34" charset="0"/>
                <a:ea typeface="楷体_GB2312" charset="-122"/>
              </a:rPr>
              <a:t>main()</a:t>
            </a:r>
            <a:endParaRPr lang="en-US" altLang="zh-CN" sz="2200" dirty="0">
              <a:effectLst>
                <a:outerShdw blurRad="38100" dist="38100" dir="2700000" algn="tl">
                  <a:srgbClr val="808080"/>
                </a:outerShdw>
              </a:effectLst>
              <a:latin typeface="Arial Black" pitchFamily="34" charset="0"/>
            </a:endParaRPr>
          </a:p>
          <a:p>
            <a:pPr eaLnBrk="0" hangingPunct="0">
              <a:defRPr/>
            </a:pPr>
            <a:r>
              <a:rPr lang="en-US" altLang="zh-CN" sz="2200" dirty="0">
                <a:effectLst>
                  <a:outerShdw blurRad="38100" dist="38100" dir="2700000" algn="tl">
                    <a:srgbClr val="808080"/>
                  </a:outerShdw>
                </a:effectLst>
                <a:latin typeface="Arial Black" pitchFamily="34" charset="0"/>
                <a:ea typeface="楷体_GB2312" charset="-122"/>
              </a:rPr>
              <a:t>{</a:t>
            </a:r>
            <a:endParaRPr lang="en-US" altLang="zh-CN" sz="2200" dirty="0">
              <a:effectLst>
                <a:outerShdw blurRad="38100" dist="38100" dir="2700000" algn="tl">
                  <a:srgbClr val="808080"/>
                </a:outerShdw>
              </a:effectLst>
              <a:latin typeface="Arial Black" pitchFamily="34" charset="0"/>
            </a:endParaRPr>
          </a:p>
          <a:p>
            <a:pPr eaLnBrk="0" hangingPunct="0">
              <a:defRPr/>
            </a:pPr>
            <a:r>
              <a:rPr lang="en-US" altLang="zh-CN" sz="2200" dirty="0">
                <a:effectLst>
                  <a:outerShdw blurRad="38100" dist="38100" dir="2700000" algn="tl">
                    <a:srgbClr val="808080"/>
                  </a:outerShdw>
                </a:effectLst>
                <a:latin typeface="Times New Roman" pitchFamily="18" charset="0"/>
                <a:ea typeface="楷体_GB2312" charset="-122"/>
              </a:rPr>
              <a:t>  </a:t>
            </a:r>
            <a:r>
              <a:rPr lang="en-US" altLang="zh-CN" sz="2200" dirty="0" err="1">
                <a:effectLst>
                  <a:outerShdw blurRad="38100" dist="38100" dir="2700000" algn="tl">
                    <a:srgbClr val="808080"/>
                  </a:outerShdw>
                </a:effectLst>
                <a:latin typeface="Times New Roman" pitchFamily="18" charset="0"/>
                <a:ea typeface="楷体_GB2312" charset="-122"/>
              </a:rPr>
              <a:t>int</a:t>
            </a:r>
            <a:r>
              <a:rPr lang="en-US" altLang="zh-CN" sz="2200" dirty="0">
                <a:effectLst>
                  <a:outerShdw blurRad="38100" dist="38100" dir="2700000" algn="tl">
                    <a:srgbClr val="808080"/>
                  </a:outerShdw>
                </a:effectLst>
                <a:latin typeface="Times New Roman" pitchFamily="18" charset="0"/>
                <a:ea typeface="楷体_GB2312" charset="-122"/>
              </a:rPr>
              <a:t> x=021;</a:t>
            </a:r>
            <a:endParaRPr lang="en-US" altLang="zh-CN" sz="2200" dirty="0">
              <a:effectLst>
                <a:outerShdw blurRad="38100" dist="38100" dir="2700000" algn="tl">
                  <a:srgbClr val="808080"/>
                </a:outerShdw>
              </a:effectLst>
            </a:endParaRPr>
          </a:p>
          <a:p>
            <a:pPr eaLnBrk="0" hangingPunct="0">
              <a:defRPr/>
            </a:pPr>
            <a:r>
              <a:rPr lang="en-US" altLang="zh-CN" sz="2200" dirty="0">
                <a:effectLst>
                  <a:outerShdw blurRad="38100" dist="38100" dir="2700000" algn="tl">
                    <a:srgbClr val="808080"/>
                  </a:outerShdw>
                </a:effectLst>
                <a:latin typeface="Times New Roman" pitchFamily="18" charset="0"/>
                <a:ea typeface="楷体_GB2312" charset="-122"/>
              </a:rPr>
              <a:t>  </a:t>
            </a:r>
            <a:r>
              <a:rPr lang="en-US" altLang="zh-CN" sz="2200" dirty="0" err="1">
                <a:effectLst>
                  <a:outerShdw blurRad="38100" dist="38100" dir="2700000" algn="tl">
                    <a:srgbClr val="808080"/>
                  </a:outerShdw>
                </a:effectLst>
                <a:latin typeface="Times New Roman" pitchFamily="18" charset="0"/>
                <a:ea typeface="楷体_GB2312" charset="-122"/>
              </a:rPr>
              <a:t>int</a:t>
            </a:r>
            <a:r>
              <a:rPr lang="en-US" altLang="zh-CN" sz="2200" dirty="0">
                <a:effectLst>
                  <a:outerShdw blurRad="38100" dist="38100" dir="2700000" algn="tl">
                    <a:srgbClr val="808080"/>
                  </a:outerShdw>
                </a:effectLst>
                <a:latin typeface="Times New Roman" pitchFamily="18" charset="0"/>
                <a:ea typeface="楷体_GB2312" charset="-122"/>
              </a:rPr>
              <a:t> y =070;</a:t>
            </a:r>
            <a:endParaRPr lang="en-US" altLang="zh-CN" sz="2200" dirty="0">
              <a:effectLst>
                <a:outerShdw blurRad="38100" dist="38100" dir="2700000" algn="tl">
                  <a:srgbClr val="808080"/>
                </a:outerShdw>
              </a:effectLst>
            </a:endParaRPr>
          </a:p>
          <a:p>
            <a:pPr eaLnBrk="0" hangingPunct="0">
              <a:defRPr/>
            </a:pPr>
            <a:r>
              <a:rPr lang="pt-BR" altLang="zh-CN" sz="2200" dirty="0">
                <a:effectLst>
                  <a:outerShdw blurRad="38100" dist="38100" dir="2700000" algn="tl">
                    <a:srgbClr val="808080"/>
                  </a:outerShdw>
                </a:effectLst>
                <a:latin typeface="Times New Roman" pitchFamily="18" charset="0"/>
                <a:ea typeface="楷体_GB2312" charset="-122"/>
              </a:rPr>
              <a:t>  printf("x</a:t>
            </a:r>
            <a:r>
              <a:rPr lang="pt-BR" altLang="zh-CN" dirty="0">
                <a:effectLst>
                  <a:outerShdw blurRad="38100" dist="38100" dir="2700000" algn="tl">
                    <a:srgbClr val="808080"/>
                  </a:outerShdw>
                </a:effectLst>
              </a:rPr>
              <a:t>|</a:t>
            </a:r>
            <a:r>
              <a:rPr lang="pt-BR" altLang="zh-CN" sz="2200" dirty="0">
                <a:effectLst>
                  <a:outerShdw blurRad="38100" dist="38100" dir="2700000" algn="tl">
                    <a:srgbClr val="808080"/>
                  </a:outerShdw>
                </a:effectLst>
                <a:latin typeface="Times New Roman" pitchFamily="18" charset="0"/>
                <a:ea typeface="楷体_GB2312" charset="-122"/>
              </a:rPr>
              <a:t>y=%</a:t>
            </a:r>
            <a:r>
              <a:rPr lang="en-US" altLang="zh-CN" sz="2200" dirty="0">
                <a:effectLst>
                  <a:outerShdw blurRad="38100" dist="38100" dir="2700000" algn="tl">
                    <a:srgbClr val="808080"/>
                  </a:outerShdw>
                </a:effectLst>
                <a:latin typeface="Times New Roman" pitchFamily="18" charset="0"/>
                <a:ea typeface="楷体_GB2312" charset="-122"/>
              </a:rPr>
              <a:t>o</a:t>
            </a:r>
            <a:r>
              <a:rPr lang="pt-BR" altLang="zh-CN" sz="2200" dirty="0">
                <a:effectLst>
                  <a:outerShdw blurRad="38100" dist="38100" dir="2700000" algn="tl">
                    <a:srgbClr val="808080"/>
                  </a:outerShdw>
                </a:effectLst>
                <a:latin typeface="Times New Roman" pitchFamily="18" charset="0"/>
                <a:ea typeface="楷体_GB2312" charset="-122"/>
              </a:rPr>
              <a:t>\n",</a:t>
            </a:r>
            <a:r>
              <a:rPr lang="pt-BR" altLang="zh-CN" sz="220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楷体_GB2312" charset="-122"/>
              </a:rPr>
              <a:t>x|y</a:t>
            </a:r>
            <a:r>
              <a:rPr lang="pt-BR" altLang="zh-CN" sz="2200" dirty="0">
                <a:effectLst>
                  <a:outerShdw blurRad="38100" dist="38100" dir="2700000" algn="tl">
                    <a:srgbClr val="808080"/>
                  </a:outerShdw>
                </a:effectLst>
                <a:latin typeface="Times New Roman" pitchFamily="18" charset="0"/>
                <a:ea typeface="楷体_GB2312" charset="-122"/>
              </a:rPr>
              <a:t>);</a:t>
            </a:r>
            <a:endParaRPr lang="pt-BR" altLang="zh-CN" sz="2200" dirty="0">
              <a:effectLst>
                <a:outerShdw blurRad="38100" dist="38100" dir="2700000" algn="tl">
                  <a:srgbClr val="808080"/>
                </a:outerShdw>
              </a:effectLst>
            </a:endParaRPr>
          </a:p>
          <a:p>
            <a:pPr eaLnBrk="0" hangingPunct="0">
              <a:defRPr/>
            </a:pPr>
            <a:r>
              <a:rPr lang="en-US" altLang="zh-CN" sz="2200" dirty="0">
                <a:effectLst>
                  <a:outerShdw blurRad="38100" dist="38100" dir="2700000" algn="tl">
                    <a:srgbClr val="808080"/>
                  </a:outerShdw>
                </a:effectLst>
                <a:latin typeface="Arial Black" pitchFamily="34" charset="0"/>
                <a:ea typeface="楷体_GB2312" charset="-122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19816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直接连接符 2"/>
          <p:cNvSpPr>
            <a:spLocks noChangeShapeType="1"/>
          </p:cNvSpPr>
          <p:nvPr/>
        </p:nvSpPr>
        <p:spPr bwMode="auto">
          <a:xfrm rot="5400000">
            <a:off x="856482" y="305077"/>
            <a:ext cx="612775" cy="2625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63" name="直接连接符 3"/>
          <p:cNvSpPr>
            <a:spLocks noChangeShapeType="1"/>
          </p:cNvSpPr>
          <p:nvPr/>
        </p:nvSpPr>
        <p:spPr bwMode="auto">
          <a:xfrm rot="5400000">
            <a:off x="1033228" y="179526"/>
            <a:ext cx="360363" cy="1312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64" name="标题 1"/>
          <p:cNvSpPr>
            <a:spLocks noGrp="1" noChangeArrowheads="1"/>
          </p:cNvSpPr>
          <p:nvPr>
            <p:ph type="ctrTitle"/>
          </p:nvPr>
        </p:nvSpPr>
        <p:spPr bwMode="auto">
          <a:xfrm>
            <a:off x="1169433" y="50800"/>
            <a:ext cx="6805137" cy="50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/>
          </a:bodyPr>
          <a:lstStyle/>
          <a:p>
            <a:pPr marL="0" indent="0" eaLnBrk="1" hangingPunct="1"/>
            <a:r>
              <a:rPr lang="en-US" altLang="zh-CN" sz="3200" dirty="0"/>
              <a:t>1 </a:t>
            </a:r>
            <a:r>
              <a:rPr lang="zh-CN" altLang="en-US" sz="3200" dirty="0"/>
              <a:t>位运算</a:t>
            </a:r>
          </a:p>
        </p:txBody>
      </p:sp>
      <p:sp>
        <p:nvSpPr>
          <p:cNvPr id="15366" name="Text Box 15"/>
          <p:cNvSpPr txBox="1">
            <a:spLocks noChangeArrowheads="1"/>
          </p:cNvSpPr>
          <p:nvPr/>
        </p:nvSpPr>
        <p:spPr bwMode="auto">
          <a:xfrm>
            <a:off x="964649" y="5064125"/>
            <a:ext cx="3024505" cy="1588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endParaRPr lang="en-US" altLang="zh-CN" sz="2000" b="1">
              <a:solidFill>
                <a:srgbClr val="FFFFFF"/>
              </a:solidFill>
            </a:endParaRPr>
          </a:p>
        </p:txBody>
      </p:sp>
      <p:sp>
        <p:nvSpPr>
          <p:cNvPr id="9" name="Rectangle 20"/>
          <p:cNvSpPr>
            <a:spLocks noChangeArrowheads="1"/>
          </p:cNvSpPr>
          <p:nvPr/>
        </p:nvSpPr>
        <p:spPr bwMode="auto">
          <a:xfrm>
            <a:off x="964648" y="770925"/>
            <a:ext cx="6994168" cy="401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hangingPunct="0"/>
            <a:r>
              <a:rPr lang="zh-CN" altLang="en-US" sz="20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（</a:t>
            </a:r>
            <a:r>
              <a:rPr lang="en-US" altLang="zh-CN" sz="20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3</a:t>
            </a:r>
            <a:r>
              <a:rPr lang="zh-CN" altLang="en-US" sz="20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）按位异或运算“</a:t>
            </a:r>
            <a:r>
              <a:rPr lang="en-US" altLang="zh-CN" sz="20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^”</a:t>
            </a:r>
            <a:endParaRPr lang="en-US" altLang="zh-CN" sz="2000" b="1" dirty="0">
              <a:solidFill>
                <a:srgbClr val="FF0000"/>
              </a:solidFill>
              <a:latin typeface="仿宋" pitchFamily="49" charset="-122"/>
              <a:ea typeface="仿宋" pitchFamily="49" charset="-122"/>
            </a:endParaRPr>
          </a:p>
        </p:txBody>
      </p:sp>
      <p:sp>
        <p:nvSpPr>
          <p:cNvPr id="15369" name="Rectangle 5"/>
          <p:cNvSpPr>
            <a:spLocks noChangeArrowheads="1"/>
          </p:cNvSpPr>
          <p:nvPr/>
        </p:nvSpPr>
        <p:spPr bwMode="auto">
          <a:xfrm>
            <a:off x="1212752" y="1419223"/>
            <a:ext cx="7132004" cy="1462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06000" tIns="190800" bIns="190800" anchor="ctr">
            <a:spAutoFit/>
          </a:bodyPr>
          <a:lstStyle/>
          <a:p>
            <a:pPr>
              <a:buSzPct val="100000"/>
              <a:buFontTx/>
              <a:buAutoNum type="circleNumDbPlain"/>
            </a:pPr>
            <a:r>
              <a:rPr lang="zh-CN" altLang="en-US" sz="2000" b="1" dirty="0">
                <a:latin typeface="仿宋" pitchFamily="49" charset="-122"/>
                <a:ea typeface="仿宋" pitchFamily="49" charset="-122"/>
              </a:rPr>
              <a:t>运算规则：参加运算的两个二进制位不同则为</a:t>
            </a:r>
            <a:r>
              <a:rPr lang="en-US" altLang="zh-CN" sz="2000" b="1" dirty="0">
                <a:latin typeface="仿宋" pitchFamily="49" charset="-122"/>
                <a:ea typeface="仿宋" pitchFamily="49" charset="-122"/>
              </a:rPr>
              <a:t>1</a:t>
            </a:r>
            <a:r>
              <a:rPr lang="zh-CN" altLang="en-US" sz="2000" b="1" dirty="0">
                <a:latin typeface="仿宋" pitchFamily="49" charset="-122"/>
                <a:ea typeface="仿宋" pitchFamily="49" charset="-122"/>
              </a:rPr>
              <a:t>，相同</a:t>
            </a:r>
            <a:r>
              <a:rPr lang="en-US" altLang="zh-CN" sz="2000" b="1" dirty="0">
                <a:latin typeface="仿宋" pitchFamily="49" charset="-122"/>
                <a:ea typeface="仿宋" pitchFamily="49" charset="-122"/>
              </a:rPr>
              <a:t>,</a:t>
            </a:r>
            <a:r>
              <a:rPr lang="zh-CN" altLang="en-US" sz="2000" b="1" dirty="0">
                <a:latin typeface="仿宋" pitchFamily="49" charset="-122"/>
                <a:ea typeface="仿宋" pitchFamily="49" charset="-122"/>
              </a:rPr>
              <a:t>则结果为</a:t>
            </a:r>
            <a:r>
              <a:rPr lang="en-US" altLang="zh-CN" sz="2000" b="1" dirty="0">
                <a:latin typeface="仿宋" pitchFamily="49" charset="-122"/>
                <a:ea typeface="仿宋" pitchFamily="49" charset="-122"/>
              </a:rPr>
              <a:t>0</a:t>
            </a:r>
            <a:r>
              <a:rPr lang="zh-CN" altLang="en-US" sz="2000" b="1" dirty="0">
                <a:latin typeface="仿宋" pitchFamily="49" charset="-122"/>
                <a:ea typeface="仿宋" pitchFamily="49" charset="-122"/>
              </a:rPr>
              <a:t>。</a:t>
            </a:r>
          </a:p>
          <a:p>
            <a:pPr eaLnBrk="0" hangingPunct="0">
              <a:spcBef>
                <a:spcPct val="50000"/>
              </a:spcBef>
            </a:pPr>
            <a:r>
              <a:rPr lang="zh-CN" altLang="en-US" sz="2000" b="1" dirty="0">
                <a:latin typeface="仿宋" pitchFamily="49" charset="-122"/>
                <a:ea typeface="仿宋" pitchFamily="49" charset="-122"/>
              </a:rPr>
              <a:t>   例如：</a:t>
            </a:r>
            <a:r>
              <a:rPr lang="en-US" altLang="zh-CN" sz="2000" b="1" dirty="0">
                <a:latin typeface="仿宋" pitchFamily="49" charset="-122"/>
                <a:ea typeface="仿宋" pitchFamily="49" charset="-122"/>
              </a:rPr>
              <a:t>071^052,</a:t>
            </a:r>
            <a:r>
              <a:rPr lang="zh-CN" altLang="en-US" sz="2000" b="1" dirty="0">
                <a:latin typeface="仿宋" pitchFamily="49" charset="-122"/>
                <a:ea typeface="仿宋" pitchFamily="49" charset="-122"/>
              </a:rPr>
              <a:t>结果为</a:t>
            </a:r>
            <a:r>
              <a:rPr lang="en-US" altLang="zh-CN" sz="2000" b="1" dirty="0">
                <a:latin typeface="仿宋" pitchFamily="49" charset="-122"/>
                <a:ea typeface="仿宋" pitchFamily="49" charset="-122"/>
              </a:rPr>
              <a:t>023</a:t>
            </a:r>
            <a:r>
              <a:rPr lang="zh-CN" altLang="en-US" sz="2000" b="1" dirty="0">
                <a:latin typeface="仿宋" pitchFamily="49" charset="-122"/>
                <a:ea typeface="仿宋" pitchFamily="49" charset="-122"/>
              </a:rPr>
              <a:t>。</a:t>
            </a:r>
          </a:p>
        </p:txBody>
      </p:sp>
      <p:sp>
        <p:nvSpPr>
          <p:cNvPr id="15370" name="Text Box 9"/>
          <p:cNvSpPr txBox="1">
            <a:spLocks noChangeArrowheads="1"/>
          </p:cNvSpPr>
          <p:nvPr/>
        </p:nvSpPr>
        <p:spPr bwMode="auto">
          <a:xfrm>
            <a:off x="2066446" y="3003948"/>
            <a:ext cx="3843642" cy="144780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indent="200025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200" b="1" dirty="0">
                <a:solidFill>
                  <a:schemeClr val="bg1"/>
                </a:solidFill>
                <a:latin typeface="Calibri" pitchFamily="34" charset="0"/>
              </a:rPr>
              <a:t>       </a:t>
            </a:r>
            <a:r>
              <a:rPr lang="en-US" altLang="zh-CN" sz="2200" b="1" dirty="0">
                <a:solidFill>
                  <a:schemeClr val="bg1"/>
                </a:solidFill>
              </a:rPr>
              <a:t>00111001     x</a:t>
            </a:r>
          </a:p>
          <a:p>
            <a:r>
              <a:rPr lang="en-US" altLang="zh-CN" sz="3200" b="1" baseline="-25000" dirty="0">
                <a:solidFill>
                  <a:schemeClr val="bg1"/>
                </a:solidFill>
              </a:rPr>
              <a:t>^</a:t>
            </a:r>
            <a:r>
              <a:rPr lang="en-US" altLang="zh-CN" sz="3200" baseline="-25000" dirty="0">
                <a:solidFill>
                  <a:schemeClr val="bg1"/>
                </a:solidFill>
              </a:rPr>
              <a:t>    </a:t>
            </a:r>
            <a:r>
              <a:rPr lang="en-US" altLang="zh-CN" sz="2200" b="1" dirty="0">
                <a:solidFill>
                  <a:schemeClr val="bg1"/>
                </a:solidFill>
              </a:rPr>
              <a:t>00101010     y</a:t>
            </a:r>
          </a:p>
          <a:p>
            <a:pPr>
              <a:spcBef>
                <a:spcPct val="50000"/>
              </a:spcBef>
            </a:pPr>
            <a:r>
              <a:rPr lang="en-US" altLang="zh-CN" sz="2200" b="1" dirty="0">
                <a:solidFill>
                  <a:schemeClr val="bg1"/>
                </a:solidFill>
                <a:latin typeface="Calibri" pitchFamily="34" charset="0"/>
              </a:rPr>
              <a:t>       </a:t>
            </a:r>
            <a:r>
              <a:rPr lang="en-US" altLang="en-US" sz="2200" b="1" dirty="0">
                <a:solidFill>
                  <a:schemeClr val="bg1"/>
                </a:solidFill>
              </a:rPr>
              <a:t>00</a:t>
            </a:r>
            <a:r>
              <a:rPr lang="en-US" altLang="zh-CN" sz="2200" b="1" dirty="0">
                <a:solidFill>
                  <a:schemeClr val="bg1"/>
                </a:solidFill>
              </a:rPr>
              <a:t>0</a:t>
            </a:r>
            <a:r>
              <a:rPr lang="en-US" altLang="en-US" sz="2200" b="1" dirty="0">
                <a:solidFill>
                  <a:schemeClr val="bg1"/>
                </a:solidFill>
              </a:rPr>
              <a:t>1</a:t>
            </a:r>
            <a:r>
              <a:rPr lang="en-US" altLang="zh-CN" sz="2200" b="1" dirty="0">
                <a:solidFill>
                  <a:schemeClr val="bg1"/>
                </a:solidFill>
              </a:rPr>
              <a:t>0</a:t>
            </a:r>
            <a:r>
              <a:rPr lang="en-US" altLang="en-US" sz="2200" b="1" dirty="0">
                <a:solidFill>
                  <a:schemeClr val="bg1"/>
                </a:solidFill>
              </a:rPr>
              <a:t>0</a:t>
            </a:r>
            <a:r>
              <a:rPr lang="en-US" altLang="zh-CN" sz="2200" b="1" dirty="0">
                <a:solidFill>
                  <a:schemeClr val="bg1"/>
                </a:solidFill>
              </a:rPr>
              <a:t>1</a:t>
            </a:r>
            <a:r>
              <a:rPr lang="en-US" altLang="en-US" sz="2200" b="1" dirty="0">
                <a:solidFill>
                  <a:schemeClr val="bg1"/>
                </a:solidFill>
              </a:rPr>
              <a:t>1 </a:t>
            </a:r>
            <a:r>
              <a:rPr lang="en-US" altLang="zh-CN" sz="2200" b="1" dirty="0">
                <a:solidFill>
                  <a:schemeClr val="bg1"/>
                </a:solidFill>
              </a:rPr>
              <a:t>          </a:t>
            </a:r>
            <a:r>
              <a:rPr lang="zh-CN" altLang="en-US" sz="2200" b="1" dirty="0">
                <a:solidFill>
                  <a:schemeClr val="bg1"/>
                </a:solidFill>
              </a:rPr>
              <a:t>结果</a:t>
            </a:r>
          </a:p>
        </p:txBody>
      </p:sp>
      <p:sp>
        <p:nvSpPr>
          <p:cNvPr id="15371" name="Line 10"/>
          <p:cNvSpPr>
            <a:spLocks noChangeShapeType="1"/>
          </p:cNvSpPr>
          <p:nvPr/>
        </p:nvSpPr>
        <p:spPr bwMode="auto">
          <a:xfrm flipV="1">
            <a:off x="1690681" y="3727848"/>
            <a:ext cx="3523339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69591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>
            <p:custDataLst>
              <p:tags r:id="rId2"/>
            </p:custDataLst>
          </p:nvPr>
        </p:nvSpPr>
        <p:spPr>
          <a:xfrm>
            <a:off x="1547495" y="635000"/>
            <a:ext cx="6049010" cy="2938661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000" dirty="0">
                <a:latin typeface="Microsoft Yahei"/>
                <a:ea typeface="Microsoft Yahei"/>
                <a:sym typeface="Microsoft Yahei"/>
              </a:rPr>
              <a:t>#include &lt;stdio.h&gt;</a:t>
            </a:r>
          </a:p>
          <a:p>
            <a:r>
              <a:rPr lang="en-US" altLang="zh-CN" sz="2000" dirty="0">
                <a:latin typeface="Microsoft Yahei"/>
                <a:ea typeface="Microsoft Yahei"/>
                <a:sym typeface="Microsoft Yahei"/>
              </a:rPr>
              <a:t>main()</a:t>
            </a:r>
          </a:p>
          <a:p>
            <a:r>
              <a:rPr lang="en-US" altLang="zh-CN" sz="2000" dirty="0">
                <a:latin typeface="Microsoft Yahei"/>
                <a:ea typeface="Microsoft Yahei"/>
                <a:sym typeface="Microsoft Yahei"/>
              </a:rPr>
              <a:t>{</a:t>
            </a:r>
          </a:p>
          <a:p>
            <a:r>
              <a:rPr lang="en-US" altLang="zh-CN" sz="2000" dirty="0">
                <a:latin typeface="Microsoft Yahei"/>
                <a:ea typeface="Microsoft Yahei"/>
                <a:sym typeface="Microsoft Yahei"/>
              </a:rPr>
              <a:t>  char a,b;</a:t>
            </a:r>
          </a:p>
          <a:p>
            <a:r>
              <a:rPr lang="en-US" altLang="zh-CN" sz="2000" dirty="0">
                <a:latin typeface="Microsoft Yahei"/>
                <a:ea typeface="Microsoft Yahei"/>
                <a:sym typeface="Microsoft Yahei"/>
              </a:rPr>
              <a:t>  a=4|3;</a:t>
            </a:r>
          </a:p>
          <a:p>
            <a:r>
              <a:rPr lang="en-US" altLang="zh-CN" sz="2000" dirty="0">
                <a:latin typeface="Microsoft Yahei"/>
                <a:ea typeface="Microsoft Yahei"/>
                <a:sym typeface="Microsoft Yahei"/>
              </a:rPr>
              <a:t>  b=4&amp;3;</a:t>
            </a:r>
          </a:p>
          <a:p>
            <a:r>
              <a:rPr lang="en-US" altLang="zh-CN" sz="2000" dirty="0">
                <a:latin typeface="Microsoft Yahei"/>
                <a:ea typeface="Microsoft Yahei"/>
                <a:sym typeface="Microsoft Yahei"/>
              </a:rPr>
              <a:t>  printf("%</a:t>
            </a:r>
            <a:r>
              <a:rPr lang="en-US" altLang="zh-CN" sz="2000" dirty="0" err="1">
                <a:latin typeface="Microsoft Yahei"/>
                <a:ea typeface="Microsoft Yahei"/>
                <a:sym typeface="Microsoft Yahei"/>
              </a:rPr>
              <a:t>d,%d</a:t>
            </a:r>
            <a:r>
              <a:rPr lang="en-US" altLang="zh-CN" sz="2000" dirty="0">
                <a:latin typeface="Microsoft Yahei"/>
                <a:ea typeface="Microsoft Yahei"/>
                <a:sym typeface="Microsoft Yahei"/>
              </a:rPr>
              <a:t>\n",a,b);</a:t>
            </a:r>
          </a:p>
          <a:p>
            <a:r>
              <a:rPr lang="en-US" altLang="zh-CN" sz="2000" dirty="0">
                <a:latin typeface="Microsoft Yahei"/>
                <a:ea typeface="Microsoft Yahei"/>
                <a:sym typeface="Microsoft Yahei"/>
              </a:rPr>
              <a:t>}</a:t>
            </a:r>
            <a:r>
              <a:rPr lang="zh-CN" altLang="en-US" sz="2000" dirty="0">
                <a:latin typeface="Microsoft Yahei"/>
                <a:ea typeface="Microsoft Yahei"/>
                <a:sym typeface="Microsoft Yahei"/>
              </a:rPr>
              <a:t>这段程序执行结果为：</a:t>
            </a:r>
          </a:p>
        </p:txBody>
      </p:sp>
      <p:sp>
        <p:nvSpPr>
          <p:cNvPr id="6" name="TextBox 5"/>
          <p:cNvSpPr txBox="1"/>
          <p:nvPr>
            <p:custDataLst>
              <p:tags r:id="rId3"/>
            </p:custDataLst>
          </p:nvPr>
        </p:nvSpPr>
        <p:spPr>
          <a:xfrm>
            <a:off x="1614919" y="3525442"/>
            <a:ext cx="2772610" cy="482203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latin typeface="Microsoft Yahei"/>
                <a:ea typeface="Microsoft Yahei"/>
                <a:sym typeface="Microsoft Yahei"/>
              </a:rPr>
              <a:t>7</a:t>
            </a:r>
            <a:r>
              <a:rPr lang="zh-CN" altLang="en-US" sz="2600" dirty="0">
                <a:latin typeface="Microsoft Yahei"/>
                <a:ea typeface="Microsoft Yahei"/>
                <a:sym typeface="Microsoft Yahei"/>
              </a:rPr>
              <a:t>，</a:t>
            </a:r>
            <a:r>
              <a:rPr lang="en-US" altLang="zh-CN" sz="2600" dirty="0">
                <a:latin typeface="Microsoft Yahei"/>
                <a:ea typeface="Microsoft Yahei"/>
                <a:sym typeface="Microsoft Yahei"/>
              </a:rPr>
              <a:t>0</a:t>
            </a:r>
            <a:endParaRPr lang="zh-CN" altLang="en-US" sz="2600" dirty="0"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7" name="TextBox 6"/>
          <p:cNvSpPr txBox="1"/>
          <p:nvPr>
            <p:custDataLst>
              <p:tags r:id="rId4"/>
            </p:custDataLst>
          </p:nvPr>
        </p:nvSpPr>
        <p:spPr>
          <a:xfrm>
            <a:off x="1614919" y="4168379"/>
            <a:ext cx="2772610" cy="482203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latin typeface="Microsoft Yahei"/>
                <a:ea typeface="Microsoft Yahei"/>
                <a:sym typeface="Microsoft Yahei"/>
              </a:rPr>
              <a:t>43</a:t>
            </a:r>
            <a:r>
              <a:rPr lang="zh-CN" altLang="en-US" sz="2600" dirty="0">
                <a:latin typeface="Microsoft Yahei"/>
                <a:ea typeface="Microsoft Yahei"/>
                <a:sym typeface="Microsoft Yahei"/>
              </a:rPr>
              <a:t>，</a:t>
            </a:r>
            <a:r>
              <a:rPr lang="en-US" altLang="zh-CN" sz="2600" dirty="0">
                <a:latin typeface="Microsoft Yahei"/>
                <a:ea typeface="Microsoft Yahei"/>
                <a:sym typeface="Microsoft Yahei"/>
              </a:rPr>
              <a:t>0</a:t>
            </a:r>
            <a:endParaRPr lang="zh-CN" altLang="en-US" sz="2600" dirty="0"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8" name="TextBox 7"/>
          <p:cNvSpPr txBox="1"/>
          <p:nvPr>
            <p:custDataLst>
              <p:tags r:id="rId5"/>
            </p:custDataLst>
          </p:nvPr>
        </p:nvSpPr>
        <p:spPr>
          <a:xfrm>
            <a:off x="5245794" y="3525442"/>
            <a:ext cx="2772610" cy="482203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latin typeface="Microsoft Yahei"/>
                <a:ea typeface="Microsoft Yahei"/>
                <a:sym typeface="Microsoft Yahei"/>
              </a:rPr>
              <a:t>0</a:t>
            </a:r>
            <a:r>
              <a:rPr lang="zh-CN" altLang="en-US" sz="2600" dirty="0">
                <a:latin typeface="Microsoft Yahei"/>
                <a:ea typeface="Microsoft Yahei"/>
                <a:sym typeface="Microsoft Yahei"/>
              </a:rPr>
              <a:t>，</a:t>
            </a:r>
            <a:r>
              <a:rPr lang="en-US" altLang="zh-CN" sz="2600" dirty="0">
                <a:latin typeface="Microsoft Yahei"/>
                <a:ea typeface="Microsoft Yahei"/>
                <a:sym typeface="Microsoft Yahei"/>
              </a:rPr>
              <a:t>7</a:t>
            </a:r>
            <a:endParaRPr lang="zh-CN" altLang="en-US" sz="2600" dirty="0"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9" name="TextBox 8"/>
          <p:cNvSpPr txBox="1"/>
          <p:nvPr>
            <p:custDataLst>
              <p:tags r:id="rId6"/>
            </p:custDataLst>
          </p:nvPr>
        </p:nvSpPr>
        <p:spPr>
          <a:xfrm>
            <a:off x="5245794" y="4168379"/>
            <a:ext cx="2772610" cy="482203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latin typeface="Microsoft Yahei"/>
                <a:ea typeface="Microsoft Yahei"/>
                <a:sym typeface="Microsoft Yahei"/>
              </a:rPr>
              <a:t>1</a:t>
            </a:r>
            <a:r>
              <a:rPr lang="zh-CN" altLang="en-US" sz="2600" dirty="0">
                <a:latin typeface="Microsoft Yahei"/>
                <a:ea typeface="Microsoft Yahei"/>
                <a:sym typeface="Microsoft Yahei"/>
              </a:rPr>
              <a:t>，</a:t>
            </a:r>
            <a:r>
              <a:rPr lang="en-US" altLang="zh-CN" sz="2600" dirty="0">
                <a:latin typeface="Microsoft Yahei"/>
                <a:ea typeface="Microsoft Yahei"/>
                <a:sym typeface="Microsoft Yahei"/>
              </a:rPr>
              <a:t>1</a:t>
            </a:r>
            <a:endParaRPr lang="zh-CN" altLang="en-US" sz="2600" dirty="0"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043976" y="3573662"/>
            <a:ext cx="385763" cy="385763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043976" y="4216599"/>
            <a:ext cx="385763" cy="385762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4674851" y="3573662"/>
            <a:ext cx="385763" cy="385763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C</a:t>
            </a:r>
            <a:endParaRPr lang="zh-CN" altLang="en-US" sz="1600" dirty="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4674851" y="4216599"/>
            <a:ext cx="385763" cy="385762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4" name="圆角矩形 13"/>
          <p:cNvSpPr/>
          <p:nvPr>
            <p:custDataLst>
              <p:tags r:id="rId11"/>
            </p:custDataLst>
          </p:nvPr>
        </p:nvSpPr>
        <p:spPr>
          <a:xfrm>
            <a:off x="6053455" y="4661297"/>
            <a:ext cx="1157288" cy="30861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提交</a:t>
            </a:r>
          </a:p>
        </p:txBody>
      </p: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7561263" cy="635000"/>
            <a:chOff x="-791370" y="0"/>
            <a:chExt cx="7561263" cy="635000"/>
          </a:xfrm>
        </p:grpSpPr>
        <p:sp>
          <p:nvSpPr>
            <p:cNvPr id="15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-791370" y="0"/>
              <a:ext cx="7561263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15"/>
              </p:custDataLst>
            </p:nvPr>
          </p:nvSpPr>
          <p:spPr>
            <a:xfrm>
              <a:off x="-79137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-53737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单选题</a:t>
              </a: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73453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分</a:t>
              </a: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298045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>
            <p:custDataLst>
              <p:tags r:id="rId2"/>
            </p:custDataLst>
          </p:nvPr>
        </p:nvSpPr>
        <p:spPr>
          <a:xfrm>
            <a:off x="1547495" y="770925"/>
            <a:ext cx="6049010" cy="1607344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000" dirty="0">
                <a:latin typeface="Microsoft Yahei"/>
                <a:ea typeface="Microsoft Yahei"/>
                <a:sym typeface="Microsoft Yahei"/>
              </a:rPr>
              <a:t>以下程序的结果是</a:t>
            </a:r>
            <a:r>
              <a:rPr lang="en-US" altLang="zh-CN" sz="2000" dirty="0">
                <a:latin typeface="Microsoft Yahei"/>
                <a:ea typeface="Microsoft Yahei"/>
                <a:sym typeface="Microsoft Yahei"/>
              </a:rPr>
              <a:t>__________</a:t>
            </a:r>
            <a:r>
              <a:rPr lang="zh-CN" altLang="en-US" sz="2000" dirty="0">
                <a:latin typeface="Microsoft Yahei"/>
                <a:ea typeface="Microsoft Yahei"/>
                <a:sym typeface="Microsoft Yahei"/>
              </a:rPr>
              <a:t>。</a:t>
            </a:r>
          </a:p>
          <a:p>
            <a:r>
              <a:rPr lang="en-US" altLang="zh-CN" sz="2000" dirty="0">
                <a:latin typeface="Microsoft Yahei"/>
                <a:ea typeface="Microsoft Yahei"/>
                <a:sym typeface="Microsoft Yahei"/>
              </a:rPr>
              <a:t>main()</a:t>
            </a:r>
          </a:p>
          <a:p>
            <a:r>
              <a:rPr lang="en-US" altLang="zh-CN" sz="2000" dirty="0">
                <a:latin typeface="Microsoft Yahei"/>
                <a:ea typeface="Microsoft Yahei"/>
                <a:sym typeface="Microsoft Yahei"/>
              </a:rPr>
              <a:t>{</a:t>
            </a:r>
          </a:p>
          <a:p>
            <a:pPr lvl="1"/>
            <a:r>
              <a:rPr lang="en-US" altLang="zh-CN" sz="2000" dirty="0">
                <a:latin typeface="Microsoft Yahei"/>
                <a:ea typeface="Microsoft Yahei"/>
                <a:sym typeface="Microsoft Yahei"/>
              </a:rPr>
              <a:t>int a=34,b=66</a:t>
            </a:r>
            <a:r>
              <a:rPr lang="zh-CN" altLang="en-US" sz="2000" dirty="0">
                <a:latin typeface="Microsoft Yahei"/>
                <a:ea typeface="Microsoft Yahei"/>
                <a:sym typeface="Microsoft Yahei"/>
              </a:rPr>
              <a:t>；</a:t>
            </a:r>
          </a:p>
          <a:p>
            <a:pPr lvl="1"/>
            <a:r>
              <a:rPr lang="en-US" altLang="zh-CN" sz="2000" dirty="0">
                <a:latin typeface="Microsoft Yahei"/>
                <a:ea typeface="Microsoft Yahei"/>
                <a:sym typeface="Microsoft Yahei"/>
              </a:rPr>
              <a:t>printf(“</a:t>
            </a:r>
            <a:r>
              <a:rPr lang="zh-CN" altLang="en-US" sz="2000" dirty="0">
                <a:latin typeface="Microsoft Yahei"/>
                <a:ea typeface="Microsoft Yahei"/>
                <a:sym typeface="Microsoft Yahei"/>
              </a:rPr>
              <a:t>％</a:t>
            </a:r>
            <a:r>
              <a:rPr lang="en-US" altLang="zh-CN" sz="2000" dirty="0">
                <a:latin typeface="Microsoft Yahei"/>
                <a:ea typeface="Microsoft Yahei"/>
                <a:sym typeface="Microsoft Yahei"/>
              </a:rPr>
              <a:t>c</a:t>
            </a:r>
            <a:r>
              <a:rPr lang="zh-CN" altLang="en-US" sz="2000" dirty="0">
                <a:latin typeface="Microsoft Yahei"/>
                <a:ea typeface="Microsoft Yahei"/>
                <a:sym typeface="Microsoft Yahei"/>
              </a:rPr>
              <a:t>＼</a:t>
            </a:r>
            <a:r>
              <a:rPr lang="en-US" altLang="zh-CN" sz="2000" dirty="0">
                <a:latin typeface="Microsoft Yahei"/>
                <a:ea typeface="Microsoft Yahei"/>
                <a:sym typeface="Microsoft Yahei"/>
              </a:rPr>
              <a:t>n”,</a:t>
            </a:r>
            <a:r>
              <a:rPr lang="en-US" altLang="zh-CN" sz="2000" dirty="0" err="1">
                <a:latin typeface="Microsoft Yahei"/>
                <a:ea typeface="Microsoft Yahei"/>
                <a:sym typeface="Microsoft Yahei"/>
              </a:rPr>
              <a:t>a|b</a:t>
            </a:r>
            <a:r>
              <a:rPr lang="en-US" altLang="zh-CN" sz="2000" dirty="0">
                <a:latin typeface="Microsoft Yahei"/>
                <a:ea typeface="Microsoft Yahei"/>
                <a:sym typeface="Microsoft Yahei"/>
              </a:rPr>
              <a:t>)</a:t>
            </a:r>
            <a:r>
              <a:rPr lang="zh-CN" altLang="en-US" sz="2000" dirty="0">
                <a:latin typeface="Microsoft Yahei"/>
                <a:ea typeface="Microsoft Yahei"/>
                <a:sym typeface="Microsoft Yahei"/>
              </a:rPr>
              <a:t>；</a:t>
            </a:r>
          </a:p>
          <a:p>
            <a:r>
              <a:rPr lang="en-US" altLang="zh-CN" sz="2000" dirty="0">
                <a:latin typeface="Microsoft Yahei"/>
                <a:ea typeface="Microsoft Yahei"/>
                <a:sym typeface="Microsoft Yahei"/>
              </a:rPr>
              <a:t>}</a:t>
            </a:r>
          </a:p>
        </p:txBody>
      </p:sp>
      <p:sp>
        <p:nvSpPr>
          <p:cNvPr id="6" name="TextBox 5"/>
          <p:cNvSpPr txBox="1"/>
          <p:nvPr>
            <p:custDataLst>
              <p:tags r:id="rId3"/>
            </p:custDataLst>
          </p:nvPr>
        </p:nvSpPr>
        <p:spPr>
          <a:xfrm>
            <a:off x="2303621" y="2609858"/>
            <a:ext cx="5292884" cy="482203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000" dirty="0">
                <a:latin typeface="Microsoft Yahei"/>
                <a:ea typeface="Microsoft Yahei"/>
                <a:sym typeface="Microsoft Yahei"/>
              </a:rPr>
              <a:t>66</a:t>
            </a:r>
            <a:endParaRPr lang="zh-CN" altLang="en-US" sz="2000" dirty="0"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7" name="TextBox 6"/>
          <p:cNvSpPr txBox="1"/>
          <p:nvPr>
            <p:custDataLst>
              <p:tags r:id="rId4"/>
            </p:custDataLst>
          </p:nvPr>
        </p:nvSpPr>
        <p:spPr>
          <a:xfrm>
            <a:off x="2303621" y="3252795"/>
            <a:ext cx="5292884" cy="482203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000" dirty="0">
                <a:latin typeface="Microsoft Yahei"/>
                <a:ea typeface="Microsoft Yahei"/>
                <a:sym typeface="Microsoft Yahei"/>
              </a:rPr>
              <a:t>98</a:t>
            </a:r>
            <a:endParaRPr lang="zh-CN" altLang="en-US" sz="2000" dirty="0"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8" name="TextBox 7"/>
          <p:cNvSpPr txBox="1"/>
          <p:nvPr>
            <p:custDataLst>
              <p:tags r:id="rId5"/>
            </p:custDataLst>
          </p:nvPr>
        </p:nvSpPr>
        <p:spPr>
          <a:xfrm>
            <a:off x="2303621" y="3895733"/>
            <a:ext cx="5292884" cy="482203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000" dirty="0">
                <a:latin typeface="Microsoft Yahei"/>
                <a:ea typeface="Microsoft Yahei"/>
                <a:sym typeface="Microsoft Yahei"/>
              </a:rPr>
              <a:t>b</a:t>
            </a:r>
            <a:endParaRPr lang="zh-CN" altLang="en-US" sz="2000" dirty="0"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9" name="TextBox 8"/>
          <p:cNvSpPr txBox="1"/>
          <p:nvPr>
            <p:custDataLst>
              <p:tags r:id="rId6"/>
            </p:custDataLst>
          </p:nvPr>
        </p:nvSpPr>
        <p:spPr>
          <a:xfrm>
            <a:off x="2303621" y="4538670"/>
            <a:ext cx="5292884" cy="482203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000" dirty="0">
                <a:latin typeface="Microsoft Yahei"/>
                <a:ea typeface="Microsoft Yahei"/>
                <a:sym typeface="Microsoft Yahei"/>
              </a:rPr>
              <a:t>B</a:t>
            </a:r>
            <a:endParaRPr lang="zh-CN" altLang="en-US" sz="2000" dirty="0"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732678" y="2658078"/>
            <a:ext cx="385763" cy="385763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200" dirty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A</a:t>
            </a:r>
            <a:endParaRPr lang="zh-CN" altLang="en-US" sz="1200" dirty="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732678" y="3301015"/>
            <a:ext cx="385763" cy="385762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200" dirty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B</a:t>
            </a:r>
            <a:endParaRPr lang="zh-CN" altLang="en-US" sz="1200" dirty="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732678" y="3943953"/>
            <a:ext cx="385763" cy="385763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200" dirty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C</a:t>
            </a:r>
            <a:endParaRPr lang="zh-CN" altLang="en-US" sz="1200" dirty="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732678" y="4586890"/>
            <a:ext cx="385763" cy="385762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2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D</a:t>
            </a:r>
            <a:endParaRPr lang="zh-CN" altLang="en-US" sz="12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4" name="圆角矩形 13"/>
          <p:cNvSpPr/>
          <p:nvPr>
            <p:custDataLst>
              <p:tags r:id="rId11"/>
            </p:custDataLst>
          </p:nvPr>
        </p:nvSpPr>
        <p:spPr>
          <a:xfrm>
            <a:off x="6053455" y="4661297"/>
            <a:ext cx="1157288" cy="30861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提交</a:t>
            </a:r>
          </a:p>
        </p:txBody>
      </p: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7561263" cy="635000"/>
            <a:chOff x="-791370" y="0"/>
            <a:chExt cx="7561263" cy="635000"/>
          </a:xfrm>
        </p:grpSpPr>
        <p:sp>
          <p:nvSpPr>
            <p:cNvPr id="15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-791370" y="0"/>
              <a:ext cx="7561263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15"/>
              </p:custDataLst>
            </p:nvPr>
          </p:nvSpPr>
          <p:spPr>
            <a:xfrm>
              <a:off x="-79137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-53737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单选题</a:t>
              </a: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73453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分</a:t>
              </a: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170274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356CEE-2698-429D-84E3-06947245B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位运算作用</a:t>
            </a:r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D9F648B3-4FC0-466D-98F4-233AAD0D2B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58629724"/>
              </p:ext>
            </p:extLst>
          </p:nvPr>
        </p:nvGraphicFramePr>
        <p:xfrm>
          <a:off x="970351" y="1347189"/>
          <a:ext cx="7373550" cy="3649572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457850">
                  <a:extLst>
                    <a:ext uri="{9D8B030D-6E8A-4147-A177-3AD203B41FA5}">
                      <a16:colId xmlns:a16="http://schemas.microsoft.com/office/drawing/2014/main" val="2976524986"/>
                    </a:ext>
                  </a:extLst>
                </a:gridCol>
                <a:gridCol w="2457850">
                  <a:extLst>
                    <a:ext uri="{9D8B030D-6E8A-4147-A177-3AD203B41FA5}">
                      <a16:colId xmlns:a16="http://schemas.microsoft.com/office/drawing/2014/main" val="3820297083"/>
                    </a:ext>
                  </a:extLst>
                </a:gridCol>
                <a:gridCol w="2457850">
                  <a:extLst>
                    <a:ext uri="{9D8B030D-6E8A-4147-A177-3AD203B41FA5}">
                      <a16:colId xmlns:a16="http://schemas.microsoft.com/office/drawing/2014/main" val="3315518389"/>
                    </a:ext>
                  </a:extLst>
                </a:gridCol>
              </a:tblGrid>
              <a:tr h="40927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运算符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0</a:t>
                      </a:r>
                      <a:endParaRPr lang="zh-CN" altLang="en-US" sz="24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1</a:t>
                      </a:r>
                      <a:endParaRPr lang="zh-CN" altLang="en-US" sz="24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9740305"/>
                  </a:ext>
                </a:extLst>
              </a:tr>
              <a:tr h="106412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0000"/>
                          </a:solidFill>
                        </a:rPr>
                        <a:t>&amp;</a:t>
                      </a:r>
                      <a:endParaRPr lang="zh-CN" altLang="en-US" sz="240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solidFill>
                            <a:srgbClr val="000000"/>
                          </a:solidFill>
                        </a:rPr>
                        <a:t>置</a:t>
                      </a:r>
                      <a:r>
                        <a:rPr lang="en-US" altLang="zh-CN" sz="2400" dirty="0">
                          <a:solidFill>
                            <a:srgbClr val="000000"/>
                          </a:solidFill>
                        </a:rPr>
                        <a:t>0  1010&amp;</a:t>
                      </a:r>
                      <a:r>
                        <a:rPr lang="en-US" altLang="zh-CN" sz="2400" dirty="0">
                          <a:solidFill>
                            <a:srgbClr val="FF0000"/>
                          </a:solidFill>
                        </a:rPr>
                        <a:t>0000</a:t>
                      </a:r>
                    </a:p>
                    <a:p>
                      <a:r>
                        <a:rPr lang="en-US" altLang="zh-CN" sz="2400">
                          <a:solidFill>
                            <a:srgbClr val="000000"/>
                          </a:solidFill>
                        </a:rPr>
                        <a:t>     =</a:t>
                      </a:r>
                      <a:r>
                        <a:rPr lang="en-US" altLang="zh-CN" sz="24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0000</a:t>
                      </a:r>
                      <a:endParaRPr lang="zh-CN" altLang="en-US" sz="2400" b="1" dirty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solidFill>
                            <a:srgbClr val="000000"/>
                          </a:solidFill>
                        </a:rPr>
                        <a:t>不变 </a:t>
                      </a:r>
                      <a:r>
                        <a:rPr lang="en-US" altLang="zh-CN" sz="2400" dirty="0">
                          <a:solidFill>
                            <a:srgbClr val="000000"/>
                          </a:solidFill>
                        </a:rPr>
                        <a:t>1010&amp;1111</a:t>
                      </a:r>
                    </a:p>
                    <a:p>
                      <a:r>
                        <a:rPr lang="en-US" altLang="zh-CN" sz="2400" dirty="0">
                          <a:solidFill>
                            <a:srgbClr val="000000"/>
                          </a:solidFill>
                        </a:rPr>
                        <a:t>    =</a:t>
                      </a:r>
                      <a:r>
                        <a:rPr lang="en-US" altLang="zh-CN" sz="2400" b="1" kern="1200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1010</a:t>
                      </a:r>
                      <a:endParaRPr lang="zh-CN" altLang="en-US" sz="2400" b="1" kern="1200" dirty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3009423"/>
                  </a:ext>
                </a:extLst>
              </a:tr>
              <a:tr h="106412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0000"/>
                          </a:solidFill>
                        </a:rPr>
                        <a:t>^</a:t>
                      </a:r>
                      <a:endParaRPr lang="zh-CN" altLang="en-US" sz="240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solidFill>
                            <a:srgbClr val="000000"/>
                          </a:solidFill>
                        </a:rPr>
                        <a:t>不变 </a:t>
                      </a:r>
                      <a:r>
                        <a:rPr lang="en-US" altLang="zh-CN" sz="2400" dirty="0">
                          <a:solidFill>
                            <a:srgbClr val="000000"/>
                          </a:solidFill>
                        </a:rPr>
                        <a:t>1010^</a:t>
                      </a:r>
                      <a:r>
                        <a:rPr lang="en-US" altLang="zh-CN" sz="2400" dirty="0">
                          <a:solidFill>
                            <a:srgbClr val="FF0000"/>
                          </a:solidFill>
                        </a:rPr>
                        <a:t>0000</a:t>
                      </a:r>
                    </a:p>
                    <a:p>
                      <a:r>
                        <a:rPr lang="en-US" altLang="zh-CN" sz="2400" dirty="0">
                          <a:solidFill>
                            <a:srgbClr val="000000"/>
                          </a:solidFill>
                        </a:rPr>
                        <a:t>     =</a:t>
                      </a:r>
                      <a:r>
                        <a:rPr lang="en-US" altLang="zh-CN" sz="2400" b="1" kern="1200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1010</a:t>
                      </a:r>
                      <a:endParaRPr lang="zh-CN" altLang="en-US" sz="2400" b="1" kern="1200" dirty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solidFill>
                            <a:srgbClr val="000000"/>
                          </a:solidFill>
                        </a:rPr>
                        <a:t>取反 </a:t>
                      </a:r>
                      <a:r>
                        <a:rPr lang="en-US" altLang="zh-CN" sz="2400" dirty="0">
                          <a:solidFill>
                            <a:srgbClr val="000000"/>
                          </a:solidFill>
                        </a:rPr>
                        <a:t>1010^1111</a:t>
                      </a:r>
                    </a:p>
                    <a:p>
                      <a:r>
                        <a:rPr lang="en-US" altLang="zh-CN" sz="2400">
                          <a:solidFill>
                            <a:srgbClr val="000000"/>
                          </a:solidFill>
                        </a:rPr>
                        <a:t>      </a:t>
                      </a:r>
                      <a:r>
                        <a:rPr lang="en-US" altLang="zh-CN" sz="2400" dirty="0">
                          <a:solidFill>
                            <a:srgbClr val="000000"/>
                          </a:solidFill>
                        </a:rPr>
                        <a:t>=</a:t>
                      </a:r>
                      <a:r>
                        <a:rPr lang="en-US" altLang="zh-CN" sz="2400" b="1" kern="1200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0101</a:t>
                      </a:r>
                      <a:endParaRPr lang="zh-CN" altLang="en-US" sz="2400" b="1" kern="1200" dirty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2494053"/>
                  </a:ext>
                </a:extLst>
              </a:tr>
              <a:tr h="106412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0000"/>
                          </a:solidFill>
                        </a:rPr>
                        <a:t>|</a:t>
                      </a:r>
                      <a:endParaRPr lang="zh-CN" altLang="en-US" sz="240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solidFill>
                            <a:srgbClr val="000000"/>
                          </a:solidFill>
                        </a:rPr>
                        <a:t>不变 </a:t>
                      </a:r>
                      <a:r>
                        <a:rPr lang="en-US" altLang="zh-CN" sz="2400" dirty="0">
                          <a:solidFill>
                            <a:srgbClr val="000000"/>
                          </a:solidFill>
                        </a:rPr>
                        <a:t>1010|</a:t>
                      </a:r>
                      <a:r>
                        <a:rPr lang="en-US" altLang="zh-CN" sz="2400" dirty="0">
                          <a:solidFill>
                            <a:srgbClr val="FF0000"/>
                          </a:solidFill>
                        </a:rPr>
                        <a:t>0000</a:t>
                      </a:r>
                    </a:p>
                    <a:p>
                      <a:r>
                        <a:rPr lang="en-US" altLang="zh-CN" sz="2400">
                          <a:solidFill>
                            <a:srgbClr val="000000"/>
                          </a:solidFill>
                        </a:rPr>
                        <a:t>      =</a:t>
                      </a:r>
                      <a:r>
                        <a:rPr lang="en-US" altLang="zh-CN" sz="2400" b="1" kern="1200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1010</a:t>
                      </a:r>
                      <a:endParaRPr lang="zh-CN" altLang="en-US" sz="2400" b="1" kern="1200" dirty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solidFill>
                            <a:srgbClr val="000000"/>
                          </a:solidFill>
                        </a:rPr>
                        <a:t>置</a:t>
                      </a:r>
                      <a:r>
                        <a:rPr lang="en-US" altLang="zh-CN" sz="2400" dirty="0">
                          <a:solidFill>
                            <a:srgbClr val="000000"/>
                          </a:solidFill>
                        </a:rPr>
                        <a:t>1</a:t>
                      </a:r>
                      <a:r>
                        <a:rPr lang="zh-CN" altLang="en-US" sz="240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altLang="zh-CN" sz="2400" dirty="0">
                          <a:solidFill>
                            <a:srgbClr val="000000"/>
                          </a:solidFill>
                        </a:rPr>
                        <a:t>1010^1111</a:t>
                      </a:r>
                    </a:p>
                    <a:p>
                      <a:r>
                        <a:rPr lang="en-US" altLang="zh-CN" sz="2400" dirty="0">
                          <a:solidFill>
                            <a:srgbClr val="000000"/>
                          </a:solidFill>
                        </a:rPr>
                        <a:t>     =</a:t>
                      </a:r>
                      <a:r>
                        <a:rPr lang="en-US" altLang="zh-CN" sz="2400" b="1" kern="1200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1111</a:t>
                      </a:r>
                      <a:endParaRPr lang="zh-CN" altLang="en-US" sz="2400" b="1" kern="1200" dirty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42925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23915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直接连接符 2"/>
          <p:cNvSpPr>
            <a:spLocks noChangeShapeType="1"/>
          </p:cNvSpPr>
          <p:nvPr/>
        </p:nvSpPr>
        <p:spPr bwMode="auto">
          <a:xfrm rot="5400000">
            <a:off x="856482" y="305077"/>
            <a:ext cx="612775" cy="2625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59" name="直接连接符 3"/>
          <p:cNvSpPr>
            <a:spLocks noChangeShapeType="1"/>
          </p:cNvSpPr>
          <p:nvPr/>
        </p:nvSpPr>
        <p:spPr bwMode="auto">
          <a:xfrm rot="5400000">
            <a:off x="1033228" y="179526"/>
            <a:ext cx="360363" cy="1312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0" name="标题 1"/>
          <p:cNvSpPr>
            <a:spLocks noGrp="1" noChangeArrowheads="1"/>
          </p:cNvSpPr>
          <p:nvPr>
            <p:ph type="ctrTitle"/>
          </p:nvPr>
        </p:nvSpPr>
        <p:spPr bwMode="auto">
          <a:xfrm>
            <a:off x="1169433" y="50800"/>
            <a:ext cx="6805137" cy="50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/>
          </a:bodyPr>
          <a:lstStyle/>
          <a:p>
            <a:pPr marL="0" indent="0" eaLnBrk="1" hangingPunct="1"/>
            <a:r>
              <a:rPr lang="en-US" altLang="zh-CN" sz="3200" dirty="0"/>
              <a:t>1 </a:t>
            </a:r>
            <a:r>
              <a:rPr lang="zh-CN" altLang="en-US" sz="3200" dirty="0"/>
              <a:t>位运算</a:t>
            </a:r>
          </a:p>
        </p:txBody>
      </p:sp>
      <p:sp>
        <p:nvSpPr>
          <p:cNvPr id="19461" name="Text Box 15"/>
          <p:cNvSpPr txBox="1">
            <a:spLocks noChangeArrowheads="1"/>
          </p:cNvSpPr>
          <p:nvPr/>
        </p:nvSpPr>
        <p:spPr bwMode="auto">
          <a:xfrm>
            <a:off x="964649" y="5064125"/>
            <a:ext cx="3024505" cy="1588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endParaRPr lang="en-US" altLang="zh-CN" sz="2000" b="1">
              <a:solidFill>
                <a:srgbClr val="FFFFFF"/>
              </a:solidFill>
            </a:endParaRPr>
          </a:p>
        </p:txBody>
      </p:sp>
      <p:sp>
        <p:nvSpPr>
          <p:cNvPr id="9" name="Rectangle 20"/>
          <p:cNvSpPr>
            <a:spLocks noChangeArrowheads="1"/>
          </p:cNvSpPr>
          <p:nvPr/>
        </p:nvSpPr>
        <p:spPr bwMode="auto">
          <a:xfrm>
            <a:off x="964648" y="698500"/>
            <a:ext cx="6994168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hangingPunct="0"/>
            <a:r>
              <a:rPr lang="zh-CN" altLang="en-US" sz="20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（</a:t>
            </a:r>
            <a:r>
              <a:rPr lang="en-US" altLang="zh-CN" sz="20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4</a:t>
            </a:r>
            <a:r>
              <a:rPr lang="zh-CN" altLang="en-US" sz="20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）按位取反运算“</a:t>
            </a:r>
            <a:r>
              <a:rPr lang="en-US" altLang="zh-CN" sz="20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~”(</a:t>
            </a:r>
            <a:r>
              <a:rPr lang="zh-CN" altLang="en-US" sz="20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单目运算符</a:t>
            </a:r>
            <a:r>
              <a:rPr lang="en-US" altLang="zh-CN" sz="20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)</a:t>
            </a:r>
          </a:p>
        </p:txBody>
      </p:sp>
      <p:sp>
        <p:nvSpPr>
          <p:cNvPr id="19463" name="Rectangle 5"/>
          <p:cNvSpPr>
            <a:spLocks noChangeArrowheads="1"/>
          </p:cNvSpPr>
          <p:nvPr/>
        </p:nvSpPr>
        <p:spPr bwMode="auto">
          <a:xfrm>
            <a:off x="754251" y="1229337"/>
            <a:ext cx="7132003" cy="220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06000" tIns="190800" bIns="190800" anchor="ctr">
            <a:spAutoFit/>
          </a:bodyPr>
          <a:lstStyle/>
          <a:p>
            <a:pPr>
              <a:buSzPct val="100000"/>
              <a:buFontTx/>
              <a:buAutoNum type="circleNumDbPlain"/>
            </a:pPr>
            <a:r>
              <a:rPr lang="zh-CN" altLang="en-US" sz="2000" b="1" dirty="0">
                <a:latin typeface="仿宋" pitchFamily="49" charset="-122"/>
                <a:ea typeface="仿宋" pitchFamily="49" charset="-122"/>
              </a:rPr>
              <a:t>是对二进制数按位取反</a:t>
            </a:r>
            <a:r>
              <a:rPr lang="en-US" altLang="zh-CN" sz="2000" b="1" dirty="0">
                <a:latin typeface="仿宋" pitchFamily="49" charset="-122"/>
                <a:ea typeface="仿宋" pitchFamily="49" charset="-122"/>
              </a:rPr>
              <a:t>(</a:t>
            </a:r>
            <a:r>
              <a:rPr lang="zh-CN" altLang="en-US" sz="2000" b="1" dirty="0">
                <a:latin typeface="仿宋" pitchFamily="49" charset="-122"/>
                <a:ea typeface="仿宋" pitchFamily="49" charset="-122"/>
              </a:rPr>
              <a:t>即</a:t>
            </a:r>
            <a:r>
              <a:rPr lang="en-US" altLang="zh-CN" sz="2000" b="1" dirty="0">
                <a:latin typeface="仿宋" pitchFamily="49" charset="-122"/>
                <a:ea typeface="仿宋" pitchFamily="49" charset="-122"/>
              </a:rPr>
              <a:t>1</a:t>
            </a:r>
            <a:r>
              <a:rPr lang="zh-CN" altLang="en-US" sz="2000" b="1" dirty="0">
                <a:latin typeface="仿宋" pitchFamily="49" charset="-122"/>
                <a:ea typeface="仿宋" pitchFamily="49" charset="-122"/>
              </a:rPr>
              <a:t>变为</a:t>
            </a:r>
            <a:r>
              <a:rPr lang="en-US" altLang="zh-CN" sz="2000" b="1" dirty="0">
                <a:latin typeface="仿宋" pitchFamily="49" charset="-122"/>
                <a:ea typeface="仿宋" pitchFamily="49" charset="-122"/>
              </a:rPr>
              <a:t>0,0</a:t>
            </a:r>
            <a:r>
              <a:rPr lang="zh-CN" altLang="en-US" sz="2000" b="1" dirty="0">
                <a:latin typeface="仿宋" pitchFamily="49" charset="-122"/>
                <a:ea typeface="仿宋" pitchFamily="49" charset="-122"/>
              </a:rPr>
              <a:t>变为</a:t>
            </a:r>
            <a:r>
              <a:rPr lang="en-US" altLang="zh-CN" sz="2000" b="1" dirty="0">
                <a:latin typeface="仿宋" pitchFamily="49" charset="-122"/>
                <a:ea typeface="仿宋" pitchFamily="49" charset="-122"/>
              </a:rPr>
              <a:t>1)</a:t>
            </a:r>
            <a:r>
              <a:rPr lang="zh-CN" altLang="en-US" sz="2000" b="1" dirty="0">
                <a:latin typeface="仿宋" pitchFamily="49" charset="-122"/>
                <a:ea typeface="仿宋" pitchFamily="49" charset="-122"/>
              </a:rPr>
              <a:t>。该运算符的优先级比算术运算符、逻辑运算符和其它运算符都高。例如</a:t>
            </a:r>
            <a:r>
              <a:rPr lang="en-US" altLang="zh-CN" sz="2000" b="1" dirty="0">
                <a:latin typeface="仿宋" pitchFamily="49" charset="-122"/>
                <a:ea typeface="仿宋" pitchFamily="49" charset="-122"/>
              </a:rPr>
              <a:t>,</a:t>
            </a:r>
            <a:r>
              <a:rPr lang="zh-CN" altLang="en-US" sz="2000" b="1" dirty="0">
                <a:latin typeface="仿宋" pitchFamily="49" charset="-122"/>
                <a:ea typeface="仿宋" pitchFamily="49" charset="-122"/>
              </a:rPr>
              <a:t>计算</a:t>
            </a:r>
            <a:r>
              <a:rPr lang="en-US" altLang="zh-CN" sz="2000" b="1" dirty="0">
                <a:latin typeface="仿宋" pitchFamily="49" charset="-122"/>
                <a:ea typeface="仿宋" pitchFamily="49" charset="-122"/>
              </a:rPr>
              <a:t>~</a:t>
            </a:r>
            <a:r>
              <a:rPr lang="en-US" altLang="zh-CN" sz="2000" b="1" dirty="0" err="1">
                <a:latin typeface="仿宋" pitchFamily="49" charset="-122"/>
                <a:ea typeface="仿宋" pitchFamily="49" charset="-122"/>
              </a:rPr>
              <a:t>x|y</a:t>
            </a:r>
            <a:r>
              <a:rPr lang="zh-CN" altLang="en-US" sz="2000" b="1" dirty="0">
                <a:latin typeface="仿宋" pitchFamily="49" charset="-122"/>
                <a:ea typeface="仿宋" pitchFamily="49" charset="-122"/>
              </a:rPr>
              <a:t>时</a:t>
            </a:r>
            <a:r>
              <a:rPr lang="en-US" altLang="zh-CN" sz="2000" b="1" dirty="0">
                <a:latin typeface="仿宋" pitchFamily="49" charset="-122"/>
                <a:ea typeface="仿宋" pitchFamily="49" charset="-122"/>
              </a:rPr>
              <a:t>,</a:t>
            </a:r>
            <a:r>
              <a:rPr lang="zh-CN" altLang="en-US" sz="2000" b="1" dirty="0">
                <a:latin typeface="仿宋" pitchFamily="49" charset="-122"/>
                <a:ea typeface="仿宋" pitchFamily="49" charset="-122"/>
              </a:rPr>
              <a:t>应先求</a:t>
            </a:r>
            <a:r>
              <a:rPr lang="en-US" altLang="zh-CN" sz="2000" b="1" dirty="0">
                <a:latin typeface="仿宋" pitchFamily="49" charset="-122"/>
                <a:ea typeface="仿宋" pitchFamily="49" charset="-122"/>
              </a:rPr>
              <a:t>~x,</a:t>
            </a:r>
            <a:r>
              <a:rPr lang="zh-CN" altLang="en-US" sz="2000" b="1" dirty="0">
                <a:latin typeface="仿宋" pitchFamily="49" charset="-122"/>
                <a:ea typeface="仿宋" pitchFamily="49" charset="-122"/>
              </a:rPr>
              <a:t>再将所得结果与</a:t>
            </a:r>
            <a:r>
              <a:rPr lang="en-US" altLang="zh-CN" sz="2000" b="1" dirty="0">
                <a:latin typeface="仿宋" pitchFamily="49" charset="-122"/>
                <a:ea typeface="仿宋" pitchFamily="49" charset="-122"/>
              </a:rPr>
              <a:t>y</a:t>
            </a:r>
            <a:r>
              <a:rPr lang="zh-CN" altLang="en-US" sz="2000" b="1" dirty="0">
                <a:latin typeface="仿宋" pitchFamily="49" charset="-122"/>
                <a:ea typeface="仿宋" pitchFamily="49" charset="-122"/>
              </a:rPr>
              <a:t>进行</a:t>
            </a:r>
            <a:r>
              <a:rPr lang="en-US" altLang="zh-CN" sz="2000" b="1" dirty="0">
                <a:latin typeface="仿宋" pitchFamily="49" charset="-122"/>
                <a:ea typeface="仿宋" pitchFamily="49" charset="-122"/>
              </a:rPr>
              <a:t>|</a:t>
            </a:r>
            <a:r>
              <a:rPr lang="zh-CN" altLang="en-US" sz="2000" b="1" dirty="0">
                <a:latin typeface="仿宋" pitchFamily="49" charset="-122"/>
                <a:ea typeface="仿宋" pitchFamily="49" charset="-122"/>
              </a:rPr>
              <a:t>运算。</a:t>
            </a:r>
          </a:p>
          <a:p>
            <a:pPr>
              <a:lnSpc>
                <a:spcPct val="120000"/>
              </a:lnSpc>
              <a:spcBef>
                <a:spcPct val="50000"/>
              </a:spcBef>
              <a:buSzPct val="100000"/>
            </a:pPr>
            <a:r>
              <a:rPr lang="zh-CN" altLang="en-US" sz="2000" b="1" dirty="0">
                <a:latin typeface="仿宋" pitchFamily="49" charset="-122"/>
                <a:ea typeface="仿宋" pitchFamily="49" charset="-122"/>
              </a:rPr>
              <a:t>例如：</a:t>
            </a:r>
            <a:r>
              <a:rPr lang="en-US" altLang="zh-CN" sz="2000" b="1" dirty="0">
                <a:latin typeface="仿宋" pitchFamily="49" charset="-122"/>
                <a:ea typeface="仿宋" pitchFamily="49" charset="-122"/>
              </a:rPr>
              <a:t>x</a:t>
            </a:r>
            <a:r>
              <a:rPr lang="zh-CN" altLang="en-US" sz="2000" b="1" dirty="0">
                <a:latin typeface="仿宋" pitchFamily="49" charset="-122"/>
                <a:ea typeface="仿宋" pitchFamily="49" charset="-122"/>
              </a:rPr>
              <a:t>为</a:t>
            </a:r>
            <a:r>
              <a:rPr lang="en-US" altLang="zh-CN" sz="2000" b="1" dirty="0">
                <a:latin typeface="仿宋" pitchFamily="49" charset="-122"/>
                <a:ea typeface="仿宋" pitchFamily="49" charset="-122"/>
              </a:rPr>
              <a:t>025,</a:t>
            </a:r>
            <a:r>
              <a:rPr lang="zh-CN" altLang="en-US" sz="2000" b="1" dirty="0">
                <a:latin typeface="仿宋" pitchFamily="49" charset="-122"/>
                <a:ea typeface="仿宋" pitchFamily="49" charset="-122"/>
              </a:rPr>
              <a:t>即</a:t>
            </a:r>
            <a:r>
              <a:rPr lang="en-US" altLang="zh-CN" sz="2000" b="1" dirty="0">
                <a:latin typeface="仿宋" pitchFamily="49" charset="-122"/>
                <a:ea typeface="仿宋" pitchFamily="49" charset="-122"/>
              </a:rPr>
              <a:t>(00 010 101)</a:t>
            </a:r>
            <a:r>
              <a:rPr lang="en-US" altLang="zh-CN" sz="2000" b="1" baseline="-25000" dirty="0">
                <a:latin typeface="仿宋" pitchFamily="49" charset="-122"/>
                <a:ea typeface="仿宋" pitchFamily="49" charset="-122"/>
              </a:rPr>
              <a:t>2</a:t>
            </a:r>
            <a:r>
              <a:rPr lang="en-US" altLang="zh-CN" sz="2000" b="1" dirty="0">
                <a:latin typeface="仿宋" pitchFamily="49" charset="-122"/>
                <a:ea typeface="仿宋" pitchFamily="49" charset="-122"/>
              </a:rPr>
              <a:t>,</a:t>
            </a:r>
            <a:r>
              <a:rPr lang="zh-CN" altLang="en-US" sz="2000" b="1" dirty="0">
                <a:latin typeface="仿宋" pitchFamily="49" charset="-122"/>
                <a:ea typeface="仿宋" pitchFamily="49" charset="-122"/>
              </a:rPr>
              <a:t>对</a:t>
            </a:r>
            <a:r>
              <a:rPr lang="en-US" altLang="zh-CN" sz="2000" b="1" dirty="0">
                <a:latin typeface="仿宋" pitchFamily="49" charset="-122"/>
                <a:ea typeface="仿宋" pitchFamily="49" charset="-122"/>
              </a:rPr>
              <a:t>00010101</a:t>
            </a:r>
            <a:r>
              <a:rPr lang="zh-CN" altLang="en-US" sz="2000" b="1" dirty="0">
                <a:latin typeface="仿宋" pitchFamily="49" charset="-122"/>
                <a:ea typeface="仿宋" pitchFamily="49" charset="-122"/>
              </a:rPr>
              <a:t>按位取反后得</a:t>
            </a:r>
            <a:r>
              <a:rPr lang="en-US" altLang="zh-CN" sz="2000" b="1" dirty="0">
                <a:latin typeface="仿宋" pitchFamily="49" charset="-122"/>
                <a:ea typeface="仿宋" pitchFamily="49" charset="-122"/>
              </a:rPr>
              <a:t>: </a:t>
            </a:r>
          </a:p>
          <a:p>
            <a:pPr>
              <a:lnSpc>
                <a:spcPct val="120000"/>
              </a:lnSpc>
              <a:buSzPct val="100000"/>
            </a:pPr>
            <a:r>
              <a:rPr lang="en-US" altLang="zh-CN" sz="2000" b="1" dirty="0">
                <a:latin typeface="仿宋" pitchFamily="49" charset="-122"/>
                <a:ea typeface="仿宋" pitchFamily="49" charset="-122"/>
              </a:rPr>
              <a:t>                11 101 010,</a:t>
            </a:r>
            <a:r>
              <a:rPr lang="zh-CN" altLang="en-US" sz="2000" b="1" dirty="0">
                <a:latin typeface="仿宋" pitchFamily="49" charset="-122"/>
                <a:ea typeface="仿宋" pitchFamily="49" charset="-122"/>
              </a:rPr>
              <a:t>即</a:t>
            </a:r>
            <a:r>
              <a:rPr lang="en-US" altLang="zh-CN" sz="2000" b="1" dirty="0">
                <a:latin typeface="仿宋" pitchFamily="49" charset="-122"/>
                <a:ea typeface="仿宋" pitchFamily="49" charset="-122"/>
              </a:rPr>
              <a:t>~x</a:t>
            </a:r>
            <a:r>
              <a:rPr lang="zh-CN" altLang="en-US" sz="2000" b="1" dirty="0">
                <a:latin typeface="仿宋" pitchFamily="49" charset="-122"/>
                <a:ea typeface="仿宋" pitchFamily="49" charset="-122"/>
              </a:rPr>
              <a:t>为</a:t>
            </a:r>
            <a:r>
              <a:rPr lang="en-US" altLang="zh-CN" sz="2000" b="1" dirty="0">
                <a:latin typeface="仿宋" pitchFamily="49" charset="-122"/>
                <a:ea typeface="仿宋" pitchFamily="49" charset="-122"/>
              </a:rPr>
              <a:t>0352</a:t>
            </a:r>
            <a:r>
              <a:rPr lang="zh-CN" altLang="en-US" sz="2000" b="1" dirty="0">
                <a:latin typeface="仿宋" pitchFamily="49" charset="-122"/>
                <a:ea typeface="仿宋" pitchFamily="49" charset="-122"/>
              </a:rPr>
              <a:t>。    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>
            <p:custDataLst>
              <p:tags r:id="rId2"/>
            </p:custDataLst>
          </p:nvPr>
        </p:nvSpPr>
        <p:spPr>
          <a:xfrm>
            <a:off x="1547495" y="635000"/>
            <a:ext cx="6049010" cy="2938661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000" dirty="0">
                <a:latin typeface="Microsoft Yahei"/>
                <a:ea typeface="Microsoft Yahei"/>
                <a:sym typeface="Microsoft Yahei"/>
              </a:rPr>
              <a:t>#include &lt;stdio.h&gt;</a:t>
            </a:r>
          </a:p>
          <a:p>
            <a:r>
              <a:rPr lang="en-US" altLang="zh-CN" sz="2000" dirty="0">
                <a:latin typeface="Microsoft Yahei"/>
                <a:ea typeface="Microsoft Yahei"/>
                <a:sym typeface="Microsoft Yahei"/>
              </a:rPr>
              <a:t>main()</a:t>
            </a:r>
          </a:p>
          <a:p>
            <a:r>
              <a:rPr lang="en-US" altLang="zh-CN" sz="2000" dirty="0">
                <a:latin typeface="Microsoft Yahei"/>
                <a:ea typeface="Microsoft Yahei"/>
                <a:sym typeface="Microsoft Yahei"/>
              </a:rPr>
              <a:t>{</a:t>
            </a:r>
          </a:p>
          <a:p>
            <a:pPr>
              <a:spcAft>
                <a:spcPts val="600"/>
              </a:spcAft>
            </a:pPr>
            <a:r>
              <a:rPr lang="en-US" altLang="zh-CN" sz="2000" dirty="0">
                <a:latin typeface="Microsoft Yahei"/>
                <a:ea typeface="Microsoft Yahei"/>
                <a:sym typeface="Microsoft Yahei"/>
              </a:rPr>
              <a:t>  int  z=1;</a:t>
            </a:r>
          </a:p>
          <a:p>
            <a:r>
              <a:rPr lang="en-US" altLang="zh-CN" sz="2000" dirty="0">
                <a:latin typeface="Microsoft Yahei"/>
                <a:ea typeface="Microsoft Yahei"/>
                <a:sym typeface="Microsoft Yahei"/>
              </a:rPr>
              <a:t>  printf("%d\n",1&amp;(~z));</a:t>
            </a:r>
          </a:p>
          <a:p>
            <a:r>
              <a:rPr lang="en-US" altLang="zh-CN" sz="2000" dirty="0">
                <a:latin typeface="Microsoft Yahei"/>
                <a:ea typeface="Microsoft Yahei"/>
                <a:sym typeface="Microsoft Yahei"/>
              </a:rPr>
              <a:t>}</a:t>
            </a:r>
            <a:r>
              <a:rPr lang="zh-CN" altLang="en-US" sz="2000" dirty="0">
                <a:latin typeface="Microsoft Yahei"/>
                <a:ea typeface="Microsoft Yahei"/>
                <a:sym typeface="Microsoft Yahei"/>
              </a:rPr>
              <a:t>这段程序执行结果为：</a:t>
            </a:r>
          </a:p>
        </p:txBody>
      </p:sp>
      <p:sp>
        <p:nvSpPr>
          <p:cNvPr id="6" name="TextBox 5"/>
          <p:cNvSpPr txBox="1"/>
          <p:nvPr>
            <p:custDataLst>
              <p:tags r:id="rId3"/>
            </p:custDataLst>
          </p:nvPr>
        </p:nvSpPr>
        <p:spPr>
          <a:xfrm>
            <a:off x="1614919" y="3525442"/>
            <a:ext cx="2772610" cy="482203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latin typeface="Microsoft Yahei"/>
                <a:ea typeface="Microsoft Yahei"/>
                <a:sym typeface="Microsoft Yahei"/>
              </a:rPr>
              <a:t>3</a:t>
            </a:r>
            <a:endParaRPr lang="zh-CN" altLang="en-US" sz="2600" dirty="0"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7" name="TextBox 6"/>
          <p:cNvSpPr txBox="1"/>
          <p:nvPr>
            <p:custDataLst>
              <p:tags r:id="rId4"/>
            </p:custDataLst>
          </p:nvPr>
        </p:nvSpPr>
        <p:spPr>
          <a:xfrm>
            <a:off x="1614919" y="4168379"/>
            <a:ext cx="2772610" cy="482203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latin typeface="Microsoft Yahei"/>
                <a:ea typeface="Microsoft Yahei"/>
                <a:sym typeface="Microsoft Yahei"/>
              </a:rPr>
              <a:t>1</a:t>
            </a:r>
            <a:endParaRPr lang="zh-CN" altLang="en-US" sz="2600" dirty="0"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8" name="TextBox 7"/>
          <p:cNvSpPr txBox="1"/>
          <p:nvPr>
            <p:custDataLst>
              <p:tags r:id="rId5"/>
            </p:custDataLst>
          </p:nvPr>
        </p:nvSpPr>
        <p:spPr>
          <a:xfrm>
            <a:off x="5245794" y="3525442"/>
            <a:ext cx="2772610" cy="482203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latin typeface="Microsoft Yahei"/>
                <a:ea typeface="Microsoft Yahei"/>
                <a:sym typeface="Microsoft Yahei"/>
              </a:rPr>
              <a:t>2</a:t>
            </a:r>
            <a:endParaRPr lang="zh-CN" altLang="en-US" sz="2600" dirty="0"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9" name="TextBox 8"/>
          <p:cNvSpPr txBox="1"/>
          <p:nvPr>
            <p:custDataLst>
              <p:tags r:id="rId6"/>
            </p:custDataLst>
          </p:nvPr>
        </p:nvSpPr>
        <p:spPr>
          <a:xfrm>
            <a:off x="5245794" y="4168379"/>
            <a:ext cx="2772610" cy="482203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latin typeface="Microsoft Yahei"/>
                <a:ea typeface="Microsoft Yahei"/>
                <a:sym typeface="Microsoft Yahei"/>
              </a:rPr>
              <a:t>0</a:t>
            </a:r>
            <a:endParaRPr lang="zh-CN" altLang="en-US" sz="2600" dirty="0"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043976" y="3573662"/>
            <a:ext cx="385763" cy="385763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043976" y="4216599"/>
            <a:ext cx="385763" cy="385762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4674851" y="3573662"/>
            <a:ext cx="385763" cy="385763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C</a:t>
            </a:r>
            <a:endParaRPr lang="zh-CN" altLang="en-US" sz="1600" dirty="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4674851" y="4216599"/>
            <a:ext cx="385763" cy="385762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4" name="圆角矩形 13"/>
          <p:cNvSpPr/>
          <p:nvPr>
            <p:custDataLst>
              <p:tags r:id="rId11"/>
            </p:custDataLst>
          </p:nvPr>
        </p:nvSpPr>
        <p:spPr>
          <a:xfrm>
            <a:off x="6053455" y="4661297"/>
            <a:ext cx="1157288" cy="30861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提交</a:t>
            </a:r>
          </a:p>
        </p:txBody>
      </p: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7561263" cy="635000"/>
            <a:chOff x="-791370" y="0"/>
            <a:chExt cx="7561263" cy="635000"/>
          </a:xfrm>
        </p:grpSpPr>
        <p:sp>
          <p:nvSpPr>
            <p:cNvPr id="15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-791370" y="0"/>
              <a:ext cx="7561263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15"/>
              </p:custDataLst>
            </p:nvPr>
          </p:nvSpPr>
          <p:spPr>
            <a:xfrm>
              <a:off x="-79137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-53737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单选题</a:t>
              </a: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73453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分</a:t>
              </a: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504713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>
            <p:custDataLst>
              <p:tags r:id="rId2"/>
            </p:custDataLst>
          </p:nvPr>
        </p:nvSpPr>
        <p:spPr>
          <a:xfrm>
            <a:off x="1547495" y="635000"/>
            <a:ext cx="6049010" cy="2938661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000" dirty="0">
                <a:latin typeface="Microsoft Yahei"/>
                <a:ea typeface="Microsoft Yahei"/>
                <a:sym typeface="Microsoft Yahei"/>
              </a:rPr>
              <a:t>有定义语句：</a:t>
            </a:r>
            <a:r>
              <a:rPr lang="en-US" altLang="zh-CN" sz="2000" dirty="0">
                <a:latin typeface="Microsoft Yahei"/>
                <a:ea typeface="Microsoft Yahei"/>
                <a:sym typeface="Microsoft Yahei"/>
              </a:rPr>
              <a:t>char c1=92,c2=92;,</a:t>
            </a:r>
            <a:r>
              <a:rPr lang="zh-CN" altLang="en-US" sz="2000" dirty="0">
                <a:latin typeface="Microsoft Yahei"/>
                <a:ea typeface="Microsoft Yahei"/>
                <a:sym typeface="Microsoft Yahei"/>
              </a:rPr>
              <a:t>则以下表达式中值为零是：</a:t>
            </a:r>
          </a:p>
        </p:txBody>
      </p:sp>
      <p:sp>
        <p:nvSpPr>
          <p:cNvPr id="6" name="TextBox 5"/>
          <p:cNvSpPr txBox="1"/>
          <p:nvPr>
            <p:custDataLst>
              <p:tags r:id="rId3"/>
            </p:custDataLst>
          </p:nvPr>
        </p:nvSpPr>
        <p:spPr>
          <a:xfrm>
            <a:off x="2274396" y="3003949"/>
            <a:ext cx="2772610" cy="482203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dirty="0">
                <a:latin typeface="Microsoft Yahei"/>
                <a:ea typeface="Microsoft Yahei"/>
                <a:sym typeface="Microsoft Yahei"/>
              </a:rPr>
              <a:t>c1^c2</a:t>
            </a:r>
            <a:endParaRPr lang="zh-CN" altLang="en-US" sz="2600" dirty="0"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7" name="TextBox 6"/>
          <p:cNvSpPr txBox="1"/>
          <p:nvPr>
            <p:custDataLst>
              <p:tags r:id="rId4"/>
            </p:custDataLst>
          </p:nvPr>
        </p:nvSpPr>
        <p:spPr>
          <a:xfrm>
            <a:off x="2274396" y="3646886"/>
            <a:ext cx="2772610" cy="482203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dirty="0">
                <a:latin typeface="Microsoft Yahei"/>
                <a:ea typeface="Microsoft Yahei"/>
                <a:sym typeface="Microsoft Yahei"/>
              </a:rPr>
              <a:t>~c2</a:t>
            </a:r>
            <a:endParaRPr lang="zh-CN" altLang="en-US" sz="2600" dirty="0"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8" name="TextBox 7"/>
          <p:cNvSpPr txBox="1"/>
          <p:nvPr>
            <p:custDataLst>
              <p:tags r:id="rId5"/>
            </p:custDataLst>
          </p:nvPr>
        </p:nvSpPr>
        <p:spPr>
          <a:xfrm>
            <a:off x="5905271" y="3003949"/>
            <a:ext cx="2772610" cy="482203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dirty="0">
                <a:latin typeface="Microsoft Yahei"/>
                <a:ea typeface="Microsoft Yahei"/>
                <a:sym typeface="Microsoft Yahei"/>
              </a:rPr>
              <a:t>c1&amp;c2</a:t>
            </a:r>
            <a:endParaRPr lang="zh-CN" altLang="en-US" sz="2600" dirty="0"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9" name="TextBox 8"/>
          <p:cNvSpPr txBox="1"/>
          <p:nvPr>
            <p:custDataLst>
              <p:tags r:id="rId6"/>
            </p:custDataLst>
          </p:nvPr>
        </p:nvSpPr>
        <p:spPr>
          <a:xfrm>
            <a:off x="5905271" y="3646886"/>
            <a:ext cx="2772610" cy="482203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dirty="0">
                <a:latin typeface="Microsoft Yahei"/>
                <a:ea typeface="Microsoft Yahei"/>
                <a:sym typeface="Microsoft Yahei"/>
              </a:rPr>
              <a:t>c1|c2</a:t>
            </a:r>
            <a:endParaRPr lang="zh-CN" altLang="en-US" sz="2800" dirty="0"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703453" y="3052169"/>
            <a:ext cx="385763" cy="385763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34328" y="3052168"/>
            <a:ext cx="385763" cy="385762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B</a:t>
            </a:r>
            <a:endParaRPr lang="zh-CN" altLang="en-US" sz="1600" dirty="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703453" y="3695105"/>
            <a:ext cx="385763" cy="385763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C</a:t>
            </a:r>
            <a:endParaRPr lang="zh-CN" altLang="en-US" sz="1600" dirty="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34328" y="3695106"/>
            <a:ext cx="385763" cy="385762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4" name="圆角矩形 13"/>
          <p:cNvSpPr/>
          <p:nvPr>
            <p:custDataLst>
              <p:tags r:id="rId11"/>
            </p:custDataLst>
          </p:nvPr>
        </p:nvSpPr>
        <p:spPr>
          <a:xfrm>
            <a:off x="6053455" y="4661297"/>
            <a:ext cx="1157288" cy="30861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提交</a:t>
            </a:r>
          </a:p>
        </p:txBody>
      </p: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7561263" cy="635000"/>
            <a:chOff x="-791370" y="0"/>
            <a:chExt cx="7561263" cy="635000"/>
          </a:xfrm>
        </p:grpSpPr>
        <p:sp>
          <p:nvSpPr>
            <p:cNvPr id="15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-791370" y="0"/>
              <a:ext cx="7561263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15"/>
              </p:custDataLst>
            </p:nvPr>
          </p:nvSpPr>
          <p:spPr>
            <a:xfrm>
              <a:off x="-79137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-53737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单选题</a:t>
              </a: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73453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分</a:t>
              </a: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339248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直接连接符 2"/>
          <p:cNvSpPr>
            <a:spLocks noChangeShapeType="1"/>
          </p:cNvSpPr>
          <p:nvPr/>
        </p:nvSpPr>
        <p:spPr bwMode="auto">
          <a:xfrm rot="5400000">
            <a:off x="856482" y="305077"/>
            <a:ext cx="612775" cy="2625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83" name="直接连接符 3"/>
          <p:cNvSpPr>
            <a:spLocks noChangeShapeType="1"/>
          </p:cNvSpPr>
          <p:nvPr/>
        </p:nvSpPr>
        <p:spPr bwMode="auto">
          <a:xfrm rot="5400000">
            <a:off x="1033228" y="179526"/>
            <a:ext cx="360363" cy="1312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84" name="标题 1"/>
          <p:cNvSpPr>
            <a:spLocks noGrp="1" noChangeArrowheads="1"/>
          </p:cNvSpPr>
          <p:nvPr>
            <p:ph type="ctrTitle"/>
          </p:nvPr>
        </p:nvSpPr>
        <p:spPr bwMode="auto">
          <a:xfrm>
            <a:off x="1169433" y="50800"/>
            <a:ext cx="6805137" cy="50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/>
          </a:bodyPr>
          <a:lstStyle/>
          <a:p>
            <a:pPr marL="0" indent="0" eaLnBrk="1" hangingPunct="1"/>
            <a:r>
              <a:rPr lang="en-US" altLang="zh-CN" sz="3200" dirty="0"/>
              <a:t>2  </a:t>
            </a:r>
            <a:r>
              <a:rPr lang="zh-CN" altLang="en-US" sz="3200" dirty="0"/>
              <a:t>移位运算</a:t>
            </a:r>
          </a:p>
        </p:txBody>
      </p:sp>
      <p:sp>
        <p:nvSpPr>
          <p:cNvPr id="20485" name="Text Box 15"/>
          <p:cNvSpPr txBox="1">
            <a:spLocks noChangeArrowheads="1"/>
          </p:cNvSpPr>
          <p:nvPr/>
        </p:nvSpPr>
        <p:spPr bwMode="auto">
          <a:xfrm>
            <a:off x="964649" y="5064125"/>
            <a:ext cx="3024505" cy="1588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endParaRPr lang="en-US" altLang="zh-CN" sz="2000" b="1">
              <a:solidFill>
                <a:srgbClr val="FFFFFF"/>
              </a:solidFill>
            </a:endParaRPr>
          </a:p>
        </p:txBody>
      </p:sp>
      <p:sp>
        <p:nvSpPr>
          <p:cNvPr id="20486" name="Rectangle 5"/>
          <p:cNvSpPr>
            <a:spLocks noChangeArrowheads="1"/>
          </p:cNvSpPr>
          <p:nvPr/>
        </p:nvSpPr>
        <p:spPr bwMode="auto">
          <a:xfrm>
            <a:off x="1025033" y="745501"/>
            <a:ext cx="7132004" cy="2693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06000" tIns="190800" bIns="190800" anchor="ctr">
            <a:spAutoFit/>
          </a:bodyPr>
          <a:lstStyle/>
          <a:p>
            <a:pPr>
              <a:buSzPct val="100000"/>
            </a:pPr>
            <a:r>
              <a:rPr lang="zh-CN" altLang="en-US" sz="2000" b="1" dirty="0">
                <a:latin typeface="仿宋" pitchFamily="49" charset="-122"/>
                <a:ea typeface="仿宋" pitchFamily="49" charset="-122"/>
              </a:rPr>
              <a:t>移位运算符“</a:t>
            </a:r>
            <a:r>
              <a:rPr lang="en-US" altLang="zh-CN" sz="2000" b="1" dirty="0">
                <a:solidFill>
                  <a:srgbClr val="FF0000"/>
                </a:solidFill>
                <a:latin typeface="仿宋" pitchFamily="49" charset="-122"/>
                <a:ea typeface="仿宋" pitchFamily="49" charset="-122"/>
              </a:rPr>
              <a:t>&lt;&lt;</a:t>
            </a:r>
            <a:r>
              <a:rPr lang="en-US" altLang="zh-CN" sz="2000" b="1" dirty="0">
                <a:latin typeface="仿宋" pitchFamily="49" charset="-122"/>
                <a:ea typeface="仿宋" pitchFamily="49" charset="-122"/>
              </a:rPr>
              <a:t>”</a:t>
            </a:r>
            <a:r>
              <a:rPr lang="zh-CN" altLang="en-US" sz="2000" b="1" dirty="0">
                <a:latin typeface="仿宋" pitchFamily="49" charset="-122"/>
                <a:ea typeface="仿宋" pitchFamily="49" charset="-122"/>
              </a:rPr>
              <a:t>和“</a:t>
            </a:r>
            <a:r>
              <a:rPr lang="en-US" altLang="zh-CN" sz="2000" b="1" dirty="0">
                <a:solidFill>
                  <a:srgbClr val="FF0000"/>
                </a:solidFill>
                <a:latin typeface="仿宋" pitchFamily="49" charset="-122"/>
                <a:ea typeface="仿宋" pitchFamily="49" charset="-122"/>
              </a:rPr>
              <a:t>&gt;&gt;</a:t>
            </a:r>
            <a:r>
              <a:rPr lang="en-US" altLang="zh-CN" sz="2000" b="1" dirty="0">
                <a:latin typeface="仿宋" pitchFamily="49" charset="-122"/>
                <a:ea typeface="仿宋" pitchFamily="49" charset="-122"/>
              </a:rPr>
              <a:t>”</a:t>
            </a:r>
            <a:r>
              <a:rPr lang="zh-CN" altLang="en-US" sz="2000" b="1" dirty="0">
                <a:latin typeface="仿宋" pitchFamily="49" charset="-122"/>
                <a:ea typeface="仿宋" pitchFamily="49" charset="-122"/>
              </a:rPr>
              <a:t>是将一个数的各二进制位全部左移和右移若干位。</a:t>
            </a:r>
          </a:p>
          <a:p>
            <a:pPr algn="just">
              <a:lnSpc>
                <a:spcPct val="110000"/>
              </a:lnSpc>
              <a:buSzPct val="100000"/>
            </a:pPr>
            <a:r>
              <a:rPr lang="zh-CN" altLang="en-US" sz="2000" b="1" dirty="0">
                <a:latin typeface="仿宋" pitchFamily="49" charset="-122"/>
                <a:ea typeface="仿宋" pitchFamily="49" charset="-122"/>
              </a:rPr>
              <a:t>  一般形式：</a:t>
            </a:r>
          </a:p>
          <a:p>
            <a:pPr algn="just">
              <a:lnSpc>
                <a:spcPct val="110000"/>
              </a:lnSpc>
              <a:buSzPct val="100000"/>
            </a:pPr>
            <a:r>
              <a:rPr lang="zh-CN" altLang="en-US" sz="2000" b="1" dirty="0">
                <a:latin typeface="仿宋" pitchFamily="49" charset="-122"/>
                <a:ea typeface="仿宋" pitchFamily="49" charset="-122"/>
              </a:rPr>
              <a:t>          左移：   表达式</a:t>
            </a:r>
            <a:r>
              <a:rPr lang="en-US" altLang="zh-CN" sz="2000" b="1" dirty="0">
                <a:latin typeface="仿宋" pitchFamily="49" charset="-122"/>
                <a:ea typeface="仿宋" pitchFamily="49" charset="-122"/>
              </a:rPr>
              <a:t>1&lt;&lt;</a:t>
            </a:r>
            <a:r>
              <a:rPr lang="zh-CN" altLang="en-US" sz="2000" b="1" dirty="0">
                <a:latin typeface="仿宋" pitchFamily="49" charset="-122"/>
                <a:ea typeface="仿宋" pitchFamily="49" charset="-122"/>
              </a:rPr>
              <a:t>表达式</a:t>
            </a:r>
            <a:r>
              <a:rPr lang="en-US" altLang="zh-CN" sz="2000" b="1" dirty="0">
                <a:latin typeface="仿宋" pitchFamily="49" charset="-122"/>
                <a:ea typeface="仿宋" pitchFamily="49" charset="-122"/>
              </a:rPr>
              <a:t>2            </a:t>
            </a:r>
          </a:p>
          <a:p>
            <a:pPr algn="just">
              <a:lnSpc>
                <a:spcPct val="110000"/>
              </a:lnSpc>
              <a:buSzPct val="100000"/>
            </a:pPr>
            <a:r>
              <a:rPr lang="en-US" altLang="zh-CN" sz="2000" b="1" dirty="0">
                <a:latin typeface="仿宋" pitchFamily="49" charset="-122"/>
                <a:ea typeface="仿宋" pitchFamily="49" charset="-122"/>
              </a:rPr>
              <a:t>          </a:t>
            </a:r>
            <a:r>
              <a:rPr lang="zh-CN" altLang="en-US" sz="2000" b="1" dirty="0">
                <a:latin typeface="仿宋" pitchFamily="49" charset="-122"/>
                <a:ea typeface="仿宋" pitchFamily="49" charset="-122"/>
              </a:rPr>
              <a:t>右移：   表达式</a:t>
            </a:r>
            <a:r>
              <a:rPr lang="en-US" altLang="zh-CN" sz="2000" b="1" dirty="0">
                <a:latin typeface="仿宋" pitchFamily="49" charset="-122"/>
                <a:ea typeface="仿宋" pitchFamily="49" charset="-122"/>
              </a:rPr>
              <a:t>1&gt;&gt;</a:t>
            </a:r>
            <a:r>
              <a:rPr lang="zh-CN" altLang="en-US" sz="2000" b="1" dirty="0">
                <a:latin typeface="仿宋" pitchFamily="49" charset="-122"/>
                <a:ea typeface="仿宋" pitchFamily="49" charset="-122"/>
              </a:rPr>
              <a:t>表达式</a:t>
            </a:r>
            <a:r>
              <a:rPr lang="en-US" altLang="zh-CN" sz="2000" b="1" dirty="0">
                <a:latin typeface="仿宋" pitchFamily="49" charset="-122"/>
                <a:ea typeface="仿宋" pitchFamily="49" charset="-122"/>
              </a:rPr>
              <a:t>2      </a:t>
            </a:r>
          </a:p>
          <a:p>
            <a:pPr>
              <a:lnSpc>
                <a:spcPct val="110000"/>
              </a:lnSpc>
              <a:buSzPct val="100000"/>
            </a:pPr>
            <a:r>
              <a:rPr lang="zh-CN" altLang="en-US" sz="2000" b="1" dirty="0">
                <a:latin typeface="仿宋" pitchFamily="49" charset="-122"/>
                <a:ea typeface="仿宋" pitchFamily="49" charset="-122"/>
              </a:rPr>
              <a:t>说明：表达式</a:t>
            </a:r>
            <a:r>
              <a:rPr lang="en-US" altLang="zh-CN" sz="2000" b="1" dirty="0">
                <a:latin typeface="仿宋" pitchFamily="49" charset="-122"/>
                <a:ea typeface="仿宋" pitchFamily="49" charset="-122"/>
              </a:rPr>
              <a:t>1</a:t>
            </a:r>
            <a:r>
              <a:rPr lang="zh-CN" altLang="en-US" sz="2000" b="1" dirty="0">
                <a:latin typeface="仿宋" pitchFamily="49" charset="-122"/>
                <a:ea typeface="仿宋" pitchFamily="49" charset="-122"/>
              </a:rPr>
              <a:t>为被移动的数</a:t>
            </a:r>
            <a:r>
              <a:rPr lang="en-US" altLang="zh-CN" sz="2000" b="1" dirty="0">
                <a:latin typeface="仿宋" pitchFamily="49" charset="-122"/>
                <a:ea typeface="仿宋" pitchFamily="49" charset="-122"/>
              </a:rPr>
              <a:t>,</a:t>
            </a:r>
            <a:r>
              <a:rPr lang="zh-CN" altLang="en-US" sz="2000" b="1" dirty="0">
                <a:latin typeface="仿宋" pitchFamily="49" charset="-122"/>
                <a:ea typeface="仿宋" pitchFamily="49" charset="-122"/>
              </a:rPr>
              <a:t>表达式</a:t>
            </a:r>
            <a:r>
              <a:rPr lang="en-US" altLang="zh-CN" sz="2000" b="1" dirty="0">
                <a:latin typeface="仿宋" pitchFamily="49" charset="-122"/>
                <a:ea typeface="仿宋" pitchFamily="49" charset="-122"/>
              </a:rPr>
              <a:t>2</a:t>
            </a:r>
            <a:r>
              <a:rPr lang="zh-CN" altLang="en-US" sz="2000" b="1" dirty="0">
                <a:latin typeface="仿宋" pitchFamily="49" charset="-122"/>
                <a:ea typeface="仿宋" pitchFamily="49" charset="-122"/>
              </a:rPr>
              <a:t>是所要移动的位数</a:t>
            </a:r>
            <a:r>
              <a:rPr lang="en-US" altLang="zh-CN" sz="2000" b="1" dirty="0">
                <a:latin typeface="仿宋" pitchFamily="49" charset="-122"/>
                <a:ea typeface="仿宋" pitchFamily="49" charset="-122"/>
              </a:rPr>
              <a:t>(</a:t>
            </a:r>
            <a:r>
              <a:rPr lang="zh-CN" altLang="en-US" sz="2000" b="1" dirty="0">
                <a:latin typeface="仿宋" pitchFamily="49" charset="-122"/>
                <a:ea typeface="仿宋" pitchFamily="49" charset="-122"/>
              </a:rPr>
              <a:t>应为非负整数</a:t>
            </a:r>
            <a:r>
              <a:rPr lang="en-US" altLang="zh-CN" sz="2000" b="1" dirty="0">
                <a:latin typeface="仿宋" pitchFamily="49" charset="-122"/>
                <a:ea typeface="仿宋" pitchFamily="49" charset="-122"/>
              </a:rPr>
              <a:t>) </a:t>
            </a:r>
            <a:r>
              <a:rPr lang="zh-CN" altLang="en-US" sz="2000" b="1" dirty="0">
                <a:latin typeface="仿宋" pitchFamily="49" charset="-122"/>
                <a:ea typeface="仿宋" pitchFamily="49" charset="-122"/>
              </a:rPr>
              <a:t>。    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直接连接符 2"/>
          <p:cNvSpPr>
            <a:spLocks noChangeShapeType="1"/>
          </p:cNvSpPr>
          <p:nvPr/>
        </p:nvSpPr>
        <p:spPr bwMode="auto">
          <a:xfrm rot="5400000">
            <a:off x="856482" y="305077"/>
            <a:ext cx="612775" cy="2625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07" name="直接连接符 3"/>
          <p:cNvSpPr>
            <a:spLocks noChangeShapeType="1"/>
          </p:cNvSpPr>
          <p:nvPr/>
        </p:nvSpPr>
        <p:spPr bwMode="auto">
          <a:xfrm rot="5400000">
            <a:off x="1033228" y="179526"/>
            <a:ext cx="360363" cy="1312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08" name="标题 1"/>
          <p:cNvSpPr>
            <a:spLocks noGrp="1" noChangeArrowheads="1"/>
          </p:cNvSpPr>
          <p:nvPr>
            <p:ph type="ctrTitle"/>
          </p:nvPr>
        </p:nvSpPr>
        <p:spPr bwMode="auto">
          <a:xfrm>
            <a:off x="1169433" y="50800"/>
            <a:ext cx="6805137" cy="50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/>
          </a:bodyPr>
          <a:lstStyle/>
          <a:p>
            <a:pPr marL="0" indent="0" eaLnBrk="1" hangingPunct="1"/>
            <a:r>
              <a:rPr lang="en-US" altLang="zh-CN" sz="3200" dirty="0"/>
              <a:t>2  </a:t>
            </a:r>
            <a:r>
              <a:rPr lang="zh-CN" altLang="en-US" sz="3200" dirty="0"/>
              <a:t>移位运算</a:t>
            </a:r>
          </a:p>
        </p:txBody>
      </p:sp>
      <p:sp>
        <p:nvSpPr>
          <p:cNvPr id="21509" name="Text Box 15"/>
          <p:cNvSpPr txBox="1">
            <a:spLocks noChangeArrowheads="1"/>
          </p:cNvSpPr>
          <p:nvPr/>
        </p:nvSpPr>
        <p:spPr bwMode="auto">
          <a:xfrm>
            <a:off x="964649" y="5064125"/>
            <a:ext cx="3024505" cy="1588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endParaRPr lang="en-US" altLang="zh-CN" sz="2000" b="1">
              <a:solidFill>
                <a:srgbClr val="FFFFFF"/>
              </a:solidFill>
            </a:endParaRPr>
          </a:p>
        </p:txBody>
      </p:sp>
      <p:sp>
        <p:nvSpPr>
          <p:cNvPr id="9" name="Rectangle 20"/>
          <p:cNvSpPr>
            <a:spLocks noChangeArrowheads="1"/>
          </p:cNvSpPr>
          <p:nvPr/>
        </p:nvSpPr>
        <p:spPr bwMode="auto">
          <a:xfrm>
            <a:off x="964648" y="698500"/>
            <a:ext cx="6994168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hangingPunct="0"/>
            <a:r>
              <a:rPr lang="zh-CN" altLang="en-US" sz="2000" b="1" dirty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（</a:t>
            </a:r>
            <a:r>
              <a:rPr lang="en-US" altLang="zh-CN" sz="20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1</a:t>
            </a:r>
            <a:r>
              <a:rPr lang="zh-CN" altLang="en-US" sz="20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）左移运算符“</a:t>
            </a:r>
            <a:r>
              <a:rPr lang="en-US" altLang="zh-CN" sz="20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&lt;&lt;”</a:t>
            </a:r>
          </a:p>
        </p:txBody>
      </p:sp>
      <p:sp>
        <p:nvSpPr>
          <p:cNvPr id="21511" name="Rectangle 5"/>
          <p:cNvSpPr>
            <a:spLocks noChangeArrowheads="1"/>
          </p:cNvSpPr>
          <p:nvPr/>
        </p:nvSpPr>
        <p:spPr bwMode="auto">
          <a:xfrm>
            <a:off x="964649" y="978999"/>
            <a:ext cx="7132003" cy="350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06000" tIns="190800" bIns="190800" anchor="ctr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  <a:buSzPct val="100000"/>
              <a:defRPr/>
            </a:pPr>
            <a:r>
              <a:rPr lang="zh-CN" altLang="en-US" sz="2000" b="1" dirty="0">
                <a:latin typeface="仿宋" pitchFamily="49" charset="-122"/>
                <a:ea typeface="仿宋" pitchFamily="49" charset="-122"/>
              </a:rPr>
              <a:t>用来将一个数的</a:t>
            </a:r>
            <a:r>
              <a:rPr lang="zh-CN" altLang="en-US" sz="2000" b="1" dirty="0">
                <a:solidFill>
                  <a:srgbClr val="FF0000"/>
                </a:solidFill>
                <a:latin typeface="仿宋" pitchFamily="49" charset="-122"/>
                <a:ea typeface="仿宋" pitchFamily="49" charset="-122"/>
              </a:rPr>
              <a:t>各二进制位左移若干位</a:t>
            </a:r>
            <a:r>
              <a:rPr lang="en-US" altLang="zh-CN" sz="2000" b="1" dirty="0">
                <a:latin typeface="仿宋" pitchFamily="49" charset="-122"/>
                <a:ea typeface="仿宋" pitchFamily="49" charset="-122"/>
              </a:rPr>
              <a:t>,</a:t>
            </a:r>
            <a:r>
              <a:rPr lang="zh-CN" altLang="en-US" sz="2000" b="1" dirty="0">
                <a:latin typeface="仿宋" pitchFamily="49" charset="-122"/>
                <a:ea typeface="仿宋" pitchFamily="49" charset="-122"/>
              </a:rPr>
              <a:t>移动的位数由表达式</a:t>
            </a:r>
            <a:r>
              <a:rPr lang="en-US" altLang="zh-CN" sz="2000" b="1" dirty="0">
                <a:latin typeface="仿宋" pitchFamily="49" charset="-122"/>
                <a:ea typeface="仿宋" pitchFamily="49" charset="-122"/>
              </a:rPr>
              <a:t>2 (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itchFamily="49" charset="-122"/>
                <a:ea typeface="仿宋" pitchFamily="49" charset="-122"/>
              </a:rPr>
              <a:t>必须非负</a:t>
            </a:r>
            <a:r>
              <a:rPr lang="en-US" altLang="zh-CN" sz="2000" b="1" dirty="0">
                <a:latin typeface="仿宋" pitchFamily="49" charset="-122"/>
                <a:ea typeface="仿宋" pitchFamily="49" charset="-122"/>
              </a:rPr>
              <a:t>) </a:t>
            </a:r>
            <a:r>
              <a:rPr lang="zh-CN" altLang="en-US" sz="2000" b="1" dirty="0">
                <a:latin typeface="仿宋" pitchFamily="49" charset="-122"/>
                <a:ea typeface="仿宋" pitchFamily="49" charset="-122"/>
              </a:rPr>
              <a:t>指定</a:t>
            </a:r>
            <a:r>
              <a:rPr lang="en-US" altLang="zh-CN" sz="2000" b="1" dirty="0">
                <a:latin typeface="仿宋" pitchFamily="49" charset="-122"/>
                <a:ea typeface="仿宋" pitchFamily="49" charset="-122"/>
              </a:rPr>
              <a:t>,</a:t>
            </a:r>
            <a:r>
              <a:rPr lang="zh-CN" altLang="en-US" sz="2000" b="1" dirty="0">
                <a:latin typeface="仿宋" pitchFamily="49" charset="-122"/>
                <a:ea typeface="仿宋" pitchFamily="49" charset="-122"/>
              </a:rPr>
              <a:t>其右边空出的位用</a:t>
            </a:r>
            <a:r>
              <a:rPr lang="en-US" altLang="zh-CN" sz="2000" b="1" dirty="0">
                <a:latin typeface="仿宋" pitchFamily="49" charset="-122"/>
                <a:ea typeface="仿宋" pitchFamily="49" charset="-122"/>
              </a:rPr>
              <a:t>0</a:t>
            </a:r>
            <a:r>
              <a:rPr lang="zh-CN" altLang="en-US" sz="2000" b="1" dirty="0">
                <a:latin typeface="仿宋" pitchFamily="49" charset="-122"/>
                <a:ea typeface="仿宋" pitchFamily="49" charset="-122"/>
              </a:rPr>
              <a:t>填补</a:t>
            </a:r>
            <a:r>
              <a:rPr lang="en-US" altLang="zh-CN" sz="2000" b="1" dirty="0">
                <a:latin typeface="仿宋" pitchFamily="49" charset="-122"/>
                <a:ea typeface="仿宋" pitchFamily="49" charset="-122"/>
              </a:rPr>
              <a:t>,</a:t>
            </a:r>
            <a:r>
              <a:rPr lang="zh-CN" altLang="en-US" sz="2000" b="1" dirty="0">
                <a:latin typeface="仿宋" pitchFamily="49" charset="-122"/>
                <a:ea typeface="仿宋" pitchFamily="49" charset="-122"/>
              </a:rPr>
              <a:t>高位左移</a:t>
            </a:r>
            <a:r>
              <a:rPr lang="zh-CN" altLang="en-US" sz="2000" b="1" dirty="0">
                <a:solidFill>
                  <a:srgbClr val="FF0000"/>
                </a:solidFill>
                <a:latin typeface="仿宋" pitchFamily="49" charset="-122"/>
                <a:ea typeface="仿宋" pitchFamily="49" charset="-122"/>
              </a:rPr>
              <a:t>溢出则舍弃该高位 </a:t>
            </a:r>
            <a:r>
              <a:rPr lang="zh-CN" altLang="en-US" sz="2000" b="1" dirty="0">
                <a:latin typeface="仿宋" pitchFamily="49" charset="-122"/>
                <a:ea typeface="仿宋" pitchFamily="49" charset="-122"/>
              </a:rPr>
              <a:t>。</a:t>
            </a:r>
          </a:p>
          <a:p>
            <a:pPr>
              <a:lnSpc>
                <a:spcPct val="120000"/>
              </a:lnSpc>
              <a:spcBef>
                <a:spcPct val="50000"/>
              </a:spcBef>
              <a:buSzPct val="100000"/>
              <a:defRPr/>
            </a:pPr>
            <a:r>
              <a:rPr lang="zh-CN" altLang="en-US" sz="2000" b="1" dirty="0">
                <a:latin typeface="仿宋" pitchFamily="49" charset="-122"/>
                <a:ea typeface="仿宋" pitchFamily="49" charset="-122"/>
              </a:rPr>
              <a:t>例如：将</a:t>
            </a:r>
            <a:r>
              <a:rPr lang="en-US" altLang="zh-CN" sz="2000" b="1" dirty="0">
                <a:latin typeface="仿宋" pitchFamily="49" charset="-122"/>
                <a:ea typeface="仿宋" pitchFamily="49" charset="-122"/>
              </a:rPr>
              <a:t>x</a:t>
            </a:r>
            <a:r>
              <a:rPr lang="zh-CN" altLang="en-US" sz="2000" b="1" dirty="0">
                <a:latin typeface="仿宋" pitchFamily="49" charset="-122"/>
                <a:ea typeface="仿宋" pitchFamily="49" charset="-122"/>
              </a:rPr>
              <a:t>的二进制数</a:t>
            </a:r>
            <a:r>
              <a:rPr lang="zh-CN" altLang="en-US" sz="2000" b="1" dirty="0">
                <a:solidFill>
                  <a:srgbClr val="FF0000"/>
                </a:solidFill>
                <a:latin typeface="仿宋" pitchFamily="49" charset="-122"/>
                <a:ea typeface="仿宋" pitchFamily="49" charset="-122"/>
              </a:rPr>
              <a:t>左移</a:t>
            </a:r>
            <a:r>
              <a:rPr lang="en-US" altLang="zh-CN" sz="2000" b="1" dirty="0">
                <a:solidFill>
                  <a:srgbClr val="FF0000"/>
                </a:solidFill>
                <a:latin typeface="仿宋" pitchFamily="49" charset="-122"/>
                <a:ea typeface="仿宋" pitchFamily="49" charset="-122"/>
              </a:rPr>
              <a:t>2</a:t>
            </a:r>
            <a:r>
              <a:rPr lang="zh-CN" altLang="en-US" sz="2000" b="1" dirty="0">
                <a:solidFill>
                  <a:srgbClr val="FF0000"/>
                </a:solidFill>
                <a:latin typeface="仿宋" pitchFamily="49" charset="-122"/>
                <a:ea typeface="仿宋" pitchFamily="49" charset="-122"/>
              </a:rPr>
              <a:t>位</a:t>
            </a:r>
            <a:r>
              <a:rPr lang="en-US" altLang="zh-CN" sz="2000" b="1" dirty="0">
                <a:latin typeface="仿宋" pitchFamily="49" charset="-122"/>
                <a:ea typeface="仿宋" pitchFamily="49" charset="-122"/>
              </a:rPr>
              <a:t>,</a:t>
            </a:r>
            <a:r>
              <a:rPr lang="zh-CN" altLang="en-US" sz="2000" b="1" dirty="0">
                <a:latin typeface="仿宋" pitchFamily="49" charset="-122"/>
                <a:ea typeface="仿宋" pitchFamily="49" charset="-122"/>
              </a:rPr>
              <a:t>右边</a:t>
            </a: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itchFamily="49" charset="-122"/>
                <a:ea typeface="仿宋" pitchFamily="49" charset="-122"/>
              </a:rPr>
              <a:t>空出的位补</a:t>
            </a:r>
            <a:r>
              <a:rPr lang="en-US" altLang="zh-CN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itchFamily="49" charset="-122"/>
                <a:ea typeface="仿宋" pitchFamily="49" charset="-122"/>
              </a:rPr>
              <a:t>0</a:t>
            </a:r>
            <a:r>
              <a:rPr lang="en-US" altLang="zh-CN" sz="2000" b="1" dirty="0">
                <a:latin typeface="仿宋" pitchFamily="49" charset="-122"/>
                <a:ea typeface="仿宋" pitchFamily="49" charset="-122"/>
              </a:rPr>
              <a:t>,</a:t>
            </a:r>
            <a:r>
              <a:rPr lang="zh-CN" altLang="en-US" sz="2000" b="1" dirty="0">
                <a:latin typeface="仿宋" pitchFamily="49" charset="-122"/>
                <a:ea typeface="仿宋" pitchFamily="49" charset="-122"/>
              </a:rPr>
              <a:t>左边</a:t>
            </a: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itchFamily="49" charset="-122"/>
                <a:ea typeface="仿宋" pitchFamily="49" charset="-122"/>
              </a:rPr>
              <a:t>溢出的位舍弃</a:t>
            </a:r>
            <a:r>
              <a:rPr lang="zh-CN" altLang="en-US" sz="2000" b="1" dirty="0">
                <a:latin typeface="仿宋" pitchFamily="49" charset="-122"/>
                <a:ea typeface="仿宋" pitchFamily="49" charset="-122"/>
              </a:rPr>
              <a:t>。</a:t>
            </a:r>
          </a:p>
          <a:p>
            <a:pPr>
              <a:lnSpc>
                <a:spcPct val="110000"/>
              </a:lnSpc>
              <a:buSzPct val="100000"/>
              <a:defRPr/>
            </a:pPr>
            <a:endParaRPr lang="en-US" altLang="zh-CN" sz="2000" b="1" dirty="0">
              <a:latin typeface="仿宋" pitchFamily="49" charset="-122"/>
              <a:ea typeface="仿宋" pitchFamily="49" charset="-122"/>
            </a:endParaRPr>
          </a:p>
          <a:p>
            <a:pPr>
              <a:lnSpc>
                <a:spcPct val="110000"/>
              </a:lnSpc>
              <a:buSzPct val="100000"/>
              <a:defRPr/>
            </a:pPr>
            <a:r>
              <a:rPr lang="zh-CN" altLang="en-US" sz="2000" b="1" dirty="0">
                <a:latin typeface="仿宋" pitchFamily="49" charset="-122"/>
                <a:ea typeface="仿宋" pitchFamily="49" charset="-122"/>
              </a:rPr>
              <a:t>若</a:t>
            </a:r>
            <a:r>
              <a:rPr lang="en-US" altLang="zh-CN" sz="2000" b="1" dirty="0">
                <a:latin typeface="仿宋" pitchFamily="49" charset="-122"/>
                <a:ea typeface="仿宋" pitchFamily="49" charset="-122"/>
              </a:rPr>
              <a:t>x=2, </a:t>
            </a:r>
            <a:r>
              <a:rPr lang="zh-CN" altLang="en-US" sz="2000" b="1" dirty="0">
                <a:latin typeface="仿宋" pitchFamily="49" charset="-122"/>
                <a:ea typeface="仿宋" pitchFamily="49" charset="-122"/>
              </a:rPr>
              <a:t>即</a:t>
            </a:r>
            <a:r>
              <a:rPr lang="en-US" altLang="zh-CN" sz="2000" b="1" dirty="0">
                <a:latin typeface="仿宋" pitchFamily="49" charset="-122"/>
                <a:ea typeface="仿宋" pitchFamily="49" charset="-122"/>
              </a:rPr>
              <a:t>0000 0010,</a:t>
            </a:r>
            <a:r>
              <a:rPr lang="zh-CN" altLang="en-US" sz="2000" b="1" dirty="0">
                <a:latin typeface="仿宋" pitchFamily="49" charset="-122"/>
                <a:ea typeface="仿宋" pitchFamily="49" charset="-122"/>
              </a:rPr>
              <a:t>左移</a:t>
            </a:r>
            <a:r>
              <a:rPr lang="en-US" altLang="zh-CN" sz="2000" b="1" dirty="0">
                <a:latin typeface="仿宋" pitchFamily="49" charset="-122"/>
                <a:ea typeface="仿宋" pitchFamily="49" charset="-122"/>
              </a:rPr>
              <a:t>2</a:t>
            </a:r>
            <a:r>
              <a:rPr lang="zh-CN" altLang="en-US" sz="2000" b="1" dirty="0">
                <a:latin typeface="仿宋" pitchFamily="49" charset="-122"/>
                <a:ea typeface="仿宋" pitchFamily="49" charset="-122"/>
              </a:rPr>
              <a:t>位得</a:t>
            </a:r>
            <a:r>
              <a:rPr lang="en-US" altLang="zh-CN" sz="2000" b="1" dirty="0">
                <a:latin typeface="仿宋" pitchFamily="49" charset="-122"/>
                <a:ea typeface="仿宋" pitchFamily="49" charset="-122"/>
              </a:rPr>
              <a:t>0000 1000</a:t>
            </a:r>
          </a:p>
          <a:p>
            <a:pPr>
              <a:lnSpc>
                <a:spcPct val="110000"/>
              </a:lnSpc>
              <a:buSzPct val="100000"/>
              <a:defRPr/>
            </a:pPr>
            <a:r>
              <a:rPr lang="zh-CN" altLang="en-US" sz="2000" b="1" dirty="0">
                <a:latin typeface="仿宋" pitchFamily="49" charset="-122"/>
                <a:ea typeface="仿宋" pitchFamily="49" charset="-122"/>
              </a:rPr>
              <a:t>若</a:t>
            </a:r>
            <a:r>
              <a:rPr lang="en-US" altLang="zh-CN" sz="2000" b="1" dirty="0">
                <a:latin typeface="仿宋" pitchFamily="49" charset="-122"/>
                <a:ea typeface="仿宋" pitchFamily="49" charset="-122"/>
              </a:rPr>
              <a:t>x=12,</a:t>
            </a:r>
            <a:r>
              <a:rPr lang="zh-CN" altLang="en-US" sz="2000" b="1" dirty="0">
                <a:latin typeface="仿宋" pitchFamily="49" charset="-122"/>
                <a:ea typeface="仿宋" pitchFamily="49" charset="-122"/>
              </a:rPr>
              <a:t>即</a:t>
            </a:r>
            <a:r>
              <a:rPr lang="en-US" altLang="zh-CN" sz="2000" b="1" dirty="0">
                <a:latin typeface="仿宋" pitchFamily="49" charset="-122"/>
                <a:ea typeface="仿宋" pitchFamily="49" charset="-122"/>
              </a:rPr>
              <a:t>0000 1100,</a:t>
            </a:r>
            <a:r>
              <a:rPr lang="zh-CN" altLang="en-US" sz="2000" b="1" dirty="0">
                <a:latin typeface="仿宋" pitchFamily="49" charset="-122"/>
                <a:ea typeface="仿宋" pitchFamily="49" charset="-122"/>
              </a:rPr>
              <a:t>左移</a:t>
            </a:r>
            <a:r>
              <a:rPr lang="en-US" altLang="zh-CN" sz="2000" b="1" dirty="0">
                <a:latin typeface="仿宋" pitchFamily="49" charset="-122"/>
                <a:ea typeface="仿宋" pitchFamily="49" charset="-122"/>
              </a:rPr>
              <a:t>2</a:t>
            </a:r>
            <a:r>
              <a:rPr lang="zh-CN" altLang="en-US" sz="2000" b="1" dirty="0">
                <a:latin typeface="仿宋" pitchFamily="49" charset="-122"/>
                <a:ea typeface="仿宋" pitchFamily="49" charset="-122"/>
              </a:rPr>
              <a:t>位得</a:t>
            </a:r>
            <a:r>
              <a:rPr lang="en-US" altLang="zh-CN" sz="2000" b="1" dirty="0">
                <a:latin typeface="仿宋" pitchFamily="49" charset="-122"/>
                <a:ea typeface="仿宋" pitchFamily="49" charset="-122"/>
              </a:rPr>
              <a:t>0011 0000 </a:t>
            </a:r>
            <a:r>
              <a:rPr lang="zh-CN" altLang="en-US" sz="2000" b="1" dirty="0">
                <a:latin typeface="仿宋" pitchFamily="49" charset="-122"/>
                <a:ea typeface="仿宋" pitchFamily="49" charset="-122"/>
              </a:rPr>
              <a:t>。     </a:t>
            </a:r>
          </a:p>
        </p:txBody>
      </p:sp>
    </p:spTree>
    <p:extLst>
      <p:ext uri="{BB962C8B-B14F-4D97-AF65-F5344CB8AC3E}">
        <p14:creationId xmlns:p14="http://schemas.microsoft.com/office/powerpoint/2010/main" val="30420427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直接连接符 2"/>
          <p:cNvSpPr>
            <a:spLocks noChangeShapeType="1"/>
          </p:cNvSpPr>
          <p:nvPr/>
        </p:nvSpPr>
        <p:spPr bwMode="auto">
          <a:xfrm rot="5400000">
            <a:off x="856482" y="305077"/>
            <a:ext cx="612775" cy="2625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07" name="直接连接符 3"/>
          <p:cNvSpPr>
            <a:spLocks noChangeShapeType="1"/>
          </p:cNvSpPr>
          <p:nvPr/>
        </p:nvSpPr>
        <p:spPr bwMode="auto">
          <a:xfrm rot="5400000">
            <a:off x="1033228" y="179526"/>
            <a:ext cx="360363" cy="1312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08" name="标题 1"/>
          <p:cNvSpPr>
            <a:spLocks noGrp="1" noChangeArrowheads="1"/>
          </p:cNvSpPr>
          <p:nvPr>
            <p:ph type="ctrTitle"/>
          </p:nvPr>
        </p:nvSpPr>
        <p:spPr bwMode="auto">
          <a:xfrm>
            <a:off x="1169433" y="50800"/>
            <a:ext cx="6805137" cy="50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/>
          </a:bodyPr>
          <a:lstStyle/>
          <a:p>
            <a:pPr marL="0" indent="0" eaLnBrk="1" hangingPunct="1"/>
            <a:r>
              <a:rPr lang="en-US" altLang="zh-CN" sz="3200" dirty="0"/>
              <a:t>2  </a:t>
            </a:r>
            <a:r>
              <a:rPr lang="zh-CN" altLang="en-US" sz="3200" dirty="0"/>
              <a:t>移位运算</a:t>
            </a:r>
          </a:p>
        </p:txBody>
      </p:sp>
      <p:sp>
        <p:nvSpPr>
          <p:cNvPr id="21509" name="Text Box 15"/>
          <p:cNvSpPr txBox="1">
            <a:spLocks noChangeArrowheads="1"/>
          </p:cNvSpPr>
          <p:nvPr/>
        </p:nvSpPr>
        <p:spPr bwMode="auto">
          <a:xfrm>
            <a:off x="964649" y="5064125"/>
            <a:ext cx="3024505" cy="1588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endParaRPr lang="en-US" altLang="zh-CN" sz="2000" b="1">
              <a:solidFill>
                <a:srgbClr val="FFFFFF"/>
              </a:solidFill>
            </a:endParaRPr>
          </a:p>
        </p:txBody>
      </p:sp>
      <p:sp>
        <p:nvSpPr>
          <p:cNvPr id="9" name="Rectangle 20"/>
          <p:cNvSpPr>
            <a:spLocks noChangeArrowheads="1"/>
          </p:cNvSpPr>
          <p:nvPr/>
        </p:nvSpPr>
        <p:spPr bwMode="auto">
          <a:xfrm>
            <a:off x="964648" y="698500"/>
            <a:ext cx="6994168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hangingPunct="0"/>
            <a:r>
              <a:rPr lang="zh-CN" altLang="en-US" sz="20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（</a:t>
            </a:r>
            <a:r>
              <a:rPr lang="en-US" altLang="zh-CN" sz="20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1</a:t>
            </a:r>
            <a:r>
              <a:rPr lang="zh-CN" altLang="en-US" sz="20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）左移运算符“</a:t>
            </a:r>
            <a:r>
              <a:rPr lang="en-US" altLang="zh-CN" sz="20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&lt;&lt;”</a:t>
            </a:r>
          </a:p>
        </p:txBody>
      </p:sp>
      <p:sp>
        <p:nvSpPr>
          <p:cNvPr id="2" name="矩形 1"/>
          <p:cNvSpPr/>
          <p:nvPr/>
        </p:nvSpPr>
        <p:spPr>
          <a:xfrm>
            <a:off x="1030929" y="1491255"/>
            <a:ext cx="3780632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 altLang="zh-CN" b="1" dirty="0">
                <a:effectLst>
                  <a:outerShdw blurRad="38100" dist="38100" dir="2700000" algn="tl">
                    <a:srgbClr val="808080"/>
                  </a:outerShdw>
                </a:effectLst>
                <a:latin typeface="Times New Roman" pitchFamily="18" charset="0"/>
                <a:ea typeface="楷体_GB2312" charset="-122"/>
              </a:rPr>
              <a:t>#include &lt;</a:t>
            </a:r>
            <a:r>
              <a:rPr lang="en-US" altLang="zh-CN" b="1" dirty="0" err="1">
                <a:effectLst>
                  <a:outerShdw blurRad="38100" dist="38100" dir="2700000" algn="tl">
                    <a:srgbClr val="808080"/>
                  </a:outerShdw>
                </a:effectLst>
                <a:latin typeface="Times New Roman" pitchFamily="18" charset="0"/>
                <a:ea typeface="楷体_GB2312" charset="-122"/>
              </a:rPr>
              <a:t>stdio.h</a:t>
            </a:r>
            <a:r>
              <a:rPr lang="en-US" altLang="zh-CN" b="1" dirty="0">
                <a:effectLst>
                  <a:outerShdw blurRad="38100" dist="38100" dir="2700000" algn="tl">
                    <a:srgbClr val="808080"/>
                  </a:outerShdw>
                </a:effectLst>
                <a:latin typeface="Times New Roman" pitchFamily="18" charset="0"/>
                <a:ea typeface="楷体_GB2312" charset="-122"/>
              </a:rPr>
              <a:t>&gt;</a:t>
            </a:r>
            <a:endParaRPr lang="en-US" altLang="zh-CN" b="1" dirty="0">
              <a:effectLst>
                <a:outerShdw blurRad="38100" dist="38100" dir="2700000" algn="tl">
                  <a:srgbClr val="808080"/>
                </a:outerShdw>
              </a:effectLst>
              <a:latin typeface="Arial" pitchFamily="34" charset="0"/>
            </a:endParaRPr>
          </a:p>
          <a:p>
            <a:pPr eaLnBrk="0" hangingPunct="0">
              <a:defRPr/>
            </a:pPr>
            <a:r>
              <a:rPr lang="en-US" altLang="zh-CN" b="1" dirty="0">
                <a:effectLst>
                  <a:outerShdw blurRad="38100" dist="38100" dir="2700000" algn="tl">
                    <a:srgbClr val="808080"/>
                  </a:outerShdw>
                </a:effectLst>
                <a:latin typeface="Arial Black" pitchFamily="34" charset="0"/>
                <a:ea typeface="楷体_GB2312" charset="-122"/>
              </a:rPr>
              <a:t>main()</a:t>
            </a:r>
            <a:endParaRPr lang="en-US" altLang="zh-CN" b="1" dirty="0">
              <a:effectLst>
                <a:outerShdw blurRad="38100" dist="38100" dir="2700000" algn="tl">
                  <a:srgbClr val="808080"/>
                </a:outerShdw>
              </a:effectLst>
              <a:latin typeface="Arial Black" pitchFamily="34" charset="0"/>
            </a:endParaRPr>
          </a:p>
          <a:p>
            <a:pPr eaLnBrk="0" hangingPunct="0">
              <a:defRPr/>
            </a:pPr>
            <a:r>
              <a:rPr lang="en-US" altLang="zh-CN" b="1" dirty="0">
                <a:effectLst>
                  <a:outerShdw blurRad="38100" dist="38100" dir="2700000" algn="tl">
                    <a:srgbClr val="808080"/>
                  </a:outerShdw>
                </a:effectLst>
                <a:latin typeface="Arial Black" pitchFamily="34" charset="0"/>
                <a:ea typeface="楷体_GB2312" charset="-122"/>
              </a:rPr>
              <a:t>{</a:t>
            </a:r>
            <a:endParaRPr lang="en-US" altLang="zh-CN" b="1" dirty="0">
              <a:effectLst>
                <a:outerShdw blurRad="38100" dist="38100" dir="2700000" algn="tl">
                  <a:srgbClr val="808080"/>
                </a:outerShdw>
              </a:effectLst>
              <a:latin typeface="Arial Black" pitchFamily="34" charset="0"/>
            </a:endParaRPr>
          </a:p>
          <a:p>
            <a:pPr eaLnBrk="0" hangingPunct="0">
              <a:defRPr/>
            </a:pPr>
            <a:r>
              <a:rPr lang="en-US" altLang="zh-CN" b="1" dirty="0">
                <a:effectLst>
                  <a:outerShdw blurRad="38100" dist="38100" dir="2700000" algn="tl">
                    <a:srgbClr val="808080"/>
                  </a:outerShdw>
                </a:effectLst>
                <a:latin typeface="Times New Roman" pitchFamily="18" charset="0"/>
                <a:ea typeface="楷体_GB2312" charset="-122"/>
              </a:rPr>
              <a:t>  </a:t>
            </a:r>
            <a:r>
              <a:rPr lang="en-US" altLang="zh-CN" b="1" dirty="0" err="1">
                <a:effectLst>
                  <a:outerShdw blurRad="38100" dist="38100" dir="2700000" algn="tl">
                    <a:srgbClr val="808080"/>
                  </a:outerShdw>
                </a:effectLst>
                <a:latin typeface="Times New Roman" pitchFamily="18" charset="0"/>
                <a:ea typeface="楷体_GB2312" charset="-122"/>
              </a:rPr>
              <a:t>int</a:t>
            </a:r>
            <a:r>
              <a:rPr lang="en-US" altLang="zh-CN" b="1" dirty="0">
                <a:effectLst>
                  <a:outerShdw blurRad="38100" dist="38100" dir="2700000" algn="tl">
                    <a:srgbClr val="808080"/>
                  </a:outerShdw>
                </a:effectLst>
                <a:latin typeface="Times New Roman" pitchFamily="18" charset="0"/>
                <a:ea typeface="楷体_GB2312" charset="-122"/>
              </a:rPr>
              <a:t> x=12;</a:t>
            </a:r>
            <a:endParaRPr lang="en-US" altLang="zh-CN" b="1" dirty="0">
              <a:effectLst>
                <a:outerShdw blurRad="38100" dist="38100" dir="2700000" algn="tl">
                  <a:srgbClr val="808080"/>
                </a:outerShdw>
              </a:effectLst>
              <a:latin typeface="Arial" pitchFamily="34" charset="0"/>
            </a:endParaRPr>
          </a:p>
          <a:p>
            <a:pPr eaLnBrk="0" hangingPunct="0">
              <a:defRPr/>
            </a:pPr>
            <a:r>
              <a:rPr lang="es-ES" altLang="zh-CN" b="1" dirty="0">
                <a:effectLst>
                  <a:outerShdw blurRad="38100" dist="38100" dir="2700000" algn="tl">
                    <a:srgbClr val="808080"/>
                  </a:outerShdw>
                </a:effectLst>
                <a:latin typeface="Times New Roman" pitchFamily="18" charset="0"/>
              </a:rPr>
              <a:t>  printf("%d",</a:t>
            </a:r>
            <a:r>
              <a:rPr lang="es-E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Arial Black" pitchFamily="34" charset="0"/>
              </a:rPr>
              <a:t>x&lt;&lt;2</a:t>
            </a:r>
            <a:r>
              <a:rPr lang="es-ES" altLang="zh-CN" b="1" dirty="0">
                <a:effectLst>
                  <a:outerShdw blurRad="38100" dist="38100" dir="2700000" algn="tl">
                    <a:srgbClr val="808080"/>
                  </a:outerShdw>
                </a:effectLst>
                <a:latin typeface="Times New Roman" pitchFamily="18" charset="0"/>
              </a:rPr>
              <a:t>);</a:t>
            </a:r>
          </a:p>
          <a:p>
            <a:pPr eaLnBrk="0" hangingPunct="0">
              <a:defRPr/>
            </a:pPr>
            <a:r>
              <a:rPr lang="en-US" altLang="zh-CN" b="1" dirty="0">
                <a:effectLst>
                  <a:outerShdw blurRad="38100" dist="38100" dir="2700000" algn="tl">
                    <a:srgbClr val="808080"/>
                  </a:outerShdw>
                </a:effectLst>
                <a:latin typeface="Arial Black" pitchFamily="34" charset="0"/>
                <a:ea typeface="楷体_GB2312" charset="-122"/>
              </a:rPr>
              <a:t>}</a:t>
            </a:r>
          </a:p>
        </p:txBody>
      </p:sp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3973783" y="772554"/>
            <a:ext cx="4898244" cy="3209579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square" lIns="90000" tIns="118800" rIns="54000" bIns="118800" anchor="ctr">
            <a:spAutoFit/>
          </a:bodyPr>
          <a:lstStyle>
            <a:lvl1pPr indent="449263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1624013" indent="-4572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2058988" indent="-4572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2581275" indent="-4572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3103563" indent="-4572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3560763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4017963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4475163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4932363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indent="0">
              <a:lnSpc>
                <a:spcPct val="120000"/>
              </a:lnSpc>
              <a:spcBef>
                <a:spcPts val="0"/>
              </a:spcBef>
              <a:buSzPct val="100000"/>
              <a:defRPr/>
            </a:pPr>
            <a:r>
              <a:rPr lang="zh-CN" altLang="en-US" sz="2400" b="1" dirty="0">
                <a:solidFill>
                  <a:srgbClr val="C00000"/>
                </a:solidFill>
                <a:latin typeface="仿宋" pitchFamily="49" charset="-122"/>
                <a:ea typeface="仿宋" pitchFamily="49" charset="-122"/>
                <a:cs typeface="Times New Roman" pitchFamily="18" charset="0"/>
              </a:rPr>
              <a:t>注意：</a:t>
            </a:r>
            <a:endParaRPr lang="en-US" altLang="zh-CN" sz="2400" b="1" dirty="0">
              <a:solidFill>
                <a:srgbClr val="C00000"/>
              </a:solidFill>
              <a:latin typeface="仿宋" pitchFamily="49" charset="-122"/>
              <a:ea typeface="仿宋" pitchFamily="49" charset="-122"/>
              <a:cs typeface="Times New Roman" pitchFamily="18" charset="0"/>
            </a:endParaRPr>
          </a:p>
          <a:p>
            <a:pPr>
              <a:lnSpc>
                <a:spcPct val="120000"/>
              </a:lnSpc>
              <a:spcBef>
                <a:spcPct val="50000"/>
              </a:spcBef>
              <a:buSzPct val="100000"/>
              <a:defRPr/>
            </a:pPr>
            <a:r>
              <a:rPr lang="zh-CN" altLang="en-US" sz="2400" b="1" dirty="0">
                <a:solidFill>
                  <a:srgbClr val="C00000"/>
                </a:solidFill>
                <a:latin typeface="仿宋" pitchFamily="49" charset="-122"/>
                <a:ea typeface="仿宋" pitchFamily="49" charset="-122"/>
                <a:cs typeface="Times New Roman" pitchFamily="18" charset="0"/>
              </a:rPr>
              <a:t>左移</a:t>
            </a:r>
            <a:r>
              <a:rPr lang="en-US" altLang="zh-CN" sz="2400" b="1" dirty="0">
                <a:solidFill>
                  <a:srgbClr val="C00000"/>
                </a:solidFill>
                <a:latin typeface="仿宋" pitchFamily="49" charset="-122"/>
                <a:ea typeface="仿宋" pitchFamily="49" charset="-122"/>
                <a:cs typeface="Times New Roman" pitchFamily="18" charset="0"/>
              </a:rPr>
              <a:t>1</a:t>
            </a:r>
            <a:r>
              <a:rPr lang="zh-CN" altLang="en-US" sz="2400" b="1" dirty="0">
                <a:solidFill>
                  <a:srgbClr val="C00000"/>
                </a:solidFill>
                <a:latin typeface="仿宋" pitchFamily="49" charset="-122"/>
                <a:ea typeface="仿宋" pitchFamily="49" charset="-122"/>
                <a:cs typeface="Times New Roman" pitchFamily="18" charset="0"/>
              </a:rPr>
              <a:t>位相当于该数乘以</a:t>
            </a:r>
            <a:r>
              <a:rPr lang="en-US" altLang="zh-CN" sz="2400" b="1" dirty="0">
                <a:solidFill>
                  <a:srgbClr val="C00000"/>
                </a:solidFill>
                <a:latin typeface="仿宋" pitchFamily="49" charset="-122"/>
                <a:ea typeface="仿宋" pitchFamily="49" charset="-122"/>
                <a:cs typeface="Times New Roman" pitchFamily="18" charset="0"/>
              </a:rPr>
              <a:t>2,</a:t>
            </a:r>
            <a:r>
              <a:rPr lang="zh-CN" altLang="en-US" sz="2400" b="1" dirty="0">
                <a:solidFill>
                  <a:srgbClr val="C00000"/>
                </a:solidFill>
                <a:latin typeface="仿宋" pitchFamily="49" charset="-122"/>
                <a:ea typeface="仿宋" pitchFamily="49" charset="-122"/>
                <a:cs typeface="Times New Roman" pitchFamily="18" charset="0"/>
              </a:rPr>
              <a:t>左移</a:t>
            </a:r>
            <a:r>
              <a:rPr lang="en-US" altLang="zh-CN" sz="2400" b="1" dirty="0">
                <a:solidFill>
                  <a:srgbClr val="C00000"/>
                </a:solidFill>
                <a:latin typeface="仿宋" pitchFamily="49" charset="-122"/>
                <a:ea typeface="仿宋" pitchFamily="49" charset="-122"/>
                <a:cs typeface="Times New Roman" pitchFamily="18" charset="0"/>
              </a:rPr>
              <a:t>2</a:t>
            </a:r>
            <a:r>
              <a:rPr lang="zh-CN" altLang="en-US" sz="2400" b="1" dirty="0">
                <a:solidFill>
                  <a:srgbClr val="C00000"/>
                </a:solidFill>
                <a:latin typeface="仿宋" pitchFamily="49" charset="-122"/>
                <a:ea typeface="仿宋" pitchFamily="49" charset="-122"/>
                <a:cs typeface="Times New Roman" pitchFamily="18" charset="0"/>
              </a:rPr>
              <a:t>位相当于该数乘以</a:t>
            </a:r>
            <a:r>
              <a:rPr lang="en-US" altLang="zh-CN" sz="2400" b="1" dirty="0">
                <a:solidFill>
                  <a:srgbClr val="C00000"/>
                </a:solidFill>
                <a:latin typeface="仿宋" pitchFamily="49" charset="-122"/>
                <a:ea typeface="仿宋" pitchFamily="49" charset="-122"/>
                <a:cs typeface="Times New Roman" pitchFamily="18" charset="0"/>
              </a:rPr>
              <a:t>2</a:t>
            </a:r>
            <a:r>
              <a:rPr lang="en-US" altLang="zh-CN" sz="2400" b="1" baseline="30000" dirty="0">
                <a:solidFill>
                  <a:srgbClr val="C00000"/>
                </a:solidFill>
                <a:latin typeface="仿宋" pitchFamily="49" charset="-122"/>
                <a:ea typeface="仿宋" pitchFamily="49" charset="-122"/>
                <a:cs typeface="Times New Roman" pitchFamily="18" charset="0"/>
              </a:rPr>
              <a:t>2</a:t>
            </a:r>
            <a:r>
              <a:rPr lang="en-US" altLang="zh-CN" sz="2400" b="1" dirty="0">
                <a:solidFill>
                  <a:srgbClr val="C00000"/>
                </a:solidFill>
                <a:latin typeface="仿宋" pitchFamily="49" charset="-122"/>
                <a:ea typeface="仿宋" pitchFamily="49" charset="-122"/>
                <a:cs typeface="Times New Roman" pitchFamily="18" charset="0"/>
              </a:rPr>
              <a:t>=4,12&lt;&lt;2=48,</a:t>
            </a:r>
            <a:r>
              <a:rPr lang="zh-CN" altLang="en-US" sz="2400" b="1" dirty="0">
                <a:solidFill>
                  <a:srgbClr val="C00000"/>
                </a:solidFill>
                <a:latin typeface="仿宋" pitchFamily="49" charset="-122"/>
                <a:ea typeface="仿宋" pitchFamily="49" charset="-122"/>
                <a:cs typeface="Times New Roman" pitchFamily="18" charset="0"/>
              </a:rPr>
              <a:t>即乘</a:t>
            </a:r>
            <a:r>
              <a:rPr lang="en-US" altLang="zh-CN" sz="2400" b="1" dirty="0">
                <a:solidFill>
                  <a:srgbClr val="C00000"/>
                </a:solidFill>
                <a:latin typeface="仿宋" pitchFamily="49" charset="-122"/>
                <a:ea typeface="仿宋" pitchFamily="49" charset="-122"/>
                <a:cs typeface="Times New Roman" pitchFamily="18" charset="0"/>
              </a:rPr>
              <a:t>4</a:t>
            </a:r>
          </a:p>
          <a:p>
            <a:pPr>
              <a:lnSpc>
                <a:spcPct val="120000"/>
              </a:lnSpc>
              <a:spcBef>
                <a:spcPct val="50000"/>
              </a:spcBef>
              <a:buSzPct val="100000"/>
              <a:defRPr/>
            </a:pPr>
            <a:r>
              <a:rPr lang="en-US" altLang="zh-CN" sz="2400" b="1" dirty="0">
                <a:solidFill>
                  <a:srgbClr val="C00000"/>
                </a:solidFill>
                <a:latin typeface="仿宋" pitchFamily="49" charset="-122"/>
                <a:ea typeface="仿宋" pitchFamily="49" charset="-122"/>
                <a:cs typeface="Times New Roman" pitchFamily="18" charset="0"/>
              </a:rPr>
              <a:t>(</a:t>
            </a:r>
            <a:r>
              <a:rPr lang="zh-CN" altLang="en-US" sz="2400" b="1" dirty="0">
                <a:solidFill>
                  <a:srgbClr val="C00000"/>
                </a:solidFill>
                <a:latin typeface="仿宋" pitchFamily="49" charset="-122"/>
                <a:ea typeface="仿宋" pitchFamily="49" charset="-122"/>
                <a:cs typeface="Times New Roman" pitchFamily="18" charset="0"/>
              </a:rPr>
              <a:t>只适用于该数左移时被溢出舍弃的高位中不含</a:t>
            </a:r>
            <a:r>
              <a:rPr lang="en-US" altLang="zh-CN" sz="2400" b="1" dirty="0">
                <a:solidFill>
                  <a:srgbClr val="C00000"/>
                </a:solidFill>
                <a:latin typeface="仿宋" pitchFamily="49" charset="-122"/>
                <a:ea typeface="仿宋" pitchFamily="49" charset="-122"/>
                <a:cs typeface="Times New Roman" pitchFamily="18" charset="0"/>
              </a:rPr>
              <a:t>1</a:t>
            </a:r>
            <a:r>
              <a:rPr lang="zh-CN" altLang="en-US" sz="2400" b="1" dirty="0">
                <a:solidFill>
                  <a:srgbClr val="C00000"/>
                </a:solidFill>
                <a:latin typeface="仿宋" pitchFamily="49" charset="-122"/>
                <a:ea typeface="仿宋" pitchFamily="49" charset="-122"/>
                <a:cs typeface="Times New Roman" pitchFamily="18" charset="0"/>
              </a:rPr>
              <a:t>的情况</a:t>
            </a:r>
            <a:r>
              <a:rPr lang="en-US" altLang="zh-CN" sz="2400" b="1" dirty="0">
                <a:solidFill>
                  <a:srgbClr val="C00000"/>
                </a:solidFill>
                <a:latin typeface="仿宋" pitchFamily="49" charset="-122"/>
                <a:ea typeface="仿宋" pitchFamily="49" charset="-122"/>
                <a:cs typeface="Times New Roman" pitchFamily="18" charset="0"/>
              </a:rPr>
              <a:t>)</a:t>
            </a:r>
            <a:r>
              <a:rPr lang="zh-CN" altLang="en-US" sz="2400" b="1" dirty="0">
                <a:solidFill>
                  <a:srgbClr val="C00000"/>
                </a:solidFill>
                <a:latin typeface="仿宋" pitchFamily="49" charset="-122"/>
                <a:ea typeface="仿宋" pitchFamily="49" charset="-122"/>
                <a:cs typeface="Times New Roman" pitchFamily="18" charset="0"/>
              </a:rPr>
              <a:t>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直接连接符 2"/>
          <p:cNvSpPr>
            <a:spLocks noChangeShapeType="1"/>
          </p:cNvSpPr>
          <p:nvPr/>
        </p:nvSpPr>
        <p:spPr bwMode="auto">
          <a:xfrm rot="5400000">
            <a:off x="856482" y="305077"/>
            <a:ext cx="612775" cy="2625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31" name="直接连接符 3"/>
          <p:cNvSpPr>
            <a:spLocks noChangeShapeType="1"/>
          </p:cNvSpPr>
          <p:nvPr/>
        </p:nvSpPr>
        <p:spPr bwMode="auto">
          <a:xfrm rot="5400000">
            <a:off x="1033228" y="179526"/>
            <a:ext cx="360363" cy="1312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32" name="标题 1"/>
          <p:cNvSpPr>
            <a:spLocks noGrp="1" noChangeArrowheads="1"/>
          </p:cNvSpPr>
          <p:nvPr>
            <p:ph type="ctrTitle"/>
          </p:nvPr>
        </p:nvSpPr>
        <p:spPr bwMode="auto">
          <a:xfrm>
            <a:off x="1169433" y="50800"/>
            <a:ext cx="6805137" cy="50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/>
          </a:bodyPr>
          <a:lstStyle/>
          <a:p>
            <a:pPr marL="0" indent="0" eaLnBrk="1" hangingPunct="1"/>
            <a:r>
              <a:rPr lang="en-US" altLang="zh-CN" sz="3200" dirty="0"/>
              <a:t>2  </a:t>
            </a:r>
            <a:r>
              <a:rPr lang="zh-CN" altLang="en-US" sz="3200" dirty="0"/>
              <a:t>移位运算</a:t>
            </a:r>
          </a:p>
        </p:txBody>
      </p:sp>
      <p:sp>
        <p:nvSpPr>
          <p:cNvPr id="22533" name="Text Box 15"/>
          <p:cNvSpPr txBox="1">
            <a:spLocks noChangeArrowheads="1"/>
          </p:cNvSpPr>
          <p:nvPr/>
        </p:nvSpPr>
        <p:spPr bwMode="auto">
          <a:xfrm>
            <a:off x="964649" y="5064125"/>
            <a:ext cx="3024505" cy="1588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endParaRPr lang="en-US" altLang="zh-CN" sz="2000" b="1">
              <a:solidFill>
                <a:srgbClr val="FFFFFF"/>
              </a:solidFill>
            </a:endParaRPr>
          </a:p>
        </p:txBody>
      </p:sp>
      <p:sp>
        <p:nvSpPr>
          <p:cNvPr id="9" name="Rectangle 20"/>
          <p:cNvSpPr>
            <a:spLocks noChangeArrowheads="1"/>
          </p:cNvSpPr>
          <p:nvPr/>
        </p:nvSpPr>
        <p:spPr bwMode="auto">
          <a:xfrm>
            <a:off x="964648" y="698500"/>
            <a:ext cx="6994168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hangingPunct="0"/>
            <a:r>
              <a:rPr lang="zh-CN" altLang="en-US" sz="20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（</a:t>
            </a:r>
            <a:r>
              <a:rPr lang="en-US" altLang="zh-CN" sz="20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2</a:t>
            </a:r>
            <a:r>
              <a:rPr lang="zh-CN" altLang="en-US" sz="20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）右移运算符“</a:t>
            </a:r>
            <a:r>
              <a:rPr lang="en-US" altLang="zh-CN" sz="20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&gt;&gt;”</a:t>
            </a:r>
          </a:p>
        </p:txBody>
      </p:sp>
      <p:sp>
        <p:nvSpPr>
          <p:cNvPr id="22535" name="Rectangle 5"/>
          <p:cNvSpPr>
            <a:spLocks noChangeArrowheads="1"/>
          </p:cNvSpPr>
          <p:nvPr/>
        </p:nvSpPr>
        <p:spPr bwMode="auto">
          <a:xfrm>
            <a:off x="1036230" y="1170513"/>
            <a:ext cx="7132003" cy="34261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06000" tIns="190800" bIns="190800" anchor="ctr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  <a:buSzPct val="100000"/>
            </a:pPr>
            <a:r>
              <a:rPr lang="zh-CN" altLang="en-US" sz="2000" b="1" dirty="0">
                <a:latin typeface="仿宋" pitchFamily="49" charset="-122"/>
                <a:ea typeface="仿宋" pitchFamily="49" charset="-122"/>
              </a:rPr>
              <a:t>用来将一个数的各二进制位</a:t>
            </a:r>
            <a:r>
              <a:rPr lang="zh-CN" altLang="en-US" sz="2000" b="1" dirty="0">
                <a:solidFill>
                  <a:srgbClr val="FF0000"/>
                </a:solidFill>
                <a:latin typeface="仿宋" pitchFamily="49" charset="-122"/>
                <a:ea typeface="仿宋" pitchFamily="49" charset="-122"/>
              </a:rPr>
              <a:t>右移若干位</a:t>
            </a:r>
            <a:r>
              <a:rPr lang="en-US" altLang="zh-CN" sz="2000" b="1" dirty="0">
                <a:latin typeface="仿宋" pitchFamily="49" charset="-122"/>
                <a:ea typeface="仿宋" pitchFamily="49" charset="-122"/>
              </a:rPr>
              <a:t>,</a:t>
            </a:r>
            <a:r>
              <a:rPr lang="zh-CN" altLang="en-US" sz="2000" b="1" dirty="0">
                <a:latin typeface="仿宋" pitchFamily="49" charset="-122"/>
                <a:ea typeface="仿宋" pitchFamily="49" charset="-122"/>
              </a:rPr>
              <a:t>移动的位数由表达式</a:t>
            </a:r>
            <a:r>
              <a:rPr lang="en-US" altLang="zh-CN" sz="2000" b="1" dirty="0">
                <a:latin typeface="仿宋" pitchFamily="49" charset="-122"/>
                <a:ea typeface="仿宋" pitchFamily="49" charset="-122"/>
              </a:rPr>
              <a:t>2(</a:t>
            </a:r>
            <a:r>
              <a:rPr lang="zh-CN" altLang="en-US" sz="2000" b="1" dirty="0">
                <a:latin typeface="仿宋" pitchFamily="49" charset="-122"/>
                <a:ea typeface="仿宋" pitchFamily="49" charset="-122"/>
              </a:rPr>
              <a:t>必须非负</a:t>
            </a:r>
            <a:r>
              <a:rPr lang="en-US" altLang="zh-CN" sz="2000" b="1" dirty="0">
                <a:latin typeface="仿宋" pitchFamily="49" charset="-122"/>
                <a:ea typeface="仿宋" pitchFamily="49" charset="-122"/>
              </a:rPr>
              <a:t>)</a:t>
            </a:r>
            <a:r>
              <a:rPr lang="zh-CN" altLang="en-US" sz="2000" b="1" dirty="0">
                <a:latin typeface="仿宋" pitchFamily="49" charset="-122"/>
                <a:ea typeface="仿宋" pitchFamily="49" charset="-122"/>
              </a:rPr>
              <a:t>指定</a:t>
            </a:r>
            <a:r>
              <a:rPr lang="en-US" altLang="zh-CN" sz="2000" b="1" dirty="0">
                <a:latin typeface="仿宋" pitchFamily="49" charset="-122"/>
                <a:ea typeface="仿宋" pitchFamily="49" charset="-122"/>
              </a:rPr>
              <a:t>,</a:t>
            </a:r>
            <a:r>
              <a:rPr lang="zh-CN" altLang="en-US" sz="2000" b="1" dirty="0">
                <a:latin typeface="仿宋" pitchFamily="49" charset="-122"/>
                <a:ea typeface="仿宋" pitchFamily="49" charset="-122"/>
              </a:rPr>
              <a:t>移到</a:t>
            </a:r>
            <a:r>
              <a:rPr lang="zh-CN" altLang="en-US" sz="2000" b="1" dirty="0">
                <a:solidFill>
                  <a:srgbClr val="FF0000"/>
                </a:solidFill>
                <a:latin typeface="仿宋" pitchFamily="49" charset="-122"/>
                <a:ea typeface="仿宋" pitchFamily="49" charset="-122"/>
              </a:rPr>
              <a:t>右端的低位被舍弃</a:t>
            </a:r>
            <a:r>
              <a:rPr lang="zh-CN" altLang="en-US" sz="2000" b="1" dirty="0">
                <a:latin typeface="仿宋" pitchFamily="49" charset="-122"/>
                <a:ea typeface="仿宋" pitchFamily="49" charset="-122"/>
              </a:rPr>
              <a:t>。</a:t>
            </a:r>
            <a:endParaRPr lang="en-US" altLang="zh-CN" sz="2000" b="1" dirty="0">
              <a:latin typeface="仿宋" pitchFamily="49" charset="-122"/>
              <a:ea typeface="仿宋" pitchFamily="49" charset="-122"/>
            </a:endParaRPr>
          </a:p>
          <a:p>
            <a:pPr marL="342900" indent="-342900">
              <a:lnSpc>
                <a:spcPct val="120000"/>
              </a:lnSpc>
              <a:spcBef>
                <a:spcPct val="50000"/>
              </a:spcBef>
              <a:buSzPct val="100000"/>
              <a:buFont typeface="Wingdings" pitchFamily="2" charset="2"/>
              <a:buChar char="Ø"/>
            </a:pPr>
            <a:r>
              <a:rPr lang="zh-CN" altLang="en-US" sz="2000" b="1" dirty="0">
                <a:latin typeface="仿宋" pitchFamily="49" charset="-122"/>
                <a:ea typeface="仿宋" pitchFamily="49" charset="-122"/>
              </a:rPr>
              <a:t>对无符号数</a:t>
            </a:r>
            <a:r>
              <a:rPr lang="en-US" altLang="zh-CN" sz="2000" b="1" dirty="0">
                <a:latin typeface="仿宋" pitchFamily="49" charset="-122"/>
                <a:ea typeface="仿宋" pitchFamily="49" charset="-122"/>
              </a:rPr>
              <a:t>,</a:t>
            </a:r>
            <a:r>
              <a:rPr lang="zh-CN" altLang="en-US" sz="2000" b="1" dirty="0">
                <a:latin typeface="仿宋" pitchFamily="49" charset="-122"/>
                <a:ea typeface="仿宋" pitchFamily="49" charset="-122"/>
              </a:rPr>
              <a:t>高位补</a:t>
            </a:r>
            <a:r>
              <a:rPr lang="en-US" altLang="zh-CN" sz="2000" b="1" dirty="0">
                <a:latin typeface="仿宋" pitchFamily="49" charset="-122"/>
                <a:ea typeface="仿宋" pitchFamily="49" charset="-122"/>
              </a:rPr>
              <a:t>0</a:t>
            </a:r>
            <a:r>
              <a:rPr lang="zh-CN" altLang="en-US" sz="2000" b="1" dirty="0">
                <a:latin typeface="仿宋" pitchFamily="49" charset="-122"/>
                <a:ea typeface="仿宋" pitchFamily="49" charset="-122"/>
              </a:rPr>
              <a:t>。</a:t>
            </a:r>
            <a:endParaRPr lang="en-US" altLang="zh-CN" sz="2000" b="1" dirty="0">
              <a:latin typeface="仿宋" pitchFamily="49" charset="-122"/>
              <a:ea typeface="仿宋" pitchFamily="49" charset="-122"/>
            </a:endParaRPr>
          </a:p>
          <a:p>
            <a:pPr marL="342900" indent="-342900">
              <a:lnSpc>
                <a:spcPct val="120000"/>
              </a:lnSpc>
              <a:spcBef>
                <a:spcPct val="50000"/>
              </a:spcBef>
              <a:buSzPct val="100000"/>
              <a:buFont typeface="Wingdings" pitchFamily="2" charset="2"/>
              <a:buChar char="Ø"/>
            </a:pPr>
            <a:r>
              <a:rPr lang="zh-CN" altLang="en-US" sz="2000" b="1" dirty="0">
                <a:latin typeface="仿宋" pitchFamily="49" charset="-122"/>
                <a:ea typeface="仿宋" pitchFamily="49" charset="-122"/>
              </a:rPr>
              <a:t>对有符号数</a:t>
            </a:r>
            <a:r>
              <a:rPr lang="en-US" altLang="zh-CN" sz="2000" b="1" dirty="0">
                <a:latin typeface="仿宋" pitchFamily="49" charset="-122"/>
                <a:ea typeface="仿宋" pitchFamily="49" charset="-122"/>
              </a:rPr>
              <a:t>,</a:t>
            </a:r>
          </a:p>
          <a:p>
            <a:pPr marL="800100" lvl="1" indent="-342900">
              <a:lnSpc>
                <a:spcPct val="120000"/>
              </a:lnSpc>
              <a:spcBef>
                <a:spcPct val="50000"/>
              </a:spcBef>
              <a:buSzPct val="100000"/>
              <a:buFont typeface="Wingdings" pitchFamily="2" charset="2"/>
              <a:buChar char="ü"/>
            </a:pPr>
            <a:r>
              <a:rPr lang="zh-CN" altLang="en-US" sz="2000" b="1" dirty="0">
                <a:solidFill>
                  <a:srgbClr val="FF0000"/>
                </a:solidFill>
                <a:latin typeface="仿宋" pitchFamily="49" charset="-122"/>
                <a:ea typeface="仿宋" pitchFamily="49" charset="-122"/>
              </a:rPr>
              <a:t>一些机器用符号位填补</a:t>
            </a:r>
            <a:r>
              <a:rPr lang="en-US" altLang="zh-CN" sz="2000" b="1" dirty="0">
                <a:solidFill>
                  <a:srgbClr val="FF0000"/>
                </a:solidFill>
                <a:latin typeface="仿宋" pitchFamily="49" charset="-122"/>
                <a:ea typeface="仿宋" pitchFamily="49" charset="-122"/>
              </a:rPr>
              <a:t>(</a:t>
            </a:r>
            <a:r>
              <a:rPr lang="zh-CN" altLang="en-US" sz="2400" b="1" dirty="0">
                <a:solidFill>
                  <a:srgbClr val="FF0000"/>
                </a:solidFill>
                <a:latin typeface="仿宋" pitchFamily="49" charset="-122"/>
                <a:ea typeface="仿宋" pitchFamily="49" charset="-122"/>
              </a:rPr>
              <a:t>称算术移位</a:t>
            </a:r>
            <a:r>
              <a:rPr lang="en-US" altLang="zh-CN" sz="2000" b="1" dirty="0">
                <a:solidFill>
                  <a:srgbClr val="FF0000"/>
                </a:solidFill>
                <a:latin typeface="仿宋" pitchFamily="49" charset="-122"/>
                <a:ea typeface="仿宋" pitchFamily="49" charset="-122"/>
              </a:rPr>
              <a:t>)</a:t>
            </a:r>
          </a:p>
          <a:p>
            <a:pPr marL="800100" lvl="1" indent="-342900">
              <a:lnSpc>
                <a:spcPct val="120000"/>
              </a:lnSpc>
              <a:spcBef>
                <a:spcPct val="50000"/>
              </a:spcBef>
              <a:buSzPct val="100000"/>
              <a:buFont typeface="Wingdings" pitchFamily="2" charset="2"/>
              <a:buChar char="ü"/>
            </a:pPr>
            <a:r>
              <a:rPr lang="zh-CN" altLang="en-US" sz="2000" b="1" dirty="0">
                <a:solidFill>
                  <a:srgbClr val="FF0000"/>
                </a:solidFill>
                <a:latin typeface="仿宋" pitchFamily="49" charset="-122"/>
                <a:ea typeface="仿宋" pitchFamily="49" charset="-122"/>
              </a:rPr>
              <a:t>一些机器用</a:t>
            </a:r>
            <a:r>
              <a:rPr lang="en-US" altLang="zh-CN" sz="2000" b="1" dirty="0">
                <a:solidFill>
                  <a:srgbClr val="FF0000"/>
                </a:solidFill>
                <a:latin typeface="仿宋" pitchFamily="49" charset="-122"/>
                <a:ea typeface="仿宋" pitchFamily="49" charset="-122"/>
              </a:rPr>
              <a:t>0</a:t>
            </a:r>
            <a:r>
              <a:rPr lang="zh-CN" altLang="en-US" sz="2000" b="1" dirty="0">
                <a:solidFill>
                  <a:srgbClr val="FF0000"/>
                </a:solidFill>
                <a:latin typeface="仿宋" pitchFamily="49" charset="-122"/>
                <a:ea typeface="仿宋" pitchFamily="49" charset="-122"/>
              </a:rPr>
              <a:t>填补</a:t>
            </a:r>
            <a:r>
              <a:rPr lang="en-US" altLang="zh-CN" sz="2000" b="1" dirty="0">
                <a:solidFill>
                  <a:srgbClr val="FF0000"/>
                </a:solidFill>
                <a:latin typeface="仿宋" pitchFamily="49" charset="-122"/>
                <a:ea typeface="仿宋" pitchFamily="49" charset="-122"/>
              </a:rPr>
              <a:t>(</a:t>
            </a:r>
            <a:r>
              <a:rPr lang="zh-CN" altLang="en-US" sz="2000" b="1" dirty="0">
                <a:solidFill>
                  <a:srgbClr val="FF0000"/>
                </a:solidFill>
                <a:latin typeface="仿宋" pitchFamily="49" charset="-122"/>
                <a:ea typeface="仿宋" pitchFamily="49" charset="-122"/>
              </a:rPr>
              <a:t>称</a:t>
            </a:r>
            <a:r>
              <a:rPr lang="zh-CN" altLang="en-US" sz="2400" b="1" dirty="0">
                <a:solidFill>
                  <a:srgbClr val="FF0000"/>
                </a:solidFill>
                <a:latin typeface="仿宋" pitchFamily="49" charset="-122"/>
                <a:ea typeface="仿宋" pitchFamily="49" charset="-122"/>
              </a:rPr>
              <a:t>逻辑移位</a:t>
            </a:r>
            <a:r>
              <a:rPr lang="en-US" altLang="zh-CN" sz="2400" b="1" dirty="0">
                <a:solidFill>
                  <a:srgbClr val="FF0000"/>
                </a:solidFill>
                <a:latin typeface="仿宋" pitchFamily="49" charset="-122"/>
                <a:ea typeface="仿宋" pitchFamily="49" charset="-122"/>
              </a:rPr>
              <a:t>,</a:t>
            </a:r>
            <a:r>
              <a:rPr lang="zh-CN" altLang="en-US" sz="2400" b="1" dirty="0">
                <a:solidFill>
                  <a:srgbClr val="FF0000"/>
                </a:solidFill>
                <a:latin typeface="仿宋" pitchFamily="49" charset="-122"/>
                <a:ea typeface="仿宋" pitchFamily="49" charset="-122"/>
              </a:rPr>
              <a:t>也称简单移位</a:t>
            </a:r>
            <a:r>
              <a:rPr lang="en-US" altLang="zh-CN" sz="2000" b="1" dirty="0">
                <a:solidFill>
                  <a:srgbClr val="FF0000"/>
                </a:solidFill>
                <a:latin typeface="仿宋" pitchFamily="49" charset="-122"/>
                <a:ea typeface="仿宋" pitchFamily="49" charset="-122"/>
              </a:rPr>
              <a:t>)</a:t>
            </a:r>
            <a:r>
              <a:rPr lang="zh-CN" altLang="en-US" sz="2000" b="1" dirty="0">
                <a:solidFill>
                  <a:srgbClr val="FF0000"/>
                </a:solidFill>
                <a:latin typeface="仿宋" pitchFamily="49" charset="-122"/>
                <a:ea typeface="仿宋" pitchFamily="49" charset="-122"/>
              </a:rPr>
              <a:t>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直接连接符 2"/>
          <p:cNvSpPr>
            <a:spLocks noChangeShapeType="1"/>
          </p:cNvSpPr>
          <p:nvPr/>
        </p:nvSpPr>
        <p:spPr bwMode="auto">
          <a:xfrm rot="5400000">
            <a:off x="856482" y="305077"/>
            <a:ext cx="612775" cy="2625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31" name="直接连接符 3"/>
          <p:cNvSpPr>
            <a:spLocks noChangeShapeType="1"/>
          </p:cNvSpPr>
          <p:nvPr/>
        </p:nvSpPr>
        <p:spPr bwMode="auto">
          <a:xfrm rot="5400000">
            <a:off x="1033228" y="179526"/>
            <a:ext cx="360363" cy="1312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32" name="标题 1"/>
          <p:cNvSpPr>
            <a:spLocks noGrp="1" noChangeArrowheads="1"/>
          </p:cNvSpPr>
          <p:nvPr>
            <p:ph type="ctrTitle"/>
          </p:nvPr>
        </p:nvSpPr>
        <p:spPr bwMode="auto">
          <a:xfrm>
            <a:off x="1169433" y="50800"/>
            <a:ext cx="6805137" cy="50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/>
          </a:bodyPr>
          <a:lstStyle/>
          <a:p>
            <a:pPr marL="0" indent="0" eaLnBrk="1" hangingPunct="1"/>
            <a:r>
              <a:rPr lang="en-US" altLang="zh-CN" sz="3200" dirty="0"/>
              <a:t>2  </a:t>
            </a:r>
            <a:r>
              <a:rPr lang="zh-CN" altLang="en-US" sz="3200" dirty="0"/>
              <a:t>移位运算</a:t>
            </a:r>
          </a:p>
        </p:txBody>
      </p:sp>
      <p:sp>
        <p:nvSpPr>
          <p:cNvPr id="22533" name="Text Box 15"/>
          <p:cNvSpPr txBox="1">
            <a:spLocks noChangeArrowheads="1"/>
          </p:cNvSpPr>
          <p:nvPr/>
        </p:nvSpPr>
        <p:spPr bwMode="auto">
          <a:xfrm>
            <a:off x="964649" y="5064125"/>
            <a:ext cx="3024505" cy="1588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endParaRPr lang="en-US" altLang="zh-CN" sz="2000" b="1">
              <a:solidFill>
                <a:srgbClr val="FFFFFF"/>
              </a:solidFill>
            </a:endParaRPr>
          </a:p>
        </p:txBody>
      </p:sp>
      <p:sp>
        <p:nvSpPr>
          <p:cNvPr id="9" name="Rectangle 20"/>
          <p:cNvSpPr>
            <a:spLocks noChangeArrowheads="1"/>
          </p:cNvSpPr>
          <p:nvPr/>
        </p:nvSpPr>
        <p:spPr bwMode="auto">
          <a:xfrm>
            <a:off x="964648" y="698500"/>
            <a:ext cx="6994168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hangingPunct="0"/>
            <a:r>
              <a:rPr lang="zh-CN" altLang="en-US" sz="2000" b="1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（</a:t>
            </a:r>
            <a:r>
              <a:rPr lang="en-US" altLang="zh-CN" sz="2000" b="1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2</a:t>
            </a:r>
            <a:r>
              <a:rPr lang="zh-CN" altLang="en-US" sz="2000" b="1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）右移运算符“</a:t>
            </a:r>
            <a:r>
              <a:rPr lang="en-US" altLang="zh-CN" sz="2000" b="1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&gt;&gt;”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F73E23F-E03C-42DD-B513-686FD7FBF7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558" y="3436146"/>
            <a:ext cx="4305901" cy="1495634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0FFAB6BB-5E49-4EDB-91B3-83572A1F646C}"/>
              </a:ext>
            </a:extLst>
          </p:cNvPr>
          <p:cNvSpPr txBox="1"/>
          <p:nvPr/>
        </p:nvSpPr>
        <p:spPr>
          <a:xfrm>
            <a:off x="1238096" y="1184273"/>
            <a:ext cx="710527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#include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400" dirty="0">
                <a:solidFill>
                  <a:srgbClr val="A3151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&lt;</a:t>
            </a:r>
            <a:r>
              <a:rPr lang="en-US" altLang="zh-CN" sz="2400" dirty="0" err="1">
                <a:solidFill>
                  <a:srgbClr val="A3151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stdio.h</a:t>
            </a:r>
            <a:r>
              <a:rPr lang="en-US" altLang="zh-CN" sz="2400" dirty="0">
                <a:solidFill>
                  <a:srgbClr val="A3151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&gt;</a:t>
            </a:r>
            <a:endParaRPr lang="en-US" altLang="zh-CN" sz="24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main ( )</a:t>
            </a:r>
          </a:p>
          <a:p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{  </a:t>
            </a:r>
          </a:p>
          <a:p>
            <a:r>
              <a:rPr lang="en-US" altLang="zh-CN" sz="24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short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x=0x900a,y=0x600a;</a:t>
            </a:r>
          </a:p>
          <a:p>
            <a:r>
              <a:rPr lang="en-US" altLang="zh-CN" sz="2400" dirty="0" err="1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printf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en-US" altLang="zh-CN" sz="2400" dirty="0">
                <a:solidFill>
                  <a:srgbClr val="A3151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"%</a:t>
            </a:r>
            <a:r>
              <a:rPr lang="en-US" altLang="zh-CN" sz="2400" dirty="0" err="1">
                <a:solidFill>
                  <a:srgbClr val="A3151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hx,%hx</a:t>
            </a:r>
            <a:r>
              <a:rPr lang="en-US" altLang="zh-CN" sz="2400" dirty="0">
                <a:solidFill>
                  <a:srgbClr val="A3151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\</a:t>
            </a:r>
            <a:r>
              <a:rPr lang="en-US" altLang="zh-CN" sz="2400" dirty="0" err="1">
                <a:solidFill>
                  <a:srgbClr val="A3151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n"</a:t>
            </a:r>
            <a:r>
              <a:rPr lang="en-US" altLang="zh-CN" sz="2400" dirty="0" err="1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,x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&gt;&gt;2,y&gt;&gt;2);</a:t>
            </a:r>
          </a:p>
          <a:p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}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76104E3-7AE4-462F-A3DC-A918B1F904C5}"/>
              </a:ext>
            </a:extLst>
          </p:cNvPr>
          <p:cNvSpPr txBox="1"/>
          <p:nvPr/>
        </p:nvSpPr>
        <p:spPr>
          <a:xfrm>
            <a:off x="3801081" y="1621016"/>
            <a:ext cx="53304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//x=1001000000001010  y=0110000000001010</a:t>
            </a:r>
            <a:endParaRPr lang="en-US" altLang="zh-CN" sz="18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s-ES" altLang="zh-CN" sz="1800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//1110 0100 0000 0010 y=0001 1000 0000 0010</a:t>
            </a:r>
            <a:endParaRPr lang="es-ES" altLang="zh-CN" sz="18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85030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>
            <p:custDataLst>
              <p:tags r:id="rId2"/>
            </p:custDataLst>
          </p:nvPr>
        </p:nvSpPr>
        <p:spPr>
          <a:xfrm>
            <a:off x="1843639" y="552055"/>
            <a:ext cx="6185945" cy="2812059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400" dirty="0">
                <a:latin typeface="Microsoft Yahei"/>
                <a:ea typeface="Microsoft Yahei"/>
                <a:sym typeface="Microsoft Yahei"/>
              </a:rPr>
              <a:t>#include &lt;stdio.h&gt;</a:t>
            </a:r>
          </a:p>
          <a:p>
            <a:r>
              <a:rPr lang="en-US" altLang="zh-CN" sz="2400" dirty="0">
                <a:latin typeface="Microsoft Yahei"/>
                <a:ea typeface="Microsoft Yahei"/>
                <a:sym typeface="Microsoft Yahei"/>
              </a:rPr>
              <a:t>main()</a:t>
            </a:r>
          </a:p>
          <a:p>
            <a:r>
              <a:rPr lang="en-US" altLang="zh-CN" sz="2400" dirty="0">
                <a:latin typeface="Microsoft Yahei"/>
                <a:ea typeface="Microsoft Yahei"/>
                <a:sym typeface="Microsoft Yahei"/>
              </a:rPr>
              <a:t>{</a:t>
            </a:r>
          </a:p>
          <a:p>
            <a:r>
              <a:rPr lang="en-US" altLang="zh-CN" sz="2400" dirty="0">
                <a:latin typeface="Microsoft Yahei"/>
                <a:ea typeface="Microsoft Yahei"/>
                <a:sym typeface="Microsoft Yahei"/>
              </a:rPr>
              <a:t>  char </a:t>
            </a:r>
            <a:r>
              <a:rPr lang="en-US" altLang="zh-CN" sz="2400" dirty="0" err="1">
                <a:latin typeface="Microsoft Yahei"/>
                <a:ea typeface="Microsoft Yahei"/>
                <a:sym typeface="Microsoft Yahei"/>
              </a:rPr>
              <a:t>a,b,c</a:t>
            </a:r>
            <a:r>
              <a:rPr lang="en-US" altLang="zh-CN" sz="2400" dirty="0">
                <a:latin typeface="Microsoft Yahei"/>
                <a:ea typeface="Microsoft Yahei"/>
                <a:sym typeface="Microsoft Yahei"/>
              </a:rPr>
              <a:t>;       </a:t>
            </a:r>
          </a:p>
          <a:p>
            <a:r>
              <a:rPr lang="en-US" altLang="zh-CN" sz="2400" dirty="0">
                <a:latin typeface="Microsoft Yahei"/>
                <a:ea typeface="Microsoft Yahei"/>
                <a:sym typeface="Microsoft Yahei"/>
              </a:rPr>
              <a:t>  a=0x3;b=a|0x8;c=b&lt;&lt;1;</a:t>
            </a:r>
          </a:p>
          <a:p>
            <a:r>
              <a:rPr lang="en-US" altLang="zh-CN" sz="2400" dirty="0">
                <a:latin typeface="Microsoft Yahei"/>
                <a:ea typeface="Microsoft Yahei"/>
                <a:sym typeface="Microsoft Yahei"/>
              </a:rPr>
              <a:t>  printf("%</a:t>
            </a:r>
            <a:r>
              <a:rPr lang="en-US" altLang="zh-CN" sz="2400" dirty="0" err="1">
                <a:latin typeface="Microsoft Yahei"/>
                <a:ea typeface="Microsoft Yahei"/>
                <a:sym typeface="Microsoft Yahei"/>
              </a:rPr>
              <a:t>d,%d</a:t>
            </a:r>
            <a:r>
              <a:rPr lang="en-US" altLang="zh-CN" sz="2400" dirty="0">
                <a:latin typeface="Microsoft Yahei"/>
                <a:ea typeface="Microsoft Yahei"/>
                <a:sym typeface="Microsoft Yahei"/>
              </a:rPr>
              <a:t>\n",</a:t>
            </a:r>
            <a:r>
              <a:rPr lang="en-US" altLang="zh-CN" sz="2400" dirty="0" err="1">
                <a:latin typeface="Microsoft Yahei"/>
                <a:ea typeface="Microsoft Yahei"/>
                <a:sym typeface="Microsoft Yahei"/>
              </a:rPr>
              <a:t>b,c</a:t>
            </a:r>
            <a:r>
              <a:rPr lang="en-US" altLang="zh-CN" sz="2400" dirty="0">
                <a:latin typeface="Microsoft Yahei"/>
                <a:ea typeface="Microsoft Yahei"/>
                <a:sym typeface="Microsoft Yahei"/>
              </a:rPr>
              <a:t>);</a:t>
            </a:r>
          </a:p>
          <a:p>
            <a:r>
              <a:rPr lang="en-US" altLang="zh-CN" sz="2400" dirty="0">
                <a:latin typeface="Microsoft Yahei"/>
                <a:ea typeface="Microsoft Yahei"/>
                <a:sym typeface="Microsoft Yahei"/>
              </a:rPr>
              <a:t>}</a:t>
            </a:r>
          </a:p>
        </p:txBody>
      </p:sp>
      <p:sp>
        <p:nvSpPr>
          <p:cNvPr id="6" name="TextBox 5"/>
          <p:cNvSpPr txBox="1"/>
          <p:nvPr>
            <p:custDataLst>
              <p:tags r:id="rId3"/>
            </p:custDataLst>
          </p:nvPr>
        </p:nvSpPr>
        <p:spPr>
          <a:xfrm>
            <a:off x="2265862" y="3463534"/>
            <a:ext cx="2772610" cy="482203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dirty="0">
                <a:latin typeface="Microsoft Yahei"/>
                <a:ea typeface="Microsoft Yahei"/>
                <a:sym typeface="Microsoft Yahei"/>
              </a:rPr>
              <a:t>-11,12</a:t>
            </a:r>
            <a:endParaRPr lang="zh-CN" altLang="en-US" sz="2600" dirty="0"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7" name="TextBox 6"/>
          <p:cNvSpPr txBox="1"/>
          <p:nvPr>
            <p:custDataLst>
              <p:tags r:id="rId4"/>
            </p:custDataLst>
          </p:nvPr>
        </p:nvSpPr>
        <p:spPr>
          <a:xfrm>
            <a:off x="2274396" y="4106472"/>
            <a:ext cx="2772610" cy="482203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dirty="0">
                <a:latin typeface="Microsoft Yahei"/>
                <a:ea typeface="Microsoft Yahei"/>
                <a:sym typeface="Microsoft Yahei"/>
              </a:rPr>
              <a:t>12 24</a:t>
            </a:r>
            <a:endParaRPr lang="zh-CN" altLang="en-US" sz="2600" dirty="0"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8" name="TextBox 7"/>
          <p:cNvSpPr txBox="1"/>
          <p:nvPr>
            <p:custDataLst>
              <p:tags r:id="rId5"/>
            </p:custDataLst>
          </p:nvPr>
        </p:nvSpPr>
        <p:spPr>
          <a:xfrm>
            <a:off x="5905271" y="3463535"/>
            <a:ext cx="2772610" cy="482203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dirty="0">
                <a:latin typeface="Microsoft Yahei"/>
                <a:ea typeface="Microsoft Yahei"/>
                <a:sym typeface="Microsoft Yahei"/>
              </a:rPr>
              <a:t>-6,-13</a:t>
            </a:r>
            <a:endParaRPr lang="zh-CN" altLang="en-US" sz="2600" dirty="0"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9" name="TextBox 8"/>
          <p:cNvSpPr txBox="1"/>
          <p:nvPr>
            <p:custDataLst>
              <p:tags r:id="rId6"/>
            </p:custDataLst>
          </p:nvPr>
        </p:nvSpPr>
        <p:spPr>
          <a:xfrm>
            <a:off x="5905271" y="4106472"/>
            <a:ext cx="2772610" cy="482203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dirty="0">
                <a:latin typeface="Microsoft Yahei"/>
                <a:ea typeface="Microsoft Yahei"/>
                <a:sym typeface="Microsoft Yahei"/>
              </a:rPr>
              <a:t>11 22</a:t>
            </a:r>
            <a:endParaRPr lang="zh-CN" altLang="en-US" sz="2800" dirty="0"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703453" y="3511755"/>
            <a:ext cx="385763" cy="385763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287856" y="3511754"/>
            <a:ext cx="385763" cy="385762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B</a:t>
            </a:r>
            <a:endParaRPr lang="zh-CN" altLang="en-US" sz="1600" dirty="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703452" y="4202912"/>
            <a:ext cx="385763" cy="385763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C</a:t>
            </a:r>
            <a:endParaRPr lang="zh-CN" altLang="en-US" sz="1600" dirty="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34328" y="4154692"/>
            <a:ext cx="385763" cy="385762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4" name="圆角矩形 13"/>
          <p:cNvSpPr/>
          <p:nvPr>
            <p:custDataLst>
              <p:tags r:id="rId11"/>
            </p:custDataLst>
          </p:nvPr>
        </p:nvSpPr>
        <p:spPr>
          <a:xfrm>
            <a:off x="6053455" y="4661297"/>
            <a:ext cx="1157288" cy="30861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提交</a:t>
            </a:r>
          </a:p>
        </p:txBody>
      </p: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7561263" cy="635000"/>
            <a:chOff x="-791370" y="0"/>
            <a:chExt cx="7561263" cy="635000"/>
          </a:xfrm>
        </p:grpSpPr>
        <p:sp>
          <p:nvSpPr>
            <p:cNvPr id="15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-791370" y="0"/>
              <a:ext cx="7561263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15"/>
              </p:custDataLst>
            </p:nvPr>
          </p:nvSpPr>
          <p:spPr>
            <a:xfrm>
              <a:off x="-79137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-53737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单选题</a:t>
              </a: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73453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分</a:t>
              </a: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878609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>
            <p:custDataLst>
              <p:tags r:id="rId2"/>
            </p:custDataLst>
          </p:nvPr>
        </p:nvSpPr>
        <p:spPr>
          <a:xfrm>
            <a:off x="1193674" y="1131090"/>
            <a:ext cx="7484207" cy="2919148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600" dirty="0">
                <a:latin typeface="Microsoft Yahei"/>
                <a:ea typeface="Microsoft Yahei"/>
                <a:sym typeface="Microsoft Yahei"/>
              </a:rPr>
              <a:t>设有</a:t>
            </a:r>
            <a:r>
              <a:rPr lang="en-US" altLang="zh-CN" sz="2600" dirty="0">
                <a:latin typeface="Microsoft Yahei"/>
                <a:ea typeface="Microsoft Yahei"/>
                <a:sym typeface="Microsoft Yahei"/>
              </a:rPr>
              <a:t>char a</a:t>
            </a:r>
            <a:r>
              <a:rPr lang="zh-CN" altLang="en-US" sz="2600" dirty="0">
                <a:latin typeface="Microsoft Yahei"/>
                <a:ea typeface="Microsoft Yahei"/>
                <a:sym typeface="Microsoft Yahei"/>
              </a:rPr>
              <a:t>，</a:t>
            </a:r>
            <a:r>
              <a:rPr lang="en-US" altLang="zh-CN" sz="2600" dirty="0">
                <a:latin typeface="Microsoft Yahei"/>
                <a:ea typeface="Microsoft Yahei"/>
                <a:sym typeface="Microsoft Yahei"/>
              </a:rPr>
              <a:t>b</a:t>
            </a:r>
            <a:r>
              <a:rPr lang="zh-CN" altLang="en-US" sz="2600" dirty="0">
                <a:latin typeface="Microsoft Yahei"/>
                <a:ea typeface="Microsoft Yahei"/>
                <a:sym typeface="Microsoft Yahei"/>
              </a:rPr>
              <a:t>；（一个字节，</a:t>
            </a:r>
            <a:r>
              <a:rPr lang="en-US" altLang="zh-CN" sz="2600" dirty="0">
                <a:solidFill>
                  <a:srgbClr val="FF0000"/>
                </a:solidFill>
                <a:latin typeface="Microsoft Yahei"/>
                <a:ea typeface="Microsoft Yahei"/>
                <a:sym typeface="Microsoft Yahei"/>
              </a:rPr>
              <a:t>a</a:t>
            </a:r>
            <a:r>
              <a:rPr lang="zh-CN" altLang="en-US" sz="2600" dirty="0">
                <a:solidFill>
                  <a:srgbClr val="FF0000"/>
                </a:solidFill>
                <a:latin typeface="Microsoft Yahei"/>
                <a:ea typeface="Microsoft Yahei"/>
                <a:sym typeface="Microsoft Yahei"/>
              </a:rPr>
              <a:t>和</a:t>
            </a:r>
            <a:r>
              <a:rPr lang="en-US" altLang="zh-CN" sz="2600" dirty="0">
                <a:solidFill>
                  <a:srgbClr val="FF0000"/>
                </a:solidFill>
                <a:latin typeface="Microsoft Yahei"/>
                <a:ea typeface="Microsoft Yahei"/>
                <a:sym typeface="Microsoft Yahei"/>
              </a:rPr>
              <a:t>b</a:t>
            </a:r>
            <a:r>
              <a:rPr lang="zh-CN" altLang="en-US" sz="2600" dirty="0">
                <a:solidFill>
                  <a:srgbClr val="FF0000"/>
                </a:solidFill>
                <a:latin typeface="Microsoft Yahei"/>
                <a:ea typeface="Microsoft Yahei"/>
                <a:sym typeface="Microsoft Yahei"/>
              </a:rPr>
              <a:t>是变量</a:t>
            </a:r>
            <a:r>
              <a:rPr lang="zh-CN" altLang="en-US" sz="2600" dirty="0">
                <a:latin typeface="Microsoft Yahei"/>
                <a:ea typeface="Microsoft Yahei"/>
                <a:sym typeface="Microsoft Yahei"/>
              </a:rPr>
              <a:t>）</a:t>
            </a:r>
            <a:endParaRPr lang="en-US" altLang="zh-CN" sz="2600" dirty="0">
              <a:latin typeface="Microsoft Yahei"/>
              <a:ea typeface="Microsoft Yahei"/>
              <a:sym typeface="Microsoft Yahei"/>
            </a:endParaRPr>
          </a:p>
          <a:p>
            <a:pPr>
              <a:lnSpc>
                <a:spcPct val="150000"/>
              </a:lnSpc>
            </a:pPr>
            <a:r>
              <a:rPr lang="zh-CN" altLang="en-US" sz="2600" dirty="0">
                <a:latin typeface="Microsoft Yahei"/>
                <a:ea typeface="Microsoft Yahei"/>
                <a:sym typeface="Microsoft Yahei"/>
              </a:rPr>
              <a:t>若要通过</a:t>
            </a:r>
            <a:r>
              <a:rPr lang="en-US" altLang="zh-CN" sz="2600" dirty="0" err="1">
                <a:latin typeface="Microsoft Yahei"/>
                <a:ea typeface="Microsoft Yahei"/>
                <a:sym typeface="Microsoft Yahei"/>
              </a:rPr>
              <a:t>a</a:t>
            </a:r>
            <a:r>
              <a:rPr lang="en-US" altLang="zh-CN" sz="26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/>
                <a:ea typeface="Microsoft Yahei"/>
                <a:sym typeface="Microsoft Yahei"/>
              </a:rPr>
              <a:t>&amp;</a:t>
            </a:r>
            <a:r>
              <a:rPr lang="en-US" altLang="zh-CN" sz="2600" dirty="0" err="1">
                <a:latin typeface="Microsoft Yahei"/>
                <a:ea typeface="Microsoft Yahei"/>
                <a:sym typeface="Microsoft Yahei"/>
              </a:rPr>
              <a:t>b</a:t>
            </a:r>
            <a:r>
              <a:rPr lang="zh-CN" altLang="en-US" sz="2600" dirty="0">
                <a:latin typeface="Microsoft Yahei"/>
                <a:ea typeface="Microsoft Yahei"/>
                <a:sym typeface="Microsoft Yahei"/>
              </a:rPr>
              <a:t>运算保留第</a:t>
            </a:r>
            <a:r>
              <a:rPr lang="en-US" altLang="zh-CN" sz="2600" dirty="0">
                <a:latin typeface="Microsoft Yahei"/>
                <a:ea typeface="Microsoft Yahei"/>
                <a:sym typeface="Microsoft Yahei"/>
              </a:rPr>
              <a:t>2</a:t>
            </a:r>
            <a:r>
              <a:rPr lang="zh-CN" altLang="en-US" sz="2600" dirty="0">
                <a:latin typeface="Microsoft Yahei"/>
                <a:ea typeface="Microsoft Yahei"/>
                <a:sym typeface="Microsoft Yahei"/>
              </a:rPr>
              <a:t>位和第</a:t>
            </a:r>
            <a:r>
              <a:rPr lang="en-US" altLang="zh-CN" sz="2600" dirty="0">
                <a:latin typeface="Microsoft Yahei"/>
                <a:ea typeface="Microsoft Yahei"/>
                <a:sym typeface="Microsoft Yahei"/>
              </a:rPr>
              <a:t>8</a:t>
            </a:r>
            <a:r>
              <a:rPr lang="zh-CN" altLang="en-US" sz="2600" dirty="0">
                <a:latin typeface="Microsoft Yahei"/>
                <a:ea typeface="Microsoft Yahei"/>
                <a:sym typeface="Microsoft Yahei"/>
              </a:rPr>
              <a:t>位</a:t>
            </a:r>
            <a:r>
              <a:rPr lang="en-US" altLang="zh-CN" sz="2600" dirty="0">
                <a:latin typeface="Microsoft Yahei"/>
                <a:ea typeface="Microsoft Yahei"/>
                <a:sym typeface="Microsoft Yahei"/>
              </a:rPr>
              <a:t>(</a:t>
            </a:r>
            <a:r>
              <a:rPr lang="zh-CN" altLang="en-US" sz="2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/>
                <a:ea typeface="Microsoft Yahei"/>
                <a:sym typeface="Microsoft Yahei"/>
              </a:rPr>
              <a:t>不变</a:t>
            </a:r>
            <a:r>
              <a:rPr lang="zh-CN" altLang="en-US" sz="2600" dirty="0">
                <a:latin typeface="Microsoft Yahei"/>
                <a:ea typeface="Microsoft Yahei"/>
                <a:sym typeface="Microsoft Yahei"/>
              </a:rPr>
              <a:t>，右起为第</a:t>
            </a:r>
            <a:r>
              <a:rPr lang="en-US" altLang="zh-CN" sz="2600" dirty="0">
                <a:latin typeface="Microsoft Yahei"/>
                <a:ea typeface="Microsoft Yahei"/>
                <a:sym typeface="Microsoft Yahei"/>
              </a:rPr>
              <a:t>1</a:t>
            </a:r>
            <a:r>
              <a:rPr lang="zh-CN" altLang="en-US" sz="2600" dirty="0">
                <a:latin typeface="Microsoft Yahei"/>
                <a:ea typeface="Microsoft Yahei"/>
                <a:sym typeface="Microsoft Yahei"/>
              </a:rPr>
              <a:t>位</a:t>
            </a:r>
            <a:r>
              <a:rPr lang="en-US" altLang="zh-CN" sz="2600" dirty="0">
                <a:latin typeface="Microsoft Yahei"/>
                <a:ea typeface="Microsoft Yahei"/>
                <a:sym typeface="Microsoft Yahei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zh-CN" altLang="en-US" sz="2600" dirty="0">
                <a:latin typeface="Microsoft Yahei"/>
                <a:ea typeface="Microsoft Yahei"/>
                <a:sym typeface="Microsoft Yahei"/>
              </a:rPr>
              <a:t>屏蔽掉</a:t>
            </a:r>
            <a:r>
              <a:rPr lang="en-US" altLang="zh-CN" sz="2600" dirty="0">
                <a:latin typeface="Microsoft Yahei"/>
                <a:ea typeface="Microsoft Yahei"/>
                <a:sym typeface="Microsoft Yahei"/>
              </a:rPr>
              <a:t>a</a:t>
            </a:r>
            <a:r>
              <a:rPr lang="zh-CN" altLang="en-US" sz="2600" dirty="0">
                <a:latin typeface="Microsoft Yahei"/>
                <a:ea typeface="Microsoft Yahei"/>
                <a:sym typeface="Microsoft Yahei"/>
              </a:rPr>
              <a:t>中的其它位</a:t>
            </a:r>
            <a:r>
              <a:rPr lang="en-US" altLang="zh-CN" sz="2600" dirty="0">
                <a:latin typeface="Microsoft Yahei"/>
                <a:ea typeface="Microsoft Yahei"/>
                <a:sym typeface="Microsoft Yahei"/>
              </a:rPr>
              <a:t>(</a:t>
            </a:r>
            <a:r>
              <a:rPr lang="zh-CN" altLang="en-US" sz="2600" dirty="0">
                <a:solidFill>
                  <a:srgbClr val="FF0000"/>
                </a:solidFill>
                <a:latin typeface="Microsoft Yahei"/>
                <a:ea typeface="Microsoft Yahei"/>
                <a:sym typeface="Microsoft Yahei"/>
              </a:rPr>
              <a:t>置</a:t>
            </a:r>
            <a:r>
              <a:rPr lang="en-US" altLang="zh-CN" sz="2600" dirty="0">
                <a:solidFill>
                  <a:srgbClr val="FF0000"/>
                </a:solidFill>
                <a:latin typeface="Microsoft Yahei"/>
                <a:ea typeface="Microsoft Yahei"/>
                <a:sym typeface="Microsoft Yahei"/>
              </a:rPr>
              <a:t>0</a:t>
            </a:r>
            <a:r>
              <a:rPr lang="zh-CN" altLang="en-US" sz="2600" dirty="0">
                <a:latin typeface="Microsoft Yahei"/>
                <a:ea typeface="Microsoft Yahei"/>
                <a:sym typeface="Microsoft Yahei"/>
              </a:rPr>
              <a:t>）。</a:t>
            </a:r>
            <a:endParaRPr lang="en-US" altLang="zh-CN" sz="2600" dirty="0">
              <a:latin typeface="Microsoft Yahei"/>
              <a:ea typeface="Microsoft Yahei"/>
              <a:sym typeface="Microsoft Yahei"/>
            </a:endParaRPr>
          </a:p>
          <a:p>
            <a:pPr>
              <a:lnSpc>
                <a:spcPct val="150000"/>
              </a:lnSpc>
            </a:pPr>
            <a:r>
              <a:rPr lang="zh-CN" altLang="en-US" sz="2600" dirty="0">
                <a:latin typeface="Microsoft Yahei"/>
                <a:ea typeface="Microsoft Yahei"/>
                <a:sym typeface="Microsoft Yahei"/>
              </a:rPr>
              <a:t>则</a:t>
            </a:r>
            <a:r>
              <a:rPr lang="en-US" altLang="zh-CN" sz="2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/>
                <a:ea typeface="Microsoft Yahei"/>
                <a:sym typeface="Microsoft Yahei"/>
              </a:rPr>
              <a:t>b</a:t>
            </a:r>
            <a:r>
              <a:rPr lang="zh-CN" altLang="en-US" sz="2600" dirty="0">
                <a:latin typeface="Microsoft Yahei"/>
                <a:ea typeface="Microsoft Yahei"/>
                <a:sym typeface="Microsoft Yahei"/>
              </a:rPr>
              <a:t>的二进制是</a:t>
            </a:r>
            <a:r>
              <a:rPr lang="zh-CN" altLang="en-US" sz="2600" dirty="0">
                <a:solidFill>
                  <a:srgbClr val="639EF4"/>
                </a:solidFill>
                <a:latin typeface="Microsoft Yahei"/>
                <a:ea typeface="Microsoft Yahei"/>
                <a:sym typeface="Microsoft Yahei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Microsoft Yahei"/>
                <a:ea typeface="Microsoft Yahei"/>
                <a:sym typeface="Microsoft Yahei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Microsoft Yahei"/>
                <a:ea typeface="Microsoft Yahei"/>
                <a:sym typeface="Microsoft Yahei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Microsoft Yahei"/>
                <a:ea typeface="Microsoft Yahei"/>
                <a:sym typeface="Microsoft Yahei"/>
              </a:rPr>
              <a:t>1]</a:t>
            </a:r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 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4" name="圆角矩形 3"/>
          <p:cNvSpPr/>
          <p:nvPr>
            <p:custDataLst>
              <p:tags r:id="rId3"/>
            </p:custDataLst>
          </p:nvPr>
        </p:nvSpPr>
        <p:spPr>
          <a:xfrm>
            <a:off x="6053455" y="4661297"/>
            <a:ext cx="1157288" cy="30861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作答</a:t>
            </a: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791370" y="4358847"/>
            <a:ext cx="7561263" cy="302451"/>
          </a:xfrm>
          <a:prstGeom prst="rect">
            <a:avLst/>
          </a:prstGeom>
          <a:solidFill>
            <a:srgbClr val="FBFAEF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992">
                <a:solidFill>
                  <a:srgbClr val="F84F41"/>
                </a:solidFill>
                <a:latin typeface="Microsoft Yahei"/>
                <a:ea typeface="Microsoft Yahei"/>
                <a:sym typeface="Microsoft Yahei"/>
              </a:rPr>
              <a:t>正常使用填空题需</a:t>
            </a:r>
            <a:r>
              <a:rPr lang="en-US" altLang="zh-CN" sz="992">
                <a:solidFill>
                  <a:srgbClr val="F84F41"/>
                </a:solidFill>
                <a:latin typeface="Microsoft Yahei"/>
                <a:ea typeface="Microsoft Yahei"/>
                <a:sym typeface="Microsoft Yahei"/>
              </a:rPr>
              <a:t>3.0</a:t>
            </a:r>
            <a:r>
              <a:rPr lang="zh-CN" altLang="en-US" sz="992">
                <a:solidFill>
                  <a:srgbClr val="F84F41"/>
                </a:solidFill>
                <a:latin typeface="Microsoft Yahei"/>
                <a:ea typeface="Microsoft Yahei"/>
                <a:sym typeface="Microsoft Yahei"/>
              </a:rPr>
              <a:t>以上版本雨课堂</a:t>
            </a:r>
          </a:p>
        </p:txBody>
      </p:sp>
      <p:grpSp>
        <p:nvGrpSpPr>
          <p:cNvPr id="9" name="组合 8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7561263" cy="635000"/>
            <a:chOff x="-791370" y="0"/>
            <a:chExt cx="7561263" cy="635000"/>
          </a:xfrm>
        </p:grpSpPr>
        <p:sp>
          <p:nvSpPr>
            <p:cNvPr id="5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-791370" y="0"/>
              <a:ext cx="7561263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8"/>
              </p:custDataLst>
            </p:nvPr>
          </p:nvSpPr>
          <p:spPr>
            <a:xfrm>
              <a:off x="-79137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-53737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填空题</a:t>
              </a:r>
            </a:p>
          </p:txBody>
        </p:sp>
        <p:sp>
          <p:nvSpPr>
            <p:cNvPr id="8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73453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963764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>
            <p:custDataLst>
              <p:tags r:id="rId2"/>
            </p:custDataLst>
          </p:nvPr>
        </p:nvSpPr>
        <p:spPr>
          <a:xfrm>
            <a:off x="1060942" y="1203123"/>
            <a:ext cx="7022117" cy="1607344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#include &lt;stdio.h&gt;</a:t>
            </a:r>
          </a:p>
          <a:p>
            <a:pPr>
              <a:lnSpc>
                <a:spcPct val="150000"/>
              </a:lnSpc>
            </a:pPr>
            <a:r>
              <a:rPr lang="en-US" altLang="zh-CN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main()</a:t>
            </a:r>
          </a:p>
          <a:p>
            <a:pPr>
              <a:lnSpc>
                <a:spcPct val="150000"/>
              </a:lnSpc>
            </a:pPr>
            <a:r>
              <a:rPr lang="en-US" altLang="zh-CN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{  </a:t>
            </a:r>
          </a:p>
          <a:p>
            <a:pPr>
              <a:lnSpc>
                <a:spcPct val="150000"/>
              </a:lnSpc>
            </a:pPr>
            <a:r>
              <a:rPr lang="en-US" altLang="zh-CN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	short a=0x9001;</a:t>
            </a:r>
          </a:p>
          <a:p>
            <a:pPr>
              <a:lnSpc>
                <a:spcPct val="150000"/>
              </a:lnSpc>
            </a:pPr>
            <a:r>
              <a:rPr lang="en-US" altLang="zh-CN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	printf("%hx\n",a&lt;&lt;1);</a:t>
            </a:r>
            <a:r>
              <a:rPr lang="zh-CN" altLang="en-US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输出结果为</a:t>
            </a:r>
            <a:r>
              <a:rPr lang="zh-CN" altLang="en-US">
                <a:solidFill>
                  <a:srgbClr val="639EF4"/>
                </a:solidFill>
                <a:latin typeface="Microsoft Yahei"/>
                <a:ea typeface="Microsoft Yahei"/>
                <a:sym typeface="Microsoft Yahei"/>
              </a:rPr>
              <a:t> </a:t>
            </a:r>
            <a:r>
              <a:rPr lang="en-US" altLang="zh-CN">
                <a:solidFill>
                  <a:srgbClr val="639EF4"/>
                </a:solidFill>
                <a:latin typeface="Microsoft Yahei"/>
                <a:ea typeface="Microsoft Yahei"/>
                <a:sym typeface="Microsoft Yahei"/>
              </a:rPr>
              <a:t>[</a:t>
            </a:r>
            <a:r>
              <a:rPr lang="zh-CN" altLang="en-US">
                <a:solidFill>
                  <a:srgbClr val="639EF4"/>
                </a:solidFill>
                <a:latin typeface="Microsoft Yahei"/>
                <a:ea typeface="Microsoft Yahei"/>
                <a:sym typeface="Microsoft Yahei"/>
              </a:rPr>
              <a:t>填空</a:t>
            </a:r>
            <a:r>
              <a:rPr lang="en-US" altLang="zh-CN">
                <a:solidFill>
                  <a:srgbClr val="639EF4"/>
                </a:solidFill>
                <a:latin typeface="Microsoft Yahei"/>
                <a:ea typeface="Microsoft Yahei"/>
                <a:sym typeface="Microsoft Yahei"/>
              </a:rPr>
              <a:t>1]</a:t>
            </a:r>
            <a:r>
              <a:rPr lang="en-US" altLang="zh-CN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    </a:t>
            </a:r>
          </a:p>
          <a:p>
            <a:pPr>
              <a:lnSpc>
                <a:spcPct val="150000"/>
              </a:lnSpc>
            </a:pPr>
            <a:r>
              <a:rPr lang="en-US" altLang="zh-CN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	printf("%hx\n",a&gt;&gt;1);</a:t>
            </a:r>
            <a:r>
              <a:rPr lang="zh-CN" altLang="en-US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输出结果为</a:t>
            </a:r>
            <a:r>
              <a:rPr lang="zh-CN" altLang="en-US">
                <a:solidFill>
                  <a:srgbClr val="639EF4"/>
                </a:solidFill>
                <a:latin typeface="Microsoft Yahei"/>
                <a:ea typeface="Microsoft Yahei"/>
                <a:sym typeface="Microsoft Yahei"/>
              </a:rPr>
              <a:t> </a:t>
            </a:r>
            <a:r>
              <a:rPr lang="en-US" altLang="zh-CN">
                <a:solidFill>
                  <a:srgbClr val="639EF4"/>
                </a:solidFill>
                <a:latin typeface="Microsoft Yahei"/>
                <a:ea typeface="Microsoft Yahei"/>
                <a:sym typeface="Microsoft Yahei"/>
              </a:rPr>
              <a:t>[</a:t>
            </a:r>
            <a:r>
              <a:rPr lang="zh-CN" altLang="en-US">
                <a:solidFill>
                  <a:srgbClr val="639EF4"/>
                </a:solidFill>
                <a:latin typeface="Microsoft Yahei"/>
                <a:ea typeface="Microsoft Yahei"/>
                <a:sym typeface="Microsoft Yahei"/>
              </a:rPr>
              <a:t>填空</a:t>
            </a:r>
            <a:r>
              <a:rPr lang="en-US" altLang="zh-CN">
                <a:solidFill>
                  <a:srgbClr val="639EF4"/>
                </a:solidFill>
                <a:latin typeface="Microsoft Yahei"/>
                <a:ea typeface="Microsoft Yahei"/>
                <a:sym typeface="Microsoft Yahei"/>
              </a:rPr>
              <a:t>2]</a:t>
            </a:r>
            <a:r>
              <a:rPr lang="en-US" altLang="zh-CN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 </a:t>
            </a:r>
            <a:r>
              <a:rPr lang="zh-CN" altLang="en-US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zh-CN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}</a:t>
            </a:r>
            <a:endParaRPr lang="zh-CN" altLang="en-US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4" name="圆角矩形 3"/>
          <p:cNvSpPr/>
          <p:nvPr>
            <p:custDataLst>
              <p:tags r:id="rId3"/>
            </p:custDataLst>
          </p:nvPr>
        </p:nvSpPr>
        <p:spPr>
          <a:xfrm>
            <a:off x="6053455" y="4661297"/>
            <a:ext cx="1157288" cy="30861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作答</a:t>
            </a: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791370" y="4358847"/>
            <a:ext cx="7561263" cy="302451"/>
          </a:xfrm>
          <a:prstGeom prst="rect">
            <a:avLst/>
          </a:prstGeom>
          <a:solidFill>
            <a:srgbClr val="FBFAEF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992">
                <a:solidFill>
                  <a:srgbClr val="F84F41"/>
                </a:solidFill>
                <a:latin typeface="Microsoft Yahei"/>
                <a:ea typeface="Microsoft Yahei"/>
                <a:sym typeface="Microsoft Yahei"/>
              </a:rPr>
              <a:t>正常使用填空题需</a:t>
            </a:r>
            <a:r>
              <a:rPr lang="en-US" altLang="zh-CN" sz="992">
                <a:solidFill>
                  <a:srgbClr val="F84F41"/>
                </a:solidFill>
                <a:latin typeface="Microsoft Yahei"/>
                <a:ea typeface="Microsoft Yahei"/>
                <a:sym typeface="Microsoft Yahei"/>
              </a:rPr>
              <a:t>3.0</a:t>
            </a:r>
            <a:r>
              <a:rPr lang="zh-CN" altLang="en-US" sz="992">
                <a:solidFill>
                  <a:srgbClr val="F84F41"/>
                </a:solidFill>
                <a:latin typeface="Microsoft Yahei"/>
                <a:ea typeface="Microsoft Yahei"/>
                <a:sym typeface="Microsoft Yahei"/>
              </a:rPr>
              <a:t>以上版本雨课堂</a:t>
            </a:r>
          </a:p>
        </p:txBody>
      </p:sp>
      <p:grpSp>
        <p:nvGrpSpPr>
          <p:cNvPr id="9" name="组合 8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7561263" cy="635000"/>
            <a:chOff x="-791370" y="0"/>
            <a:chExt cx="7561263" cy="635000"/>
          </a:xfrm>
        </p:grpSpPr>
        <p:sp>
          <p:nvSpPr>
            <p:cNvPr id="5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-791370" y="0"/>
              <a:ext cx="7561263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8"/>
              </p:custDataLst>
            </p:nvPr>
          </p:nvSpPr>
          <p:spPr>
            <a:xfrm>
              <a:off x="-79137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-53737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填空题</a:t>
              </a:r>
            </a:p>
          </p:txBody>
        </p:sp>
        <p:sp>
          <p:nvSpPr>
            <p:cNvPr id="8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73453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7725783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1.0"/>
  <p:tag name="PROBLEMBLANK" val="[{&quot;num&quot;:1,&quot;caseSensitive&quot;:false,&quot;fuzzyMatch&quot;:false,&quot;Score&quot;:1.0,&quot;answers&quot;:[&quot;10000010&quot;]}]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2.0"/>
  <p:tag name="PROBLEMBLANK" val="[{&quot;num&quot;:1,&quot;caseSensitive&quot;:false,&quot;fuzzyMatch&quot;:false,&quot;Score&quot;:1.0,&quot;answers&quot;:[&quot;2002&quot;]},{&quot;num&quot;:2,&quot;caseSensitive&quot;:false,&quot;fuzzyMatch&quot;:false,&quot;Score&quot;:1.0,&quot;answers&quot;:[&quot;c800&quot;]}]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jpeg"/></Relationships>
</file>

<file path=ppt/theme/theme1.xml><?xml version="1.0" encoding="utf-8"?>
<a:theme xmlns:a="http://schemas.openxmlformats.org/drawingml/2006/main" name="微笑PPT - 小A">
  <a:themeElements>
    <a:clrScheme name="微笑PPT - 小A 1">
      <a:dk1>
        <a:srgbClr val="000000"/>
      </a:dk1>
      <a:lt1>
        <a:srgbClr val="FFFFFF"/>
      </a:lt1>
      <a:dk2>
        <a:srgbClr val="FFFFFF"/>
      </a:dk2>
      <a:lt2>
        <a:srgbClr val="B2B2B2"/>
      </a:lt2>
      <a:accent1>
        <a:srgbClr val="E20000"/>
      </a:accent1>
      <a:accent2>
        <a:srgbClr val="CC0000"/>
      </a:accent2>
      <a:accent3>
        <a:srgbClr val="FFFFFF"/>
      </a:accent3>
      <a:accent4>
        <a:srgbClr val="000000"/>
      </a:accent4>
      <a:accent5>
        <a:srgbClr val="EEAAAA"/>
      </a:accent5>
      <a:accent6>
        <a:srgbClr val="B90000"/>
      </a:accent6>
      <a:hlink>
        <a:srgbClr val="800000"/>
      </a:hlink>
      <a:folHlink>
        <a:srgbClr val="FFCC00"/>
      </a:folHlink>
    </a:clrScheme>
    <a:fontScheme name="微笑PPT - 小A">
      <a:majorFont>
        <a:latin typeface="Arial"/>
        <a:ea typeface="微软雅黑"/>
        <a:cs typeface="宋体"/>
      </a:majorFont>
      <a:minorFont>
        <a:latin typeface="Arial"/>
        <a:ea typeface="微软雅黑"/>
        <a:cs typeface="宋体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华文细黑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华文细黑" pitchFamily="2" charset="-122"/>
          </a:defRPr>
        </a:defPPr>
      </a:lstStyle>
    </a:lnDef>
  </a:objectDefaults>
  <a:extraClrSchemeLst>
    <a:extraClrScheme>
      <a:clrScheme name="微笑PPT - 小A 1">
        <a:dk1>
          <a:srgbClr val="000000"/>
        </a:dk1>
        <a:lt1>
          <a:srgbClr val="FFFFFF"/>
        </a:lt1>
        <a:dk2>
          <a:srgbClr val="FFFFFF"/>
        </a:dk2>
        <a:lt2>
          <a:srgbClr val="B2B2B2"/>
        </a:lt2>
        <a:accent1>
          <a:srgbClr val="E20000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EEAAAA"/>
        </a:accent5>
        <a:accent6>
          <a:srgbClr val="B90000"/>
        </a:accent6>
        <a:hlink>
          <a:srgbClr val="800000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肥皂">
  <a:themeElements>
    <a:clrScheme name="肥皂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肥皂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肥皂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2A82B0"/>
      </a:dk1>
      <a:lt1>
        <a:srgbClr val="FFFFFF"/>
      </a:lt1>
      <a:dk2>
        <a:srgbClr val="006296"/>
      </a:dk2>
      <a:lt2>
        <a:srgbClr val="82CCD2"/>
      </a:lt2>
      <a:accent1>
        <a:srgbClr val="E72520"/>
      </a:accent1>
      <a:accent2>
        <a:srgbClr val="007750"/>
      </a:accent2>
      <a:accent3>
        <a:srgbClr val="FFFFFF"/>
      </a:accent3>
      <a:accent4>
        <a:srgbClr val="226E96"/>
      </a:accent4>
      <a:accent5>
        <a:srgbClr val="F1ACAB"/>
      </a:accent5>
      <a:accent6>
        <a:srgbClr val="006B48"/>
      </a:accent6>
      <a:hlink>
        <a:srgbClr val="7F7F7F"/>
      </a:hlink>
      <a:folHlink>
        <a:srgbClr val="91919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157261997</TotalTime>
  <Pages>0</Pages>
  <Words>1264</Words>
  <Characters>0</Characters>
  <Application>Microsoft Office PowerPoint</Application>
  <DocSecurity>0</DocSecurity>
  <PresentationFormat>全屏显示(16:9)</PresentationFormat>
  <Lines>0</Lines>
  <Paragraphs>213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33" baseType="lpstr">
      <vt:lpstr>仿宋</vt:lpstr>
      <vt:lpstr>黑体</vt:lpstr>
      <vt:lpstr>Microsoft Yahei</vt:lpstr>
      <vt:lpstr>Arial</vt:lpstr>
      <vt:lpstr>Arial Black</vt:lpstr>
      <vt:lpstr>Calibri</vt:lpstr>
      <vt:lpstr>Century Gothic</vt:lpstr>
      <vt:lpstr>Garamond</vt:lpstr>
      <vt:lpstr>Times New Roman</vt:lpstr>
      <vt:lpstr>Verdana</vt:lpstr>
      <vt:lpstr>Wingdings</vt:lpstr>
      <vt:lpstr>微笑PPT - 小A</vt:lpstr>
      <vt:lpstr>肥皂</vt:lpstr>
      <vt:lpstr>第0章-5 位运算</vt:lpstr>
      <vt:lpstr>目 录</vt:lpstr>
      <vt:lpstr>1 位运算</vt:lpstr>
      <vt:lpstr>1 位运算</vt:lpstr>
      <vt:lpstr>PowerPoint 演示文稿</vt:lpstr>
      <vt:lpstr>1 位运算</vt:lpstr>
      <vt:lpstr>PowerPoint 演示文稿</vt:lpstr>
      <vt:lpstr>PowerPoint 演示文稿</vt:lpstr>
      <vt:lpstr>位运算作用</vt:lpstr>
      <vt:lpstr>1 位运算</vt:lpstr>
      <vt:lpstr>PowerPoint 演示文稿</vt:lpstr>
      <vt:lpstr>PowerPoint 演示文稿</vt:lpstr>
      <vt:lpstr>2  移位运算</vt:lpstr>
      <vt:lpstr>2  移位运算</vt:lpstr>
      <vt:lpstr>2  移位运算</vt:lpstr>
      <vt:lpstr>2  移位运算</vt:lpstr>
      <vt:lpstr>2  移位运算</vt:lpstr>
      <vt:lpstr>PowerPoint 演示文稿</vt:lpstr>
      <vt:lpstr>PowerPoint 演示文稿</vt:lpstr>
      <vt:lpstr>PowerPoint 演示文稿</vt:lpstr>
    </vt:vector>
  </TitlesOfParts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Administrator</cp:lastModifiedBy>
  <cp:revision>206</cp:revision>
  <cp:lastPrinted>1899-12-30T00:00:00Z</cp:lastPrinted>
  <dcterms:created xsi:type="dcterms:W3CDTF">2011-12-08T15:41:23Z</dcterms:created>
  <dcterms:modified xsi:type="dcterms:W3CDTF">2025-07-31T01:13:28Z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2052-8.1.0.2998</vt:lpwstr>
  </property>
</Properties>
</file>