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7" r:id="rId1"/>
  </p:sldMasterIdLst>
  <p:notesMasterIdLst>
    <p:notesMasterId r:id="rId44"/>
  </p:notesMasterIdLst>
  <p:handoutMasterIdLst>
    <p:handoutMasterId r:id="rId45"/>
  </p:handoutMasterIdLst>
  <p:sldIdLst>
    <p:sldId id="266" r:id="rId2"/>
    <p:sldId id="718" r:id="rId3"/>
    <p:sldId id="719" r:id="rId4"/>
    <p:sldId id="704" r:id="rId5"/>
    <p:sldId id="268" r:id="rId6"/>
    <p:sldId id="269" r:id="rId7"/>
    <p:sldId id="270" r:id="rId8"/>
    <p:sldId id="702" r:id="rId9"/>
    <p:sldId id="271" r:id="rId10"/>
    <p:sldId id="666" r:id="rId11"/>
    <p:sldId id="667" r:id="rId12"/>
    <p:sldId id="668" r:id="rId13"/>
    <p:sldId id="669" r:id="rId14"/>
    <p:sldId id="700" r:id="rId15"/>
    <p:sldId id="670" r:id="rId16"/>
    <p:sldId id="674" r:id="rId17"/>
    <p:sldId id="675" r:id="rId18"/>
    <p:sldId id="679" r:id="rId19"/>
    <p:sldId id="682" r:id="rId20"/>
    <p:sldId id="680" r:id="rId21"/>
    <p:sldId id="681" r:id="rId22"/>
    <p:sldId id="528" r:id="rId23"/>
    <p:sldId id="532" r:id="rId24"/>
    <p:sldId id="711" r:id="rId25"/>
    <p:sldId id="694" r:id="rId26"/>
    <p:sldId id="683" r:id="rId27"/>
    <p:sldId id="695" r:id="rId28"/>
    <p:sldId id="684" r:id="rId29"/>
    <p:sldId id="703" r:id="rId30"/>
    <p:sldId id="705" r:id="rId31"/>
    <p:sldId id="712" r:id="rId32"/>
    <p:sldId id="713" r:id="rId33"/>
    <p:sldId id="686" r:id="rId34"/>
    <p:sldId id="696" r:id="rId35"/>
    <p:sldId id="714" r:id="rId36"/>
    <p:sldId id="716" r:id="rId37"/>
    <p:sldId id="715" r:id="rId38"/>
    <p:sldId id="537" r:id="rId39"/>
    <p:sldId id="698" r:id="rId40"/>
    <p:sldId id="717" r:id="rId41"/>
    <p:sldId id="692" r:id="rId42"/>
    <p:sldId id="693" r:id="rId43"/>
  </p:sldIdLst>
  <p:sldSz cx="12192000" cy="6858000"/>
  <p:notesSz cx="6851650" cy="9747250"/>
  <p:defaultTextStyle>
    <a:defPPr>
      <a:defRPr lang="en-US"/>
    </a:defPPr>
    <a:lvl1pPr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36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0">
          <p15:clr>
            <a:srgbClr val="A4A3A4"/>
          </p15:clr>
        </p15:guide>
        <p15:guide id="2" pos="215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FF5FA"/>
    <a:srgbClr val="99FF33"/>
    <a:srgbClr val="666699"/>
    <a:srgbClr val="0099CC"/>
    <a:srgbClr val="009900"/>
    <a:srgbClr val="008080"/>
    <a:srgbClr val="339933"/>
    <a:srgbClr val="00E7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9" autoAdjust="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9608"/>
    </p:cViewPr>
  </p:sorterViewPr>
  <p:notesViewPr>
    <p:cSldViewPr snapToGrid="0">
      <p:cViewPr varScale="1">
        <p:scale>
          <a:sx n="50" d="100"/>
          <a:sy n="50" d="100"/>
        </p:scale>
        <p:origin x="-1908" y="-102"/>
      </p:cViewPr>
      <p:guideLst>
        <p:guide orient="horz" pos="3070"/>
        <p:guide pos="215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/>
            </a:lvl1pPr>
          </a:lstStyle>
          <a:p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/>
            </a:lvl1pPr>
          </a:lstStyle>
          <a:p>
            <a:fld id="{6CF0D0AA-01D8-459C-90AA-5813746B89C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2538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/>
            </a:lvl1pPr>
          </a:lstStyle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68625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77800" y="730250"/>
            <a:ext cx="6497638" cy="3656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629150"/>
            <a:ext cx="50260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defTabSz="887413">
              <a:spcBef>
                <a:spcPct val="0"/>
              </a:spcBef>
              <a:defRPr sz="1200" b="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59888"/>
            <a:ext cx="2968625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8807" tIns="44403" rIns="88807" bIns="44403" numCol="1" anchor="b" anchorCtr="0" compatLnSpc="1">
            <a:prstTxWarp prst="textNoShape">
              <a:avLst/>
            </a:prstTxWarp>
          </a:bodyPr>
          <a:lstStyle>
            <a:lvl1pPr algn="r" defTabSz="887413">
              <a:spcBef>
                <a:spcPct val="0"/>
              </a:spcBef>
              <a:defRPr sz="1200" b="0"/>
            </a:lvl1pPr>
          </a:lstStyle>
          <a:p>
            <a:fld id="{4457BA15-0A3E-485D-97C9-B1951851FA9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06790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B343FF-AF20-4292-BEFC-B1B12D716037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1351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77800" y="730250"/>
            <a:ext cx="6497638" cy="3656013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D9EE4F-0655-4235-AA7C-651135F7049E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21858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77800" y="730250"/>
            <a:ext cx="6497638" cy="3656013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D9EE4F-0655-4235-AA7C-651135F7049E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121858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77800" y="730250"/>
            <a:ext cx="6497638" cy="3656013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64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103" name="Picture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46" y="4287839"/>
            <a:ext cx="3571631" cy="208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6098" name="Rectangle 2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725247" y="762000"/>
            <a:ext cx="103632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914400" y="3429000"/>
            <a:ext cx="85344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6100" name="Rectangle 4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16101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16102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EBE52DA-FCD3-433A-A10E-EF0B402520A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1A99B6-55DA-488F-8367-2B9871BBDB8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3216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77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46" y="4287839"/>
            <a:ext cx="3571631" cy="208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5074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kumimoji="0" sz="1400" b="0"/>
            </a:lvl1pPr>
          </a:lstStyle>
          <a:p>
            <a:endParaRPr lang="en-US" altLang="zh-CN"/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kumimoji="0" sz="1400" b="0"/>
            </a:lvl1pPr>
          </a:lstStyle>
          <a:p>
            <a:endParaRPr lang="en-US" altLang="zh-CN"/>
          </a:p>
        </p:txBody>
      </p:sp>
      <p:sp>
        <p:nvSpPr>
          <p:cNvPr id="515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0" sz="1400" b="0"/>
            </a:lvl1pPr>
          </a:lstStyle>
          <a:p>
            <a:fld id="{9FB2B377-7327-47C0-975C-260EA95602D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8" r:id="rId1"/>
    <p:sldLayoutId id="2147483664" r:id="rId2"/>
  </p:sldLayoutIdLst>
  <p:transition>
    <p:zoom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3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3.tmp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image" Target="../media/image3.tmp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tags" Target="../tags/tag7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20" Type="http://schemas.openxmlformats.org/officeDocument/2006/relationships/image" Target="../media/image3.tmp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10" Type="http://schemas.openxmlformats.org/officeDocument/2006/relationships/tags" Target="../tags/tag64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image" Target="../media/image3.tmp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3.tmp"/><Relationship Id="rId5" Type="http://schemas.openxmlformats.org/officeDocument/2006/relationships/tags" Target="../tags/tag9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image" Target="../media/image3.tmp"/><Relationship Id="rId5" Type="http://schemas.openxmlformats.org/officeDocument/2006/relationships/tags" Target="../tags/tag10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image" Target="../media/image3.tmp"/><Relationship Id="rId5" Type="http://schemas.openxmlformats.org/officeDocument/2006/relationships/tags" Target="../tags/tag11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12.xml"/><Relationship Id="rId9" Type="http://schemas.openxmlformats.org/officeDocument/2006/relationships/tags" Target="../tags/tag11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image" Target="../media/image3.tmp"/><Relationship Id="rId5" Type="http://schemas.openxmlformats.org/officeDocument/2006/relationships/tags" Target="../tags/tag12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21.xml"/><Relationship Id="rId9" Type="http://schemas.openxmlformats.org/officeDocument/2006/relationships/tags" Target="../tags/tag12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image" Target="../media/image3.tmp"/><Relationship Id="rId5" Type="http://schemas.openxmlformats.org/officeDocument/2006/relationships/tags" Target="../tags/tag131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tags" Target="../tags/tag14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tags" Target="../tags/tag147.xml"/><Relationship Id="rId17" Type="http://schemas.openxmlformats.org/officeDocument/2006/relationships/tags" Target="../tags/tag152.xml"/><Relationship Id="rId2" Type="http://schemas.openxmlformats.org/officeDocument/2006/relationships/tags" Target="../tags/tag137.xml"/><Relationship Id="rId16" Type="http://schemas.openxmlformats.org/officeDocument/2006/relationships/tags" Target="../tags/tag151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tags" Target="../tags/tag146.xml"/><Relationship Id="rId5" Type="http://schemas.openxmlformats.org/officeDocument/2006/relationships/tags" Target="../tags/tag140.xml"/><Relationship Id="rId15" Type="http://schemas.openxmlformats.org/officeDocument/2006/relationships/tags" Target="../tags/tag150.xml"/><Relationship Id="rId10" Type="http://schemas.openxmlformats.org/officeDocument/2006/relationships/tags" Target="../tags/tag145.xml"/><Relationship Id="rId19" Type="http://schemas.openxmlformats.org/officeDocument/2006/relationships/image" Target="../media/image3.tmp"/><Relationship Id="rId4" Type="http://schemas.openxmlformats.org/officeDocument/2006/relationships/tags" Target="../tags/tag139.xml"/><Relationship Id="rId9" Type="http://schemas.openxmlformats.org/officeDocument/2006/relationships/tags" Target="../tags/tag144.xml"/><Relationship Id="rId14" Type="http://schemas.openxmlformats.org/officeDocument/2006/relationships/tags" Target="../tags/tag14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10" Type="http://schemas.openxmlformats.org/officeDocument/2006/relationships/tags" Target="../tags/tag162.xml"/><Relationship Id="rId19" Type="http://schemas.openxmlformats.org/officeDocument/2006/relationships/image" Target="../media/image3.tmp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E0539-B1AD-4649-9CC8-6036FDCBB205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617807" y="1181100"/>
            <a:ext cx="10363200" cy="1143000"/>
          </a:xfrm>
        </p:spPr>
        <p:txBody>
          <a:bodyPr/>
          <a:lstStyle/>
          <a:p>
            <a:r>
              <a:rPr lang="zh-CN" altLang="en-US" dirty="0"/>
              <a:t>第二章 </a:t>
            </a:r>
            <a:r>
              <a:rPr lang="en-US" altLang="zh-CN" dirty="0"/>
              <a:t>C</a:t>
            </a:r>
            <a:r>
              <a:rPr lang="zh-CN" altLang="en-US" dirty="0"/>
              <a:t>语言基础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8ABE32-3378-4D55-A1B4-861FD9E6BAF7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3454401" y="2831804"/>
            <a:ext cx="4785360" cy="3101636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数据类型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运算符与表达式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lnSpc>
                <a:spcPct val="200000"/>
              </a:lnSpc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输入、输出</a:t>
            </a:r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0E92F60-0F7D-46D3-81C3-F91C6A4F5E64}" type="slidenum">
              <a:rPr lang="zh-CN" altLang="en-US"/>
              <a:pPr/>
              <a:t>1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A2E0-0D99-4701-91A5-DA224B2CF2B6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1247919" y="1464926"/>
            <a:ext cx="100296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标识符</a:t>
            </a:r>
            <a:r>
              <a:rPr lang="zh-CN" altLang="en-US" sz="3200" dirty="0">
                <a:solidFill>
                  <a:srgbClr val="000000"/>
                </a:solidFill>
              </a:rPr>
              <a:t>：</a:t>
            </a:r>
            <a:r>
              <a:rPr lang="en-US" altLang="zh-CN" sz="3200" dirty="0">
                <a:solidFill>
                  <a:srgbClr val="000000"/>
                </a:solidFill>
              </a:rPr>
              <a:t>C</a:t>
            </a:r>
            <a:r>
              <a:rPr lang="zh-CN" altLang="en-US" sz="3200" dirty="0">
                <a:solidFill>
                  <a:srgbClr val="000000"/>
                </a:solidFill>
              </a:rPr>
              <a:t>程序定义的变量、数组、函数等</a:t>
            </a:r>
            <a:r>
              <a:rPr lang="zh-CN" altLang="en-US" sz="3200" u="sng" dirty="0">
                <a:solidFill>
                  <a:srgbClr val="A50021"/>
                </a:solidFill>
              </a:rPr>
              <a:t>标识符</a:t>
            </a:r>
            <a:r>
              <a:rPr lang="zh-CN" altLang="en-US" sz="3200" dirty="0">
                <a:solidFill>
                  <a:srgbClr val="000000"/>
                </a:solidFill>
              </a:rPr>
              <a:t>命名</a:t>
            </a: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4627562" y="2667954"/>
            <a:ext cx="705643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由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字母、数字</a:t>
            </a:r>
            <a:r>
              <a:rPr lang="zh-CN" altLang="en-US" sz="3200" dirty="0">
                <a:solidFill>
                  <a:srgbClr val="000000"/>
                </a:solidFill>
              </a:rPr>
              <a:t>或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下划线</a:t>
            </a:r>
            <a:r>
              <a:rPr lang="zh-CN" altLang="en-US" sz="3200" dirty="0">
                <a:solidFill>
                  <a:srgbClr val="000000"/>
                </a:solidFill>
              </a:rPr>
              <a:t>组成</a:t>
            </a:r>
          </a:p>
          <a:p>
            <a:r>
              <a:rPr lang="zh-CN" altLang="en-US" sz="3200" dirty="0">
                <a:solidFill>
                  <a:srgbClr val="000000"/>
                </a:solidFill>
              </a:rPr>
              <a:t>首字符为字母或下划线（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不得为数字</a:t>
            </a:r>
            <a:r>
              <a:rPr lang="zh-CN" altLang="en-US" sz="3200" dirty="0">
                <a:solidFill>
                  <a:srgbClr val="000000"/>
                </a:solidFill>
              </a:rPr>
              <a:t>）</a:t>
            </a:r>
          </a:p>
          <a:p>
            <a:r>
              <a:rPr lang="zh-CN" altLang="en-US" sz="3200" dirty="0">
                <a:solidFill>
                  <a:srgbClr val="000000"/>
                </a:solidFill>
              </a:rPr>
              <a:t>用来标识变量、符号常量、数组、函数、文件等 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2930526" y="3425190"/>
            <a:ext cx="14081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标识符</a:t>
            </a:r>
            <a:endParaRPr lang="zh-CN" altLang="en-US" sz="3200" u="sng">
              <a:solidFill>
                <a:srgbClr val="000000"/>
              </a:solidFill>
            </a:endParaRPr>
          </a:p>
        </p:txBody>
      </p:sp>
      <p:sp>
        <p:nvSpPr>
          <p:cNvPr id="23560" name="AutoShape 8"/>
          <p:cNvSpPr>
            <a:spLocks/>
          </p:cNvSpPr>
          <p:nvPr/>
        </p:nvSpPr>
        <p:spPr bwMode="auto">
          <a:xfrm>
            <a:off x="4394200" y="3027680"/>
            <a:ext cx="233363" cy="1222475"/>
          </a:xfrm>
          <a:prstGeom prst="leftBrace">
            <a:avLst>
              <a:gd name="adj1" fmla="val 58333"/>
              <a:gd name="adj2" fmla="val 50000"/>
            </a:avLst>
          </a:prstGeom>
          <a:noFill/>
          <a:ln w="508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2578100" y="5621339"/>
            <a:ext cx="75199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例：</a:t>
            </a:r>
            <a:r>
              <a:rPr lang="en-US" altLang="en-US" sz="3200">
                <a:solidFill>
                  <a:srgbClr val="A50021"/>
                </a:solidFill>
              </a:rPr>
              <a:t>sum    good123    student_name</a:t>
            </a:r>
            <a:endParaRPr lang="en-US" altLang="zh-CN" sz="3200">
              <a:solidFill>
                <a:srgbClr val="A50021"/>
              </a:solidFill>
            </a:endParaRP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50F360E4-537E-49F9-9BC8-D1D084003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1941" y="300039"/>
            <a:ext cx="68614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  <a:latin typeface="宋体" pitchFamily="2" charset="-122"/>
              </a:rPr>
              <a:t>§2.1   C</a:t>
            </a:r>
            <a:r>
              <a:rPr lang="zh-CN" altLang="en-US" sz="4000" dirty="0">
                <a:solidFill>
                  <a:srgbClr val="0000CC"/>
                </a:solidFill>
                <a:latin typeface="宋体" pitchFamily="2" charset="-122"/>
              </a:rPr>
              <a:t>的数据类型</a:t>
            </a:r>
          </a:p>
        </p:txBody>
      </p:sp>
    </p:spTree>
    <p:extLst>
      <p:ext uri="{BB962C8B-B14F-4D97-AF65-F5344CB8AC3E}">
        <p14:creationId xmlns:p14="http://schemas.microsoft.com/office/powerpoint/2010/main" val="223924458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23559" grpId="0" autoUpdateAnimBg="0"/>
      <p:bldP spid="23560" grpId="0" animBg="1"/>
      <p:bldP spid="23561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A2E0-0D99-4701-91A5-DA224B2CF2B6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1010602" y="985421"/>
            <a:ext cx="970819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预定义标识符：</a:t>
            </a:r>
            <a:r>
              <a:rPr lang="zh-CN" altLang="en-US" sz="3200" dirty="0">
                <a:solidFill>
                  <a:srgbClr val="000000"/>
                </a:solidFill>
              </a:rPr>
              <a:t>一些预编译命令：</a:t>
            </a:r>
            <a:r>
              <a:rPr lang="en-US" altLang="zh-CN" sz="3200" dirty="0" err="1">
                <a:solidFill>
                  <a:srgbClr val="000000"/>
                </a:solidFill>
              </a:rPr>
              <a:t>include,define</a:t>
            </a:r>
            <a:endParaRPr lang="en-US" altLang="zh-CN" sz="3200" dirty="0">
              <a:solidFill>
                <a:srgbClr val="000000"/>
              </a:solidFill>
            </a:endParaRPr>
          </a:p>
          <a:p>
            <a:r>
              <a:rPr lang="en-US" altLang="zh-CN" sz="3200" dirty="0">
                <a:solidFill>
                  <a:srgbClr val="000000"/>
                </a:solidFill>
              </a:rPr>
              <a:t>                                 </a:t>
            </a:r>
            <a:r>
              <a:rPr lang="zh-CN" altLang="en-US" sz="3200" dirty="0">
                <a:solidFill>
                  <a:srgbClr val="000000"/>
                </a:solidFill>
              </a:rPr>
              <a:t>或库函数的名称</a:t>
            </a:r>
            <a:r>
              <a:rPr lang="en-US" altLang="zh-CN" sz="3200" dirty="0">
                <a:solidFill>
                  <a:srgbClr val="000000"/>
                </a:solidFill>
              </a:rPr>
              <a:t>:sin sqrt</a:t>
            </a: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保留字（关键字）</a:t>
            </a:r>
            <a:r>
              <a:rPr lang="zh-CN" altLang="en-US" sz="3200" dirty="0">
                <a:solidFill>
                  <a:srgbClr val="000000"/>
                </a:solidFill>
              </a:rPr>
              <a:t>：</a:t>
            </a:r>
            <a:r>
              <a:rPr lang="en-US" altLang="zh-CN" sz="3200" dirty="0">
                <a:solidFill>
                  <a:srgbClr val="000000"/>
                </a:solidFill>
              </a:rPr>
              <a:t>int  for </a:t>
            </a:r>
          </a:p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用户标识符</a:t>
            </a:r>
            <a:r>
              <a:rPr lang="zh-CN" altLang="en-US" sz="3200" dirty="0">
                <a:solidFill>
                  <a:srgbClr val="000000"/>
                </a:solidFill>
              </a:rPr>
              <a:t>：自定义标识符，给变量、函数等的命名：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可以使用预定义标识符</a:t>
            </a:r>
            <a:r>
              <a:rPr lang="zh-CN" altLang="en-US" sz="3200" dirty="0">
                <a:solidFill>
                  <a:srgbClr val="000000"/>
                </a:solidFill>
              </a:rPr>
              <a:t>（如：</a:t>
            </a:r>
            <a:r>
              <a:rPr lang="en-US" altLang="zh-CN" sz="3200" dirty="0" err="1">
                <a:solidFill>
                  <a:srgbClr val="000000"/>
                </a:solidFill>
              </a:rPr>
              <a:t>include,sin</a:t>
            </a:r>
            <a:r>
              <a:rPr lang="en-US" altLang="zh-CN" sz="3200" dirty="0">
                <a:solidFill>
                  <a:srgbClr val="000000"/>
                </a:solidFill>
              </a:rPr>
              <a:t>)</a:t>
            </a:r>
            <a:r>
              <a:rPr lang="zh-CN" altLang="en-US" sz="3200" dirty="0">
                <a:solidFill>
                  <a:srgbClr val="000000"/>
                </a:solidFill>
              </a:rPr>
              <a:t>，（但一般不用，容易引起</a:t>
            </a:r>
            <a:r>
              <a:rPr lang="zh-CN" altLang="en-US" sz="3200" dirty="0">
                <a:solidFill>
                  <a:srgbClr val="FF0000"/>
                </a:solidFill>
              </a:rPr>
              <a:t>混淆</a:t>
            </a:r>
            <a:r>
              <a:rPr lang="zh-CN" altLang="en-US" sz="3200" dirty="0">
                <a:solidFill>
                  <a:srgbClr val="000000"/>
                </a:solidFill>
              </a:rPr>
              <a:t>）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不得使用保留字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611345" y="232214"/>
            <a:ext cx="14081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标识符</a:t>
            </a:r>
            <a:endParaRPr lang="zh-CN" altLang="en-US" sz="3200" u="sng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88547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2355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92F60-0F7D-46D3-81C3-F91C6A4F5E64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4787900" y="5791200"/>
            <a:ext cx="5500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00"/>
                </a:solidFill>
              </a:rPr>
              <a:t>空类型    </a:t>
            </a:r>
            <a:r>
              <a:rPr lang="en-US" altLang="zh-CN" sz="3200">
                <a:solidFill>
                  <a:srgbClr val="000000"/>
                </a:solidFill>
              </a:rPr>
              <a:t>void(</a:t>
            </a:r>
            <a:r>
              <a:rPr lang="zh-CN" altLang="en-US" sz="2800">
                <a:solidFill>
                  <a:srgbClr val="000000"/>
                </a:solidFill>
              </a:rPr>
              <a:t>无</a:t>
            </a:r>
            <a:r>
              <a:rPr lang="en-US" altLang="zh-CN" sz="2800">
                <a:solidFill>
                  <a:srgbClr val="000000"/>
                </a:solidFill>
              </a:rPr>
              <a:t>return</a:t>
            </a:r>
            <a:r>
              <a:rPr lang="zh-CN" altLang="en-US" sz="2800">
                <a:solidFill>
                  <a:srgbClr val="000000"/>
                </a:solidFill>
              </a:rPr>
              <a:t>的函数</a:t>
            </a:r>
            <a:r>
              <a:rPr lang="zh-CN" altLang="en-US" sz="320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881189" y="4135439"/>
            <a:ext cx="2333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200">
                <a:solidFill>
                  <a:srgbClr val="000000"/>
                </a:solidFill>
              </a:rPr>
              <a:t>C</a:t>
            </a:r>
            <a:r>
              <a:rPr lang="zh-CN" altLang="zh-CN" sz="3200">
                <a:solidFill>
                  <a:srgbClr val="000000"/>
                </a:solidFill>
              </a:rPr>
              <a:t>数据类型</a:t>
            </a:r>
            <a:endParaRPr lang="zh-CN" altLang="en-US" sz="3200">
              <a:solidFill>
                <a:srgbClr val="000000"/>
              </a:solidFill>
            </a:endParaRP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699001" y="2403475"/>
            <a:ext cx="2047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基本类型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4738689" y="4267200"/>
            <a:ext cx="2033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构造类型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4665663" y="5030789"/>
            <a:ext cx="2163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指针类型</a:t>
            </a:r>
          </a:p>
        </p:txBody>
      </p:sp>
      <p:sp>
        <p:nvSpPr>
          <p:cNvPr id="19469" name="AutoShape 13"/>
          <p:cNvSpPr>
            <a:spLocks/>
          </p:cNvSpPr>
          <p:nvPr/>
        </p:nvSpPr>
        <p:spPr bwMode="auto">
          <a:xfrm>
            <a:off x="4419601" y="2735264"/>
            <a:ext cx="277813" cy="3443287"/>
          </a:xfrm>
          <a:prstGeom prst="leftBrace">
            <a:avLst>
              <a:gd name="adj1" fmla="val 103286"/>
              <a:gd name="adj2" fmla="val 50000"/>
            </a:avLst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zh-CN" altLang="en-US" sz="3200">
              <a:solidFill>
                <a:srgbClr val="000000"/>
              </a:solidFill>
            </a:endParaRP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6891338" y="1743075"/>
            <a:ext cx="1536700" cy="194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整型</a:t>
            </a:r>
          </a:p>
          <a:p>
            <a:pPr>
              <a:lnSpc>
                <a:spcPct val="7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实型</a:t>
            </a:r>
          </a:p>
          <a:p>
            <a:pPr>
              <a:lnSpc>
                <a:spcPct val="70000"/>
              </a:lnSpc>
            </a:pP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7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字符型</a:t>
            </a:r>
          </a:p>
        </p:txBody>
      </p:sp>
      <p:sp>
        <p:nvSpPr>
          <p:cNvPr id="19470" name="AutoShape 14"/>
          <p:cNvSpPr>
            <a:spLocks/>
          </p:cNvSpPr>
          <p:nvPr/>
        </p:nvSpPr>
        <p:spPr bwMode="auto">
          <a:xfrm>
            <a:off x="6689727" y="1826966"/>
            <a:ext cx="233362" cy="1748334"/>
          </a:xfrm>
          <a:prstGeom prst="leftBrace">
            <a:avLst>
              <a:gd name="adj1" fmla="val 49741"/>
              <a:gd name="adj2" fmla="val 50000"/>
            </a:avLst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6923088" y="3884614"/>
            <a:ext cx="2036762" cy="143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数组型</a:t>
            </a:r>
          </a:p>
          <a:p>
            <a:pPr>
              <a:lnSpc>
                <a:spcPct val="7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结构体型</a:t>
            </a:r>
          </a:p>
          <a:p>
            <a:pPr>
              <a:lnSpc>
                <a:spcPct val="7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共用体型</a:t>
            </a:r>
            <a:endParaRPr lang="zh-CN" altLang="en-US" sz="3200">
              <a:solidFill>
                <a:srgbClr val="000000"/>
              </a:solidFill>
            </a:endParaRPr>
          </a:p>
        </p:txBody>
      </p:sp>
      <p:sp>
        <p:nvSpPr>
          <p:cNvPr id="19472" name="AutoShape 16"/>
          <p:cNvSpPr>
            <a:spLocks/>
          </p:cNvSpPr>
          <p:nvPr/>
        </p:nvSpPr>
        <p:spPr bwMode="auto">
          <a:xfrm>
            <a:off x="6738939" y="4049444"/>
            <a:ext cx="212726" cy="1032414"/>
          </a:xfrm>
          <a:prstGeom prst="leftBrace">
            <a:avLst>
              <a:gd name="adj1" fmla="val 44279"/>
              <a:gd name="adj2" fmla="val 50000"/>
            </a:avLst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8428038" y="1978498"/>
            <a:ext cx="1722437" cy="99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7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单精度</a:t>
            </a:r>
          </a:p>
          <a:p>
            <a:pPr algn="ctr">
              <a:lnSpc>
                <a:spcPct val="7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双精度</a:t>
            </a:r>
            <a:r>
              <a:rPr lang="zh-CN" altLang="en-US" sz="32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19474" name="AutoShape 18"/>
          <p:cNvSpPr>
            <a:spLocks/>
          </p:cNvSpPr>
          <p:nvPr/>
        </p:nvSpPr>
        <p:spPr bwMode="auto">
          <a:xfrm>
            <a:off x="8074025" y="2056150"/>
            <a:ext cx="518818" cy="702588"/>
          </a:xfrm>
          <a:prstGeom prst="leftBrace">
            <a:avLst>
              <a:gd name="adj1" fmla="val 20135"/>
              <a:gd name="adj2" fmla="val 50000"/>
            </a:avLst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1471941" y="300039"/>
            <a:ext cx="68614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  <a:latin typeface="宋体" pitchFamily="2" charset="-122"/>
              </a:rPr>
              <a:t>§2.1   C</a:t>
            </a:r>
            <a:r>
              <a:rPr lang="zh-CN" altLang="en-US" sz="4000" dirty="0">
                <a:solidFill>
                  <a:srgbClr val="0000CC"/>
                </a:solidFill>
                <a:latin typeface="宋体" pitchFamily="2" charset="-122"/>
              </a:rPr>
              <a:t>的数据类型</a:t>
            </a:r>
          </a:p>
        </p:txBody>
      </p:sp>
    </p:spTree>
    <p:extLst>
      <p:ext uri="{BB962C8B-B14F-4D97-AF65-F5344CB8AC3E}">
        <p14:creationId xmlns:p14="http://schemas.microsoft.com/office/powerpoint/2010/main" val="34682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4" grpId="0"/>
      <p:bldP spid="19460" grpId="0"/>
      <p:bldP spid="19461" grpId="0"/>
      <p:bldP spid="19462" grpId="0"/>
      <p:bldP spid="19463" grpId="0"/>
      <p:bldP spid="19469" grpId="0" animBg="1"/>
      <p:bldP spid="19465" grpId="0"/>
      <p:bldP spid="19470" grpId="0" animBg="1"/>
      <p:bldP spid="19466" grpId="0"/>
      <p:bldP spid="19472" grpId="0" animBg="1"/>
      <p:bldP spid="19473" grpId="0"/>
      <p:bldP spid="1947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907020" y="5984240"/>
            <a:ext cx="2063750" cy="457200"/>
          </a:xfrm>
        </p:spPr>
        <p:txBody>
          <a:bodyPr/>
          <a:lstStyle/>
          <a:p>
            <a:fld id="{2A41C3A8-CEAE-4823-9454-9FEC39C8CCBC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450975" y="177801"/>
            <a:ext cx="4581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</a:rPr>
              <a:t>2  </a:t>
            </a:r>
            <a:r>
              <a:rPr lang="zh-CN" altLang="en-US" sz="4000" dirty="0">
                <a:solidFill>
                  <a:srgbClr val="0000CC"/>
                </a:solidFill>
              </a:rPr>
              <a:t>常量与变量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732599" y="1020764"/>
            <a:ext cx="75101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一、常量  </a:t>
            </a:r>
            <a:r>
              <a:rPr lang="zh-CN" altLang="en-US" dirty="0">
                <a:solidFill>
                  <a:srgbClr val="000000"/>
                </a:solidFill>
              </a:rPr>
              <a:t>其值不发生变化的量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066608" y="1829754"/>
            <a:ext cx="6318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1、整型常量—— </a:t>
            </a:r>
            <a:r>
              <a:rPr lang="zh-CN" altLang="en-US" sz="3200">
                <a:solidFill>
                  <a:srgbClr val="FF0000"/>
                </a:solidFill>
              </a:rPr>
              <a:t>0</a:t>
            </a:r>
            <a:r>
              <a:rPr lang="zh-CN" altLang="en-US" sz="3200">
                <a:solidFill>
                  <a:srgbClr val="000000"/>
                </a:solidFill>
              </a:rPr>
              <a:t>和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正负整数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2422208" y="4982529"/>
            <a:ext cx="79867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00"/>
                </a:solidFill>
              </a:rPr>
              <a:t>4、字符串常量——“”括起来的字符串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2221230" y="5776278"/>
            <a:ext cx="87058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符号</a:t>
            </a:r>
            <a:r>
              <a:rPr lang="zh-CN" altLang="en-US" sz="3200" dirty="0">
                <a:solidFill>
                  <a:srgbClr val="000000"/>
                </a:solidFill>
              </a:rPr>
              <a:t>常量（</a:t>
            </a:r>
            <a:r>
              <a:rPr lang="zh-CN" altLang="en-US" sz="3200" dirty="0">
                <a:solidFill>
                  <a:srgbClr val="FF0000"/>
                </a:solidFill>
              </a:rPr>
              <a:t>宏</a:t>
            </a:r>
            <a:r>
              <a:rPr lang="zh-CN" altLang="en-US" sz="3200" dirty="0">
                <a:solidFill>
                  <a:srgbClr val="000000"/>
                </a:solidFill>
              </a:rPr>
              <a:t>）——</a:t>
            </a:r>
            <a:r>
              <a:rPr lang="zh-CN" altLang="en-US" sz="3200" dirty="0">
                <a:solidFill>
                  <a:srgbClr val="008080"/>
                </a:solidFill>
              </a:rPr>
              <a:t> </a:t>
            </a:r>
            <a:r>
              <a:rPr lang="zh-CN" altLang="en-US" sz="3200" dirty="0">
                <a:solidFill>
                  <a:srgbClr val="A50021"/>
                </a:solidFill>
                <a:ea typeface="隶书" pitchFamily="49" charset="-122"/>
              </a:rPr>
              <a:t>#</a:t>
            </a:r>
            <a:r>
              <a:rPr lang="en-US" altLang="en-US" sz="3200" dirty="0">
                <a:solidFill>
                  <a:srgbClr val="A50021"/>
                </a:solidFill>
                <a:ea typeface="隶书" pitchFamily="49" charset="-122"/>
              </a:rPr>
              <a:t>define  </a:t>
            </a:r>
            <a:r>
              <a:rPr lang="zh-CN" altLang="en-US" sz="3200" dirty="0">
                <a:solidFill>
                  <a:srgbClr val="A50021"/>
                </a:solidFill>
                <a:ea typeface="隶书" pitchFamily="49" charset="-122"/>
              </a:rPr>
              <a:t>符号名  常量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2207895" y="2760029"/>
            <a:ext cx="27765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2、实型常量</a:t>
            </a:r>
          </a:p>
        </p:txBody>
      </p:sp>
      <p:grpSp>
        <p:nvGrpSpPr>
          <p:cNvPr id="21524" name="Group 20"/>
          <p:cNvGrpSpPr>
            <a:grpSpLocks/>
          </p:cNvGrpSpPr>
          <p:nvPr/>
        </p:nvGrpSpPr>
        <p:grpSpPr bwMode="auto">
          <a:xfrm>
            <a:off x="4925695" y="2567942"/>
            <a:ext cx="5041900" cy="1033463"/>
            <a:chOff x="2594" y="1784"/>
            <a:chExt cx="3176" cy="651"/>
          </a:xfrm>
        </p:grpSpPr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>
              <a:off x="2659" y="1784"/>
              <a:ext cx="3111" cy="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zh-CN" altLang="en-US" sz="3200">
                  <a:solidFill>
                    <a:srgbClr val="000000"/>
                  </a:solidFill>
                </a:rPr>
                <a:t>小数形式</a:t>
              </a:r>
              <a:r>
                <a:rPr lang="zh-CN" altLang="en-US" sz="3200">
                  <a:solidFill>
                    <a:srgbClr val="008080"/>
                  </a:solidFill>
                </a:rPr>
                <a:t>（</a:t>
              </a:r>
              <a:r>
                <a:rPr lang="zh-CN" altLang="en-US" sz="3200">
                  <a:solidFill>
                    <a:srgbClr val="A50021"/>
                  </a:solidFill>
                </a:rPr>
                <a:t>12.34、-0.65</a:t>
              </a:r>
              <a:r>
                <a:rPr lang="zh-CN" altLang="en-US" sz="3200">
                  <a:solidFill>
                    <a:srgbClr val="008080"/>
                  </a:solidFill>
                </a:rPr>
                <a:t>)</a:t>
              </a:r>
            </a:p>
            <a:p>
              <a:pPr>
                <a:lnSpc>
                  <a:spcPct val="70000"/>
                </a:lnSpc>
              </a:pPr>
              <a:r>
                <a:rPr lang="zh-CN" altLang="en-US" sz="3200">
                  <a:solidFill>
                    <a:srgbClr val="000000"/>
                  </a:solidFill>
                </a:rPr>
                <a:t>指数形式</a:t>
              </a:r>
              <a:r>
                <a:rPr lang="zh-CN" altLang="en-US" sz="3200">
                  <a:solidFill>
                    <a:srgbClr val="008080"/>
                  </a:solidFill>
                </a:rPr>
                <a:t>（</a:t>
              </a:r>
              <a:r>
                <a:rPr lang="zh-CN" altLang="en-US" sz="3200">
                  <a:solidFill>
                    <a:srgbClr val="A50021"/>
                  </a:solidFill>
                </a:rPr>
                <a:t>0.1234</a:t>
              </a:r>
              <a:r>
                <a:rPr lang="en-US" altLang="zh-CN" sz="3200">
                  <a:solidFill>
                    <a:srgbClr val="A50021"/>
                  </a:solidFill>
                </a:rPr>
                <a:t>e2</a:t>
              </a:r>
              <a:r>
                <a:rPr lang="en-US" altLang="zh-CN" sz="3200">
                  <a:solidFill>
                    <a:srgbClr val="008080"/>
                  </a:solidFill>
                </a:rPr>
                <a:t>）</a:t>
              </a:r>
            </a:p>
          </p:txBody>
        </p:sp>
        <p:sp>
          <p:nvSpPr>
            <p:cNvPr id="21517" name="AutoShape 13"/>
            <p:cNvSpPr>
              <a:spLocks/>
            </p:cNvSpPr>
            <p:nvPr/>
          </p:nvSpPr>
          <p:spPr bwMode="auto">
            <a:xfrm>
              <a:off x="2594" y="1878"/>
              <a:ext cx="93" cy="423"/>
            </a:xfrm>
            <a:prstGeom prst="leftBrace">
              <a:avLst>
                <a:gd name="adj1" fmla="val 34409"/>
                <a:gd name="adj2" fmla="val 50000"/>
              </a:avLst>
            </a:prstGeom>
            <a:noFill/>
            <a:ln w="508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2139633" y="3983990"/>
            <a:ext cx="33766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3、字符型常量</a:t>
            </a:r>
          </a:p>
        </p:txBody>
      </p:sp>
      <p:grpSp>
        <p:nvGrpSpPr>
          <p:cNvPr id="21525" name="Group 21"/>
          <p:cNvGrpSpPr>
            <a:grpSpLocks/>
          </p:cNvGrpSpPr>
          <p:nvPr/>
        </p:nvGrpSpPr>
        <p:grpSpPr bwMode="auto">
          <a:xfrm>
            <a:off x="5306696" y="3774443"/>
            <a:ext cx="4689475" cy="1033463"/>
            <a:chOff x="2834" y="2544"/>
            <a:chExt cx="2954" cy="651"/>
          </a:xfrm>
        </p:grpSpPr>
        <p:sp>
          <p:nvSpPr>
            <p:cNvPr id="21518" name="Text Box 14"/>
            <p:cNvSpPr txBox="1">
              <a:spLocks noChangeArrowheads="1"/>
            </p:cNvSpPr>
            <p:nvPr/>
          </p:nvSpPr>
          <p:spPr bwMode="auto">
            <a:xfrm>
              <a:off x="2834" y="2544"/>
              <a:ext cx="2954" cy="6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zh-CN" altLang="en-US" sz="3200">
                  <a:solidFill>
                    <a:srgbClr val="000000"/>
                  </a:solidFill>
                </a:rPr>
                <a:t>‘’括起来的一个字符</a:t>
              </a:r>
            </a:p>
            <a:p>
              <a:pPr algn="ctr">
                <a:lnSpc>
                  <a:spcPct val="70000"/>
                </a:lnSpc>
              </a:pPr>
              <a:r>
                <a:rPr lang="zh-CN" altLang="en-US" sz="3200">
                  <a:solidFill>
                    <a:srgbClr val="000000"/>
                  </a:solidFill>
                </a:rPr>
                <a:t> 或</a:t>
              </a:r>
              <a:r>
                <a:rPr lang="zh-CN" altLang="en-US" sz="320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以 \ 开头</a:t>
              </a:r>
              <a:r>
                <a:rPr lang="zh-CN" altLang="en-US" sz="3200">
                  <a:solidFill>
                    <a:srgbClr val="000000"/>
                  </a:solidFill>
                </a:rPr>
                <a:t>的字符序列</a:t>
              </a:r>
            </a:p>
          </p:txBody>
        </p:sp>
        <p:sp>
          <p:nvSpPr>
            <p:cNvPr id="21519" name="AutoShape 15"/>
            <p:cNvSpPr>
              <a:spLocks/>
            </p:cNvSpPr>
            <p:nvPr/>
          </p:nvSpPr>
          <p:spPr bwMode="auto">
            <a:xfrm>
              <a:off x="2872" y="2633"/>
              <a:ext cx="76" cy="427"/>
            </a:xfrm>
            <a:prstGeom prst="leftBrace">
              <a:avLst>
                <a:gd name="adj1" fmla="val 44956"/>
                <a:gd name="adj2" fmla="val 50000"/>
              </a:avLst>
            </a:prstGeom>
            <a:noFill/>
            <a:ln w="508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autoUpdateAnimBg="0"/>
      <p:bldP spid="21514" grpId="0" autoUpdateAnimBg="0"/>
      <p:bldP spid="21516" grpId="0" autoUpdateAnimBg="0"/>
      <p:bldP spid="21511" grpId="0" autoUpdateAnimBg="0"/>
      <p:bldP spid="2151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A2E0-0D99-4701-91A5-DA224B2CF2B6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047972" y="1626152"/>
            <a:ext cx="1033591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二、变量 </a:t>
            </a:r>
            <a:r>
              <a:rPr lang="zh-CN" altLang="en-US" dirty="0">
                <a:solidFill>
                  <a:srgbClr val="000000"/>
                </a:solidFill>
              </a:rPr>
              <a:t>其值可以改变的量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zh-CN" altLang="en-US" sz="3200" dirty="0">
                <a:solidFill>
                  <a:srgbClr val="000000"/>
                </a:solidFill>
              </a:rPr>
              <a:t>每个变量都代表一块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内存区域，</a:t>
            </a:r>
            <a:r>
              <a:rPr lang="zh-CN" altLang="en-US" sz="32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区域的大小由类型确定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736725" y="289781"/>
            <a:ext cx="33924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2、变量的定义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579563" y="1285787"/>
            <a:ext cx="70993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用</a:t>
            </a:r>
            <a:r>
              <a:rPr lang="zh-CN" altLang="en-US" sz="3200" u="sng" dirty="0">
                <a:solidFill>
                  <a:srgbClr val="A50021"/>
                </a:solidFill>
              </a:rPr>
              <a:t>变量定义语句</a:t>
            </a:r>
            <a:r>
              <a:rPr lang="zh-CN" altLang="en-US" sz="3200" dirty="0">
                <a:solidFill>
                  <a:srgbClr val="000000"/>
                </a:solidFill>
              </a:rPr>
              <a:t>定义变量及其类型</a:t>
            </a: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1630363" y="1984287"/>
            <a:ext cx="5237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(1)  变量定义语句的格式</a:t>
            </a:r>
            <a:endParaRPr lang="zh-CN" altLang="en-US" sz="3200" u="sng" dirty="0">
              <a:solidFill>
                <a:srgbClr val="000000"/>
              </a:solidFill>
            </a:endParaRP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582863" y="3169444"/>
            <a:ext cx="6577013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类型关键字  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变量名表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sz="2800" dirty="0">
                <a:solidFill>
                  <a:schemeClr val="bg2"/>
                </a:solidFill>
              </a:rPr>
              <a:t>如：</a:t>
            </a:r>
            <a:endParaRPr lang="en-US" altLang="zh-CN" sz="2800" dirty="0">
              <a:solidFill>
                <a:schemeClr val="bg2"/>
              </a:solidFill>
            </a:endParaRPr>
          </a:p>
          <a:p>
            <a:pPr lvl="1"/>
            <a:r>
              <a:rPr lang="en-US" altLang="zh-CN" dirty="0">
                <a:solidFill>
                  <a:schemeClr val="bg2"/>
                </a:solidFill>
              </a:rPr>
              <a:t>int </a:t>
            </a:r>
            <a:r>
              <a:rPr lang="en-US" altLang="zh-CN" dirty="0" err="1">
                <a:solidFill>
                  <a:schemeClr val="bg2"/>
                </a:solidFill>
              </a:rPr>
              <a:t>a,b,c</a:t>
            </a:r>
            <a:r>
              <a:rPr lang="en-US" altLang="zh-CN" dirty="0">
                <a:solidFill>
                  <a:schemeClr val="bg2"/>
                </a:solidFill>
              </a:rPr>
              <a:t>;</a:t>
            </a:r>
          </a:p>
          <a:p>
            <a:pPr lvl="1"/>
            <a:r>
              <a:rPr lang="en-US" altLang="zh-CN" dirty="0">
                <a:solidFill>
                  <a:schemeClr val="bg2"/>
                </a:solidFill>
              </a:rPr>
              <a:t>double </a:t>
            </a:r>
            <a:r>
              <a:rPr lang="en-US" altLang="zh-CN" dirty="0" err="1">
                <a:solidFill>
                  <a:schemeClr val="bg2"/>
                </a:solidFill>
              </a:rPr>
              <a:t>x,y</a:t>
            </a:r>
            <a:r>
              <a:rPr lang="en-US" altLang="zh-CN" dirty="0">
                <a:solidFill>
                  <a:schemeClr val="bg2"/>
                </a:solidFill>
              </a:rPr>
              <a:t>=3.14;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autoUpdateAnimBg="0"/>
      <p:bldP spid="2458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2440513" y="3892060"/>
            <a:ext cx="11557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实型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440513" y="5511496"/>
            <a:ext cx="1552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字符型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1253809" y="557214"/>
            <a:ext cx="3271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</a:rPr>
              <a:t>(2)  类型关键字</a:t>
            </a: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2399238" y="2449021"/>
            <a:ext cx="1244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3200">
                <a:solidFill>
                  <a:srgbClr val="000000"/>
                </a:solidFill>
              </a:rPr>
              <a:t>整型</a:t>
            </a: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4861720" y="1930719"/>
            <a:ext cx="3554412" cy="178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基本型</a:t>
            </a:r>
            <a:r>
              <a:rPr lang="zh-CN" altLang="en-US" sz="2800">
                <a:solidFill>
                  <a:srgbClr val="008080"/>
                </a:solidFill>
              </a:rPr>
              <a:t>      </a:t>
            </a:r>
            <a:r>
              <a:rPr lang="en-US" altLang="en-US" sz="2800">
                <a:solidFill>
                  <a:srgbClr val="A50021"/>
                </a:solidFill>
              </a:rPr>
              <a:t>int</a:t>
            </a:r>
            <a:endParaRPr lang="en-US" altLang="zh-CN" sz="2800">
              <a:solidFill>
                <a:srgbClr val="A50021"/>
              </a:solidFill>
            </a:endParaRPr>
          </a:p>
          <a:p>
            <a:pPr>
              <a:lnSpc>
                <a:spcPct val="6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短整型</a:t>
            </a:r>
            <a:r>
              <a:rPr lang="zh-CN" altLang="en-US" sz="2800">
                <a:solidFill>
                  <a:srgbClr val="008080"/>
                </a:solidFill>
              </a:rPr>
              <a:t>      </a:t>
            </a:r>
            <a:r>
              <a:rPr lang="en-US" altLang="zh-CN" sz="2800">
                <a:solidFill>
                  <a:srgbClr val="A50021"/>
                </a:solidFill>
              </a:rPr>
              <a:t>short</a:t>
            </a:r>
          </a:p>
          <a:p>
            <a:pPr>
              <a:lnSpc>
                <a:spcPct val="6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长整型  </a:t>
            </a:r>
            <a:r>
              <a:rPr lang="zh-CN" altLang="en-US" sz="2800">
                <a:solidFill>
                  <a:srgbClr val="008080"/>
                </a:solidFill>
              </a:rPr>
              <a:t>    </a:t>
            </a:r>
            <a:r>
              <a:rPr lang="en-US" altLang="zh-CN" sz="2800">
                <a:solidFill>
                  <a:srgbClr val="A50021"/>
                </a:solidFill>
              </a:rPr>
              <a:t>long</a:t>
            </a:r>
          </a:p>
          <a:p>
            <a:pPr>
              <a:lnSpc>
                <a:spcPct val="60000"/>
              </a:lnSpc>
            </a:pPr>
            <a:r>
              <a:rPr lang="zh-CN" altLang="en-US" sz="2800">
                <a:solidFill>
                  <a:srgbClr val="000000"/>
                </a:solidFill>
              </a:rPr>
              <a:t>无符号型</a:t>
            </a:r>
            <a:r>
              <a:rPr lang="zh-CN" altLang="en-US" sz="2800">
                <a:solidFill>
                  <a:srgbClr val="008080"/>
                </a:solidFill>
              </a:rPr>
              <a:t>  </a:t>
            </a:r>
            <a:r>
              <a:rPr lang="en-US" altLang="zh-CN" sz="2800">
                <a:solidFill>
                  <a:srgbClr val="A50021"/>
                </a:solidFill>
              </a:rPr>
              <a:t>unsigned</a:t>
            </a:r>
          </a:p>
        </p:txBody>
      </p:sp>
      <p:sp>
        <p:nvSpPr>
          <p:cNvPr id="24591" name="AutoShape 15"/>
          <p:cNvSpPr>
            <a:spLocks/>
          </p:cNvSpPr>
          <p:nvPr/>
        </p:nvSpPr>
        <p:spPr bwMode="auto">
          <a:xfrm>
            <a:off x="3574335" y="1930719"/>
            <a:ext cx="603684" cy="1577064"/>
          </a:xfrm>
          <a:prstGeom prst="leftBrace">
            <a:avLst>
              <a:gd name="adj1" fmla="val 36265"/>
              <a:gd name="adj2" fmla="val 50000"/>
            </a:avLst>
          </a:prstGeom>
          <a:noFill/>
          <a:ln w="508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4815682" y="3917685"/>
            <a:ext cx="3328988" cy="83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6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单精度型</a:t>
            </a:r>
            <a:r>
              <a:rPr lang="zh-CN" altLang="en-US" sz="2800" dirty="0">
                <a:solidFill>
                  <a:srgbClr val="008080"/>
                </a:solidFill>
              </a:rPr>
              <a:t>  </a:t>
            </a:r>
            <a:r>
              <a:rPr lang="en-US" altLang="zh-CN" sz="2800" dirty="0">
                <a:solidFill>
                  <a:srgbClr val="A50021"/>
                </a:solidFill>
              </a:rPr>
              <a:t>float</a:t>
            </a:r>
          </a:p>
          <a:p>
            <a:pPr>
              <a:lnSpc>
                <a:spcPct val="6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双精度型</a:t>
            </a:r>
            <a:r>
              <a:rPr lang="zh-CN" altLang="en-US" sz="2800" dirty="0">
                <a:solidFill>
                  <a:srgbClr val="008080"/>
                </a:solidFill>
              </a:rPr>
              <a:t>  </a:t>
            </a:r>
            <a:r>
              <a:rPr lang="en-US" altLang="zh-CN" sz="2800" dirty="0">
                <a:solidFill>
                  <a:srgbClr val="A50021"/>
                </a:solidFill>
              </a:rPr>
              <a:t>double</a:t>
            </a:r>
            <a:endParaRPr lang="en-US" altLang="zh-CN" sz="3200" dirty="0">
              <a:solidFill>
                <a:srgbClr val="A50021"/>
              </a:solidFill>
            </a:endParaRPr>
          </a:p>
        </p:txBody>
      </p:sp>
      <p:sp>
        <p:nvSpPr>
          <p:cNvPr id="24592" name="AutoShape 16"/>
          <p:cNvSpPr>
            <a:spLocks/>
          </p:cNvSpPr>
          <p:nvPr/>
        </p:nvSpPr>
        <p:spPr bwMode="auto">
          <a:xfrm>
            <a:off x="3659201" y="3829541"/>
            <a:ext cx="518818" cy="746343"/>
          </a:xfrm>
          <a:prstGeom prst="leftBrace">
            <a:avLst>
              <a:gd name="adj1" fmla="val 34540"/>
              <a:gd name="adj2" fmla="val 50000"/>
            </a:avLst>
          </a:prstGeom>
          <a:noFill/>
          <a:ln w="508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6480176" y="5414010"/>
            <a:ext cx="974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A50021"/>
                </a:solidFill>
              </a:rPr>
              <a:t>char</a:t>
            </a:r>
            <a:endParaRPr lang="zh-CN" altLang="en-US" sz="3200" dirty="0">
              <a:solidFill>
                <a:srgbClr val="A50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86964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7" grpId="0" autoUpdateAnimBg="0"/>
      <p:bldP spid="24588" grpId="0" autoUpdateAnimBg="0"/>
      <p:bldP spid="24584" grpId="0" autoUpdateAnimBg="0"/>
      <p:bldP spid="24585" grpId="0" autoUpdateAnimBg="0"/>
      <p:bldP spid="24586" grpId="0" autoUpdateAnimBg="0"/>
      <p:bldP spid="24591" grpId="0" animBg="1"/>
      <p:bldP spid="24589" grpId="0" autoUpdateAnimBg="0"/>
      <p:bldP spid="24592" grpId="0" animBg="1"/>
      <p:bldP spid="245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784307" y="6319520"/>
            <a:ext cx="2540000" cy="457200"/>
          </a:xfrm>
        </p:spPr>
        <p:txBody>
          <a:bodyPr/>
          <a:lstStyle/>
          <a:p>
            <a:fld id="{3CCD28F8-F52E-4A21-91C9-58B061286905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164557" y="406158"/>
            <a:ext cx="19065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(3)  说明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2164557" y="1166496"/>
            <a:ext cx="7315200" cy="1280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>
                <a:solidFill>
                  <a:srgbClr val="000000"/>
                </a:solidFill>
              </a:rPr>
              <a:t>①  必须在程序执行部分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之前</a:t>
            </a:r>
            <a:r>
              <a:rPr lang="zh-CN" altLang="en-US" sz="3200">
                <a:solidFill>
                  <a:srgbClr val="000000"/>
                </a:solidFill>
              </a:rPr>
              <a:t>对程序</a:t>
            </a:r>
          </a:p>
          <a:p>
            <a:pPr>
              <a:lnSpc>
                <a:spcPct val="90000"/>
              </a:lnSpc>
            </a:pPr>
            <a:r>
              <a:rPr lang="zh-CN" altLang="en-US" sz="3200">
                <a:solidFill>
                  <a:srgbClr val="000000"/>
                </a:solidFill>
              </a:rPr>
              <a:t>      中的</a:t>
            </a:r>
            <a:r>
              <a:rPr lang="zh-CN" altLang="en-US" sz="3200">
                <a:solidFill>
                  <a:srgbClr val="A50021"/>
                </a:solidFill>
              </a:rPr>
              <a:t>所有</a:t>
            </a:r>
            <a:r>
              <a:rPr lang="zh-CN" altLang="en-US" sz="3200">
                <a:solidFill>
                  <a:srgbClr val="000000"/>
                </a:solidFill>
              </a:rPr>
              <a:t>变量进行定义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2064546" y="2468245"/>
            <a:ext cx="7356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 ②  </a:t>
            </a:r>
            <a:r>
              <a:rPr lang="en-US" altLang="en-US" sz="3200" dirty="0">
                <a:solidFill>
                  <a:srgbClr val="000000"/>
                </a:solidFill>
              </a:rPr>
              <a:t>C</a:t>
            </a:r>
            <a:r>
              <a:rPr lang="zh-CN" altLang="en-US" sz="3200" dirty="0">
                <a:solidFill>
                  <a:srgbClr val="000000"/>
                </a:solidFill>
              </a:rPr>
              <a:t>语言中整型和字符型数据通用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2174081" y="3182621"/>
            <a:ext cx="930321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buFontTx/>
              <a:buAutoNum type="circleNumDbPlain" startAt="3"/>
            </a:pPr>
            <a:r>
              <a:rPr lang="zh-CN" altLang="en-US" sz="3200">
                <a:solidFill>
                  <a:srgbClr val="000000"/>
                </a:solidFill>
              </a:rPr>
              <a:t> 可在定义变量的同时给其赋初值</a:t>
            </a:r>
            <a:r>
              <a:rPr lang="en-US" altLang="zh-CN" sz="3200">
                <a:solidFill>
                  <a:srgbClr val="000000"/>
                </a:solidFill>
              </a:rPr>
              <a:t>-</a:t>
            </a:r>
            <a:r>
              <a:rPr lang="zh-CN" altLang="en-US" sz="3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初始化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2266512" y="4453926"/>
            <a:ext cx="5713412" cy="214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例：</a:t>
            </a:r>
            <a:r>
              <a:rPr lang="zh-CN" altLang="en-US" dirty="0">
                <a:solidFill>
                  <a:srgbClr val="0000FF"/>
                </a:solidFill>
              </a:rPr>
              <a:t>  </a:t>
            </a:r>
            <a:r>
              <a:rPr lang="en-US" altLang="en-US" dirty="0">
                <a:solidFill>
                  <a:srgbClr val="A50021"/>
                </a:solidFill>
              </a:rPr>
              <a:t>int  a=3</a:t>
            </a:r>
            <a:r>
              <a:rPr lang="en-US" altLang="zh-CN" dirty="0">
                <a:solidFill>
                  <a:srgbClr val="A50021"/>
                </a:solidFill>
              </a:rPr>
              <a:t>, b=4, c=5 </a:t>
            </a:r>
            <a:r>
              <a:rPr lang="en-US" altLang="en-US" dirty="0">
                <a:solidFill>
                  <a:srgbClr val="A50021"/>
                </a:solidFill>
              </a:rPr>
              <a:t>;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A50021"/>
                </a:solidFill>
              </a:rPr>
              <a:t>          float x, y, z=0.5;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A50021"/>
                </a:solidFill>
              </a:rPr>
              <a:t>          char w=‘a’;</a:t>
            </a:r>
            <a:endParaRPr lang="en-US" altLang="zh-CN" dirty="0">
              <a:solidFill>
                <a:srgbClr val="A50021"/>
              </a:solidFill>
            </a:endParaRPr>
          </a:p>
        </p:txBody>
      </p:sp>
      <p:sp>
        <p:nvSpPr>
          <p:cNvPr id="25614" name="Rectangle 14"/>
          <p:cNvSpPr>
            <a:spLocks noChangeArrowheads="1"/>
          </p:cNvSpPr>
          <p:nvPr/>
        </p:nvSpPr>
        <p:spPr bwMode="auto">
          <a:xfrm>
            <a:off x="2182020" y="3846196"/>
            <a:ext cx="71691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altLang="zh-CN" sz="3200" dirty="0">
                <a:solidFill>
                  <a:schemeClr val="bg2"/>
                </a:solidFill>
              </a:rPr>
              <a:t>④</a:t>
            </a:r>
            <a:r>
              <a:rPr lang="zh-CN" altLang="en-US" sz="3200" dirty="0">
                <a:solidFill>
                  <a:schemeClr val="bg2"/>
                </a:solidFill>
              </a:rPr>
              <a:t> </a:t>
            </a:r>
            <a:r>
              <a:rPr lang="zh-CN" altLang="en-US" sz="3200" dirty="0">
                <a:solidFill>
                  <a:srgbClr val="000000"/>
                </a:solidFill>
              </a:rPr>
              <a:t>变量名区分大小写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utoUpdateAnimBg="0"/>
      <p:bldP spid="25606" grpId="0" autoUpdateAnimBg="0"/>
      <p:bldP spid="25607" grpId="0" autoUpdateAnimBg="0"/>
      <p:bldP spid="25609" grpId="0" autoUpdateAnimBg="0"/>
      <p:bldP spid="2561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4475" y="845822"/>
            <a:ext cx="7923053" cy="214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 </a:t>
            </a:r>
            <a:r>
              <a:rPr lang="en-US" altLang="zh-CN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r>
              <a:rPr lang="zh-CN" altLang="en-US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语言源程序文件经过</a:t>
            </a:r>
            <a:r>
              <a:rPr lang="en-US" altLang="zh-CN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r>
              <a:rPr lang="zh-CN" altLang="en-US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编译程序</a:t>
            </a:r>
            <a:r>
              <a:rPr lang="zh-CN" altLang="en-US" sz="3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编译连接</a:t>
            </a:r>
            <a:r>
              <a:rPr lang="zh-CN" altLang="en-US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之后生成一个后缀为</a:t>
            </a:r>
            <a:r>
              <a:rPr lang="en-US" altLang="zh-CN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______</a:t>
            </a:r>
            <a:r>
              <a:rPr lang="zh-CN" altLang="en-US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的文件。</a:t>
            </a:r>
          </a:p>
        </p:txBody>
      </p:sp>
      <p:sp>
        <p:nvSpPr>
          <p:cNvPr id="31747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23764" y="27860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.c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1748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23764" y="34718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.obj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1749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23764" y="41576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.exe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1750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123764" y="48434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.bas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420561" y="28503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420561" y="35361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420561" y="42219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420561" y="49077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386873" y="6215063"/>
            <a:ext cx="1253536" cy="413386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zh-CN" altLang="en-US" sz="20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31756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906000" cy="845820"/>
            <a:chOff x="-1055078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055078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6"/>
              </p:custDataLst>
            </p:nvPr>
          </p:nvSpPr>
          <p:spPr>
            <a:xfrm>
              <a:off x="-1055078" y="0"/>
              <a:ext cx="191509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760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820616" y="0"/>
              <a:ext cx="1905001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3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31761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24546" y="8199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384654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4475" y="845822"/>
            <a:ext cx="7923053" cy="214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下列正确的标识符是</a:t>
            </a:r>
            <a:r>
              <a:rPr lang="en-US" altLang="zh-CN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(   )</a:t>
            </a:r>
          </a:p>
        </p:txBody>
      </p:sp>
      <p:sp>
        <p:nvSpPr>
          <p:cNvPr id="32771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23764" y="27860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a+b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2772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23764" y="34718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6a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2773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23764" y="41576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_do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32774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123764" y="48434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%y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420561" y="28503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420561" y="35361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420561" y="42219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420561" y="49077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386873" y="6215063"/>
            <a:ext cx="1253536" cy="413386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zh-CN" altLang="en-US" sz="20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32780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906000" cy="845820"/>
            <a:chOff x="-1055078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055078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6"/>
              </p:custDataLst>
            </p:nvPr>
          </p:nvSpPr>
          <p:spPr>
            <a:xfrm>
              <a:off x="-1055078" y="0"/>
              <a:ext cx="191509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784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820616" y="0"/>
              <a:ext cx="1905001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3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32785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24546" y="8199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6493347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3795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3797" name="Rectangle 3"/>
          <p:cNvSpPr txBox="1">
            <a:spLocks noChangeArrowheads="1"/>
          </p:cNvSpPr>
          <p:nvPr/>
        </p:nvSpPr>
        <p:spPr bwMode="auto">
          <a:xfrm>
            <a:off x="1335181" y="739140"/>
            <a:ext cx="9364403" cy="611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C</a:t>
            </a:r>
            <a:r>
              <a:rPr lang="zh-CN" altLang="en-US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语言中的整数有</a:t>
            </a:r>
            <a:r>
              <a:rPr lang="zh-CN" altLang="en-US" sz="2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三种数制</a:t>
            </a:r>
            <a:r>
              <a:rPr lang="zh-CN" altLang="en-US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：</a:t>
            </a:r>
            <a:endParaRPr lang="en-US" altLang="zh-CN" sz="2500" dirty="0">
              <a:solidFill>
                <a:schemeClr val="bg2"/>
              </a:solidFill>
              <a:latin typeface="仿宋" pitchFamily="49" charset="-122"/>
              <a:ea typeface="仿宋" pitchFamily="49" charset="-122"/>
              <a:sym typeface="Verdana" pitchFamily="34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十进制</a:t>
            </a:r>
            <a:r>
              <a:rPr lang="zh-CN" altLang="en-US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表示：以数字1~9开头的0~9序列</a:t>
            </a:r>
            <a:endParaRPr lang="en-US" altLang="zh-CN" sz="2500" dirty="0">
              <a:solidFill>
                <a:schemeClr val="bg2"/>
              </a:solidFill>
              <a:latin typeface="仿宋" pitchFamily="49" charset="-122"/>
              <a:ea typeface="仿宋" pitchFamily="49" charset="-122"/>
              <a:sym typeface="Verdana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solidFill>
                  <a:srgbClr val="A50021"/>
                </a:solidFill>
                <a:latin typeface="Times New Roman" pitchFamily="18" charset="0"/>
                <a:sym typeface="Verdana" pitchFamily="34" charset="0"/>
              </a:rPr>
              <a:t>     如9、–876、55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十六进制</a:t>
            </a:r>
            <a:r>
              <a:rPr lang="zh-CN" altLang="en-US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表示：以“0</a:t>
            </a:r>
            <a:r>
              <a:rPr lang="en-US" altLang="zh-CN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x”</a:t>
            </a:r>
            <a:r>
              <a:rPr lang="zh-CN" altLang="en-US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或“0</a:t>
            </a:r>
            <a:r>
              <a:rPr lang="en-US" altLang="zh-CN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X”</a:t>
            </a:r>
            <a:r>
              <a:rPr lang="zh-CN" altLang="en-US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开头的0~9、</a:t>
            </a:r>
            <a:r>
              <a:rPr lang="en-US" altLang="zh-CN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A/</a:t>
            </a:r>
            <a:r>
              <a:rPr lang="en-US" altLang="zh-CN" sz="25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a~F</a:t>
            </a:r>
            <a:r>
              <a:rPr lang="en-US" altLang="zh-CN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/f</a:t>
            </a:r>
            <a:r>
              <a:rPr lang="zh-CN" altLang="en-US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序列</a:t>
            </a:r>
            <a:endParaRPr lang="en-US" altLang="zh-CN" sz="2500" dirty="0">
              <a:solidFill>
                <a:schemeClr val="bg2"/>
              </a:solidFill>
              <a:latin typeface="仿宋" pitchFamily="49" charset="-122"/>
              <a:ea typeface="仿宋" pitchFamily="49" charset="-122"/>
              <a:sym typeface="Verdana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solidFill>
                  <a:srgbClr val="A50021"/>
                </a:solidFill>
                <a:latin typeface="Times New Roman" pitchFamily="18" charset="0"/>
                <a:sym typeface="Verdana" pitchFamily="34" charset="0"/>
              </a:rPr>
              <a:t>    如0</a:t>
            </a:r>
            <a:r>
              <a:rPr lang="en-US" altLang="zh-CN" sz="3200" dirty="0">
                <a:solidFill>
                  <a:srgbClr val="A50021"/>
                </a:solidFill>
                <a:latin typeface="Times New Roman" pitchFamily="18" charset="0"/>
                <a:sym typeface="Verdana" pitchFamily="34" charset="0"/>
              </a:rPr>
              <a:t>x55、</a:t>
            </a:r>
            <a:r>
              <a:rPr lang="zh-CN" altLang="en-US" sz="3200" dirty="0">
                <a:solidFill>
                  <a:srgbClr val="A50021"/>
                </a:solidFill>
                <a:latin typeface="Times New Roman" pitchFamily="18" charset="0"/>
                <a:sym typeface="Verdana" pitchFamily="34" charset="0"/>
              </a:rPr>
              <a:t>0</a:t>
            </a:r>
            <a:r>
              <a:rPr lang="en-US" altLang="zh-CN" sz="3200" dirty="0">
                <a:solidFill>
                  <a:srgbClr val="A50021"/>
                </a:solidFill>
                <a:latin typeface="Times New Roman" pitchFamily="18" charset="0"/>
                <a:sym typeface="Verdana" pitchFamily="34" charset="0"/>
              </a:rPr>
              <a:t>x1F、0x2a</a:t>
            </a:r>
          </a:p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CN" altLang="en-US" sz="25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八进制</a:t>
            </a:r>
            <a:r>
              <a:rPr lang="zh-CN" altLang="en-US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表示：以0开头的0~7序列</a:t>
            </a:r>
            <a:endParaRPr lang="en-US" altLang="zh-CN" sz="2500" dirty="0">
              <a:solidFill>
                <a:schemeClr val="bg2"/>
              </a:solidFill>
              <a:latin typeface="仿宋" pitchFamily="49" charset="-122"/>
              <a:ea typeface="仿宋" pitchFamily="49" charset="-122"/>
              <a:sym typeface="Verdana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5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   </a:t>
            </a:r>
            <a:r>
              <a:rPr lang="zh-CN" altLang="en-US" sz="3200" dirty="0">
                <a:solidFill>
                  <a:srgbClr val="A50021"/>
                </a:solidFill>
                <a:latin typeface="Times New Roman" pitchFamily="18" charset="0"/>
                <a:sym typeface="Verdana" pitchFamily="34" charset="0"/>
              </a:rPr>
              <a:t>如055</a:t>
            </a:r>
          </a:p>
        </p:txBody>
      </p:sp>
      <p:sp>
        <p:nvSpPr>
          <p:cNvPr id="6" name="Text Box 85"/>
          <p:cNvSpPr txBox="1">
            <a:spLocks noChangeArrowheads="1"/>
          </p:cNvSpPr>
          <p:nvPr/>
        </p:nvSpPr>
        <p:spPr bwMode="auto">
          <a:xfrm>
            <a:off x="373982" y="129224"/>
            <a:ext cx="4581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</a:rPr>
              <a:t>3  </a:t>
            </a:r>
            <a:r>
              <a:rPr lang="zh-CN" altLang="en-US" sz="4000" dirty="0">
                <a:solidFill>
                  <a:srgbClr val="0000CC"/>
                </a:solidFill>
              </a:rPr>
              <a:t>整型数据</a:t>
            </a:r>
          </a:p>
        </p:txBody>
      </p:sp>
    </p:spTree>
    <p:extLst>
      <p:ext uri="{BB962C8B-B14F-4D97-AF65-F5344CB8AC3E}">
        <p14:creationId xmlns:p14="http://schemas.microsoft.com/office/powerpoint/2010/main" val="2027437663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4819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4821" name="Rectangle 3"/>
          <p:cNvSpPr txBox="1">
            <a:spLocks noChangeArrowheads="1"/>
          </p:cNvSpPr>
          <p:nvPr/>
        </p:nvSpPr>
        <p:spPr bwMode="auto">
          <a:xfrm>
            <a:off x="809297" y="1348106"/>
            <a:ext cx="10951779" cy="483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 C</a:t>
            </a:r>
            <a:r>
              <a:rPr lang="zh-CN" altLang="en-US" sz="320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语言中</a:t>
            </a:r>
            <a:r>
              <a:rPr lang="en-US" altLang="zh-CN">
                <a:solidFill>
                  <a:schemeClr val="bg2"/>
                </a:solidFill>
                <a:sym typeface="Verdana" pitchFamily="34" charset="0"/>
              </a:rPr>
              <a:t>(</a:t>
            </a:r>
            <a:r>
              <a:rPr lang="zh-CN" altLang="en-US">
                <a:solidFill>
                  <a:schemeClr val="bg2"/>
                </a:solidFill>
                <a:sym typeface="Verdana" pitchFamily="34" charset="0"/>
              </a:rPr>
              <a:t>十六位）</a:t>
            </a:r>
            <a:r>
              <a:rPr lang="en-US" altLang="zh-CN">
                <a:sym typeface="Verdana" pitchFamily="34" charset="0"/>
              </a:rPr>
              <a:t>,</a:t>
            </a:r>
            <a:r>
              <a:rPr lang="zh-CN" altLang="en-US" sz="320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长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整型数用后缀“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L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”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或“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l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”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表示。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280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   例如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:</a:t>
            </a:r>
            <a:r>
              <a:rPr lang="en-US" altLang="zh-CN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325L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、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045L(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十进制形式为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37)</a:t>
            </a: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 无符号数也可用后缀表示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,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整型常数的无符号数的后缀为“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U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”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或“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u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”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  例如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:</a:t>
            </a:r>
            <a:r>
              <a:rPr lang="en-US" altLang="zh-CN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453U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、</a:t>
            </a:r>
            <a:r>
              <a:rPr lang="en-US" altLang="zh-CN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0x67Au</a:t>
            </a:r>
            <a:r>
              <a:rPr lang="zh-CN" altLang="en-US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、</a:t>
            </a:r>
            <a:r>
              <a:rPr lang="en-US" altLang="zh-CN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872Lu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均为无符号数。</a:t>
            </a:r>
          </a:p>
        </p:txBody>
      </p:sp>
    </p:spTree>
    <p:extLst>
      <p:ext uri="{BB962C8B-B14F-4D97-AF65-F5344CB8AC3E}">
        <p14:creationId xmlns:p14="http://schemas.microsoft.com/office/powerpoint/2010/main" val="1694346613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4819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4821" name="Rectangle 3"/>
          <p:cNvSpPr txBox="1">
            <a:spLocks noChangeArrowheads="1"/>
          </p:cNvSpPr>
          <p:nvPr/>
        </p:nvSpPr>
        <p:spPr bwMode="auto">
          <a:xfrm>
            <a:off x="1372464" y="1530986"/>
            <a:ext cx="9364403" cy="293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 前缀</a:t>
            </a: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,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后缀可同时</a:t>
            </a:r>
            <a:endParaRPr lang="en-US" altLang="zh-CN" dirty="0">
              <a:solidFill>
                <a:schemeClr val="bg2"/>
              </a:solidFill>
              <a:latin typeface="仿宋" pitchFamily="49" charset="-122"/>
              <a:ea typeface="仿宋" pitchFamily="49" charset="-122"/>
              <a:sym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     0XB5Lu    </a:t>
            </a:r>
            <a:r>
              <a:rPr lang="zh-CN" altLang="en-US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？</a:t>
            </a:r>
            <a:endParaRPr lang="zh-CN" altLang="en-US" dirty="0">
              <a:solidFill>
                <a:schemeClr val="bg2"/>
              </a:solidFill>
              <a:latin typeface="仿宋" pitchFamily="49" charset="-122"/>
              <a:ea typeface="仿宋" pitchFamily="49" charset="-122"/>
              <a:sym typeface="Verdana" pitchFamily="34" charset="0"/>
            </a:endParaRPr>
          </a:p>
        </p:txBody>
      </p:sp>
      <p:sp>
        <p:nvSpPr>
          <p:cNvPr id="6" name="Text Box 85"/>
          <p:cNvSpPr txBox="1">
            <a:spLocks noChangeArrowheads="1"/>
          </p:cNvSpPr>
          <p:nvPr/>
        </p:nvSpPr>
        <p:spPr bwMode="auto">
          <a:xfrm>
            <a:off x="230669" y="174231"/>
            <a:ext cx="4581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</a:rPr>
              <a:t>3  </a:t>
            </a:r>
            <a:r>
              <a:rPr lang="zh-CN" altLang="en-US" sz="4000" dirty="0">
                <a:solidFill>
                  <a:srgbClr val="0000CC"/>
                </a:solidFill>
              </a:rPr>
              <a:t>整型数据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F196E1-5748-5B50-1A60-CA1179A7CF1C}"/>
              </a:ext>
            </a:extLst>
          </p:cNvPr>
          <p:cNvSpPr txBox="1"/>
          <p:nvPr/>
        </p:nvSpPr>
        <p:spPr>
          <a:xfrm>
            <a:off x="2521432" y="39140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  <a:sym typeface="Verdana" pitchFamily="34" charset="0"/>
              </a:rPr>
              <a:t>十六进制无符号长整数</a:t>
            </a:r>
            <a:endParaRPr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4628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5843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5845" name="Rectangle 3"/>
          <p:cNvSpPr txBox="1">
            <a:spLocks noChangeArrowheads="1"/>
          </p:cNvSpPr>
          <p:nvPr/>
        </p:nvSpPr>
        <p:spPr bwMode="auto">
          <a:xfrm>
            <a:off x="1342829" y="1877477"/>
            <a:ext cx="9713820" cy="4008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40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整型数据在内存中的表示</a:t>
            </a:r>
            <a:r>
              <a:rPr lang="en-US" altLang="zh-CN" sz="40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整数不考虑正负，称为</a:t>
            </a:r>
            <a:r>
              <a:rPr lang="zh-CN" altLang="en-US" sz="40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无符号</a:t>
            </a:r>
            <a:r>
              <a:rPr lang="zh-CN" altLang="en-US" sz="4000">
                <a:solidFill>
                  <a:srgbClr val="FF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数</a:t>
            </a:r>
            <a:r>
              <a:rPr lang="zh-CN" altLang="en-US" sz="400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；</a:t>
            </a:r>
            <a:endParaRPr lang="en-US" altLang="zh-CN" sz="4000">
              <a:solidFill>
                <a:schemeClr val="bg2"/>
              </a:solidFill>
              <a:latin typeface="仿宋" pitchFamily="49" charset="-122"/>
              <a:ea typeface="仿宋" pitchFamily="49" charset="-122"/>
              <a:sym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400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考虑</a:t>
            </a:r>
            <a:r>
              <a:rPr lang="zh-CN" altLang="en-US" sz="40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正负，称为有</a:t>
            </a:r>
            <a:r>
              <a:rPr lang="zh-CN" altLang="en-US" sz="40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符号数</a:t>
            </a:r>
            <a:r>
              <a:rPr lang="zh-CN" altLang="en-US" sz="40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Verdana" pitchFamily="34" charset="0"/>
              </a:rPr>
              <a:t>。</a:t>
            </a:r>
          </a:p>
        </p:txBody>
      </p:sp>
      <p:sp>
        <p:nvSpPr>
          <p:cNvPr id="6" name="Text Box 85"/>
          <p:cNvSpPr txBox="1">
            <a:spLocks noChangeArrowheads="1"/>
          </p:cNvSpPr>
          <p:nvPr/>
        </p:nvSpPr>
        <p:spPr bwMode="auto">
          <a:xfrm>
            <a:off x="289898" y="621369"/>
            <a:ext cx="4581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</a:rPr>
              <a:t>3  </a:t>
            </a:r>
            <a:r>
              <a:rPr lang="zh-CN" altLang="en-US" sz="4000" dirty="0">
                <a:solidFill>
                  <a:srgbClr val="0000CC"/>
                </a:solidFill>
              </a:rPr>
              <a:t>整型数据</a:t>
            </a:r>
          </a:p>
        </p:txBody>
      </p:sp>
    </p:spTree>
    <p:extLst>
      <p:ext uri="{BB962C8B-B14F-4D97-AF65-F5344CB8AC3E}">
        <p14:creationId xmlns:p14="http://schemas.microsoft.com/office/powerpoint/2010/main" val="2312650671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8915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graphicFrame>
        <p:nvGraphicFramePr>
          <p:cNvPr id="7" name="Group 3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247618"/>
              </p:ext>
            </p:extLst>
          </p:nvPr>
        </p:nvGraphicFramePr>
        <p:xfrm>
          <a:off x="1280160" y="1862610"/>
          <a:ext cx="9631680" cy="373130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23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5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6564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类型标识符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字节数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范围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91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[signed] short [</a:t>
                      </a:r>
                      <a:r>
                        <a:rPr kumimoji="1" lang="en-US" altLang="zh-CN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int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] 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2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-2</a:t>
                      </a:r>
                      <a:r>
                        <a:rPr kumimoji="1" lang="en-US" altLang="zh-CN" sz="2600" b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15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~</a:t>
                      </a: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（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2</a:t>
                      </a:r>
                      <a:r>
                        <a:rPr kumimoji="1" lang="en-US" altLang="zh-CN" sz="2600" b="1" u="none" strike="noStrike" cap="none" normalizeH="0" baseline="3000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15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-1</a:t>
                      </a: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）</a:t>
                      </a:r>
                      <a:endParaRPr kumimoji="1" lang="en-US" altLang="zh-CN" sz="2600" b="1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即 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-32768~32767 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262221"/>
                  </a:ext>
                </a:extLst>
              </a:tr>
              <a:tr h="93491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[signed] </a:t>
                      </a:r>
                      <a:r>
                        <a:rPr kumimoji="1" lang="en-US" altLang="zh-CN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int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 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Microsoft Sans Serif" pitchFamily="34" charset="0"/>
                        <a:ea typeface="黑体" pitchFamily="49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4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-2</a:t>
                      </a:r>
                      <a:r>
                        <a:rPr kumimoji="1" lang="en-US" altLang="zh-CN" sz="2600" b="1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31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~</a:t>
                      </a: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（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kumimoji="1" lang="en-US" altLang="zh-CN" sz="2600" b="1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31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）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 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-2147483648~214748364 </a:t>
                      </a: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491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[signed] long [</a:t>
                      </a:r>
                      <a:r>
                        <a:rPr kumimoji="1" lang="en-US" altLang="zh-CN" sz="2600" b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int</a:t>
                      </a: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] 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4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85"/>
          <p:cNvSpPr txBox="1">
            <a:spLocks noChangeArrowheads="1"/>
          </p:cNvSpPr>
          <p:nvPr/>
        </p:nvSpPr>
        <p:spPr bwMode="auto">
          <a:xfrm>
            <a:off x="973071" y="562406"/>
            <a:ext cx="4581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3  </a:t>
            </a:r>
            <a:r>
              <a:rPr lang="zh-CN" altLang="en-US" sz="4000" dirty="0">
                <a:solidFill>
                  <a:srgbClr val="0000CC"/>
                </a:solidFill>
              </a:rPr>
              <a:t>整型数据</a:t>
            </a:r>
          </a:p>
        </p:txBody>
      </p:sp>
    </p:spTree>
    <p:extLst>
      <p:ext uri="{BB962C8B-B14F-4D97-AF65-F5344CB8AC3E}">
        <p14:creationId xmlns:p14="http://schemas.microsoft.com/office/powerpoint/2010/main" val="101947930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8915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graphicFrame>
        <p:nvGraphicFramePr>
          <p:cNvPr id="7" name="Group 3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105087"/>
              </p:ext>
            </p:extLst>
          </p:nvPr>
        </p:nvGraphicFramePr>
        <p:xfrm>
          <a:off x="1471853" y="1700210"/>
          <a:ext cx="8899240" cy="373130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54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6564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类型标识符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字节数</a:t>
                      </a:r>
                      <a:endParaRPr kumimoji="1" lang="zh-CN" altLang="en-US" sz="26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范围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491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unsigned short [int] 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2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0~</a:t>
                      </a: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（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r>
                        <a:rPr kumimoji="1" lang="en-US" altLang="zh-CN" sz="260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16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-1</a:t>
                      </a: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）</a:t>
                      </a:r>
                      <a:endParaRPr kumimoji="1" lang="en-US" altLang="zh-CN" sz="260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即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0~65535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216262"/>
                  </a:ext>
                </a:extLst>
              </a:tr>
              <a:tr h="93491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unsigned [</a:t>
                      </a:r>
                      <a:r>
                        <a:rPr kumimoji="1" lang="en-US" altLang="zh-CN" sz="260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int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] 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4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0~</a:t>
                      </a: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（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r>
                        <a:rPr kumimoji="1" lang="en-US" altLang="zh-CN" sz="260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32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-1</a:t>
                      </a: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）</a:t>
                      </a:r>
                      <a:endParaRPr kumimoji="1" lang="en-US" altLang="zh-CN" sz="260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即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0~4294967295 </a:t>
                      </a:r>
                      <a:endParaRPr kumimoji="1" lang="zh-CN" altLang="en-US" sz="260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4915"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unsigned long [int] 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4</a:t>
                      </a:r>
                      <a:endParaRPr kumimoji="1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0" hangingPunct="1">
                        <a:spcBef>
                          <a:spcPct val="60000"/>
                        </a:spcBef>
                        <a:buClr>
                          <a:srgbClr val="FFF59B"/>
                        </a:buClr>
                        <a:defRPr kumimoji="1" sz="28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1pPr>
                      <a:lvl2pPr marL="742950" indent="-285750" algn="l" defTabSz="914400" rtl="0" eaLnBrk="1" latinLnBrk="0" hangingPunct="1">
                        <a:spcBef>
                          <a:spcPct val="40000"/>
                        </a:spcBef>
                        <a:buClr>
                          <a:srgbClr val="FFF59B"/>
                        </a:buClr>
                        <a:defRPr kumimoji="1" sz="24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2pPr>
                      <a:lvl3pPr marL="1143000" indent="-228600" algn="l" defTabSz="914400" rtl="0" eaLnBrk="1" latinLnBrk="0" hangingPunct="1">
                        <a:lnSpc>
                          <a:spcPct val="95000"/>
                        </a:lnSpc>
                        <a:spcBef>
                          <a:spcPct val="35000"/>
                        </a:spcBef>
                        <a:buClr>
                          <a:srgbClr val="FFF59B"/>
                        </a:buClr>
                        <a:defRPr kumimoji="1" sz="2000" b="1" kern="1200">
                          <a:solidFill>
                            <a:srgbClr val="FFF59B"/>
                          </a:solidFill>
                          <a:latin typeface="Microsoft Sans Serif" pitchFamily="34" charset="0"/>
                          <a:ea typeface="黑体" pitchFamily="49" charset="-122"/>
                        </a:defRPr>
                      </a:lvl3pPr>
                      <a:lvl4pPr marL="16002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 marL="2057400" indent="-228600" algn="l" defTabSz="914400" rtl="0" eaLnBrk="1" latinLnBrk="0" hangingPunct="1">
                        <a:lnSpc>
                          <a:spcPct val="75000"/>
                        </a:lnSpc>
                        <a:spcBef>
                          <a:spcPct val="30000"/>
                        </a:spcBef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rgbClr val="0000CC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0~4294967295      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FFF59B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</a:rPr>
                        <a:t>即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0~</a:t>
                      </a: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（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r>
                        <a:rPr kumimoji="1" lang="en-US" altLang="zh-CN" sz="260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32</a:t>
                      </a:r>
                      <a:r>
                        <a:rPr kumimoji="1" lang="en-US" altLang="zh-CN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-1</a:t>
                      </a:r>
                      <a:r>
                        <a:rPr kumimoji="1" lang="zh-CN" altLang="en-US" sz="260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） </a:t>
                      </a:r>
                      <a:endParaRPr kumimoji="1" lang="zh-CN" altLang="en-US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Palatino Linotype" pitchFamily="18" charset="0"/>
                        <a:ea typeface="华文楷体" pitchFamily="2" charset="-122"/>
                      </a:endParaRPr>
                    </a:p>
                  </a:txBody>
                  <a:tcPr marL="99051" marR="99051" marT="60973" marB="60973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Box 85"/>
          <p:cNvSpPr txBox="1">
            <a:spLocks noChangeArrowheads="1"/>
          </p:cNvSpPr>
          <p:nvPr/>
        </p:nvSpPr>
        <p:spPr bwMode="auto">
          <a:xfrm>
            <a:off x="1099195" y="557052"/>
            <a:ext cx="45815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 dirty="0">
                <a:solidFill>
                  <a:srgbClr val="0000CC"/>
                </a:solidFill>
              </a:rPr>
              <a:t>3  </a:t>
            </a:r>
            <a:r>
              <a:rPr lang="zh-CN" altLang="en-US" sz="4000" dirty="0">
                <a:solidFill>
                  <a:srgbClr val="0000CC"/>
                </a:solidFill>
              </a:rPr>
              <a:t>整型数据</a:t>
            </a:r>
          </a:p>
        </p:txBody>
      </p:sp>
    </p:spTree>
    <p:extLst>
      <p:ext uri="{BB962C8B-B14F-4D97-AF65-F5344CB8AC3E}">
        <p14:creationId xmlns:p14="http://schemas.microsoft.com/office/powerpoint/2010/main" val="87008890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1987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283494" y="1299728"/>
            <a:ext cx="9163487" cy="4970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461" tIns="57731" rIns="115461" bIns="5773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实数型常量：</a:t>
            </a:r>
            <a:endParaRPr lang="en-US" altLang="zh-CN" sz="2800" dirty="0">
              <a:solidFill>
                <a:schemeClr val="bg2"/>
              </a:solidFill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实型也称浮点型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实型常量也称实数或浮点数。</a:t>
            </a:r>
            <a:endParaRPr lang="en-US" altLang="zh-CN" sz="28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Ｃ语言中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实数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只有十进制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有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小数形式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指数形式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二种。 </a:t>
            </a:r>
            <a:endParaRPr lang="en-US" altLang="zh-CN" sz="28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一般形式：小数表示法</a:t>
            </a:r>
          </a:p>
          <a:p>
            <a:pPr marL="787783" lvl="1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由整数部分、小数点与小数部分组成</a:t>
            </a:r>
          </a:p>
          <a:p>
            <a:pPr marL="787783" lvl="1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例：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3.1416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、</a:t>
            </a:r>
            <a:r>
              <a:rPr lang="en-US" altLang="zh-CN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.0666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、</a:t>
            </a:r>
            <a:r>
              <a:rPr lang="en-US" altLang="zh-CN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–2.71828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、</a:t>
            </a:r>
            <a:r>
              <a:rPr lang="en-US" altLang="zh-CN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888.</a:t>
            </a:r>
          </a:p>
        </p:txBody>
      </p:sp>
      <p:sp>
        <p:nvSpPr>
          <p:cNvPr id="6" name="Text Box 59"/>
          <p:cNvSpPr txBox="1">
            <a:spLocks noChangeArrowheads="1"/>
          </p:cNvSpPr>
          <p:nvPr/>
        </p:nvSpPr>
        <p:spPr bwMode="auto">
          <a:xfrm>
            <a:off x="1283494" y="300038"/>
            <a:ext cx="65325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</a:rPr>
              <a:t>4  </a:t>
            </a:r>
            <a:r>
              <a:rPr lang="zh-CN" altLang="en-US" dirty="0">
                <a:solidFill>
                  <a:srgbClr val="0000CC"/>
                </a:solidFill>
              </a:rPr>
              <a:t>实型数据</a:t>
            </a:r>
            <a:r>
              <a:rPr lang="zh-CN" altLang="en-US" dirty="0">
                <a:solidFill>
                  <a:srgbClr val="000000"/>
                </a:solidFill>
              </a:rPr>
              <a:t>（浮点数）</a:t>
            </a:r>
          </a:p>
        </p:txBody>
      </p:sp>
    </p:spTree>
    <p:extLst>
      <p:ext uri="{BB962C8B-B14F-4D97-AF65-F5344CB8AC3E}">
        <p14:creationId xmlns:p14="http://schemas.microsoft.com/office/powerpoint/2010/main" val="74997207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1987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405415" y="1332651"/>
            <a:ext cx="9163487" cy="497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461" tIns="57731" rIns="115461" bIns="5773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指数形式：科学计数法由尾数部分、字符‘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E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’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/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‘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e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’与指数部分组成</a:t>
            </a:r>
          </a:p>
          <a:p>
            <a:pPr marL="787783" lvl="1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例：3.14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e3 = 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3.14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Symbol" pitchFamily="18" charset="2"/>
              </a:rPr>
              <a:t>10</a:t>
            </a:r>
            <a:r>
              <a:rPr lang="en-US" altLang="zh-CN" sz="2800" baseline="300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3</a:t>
            </a:r>
            <a:endParaRPr lang="en-US" altLang="zh-CN" sz="28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787783" lvl="1"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–2.7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E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–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2 = 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–2.7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  <a:sym typeface="Symbol" pitchFamily="18" charset="2"/>
              </a:rPr>
              <a:t>10</a:t>
            </a:r>
            <a:r>
              <a:rPr lang="zh-CN" altLang="en-US" sz="2800" baseline="300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–</a:t>
            </a:r>
            <a:r>
              <a:rPr lang="en-US" altLang="zh-CN" sz="2800" baseline="300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2</a:t>
            </a:r>
            <a:endParaRPr lang="en-US" altLang="zh-CN" sz="28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787783" lvl="1"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E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左右必有数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指数必为整</a:t>
            </a:r>
            <a:r>
              <a:rPr lang="en-US" altLang="zh-CN" sz="24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</a:t>
            </a:r>
            <a:endParaRPr lang="zh-CN" altLang="en-US" sz="24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787783" lvl="1"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错误的浮点数</a:t>
            </a:r>
            <a:r>
              <a:rPr lang="zh-CN" altLang="en-US" sz="280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常量：</a:t>
            </a:r>
            <a:r>
              <a:rPr lang="en-US" altLang="zh-CN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4e</a:t>
            </a:r>
            <a:r>
              <a:rPr lang="zh-CN" altLang="en-US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e4</a:t>
            </a:r>
            <a:r>
              <a:rPr lang="zh-CN" altLang="en-US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3.14e5.1</a:t>
            </a:r>
            <a:endParaRPr lang="en-US" altLang="zh-CN" sz="2800" dirty="0">
              <a:solidFill>
                <a:srgbClr val="C0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6" name="Text Box 59"/>
          <p:cNvSpPr txBox="1">
            <a:spLocks noChangeArrowheads="1"/>
          </p:cNvSpPr>
          <p:nvPr/>
        </p:nvSpPr>
        <p:spPr bwMode="auto">
          <a:xfrm>
            <a:off x="1283494" y="300038"/>
            <a:ext cx="65325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</a:rPr>
              <a:t>4  </a:t>
            </a:r>
            <a:r>
              <a:rPr lang="zh-CN" altLang="en-US" dirty="0">
                <a:solidFill>
                  <a:srgbClr val="0000CC"/>
                </a:solidFill>
              </a:rPr>
              <a:t>实型数据</a:t>
            </a:r>
            <a:r>
              <a:rPr lang="zh-CN" altLang="en-US" dirty="0">
                <a:solidFill>
                  <a:srgbClr val="000000"/>
                </a:solidFill>
              </a:rPr>
              <a:t>（浮点数）</a:t>
            </a:r>
          </a:p>
        </p:txBody>
      </p:sp>
    </p:spTree>
    <p:extLst>
      <p:ext uri="{BB962C8B-B14F-4D97-AF65-F5344CB8AC3E}">
        <p14:creationId xmlns:p14="http://schemas.microsoft.com/office/powerpoint/2010/main" val="28826671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3011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auto">
          <a:xfrm>
            <a:off x="1390354" y="363486"/>
            <a:ext cx="9364403" cy="6143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461" tIns="57731" rIns="115461" bIns="5773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黑体" pitchFamily="49" charset="-122"/>
                <a:ea typeface="黑体" pitchFamily="49" charset="-122"/>
              </a:rPr>
              <a:t>实型变量：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分为单精度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(float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型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、双精度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(double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型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。</a:t>
            </a:r>
            <a:endParaRPr lang="en-US" altLang="zh-CN" sz="28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一般系统中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一个</a:t>
            </a:r>
            <a:r>
              <a:rPr lang="en-US" altLang="zh-CN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float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型数据在内存中占</a:t>
            </a:r>
            <a:r>
              <a:rPr lang="en-US" altLang="zh-CN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4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个字节，单精度实数提供</a:t>
            </a:r>
            <a:r>
              <a:rPr lang="en-US" altLang="zh-CN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7~8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位有效数字</a:t>
            </a:r>
            <a:endParaRPr lang="en-US" altLang="zh-CN" sz="2800" dirty="0">
              <a:solidFill>
                <a:srgbClr val="C00000"/>
              </a:solidFill>
              <a:latin typeface="仿宋" pitchFamily="49" charset="-122"/>
              <a:ea typeface="仿宋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一个</a:t>
            </a:r>
            <a:r>
              <a:rPr lang="en-US" altLang="zh-CN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double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型数据占</a:t>
            </a:r>
            <a:r>
              <a:rPr lang="en-US" altLang="zh-CN" sz="40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8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个字节。</a:t>
            </a:r>
            <a:r>
              <a:rPr lang="en-US" altLang="zh-CN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,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双精度实数提供</a:t>
            </a:r>
            <a:r>
              <a:rPr lang="en-US" altLang="zh-CN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15~16</a:t>
            </a:r>
            <a:r>
              <a:rPr lang="zh-CN" altLang="en-US" sz="28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位有效数字数值的范围随机器系统而异。</a:t>
            </a:r>
            <a:endParaRPr lang="en-US" altLang="zh-CN" sz="2800" dirty="0">
              <a:solidFill>
                <a:srgbClr val="C00000"/>
              </a:solidFill>
              <a:latin typeface="仿宋" pitchFamily="49" charset="-122"/>
              <a:ea typeface="仿宋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47361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4035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335180" y="0"/>
            <a:ext cx="9161303" cy="5832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461" tIns="57731" rIns="115461" bIns="5773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#include &lt;stdio.h&gt;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main()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float x=101235342.98345678;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double y=422222222345.11223344556677889900;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("x=%f</a:t>
            </a: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y=%lf\</a:t>
            </a:r>
            <a:r>
              <a:rPr lang="en-US" altLang="zh-CN" sz="2800" dirty="0" err="1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n",x,y</a:t>
            </a:r>
            <a:r>
              <a:rPr lang="en-US" altLang="zh-CN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); }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程序的运行结果为：</a:t>
            </a:r>
            <a:endParaRPr lang="en-US" altLang="zh-CN" sz="28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7708" y="5852555"/>
            <a:ext cx="7247998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x=</a:t>
            </a:r>
            <a:r>
              <a:rPr lang="en-US" altLang="zh-CN" sz="24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10123534</a:t>
            </a:r>
            <a:r>
              <a:rPr lang="en-US" altLang="zh-CN" sz="24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4.000000</a:t>
            </a:r>
            <a:r>
              <a:rPr lang="zh-CN" altLang="en-US" sz="24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y=</a:t>
            </a:r>
            <a:r>
              <a:rPr lang="en-US" altLang="zh-CN" sz="24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422222222345.1122</a:t>
            </a:r>
            <a:r>
              <a:rPr lang="en-US" altLang="zh-CN" sz="24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40 </a:t>
            </a:r>
          </a:p>
        </p:txBody>
      </p:sp>
    </p:spTree>
    <p:extLst>
      <p:ext uri="{BB962C8B-B14F-4D97-AF65-F5344CB8AC3E}">
        <p14:creationId xmlns:p14="http://schemas.microsoft.com/office/powerpoint/2010/main" val="36491962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10EE4-3EA2-4C56-B3E0-850C8F6662EE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351236" name="Text Box 4"/>
          <p:cNvSpPr txBox="1">
            <a:spLocks noChangeArrowheads="1"/>
          </p:cNvSpPr>
          <p:nvPr/>
        </p:nvSpPr>
        <p:spPr bwMode="auto">
          <a:xfrm>
            <a:off x="2255838" y="1352551"/>
            <a:ext cx="763905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</a:rPr>
              <a:t>1、常量：小数形式</a:t>
            </a:r>
            <a:r>
              <a:rPr lang="zh-CN" altLang="en-US" sz="2800" dirty="0">
                <a:solidFill>
                  <a:srgbClr val="008080"/>
                </a:solidFill>
              </a:rPr>
              <a:t>    </a:t>
            </a:r>
            <a:r>
              <a:rPr lang="zh-CN" altLang="en-US" sz="2800" dirty="0">
                <a:solidFill>
                  <a:srgbClr val="A50021"/>
                </a:solidFill>
              </a:rPr>
              <a:t>.567 ，-789. ，0.0 , 5.0</a:t>
            </a:r>
          </a:p>
          <a:p>
            <a:pPr>
              <a:lnSpc>
                <a:spcPct val="80000"/>
              </a:lnSpc>
            </a:pPr>
            <a:r>
              <a:rPr lang="zh-CN" altLang="en-US" sz="2800" dirty="0">
                <a:solidFill>
                  <a:srgbClr val="008080"/>
                </a:solidFill>
              </a:rPr>
              <a:t>                  </a:t>
            </a:r>
            <a:r>
              <a:rPr lang="zh-CN" altLang="en-US" sz="2800" dirty="0">
                <a:solidFill>
                  <a:srgbClr val="000000"/>
                </a:solidFill>
              </a:rPr>
              <a:t>指数形式</a:t>
            </a:r>
            <a:r>
              <a:rPr lang="zh-CN" altLang="en-US" sz="2800" dirty="0">
                <a:solidFill>
                  <a:srgbClr val="008080"/>
                </a:solidFill>
              </a:rPr>
              <a:t>     </a:t>
            </a:r>
            <a:r>
              <a:rPr lang="zh-CN" altLang="en-US" sz="2800" dirty="0">
                <a:solidFill>
                  <a:srgbClr val="A50021"/>
                </a:solidFill>
              </a:rPr>
              <a:t>123</a:t>
            </a:r>
            <a:r>
              <a:rPr lang="en-US" altLang="zh-CN" sz="2800" dirty="0">
                <a:solidFill>
                  <a:srgbClr val="A50021"/>
                </a:solidFill>
              </a:rPr>
              <a:t>e4 ， -753E-5</a:t>
            </a:r>
          </a:p>
          <a:p>
            <a:pPr>
              <a:lnSpc>
                <a:spcPct val="80000"/>
              </a:lnSpc>
            </a:pP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endParaRPr lang="en-US" altLang="zh-CN" sz="2800" dirty="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r>
              <a:rPr lang="zh-CN" altLang="en-US" sz="2800" dirty="0">
                <a:solidFill>
                  <a:srgbClr val="000000"/>
                </a:solidFill>
              </a:rPr>
              <a:t>2、变量：</a:t>
            </a:r>
            <a:r>
              <a:rPr lang="en-US" altLang="zh-CN" sz="2800" dirty="0">
                <a:solidFill>
                  <a:srgbClr val="A50021"/>
                </a:solidFill>
              </a:rPr>
              <a:t>float  x ;  double y ; 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solidFill>
                  <a:srgbClr val="A50021"/>
                </a:solidFill>
              </a:rPr>
              <a:t>                  x=2.14159 ; y=7.86e12</a:t>
            </a:r>
          </a:p>
        </p:txBody>
      </p:sp>
      <p:sp>
        <p:nvSpPr>
          <p:cNvPr id="351291" name="Text Box 59"/>
          <p:cNvSpPr txBox="1">
            <a:spLocks noChangeArrowheads="1"/>
          </p:cNvSpPr>
          <p:nvPr/>
        </p:nvSpPr>
        <p:spPr bwMode="auto">
          <a:xfrm>
            <a:off x="1283494" y="300038"/>
            <a:ext cx="65325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dirty="0">
                <a:solidFill>
                  <a:srgbClr val="0000CC"/>
                </a:solidFill>
              </a:rPr>
              <a:t>实型数据</a:t>
            </a:r>
            <a:r>
              <a:rPr lang="zh-CN" altLang="en-US" dirty="0">
                <a:solidFill>
                  <a:srgbClr val="000000"/>
                </a:solidFill>
              </a:rPr>
              <a:t>（浮点数）</a:t>
            </a:r>
            <a:r>
              <a:rPr lang="en-US" altLang="zh-CN" dirty="0">
                <a:solidFill>
                  <a:srgbClr val="000000"/>
                </a:solidFill>
              </a:rPr>
              <a:t>-</a:t>
            </a:r>
            <a:r>
              <a:rPr lang="zh-CN" altLang="en-US" dirty="0">
                <a:solidFill>
                  <a:srgbClr val="000000"/>
                </a:solidFill>
              </a:rPr>
              <a:t>小结</a:t>
            </a: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7549A-E108-448B-8445-23E9C3F1FCB1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355350" name="Text Box 22"/>
          <p:cNvSpPr txBox="1">
            <a:spLocks noChangeArrowheads="1"/>
          </p:cNvSpPr>
          <p:nvPr/>
        </p:nvSpPr>
        <p:spPr bwMode="auto">
          <a:xfrm>
            <a:off x="1281114" y="887413"/>
            <a:ext cx="9615487" cy="5213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宋体" pitchFamily="2" charset="-122"/>
              </a:rPr>
              <a:t>4、实型常量的类型</a:t>
            </a:r>
          </a:p>
          <a:p>
            <a:r>
              <a:rPr lang="zh-CN" altLang="en-US" sz="3200" dirty="0">
                <a:solidFill>
                  <a:srgbClr val="000000"/>
                </a:solidFill>
                <a:latin typeface="宋体" pitchFamily="2" charset="-122"/>
              </a:rPr>
              <a:t>  许多编译系统均将</a:t>
            </a:r>
            <a:r>
              <a:rPr lang="zh-CN" altLang="en-US" sz="3200" dirty="0">
                <a:solidFill>
                  <a:srgbClr val="FF0000"/>
                </a:solidFill>
                <a:latin typeface="宋体" pitchFamily="2" charset="-122"/>
              </a:rPr>
              <a:t>实型常量</a:t>
            </a:r>
            <a:r>
              <a:rPr lang="zh-CN" altLang="en-US" sz="3200" dirty="0">
                <a:solidFill>
                  <a:srgbClr val="000000"/>
                </a:solidFill>
                <a:latin typeface="宋体" pitchFamily="2" charset="-122"/>
              </a:rPr>
              <a:t>按照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双精度数</a:t>
            </a:r>
            <a:r>
              <a:rPr lang="zh-CN" altLang="en-US" sz="3200" dirty="0">
                <a:solidFill>
                  <a:srgbClr val="000000"/>
                </a:solidFill>
                <a:latin typeface="宋体" pitchFamily="2" charset="-122"/>
              </a:rPr>
              <a:t>处理  </a:t>
            </a:r>
            <a:endParaRPr lang="en-US" altLang="zh-CN" sz="3200" dirty="0">
              <a:solidFill>
                <a:srgbClr val="000000"/>
              </a:solidFill>
              <a:latin typeface="宋体" pitchFamily="2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latin typeface="宋体" pitchFamily="2" charset="-122"/>
              </a:rPr>
              <a:t>  实型常量的后边加一个 </a:t>
            </a:r>
            <a:r>
              <a:rPr lang="en-US" altLang="zh-CN" sz="3200" dirty="0">
                <a:solidFill>
                  <a:srgbClr val="CC3300"/>
                </a:solidFill>
                <a:latin typeface="宋体" pitchFamily="2" charset="-122"/>
              </a:rPr>
              <a:t>f </a:t>
            </a:r>
            <a:r>
              <a:rPr lang="zh-CN" altLang="en-US" sz="3200" dirty="0">
                <a:solidFill>
                  <a:srgbClr val="000000"/>
                </a:solidFill>
                <a:latin typeface="宋体" pitchFamily="2" charset="-122"/>
              </a:rPr>
              <a:t>或 </a:t>
            </a:r>
            <a:r>
              <a:rPr lang="en-US" altLang="zh-CN" sz="3200" dirty="0">
                <a:solidFill>
                  <a:srgbClr val="CC3300"/>
                </a:solidFill>
                <a:latin typeface="宋体" pitchFamily="2" charset="-122"/>
              </a:rPr>
              <a:t>F </a:t>
            </a:r>
            <a:r>
              <a:rPr lang="zh-CN" altLang="en-US" sz="3200" dirty="0">
                <a:solidFill>
                  <a:srgbClr val="000000"/>
                </a:solidFill>
                <a:latin typeface="宋体" pitchFamily="2" charset="-122"/>
              </a:rPr>
              <a:t>以表示单精度数。</a:t>
            </a:r>
          </a:p>
          <a:p>
            <a:r>
              <a:rPr lang="zh-CN" altLang="en-US" sz="3200" dirty="0">
                <a:solidFill>
                  <a:srgbClr val="003300"/>
                </a:solidFill>
              </a:rPr>
              <a:t>        </a:t>
            </a:r>
            <a:r>
              <a:rPr lang="zh-CN" altLang="en-US" sz="3200" dirty="0">
                <a:solidFill>
                  <a:srgbClr val="000000"/>
                </a:solidFill>
              </a:rPr>
              <a:t>如：</a:t>
            </a:r>
            <a:r>
              <a:rPr lang="en-US" altLang="zh-CN" sz="3200" dirty="0">
                <a:solidFill>
                  <a:srgbClr val="A50021"/>
                </a:solidFill>
              </a:rPr>
              <a:t>float  f ;</a:t>
            </a:r>
          </a:p>
          <a:p>
            <a:r>
              <a:rPr lang="en-US" altLang="zh-CN" sz="3200" dirty="0">
                <a:solidFill>
                  <a:srgbClr val="A50021"/>
                </a:solidFill>
              </a:rPr>
              <a:t>                f=2.45678 f * 4522.65 f ;</a:t>
            </a:r>
          </a:p>
          <a:p>
            <a:r>
              <a:rPr lang="zh-CN" altLang="en-US" sz="3200" dirty="0">
                <a:solidFill>
                  <a:srgbClr val="000000"/>
                </a:solidFill>
              </a:rPr>
              <a:t>5、单精度变量有</a:t>
            </a:r>
            <a:r>
              <a:rPr lang="en-US" altLang="zh-CN" sz="3200" dirty="0">
                <a:solidFill>
                  <a:srgbClr val="A50021"/>
                </a:solidFill>
              </a:rPr>
              <a:t>7</a:t>
            </a:r>
            <a:r>
              <a:rPr lang="zh-CN" altLang="en-US" sz="3200" dirty="0">
                <a:solidFill>
                  <a:srgbClr val="A50021"/>
                </a:solidFill>
              </a:rPr>
              <a:t> </a:t>
            </a:r>
            <a:r>
              <a:rPr lang="zh-CN" altLang="en-US" sz="2400" dirty="0">
                <a:solidFill>
                  <a:srgbClr val="A50021"/>
                </a:solidFill>
              </a:rPr>
              <a:t>~</a:t>
            </a:r>
            <a:r>
              <a:rPr lang="en-US" altLang="zh-CN" sz="3200" dirty="0">
                <a:solidFill>
                  <a:srgbClr val="A50021"/>
                </a:solidFill>
              </a:rPr>
              <a:t> 8</a:t>
            </a:r>
            <a:r>
              <a:rPr lang="zh-CN" altLang="en-US" sz="3200" dirty="0">
                <a:solidFill>
                  <a:srgbClr val="A50021"/>
                </a:solidFill>
              </a:rPr>
              <a:t>位</a:t>
            </a:r>
            <a:r>
              <a:rPr lang="zh-CN" altLang="en-US" sz="3200" dirty="0">
                <a:solidFill>
                  <a:srgbClr val="000000"/>
                </a:solidFill>
              </a:rPr>
              <a:t>有效数字(10</a:t>
            </a:r>
            <a:r>
              <a:rPr lang="zh-CN" altLang="en-US" sz="2400" baseline="70000" dirty="0">
                <a:solidFill>
                  <a:srgbClr val="000000"/>
                </a:solidFill>
              </a:rPr>
              <a:t>-37</a:t>
            </a:r>
            <a:r>
              <a:rPr lang="zh-CN" altLang="en-US" sz="2400" dirty="0">
                <a:solidFill>
                  <a:srgbClr val="000000"/>
                </a:solidFill>
              </a:rPr>
              <a:t>~ </a:t>
            </a:r>
            <a:r>
              <a:rPr lang="zh-CN" altLang="en-US" sz="3200" dirty="0">
                <a:solidFill>
                  <a:srgbClr val="000000"/>
                </a:solidFill>
              </a:rPr>
              <a:t>10</a:t>
            </a:r>
            <a:r>
              <a:rPr lang="zh-CN" altLang="en-US" sz="2400" baseline="70000" dirty="0">
                <a:solidFill>
                  <a:srgbClr val="000000"/>
                </a:solidFill>
              </a:rPr>
              <a:t>38</a:t>
            </a:r>
            <a:r>
              <a:rPr lang="zh-CN" altLang="en-US" sz="3200" dirty="0">
                <a:solidFill>
                  <a:srgbClr val="000000"/>
                </a:solidFill>
              </a:rPr>
              <a:t>)</a:t>
            </a:r>
          </a:p>
          <a:p>
            <a:r>
              <a:rPr lang="zh-CN" altLang="en-US" sz="3200" dirty="0">
                <a:solidFill>
                  <a:srgbClr val="003300"/>
                </a:solidFill>
              </a:rPr>
              <a:t>    </a:t>
            </a:r>
            <a:r>
              <a:rPr lang="zh-CN" altLang="en-US" sz="3200" dirty="0">
                <a:solidFill>
                  <a:srgbClr val="000000"/>
                </a:solidFill>
              </a:rPr>
              <a:t>双精度变量有</a:t>
            </a:r>
            <a:r>
              <a:rPr lang="zh-CN" altLang="en-US" sz="3200" dirty="0">
                <a:solidFill>
                  <a:srgbClr val="A50021"/>
                </a:solidFill>
              </a:rPr>
              <a:t>15 </a:t>
            </a:r>
            <a:r>
              <a:rPr lang="zh-CN" altLang="en-US" sz="2400" dirty="0">
                <a:solidFill>
                  <a:srgbClr val="A50021"/>
                </a:solidFill>
              </a:rPr>
              <a:t>~</a:t>
            </a:r>
            <a:r>
              <a:rPr lang="en-US" altLang="zh-CN" sz="3200" dirty="0">
                <a:solidFill>
                  <a:srgbClr val="A50021"/>
                </a:solidFill>
              </a:rPr>
              <a:t> 16</a:t>
            </a:r>
            <a:r>
              <a:rPr lang="zh-CN" altLang="en-US" sz="3200" dirty="0">
                <a:solidFill>
                  <a:srgbClr val="A50021"/>
                </a:solidFill>
              </a:rPr>
              <a:t>位</a:t>
            </a:r>
            <a:r>
              <a:rPr lang="zh-CN" altLang="en-US" sz="3200" dirty="0">
                <a:solidFill>
                  <a:srgbClr val="000000"/>
                </a:solidFill>
              </a:rPr>
              <a:t>有效数字(10</a:t>
            </a:r>
            <a:r>
              <a:rPr lang="zh-CN" altLang="en-US" sz="2400" baseline="70000" dirty="0">
                <a:solidFill>
                  <a:srgbClr val="000000"/>
                </a:solidFill>
              </a:rPr>
              <a:t>-307</a:t>
            </a:r>
            <a:r>
              <a:rPr lang="zh-CN" altLang="en-US" sz="32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00"/>
                </a:solidFill>
              </a:rPr>
              <a:t>~ </a:t>
            </a:r>
            <a:r>
              <a:rPr lang="zh-CN" altLang="en-US" sz="3200" dirty="0">
                <a:solidFill>
                  <a:srgbClr val="000000"/>
                </a:solidFill>
              </a:rPr>
              <a:t>10</a:t>
            </a:r>
            <a:r>
              <a:rPr lang="zh-CN" altLang="en-US" sz="2400" baseline="70000" dirty="0">
                <a:solidFill>
                  <a:srgbClr val="000000"/>
                </a:solidFill>
              </a:rPr>
              <a:t>308</a:t>
            </a:r>
            <a:r>
              <a:rPr lang="zh-CN" altLang="en-US" sz="3200" dirty="0">
                <a:solidFill>
                  <a:srgbClr val="000000"/>
                </a:solidFill>
              </a:rPr>
              <a:t>)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5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53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5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53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53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53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53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53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53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53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B3B041-6436-7D9D-3864-6431E759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24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7E79DA-0E5D-6FD3-05EB-1E189480087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语言中，错误的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short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类型的常量是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7F09A2-6D8E-D768-8006-564BC4C350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32768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F9628C-81BB-F3EF-F064-3AF09D89A99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06FB23-0D66-E7F9-AC8F-84D3D444268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037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2C2FF8-98A1-2D88-DB28-A580F571FFE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0xAF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E815E46-5DD6-EEBE-7234-43CDD2BACD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C5A9E3F-3000-553B-A24F-BE86F59B8450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3A53728-70C9-C35B-3FA3-B9D7682160E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73C4534-6293-0332-F9BE-4CD250516EC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99EDB85-FE3E-8ECF-E942-2A15AED60D07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08C898D-8153-B1B1-4763-B981F63F38B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2A20A83A-7630-E0A6-AF16-BDFB2299D18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4AAFF050-4968-939D-B258-279EE9D9F91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125B4DF2-D4AF-192C-E5B8-439B8826596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09629CB9-99D2-9961-FEA1-E2092C4B9B9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B6264DCA-0EC0-0FD4-15F6-4938C837959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1194597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4475" y="912496"/>
            <a:ext cx="7923053" cy="214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下面四个选项中，均是不合法的浮点数的选项是</a:t>
            </a:r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_____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6323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123764" y="27860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160.     0.12        e3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6324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123764" y="34718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123      2e4.2     .e5</a:t>
            </a:r>
          </a:p>
        </p:txBody>
      </p:sp>
      <p:sp>
        <p:nvSpPr>
          <p:cNvPr id="56325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123764" y="41576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-.18      123e4    0.0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6326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123764" y="4843463"/>
            <a:ext cx="6933762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-.e3      .234       1e3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420561" y="28503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420561" y="35361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420561" y="42219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420561" y="49077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386873" y="6215063"/>
            <a:ext cx="1253536" cy="413386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zh-CN" altLang="en-US" sz="20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56332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906000" cy="845820"/>
            <a:chOff x="-1055078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055078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6"/>
              </p:custDataLst>
            </p:nvPr>
          </p:nvSpPr>
          <p:spPr>
            <a:xfrm>
              <a:off x="-1055078" y="0"/>
              <a:ext cx="191509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6336" name="Type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-820616" y="0"/>
              <a:ext cx="1905001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3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56337" name="TipText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24546" y="8199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1248076" y="60198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835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6083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515349" y="1305525"/>
            <a:ext cx="9161303" cy="5379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461" tIns="57731" rIns="115461" bIns="57731" anchor="ctr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字符型常量</a:t>
            </a:r>
          </a:p>
          <a:p>
            <a:pPr marL="787783" lvl="1"/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以单引号括起来的</a:t>
            </a:r>
            <a:r>
              <a:rPr lang="en-US" altLang="zh-CN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个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字符，计算机中占</a:t>
            </a:r>
            <a:r>
              <a:rPr lang="zh-CN" altLang="en-US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一个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字节，如‘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A’、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‘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c’</a:t>
            </a:r>
          </a:p>
          <a:p>
            <a:pPr marL="787783" lvl="1"/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单引号是定界符不是字符常量一部分</a:t>
            </a:r>
          </a:p>
          <a:p>
            <a:pPr marL="787783" lvl="1"/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字符常量按照其在字符集</a:t>
            </a:r>
            <a:r>
              <a:rPr lang="zh-CN" altLang="en-US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（一般为 </a:t>
            </a:r>
            <a:r>
              <a:rPr lang="en-US" altLang="zh-CN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ASCII</a:t>
            </a:r>
            <a:r>
              <a:rPr lang="zh-CN" altLang="en-US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）中的编码值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存储并参与运算</a:t>
            </a:r>
            <a:endParaRPr lang="en-US" altLang="zh-CN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787783" lvl="1"/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比如：‘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A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’  </a:t>
            </a:r>
            <a:r>
              <a:rPr lang="en-US" altLang="zh-CN" sz="320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0100 0001      </a:t>
            </a:r>
            <a:r>
              <a:rPr lang="en-US" altLang="zh-CN" sz="320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65</a:t>
            </a:r>
            <a:endParaRPr lang="en-US" altLang="zh-CN" sz="32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  <a:p>
            <a:pPr marL="787783" lvl="1"/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      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‘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0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’  </a:t>
            </a:r>
            <a:r>
              <a:rPr lang="en-US" altLang="zh-CN" sz="320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0011 0000      </a:t>
            </a:r>
            <a:r>
              <a:rPr lang="en-US" altLang="zh-CN" sz="320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48</a:t>
            </a:r>
            <a:endParaRPr lang="zh-CN" altLang="en-US" sz="3200" dirty="0">
              <a:solidFill>
                <a:srgbClr val="FF0000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1381369" y="420036"/>
            <a:ext cx="4500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</a:rPr>
              <a:t>5      </a:t>
            </a:r>
            <a:r>
              <a:rPr lang="zh-CN" altLang="en-US" dirty="0">
                <a:solidFill>
                  <a:srgbClr val="0000CC"/>
                </a:solidFill>
              </a:rPr>
              <a:t>字符型数据</a:t>
            </a:r>
          </a:p>
        </p:txBody>
      </p:sp>
    </p:spTree>
    <p:extLst>
      <p:ext uri="{BB962C8B-B14F-4D97-AF65-F5344CB8AC3E}">
        <p14:creationId xmlns:p14="http://schemas.microsoft.com/office/powerpoint/2010/main" val="403550936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6083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416538" y="1499938"/>
            <a:ext cx="9377586" cy="4302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5461" tIns="57731" rIns="115461" bIns="57731" anchor="ctr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反斜杠字符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常量</a:t>
            </a: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(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也称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转义字符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）</a:t>
            </a:r>
          </a:p>
          <a:p>
            <a:pPr marL="1244983" lvl="1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用来表示控制字符（如回车等）和用于功能定义的字符（如单引号，双引号，反斜杠等）</a:t>
            </a:r>
          </a:p>
          <a:p>
            <a:pPr marL="1244983" lvl="1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以</a:t>
            </a:r>
            <a:r>
              <a:rPr lang="zh-CN" altLang="en-US" sz="3200" dirty="0">
                <a:solidFill>
                  <a:srgbClr val="C00000"/>
                </a:solidFill>
                <a:latin typeface="仿宋" pitchFamily="49" charset="-122"/>
                <a:ea typeface="仿宋" pitchFamily="49" charset="-122"/>
              </a:rPr>
              <a:t>‘\’开头，后跟字符或数字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，用于表示一个特定含义的字符，</a:t>
            </a:r>
            <a:endParaRPr lang="en-US" altLang="zh-CN" sz="3200" dirty="0">
              <a:solidFill>
                <a:schemeClr val="bg2"/>
              </a:solidFill>
              <a:latin typeface="仿宋" pitchFamily="49" charset="-122"/>
              <a:ea typeface="仿宋" pitchFamily="49" charset="-122"/>
            </a:endParaRPr>
          </a:p>
          <a:p>
            <a:pPr marL="1244983" lvl="1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例如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‘\</a:t>
            </a:r>
            <a:r>
              <a:rPr lang="en-US" altLang="zh-CN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n’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表示换行字符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，称为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转义字符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，常与普通字符混杂于某个字符串中</a:t>
            </a: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1416538" y="379340"/>
            <a:ext cx="4500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CC"/>
                </a:solidFill>
              </a:rPr>
              <a:t>5      </a:t>
            </a:r>
            <a:r>
              <a:rPr lang="zh-CN" altLang="en-US" dirty="0">
                <a:solidFill>
                  <a:srgbClr val="0000CC"/>
                </a:solidFill>
              </a:rPr>
              <a:t>字符型数据</a:t>
            </a:r>
          </a:p>
        </p:txBody>
      </p:sp>
    </p:spTree>
    <p:extLst>
      <p:ext uri="{BB962C8B-B14F-4D97-AF65-F5344CB8AC3E}">
        <p14:creationId xmlns:p14="http://schemas.microsoft.com/office/powerpoint/2010/main" val="375398932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7107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7" name="Text Box 54"/>
          <p:cNvSpPr txBox="1">
            <a:spLocks noChangeArrowheads="1"/>
          </p:cNvSpPr>
          <p:nvPr/>
        </p:nvSpPr>
        <p:spPr bwMode="auto">
          <a:xfrm>
            <a:off x="791465" y="87948"/>
            <a:ext cx="4500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dirty="0">
                <a:solidFill>
                  <a:srgbClr val="0000CC"/>
                </a:solidFill>
              </a:rPr>
              <a:t>5      </a:t>
            </a:r>
            <a:r>
              <a:rPr lang="zh-CN" altLang="en-US" dirty="0">
                <a:solidFill>
                  <a:srgbClr val="0000CC"/>
                </a:solidFill>
              </a:rPr>
              <a:t>字符型数据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93052" y="1280160"/>
            <a:ext cx="9471469" cy="5252720"/>
          </a:xfrm>
          <a:prstGeom prst="rect">
            <a:avLst/>
          </a:prstGeom>
          <a:noFill/>
          <a:ln w="9525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\a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警报		</a:t>
            </a: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\b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退格（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8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	输出时，光标后退一格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	</a:t>
            </a: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\f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走纸		</a:t>
            </a:r>
            <a:endParaRPr lang="en-US" altLang="zh-CN" sz="2800" dirty="0">
              <a:solidFill>
                <a:srgbClr val="3366FF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\n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换行（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10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	输出时，光标移动到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下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行行首</a:t>
            </a:r>
            <a:endParaRPr lang="en-US" altLang="zh-CN" sz="2800" dirty="0">
              <a:solidFill>
                <a:srgbClr val="3366FF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\r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回车（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13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	输出时，光标回到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本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行行首	</a:t>
            </a:r>
            <a:endParaRPr lang="en-US" altLang="zh-CN" sz="2800" dirty="0">
              <a:solidFill>
                <a:srgbClr val="3366FF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\t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水平制表符（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9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  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输出时，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跳到下一个单元格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TAB)</a:t>
            </a: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\v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垂直制表符</a:t>
            </a:r>
          </a:p>
        </p:txBody>
      </p:sp>
    </p:spTree>
    <p:extLst>
      <p:ext uri="{BB962C8B-B14F-4D97-AF65-F5344CB8AC3E}">
        <p14:creationId xmlns:p14="http://schemas.microsoft.com/office/powerpoint/2010/main" val="2917134927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7107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7" name="Text Box 54"/>
          <p:cNvSpPr txBox="1">
            <a:spLocks noChangeArrowheads="1"/>
          </p:cNvSpPr>
          <p:nvPr/>
        </p:nvSpPr>
        <p:spPr bwMode="auto">
          <a:xfrm>
            <a:off x="791465" y="87948"/>
            <a:ext cx="4500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dirty="0">
                <a:solidFill>
                  <a:srgbClr val="0000CC"/>
                </a:solidFill>
              </a:rPr>
              <a:t>5      </a:t>
            </a:r>
            <a:r>
              <a:rPr lang="zh-CN" altLang="en-US" dirty="0">
                <a:solidFill>
                  <a:srgbClr val="0000CC"/>
                </a:solidFill>
              </a:rPr>
              <a:t>字符型数据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93052" y="1280160"/>
            <a:ext cx="10726228" cy="5252720"/>
          </a:xfrm>
          <a:prstGeom prst="rect">
            <a:avLst/>
          </a:prstGeom>
          <a:noFill/>
          <a:ln w="9525">
            <a:solidFill>
              <a:srgbClr val="3366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\\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反斜杠（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\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	</a:t>
            </a: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\‘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单引号（’）</a:t>
            </a: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\“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双引号（”）</a:t>
            </a: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</a:t>
            </a:r>
            <a:r>
              <a:rPr lang="en-US" altLang="zh-CN" sz="2800" i="1" dirty="0" err="1">
                <a:solidFill>
                  <a:srgbClr val="008000"/>
                </a:solidFill>
                <a:latin typeface="+mn-ea"/>
                <a:ea typeface="+mn-ea"/>
              </a:rPr>
              <a:t>ooo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八进制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值（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o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表示一个八进制数字，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1-3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位八进制数字</a:t>
            </a:r>
            <a:endParaRPr lang="en-US" altLang="zh-CN" sz="2800" dirty="0">
              <a:solidFill>
                <a:srgbClr val="3366FF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              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127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）</a:t>
            </a:r>
            <a:r>
              <a:rPr lang="en-US" altLang="zh-CN" sz="2800" baseline="-25000" dirty="0">
                <a:solidFill>
                  <a:srgbClr val="3366FF"/>
                </a:solidFill>
                <a:latin typeface="+mn-ea"/>
                <a:ea typeface="+mn-ea"/>
              </a:rPr>
              <a:t>10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==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177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）</a:t>
            </a:r>
            <a:r>
              <a:rPr lang="en-US" altLang="zh-CN" sz="2800" baseline="-25000" dirty="0">
                <a:solidFill>
                  <a:srgbClr val="3366FF"/>
                </a:solidFill>
                <a:latin typeface="+mn-ea"/>
                <a:ea typeface="+mn-ea"/>
              </a:rPr>
              <a:t>8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）</a:t>
            </a:r>
          </a:p>
          <a:p>
            <a:r>
              <a:rPr lang="en-US" altLang="zh-CN" sz="2800" dirty="0">
                <a:solidFill>
                  <a:srgbClr val="FF3300"/>
                </a:solidFill>
                <a:latin typeface="+mn-ea"/>
                <a:ea typeface="+mn-ea"/>
              </a:rPr>
              <a:t>\</a:t>
            </a:r>
            <a:r>
              <a:rPr lang="en-US" altLang="zh-CN" sz="2800" dirty="0" err="1">
                <a:solidFill>
                  <a:srgbClr val="FF3300"/>
                </a:solidFill>
                <a:latin typeface="+mn-ea"/>
                <a:ea typeface="+mn-ea"/>
              </a:rPr>
              <a:t>x</a:t>
            </a:r>
            <a:r>
              <a:rPr lang="en-US" altLang="zh-CN" sz="2800" i="1" dirty="0" err="1">
                <a:solidFill>
                  <a:srgbClr val="008000"/>
                </a:solidFill>
                <a:latin typeface="+mn-ea"/>
                <a:ea typeface="+mn-ea"/>
              </a:rPr>
              <a:t>hh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十六进制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值  （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h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表示一个十六进制数字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,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1-2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十六进制数字</a:t>
            </a:r>
            <a:endParaRPr lang="en-US" altLang="zh-CN" sz="2800" dirty="0">
              <a:solidFill>
                <a:srgbClr val="3366FF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                 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127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）</a:t>
            </a:r>
            <a:r>
              <a:rPr lang="en-US" altLang="zh-CN" sz="2800" baseline="-25000" dirty="0">
                <a:solidFill>
                  <a:srgbClr val="3366FF"/>
                </a:solidFill>
                <a:latin typeface="+mn-ea"/>
                <a:ea typeface="+mn-ea"/>
              </a:rPr>
              <a:t>10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=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3366FF"/>
                </a:solidFill>
                <a:latin typeface="+mn-ea"/>
                <a:ea typeface="+mn-ea"/>
              </a:rPr>
              <a:t>7f)</a:t>
            </a:r>
            <a:r>
              <a:rPr lang="en-US" altLang="zh-CN" sz="2800" baseline="-25000" dirty="0">
                <a:solidFill>
                  <a:srgbClr val="3366FF"/>
                </a:solidFill>
                <a:latin typeface="+mn-ea"/>
                <a:ea typeface="+mn-ea"/>
              </a:rPr>
              <a:t>16</a:t>
            </a:r>
            <a:r>
              <a:rPr lang="zh-CN" altLang="en-US" sz="2800" dirty="0">
                <a:solidFill>
                  <a:srgbClr val="3366FF"/>
                </a:solidFill>
                <a:latin typeface="+mn-ea"/>
                <a:ea typeface="+mn-ea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61908654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直接连接符 2"/>
          <p:cNvSpPr>
            <a:spLocks noChangeShapeType="1"/>
          </p:cNvSpPr>
          <p:nvPr/>
        </p:nvSpPr>
        <p:spPr bwMode="auto">
          <a:xfrm rot="5400000">
            <a:off x="1221379" y="-496232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8131" name="直接连接符 3"/>
          <p:cNvSpPr>
            <a:spLocks noChangeShapeType="1"/>
          </p:cNvSpPr>
          <p:nvPr/>
        </p:nvSpPr>
        <p:spPr bwMode="auto">
          <a:xfrm rot="5400000">
            <a:off x="1456580" y="-663732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721727" y="44920"/>
            <a:ext cx="5883325" cy="50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461" tIns="57731" rIns="115461" bIns="57731" anchor="ctr">
            <a:spAutoFit/>
          </a:bodyPr>
          <a:lstStyle/>
          <a:p>
            <a:r>
              <a:rPr lang="zh-CN" altLang="en-US" sz="25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分析以下程序的运行结果。</a:t>
            </a:r>
            <a:endParaRPr lang="zh-CN" altLang="en-US" sz="2500" dirty="0">
              <a:solidFill>
                <a:schemeClr val="bg1"/>
              </a:solidFill>
              <a:latin typeface="仿宋" pitchFamily="49" charset="-122"/>
              <a:ea typeface="仿宋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DD5CAC-492D-222A-1A42-612E816E4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495" y="1963671"/>
            <a:ext cx="4528185" cy="20091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64BABB8-0DD0-B067-B180-143441D2275D}"/>
              </a:ext>
            </a:extLst>
          </p:cNvPr>
          <p:cNvSpPr txBox="1"/>
          <p:nvPr/>
        </p:nvSpPr>
        <p:spPr>
          <a:xfrm>
            <a:off x="1627818" y="767646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2"/>
                </a:solidFill>
              </a:rPr>
              <a:t>#include &lt;stdio.h&gt;</a:t>
            </a:r>
          </a:p>
          <a:p>
            <a:r>
              <a:rPr lang="zh-CN" altLang="en-US" sz="2800" dirty="0">
                <a:solidFill>
                  <a:schemeClr val="bg2"/>
                </a:solidFill>
              </a:rPr>
              <a:t>main()</a:t>
            </a:r>
          </a:p>
          <a:p>
            <a:r>
              <a:rPr lang="zh-CN" altLang="en-US" sz="2800" dirty="0">
                <a:solidFill>
                  <a:schemeClr val="bg2"/>
                </a:solidFill>
              </a:rPr>
              <a:t>{</a:t>
            </a:r>
          </a:p>
          <a:p>
            <a:r>
              <a:rPr lang="zh-CN" altLang="en-US" sz="2800" dirty="0">
                <a:solidFill>
                  <a:schemeClr val="bg2"/>
                </a:solidFill>
              </a:rPr>
              <a:t>	printf("姓名\t性别\t年龄\n");</a:t>
            </a:r>
          </a:p>
          <a:p>
            <a:r>
              <a:rPr lang="zh-CN" altLang="en-US" sz="2800" dirty="0">
                <a:solidFill>
                  <a:schemeClr val="bg2"/>
                </a:solidFill>
              </a:rPr>
              <a:t>	printf("张三\t男\t20\n");</a:t>
            </a:r>
          </a:p>
          <a:p>
            <a:r>
              <a:rPr lang="zh-CN" altLang="en-US" sz="2800" dirty="0">
                <a:solidFill>
                  <a:schemeClr val="bg2"/>
                </a:solidFill>
              </a:rPr>
              <a:t>	printf("李四\t女\t19\n");</a:t>
            </a:r>
          </a:p>
          <a:p>
            <a:r>
              <a:rPr lang="zh-CN" altLang="en-US" sz="2800" dirty="0">
                <a:solidFill>
                  <a:schemeClr val="bg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352892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C8613C-2F6D-A2C8-37E7-F332C254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EBE52DA-FCD3-433A-A10E-EF0B402520AB}" type="slidenum">
              <a:rPr lang="zh-CN" altLang="en-US" smtClean="0"/>
              <a:pPr/>
              <a:t>31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5A2457-F7A9-9720-D7B8-5417B03A121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25905" y="942976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下面正确的字符常量是（）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5EC555-AD42-6D5D-B649-069357E6465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87554" y="2786063"/>
            <a:ext cx="128657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"C"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157100-F2A2-B505-30FC-ECA0E4BD863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487554" y="3471863"/>
            <a:ext cx="128657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'12'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A22BA1D-B6B1-5A0C-6FFF-976CB11598C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308782" y="2742750"/>
            <a:ext cx="128657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'\12'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917B9D-4A42-D4C9-40BE-8B52DAE55DD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7308782" y="3428550"/>
            <a:ext cx="128657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'''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97F1120-13A1-D6AB-7BCB-838E68A8D41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20779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86D27BF-8394-C687-C5B6-9DDDFA32EE5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20779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F549846-DC75-36D5-02C6-A68C4F1F270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442007" y="280704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D55751D-A7EA-70DA-440D-7C1454977D4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6442007" y="349284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72A6FDB-36E7-4B7B-8D51-BE3A1A3D0104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DD74622-9497-A973-C475-B745D7CB6E9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67C3272E-FFBC-6F97-210E-E1528E08024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2FDD1381-AA20-F9AA-8568-B73FF6EA581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97EBDE1A-7E79-FB8B-B734-266A69D9490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71E52B0C-09F4-B6F9-8752-666F6E89ADC0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1D2A1EB-C353-9830-7929-13FEC23C9BA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endParaRPr lang="zh-CN" altLang="en-US" sz="1600" dirty="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9492398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1DD641-D145-5B03-8E23-B3A85FDE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32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88A9AF-CEB2-82C3-D0BA-1B28E82E22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88882" y="635000"/>
            <a:ext cx="11549117" cy="50288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main()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{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int x=19,y=2012;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(“y=%d\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rx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=%d\n”,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y,x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);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(“%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c%c%c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\b%.1f\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n”,‘C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’,‘+’,‘+’,6.0);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sz="28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}  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3DD21EF-ADA1-382B-0127-57F3B65B608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B39F830-2B69-1227-DD86-A13A9882720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EB9A572B-2123-6824-BA35-B2EE32FF957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B9BF877D-E270-543F-4BC4-73B2B27E51F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31CD2CD6-ABD4-D72D-B6C4-1F40A8C7DC1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D3FF7D3E-457A-39BF-971D-C25FC131A87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7681AD2C-9C3F-43EB-EDB2-63CF6054233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0516194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9155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1581051" y="818638"/>
            <a:ext cx="5883325" cy="50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461" tIns="57731" rIns="115461" bIns="57731" anchor="ctr">
            <a:spAutoFit/>
          </a:bodyPr>
          <a:lstStyle/>
          <a:p>
            <a:r>
              <a:rPr lang="zh-CN" altLang="en-US" sz="250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字符变量</a:t>
            </a:r>
            <a:endParaRPr lang="zh-CN" altLang="en-US" sz="2500">
              <a:solidFill>
                <a:schemeClr val="bg1"/>
              </a:solidFill>
              <a:latin typeface="仿宋" pitchFamily="49" charset="-122"/>
              <a:ea typeface="仿宋" pitchFamily="49" charset="-122"/>
            </a:endParaRPr>
          </a:p>
        </p:txBody>
      </p:sp>
      <p:sp>
        <p:nvSpPr>
          <p:cNvPr id="32774" name="TextBox 1"/>
          <p:cNvSpPr txBox="1">
            <a:spLocks noChangeArrowheads="1"/>
          </p:cNvSpPr>
          <p:nvPr/>
        </p:nvSpPr>
        <p:spPr bwMode="auto">
          <a:xfrm>
            <a:off x="1508982" y="1377903"/>
            <a:ext cx="9211531" cy="492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字符变量的取值是字符常量，即单个字符。字符变量的类型说明符是</a:t>
            </a:r>
            <a:r>
              <a:rPr lang="en-US" altLang="zh-CN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char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。 </a:t>
            </a: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字符值是以</a:t>
            </a:r>
            <a:r>
              <a:rPr lang="en-US" altLang="zh-CN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ASCII</a:t>
            </a: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码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的形式存放在变量的内存单元之中的，所以只需要</a:t>
            </a:r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一个字节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。</a:t>
            </a: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C</a:t>
            </a:r>
            <a:r>
              <a:rPr lang="zh-CN" altLang="en-US" sz="3200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语言允许对整型变量赋字符型值，也允许对字符变量赋以整型值。 </a:t>
            </a:r>
          </a:p>
        </p:txBody>
      </p:sp>
    </p:spTree>
    <p:extLst>
      <p:ext uri="{BB962C8B-B14F-4D97-AF65-F5344CB8AC3E}">
        <p14:creationId xmlns:p14="http://schemas.microsoft.com/office/powerpoint/2010/main" val="392133030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77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49155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2774" name="TextBox 1"/>
          <p:cNvSpPr txBox="1">
            <a:spLocks noChangeArrowheads="1"/>
          </p:cNvSpPr>
          <p:nvPr/>
        </p:nvSpPr>
        <p:spPr bwMode="auto">
          <a:xfrm>
            <a:off x="1415978" y="1460748"/>
            <a:ext cx="9211531" cy="454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571500" indent="-5715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输出时，可把字符变量以整型量形式输出，也可把整型量以字符形式输出。</a:t>
            </a:r>
          </a:p>
          <a:p>
            <a:pPr marL="571500" indent="-571500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但整型量为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4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字节量，字符</a:t>
            </a:r>
            <a:r>
              <a:rPr lang="zh-CN" altLang="en-US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量为</a:t>
            </a:r>
            <a:r>
              <a:rPr lang="en-US" altLang="zh-CN" sz="40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字节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量，故当把整型量按字符型量处理时，只有低八位（</a:t>
            </a:r>
            <a:r>
              <a:rPr lang="en-US" altLang="zh-CN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1</a:t>
            </a:r>
            <a:r>
              <a:rPr lang="zh-CN" altLang="en-US" dirty="0">
                <a:solidFill>
                  <a:schemeClr val="bg2"/>
                </a:solidFill>
                <a:latin typeface="仿宋" pitchFamily="49" charset="-122"/>
                <a:ea typeface="仿宋" pitchFamily="49" charset="-122"/>
              </a:rPr>
              <a:t>个字节）参与处理。 </a:t>
            </a:r>
          </a:p>
        </p:txBody>
      </p:sp>
    </p:spTree>
    <p:extLst>
      <p:ext uri="{BB962C8B-B14F-4D97-AF65-F5344CB8AC3E}">
        <p14:creationId xmlns:p14="http://schemas.microsoft.com/office/powerpoint/2010/main" val="26891152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8A2175-969F-0AE2-6524-A1786D60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EBE52DA-FCD3-433A-A10E-EF0B402520AB}" type="slidenum">
              <a:rPr lang="zh-CN" altLang="en-US" smtClean="0"/>
              <a:pPr/>
              <a:t>35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AD9382-0DB5-C870-06B7-6B876F49DB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1137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#include&lt;stdio.h&gt;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main()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{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 char a=65;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 int  b='C';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printf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(“%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c,%c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\n”,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a,b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);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输出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[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填空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1]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 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printf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(“%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d,%d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\n”,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a,b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);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输出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[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填空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639EF4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2]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仿宋" pitchFamily="49" charset="-122"/>
                <a:ea typeface="仿宋" pitchFamily="49" charset="-122"/>
                <a:cs typeface="+mn-cs"/>
              </a:rPr>
              <a:t> } 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1DDB519-3B06-2DF8-5D08-2BB4A56FAE6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549F401-F6CC-1F6B-0865-1A8FE6BF32B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9A1D3360-5727-B818-F8A0-C3423D6B9EE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2313D143-90AC-595D-4EA3-C87098FB1AD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A5E96852-D8F4-4A69-5F96-857596D6521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6E3C9AD1-8F9D-5EB7-EE10-E4C945A200C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2D55B1B-8E48-0E79-1764-79AB4D713C7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3270503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6B28F49-0ED6-4531-911E-7396E820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A99B6-55DA-488F-8367-2B9871BBDB87}" type="slidenum">
              <a:rPr lang="zh-CN" altLang="en-US" smtClean="0"/>
              <a:pPr/>
              <a:t>36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5DB187-ABE9-1EAD-033A-FCD3939710A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92666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#include&lt;stdio.h&gt;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main()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{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	char a='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x',b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='Y';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	a=a-32;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	b=b+32;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("%c\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n",a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);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   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("%c\</a:t>
            </a:r>
            <a:r>
              <a:rPr lang="en-US" altLang="zh-CN" sz="280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n</a:t>
            </a:r>
            <a:r>
              <a:rPr lang="en-US" altLang="zh-CN" sz="280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",b);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sz="28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} 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0F12267-84B8-5A85-ED06-A52D4925BA0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9FFC205-9323-97C0-76F4-6C4EB168D82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310F062B-7C15-E855-559D-9DE61770B11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D5BD1358-1AB9-A899-DED0-49671143C0C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0621BCE0-E67F-C93F-A862-8C72D0177F1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1A42B925-8845-B38B-B5A7-A280396C55F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9B259DA0-55CE-0B7F-D88E-5C4FF5AFC6E5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501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8A2175-969F-0AE2-6524-A1786D60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EBE52DA-FCD3-433A-A10E-EF0B402520AB}" type="slidenum">
              <a:rPr lang="zh-CN" altLang="en-US" smtClean="0"/>
              <a:pPr/>
              <a:t>37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AD9382-0DB5-C870-06B7-6B876F49DB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61137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#include &lt;</a:t>
            </a:r>
            <a:r>
              <a:rPr lang="en-US" altLang="zh-CN" sz="32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stdio.h</a:t>
            </a: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main()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{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320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int  x=</a:t>
            </a: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256+'A';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endParaRPr lang="en-US" altLang="zh-CN" sz="3200" dirty="0">
              <a:solidFill>
                <a:srgbClr val="000000"/>
              </a:solidFill>
              <a:latin typeface="仿宋" pitchFamily="49" charset="-122"/>
              <a:ea typeface="仿宋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320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char y=x;  </a:t>
            </a:r>
            <a:endParaRPr lang="en-US" altLang="zh-CN" sz="3200" dirty="0">
              <a:solidFill>
                <a:schemeClr val="bg1"/>
              </a:solidFill>
              <a:latin typeface="仿宋" pitchFamily="49" charset="-122"/>
              <a:ea typeface="仿宋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32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("%c\</a:t>
            </a:r>
            <a:r>
              <a:rPr lang="en-US" altLang="zh-CN" sz="320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n</a:t>
            </a:r>
            <a:r>
              <a:rPr lang="en-US" altLang="zh-CN" sz="320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",x);</a:t>
            </a: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sz="32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  <a:endParaRPr lang="en-US" altLang="zh-CN" sz="3200" dirty="0">
              <a:solidFill>
                <a:schemeClr val="bg1"/>
              </a:solidFill>
              <a:latin typeface="仿宋" pitchFamily="49" charset="-122"/>
              <a:ea typeface="仿宋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 </a:t>
            </a:r>
            <a:r>
              <a:rPr lang="en-US" altLang="zh-CN" sz="320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320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("%c\</a:t>
            </a:r>
            <a:r>
              <a:rPr lang="en-US" altLang="zh-CN" sz="320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n</a:t>
            </a:r>
            <a:r>
              <a:rPr lang="en-US" altLang="zh-CN" sz="320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",y);</a:t>
            </a: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32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sz="32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  <a:endParaRPr lang="en-US" altLang="zh-CN" sz="3200" dirty="0">
              <a:solidFill>
                <a:schemeClr val="bg1"/>
              </a:solidFill>
              <a:latin typeface="仿宋" pitchFamily="49" charset="-122"/>
              <a:ea typeface="仿宋" pitchFamily="49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 }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仿宋" pitchFamily="49" charset="-122"/>
              <a:ea typeface="仿宋" pitchFamily="49" charset="-122"/>
              <a:cs typeface="+mn-cs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1DDB519-3B06-2DF8-5D08-2BB4A56FAE6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549F401-F6CC-1F6B-0865-1A8FE6BF32B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9A1D3360-5727-B818-F8A0-C3423D6B9EE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2313D143-90AC-595D-4EA3-C87098FB1AD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A5E96852-D8F4-4A69-5F96-857596D6521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6E3C9AD1-8F9D-5EB7-EE10-E4C945A200C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2D55B1B-8E48-0E79-1764-79AB4D713C7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6256486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82DA4-4051-4300-8C27-B82C1EA6D8A4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363523" name="Text Box 3"/>
          <p:cNvSpPr txBox="1">
            <a:spLocks noChangeArrowheads="1"/>
          </p:cNvSpPr>
          <p:nvPr/>
        </p:nvSpPr>
        <p:spPr bwMode="auto">
          <a:xfrm>
            <a:off x="2025650" y="668338"/>
            <a:ext cx="8718550" cy="277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</a:rPr>
              <a:t>5、字符串常量</a:t>
            </a:r>
          </a:p>
          <a:p>
            <a:r>
              <a:rPr lang="en-US" altLang="zh-CN" sz="3200" dirty="0">
                <a:solidFill>
                  <a:srgbClr val="A50021"/>
                </a:solidFill>
              </a:rPr>
              <a:t>“How do you </a:t>
            </a:r>
            <a:r>
              <a:rPr lang="en-US" altLang="zh-CN" sz="3200" dirty="0" err="1">
                <a:solidFill>
                  <a:srgbClr val="A50021"/>
                </a:solidFill>
              </a:rPr>
              <a:t>do.”、“CHINA”、“a</a:t>
            </a:r>
            <a:r>
              <a:rPr lang="en-US" altLang="zh-CN" sz="3200" dirty="0">
                <a:solidFill>
                  <a:srgbClr val="A50021"/>
                </a:solidFill>
              </a:rPr>
              <a:t>”、“$122.45”</a:t>
            </a:r>
            <a:r>
              <a:rPr lang="en-US" altLang="zh-CN" sz="3200" dirty="0"/>
              <a:t> </a:t>
            </a:r>
          </a:p>
          <a:p>
            <a:r>
              <a:rPr lang="zh-CN" altLang="en-US" sz="3200" dirty="0">
                <a:solidFill>
                  <a:srgbClr val="000000"/>
                </a:solidFill>
              </a:rPr>
              <a:t>注意：</a:t>
            </a:r>
            <a:r>
              <a:rPr lang="en-US" altLang="zh-CN" sz="3200" dirty="0">
                <a:solidFill>
                  <a:srgbClr val="000000"/>
                </a:solidFill>
              </a:rPr>
              <a:t>(1)</a:t>
            </a:r>
            <a:r>
              <a:rPr lang="zh-CN" altLang="en-US" sz="3200" dirty="0">
                <a:solidFill>
                  <a:srgbClr val="000000"/>
                </a:solidFill>
              </a:rPr>
              <a:t>没有字符串变量</a:t>
            </a:r>
            <a:r>
              <a:rPr lang="en-US" altLang="zh-CN" sz="3200" dirty="0">
                <a:solidFill>
                  <a:srgbClr val="000000"/>
                </a:solidFill>
              </a:rPr>
              <a:t>(</a:t>
            </a:r>
            <a:r>
              <a:rPr lang="zh-CN" altLang="en-US" sz="3200" dirty="0">
                <a:solidFill>
                  <a:srgbClr val="000000"/>
                </a:solidFill>
              </a:rPr>
              <a:t>可用字符数组存储</a:t>
            </a:r>
            <a:r>
              <a:rPr lang="en-US" altLang="zh-CN" sz="3200" dirty="0">
                <a:solidFill>
                  <a:srgbClr val="000000"/>
                </a:solidFill>
              </a:rPr>
              <a:t>)</a:t>
            </a:r>
          </a:p>
          <a:p>
            <a:r>
              <a:rPr lang="zh-CN" altLang="en-US" sz="3200" dirty="0">
                <a:solidFill>
                  <a:srgbClr val="000000"/>
                </a:solidFill>
              </a:rPr>
              <a:t>            </a:t>
            </a:r>
            <a:r>
              <a:rPr lang="en-US" altLang="zh-CN" sz="3200" dirty="0">
                <a:solidFill>
                  <a:srgbClr val="000000"/>
                </a:solidFill>
              </a:rPr>
              <a:t>(2)</a:t>
            </a:r>
            <a:r>
              <a:rPr lang="zh-CN" altLang="en-US" sz="3200" dirty="0">
                <a:solidFill>
                  <a:srgbClr val="000000"/>
                </a:solidFill>
              </a:rPr>
              <a:t>字符串常量在内存中的存储形式</a:t>
            </a:r>
          </a:p>
        </p:txBody>
      </p:sp>
      <p:grpSp>
        <p:nvGrpSpPr>
          <p:cNvPr id="363532" name="Group 12"/>
          <p:cNvGrpSpPr>
            <a:grpSpLocks/>
          </p:cNvGrpSpPr>
          <p:nvPr/>
        </p:nvGrpSpPr>
        <p:grpSpPr bwMode="auto">
          <a:xfrm>
            <a:off x="4183064" y="3497263"/>
            <a:ext cx="5883275" cy="671512"/>
            <a:chOff x="1603" y="2203"/>
            <a:chExt cx="3706" cy="423"/>
          </a:xfrm>
        </p:grpSpPr>
        <p:sp>
          <p:nvSpPr>
            <p:cNvPr id="363524" name="Rectangle 4"/>
            <p:cNvSpPr>
              <a:spLocks noChangeArrowheads="1"/>
            </p:cNvSpPr>
            <p:nvPr/>
          </p:nvSpPr>
          <p:spPr bwMode="auto">
            <a:xfrm>
              <a:off x="1603" y="2215"/>
              <a:ext cx="3706" cy="411"/>
            </a:xfrm>
            <a:prstGeom prst="rect">
              <a:avLst/>
            </a:prstGeom>
            <a:noFill/>
            <a:ln w="38100">
              <a:solidFill>
                <a:srgbClr val="00808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3525" name="Line 5"/>
            <p:cNvSpPr>
              <a:spLocks noChangeShapeType="1"/>
            </p:cNvSpPr>
            <p:nvPr/>
          </p:nvSpPr>
          <p:spPr bwMode="auto">
            <a:xfrm>
              <a:off x="3462" y="2226"/>
              <a:ext cx="0" cy="400"/>
            </a:xfrm>
            <a:prstGeom prst="line">
              <a:avLst/>
            </a:prstGeom>
            <a:noFill/>
            <a:ln w="381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3526" name="Line 6"/>
            <p:cNvSpPr>
              <a:spLocks noChangeShapeType="1"/>
            </p:cNvSpPr>
            <p:nvPr/>
          </p:nvSpPr>
          <p:spPr bwMode="auto">
            <a:xfrm>
              <a:off x="2164" y="2215"/>
              <a:ext cx="12" cy="399"/>
            </a:xfrm>
            <a:prstGeom prst="line">
              <a:avLst/>
            </a:prstGeom>
            <a:noFill/>
            <a:ln w="381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3527" name="Line 7"/>
            <p:cNvSpPr>
              <a:spLocks noChangeShapeType="1"/>
            </p:cNvSpPr>
            <p:nvPr/>
          </p:nvSpPr>
          <p:spPr bwMode="auto">
            <a:xfrm>
              <a:off x="2839" y="2203"/>
              <a:ext cx="0" cy="399"/>
            </a:xfrm>
            <a:prstGeom prst="line">
              <a:avLst/>
            </a:prstGeom>
            <a:noFill/>
            <a:ln w="381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3528" name="Line 8"/>
            <p:cNvSpPr>
              <a:spLocks noChangeShapeType="1"/>
            </p:cNvSpPr>
            <p:nvPr/>
          </p:nvSpPr>
          <p:spPr bwMode="auto">
            <a:xfrm>
              <a:off x="4750" y="2215"/>
              <a:ext cx="0" cy="399"/>
            </a:xfrm>
            <a:prstGeom prst="line">
              <a:avLst/>
            </a:prstGeom>
            <a:noFill/>
            <a:ln w="381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3529" name="Line 9"/>
            <p:cNvSpPr>
              <a:spLocks noChangeShapeType="1"/>
            </p:cNvSpPr>
            <p:nvPr/>
          </p:nvSpPr>
          <p:spPr bwMode="auto">
            <a:xfrm>
              <a:off x="4113" y="2215"/>
              <a:ext cx="0" cy="399"/>
            </a:xfrm>
            <a:prstGeom prst="line">
              <a:avLst/>
            </a:prstGeom>
            <a:noFill/>
            <a:ln w="38100">
              <a:solidFill>
                <a:srgbClr val="0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3530" name="Text Box 10"/>
            <p:cNvSpPr txBox="1">
              <a:spLocks noChangeArrowheads="1"/>
            </p:cNvSpPr>
            <p:nvPr/>
          </p:nvSpPr>
          <p:spPr bwMode="auto">
            <a:xfrm>
              <a:off x="1765" y="2232"/>
              <a:ext cx="34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3200">
                  <a:solidFill>
                    <a:srgbClr val="A50021"/>
                  </a:solidFill>
                </a:rPr>
                <a:t>C      H         I       N      A       \0</a:t>
              </a:r>
            </a:p>
          </p:txBody>
        </p:sp>
      </p:grpSp>
      <p:sp>
        <p:nvSpPr>
          <p:cNvPr id="363531" name="Text Box 11"/>
          <p:cNvSpPr txBox="1">
            <a:spLocks noChangeArrowheads="1"/>
          </p:cNvSpPr>
          <p:nvPr/>
        </p:nvSpPr>
        <p:spPr bwMode="auto">
          <a:xfrm>
            <a:off x="3238500" y="4440238"/>
            <a:ext cx="7086600" cy="188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>
                <a:solidFill>
                  <a:srgbClr val="000000"/>
                </a:solidFill>
              </a:rPr>
              <a:t>(3)</a:t>
            </a:r>
            <a:r>
              <a:rPr lang="zh-CN" altLang="en-US" sz="3200">
                <a:solidFill>
                  <a:srgbClr val="000000"/>
                </a:solidFill>
              </a:rPr>
              <a:t>在输出语句中的应用</a:t>
            </a:r>
          </a:p>
          <a:p>
            <a:r>
              <a:rPr lang="zh-CN" altLang="en-US" sz="3200">
                <a:solidFill>
                  <a:srgbClr val="A50021"/>
                </a:solidFill>
              </a:rPr>
              <a:t>     </a:t>
            </a:r>
            <a:r>
              <a:rPr lang="en-US" altLang="zh-CN" sz="3200">
                <a:solidFill>
                  <a:srgbClr val="A50021"/>
                </a:solidFill>
              </a:rPr>
              <a:t>printf(“How do you do.”) ;</a:t>
            </a:r>
          </a:p>
          <a:p>
            <a:pPr>
              <a:lnSpc>
                <a:spcPct val="60000"/>
              </a:lnSpc>
            </a:pPr>
            <a:r>
              <a:rPr lang="en-US" altLang="zh-CN" sz="3200" b="0">
                <a:solidFill>
                  <a:srgbClr val="A50021"/>
                </a:solidFill>
              </a:rPr>
              <a:t>     </a:t>
            </a:r>
            <a:r>
              <a:rPr lang="en-US" altLang="zh-CN" sz="3200">
                <a:solidFill>
                  <a:srgbClr val="A50021"/>
                </a:solidFill>
              </a:rPr>
              <a:t>printf(“c=%c , c=%d\n” , c , c ) ;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3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直接连接符 2"/>
          <p:cNvSpPr>
            <a:spLocks noChangeShapeType="1"/>
          </p:cNvSpPr>
          <p:nvPr/>
        </p:nvSpPr>
        <p:spPr bwMode="auto">
          <a:xfrm rot="5400000">
            <a:off x="1221379" y="406439"/>
            <a:ext cx="817246" cy="436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53251" name="直接连接符 3"/>
          <p:cNvSpPr>
            <a:spLocks noChangeShapeType="1"/>
          </p:cNvSpPr>
          <p:nvPr/>
        </p:nvSpPr>
        <p:spPr bwMode="auto">
          <a:xfrm rot="5400000">
            <a:off x="1456580" y="238940"/>
            <a:ext cx="480060" cy="2183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15461" tIns="57731" rIns="115461" bIns="57731"/>
          <a:lstStyle/>
          <a:p>
            <a:endParaRPr lang="zh-CN" altLang="en-US"/>
          </a:p>
        </p:txBody>
      </p:sp>
      <p:sp>
        <p:nvSpPr>
          <p:cNvPr id="36870" name="TextBox 1"/>
          <p:cNvSpPr txBox="1">
            <a:spLocks noChangeArrowheads="1"/>
          </p:cNvSpPr>
          <p:nvPr/>
        </p:nvSpPr>
        <p:spPr bwMode="auto">
          <a:xfrm>
            <a:off x="1649658" y="1379222"/>
            <a:ext cx="9211531" cy="378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字符串的</a:t>
            </a:r>
            <a:r>
              <a:rPr lang="zh-CN" altLang="en-US" sz="320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长度：</a:t>
            </a: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字符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itchFamily="49" charset="-122"/>
                <a:ea typeface="仿宋" pitchFamily="49" charset="-122"/>
              </a:rPr>
              <a:t>个数</a:t>
            </a:r>
            <a:endParaRPr lang="zh-CN" altLang="en-US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itchFamily="49" charset="-122"/>
              <a:ea typeface="仿宋" pitchFamily="49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长度为</a:t>
            </a:r>
            <a:r>
              <a:rPr lang="en-US" altLang="zh-CN" sz="40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n</a:t>
            </a: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的字符串</a:t>
            </a: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，</a:t>
            </a: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占用</a:t>
            </a:r>
            <a:r>
              <a:rPr lang="en-US" altLang="zh-CN" sz="40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n+1</a:t>
            </a: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字节，最后一个字节存储字符</a:t>
            </a:r>
            <a:r>
              <a:rPr lang="zh-CN" altLang="en-US" sz="3200" dirty="0">
                <a:solidFill>
                  <a:srgbClr val="FF0000"/>
                </a:solidFill>
                <a:latin typeface="仿宋" pitchFamily="49" charset="-122"/>
                <a:ea typeface="仿宋" pitchFamily="49" charset="-122"/>
              </a:rPr>
              <a:t>‘\0’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例：“</a:t>
            </a:r>
            <a:r>
              <a:rPr lang="en-US" altLang="zh-CN" sz="32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abc</a:t>
            </a: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”</a:t>
            </a: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占用</a:t>
            </a:r>
            <a:r>
              <a:rPr lang="en-US" altLang="zh-CN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4</a:t>
            </a:r>
            <a:r>
              <a:rPr lang="zh-CN" altLang="en-US" sz="32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个字节</a:t>
            </a:r>
          </a:p>
        </p:txBody>
      </p:sp>
    </p:spTree>
    <p:extLst>
      <p:ext uri="{BB962C8B-B14F-4D97-AF65-F5344CB8AC3E}">
        <p14:creationId xmlns:p14="http://schemas.microsoft.com/office/powerpoint/2010/main" val="125352211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D9327E-796E-D9FA-6693-8A0E232F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EBE52DA-FCD3-433A-A10E-EF0B402520AB}" type="slidenum">
              <a:rPr lang="zh-CN" altLang="en-US" smtClean="0"/>
              <a:pPr/>
              <a:t>40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CBC587-597F-EF11-03ED-84EC7FE8F5D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57404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#include &lt;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stdio.h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#include &lt;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string.h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&gt;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main()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{	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("%d\n", 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strlen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("a\101\\d"));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1]</a:t>
            </a:r>
            <a:r>
              <a:rPr lang="en-US" altLang="zh-CN" sz="28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	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printf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("%d\n",</a:t>
            </a:r>
            <a:r>
              <a:rPr lang="en-US" altLang="zh-CN" sz="2800" dirty="0" err="1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sizeof</a:t>
            </a: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("a\101\\d"));</a:t>
            </a:r>
            <a:r>
              <a:rPr lang="zh-CN" altLang="en-US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输出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 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[</a:t>
            </a:r>
            <a:r>
              <a:rPr lang="zh-CN" altLang="en-US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填空</a:t>
            </a:r>
            <a:r>
              <a:rPr lang="en-US" altLang="zh-CN" sz="2800" dirty="0">
                <a:solidFill>
                  <a:srgbClr val="639EF4"/>
                </a:solidFill>
                <a:latin typeface="仿宋" pitchFamily="49" charset="-122"/>
                <a:ea typeface="仿宋" pitchFamily="49" charset="-122"/>
              </a:rPr>
              <a:t>2]</a:t>
            </a:r>
            <a:r>
              <a:rPr lang="en-US" altLang="zh-CN" sz="2800" dirty="0">
                <a:solidFill>
                  <a:srgbClr val="000000"/>
                </a:solidFill>
                <a:latin typeface="仿宋" pitchFamily="49" charset="-122"/>
                <a:ea typeface="仿宋" pitchFamily="49" charset="-122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sz="2800" dirty="0">
                <a:solidFill>
                  <a:schemeClr val="bg1"/>
                </a:solidFill>
                <a:latin typeface="仿宋" pitchFamily="49" charset="-122"/>
                <a:ea typeface="仿宋" pitchFamily="49" charset="-122"/>
              </a:rPr>
              <a:t>}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9E67190-88F8-6652-9809-EDB19D072B1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EDD0DA-9995-4DEE-9979-E28E0F62625E}"/>
              </a:ext>
            </a:extLst>
          </p:cNvPr>
          <p:cNvSpPr txBox="1"/>
          <p:nvPr/>
        </p:nvSpPr>
        <p:spPr>
          <a:xfrm>
            <a:off x="6357007" y="1192371"/>
            <a:ext cx="47611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2"/>
                </a:solidFill>
              </a:rPr>
              <a:t>strlen() </a:t>
            </a:r>
            <a:r>
              <a:rPr lang="zh-CN" altLang="en-US">
                <a:solidFill>
                  <a:schemeClr val="bg2"/>
                </a:solidFill>
              </a:rPr>
              <a:t>字符串长度</a:t>
            </a:r>
            <a:endParaRPr lang="en-US" altLang="zh-CN">
              <a:solidFill>
                <a:schemeClr val="bg2"/>
              </a:solidFill>
            </a:endParaRPr>
          </a:p>
          <a:p>
            <a:r>
              <a:rPr lang="en-US" altLang="zh-CN">
                <a:solidFill>
                  <a:schemeClr val="bg2"/>
                </a:solidFill>
              </a:rPr>
              <a:t>sizeof() </a:t>
            </a:r>
            <a:r>
              <a:rPr lang="zh-CN" altLang="en-US">
                <a:solidFill>
                  <a:schemeClr val="bg2"/>
                </a:solidFill>
              </a:rPr>
              <a:t>占字节数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73C4423-AF54-E100-6D3D-966801EB0BE5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id="{7640FFBB-F04C-ADED-13B0-5CE00E2EE9C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id="{631C0452-66CB-4638-D341-07F8BA1AF34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3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id="{AA8E2A90-7F83-B452-9965-31724DB54F2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id="{24A9AE1A-B1C2-FDBE-E2A7-E5132E63B83A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90A74131-DD04-D567-4EC5-C9F2AA8237A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198934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4475" y="926127"/>
            <a:ext cx="7923053" cy="214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以下选项中，（ ）是不正确的</a:t>
            </a:r>
            <a:r>
              <a:rPr lang="zh-CN" altLang="en-US" sz="3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字符</a:t>
            </a:r>
            <a:r>
              <a:rPr lang="zh-CN" altLang="en-US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常量。 </a:t>
            </a:r>
          </a:p>
        </p:txBody>
      </p:sp>
      <p:sp>
        <p:nvSpPr>
          <p:cNvPr id="55299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496298" y="2786063"/>
            <a:ext cx="1719169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'a'</a:t>
            </a:r>
            <a:endParaRPr lang="zh-CN" altLang="en-US" sz="3300" dirty="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5300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496298" y="3471863"/>
            <a:ext cx="1719169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'\x41'</a:t>
            </a:r>
            <a:endParaRPr lang="zh-CN" altLang="en-US" sz="3300" dirty="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5301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584809" y="2786063"/>
            <a:ext cx="1719169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'\101'</a:t>
            </a:r>
            <a:endParaRPr lang="zh-CN" altLang="en-US" sz="3300" dirty="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5302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584809" y="3471863"/>
            <a:ext cx="1719169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 dirty="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'101'</a:t>
            </a:r>
            <a:endParaRPr lang="zh-CN" altLang="en-US" sz="3300" dirty="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793095" y="28503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793095" y="35361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881606" y="28503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881606" y="3536156"/>
            <a:ext cx="417117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386873" y="6215063"/>
            <a:ext cx="1253536" cy="413386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zh-CN" altLang="en-US" sz="20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55308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906000" cy="845820"/>
            <a:chOff x="-1055078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055078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055078" y="0"/>
              <a:ext cx="191509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5312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820616" y="0"/>
              <a:ext cx="1905001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3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55313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24546" y="8199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4321962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34475" y="845822"/>
            <a:ext cx="7923053" cy="214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以下选项中不正确的整型常量是</a:t>
            </a:r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____</a:t>
            </a:r>
            <a:r>
              <a:rPr lang="zh-CN" altLang="en-US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。</a:t>
            </a:r>
          </a:p>
        </p:txBody>
      </p:sp>
      <p:sp>
        <p:nvSpPr>
          <p:cNvPr id="55299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369298" y="2786063"/>
            <a:ext cx="2252569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12L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5300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69298" y="3471863"/>
            <a:ext cx="2252569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-10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5301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387840" y="2726856"/>
            <a:ext cx="2252569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1,900</a:t>
            </a:r>
            <a:endParaRPr lang="zh-CN" altLang="en-US" sz="3300">
              <a:solidFill>
                <a:schemeClr val="bg2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55302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387840" y="3412656"/>
            <a:ext cx="2252569" cy="643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461" tIns="57731" rIns="115461" bIns="57731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300">
                <a:solidFill>
                  <a:schemeClr val="bg2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123U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66095" y="28503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66095" y="3536156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684637" y="2791149"/>
            <a:ext cx="417117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684637" y="3476949"/>
            <a:ext cx="417117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en-US" altLang="zh-CN" sz="20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20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386873" y="6215063"/>
            <a:ext cx="1253536" cy="413386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461" tIns="57731" rIns="115461" bIns="57731" anchor="ctr" anchorCtr="1"/>
          <a:lstStyle/>
          <a:p>
            <a:pPr algn="ctr">
              <a:defRPr/>
            </a:pPr>
            <a:r>
              <a:rPr lang="zh-CN" altLang="en-US" sz="2000">
                <a:solidFill>
                  <a:schemeClr val="bg1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grpSp>
        <p:nvGrpSpPr>
          <p:cNvPr id="55308" name="组合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906000" cy="845820"/>
            <a:chOff x="-1055078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055078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055078" y="0"/>
              <a:ext cx="191509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5312" name="TypeText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-820616" y="0"/>
              <a:ext cx="1905001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33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55313" name="TipText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24546" y="81997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1</a:t>
              </a:r>
              <a:r>
                <a:rPr lang="zh-CN" altLang="en-US" sz="25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9031575"/>
      </p:ext>
    </p:extLst>
  </p:cSld>
  <p:clrMapOvr>
    <a:masterClrMapping/>
  </p:clrMapOvr>
  <p:transition>
    <p:zo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x=1912&quot;]},{&quot;num&quot;:2,&quot;caseSensitive&quot;:true,&quot;fuzzyMatch&quot;:false,&quot;Score&quot;:1.0,&quot;answers&quot;:[&quot;C+6.0&quot;]}]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A,C&quot;]},{&quot;num&quot;:2,&quot;caseSensitive&quot;:false,&quot;fuzzyMatch&quot;:false,&quot;Score&quot;:1.0,&quot;answers&quot;:[&quot;65,67&quot;]}]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X&quot;]},{&quot;num&quot;:2,&quot;caseSensitive&quot;:true,&quot;fuzzyMatch&quot;:false,&quot;Score&quot;:1.0,&quot;answers&quot;:[&quot;y&quot;]}]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true,&quot;fuzzyMatch&quot;:false,&quot;Score&quot;:1.0,&quot;answers&quot;:[&quot;A&quot;,&quot;'A'&quot;]},{&quot;num&quot;:2,&quot;caseSensitive&quot;:false,&quot;fuzzyMatch&quot;:false,&quot;Score&quot;:1.0,&quot;answers&quot;:[&quot;A&quot;,&quot;'A'&quot;]}]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4&quot;]},{&quot;num&quot;:2,&quot;caseSensitive&quot;:false,&quot;fuzzyMatch&quot;:false,&quot;Score&quot;:1.0,&quot;answers&quot;:[&quot;5&quot;]}]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Soaring">
  <a:themeElements>
    <a:clrScheme name="1_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1_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第1章_引论</Template>
  <TotalTime>22006</TotalTime>
  <Words>2275</Words>
  <Application>Microsoft Office PowerPoint</Application>
  <PresentationFormat>宽屏</PresentationFormat>
  <Paragraphs>373</Paragraphs>
  <Slides>42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2" baseType="lpstr">
      <vt:lpstr>仿宋</vt:lpstr>
      <vt:lpstr>黑体</vt:lpstr>
      <vt:lpstr>宋体</vt:lpstr>
      <vt:lpstr>Microsoft Yahei</vt:lpstr>
      <vt:lpstr>Arial</vt:lpstr>
      <vt:lpstr>Microsoft Sans Serif</vt:lpstr>
      <vt:lpstr>Palatino Linotype</vt:lpstr>
      <vt:lpstr>Times New Roman</vt:lpstr>
      <vt:lpstr>Wingdings</vt:lpstr>
      <vt:lpstr>1_Soaring</vt:lpstr>
      <vt:lpstr>第二章 C语言基础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Administrator</dc:creator>
  <cp:lastModifiedBy>Administrator</cp:lastModifiedBy>
  <cp:revision>526</cp:revision>
  <dcterms:created xsi:type="dcterms:W3CDTF">1999-07-06T15:28:21Z</dcterms:created>
  <dcterms:modified xsi:type="dcterms:W3CDTF">2025-07-31T01:27:49Z</dcterms:modified>
</cp:coreProperties>
</file>