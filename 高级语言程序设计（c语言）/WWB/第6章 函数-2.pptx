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7" r:id="rId2"/>
    <p:sldMasterId id="2147483727" r:id="rId3"/>
  </p:sldMasterIdLst>
  <p:notesMasterIdLst>
    <p:notesMasterId r:id="rId84"/>
  </p:notesMasterIdLst>
  <p:sldIdLst>
    <p:sldId id="315" r:id="rId4"/>
    <p:sldId id="316" r:id="rId5"/>
    <p:sldId id="317" r:id="rId6"/>
    <p:sldId id="318" r:id="rId7"/>
    <p:sldId id="404" r:id="rId8"/>
    <p:sldId id="319" r:id="rId9"/>
    <p:sldId id="320" r:id="rId10"/>
    <p:sldId id="321" r:id="rId11"/>
    <p:sldId id="322" r:id="rId12"/>
    <p:sldId id="323" r:id="rId13"/>
    <p:sldId id="398" r:id="rId14"/>
    <p:sldId id="325" r:id="rId15"/>
    <p:sldId id="326" r:id="rId16"/>
    <p:sldId id="327" r:id="rId17"/>
    <p:sldId id="390" r:id="rId18"/>
    <p:sldId id="391" r:id="rId19"/>
    <p:sldId id="335" r:id="rId20"/>
    <p:sldId id="336" r:id="rId21"/>
    <p:sldId id="337" r:id="rId22"/>
    <p:sldId id="338" r:id="rId23"/>
    <p:sldId id="408" r:id="rId24"/>
    <p:sldId id="343" r:id="rId25"/>
    <p:sldId id="395" r:id="rId26"/>
    <p:sldId id="344" r:id="rId27"/>
    <p:sldId id="339" r:id="rId28"/>
    <p:sldId id="410" r:id="rId29"/>
    <p:sldId id="340" r:id="rId30"/>
    <p:sldId id="341" r:id="rId31"/>
    <p:sldId id="413" r:id="rId32"/>
    <p:sldId id="342" r:id="rId33"/>
    <p:sldId id="409" r:id="rId34"/>
    <p:sldId id="345" r:id="rId35"/>
    <p:sldId id="396" r:id="rId36"/>
    <p:sldId id="346" r:id="rId37"/>
    <p:sldId id="347" r:id="rId38"/>
    <p:sldId id="405" r:id="rId39"/>
    <p:sldId id="385" r:id="rId40"/>
    <p:sldId id="411" r:id="rId41"/>
    <p:sldId id="412" r:id="rId42"/>
    <p:sldId id="350" r:id="rId43"/>
    <p:sldId id="397" r:id="rId44"/>
    <p:sldId id="402" r:id="rId45"/>
    <p:sldId id="401" r:id="rId46"/>
    <p:sldId id="393" r:id="rId47"/>
    <p:sldId id="378" r:id="rId48"/>
    <p:sldId id="388" r:id="rId49"/>
    <p:sldId id="414" r:id="rId50"/>
    <p:sldId id="328" r:id="rId51"/>
    <p:sldId id="415" r:id="rId52"/>
    <p:sldId id="331" r:id="rId53"/>
    <p:sldId id="332" r:id="rId54"/>
    <p:sldId id="416" r:id="rId55"/>
    <p:sldId id="334" r:id="rId56"/>
    <p:sldId id="417" r:id="rId57"/>
    <p:sldId id="418" r:id="rId58"/>
    <p:sldId id="419" r:id="rId59"/>
    <p:sldId id="324" r:id="rId60"/>
    <p:sldId id="420" r:id="rId61"/>
    <p:sldId id="421" r:id="rId62"/>
    <p:sldId id="422" r:id="rId63"/>
    <p:sldId id="423" r:id="rId64"/>
    <p:sldId id="424" r:id="rId65"/>
    <p:sldId id="425" r:id="rId66"/>
    <p:sldId id="426" r:id="rId67"/>
    <p:sldId id="427" r:id="rId68"/>
    <p:sldId id="428" r:id="rId69"/>
    <p:sldId id="359" r:id="rId70"/>
    <p:sldId id="360" r:id="rId71"/>
    <p:sldId id="361" r:id="rId72"/>
    <p:sldId id="362" r:id="rId73"/>
    <p:sldId id="429" r:id="rId74"/>
    <p:sldId id="348" r:id="rId75"/>
    <p:sldId id="352" r:id="rId76"/>
    <p:sldId id="351" r:id="rId77"/>
    <p:sldId id="430" r:id="rId78"/>
    <p:sldId id="355" r:id="rId79"/>
    <p:sldId id="354" r:id="rId80"/>
    <p:sldId id="356" r:id="rId81"/>
    <p:sldId id="349" r:id="rId82"/>
    <p:sldId id="358" r:id="rId8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8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B3ADB-2B50-4377-BA3E-6D0334767C69}" type="datetimeFigureOut">
              <a:rPr lang="zh-CN" altLang="en-US" smtClean="0"/>
              <a:t>2025/8/9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62CEE-203B-4D13-93CD-EFFBBC16D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170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ED025-0968-46A3-981F-86B901A87A32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120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D3BF44-85C3-44DC-947F-F6AD71DDA005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18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D6666-A7B6-4D9C-B76F-4DA12A6D4FE3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118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D6666-A7B6-4D9C-B76F-4DA12A6D4FE3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118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D6666-A7B6-4D9C-B76F-4DA12A6D4FE3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18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65718E-3B8B-435B-B2A2-050F429B216A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118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117A10-8DAB-42D7-8112-5B35184C985B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117A10-8DAB-42D7-8112-5B35184C985B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78FBBF-12C5-4E5A-B1D1-C9F0ED196E10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118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1E35A1-68CA-4DD4-9E16-BDD17C3C0A89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119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1E35A1-68CA-4DD4-9E16-BDD17C3C0A89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119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271AC5-AFE6-4EA8-87AC-03202571D913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1193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3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C1F56-304A-4AF4-A8D0-33F0FA03B962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119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C1F56-304A-4AF4-A8D0-33F0FA03B962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119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1843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843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3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1843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843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4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844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61292DD-A47D-4B7E-909A-A553C05F65EB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60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B17199-184A-4EEC-8B3E-1DBADF50ED1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23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C6F9CC-D3B7-4F2A-A89D-358BBA3E43A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03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33D1F6-3AAE-47FE-9C4E-C3464D6283B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88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7154C-76FD-456E-AF4F-37C5ED853E6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32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B19C8-09E6-4934-8DA1-5489EA6F59E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379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CE2C9-B25A-4316-9153-A22D26002D9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75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4012E-41BB-43DE-92B7-1C92BE22E8E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34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A3F65-20EC-432A-9DE9-4B0545A3D6B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77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DB10A2-9B5E-4BA9-81D7-7CE5CF8090B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81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55151" y="-211138"/>
            <a:ext cx="2688167" cy="5522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-211138"/>
            <a:ext cx="7861300" cy="5522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25C2-EEBA-465E-B21F-86C92F11CAB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633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67B379C-8B60-4EC8-A816-B007D8469C6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83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90651" y="1196975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51F08E59-21E4-4B9F-A224-80F4BA2A94F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809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90651" y="-211138"/>
            <a:ext cx="10752667" cy="5522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D6F253E3-56D9-4D43-A2DB-6D9B537ECC3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893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819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19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819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819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20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42A830B-C527-4E23-B5BD-6905B235D174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51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34F2A5-19F1-434D-B3B9-D0A3EC516CA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8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8D571D-8E3E-40D7-A69D-EBA861571D4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7F21D-F91E-4C59-B419-95078F7507B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396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D24E6-8A5A-4F65-BE1A-377C5AF46E5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735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C0703-8CA6-4C2B-8BCB-4B835929783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352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8E56C-1C40-45CA-B759-F2616DF1F72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923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5193A9-99F5-4BD5-AFD0-28456ED74F8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05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B24785-E2B6-4D3D-AFDE-1285DF9A6E4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3544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9E6838-3E8C-46C5-BF95-4ED53D4B4FA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0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06517" y="1"/>
            <a:ext cx="2743200" cy="6132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917" y="1"/>
            <a:ext cx="8026400" cy="6132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15B19B-F976-42D7-9768-A0E748235FF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4929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B15834F-8DB0-451B-A131-964ACA8F3EC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2948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F0CC653-36A2-42FE-96A3-E56D7CE9A15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0989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EB025821-0589-4DDB-84FE-8539F5DC160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414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" y="0"/>
            <a:ext cx="11741151" cy="6858000"/>
            <a:chOff x="0" y="0"/>
            <a:chExt cx="5547" cy="4320"/>
          </a:xfrm>
        </p:grpSpPr>
        <p:grpSp>
          <p:nvGrpSpPr>
            <p:cNvPr id="4099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0" y="0"/>
              <a:chExt cx="1857" cy="3625"/>
            </a:xfrm>
          </p:grpSpPr>
          <p:sp>
            <p:nvSpPr>
              <p:cNvPr id="4100" name="未知"/>
              <p:cNvSpPr>
                <a:spLocks/>
              </p:cNvSpPr>
              <p:nvPr userDrawn="1"/>
            </p:nvSpPr>
            <p:spPr bwMode="auto">
              <a:xfrm rot="12185230" flipV="1">
                <a:off x="524" y="0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01" name="未知"/>
              <p:cNvSpPr>
                <a:spLocks/>
              </p:cNvSpPr>
              <p:nvPr userDrawn="1"/>
            </p:nvSpPr>
            <p:spPr bwMode="auto">
              <a:xfrm rot="12185230" flipV="1">
                <a:off x="1019" y="1024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02" name="未知"/>
              <p:cNvSpPr>
                <a:spLocks/>
              </p:cNvSpPr>
              <p:nvPr userDrawn="1"/>
            </p:nvSpPr>
            <p:spPr bwMode="auto">
              <a:xfrm rot="12185230" flipV="1">
                <a:off x="629" y="1389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03" name="未知"/>
              <p:cNvSpPr>
                <a:spLocks/>
              </p:cNvSpPr>
              <p:nvPr userDrawn="1"/>
            </p:nvSpPr>
            <p:spPr bwMode="auto">
              <a:xfrm rot="12185230" flipV="1">
                <a:off x="969" y="199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04" name="未知"/>
              <p:cNvSpPr>
                <a:spLocks/>
              </p:cNvSpPr>
              <p:nvPr userDrawn="1"/>
            </p:nvSpPr>
            <p:spPr bwMode="auto">
              <a:xfrm rot="12185230" flipV="1">
                <a:off x="835" y="1429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05" name="未知"/>
              <p:cNvSpPr>
                <a:spLocks/>
              </p:cNvSpPr>
              <p:nvPr userDrawn="1"/>
            </p:nvSpPr>
            <p:spPr bwMode="auto">
              <a:xfrm rot="12185230" flipV="1">
                <a:off x="885" y="547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06" name="未知"/>
              <p:cNvSpPr>
                <a:spLocks/>
              </p:cNvSpPr>
              <p:nvPr userDrawn="1"/>
            </p:nvSpPr>
            <p:spPr bwMode="auto">
              <a:xfrm rot="12185230" flipV="1">
                <a:off x="0" y="1566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sp>
          <p:nvSpPr>
            <p:cNvPr id="4107" name="未知"/>
            <p:cNvSpPr>
              <a:spLocks/>
            </p:cNvSpPr>
            <p:nvPr userDrawn="1"/>
          </p:nvSpPr>
          <p:spPr bwMode="auto">
            <a:xfrm rot="373330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08" name="未知"/>
            <p:cNvSpPr>
              <a:spLocks/>
            </p:cNvSpPr>
            <p:nvPr userDrawn="1"/>
          </p:nvSpPr>
          <p:spPr bwMode="auto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09" name="未知"/>
            <p:cNvSpPr>
              <a:spLocks/>
            </p:cNvSpPr>
            <p:nvPr userDrawn="1"/>
          </p:nvSpPr>
          <p:spPr bwMode="auto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10" name="未知"/>
            <p:cNvSpPr>
              <a:spLocks/>
            </p:cNvSpPr>
            <p:nvPr userDrawn="1"/>
          </p:nvSpPr>
          <p:spPr bwMode="auto">
            <a:xfrm rot="373330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11" name="未知"/>
            <p:cNvSpPr>
              <a:spLocks/>
            </p:cNvSpPr>
            <p:nvPr userDrawn="1"/>
          </p:nvSpPr>
          <p:spPr bwMode="auto">
            <a:xfrm rot="373330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12" name="未知"/>
            <p:cNvSpPr>
              <a:spLocks/>
            </p:cNvSpPr>
            <p:nvPr userDrawn="1"/>
          </p:nvSpPr>
          <p:spPr bwMode="auto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grpSp>
          <p:nvGrpSpPr>
            <p:cNvPr id="4113" name="Group 17"/>
            <p:cNvGrpSpPr>
              <a:grpSpLocks/>
            </p:cNvGrpSpPr>
            <p:nvPr userDrawn="1"/>
          </p:nvGrpSpPr>
          <p:grpSpPr bwMode="auto">
            <a:xfrm rot="3220060">
              <a:off x="2630" y="753"/>
              <a:ext cx="569" cy="637"/>
              <a:chOff x="0" y="0"/>
              <a:chExt cx="129" cy="157"/>
            </a:xfrm>
          </p:grpSpPr>
          <p:sp>
            <p:nvSpPr>
              <p:cNvPr id="4114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15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16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grpSp>
          <p:nvGrpSpPr>
            <p:cNvPr id="4117" name="Group 21"/>
            <p:cNvGrpSpPr>
              <a:grpSpLocks/>
            </p:cNvGrpSpPr>
            <p:nvPr userDrawn="1"/>
          </p:nvGrpSpPr>
          <p:grpSpPr bwMode="auto">
            <a:xfrm rot="-6691250">
              <a:off x="3636" y="131"/>
              <a:ext cx="356" cy="607"/>
              <a:chOff x="0" y="0"/>
              <a:chExt cx="129" cy="157"/>
            </a:xfrm>
          </p:grpSpPr>
          <p:sp>
            <p:nvSpPr>
              <p:cNvPr id="4118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19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20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grpSp>
          <p:nvGrpSpPr>
            <p:cNvPr id="4121" name="Group 25"/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0" y="0"/>
              <a:chExt cx="129" cy="157"/>
            </a:xfrm>
          </p:grpSpPr>
          <p:sp>
            <p:nvSpPr>
              <p:cNvPr id="4122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23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24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grpSp>
          <p:nvGrpSpPr>
            <p:cNvPr id="4125" name="Group 29"/>
            <p:cNvGrpSpPr>
              <a:grpSpLocks/>
            </p:cNvGrpSpPr>
            <p:nvPr userDrawn="1"/>
          </p:nvGrpSpPr>
          <p:grpSpPr bwMode="auto">
            <a:xfrm rot="4106450" flipH="1">
              <a:off x="392" y="261"/>
              <a:ext cx="709" cy="892"/>
              <a:chOff x="0" y="0"/>
              <a:chExt cx="129" cy="157"/>
            </a:xfrm>
          </p:grpSpPr>
          <p:sp>
            <p:nvSpPr>
              <p:cNvPr id="4126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27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28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grpSp>
          <p:nvGrpSpPr>
            <p:cNvPr id="4129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0" y="0"/>
              <a:chExt cx="129" cy="157"/>
            </a:xfrm>
          </p:grpSpPr>
          <p:sp>
            <p:nvSpPr>
              <p:cNvPr id="4130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31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4132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sp>
          <p:nvSpPr>
            <p:cNvPr id="4133" name="未知"/>
            <p:cNvSpPr>
              <a:spLocks/>
            </p:cNvSpPr>
            <p:nvPr userDrawn="1"/>
          </p:nvSpPr>
          <p:spPr bwMode="auto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34" name="未知"/>
            <p:cNvSpPr>
              <a:spLocks/>
            </p:cNvSpPr>
            <p:nvPr userDrawn="1"/>
          </p:nvSpPr>
          <p:spPr bwMode="auto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35" name="未知"/>
            <p:cNvSpPr>
              <a:spLocks/>
            </p:cNvSpPr>
            <p:nvPr userDrawn="1"/>
          </p:nvSpPr>
          <p:spPr bwMode="auto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36" name="未知"/>
            <p:cNvSpPr>
              <a:spLocks/>
            </p:cNvSpPr>
            <p:nvPr userDrawn="1"/>
          </p:nvSpPr>
          <p:spPr bwMode="auto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37" name="未知"/>
            <p:cNvSpPr>
              <a:spLocks/>
            </p:cNvSpPr>
            <p:nvPr userDrawn="1"/>
          </p:nvSpPr>
          <p:spPr bwMode="auto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38" name="未知"/>
            <p:cNvSpPr>
              <a:spLocks/>
            </p:cNvSpPr>
            <p:nvPr userDrawn="1"/>
          </p:nvSpPr>
          <p:spPr bwMode="auto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4139" name="未知"/>
            <p:cNvSpPr>
              <a:spLocks/>
            </p:cNvSpPr>
            <p:nvPr userDrawn="1"/>
          </p:nvSpPr>
          <p:spPr bwMode="auto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</p:grpSp>
      <p:sp>
        <p:nvSpPr>
          <p:cNvPr id="4140" name="Rectangle 4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14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14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0AE3B9D-B4BA-4B18-BCA8-9748C5FF497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143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3274485" y="596900"/>
            <a:ext cx="8257116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4144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3318933" y="4279900"/>
            <a:ext cx="8195733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80980082"/>
      </p:ext>
    </p:extLst>
  </p:cSld>
  <p:clrMapOvr>
    <a:masterClrMapping/>
  </p:clrMapOvr>
  <p:transition spd="slow">
    <p:pull dir="r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851199-3E0B-41DF-B012-D86E11D5B2F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370143"/>
      </p:ext>
    </p:extLst>
  </p:cSld>
  <p:clrMapOvr>
    <a:masterClrMapping/>
  </p:clrMapOvr>
  <p:transition spd="slow">
    <p:pull dir="r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291EFA-6C6B-4D79-8775-D4B578F2808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72290"/>
      </p:ext>
    </p:extLst>
  </p:cSld>
  <p:clrMapOvr>
    <a:masterClrMapping/>
  </p:clrMapOvr>
  <p:transition spd="slow">
    <p:pull dir="r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E1A5B2-5A6A-4392-BD31-5863B4841B12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884958"/>
      </p:ext>
    </p:extLst>
  </p:cSld>
  <p:clrMapOvr>
    <a:masterClrMapping/>
  </p:clrMapOvr>
  <p:transition spd="slow">
    <p:pull dir="r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1330F-71DA-4AD1-AECD-608166BA265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7572"/>
      </p:ext>
    </p:extLst>
  </p:cSld>
  <p:clrMapOvr>
    <a:masterClrMapping/>
  </p:clrMapOvr>
  <p:transition spd="slow">
    <p:pull dir="r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85A1E-3454-43EB-9F21-FB1540DAF67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751396"/>
      </p:ext>
    </p:extLst>
  </p:cSld>
  <p:clrMapOvr>
    <a:masterClrMapping/>
  </p:clrMapOvr>
  <p:transition spd="slow">
    <p:pull dir="r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C08119-35C6-42A9-B134-F6CFD22B0EB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552062"/>
      </p:ext>
    </p:extLst>
  </p:cSld>
  <p:clrMapOvr>
    <a:masterClrMapping/>
  </p:clrMapOvr>
  <p:transition spd="slow">
    <p:pull dir="r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FB994C-8803-440D-8A46-F3ABF767E31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834524"/>
      </p:ext>
    </p:extLst>
  </p:cSld>
  <p:clrMapOvr>
    <a:masterClrMapping/>
  </p:clrMapOvr>
  <p:transition spd="slow">
    <p:pull dir="r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07308-E750-42F9-95DA-16F3F6E0A25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156898"/>
      </p:ext>
    </p:extLst>
  </p:cSld>
  <p:clrMapOvr>
    <a:masterClrMapping/>
  </p:clrMapOvr>
  <p:transition spd="slow">
    <p:pull dir="r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60600E-6697-44B5-9E6F-1411884CC3C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333813"/>
      </p:ext>
    </p:extLst>
  </p:cSld>
  <p:clrMapOvr>
    <a:masterClrMapping/>
  </p:clrMapOvr>
  <p:transition spd="slow">
    <p:pull dir="r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4968" y="103189"/>
            <a:ext cx="2747433" cy="59531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90551" y="103189"/>
            <a:ext cx="8041216" cy="5953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72285F-D5DD-424C-93CF-86181AE1638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224302"/>
      </p:ext>
    </p:extLst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593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694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244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76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33351" y="73183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937684" y="5715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14351" y="94138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-211138"/>
            <a:ext cx="10390717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7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1969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F9E9B1-7FB9-42D9-9F67-8F598B7BF34E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89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20700" y="442913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30818" y="442913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5801" y="865188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78984" y="865188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33351" y="792164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99067" y="17938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54567" y="112553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59000" y="0"/>
            <a:ext cx="1039071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7048732-062D-4A7D-9B21-EA2F206CF0EF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8467" y="1"/>
            <a:ext cx="3776133" cy="6856413"/>
            <a:chOff x="0" y="0"/>
            <a:chExt cx="1785" cy="4319"/>
          </a:xfrm>
        </p:grpSpPr>
        <p:sp>
          <p:nvSpPr>
            <p:cNvPr id="3075" name="未知"/>
            <p:cNvSpPr>
              <a:spLocks/>
            </p:cNvSpPr>
            <p:nvPr/>
          </p:nvSpPr>
          <p:spPr bwMode="auto">
            <a:xfrm>
              <a:off x="0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grpSp>
          <p:nvGrpSpPr>
            <p:cNvPr id="3076" name="Group 4"/>
            <p:cNvGrpSpPr>
              <a:grpSpLocks/>
            </p:cNvGrpSpPr>
            <p:nvPr/>
          </p:nvGrpSpPr>
          <p:grpSpPr bwMode="auto">
            <a:xfrm rot="14964908" flipH="1">
              <a:off x="109" y="2441"/>
              <a:ext cx="452" cy="444"/>
              <a:chOff x="0" y="0"/>
              <a:chExt cx="129" cy="157"/>
            </a:xfrm>
          </p:grpSpPr>
          <p:sp>
            <p:nvSpPr>
              <p:cNvPr id="3077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78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79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sp>
          <p:nvSpPr>
            <p:cNvPr id="3080" name="未知"/>
            <p:cNvSpPr>
              <a:spLocks/>
            </p:cNvSpPr>
            <p:nvPr/>
          </p:nvSpPr>
          <p:spPr bwMode="auto">
            <a:xfrm>
              <a:off x="95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grpSp>
          <p:nvGrpSpPr>
            <p:cNvPr id="3081" name="Group 9"/>
            <p:cNvGrpSpPr>
              <a:grpSpLocks/>
            </p:cNvGrpSpPr>
            <p:nvPr/>
          </p:nvGrpSpPr>
          <p:grpSpPr bwMode="auto">
            <a:xfrm rot="416244">
              <a:off x="14" y="1746"/>
              <a:ext cx="1771" cy="1741"/>
              <a:chOff x="0" y="0"/>
              <a:chExt cx="902" cy="833"/>
            </a:xfrm>
          </p:grpSpPr>
          <p:sp>
            <p:nvSpPr>
              <p:cNvPr id="3082" name="未知"/>
              <p:cNvSpPr>
                <a:spLocks/>
              </p:cNvSpPr>
              <p:nvPr userDrawn="1"/>
            </p:nvSpPr>
            <p:spPr bwMode="auto">
              <a:xfrm rot="373330" flipH="1">
                <a:off x="84" y="0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83" name="未知"/>
              <p:cNvSpPr>
                <a:spLocks/>
              </p:cNvSpPr>
              <p:nvPr userDrawn="1"/>
            </p:nvSpPr>
            <p:spPr bwMode="auto">
              <a:xfrm rot="373330" flipH="1">
                <a:off x="0" y="56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84" name="未知"/>
              <p:cNvSpPr>
                <a:spLocks/>
              </p:cNvSpPr>
              <p:nvPr userDrawn="1"/>
            </p:nvSpPr>
            <p:spPr bwMode="auto">
              <a:xfrm rot="373330" flipH="1">
                <a:off x="80" y="120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85" name="未知"/>
              <p:cNvSpPr>
                <a:spLocks/>
              </p:cNvSpPr>
              <p:nvPr userDrawn="1"/>
            </p:nvSpPr>
            <p:spPr bwMode="auto">
              <a:xfrm rot="373330" flipH="1">
                <a:off x="272" y="323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86" name="未知"/>
              <p:cNvSpPr>
                <a:spLocks/>
              </p:cNvSpPr>
              <p:nvPr userDrawn="1"/>
            </p:nvSpPr>
            <p:spPr bwMode="auto">
              <a:xfrm rot="373330" flipH="1">
                <a:off x="248" y="348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grpSp>
            <p:nvGrpSpPr>
              <p:cNvPr id="3087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294" y="464"/>
                <a:ext cx="608" cy="369"/>
                <a:chOff x="0" y="0"/>
                <a:chExt cx="608" cy="369"/>
              </a:xfrm>
            </p:grpSpPr>
            <p:sp>
              <p:nvSpPr>
                <p:cNvPr id="3088" name="未知"/>
                <p:cNvSpPr>
                  <a:spLocks/>
                </p:cNvSpPr>
                <p:nvPr userDrawn="1"/>
              </p:nvSpPr>
              <p:spPr bwMode="auto">
                <a:xfrm rot="4200091">
                  <a:off x="122" y="102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Tahoma" pitchFamily="34" charset="0"/>
                    <a:ea typeface="Dotum" pitchFamily="34" charset="-127"/>
                  </a:endParaRPr>
                </a:p>
              </p:txBody>
            </p:sp>
            <p:sp>
              <p:nvSpPr>
                <p:cNvPr id="3089" name="未知"/>
                <p:cNvSpPr>
                  <a:spLocks/>
                </p:cNvSpPr>
                <p:nvPr userDrawn="1"/>
              </p:nvSpPr>
              <p:spPr bwMode="auto">
                <a:xfrm rot="4200091">
                  <a:off x="489" y="56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Tahoma" pitchFamily="34" charset="0"/>
                    <a:ea typeface="Dotum" pitchFamily="34" charset="-127"/>
                  </a:endParaRPr>
                </a:p>
              </p:txBody>
            </p:sp>
            <p:sp>
              <p:nvSpPr>
                <p:cNvPr id="3090" name="未知"/>
                <p:cNvSpPr>
                  <a:spLocks/>
                </p:cNvSpPr>
                <p:nvPr userDrawn="1"/>
              </p:nvSpPr>
              <p:spPr bwMode="auto">
                <a:xfrm rot="4200091">
                  <a:off x="564" y="15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Tahoma" pitchFamily="34" charset="0"/>
                    <a:ea typeface="Dotum" pitchFamily="34" charset="-127"/>
                  </a:endParaRPr>
                </a:p>
              </p:txBody>
            </p:sp>
          </p:grpSp>
        </p:grpSp>
        <p:grpSp>
          <p:nvGrpSpPr>
            <p:cNvPr id="3091" name="Group 19"/>
            <p:cNvGrpSpPr>
              <a:grpSpLocks/>
            </p:cNvGrpSpPr>
            <p:nvPr/>
          </p:nvGrpSpPr>
          <p:grpSpPr bwMode="auto">
            <a:xfrm rot="-15351438">
              <a:off x="348" y="3854"/>
              <a:ext cx="392" cy="424"/>
              <a:chOff x="0" y="0"/>
              <a:chExt cx="129" cy="157"/>
            </a:xfrm>
          </p:grpSpPr>
          <p:sp>
            <p:nvSpPr>
              <p:cNvPr id="3092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93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94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grpSp>
          <p:nvGrpSpPr>
            <p:cNvPr id="3095" name="Group 23"/>
            <p:cNvGrpSpPr>
              <a:grpSpLocks/>
            </p:cNvGrpSpPr>
            <p:nvPr/>
          </p:nvGrpSpPr>
          <p:grpSpPr bwMode="auto">
            <a:xfrm rot="5003157">
              <a:off x="254" y="1102"/>
              <a:ext cx="412" cy="500"/>
              <a:chOff x="0" y="0"/>
              <a:chExt cx="129" cy="157"/>
            </a:xfrm>
          </p:grpSpPr>
          <p:sp>
            <p:nvSpPr>
              <p:cNvPr id="3096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97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098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grpSp>
          <p:nvGrpSpPr>
            <p:cNvPr id="3099" name="Group 27"/>
            <p:cNvGrpSpPr>
              <a:grpSpLocks/>
            </p:cNvGrpSpPr>
            <p:nvPr/>
          </p:nvGrpSpPr>
          <p:grpSpPr bwMode="auto">
            <a:xfrm>
              <a:off x="820" y="0"/>
              <a:ext cx="345" cy="367"/>
              <a:chOff x="0" y="0"/>
              <a:chExt cx="129" cy="157"/>
            </a:xfrm>
          </p:grpSpPr>
          <p:sp>
            <p:nvSpPr>
              <p:cNvPr id="3100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101" name="未知"/>
              <p:cNvSpPr>
                <a:spLocks/>
              </p:cNvSpPr>
              <p:nvPr userDrawn="1"/>
            </p:nvSpPr>
            <p:spPr bwMode="auto">
              <a:xfrm>
                <a:off x="59" y="28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3102" name="未知"/>
              <p:cNvSpPr>
                <a:spLocks/>
              </p:cNvSpPr>
              <p:nvPr userDrawn="1"/>
            </p:nvSpPr>
            <p:spPr bwMode="auto">
              <a:xfrm>
                <a:off x="45" y="132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sp>
          <p:nvSpPr>
            <p:cNvPr id="3103" name="未知"/>
            <p:cNvSpPr>
              <a:spLocks/>
            </p:cNvSpPr>
            <p:nvPr/>
          </p:nvSpPr>
          <p:spPr bwMode="auto">
            <a:xfrm>
              <a:off x="92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04" name="未知"/>
            <p:cNvSpPr>
              <a:spLocks/>
            </p:cNvSpPr>
            <p:nvPr/>
          </p:nvSpPr>
          <p:spPr bwMode="auto">
            <a:xfrm rot="828663">
              <a:off x="247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05" name="未知"/>
            <p:cNvSpPr>
              <a:spLocks/>
            </p:cNvSpPr>
            <p:nvPr/>
          </p:nvSpPr>
          <p:spPr bwMode="auto">
            <a:xfrm rot="828663">
              <a:off x="271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06" name="未知"/>
            <p:cNvSpPr>
              <a:spLocks/>
            </p:cNvSpPr>
            <p:nvPr/>
          </p:nvSpPr>
          <p:spPr bwMode="auto">
            <a:xfrm>
              <a:off x="16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07" name="未知"/>
            <p:cNvSpPr>
              <a:spLocks/>
            </p:cNvSpPr>
            <p:nvPr/>
          </p:nvSpPr>
          <p:spPr bwMode="auto">
            <a:xfrm>
              <a:off x="5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08" name="未知"/>
            <p:cNvSpPr>
              <a:spLocks/>
            </p:cNvSpPr>
            <p:nvPr/>
          </p:nvSpPr>
          <p:spPr bwMode="auto">
            <a:xfrm>
              <a:off x="5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09" name="未知"/>
            <p:cNvSpPr>
              <a:spLocks/>
            </p:cNvSpPr>
            <p:nvPr/>
          </p:nvSpPr>
          <p:spPr bwMode="auto">
            <a:xfrm>
              <a:off x="5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10" name="未知"/>
            <p:cNvSpPr>
              <a:spLocks/>
            </p:cNvSpPr>
            <p:nvPr/>
          </p:nvSpPr>
          <p:spPr bwMode="auto">
            <a:xfrm rot="1584153">
              <a:off x="25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11" name="未知"/>
            <p:cNvSpPr>
              <a:spLocks/>
            </p:cNvSpPr>
            <p:nvPr/>
          </p:nvSpPr>
          <p:spPr bwMode="auto">
            <a:xfrm rot="1584153">
              <a:off x="247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12" name="未知"/>
            <p:cNvSpPr>
              <a:spLocks/>
            </p:cNvSpPr>
            <p:nvPr/>
          </p:nvSpPr>
          <p:spPr bwMode="auto">
            <a:xfrm rot="1584153">
              <a:off x="579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13" name="未知"/>
            <p:cNvSpPr>
              <a:spLocks/>
            </p:cNvSpPr>
            <p:nvPr/>
          </p:nvSpPr>
          <p:spPr bwMode="auto">
            <a:xfrm rot="1584153">
              <a:off x="241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14" name="未知"/>
            <p:cNvSpPr>
              <a:spLocks/>
            </p:cNvSpPr>
            <p:nvPr/>
          </p:nvSpPr>
          <p:spPr bwMode="auto">
            <a:xfrm rot="1584153">
              <a:off x="590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15" name="未知"/>
            <p:cNvSpPr>
              <a:spLocks/>
            </p:cNvSpPr>
            <p:nvPr/>
          </p:nvSpPr>
          <p:spPr bwMode="auto">
            <a:xfrm>
              <a:off x="5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3116" name="未知"/>
            <p:cNvSpPr>
              <a:spLocks/>
            </p:cNvSpPr>
            <p:nvPr/>
          </p:nvSpPr>
          <p:spPr bwMode="auto">
            <a:xfrm rot="1584153">
              <a:off x="61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</p:grpSp>
      <p:sp>
        <p:nvSpPr>
          <p:cNvPr id="3117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590552" y="103188"/>
            <a:ext cx="10991849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3118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3119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120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121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5376814-DB92-4269-A1E8-17D64F01D20F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14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ransition spd="slow">
    <p:pull dir="ru"/>
  </p:transition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宋体" pitchFamily="2" charset="-122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宋体" pitchFamily="2" charset="-122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宋体" pitchFamily="2" charset="-122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宋体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宋体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宋体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宋体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2.tmp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image" Target="../media/image2.tmp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2.tmp"/><Relationship Id="rId5" Type="http://schemas.openxmlformats.org/officeDocument/2006/relationships/tags" Target="../tags/tag41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2.tmp"/><Relationship Id="rId5" Type="http://schemas.openxmlformats.org/officeDocument/2006/relationships/tags" Target="../tags/tag5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10" Type="http://schemas.openxmlformats.org/officeDocument/2006/relationships/tags" Target="../tags/tag64.xml"/><Relationship Id="rId19" Type="http://schemas.openxmlformats.org/officeDocument/2006/relationships/image" Target="../media/image2.tmp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image" Target="../media/image2.tmp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7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19" Type="http://schemas.openxmlformats.org/officeDocument/2006/relationships/image" Target="../media/image2.tmp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19" Type="http://schemas.openxmlformats.org/officeDocument/2006/relationships/image" Target="../media/image2.tmp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19" Type="http://schemas.openxmlformats.org/officeDocument/2006/relationships/image" Target="../media/image2.tmp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tags" Target="../tags/tag145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tags" Target="../tags/tag144.xml"/><Relationship Id="rId17" Type="http://schemas.openxmlformats.org/officeDocument/2006/relationships/tags" Target="../tags/tag149.xml"/><Relationship Id="rId2" Type="http://schemas.openxmlformats.org/officeDocument/2006/relationships/tags" Target="../tags/tag134.xml"/><Relationship Id="rId16" Type="http://schemas.openxmlformats.org/officeDocument/2006/relationships/tags" Target="../tags/tag148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openxmlformats.org/officeDocument/2006/relationships/tags" Target="../tags/tag147.xml"/><Relationship Id="rId10" Type="http://schemas.openxmlformats.org/officeDocument/2006/relationships/tags" Target="../tags/tag142.xml"/><Relationship Id="rId19" Type="http://schemas.openxmlformats.org/officeDocument/2006/relationships/image" Target="../media/image2.tmp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tags" Target="../tags/tag162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tags" Target="../tags/tag161.xml"/><Relationship Id="rId17" Type="http://schemas.openxmlformats.org/officeDocument/2006/relationships/tags" Target="../tags/tag166.xml"/><Relationship Id="rId2" Type="http://schemas.openxmlformats.org/officeDocument/2006/relationships/tags" Target="../tags/tag151.xml"/><Relationship Id="rId16" Type="http://schemas.openxmlformats.org/officeDocument/2006/relationships/tags" Target="../tags/tag165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tags" Target="../tags/tag160.xml"/><Relationship Id="rId5" Type="http://schemas.openxmlformats.org/officeDocument/2006/relationships/tags" Target="../tags/tag154.xml"/><Relationship Id="rId15" Type="http://schemas.openxmlformats.org/officeDocument/2006/relationships/tags" Target="../tags/tag164.xml"/><Relationship Id="rId10" Type="http://schemas.openxmlformats.org/officeDocument/2006/relationships/tags" Target="../tags/tag159.xml"/><Relationship Id="rId19" Type="http://schemas.openxmlformats.org/officeDocument/2006/relationships/image" Target="../media/image2.tmp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tags" Target="../tags/tag163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13" Type="http://schemas.openxmlformats.org/officeDocument/2006/relationships/tags" Target="../tags/tag179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169.xml"/><Relationship Id="rId7" Type="http://schemas.openxmlformats.org/officeDocument/2006/relationships/tags" Target="../tags/tag173.xml"/><Relationship Id="rId12" Type="http://schemas.openxmlformats.org/officeDocument/2006/relationships/tags" Target="../tags/tag178.xml"/><Relationship Id="rId17" Type="http://schemas.openxmlformats.org/officeDocument/2006/relationships/tags" Target="../tags/tag183.xml"/><Relationship Id="rId2" Type="http://schemas.openxmlformats.org/officeDocument/2006/relationships/tags" Target="../tags/tag168.xml"/><Relationship Id="rId16" Type="http://schemas.openxmlformats.org/officeDocument/2006/relationships/tags" Target="../tags/tag182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tags" Target="../tags/tag177.xml"/><Relationship Id="rId5" Type="http://schemas.openxmlformats.org/officeDocument/2006/relationships/tags" Target="../tags/tag171.xml"/><Relationship Id="rId15" Type="http://schemas.openxmlformats.org/officeDocument/2006/relationships/tags" Target="../tags/tag181.xml"/><Relationship Id="rId10" Type="http://schemas.openxmlformats.org/officeDocument/2006/relationships/tags" Target="../tags/tag176.xml"/><Relationship Id="rId19" Type="http://schemas.openxmlformats.org/officeDocument/2006/relationships/image" Target="../media/image2.tmp"/><Relationship Id="rId4" Type="http://schemas.openxmlformats.org/officeDocument/2006/relationships/tags" Target="../tags/tag170.xml"/><Relationship Id="rId9" Type="http://schemas.openxmlformats.org/officeDocument/2006/relationships/tags" Target="../tags/tag175.xml"/><Relationship Id="rId14" Type="http://schemas.openxmlformats.org/officeDocument/2006/relationships/tags" Target="../tags/tag180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10" Type="http://schemas.openxmlformats.org/officeDocument/2006/relationships/tags" Target="../tags/tag193.xml"/><Relationship Id="rId19" Type="http://schemas.openxmlformats.org/officeDocument/2006/relationships/image" Target="../media/image2.tmp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5" Type="http://schemas.openxmlformats.org/officeDocument/2006/relationships/tags" Target="../tags/tag205.xml"/><Relationship Id="rId15" Type="http://schemas.openxmlformats.org/officeDocument/2006/relationships/tags" Target="../tags/tag215.xml"/><Relationship Id="rId10" Type="http://schemas.openxmlformats.org/officeDocument/2006/relationships/tags" Target="../tags/tag210.xml"/><Relationship Id="rId19" Type="http://schemas.openxmlformats.org/officeDocument/2006/relationships/image" Target="../media/image2.tmp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tags" Target="../tags/tag214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tags" Target="../tags/tag230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220.xml"/><Relationship Id="rId7" Type="http://schemas.openxmlformats.org/officeDocument/2006/relationships/tags" Target="../tags/tag224.xml"/><Relationship Id="rId12" Type="http://schemas.openxmlformats.org/officeDocument/2006/relationships/tags" Target="../tags/tag229.xml"/><Relationship Id="rId17" Type="http://schemas.openxmlformats.org/officeDocument/2006/relationships/tags" Target="../tags/tag234.xml"/><Relationship Id="rId2" Type="http://schemas.openxmlformats.org/officeDocument/2006/relationships/tags" Target="../tags/tag219.xml"/><Relationship Id="rId16" Type="http://schemas.openxmlformats.org/officeDocument/2006/relationships/tags" Target="../tags/tag233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5" Type="http://schemas.openxmlformats.org/officeDocument/2006/relationships/tags" Target="../tags/tag222.xml"/><Relationship Id="rId15" Type="http://schemas.openxmlformats.org/officeDocument/2006/relationships/tags" Target="../tags/tag232.xml"/><Relationship Id="rId10" Type="http://schemas.openxmlformats.org/officeDocument/2006/relationships/tags" Target="../tags/tag227.xml"/><Relationship Id="rId19" Type="http://schemas.openxmlformats.org/officeDocument/2006/relationships/image" Target="../media/image2.tmp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14" Type="http://schemas.openxmlformats.org/officeDocument/2006/relationships/tags" Target="../tags/tag231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12" Type="http://schemas.openxmlformats.org/officeDocument/2006/relationships/image" Target="../media/image2.tmp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239.xml"/><Relationship Id="rId10" Type="http://schemas.openxmlformats.org/officeDocument/2006/relationships/tags" Target="../tags/tag244.xml"/><Relationship Id="rId4" Type="http://schemas.openxmlformats.org/officeDocument/2006/relationships/tags" Target="../tags/tag238.xml"/><Relationship Id="rId9" Type="http://schemas.openxmlformats.org/officeDocument/2006/relationships/tags" Target="../tags/tag2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440114" y="150814"/>
            <a:ext cx="6264275" cy="795337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5.1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变量的作用域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8189" y="1374775"/>
            <a:ext cx="8213725" cy="4598988"/>
          </a:xfrm>
        </p:spPr>
        <p:txBody>
          <a:bodyPr/>
          <a:lstStyle/>
          <a:p>
            <a:pPr marL="577850" indent="-577850">
              <a:lnSpc>
                <a:spcPct val="120000"/>
              </a:lnSpc>
              <a:spcBef>
                <a:spcPct val="30000"/>
              </a:spcBef>
              <a:spcAft>
                <a:spcPct val="20000"/>
              </a:spcAft>
              <a:buClr>
                <a:srgbClr val="008000"/>
              </a:buClr>
              <a:buSzPct val="85000"/>
              <a:buFont typeface="Wingdings" pitchFamily="2" charset="2"/>
              <a:buChar char="&amp;"/>
            </a:pP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每个变量都有其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作用域</a:t>
            </a:r>
            <a:r>
              <a:rPr lang="zh-CN" altLang="zh-CN" sz="3600" b="1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600" b="1">
                <a:latin typeface="黑体" pitchFamily="49" charset="-122"/>
                <a:ea typeface="黑体" pitchFamily="49" charset="-122"/>
              </a:rPr>
              <a:t>使用范围</a:t>
            </a:r>
            <a:r>
              <a:rPr lang="zh-CN" altLang="zh-CN" sz="3600" b="1" dirty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，</a:t>
            </a:r>
            <a:r>
              <a:rPr lang="zh-CN" altLang="en-US" sz="3600" b="1" dirty="0">
                <a:ea typeface="黑体" pitchFamily="49" charset="-122"/>
              </a:rPr>
              <a:t>即变量在程序中可以</a:t>
            </a:r>
            <a:r>
              <a:rPr lang="zh-CN" altLang="en-US" sz="3600" b="1" dirty="0">
                <a:latin typeface="Courier New" pitchFamily="49" charset="0"/>
                <a:ea typeface="黑体" pitchFamily="49" charset="-122"/>
              </a:rPr>
              <a:t>存储或使用</a:t>
            </a:r>
            <a:r>
              <a:rPr lang="en-US" altLang="zh-CN" sz="3600" b="1" dirty="0">
                <a:solidFill>
                  <a:srgbClr val="FF0000"/>
                </a:solidFill>
                <a:latin typeface="Courier New" pitchFamily="49" charset="0"/>
                <a:ea typeface="黑体" pitchFamily="49" charset="-122"/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  <a:ea typeface="黑体" pitchFamily="49" charset="-122"/>
              </a:rPr>
              <a:t>引用</a:t>
            </a:r>
            <a:r>
              <a:rPr lang="en-US" altLang="zh-CN" sz="3600" b="1" dirty="0">
                <a:solidFill>
                  <a:srgbClr val="FF0000"/>
                </a:solidFill>
                <a:ea typeface="黑体" pitchFamily="49" charset="-122"/>
              </a:rPr>
              <a:t>)</a:t>
            </a:r>
            <a:r>
              <a:rPr lang="zh-CN" altLang="en-US" sz="3600" b="1" dirty="0">
                <a:ea typeface="黑体" pitchFamily="49" charset="-122"/>
              </a:rPr>
              <a:t>的</a:t>
            </a:r>
            <a:r>
              <a:rPr lang="zh-CN" altLang="en-US" sz="3600" b="1">
                <a:ea typeface="黑体" pitchFamily="49" charset="-122"/>
              </a:rPr>
              <a:t>范围。</a:t>
            </a:r>
            <a:r>
              <a:rPr lang="zh-CN" altLang="en-US" sz="3600" b="1">
                <a:latin typeface="黑体" pitchFamily="49" charset="-122"/>
                <a:ea typeface="黑体" pitchFamily="49" charset="-122"/>
              </a:rPr>
              <a:t>   </a:t>
            </a:r>
            <a:endParaRPr lang="en-US" altLang="zh-CN" sz="3600" b="1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20000"/>
              </a:lnSpc>
              <a:spcBef>
                <a:spcPct val="55000"/>
              </a:spcBef>
              <a:buClr>
                <a:srgbClr val="C44DFF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根据变量作用域的不同，</a:t>
            </a:r>
            <a:r>
              <a:rPr lang="zh-CN" altLang="en-US" sz="3600" b="1">
                <a:latin typeface="黑体" pitchFamily="49" charset="-122"/>
                <a:ea typeface="黑体" pitchFamily="49" charset="-122"/>
              </a:rPr>
              <a:t>可分为</a:t>
            </a:r>
            <a:endParaRPr lang="en-US" altLang="zh-CN" sz="3600" b="1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20000"/>
              </a:lnSpc>
              <a:spcBef>
                <a:spcPct val="55000"/>
              </a:spcBef>
              <a:buClr>
                <a:srgbClr val="C44DFF"/>
              </a:buClr>
              <a:buSzPct val="90000"/>
              <a:buFont typeface="Wingdings" panose="05000000000000000000" pitchFamily="2" charset="2"/>
              <a:buChar char="ü"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局部变量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内部）</a:t>
            </a:r>
            <a:endParaRPr lang="en-US" altLang="zh-CN" sz="3200" b="1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20000"/>
              </a:lnSpc>
              <a:spcBef>
                <a:spcPct val="55000"/>
              </a:spcBef>
              <a:buClr>
                <a:srgbClr val="C44DFF"/>
              </a:buClr>
              <a:buSzPct val="90000"/>
              <a:buFont typeface="Wingdings" panose="05000000000000000000" pitchFamily="2" charset="2"/>
              <a:buChar char="ü"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全局变量（外部）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  <a:p>
            <a:pPr marL="577850" indent="-577850">
              <a:buNone/>
            </a:pPr>
            <a:endParaRPr lang="zh-CN" altLang="zh-CN" sz="36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766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75088" y="33339"/>
            <a:ext cx="5554662" cy="801687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一、局部变量</a:t>
            </a:r>
            <a:r>
              <a:rPr lang="zh-CN" b="0">
                <a:latin typeface="楷体_GB2312" pitchFamily="49" charset="-122"/>
              </a:rPr>
              <a:t>                               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2488" y="1214438"/>
            <a:ext cx="8458200" cy="4195762"/>
          </a:xfrm>
        </p:spPr>
        <p:txBody>
          <a:bodyPr/>
          <a:lstStyle/>
          <a:p>
            <a:pPr marL="274638" indent="-274638">
              <a:lnSpc>
                <a:spcPct val="110000"/>
              </a:lnSpc>
              <a:spcBef>
                <a:spcPct val="30000"/>
              </a:spcBef>
            </a:pPr>
            <a:r>
              <a:rPr lang="zh-CN" altLang="en-US" sz="2800" b="1" dirty="0">
                <a:latin typeface="黑体" pitchFamily="49" charset="-122"/>
              </a:rPr>
              <a:t>在一个函数内部定义的变量称为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局部变量</a:t>
            </a:r>
            <a:r>
              <a:rPr lang="zh-CN" altLang="en-US" sz="2800" b="1" dirty="0">
                <a:latin typeface="黑体" pitchFamily="49" charset="-122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内部变量</a:t>
            </a:r>
            <a:r>
              <a:rPr lang="zh-CN" altLang="en-US" sz="2800" b="1" dirty="0">
                <a:latin typeface="黑体" pitchFamily="49" charset="-122"/>
              </a:rPr>
              <a:t>）。</a:t>
            </a:r>
          </a:p>
          <a:p>
            <a:pPr marL="274638" indent="-274638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Courier New" pitchFamily="49" charset="0"/>
              </a:rPr>
              <a:t>作用范围仅限于本函数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Courier New" pitchFamily="49" charset="0"/>
              </a:rPr>
              <a:t>即</a:t>
            </a:r>
            <a:r>
              <a:rPr lang="zh-CN" altLang="en-US" sz="2800" b="1" dirty="0">
                <a:latin typeface="黑体" pitchFamily="49" charset="-122"/>
              </a:rPr>
              <a:t>只在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本函数范围内</a:t>
            </a:r>
            <a:r>
              <a:rPr lang="zh-CN" altLang="en-US" sz="2800" b="1" dirty="0">
                <a:latin typeface="黑体" pitchFamily="49" charset="-122"/>
              </a:rPr>
              <a:t>有效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/>
              <a:t>其他函数</a:t>
            </a:r>
            <a:r>
              <a:rPr lang="zh-CN" altLang="en-US" sz="2800" b="1"/>
              <a:t>内不能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直接</a:t>
            </a:r>
            <a:r>
              <a:rPr lang="zh-CN" altLang="en-US" sz="2800" b="1"/>
              <a:t>使用</a:t>
            </a:r>
            <a:r>
              <a:rPr lang="zh-CN" altLang="en-US" sz="2800" b="1" dirty="0"/>
              <a:t>。</a:t>
            </a:r>
          </a:p>
          <a:p>
            <a:pPr marL="274638" indent="-274638">
              <a:lnSpc>
                <a:spcPct val="110000"/>
              </a:lnSpc>
              <a:spcBef>
                <a:spcPct val="10000"/>
              </a:spcBef>
              <a:buNone/>
            </a:pPr>
            <a:endParaRPr lang="zh-CN" altLang="en-US" sz="2800" b="1" dirty="0">
              <a:latin typeface="黑体" pitchFamily="49" charset="-122"/>
            </a:endParaRPr>
          </a:p>
          <a:p>
            <a:pPr marL="274638" indent="-274638">
              <a:buNone/>
            </a:pPr>
            <a:endParaRPr lang="zh-CN" altLang="zh-CN" dirty="0"/>
          </a:p>
        </p:txBody>
      </p:sp>
      <p:sp>
        <p:nvSpPr>
          <p:cNvPr id="471044" name="Comment 4"/>
          <p:cNvSpPr>
            <a:spLocks noChangeArrowheads="1"/>
          </p:cNvSpPr>
          <p:nvPr/>
        </p:nvSpPr>
        <p:spPr bwMode="auto">
          <a:xfrm>
            <a:off x="2639616" y="3789040"/>
            <a:ext cx="6481763" cy="2527212"/>
          </a:xfrm>
          <a:prstGeom prst="flowChartAlternateProcess">
            <a:avLst/>
          </a:prstGeom>
          <a:solidFill>
            <a:srgbClr val="D1E4FF"/>
          </a:solidFill>
          <a:ln w="9525" cmpd="sng">
            <a:solidFill>
              <a:srgbClr val="000000"/>
            </a:solidFill>
            <a:miter lim="800000"/>
            <a:headEnd/>
            <a:tailEnd/>
          </a:ln>
          <a:effectLst>
            <a:outerShdw dist="125724" dir="2700000" algn="ctr" rotWithShape="0">
              <a:schemeClr val="bg2"/>
            </a:outerShdw>
          </a:effectLst>
        </p:spPr>
        <p:txBody>
          <a:bodyPr bIns="82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max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int  </a:t>
            </a: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int  </a:t>
            </a: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y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</a:rPr>
              <a:t>//</a:t>
            </a:r>
            <a:r>
              <a:rPr lang="zh-CN" altLang="zh-CN" sz="2000" b="1">
                <a:solidFill>
                  <a:srgbClr val="000000"/>
                </a:solidFill>
              </a:rPr>
              <a:t>x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000" b="1">
                <a:solidFill>
                  <a:srgbClr val="000000"/>
                </a:solidFill>
              </a:rPr>
              <a:t>y</a:t>
            </a:r>
            <a:r>
              <a:rPr lang="zh-CN" altLang="en-US" sz="2000" b="1">
                <a:solidFill>
                  <a:srgbClr val="000000"/>
                </a:solidFill>
              </a:rPr>
              <a:t>的作用域从此开始</a:t>
            </a:r>
            <a:endParaRPr lang="zh-CN" altLang="en-US" sz="2000" b="1">
              <a:solidFill>
                <a:srgbClr val="000000"/>
              </a:solidFill>
              <a:latin typeface="黑体" pitchFamily="49" charset="-122"/>
            </a:endParaRPr>
          </a:p>
          <a:p>
            <a:pPr eaLnBrk="0" fontAlgn="base" hangingPunct="0">
              <a:spcBef>
                <a:spcPct val="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 </a:t>
            </a: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int  z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</a:rPr>
              <a:t>// </a:t>
            </a:r>
            <a:r>
              <a:rPr lang="zh-CN" altLang="zh-CN" sz="2000" b="1">
                <a:solidFill>
                  <a:srgbClr val="000000"/>
                </a:solidFill>
              </a:rPr>
              <a:t>z </a:t>
            </a:r>
            <a:r>
              <a:rPr lang="zh-CN" altLang="en-US" sz="2000" b="1">
                <a:solidFill>
                  <a:srgbClr val="000000"/>
                </a:solidFill>
              </a:rPr>
              <a:t>的作用域从此开始</a:t>
            </a:r>
            <a:endParaRPr lang="zh-CN" altLang="en-US" sz="2800" b="1">
              <a:solidFill>
                <a:srgbClr val="000000"/>
              </a:solidFill>
              <a:ea typeface="宋体" pitchFamily="2" charset="-122"/>
            </a:endParaRPr>
          </a:p>
          <a:p>
            <a:pPr eaLnBrk="0" fontAlgn="base" hangingPunct="0">
              <a:spcBef>
                <a:spcPct val="5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ea typeface="宋体" pitchFamily="2" charset="-122"/>
              </a:rPr>
              <a:t>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z=x </a:t>
            </a:r>
            <a:r>
              <a:rPr lang="zh-CN" altLang="zh-CN" sz="2400">
                <a:solidFill>
                  <a:srgbClr val="000000"/>
                </a:solidFill>
                <a:ea typeface="宋体" pitchFamily="2" charset="-122"/>
              </a:rPr>
              <a:t>&gt;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y ? x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y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fontAlgn="base" hangingPunct="0">
              <a:spcBef>
                <a:spcPct val="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return z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}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                       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</a:rPr>
              <a:t>//</a:t>
            </a:r>
            <a:r>
              <a:rPr lang="zh-CN" altLang="zh-CN" sz="2000" b="1">
                <a:solidFill>
                  <a:srgbClr val="000000"/>
                </a:solidFill>
              </a:rPr>
              <a:t>x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000" b="1">
                <a:solidFill>
                  <a:srgbClr val="000000"/>
                </a:solidFill>
              </a:rPr>
              <a:t>y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000" b="1">
                <a:solidFill>
                  <a:srgbClr val="000000"/>
                </a:solidFill>
              </a:rPr>
              <a:t>z </a:t>
            </a:r>
            <a:r>
              <a:rPr lang="zh-CN" altLang="en-US" sz="2000" b="1">
                <a:solidFill>
                  <a:srgbClr val="000000"/>
                </a:solidFill>
              </a:rPr>
              <a:t>的作用域到此结束</a:t>
            </a:r>
            <a:endParaRPr lang="zh-CN" altLang="en-US" sz="2800" b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71045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74826" y="765175"/>
            <a:ext cx="288925" cy="300038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347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4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87550" y="1300164"/>
            <a:ext cx="8382000" cy="4637087"/>
          </a:xfrm>
          <a:noFill/>
          <a:ln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itchFamily="18" charset="0"/>
              </a:rPr>
              <a:t>例</a:t>
            </a:r>
            <a:r>
              <a:rPr lang="zh-CN" altLang="zh-CN" sz="2800" b="1">
                <a:latin typeface="Times New Roman" pitchFamily="18" charset="0"/>
              </a:rPr>
              <a:t>:</a:t>
            </a:r>
          </a:p>
        </p:txBody>
      </p:sp>
      <p:graphicFrame>
        <p:nvGraphicFramePr>
          <p:cNvPr id="472067" name="Object 3"/>
          <p:cNvGraphicFramePr>
            <a:graphicFrameLocks noChangeAspect="1"/>
          </p:cNvGraphicFramePr>
          <p:nvPr/>
        </p:nvGraphicFramePr>
        <p:xfrm>
          <a:off x="3262313" y="1376364"/>
          <a:ext cx="5943600" cy="452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r:id="rId3" imgW="2402141" imgH="1829117" progId="Word.Picture.8">
                  <p:embed/>
                </p:oleObj>
              </mc:Choice>
              <mc:Fallback>
                <p:oleObj r:id="rId3" imgW="2402141" imgH="1829117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376364"/>
                        <a:ext cx="5943600" cy="452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68" name="Rectangle 4"/>
          <p:cNvSpPr>
            <a:spLocks noChangeArrowheads="1"/>
          </p:cNvSpPr>
          <p:nvPr/>
        </p:nvSpPr>
        <p:spPr bwMode="auto">
          <a:xfrm>
            <a:off x="4181476" y="152400"/>
            <a:ext cx="2936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333399"/>
                </a:solidFill>
                <a:ea typeface="楷体_GB2312" pitchFamily="49" charset="-122"/>
              </a:rPr>
              <a:t>一、</a:t>
            </a:r>
            <a:r>
              <a:rPr lang="zh-CN" altLang="en-US" sz="36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局部变量</a:t>
            </a:r>
          </a:p>
        </p:txBody>
      </p:sp>
      <p:sp>
        <p:nvSpPr>
          <p:cNvPr id="472069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71651" y="806450"/>
            <a:ext cx="384175" cy="330200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749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115888"/>
            <a:ext cx="6343650" cy="685800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1851" y="1201739"/>
            <a:ext cx="7954963" cy="4764087"/>
          </a:xfrm>
        </p:spPr>
        <p:txBody>
          <a:bodyPr/>
          <a:lstStyle/>
          <a:p>
            <a:pPr marL="290513" indent="-290513">
              <a:lnSpc>
                <a:spcPct val="125000"/>
              </a:lnSpc>
              <a:spcBef>
                <a:spcPct val="65000"/>
              </a:spcBef>
              <a:buSzPct val="50000"/>
            </a:pPr>
            <a:r>
              <a:rPr lang="zh-CN" altLang="zh-CN" sz="3600" b="1" dirty="0">
                <a:solidFill>
                  <a:srgbClr val="FF0000"/>
                </a:solidFill>
                <a:latin typeface="Arial" pitchFamily="34" charset="0"/>
              </a:rPr>
              <a:t>main</a:t>
            </a:r>
            <a:r>
              <a:rPr lang="zh-CN" altLang="zh-CN" sz="3600" b="1" dirty="0">
                <a:solidFill>
                  <a:srgbClr val="FF0000"/>
                </a:solidFill>
                <a:latin typeface="Times New Roman" pitchFamily="18" charset="0"/>
              </a:rPr>
              <a:t>( )</a:t>
            </a:r>
            <a:r>
              <a:rPr lang="zh-CN" altLang="en-US" sz="3600" b="1" dirty="0">
                <a:solidFill>
                  <a:srgbClr val="FF0000"/>
                </a:solidFill>
              </a:rPr>
              <a:t>中定义的变量也只在主函数中有效</a:t>
            </a:r>
            <a:r>
              <a:rPr lang="zh-CN" altLang="zh-CN" sz="3600" b="1" dirty="0">
                <a:latin typeface="Times New Roman" pitchFamily="18" charset="0"/>
              </a:rPr>
              <a:t>,  </a:t>
            </a:r>
            <a:r>
              <a:rPr lang="zh-CN" altLang="en-US" sz="3600" b="1" dirty="0"/>
              <a:t>而不是在整个文件中有效</a:t>
            </a:r>
            <a:r>
              <a:rPr lang="zh-CN" altLang="zh-CN" sz="3600" b="1">
                <a:latin typeface="Times New Roman" pitchFamily="18" charset="0"/>
              </a:rPr>
              <a:t>;  </a:t>
            </a:r>
            <a:endParaRPr lang="en-US" altLang="zh-CN" sz="3600" b="1">
              <a:latin typeface="Times New Roman" pitchFamily="18" charset="0"/>
            </a:endParaRPr>
          </a:p>
          <a:p>
            <a:pPr marL="290513" indent="-290513">
              <a:lnSpc>
                <a:spcPct val="125000"/>
              </a:lnSpc>
              <a:spcBef>
                <a:spcPct val="65000"/>
              </a:spcBef>
              <a:buSzPct val="50000"/>
            </a:pPr>
            <a:endParaRPr lang="en-US" altLang="zh-CN" sz="3600" b="1">
              <a:latin typeface="Times New Roman" pitchFamily="18" charset="0"/>
            </a:endParaRPr>
          </a:p>
          <a:p>
            <a:pPr marL="290513" indent="-290513">
              <a:lnSpc>
                <a:spcPct val="125000"/>
              </a:lnSpc>
              <a:spcBef>
                <a:spcPct val="65000"/>
              </a:spcBef>
              <a:buSzPct val="50000"/>
            </a:pPr>
            <a:r>
              <a:rPr lang="zh-CN" altLang="zh-CN" sz="3600" b="1">
                <a:solidFill>
                  <a:srgbClr val="FF0000"/>
                </a:solidFill>
                <a:latin typeface="Arial" pitchFamily="34" charset="0"/>
              </a:rPr>
              <a:t>main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函数也</a:t>
            </a:r>
            <a:r>
              <a:rPr lang="zh-CN" altLang="en-US" sz="3600" b="1"/>
              <a:t>不能直接使用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其它函数中定义的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zh-CN" altLang="en-US" sz="3600" b="1"/>
              <a:t>。</a:t>
            </a:r>
            <a:endParaRPr lang="zh-CN" altLang="en-US" sz="3600" b="1" dirty="0"/>
          </a:p>
        </p:txBody>
      </p:sp>
      <p:sp>
        <p:nvSpPr>
          <p:cNvPr id="473092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03388" y="765175"/>
            <a:ext cx="360362" cy="300038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72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115888"/>
            <a:ext cx="6343650" cy="685800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1851" y="1201739"/>
            <a:ext cx="7954963" cy="4764087"/>
          </a:xfrm>
        </p:spPr>
        <p:txBody>
          <a:bodyPr/>
          <a:lstStyle/>
          <a:p>
            <a:pPr marL="290513" indent="-290513">
              <a:lnSpc>
                <a:spcPct val="125000"/>
              </a:lnSpc>
              <a:spcBef>
                <a:spcPct val="65000"/>
              </a:spcBef>
              <a:buSzPct val="50000"/>
            </a:pPr>
            <a:r>
              <a:rPr lang="zh-CN" altLang="en-US" b="1" dirty="0">
                <a:latin typeface="Times New Roman" pitchFamily="18" charset="0"/>
              </a:rPr>
              <a:t>不同函数中可使用相同名字的变量</a:t>
            </a:r>
            <a:r>
              <a:rPr lang="zh-CN" altLang="zh-CN" b="1" dirty="0">
                <a:latin typeface="Times New Roman" pitchFamily="18" charset="0"/>
              </a:rPr>
              <a:t>, </a:t>
            </a:r>
            <a:r>
              <a:rPr lang="zh-CN" altLang="en-US" b="1" dirty="0"/>
              <a:t>它们代表不同的对象，占用不同的内存区域</a:t>
            </a:r>
            <a:r>
              <a:rPr lang="en-US" altLang="zh-CN" b="1" dirty="0"/>
              <a:t>,</a:t>
            </a:r>
            <a:r>
              <a:rPr lang="zh-CN" altLang="en-US" b="1" dirty="0"/>
              <a:t>互不干扰</a:t>
            </a:r>
            <a:r>
              <a:rPr lang="en-US" altLang="zh-CN" b="1" dirty="0"/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作用域不同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允许同名</a:t>
            </a:r>
            <a:r>
              <a:rPr lang="en-US" altLang="zh-CN" b="1" dirty="0"/>
              <a:t>)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290513" indent="-290513">
              <a:lnSpc>
                <a:spcPct val="125000"/>
              </a:lnSpc>
              <a:spcBef>
                <a:spcPct val="65000"/>
              </a:spcBef>
              <a:buSzPct val="50000"/>
            </a:pPr>
            <a:r>
              <a:rPr lang="zh-CN" altLang="en-US" b="1" dirty="0"/>
              <a:t>有同名变量时</a:t>
            </a:r>
            <a:r>
              <a:rPr lang="en-US" altLang="zh-CN" b="1" dirty="0"/>
              <a:t>,</a:t>
            </a:r>
            <a:r>
              <a:rPr lang="zh-CN" altLang="en-US" b="1" dirty="0"/>
              <a:t>用这个名称指的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作用域小的那个变量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90513" indent="-290513">
              <a:lnSpc>
                <a:spcPct val="125000"/>
              </a:lnSpc>
              <a:spcBef>
                <a:spcPct val="65000"/>
              </a:spcBef>
              <a:buSzPct val="50000"/>
            </a:pPr>
            <a:r>
              <a:rPr lang="zh-CN" altLang="en-US" b="1" dirty="0">
                <a:solidFill>
                  <a:srgbClr val="002060"/>
                </a:solidFill>
                <a:latin typeface="Times New Roman" pitchFamily="18" charset="0"/>
              </a:rPr>
              <a:t>形参是被调函数的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定义的</a:t>
            </a:r>
            <a:r>
              <a:rPr lang="zh-CN" altLang="en-US" b="1" dirty="0">
                <a:solidFill>
                  <a:srgbClr val="002060"/>
                </a:solidFill>
                <a:latin typeface="Times New Roman" pitchFamily="18" charset="0"/>
              </a:rPr>
              <a:t>局部变量</a:t>
            </a:r>
          </a:p>
        </p:txBody>
      </p:sp>
      <p:sp>
        <p:nvSpPr>
          <p:cNvPr id="473092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03388" y="765175"/>
            <a:ext cx="360362" cy="300038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034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00263" y="1181100"/>
            <a:ext cx="8120062" cy="4713288"/>
          </a:xfrm>
        </p:spPr>
        <p:txBody>
          <a:bodyPr/>
          <a:lstStyle/>
          <a:p>
            <a:pPr marL="274638" indent="-274638">
              <a:lnSpc>
                <a:spcPct val="110000"/>
              </a:lnSpc>
            </a:pPr>
            <a:r>
              <a:rPr lang="zh-CN" altLang="en-US" sz="2800" b="1">
                <a:latin typeface="Times New Roman" pitchFamily="18" charset="0"/>
              </a:rPr>
              <a:t>在函数内部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可在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复合语句中</a:t>
            </a:r>
            <a:r>
              <a:rPr lang="zh-CN" altLang="en-US" sz="2800" b="1">
                <a:latin typeface="Times New Roman" pitchFamily="18" charset="0"/>
              </a:rPr>
              <a:t>定义变量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这个变量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只在本复合语句中有效</a:t>
            </a:r>
            <a:r>
              <a:rPr lang="zh-CN" altLang="en-US" sz="2800" b="1">
                <a:latin typeface="Times New Roman" pitchFamily="18" charset="0"/>
              </a:rPr>
              <a:t>。</a:t>
            </a:r>
          </a:p>
          <a:p>
            <a:pPr marL="274638" indent="-274638">
              <a:lnSpc>
                <a:spcPct val="115000"/>
              </a:lnSpc>
              <a:buNone/>
            </a:pPr>
            <a:r>
              <a:rPr lang="en-US" altLang="zh-CN" sz="2800" b="1">
                <a:latin typeface="Arial" pitchFamily="34" charset="0"/>
              </a:rPr>
              <a:t>      </a:t>
            </a:r>
            <a:r>
              <a:rPr lang="zh-CN" altLang="zh-CN" sz="2800" b="1">
                <a:latin typeface="Arial" pitchFamily="34" charset="0"/>
              </a:rPr>
              <a:t>main</a:t>
            </a:r>
            <a:r>
              <a:rPr lang="zh-CN" altLang="zh-CN" sz="2800" b="1">
                <a:latin typeface="Times New Roman" pitchFamily="18" charset="0"/>
              </a:rPr>
              <a:t>( )</a:t>
            </a:r>
          </a:p>
          <a:p>
            <a:pPr marL="274638" indent="-274638">
              <a:lnSpc>
                <a:spcPct val="90000"/>
              </a:lnSpc>
              <a:buNone/>
            </a:pPr>
            <a:r>
              <a:rPr lang="zh-CN" altLang="zh-CN" sz="2800" b="1"/>
              <a:t>      {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zh-CN" altLang="zh-CN" sz="2800" b="1">
                <a:latin typeface="Arial" pitchFamily="34" charset="0"/>
              </a:rPr>
              <a:t>b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</a:t>
            </a:r>
          </a:p>
          <a:p>
            <a:pPr marL="274638" indent="-2746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800" b="1"/>
              <a:t>           </a:t>
            </a:r>
            <a:r>
              <a:rPr lang="zh-CN" altLang="zh-CN" sz="2800" b="1">
                <a:latin typeface="Times New Roman"/>
              </a:rPr>
              <a:t>……</a:t>
            </a:r>
            <a:r>
              <a:rPr lang="zh-CN" altLang="zh-CN" sz="2800" b="1"/>
              <a:t> </a:t>
            </a:r>
          </a:p>
          <a:p>
            <a:pPr marL="274638" indent="-274638">
              <a:lnSpc>
                <a:spcPct val="90000"/>
              </a:lnSpc>
              <a:buNone/>
            </a:pPr>
            <a:r>
              <a:rPr lang="zh-CN" altLang="zh-CN" sz="2800" b="1"/>
              <a:t>         { </a:t>
            </a:r>
            <a:r>
              <a:rPr lang="zh-CN" altLang="zh-CN" sz="2800" b="1">
                <a:solidFill>
                  <a:srgbClr val="D800D8"/>
                </a:solidFill>
                <a:latin typeface="Arial" pitchFamily="34" charset="0"/>
              </a:rPr>
              <a:t>int</a:t>
            </a:r>
            <a:r>
              <a:rPr lang="zh-CN" altLang="zh-CN" sz="2800" b="1">
                <a:solidFill>
                  <a:srgbClr val="D800D8"/>
                </a:solidFill>
              </a:rPr>
              <a:t>  c </a:t>
            </a:r>
            <a:r>
              <a:rPr lang="zh-CN" altLang="zh-CN" sz="2800" b="1">
                <a:solidFill>
                  <a:srgbClr val="D800D8"/>
                </a:solidFill>
                <a:latin typeface="Times New Roman" pitchFamily="18" charset="0"/>
              </a:rPr>
              <a:t>;</a:t>
            </a:r>
            <a:r>
              <a:rPr lang="zh-CN" altLang="zh-CN" sz="2800" b="1"/>
              <a:t>                        </a:t>
            </a:r>
          </a:p>
          <a:p>
            <a:pPr marL="274638" indent="-274638">
              <a:lnSpc>
                <a:spcPct val="90000"/>
              </a:lnSpc>
              <a:buNone/>
            </a:pPr>
            <a:r>
              <a:rPr lang="zh-CN" altLang="zh-CN" sz="2800" b="1"/>
              <a:t>            </a:t>
            </a:r>
            <a:r>
              <a:rPr lang="zh-CN" altLang="zh-CN" sz="2800" b="1">
                <a:latin typeface="Arial" pitchFamily="34" charset="0"/>
              </a:rPr>
              <a:t>c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/>
              <a:t>+</a:t>
            </a:r>
            <a:r>
              <a:rPr lang="zh-CN" altLang="zh-CN" sz="2800" b="1">
                <a:latin typeface="Arial" pitchFamily="34" charset="0"/>
              </a:rPr>
              <a:t>b</a:t>
            </a:r>
            <a:r>
              <a:rPr lang="zh-CN" altLang="zh-CN" sz="2800" b="1">
                <a:latin typeface="Times New Roman" pitchFamily="18" charset="0"/>
              </a:rPr>
              <a:t>; </a:t>
            </a:r>
            <a:r>
              <a:rPr lang="zh-CN" altLang="zh-CN" sz="2800" b="1"/>
              <a:t>     </a:t>
            </a:r>
            <a:r>
              <a:rPr lang="zh-CN" altLang="zh-CN" sz="2800" b="1">
                <a:latin typeface="Arial" pitchFamily="34" charset="0"/>
              </a:rPr>
              <a:t>c</a:t>
            </a:r>
            <a:r>
              <a:rPr lang="zh-CN" altLang="en-US" sz="2800" b="1"/>
              <a:t>的作用域</a:t>
            </a:r>
          </a:p>
          <a:p>
            <a:pPr marL="274638" indent="-274638">
              <a:lnSpc>
                <a:spcPct val="90000"/>
              </a:lnSpc>
              <a:buNone/>
            </a:pPr>
            <a:r>
              <a:rPr lang="zh-CN" altLang="en-US" sz="2800" b="1"/>
              <a:t>             </a:t>
            </a:r>
            <a:r>
              <a:rPr lang="zh-CN" altLang="zh-CN" sz="2800" b="1">
                <a:latin typeface="Times New Roman"/>
              </a:rPr>
              <a:t>…</a:t>
            </a:r>
            <a:r>
              <a:rPr lang="zh-CN" altLang="zh-CN" sz="2800" b="1"/>
              <a:t>        }</a:t>
            </a:r>
          </a:p>
          <a:p>
            <a:pPr marL="274638" indent="-2746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800" b="1"/>
              <a:t>             </a:t>
            </a:r>
            <a:r>
              <a:rPr lang="zh-CN" altLang="zh-CN" sz="2800" b="1">
                <a:latin typeface="Times New Roman"/>
              </a:rPr>
              <a:t>…</a:t>
            </a:r>
            <a:r>
              <a:rPr lang="zh-CN" altLang="zh-CN" sz="2800" b="1"/>
              <a:t> </a:t>
            </a:r>
          </a:p>
          <a:p>
            <a:pPr marL="274638" indent="-2746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800" b="1"/>
              <a:t>       }</a:t>
            </a:r>
            <a:endParaRPr lang="zh-CN" altLang="zh-CN" sz="2800" b="1">
              <a:latin typeface="Times New Roman" pitchFamily="18" charset="0"/>
            </a:endParaRPr>
          </a:p>
        </p:txBody>
      </p:sp>
      <p:sp>
        <p:nvSpPr>
          <p:cNvPr id="474115" name="AutoShape 3"/>
          <p:cNvSpPr>
            <a:spLocks/>
          </p:cNvSpPr>
          <p:nvPr/>
        </p:nvSpPr>
        <p:spPr bwMode="auto">
          <a:xfrm>
            <a:off x="5062539" y="3965575"/>
            <a:ext cx="238125" cy="1003300"/>
          </a:xfrm>
          <a:prstGeom prst="rightBrace">
            <a:avLst>
              <a:gd name="adj1" fmla="val 35111"/>
              <a:gd name="adj2" fmla="val 50000"/>
            </a:avLst>
          </a:prstGeom>
          <a:noFill/>
          <a:ln w="22225" cmpd="sng">
            <a:solidFill>
              <a:srgbClr val="D800D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74116" name="AutoShape 4"/>
          <p:cNvSpPr>
            <a:spLocks/>
          </p:cNvSpPr>
          <p:nvPr/>
        </p:nvSpPr>
        <p:spPr bwMode="auto">
          <a:xfrm>
            <a:off x="7107238" y="3089275"/>
            <a:ext cx="195262" cy="2540000"/>
          </a:xfrm>
          <a:prstGeom prst="rightBrace">
            <a:avLst>
              <a:gd name="adj1" fmla="val 108401"/>
              <a:gd name="adj2" fmla="val 50000"/>
            </a:avLst>
          </a:prstGeom>
          <a:noFill/>
          <a:ln w="22225" cmpd="sng">
            <a:solidFill>
              <a:srgbClr val="D800D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74117" name="Rectangle 5"/>
          <p:cNvSpPr>
            <a:spLocks noChangeArrowheads="1"/>
          </p:cNvSpPr>
          <p:nvPr/>
        </p:nvSpPr>
        <p:spPr bwMode="auto">
          <a:xfrm>
            <a:off x="7361238" y="41417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b</a:t>
            </a:r>
            <a:r>
              <a:rPr lang="zh-CN" altLang="en-US" sz="2800" b="1">
                <a:solidFill>
                  <a:srgbClr val="000000"/>
                </a:solidFill>
              </a:rPr>
              <a:t>的作用域</a:t>
            </a:r>
            <a:endParaRPr lang="zh-CN" altLang="en-US" sz="2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74118" name="Rectangle 6"/>
          <p:cNvSpPr>
            <a:spLocks noGrp="1" noChangeArrowheads="1"/>
          </p:cNvSpPr>
          <p:nvPr>
            <p:ph type="title"/>
          </p:nvPr>
        </p:nvSpPr>
        <p:spPr>
          <a:xfrm>
            <a:off x="4011614" y="-20638"/>
            <a:ext cx="5095875" cy="798513"/>
          </a:xfrm>
          <a:noFill/>
          <a:ln/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一、局部变量</a:t>
            </a:r>
          </a:p>
        </p:txBody>
      </p:sp>
    </p:spTree>
    <p:extLst>
      <p:ext uri="{BB962C8B-B14F-4D97-AF65-F5344CB8AC3E}">
        <p14:creationId xmlns:p14="http://schemas.microsoft.com/office/powerpoint/2010/main" val="166801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54263" y="46038"/>
            <a:ext cx="7772400" cy="728662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例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 </a:t>
            </a:r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写出下面程序的运行结果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9564" y="1112839"/>
            <a:ext cx="8421687" cy="477678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>
                <a:latin typeface="Arial" pitchFamily="34" charset="0"/>
              </a:rPr>
              <a:t>       #include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&lt;</a:t>
            </a:r>
            <a:r>
              <a:rPr lang="zh-CN" altLang="zh-CN" sz="2800" b="1">
                <a:latin typeface="Arial" pitchFamily="34" charset="0"/>
              </a:rPr>
              <a:t>stdio</a:t>
            </a:r>
            <a:r>
              <a:rPr lang="zh-CN" altLang="zh-CN" sz="2800" b="1">
                <a:latin typeface="Times New Roman" pitchFamily="18" charset="0"/>
              </a:rPr>
              <a:t>.</a:t>
            </a:r>
            <a:r>
              <a:rPr lang="zh-CN" altLang="zh-CN" sz="2800" b="1">
                <a:latin typeface="Arial" pitchFamily="34" charset="0"/>
              </a:rPr>
              <a:t>h</a:t>
            </a:r>
            <a:r>
              <a:rPr lang="zh-CN" altLang="zh-CN" sz="2800"/>
              <a:t>&gt;</a:t>
            </a:r>
            <a:endParaRPr lang="zh-CN" altLang="zh-CN" sz="2800">
              <a:latin typeface="Arial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>
                <a:latin typeface="Arial" pitchFamily="34" charset="0"/>
              </a:rPr>
              <a:t>       </a:t>
            </a:r>
            <a:r>
              <a:rPr lang="zh-CN" altLang="zh-CN" sz="2800" b="1">
                <a:latin typeface="Arial" pitchFamily="34" charset="0"/>
              </a:rPr>
              <a:t>main</a:t>
            </a:r>
            <a:r>
              <a:rPr lang="zh-CN" altLang="zh-CN" sz="2800" b="1">
                <a:latin typeface="Times New Roman" pitchFamily="18" charset="0"/>
              </a:rPr>
              <a:t>( 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/>
              <a:t>      {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i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0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/>
              <a:t>         </a:t>
            </a:r>
            <a:r>
              <a:rPr lang="zh-CN" altLang="zh-CN" sz="2800" b="1">
                <a:latin typeface="Arial" pitchFamily="34" charset="0"/>
              </a:rPr>
              <a:t>for</a:t>
            </a:r>
            <a:r>
              <a:rPr lang="zh-CN" altLang="zh-CN" sz="2800" b="1">
                <a:latin typeface="Times New Roman" pitchFamily="18" charset="0"/>
              </a:rPr>
              <a:t>( </a:t>
            </a:r>
            <a:r>
              <a:rPr lang="zh-CN" altLang="zh-CN" sz="2800" b="1"/>
              <a:t>i=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zh-CN" sz="2800" b="1">
                <a:latin typeface="Times New Roman" pitchFamily="18" charset="0"/>
              </a:rPr>
              <a:t>;  </a:t>
            </a:r>
            <a:r>
              <a:rPr lang="zh-CN" altLang="zh-CN" sz="2800" b="1"/>
              <a:t>i</a:t>
            </a:r>
            <a:r>
              <a:rPr lang="zh-CN" altLang="zh-CN" sz="2800"/>
              <a:t>&lt;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2</a:t>
            </a:r>
            <a:r>
              <a:rPr lang="zh-CN" altLang="zh-CN" sz="2800" b="1">
                <a:latin typeface="Times New Roman" pitchFamily="18" charset="0"/>
              </a:rPr>
              <a:t>; </a:t>
            </a:r>
            <a:r>
              <a:rPr lang="zh-CN" altLang="zh-CN" sz="2800" b="1"/>
              <a:t>i++</a:t>
            </a:r>
            <a:r>
              <a:rPr lang="zh-CN" altLang="zh-CN" sz="2800" b="1"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spcAft>
                <a:spcPct val="5000"/>
              </a:spcAft>
              <a:buFont typeface="Wingdings" pitchFamily="2" charset="2"/>
              <a:buNone/>
            </a:pPr>
            <a:r>
              <a:rPr lang="zh-CN" altLang="zh-CN" sz="2800" b="1"/>
              <a:t>         </a:t>
            </a:r>
            <a:r>
              <a:rPr lang="zh-CN" altLang="zh-CN" sz="2800" b="1">
                <a:solidFill>
                  <a:srgbClr val="0000B2"/>
                </a:solidFill>
              </a:rPr>
              <a:t>{</a:t>
            </a:r>
            <a:r>
              <a:rPr lang="zh-CN" altLang="zh-CN" sz="2800" b="1"/>
              <a:t> </a:t>
            </a:r>
            <a:r>
              <a:rPr lang="zh-CN" altLang="zh-CN" sz="2800" b="1">
                <a:solidFill>
                  <a:srgbClr val="3232C6"/>
                </a:solidFill>
                <a:latin typeface="Arial" pitchFamily="34" charset="0"/>
              </a:rPr>
              <a:t>int</a:t>
            </a:r>
            <a:r>
              <a:rPr lang="zh-CN" altLang="zh-CN" sz="2800" b="1">
                <a:solidFill>
                  <a:srgbClr val="3232C6"/>
                </a:solidFill>
              </a:rPr>
              <a:t>  </a:t>
            </a:r>
            <a:r>
              <a:rPr lang="zh-CN" altLang="zh-CN" sz="2800" b="1">
                <a:solidFill>
                  <a:srgbClr val="3232C6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3232C6"/>
                </a:solidFill>
              </a:rPr>
              <a:t>=</a:t>
            </a:r>
            <a:r>
              <a:rPr lang="zh-CN" altLang="zh-CN" sz="2800" b="1">
                <a:solidFill>
                  <a:srgbClr val="3232C6"/>
                </a:solidFill>
                <a:latin typeface="Arial" pitchFamily="34" charset="0"/>
              </a:rPr>
              <a:t>1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/>
              <a:t>++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    </a:t>
            </a:r>
            <a:r>
              <a:rPr lang="zh-CN" altLang="zh-CN" sz="2000" b="1">
                <a:latin typeface="黑体" pitchFamily="49" charset="-122"/>
              </a:rPr>
              <a:t>//</a:t>
            </a:r>
            <a:r>
              <a:rPr lang="zh-CN" altLang="en-US" sz="2000" b="1">
                <a:latin typeface="黑体" pitchFamily="49" charset="-122"/>
              </a:rPr>
              <a:t>在复合语句内开辟新的</a:t>
            </a:r>
            <a:r>
              <a:rPr lang="zh-CN" altLang="zh-CN" sz="2000" b="1"/>
              <a:t>a</a:t>
            </a:r>
            <a:r>
              <a:rPr lang="zh-CN" altLang="zh-CN" sz="2000" b="1">
                <a:latin typeface="黑体" pitchFamily="49" charset="-122"/>
              </a:rPr>
              <a:t> </a:t>
            </a:r>
            <a:endParaRPr lang="zh-CN" altLang="zh-CN" sz="2800" b="1"/>
          </a:p>
          <a:p>
            <a:pPr>
              <a:lnSpc>
                <a:spcPct val="115000"/>
              </a:lnSpc>
              <a:spcBef>
                <a:spcPct val="30000"/>
              </a:spcBef>
              <a:spcAft>
                <a:spcPct val="15000"/>
              </a:spcAft>
              <a:buFont typeface="Wingdings" pitchFamily="2" charset="2"/>
              <a:buNone/>
            </a:pPr>
            <a:r>
              <a:rPr lang="zh-CN" altLang="zh-CN" sz="2800" b="1"/>
              <a:t>            </a:t>
            </a:r>
            <a:r>
              <a:rPr lang="zh-CN" altLang="zh-CN" sz="2800" b="1">
                <a:latin typeface="Arial" pitchFamily="34" charset="0"/>
              </a:rPr>
              <a:t>printf</a:t>
            </a:r>
            <a:r>
              <a:rPr lang="zh-CN" altLang="zh-CN" sz="2800" b="1">
                <a:latin typeface="Times New Roman" pitchFamily="18" charset="0"/>
              </a:rPr>
              <a:t>(“</a:t>
            </a:r>
            <a:r>
              <a:rPr lang="zh-CN" altLang="zh-CN" sz="2800" b="1"/>
              <a:t>i=</a:t>
            </a:r>
            <a:r>
              <a:rPr lang="zh-CN" altLang="zh-CN" sz="2800" b="1">
                <a:latin typeface="Arial" pitchFamily="34" charset="0"/>
              </a:rPr>
              <a:t>%d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%d</a:t>
            </a:r>
            <a:r>
              <a:rPr lang="zh-CN" altLang="zh-CN" sz="2800"/>
              <a:t>\</a:t>
            </a:r>
            <a:r>
              <a:rPr lang="zh-CN" altLang="zh-CN" sz="2800" b="1">
                <a:latin typeface="Arial" pitchFamily="34" charset="0"/>
              </a:rPr>
              <a:t>n</a:t>
            </a:r>
            <a:r>
              <a:rPr lang="zh-CN" altLang="zh-CN" sz="2800" b="1">
                <a:latin typeface="Times New Roman" pitchFamily="18" charset="0"/>
              </a:rPr>
              <a:t>”,  </a:t>
            </a:r>
            <a:r>
              <a:rPr lang="zh-CN" altLang="zh-CN" sz="2800" b="1"/>
              <a:t>i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>
                <a:latin typeface="Times New Roman" pitchFamily="18" charset="0"/>
              </a:rPr>
              <a:t>);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800" b="1"/>
              <a:t>         </a:t>
            </a:r>
            <a:r>
              <a:rPr lang="zh-CN" altLang="zh-CN" sz="2800" b="1">
                <a:solidFill>
                  <a:srgbClr val="0000B2"/>
                </a:solidFill>
              </a:rPr>
              <a:t>} </a:t>
            </a:r>
            <a:r>
              <a:rPr lang="zh-CN" altLang="zh-CN" sz="2800" b="1"/>
              <a:t>           </a:t>
            </a:r>
            <a:r>
              <a:rPr lang="zh-CN" altLang="zh-CN" sz="2000" b="1">
                <a:latin typeface="黑体" pitchFamily="49" charset="-122"/>
              </a:rPr>
              <a:t>//</a:t>
            </a:r>
            <a:r>
              <a:rPr lang="zh-CN" altLang="en-US" sz="2000" b="1">
                <a:latin typeface="黑体" pitchFamily="49" charset="-122"/>
              </a:rPr>
              <a:t>释放复合语句内开辟的</a:t>
            </a:r>
            <a:r>
              <a:rPr lang="zh-CN" altLang="zh-CN" sz="2000" b="1"/>
              <a:t>a</a:t>
            </a:r>
            <a:r>
              <a:rPr lang="zh-CN" altLang="zh-CN" sz="2000" b="1">
                <a:latin typeface="Times New Roman" pitchFamily="18" charset="0"/>
              </a:rPr>
              <a:t>, </a:t>
            </a:r>
            <a:r>
              <a:rPr lang="zh-CN" altLang="en-US" sz="2000" b="1">
                <a:latin typeface="黑体" pitchFamily="49" charset="-122"/>
              </a:rPr>
              <a:t>不能再使用它</a:t>
            </a:r>
          </a:p>
          <a:p>
            <a:pPr>
              <a:lnSpc>
                <a:spcPct val="11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800" b="1"/>
              <a:t>         </a:t>
            </a:r>
            <a:r>
              <a:rPr lang="zh-CN" altLang="zh-CN" sz="2800" b="1">
                <a:latin typeface="Arial" pitchFamily="34" charset="0"/>
              </a:rPr>
              <a:t>printf</a:t>
            </a:r>
            <a:r>
              <a:rPr lang="zh-CN" altLang="zh-CN" sz="2800" b="1">
                <a:latin typeface="Times New Roman" pitchFamily="18" charset="0"/>
              </a:rPr>
              <a:t>(“</a:t>
            </a:r>
            <a:r>
              <a:rPr lang="zh-CN" altLang="zh-CN" sz="2800" b="1"/>
              <a:t>i=</a:t>
            </a:r>
            <a:r>
              <a:rPr lang="zh-CN" altLang="zh-CN" sz="2800" b="1">
                <a:latin typeface="Arial" pitchFamily="34" charset="0"/>
              </a:rPr>
              <a:t>%d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%d</a:t>
            </a:r>
            <a:r>
              <a:rPr lang="zh-CN" altLang="zh-CN" sz="2800"/>
              <a:t>\</a:t>
            </a:r>
            <a:r>
              <a:rPr lang="zh-CN" altLang="zh-CN" sz="2800" b="1">
                <a:latin typeface="Arial" pitchFamily="34" charset="0"/>
              </a:rPr>
              <a:t>n</a:t>
            </a:r>
            <a:r>
              <a:rPr lang="zh-CN" altLang="zh-CN" sz="2800" b="1">
                <a:latin typeface="Times New Roman" pitchFamily="18" charset="0"/>
              </a:rPr>
              <a:t>”,  </a:t>
            </a:r>
            <a:r>
              <a:rPr lang="zh-CN" altLang="zh-CN" sz="2800" b="1"/>
              <a:t>i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>
                <a:latin typeface="Times New Roman" pitchFamily="18" charset="0"/>
              </a:rPr>
              <a:t>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/>
              <a:t>      }</a:t>
            </a:r>
          </a:p>
        </p:txBody>
      </p:sp>
      <p:sp>
        <p:nvSpPr>
          <p:cNvPr id="475140" name="Rectangle 4"/>
          <p:cNvSpPr>
            <a:spLocks noChangeArrowheads="1"/>
          </p:cNvSpPr>
          <p:nvPr/>
        </p:nvSpPr>
        <p:spPr bwMode="auto">
          <a:xfrm>
            <a:off x="8105775" y="440267"/>
            <a:ext cx="2216150" cy="1397000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2BB6"/>
            </a:solidFill>
            <a:miter lim="800000"/>
            <a:headEnd/>
            <a:tailEnd/>
          </a:ln>
          <a:effectLst>
            <a:outerShdw dist="8980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2E2EBA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000" b="1">
                <a:solidFill>
                  <a:srgbClr val="2E2EBA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zh-CN" altLang="zh-CN" sz="20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000000"/>
                </a:solidFill>
                <a:ea typeface="宋体" pitchFamily="2" charset="-122"/>
              </a:rPr>
              <a:t>       </a:t>
            </a:r>
            <a:r>
              <a:rPr lang="zh-CN" altLang="zh-CN" sz="2000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000" b="1">
                <a:solidFill>
                  <a:srgbClr val="2E2EBA"/>
                </a:solidFill>
                <a:ea typeface="宋体" pitchFamily="2" charset="-122"/>
              </a:rPr>
              <a:t>i=1</a:t>
            </a:r>
            <a:r>
              <a:rPr lang="zh-CN" altLang="zh-CN" sz="2000" b="1">
                <a:solidFill>
                  <a:srgbClr val="2E2EBA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000" b="1">
                <a:solidFill>
                  <a:srgbClr val="2E2EBA"/>
                </a:solidFill>
                <a:ea typeface="宋体" pitchFamily="2" charset="-122"/>
              </a:rPr>
              <a:t> a=2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2E2EBA"/>
                </a:solidFill>
                <a:ea typeface="宋体" pitchFamily="2" charset="-122"/>
              </a:rPr>
              <a:t>           i=2</a:t>
            </a:r>
            <a:r>
              <a:rPr lang="zh-CN" altLang="zh-CN" sz="2000" b="1">
                <a:solidFill>
                  <a:srgbClr val="2E2EBA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000" b="1">
                <a:solidFill>
                  <a:srgbClr val="2E2EBA"/>
                </a:solidFill>
                <a:ea typeface="宋体" pitchFamily="2" charset="-122"/>
              </a:rPr>
              <a:t> a=2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2E2EBA"/>
                </a:solidFill>
                <a:ea typeface="宋体" pitchFamily="2" charset="-122"/>
              </a:rPr>
              <a:t>           i=3</a:t>
            </a:r>
            <a:r>
              <a:rPr lang="zh-CN" altLang="zh-CN" sz="2000" b="1">
                <a:solidFill>
                  <a:srgbClr val="2E2EBA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000" b="1">
                <a:solidFill>
                  <a:srgbClr val="2E2EBA"/>
                </a:solidFill>
                <a:ea typeface="宋体" pitchFamily="2" charset="-122"/>
              </a:rPr>
              <a:t> a=0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B8363E-F27F-1C11-8CF7-3699DFF7D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1988840"/>
            <a:ext cx="2506662" cy="1015663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2BB6"/>
            </a:solidFill>
            <a:miter lim="800000"/>
            <a:headEnd/>
            <a:tailEnd/>
          </a:ln>
          <a:effectLst>
            <a:outerShdw dist="8980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2E2EBA"/>
                </a:solidFill>
                <a:latin typeface="楷体_GB2312" pitchFamily="49" charset="-122"/>
                <a:ea typeface="楷体_GB2312" pitchFamily="49" charset="-122"/>
              </a:rPr>
              <a:t>如果存在同名变量</a:t>
            </a:r>
            <a:r>
              <a:rPr lang="en-US" altLang="zh-CN" sz="2000" b="1" dirty="0">
                <a:solidFill>
                  <a:srgbClr val="2E2EBA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 b="1" dirty="0">
                <a:solidFill>
                  <a:srgbClr val="2E2EBA"/>
                </a:solidFill>
                <a:latin typeface="楷体_GB2312" pitchFamily="49" charset="-122"/>
                <a:ea typeface="楷体_GB2312" pitchFamily="49" charset="-122"/>
              </a:rPr>
              <a:t>则用这个名称</a:t>
            </a:r>
            <a:r>
              <a:rPr lang="en-US" altLang="zh-CN" sz="2000" b="1" dirty="0">
                <a:solidFill>
                  <a:srgbClr val="2E2EBA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 b="1" dirty="0">
                <a:solidFill>
                  <a:srgbClr val="2E2EBA"/>
                </a:solidFill>
                <a:latin typeface="楷体_GB2312" pitchFamily="49" charset="-122"/>
                <a:ea typeface="楷体_GB2312" pitchFamily="49" charset="-122"/>
              </a:rPr>
              <a:t>指的是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作用域小的变量</a:t>
            </a:r>
            <a:endParaRPr lang="zh-CN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880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51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5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5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5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0" grpId="0" build="p" animBg="1" autoUpdateAnimBg="0"/>
      <p:bldP spid="5" grpId="0" build="p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0" y="60326"/>
            <a:ext cx="4921250" cy="785813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二、 全局变量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7089" y="1376363"/>
            <a:ext cx="8289925" cy="4502150"/>
          </a:xfrm>
        </p:spPr>
        <p:txBody>
          <a:bodyPr/>
          <a:lstStyle/>
          <a:p>
            <a:pPr marL="274638" indent="-274638">
              <a:lnSpc>
                <a:spcPct val="115000"/>
              </a:lnSpc>
              <a:spcBef>
                <a:spcPct val="30000"/>
              </a:spcBef>
            </a:pPr>
            <a:r>
              <a:rPr lang="zh-CN" altLang="en-US" b="1" dirty="0">
                <a:latin typeface="黑体" pitchFamily="49" charset="-122"/>
              </a:rPr>
              <a:t>在函数外部定义的变量</a:t>
            </a:r>
            <a:r>
              <a:rPr lang="zh-CN" altLang="zh-CN" b="1" dirty="0">
                <a:latin typeface="Times New Roman" pitchFamily="18" charset="0"/>
              </a:rPr>
              <a:t>, </a:t>
            </a:r>
            <a:r>
              <a:rPr lang="zh-CN" altLang="en-US" b="1" dirty="0">
                <a:latin typeface="Courier New" pitchFamily="49" charset="0"/>
              </a:rPr>
              <a:t>也称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外部变量</a:t>
            </a:r>
            <a:r>
              <a:rPr lang="zh-CN" altLang="en-US" b="1" dirty="0">
                <a:latin typeface="黑体" pitchFamily="49" charset="-122"/>
              </a:rPr>
              <a:t>。</a:t>
            </a:r>
          </a:p>
          <a:p>
            <a:pPr marL="274638" indent="-274638">
              <a:lnSpc>
                <a:spcPct val="115000"/>
              </a:lnSpc>
              <a:spcBef>
                <a:spcPct val="75000"/>
              </a:spcBef>
            </a:pPr>
            <a:endParaRPr lang="en-US" altLang="zh-CN" b="1">
              <a:latin typeface="黑体" pitchFamily="49" charset="-122"/>
            </a:endParaRPr>
          </a:p>
          <a:p>
            <a:pPr marL="274638" indent="-274638">
              <a:lnSpc>
                <a:spcPct val="115000"/>
              </a:lnSpc>
              <a:spcBef>
                <a:spcPct val="75000"/>
              </a:spcBef>
            </a:pPr>
            <a:r>
              <a:rPr lang="zh-CN" altLang="en-US" b="1">
                <a:latin typeface="黑体" pitchFamily="49" charset="-122"/>
              </a:rPr>
              <a:t>作用</a:t>
            </a:r>
            <a:r>
              <a:rPr lang="zh-CN" altLang="en-US" b="1" dirty="0">
                <a:latin typeface="黑体" pitchFamily="49" charset="-122"/>
              </a:rPr>
              <a:t>范围</a:t>
            </a:r>
            <a:r>
              <a:rPr lang="zh-CN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黑体" pitchFamily="49" charset="-122"/>
              </a:rPr>
              <a:t>是从其</a:t>
            </a:r>
            <a:r>
              <a:rPr lang="zh-CN" altLang="en-US" b="1" dirty="0">
                <a:solidFill>
                  <a:schemeClr val="hlink"/>
                </a:solidFill>
                <a:latin typeface="黑体" pitchFamily="49" charset="-122"/>
              </a:rPr>
              <a:t>定义的地方开始</a:t>
            </a:r>
            <a:r>
              <a:rPr lang="zh-CN" altLang="en-US" b="1" dirty="0">
                <a:latin typeface="黑体" pitchFamily="49" charset="-122"/>
              </a:rPr>
              <a:t>到本源</a:t>
            </a:r>
            <a:r>
              <a:rPr lang="zh-CN" altLang="en-US" b="1" dirty="0">
                <a:latin typeface="Courier New" pitchFamily="49" charset="0"/>
              </a:rPr>
              <a:t>程序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文件的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结束</a:t>
            </a:r>
            <a:r>
              <a:rPr lang="zh-CN" altLang="en-US" b="1">
                <a:latin typeface="黑体" pitchFamily="49" charset="-122"/>
              </a:rPr>
              <a:t>。</a:t>
            </a:r>
            <a:endParaRPr lang="zh-CN" altLang="en-US" b="1" dirty="0">
              <a:latin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99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783013" y="26989"/>
            <a:ext cx="5097462" cy="765175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二、 全局变量</a:t>
            </a: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0751" y="1325564"/>
            <a:ext cx="7731125" cy="4791075"/>
          </a:xfrm>
        </p:spPr>
        <p:txBody>
          <a:bodyPr/>
          <a:lstStyle/>
          <a:p>
            <a:pPr marL="0" indent="0">
              <a:lnSpc>
                <a:spcPct val="95000"/>
              </a:lnSpc>
              <a:buNone/>
            </a:pPr>
            <a:r>
              <a:rPr lang="zh-CN" altLang="zh-CN" sz="2800" b="1"/>
              <a:t>   </a:t>
            </a:r>
            <a:r>
              <a:rPr lang="zh-CN" altLang="zh-CN" sz="2800" b="1">
                <a:solidFill>
                  <a:srgbClr val="C000C0"/>
                </a:solidFill>
                <a:latin typeface="Arial" pitchFamily="34" charset="0"/>
              </a:rPr>
              <a:t>int  a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>
                <a:solidFill>
                  <a:srgbClr val="CC00CC"/>
                </a:solidFill>
              </a:rPr>
              <a:t> </a:t>
            </a:r>
            <a:r>
              <a:rPr lang="en-US" altLang="zh-CN" sz="2800" b="1">
                <a:solidFill>
                  <a:srgbClr val="CC00CC"/>
                </a:solidFill>
              </a:rPr>
              <a:t>b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altLang="zh-CN" sz="2800" b="1">
                <a:latin typeface="Arial" pitchFamily="34" charset="0"/>
              </a:rPr>
              <a:t>   </a:t>
            </a:r>
            <a:r>
              <a:rPr lang="zh-CN" altLang="zh-CN" sz="2800" b="1">
                <a:latin typeface="Arial" pitchFamily="34" charset="0"/>
              </a:rPr>
              <a:t>main</a:t>
            </a:r>
            <a:r>
              <a:rPr lang="zh-CN" altLang="zh-CN" sz="2800" b="1">
                <a:latin typeface="Times New Roman" pitchFamily="18" charset="0"/>
              </a:rPr>
              <a:t>( )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zh-CN" altLang="zh-CN" sz="2800" b="1"/>
              <a:t>   { </a:t>
            </a:r>
            <a:r>
              <a:rPr lang="zh-CN" altLang="zh-CN" sz="2800" b="1">
                <a:latin typeface="Arial" pitchFamily="34" charset="0"/>
              </a:rPr>
              <a:t>float</a:t>
            </a:r>
            <a:r>
              <a:rPr lang="zh-CN" altLang="zh-CN" sz="2800" b="1"/>
              <a:t>  </a:t>
            </a:r>
            <a:r>
              <a:rPr lang="en-US" altLang="zh-CN" sz="2800" b="1">
                <a:latin typeface="Arial" pitchFamily="34" charset="0"/>
              </a:rPr>
              <a:t>x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en-US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zh-CN" sz="2800" b="1"/>
              <a:t>          </a:t>
            </a:r>
            <a:r>
              <a:rPr lang="zh-CN" altLang="zh-CN" sz="2800" b="1">
                <a:latin typeface="Times New Roman" pitchFamily="18" charset="0"/>
              </a:rPr>
              <a:t>···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800" b="1"/>
              <a:t>  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zh-CN" sz="2800" b="1"/>
              <a:t>   </a:t>
            </a:r>
            <a:r>
              <a:rPr lang="zh-CN" altLang="zh-CN" sz="2800" b="1">
                <a:solidFill>
                  <a:srgbClr val="C000C0"/>
                </a:solidFill>
                <a:latin typeface="Arial" pitchFamily="34" charset="0"/>
              </a:rPr>
              <a:t>float</a:t>
            </a:r>
            <a:r>
              <a:rPr lang="zh-CN" altLang="zh-CN" sz="2800" b="1">
                <a:solidFill>
                  <a:srgbClr val="C000C0"/>
                </a:solidFill>
              </a:rPr>
              <a:t>  </a:t>
            </a:r>
            <a:r>
              <a:rPr lang="en-US" altLang="zh-CN" sz="2800" b="1">
                <a:solidFill>
                  <a:srgbClr val="C000C0"/>
                </a:solidFill>
                <a:latin typeface="Arial" pitchFamily="34" charset="0"/>
              </a:rPr>
              <a:t>f1</a:t>
            </a:r>
            <a:r>
              <a:rPr lang="zh-CN" altLang="zh-CN" sz="2800" b="1">
                <a:latin typeface="Times New Roman" pitchFamily="18" charset="0"/>
              </a:rPr>
              <a:t>, </a:t>
            </a:r>
            <a:r>
              <a:rPr lang="en-US" altLang="zh-CN" sz="2800" b="1">
                <a:solidFill>
                  <a:srgbClr val="C000C0"/>
                </a:solidFill>
                <a:latin typeface="Arial" pitchFamily="34" charset="0"/>
              </a:rPr>
              <a:t>f2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ct val="15000"/>
              </a:spcBef>
              <a:buNone/>
            </a:pPr>
            <a:r>
              <a:rPr lang="zh-CN" altLang="zh-CN" sz="2800" b="1"/>
              <a:t>   </a:t>
            </a:r>
            <a:r>
              <a:rPr lang="en-US" altLang="zh-CN" sz="2800" b="1">
                <a:latin typeface="Arial" pitchFamily="34" charset="0"/>
              </a:rPr>
              <a:t>fun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(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ct val="15000"/>
              </a:spcBef>
              <a:buNone/>
            </a:pPr>
            <a:r>
              <a:rPr lang="zh-CN" altLang="zh-CN" sz="2800" b="1"/>
              <a:t>   { </a:t>
            </a:r>
            <a:r>
              <a:rPr lang="zh-CN" altLang="zh-CN" sz="2800" b="1">
                <a:latin typeface="Arial" pitchFamily="34" charset="0"/>
              </a:rPr>
              <a:t>double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c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en-US" altLang="zh-CN" sz="2800" b="1">
                <a:latin typeface="Arial" pitchFamily="34" charset="0"/>
              </a:rPr>
              <a:t>d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zh-CN" sz="2800" b="1"/>
              <a:t>           </a:t>
            </a:r>
            <a:r>
              <a:rPr lang="zh-CN" altLang="zh-CN" sz="2800" b="1">
                <a:latin typeface="Times New Roman" pitchFamily="18" charset="0"/>
              </a:rPr>
              <a:t>···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zh-CN" sz="2800" b="1"/>
              <a:t>   }</a:t>
            </a:r>
          </a:p>
        </p:txBody>
      </p:sp>
      <p:grpSp>
        <p:nvGrpSpPr>
          <p:cNvPr id="477188" name="Group 4"/>
          <p:cNvGrpSpPr>
            <a:grpSpLocks/>
          </p:cNvGrpSpPr>
          <p:nvPr/>
        </p:nvGrpSpPr>
        <p:grpSpPr bwMode="auto">
          <a:xfrm>
            <a:off x="4729164" y="1654175"/>
            <a:ext cx="4954587" cy="4140200"/>
            <a:chOff x="0" y="0"/>
            <a:chExt cx="3121" cy="2608"/>
          </a:xfrm>
        </p:grpSpPr>
        <p:sp>
          <p:nvSpPr>
            <p:cNvPr id="477189" name="Text Box 5"/>
            <p:cNvSpPr txBox="1">
              <a:spLocks noChangeArrowheads="1"/>
            </p:cNvSpPr>
            <p:nvPr/>
          </p:nvSpPr>
          <p:spPr bwMode="auto">
            <a:xfrm>
              <a:off x="2304" y="811"/>
              <a:ext cx="817" cy="634"/>
            </a:xfrm>
            <a:prstGeom prst="rect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FFFFFF"/>
                  </a:solidFill>
                  <a:latin typeface="黑体" pitchFamily="49" charset="-122"/>
                </a:rPr>
                <a:t>全局变量</a:t>
              </a:r>
              <a:r>
                <a:rPr lang="zh-CN" altLang="zh-CN" sz="2000" b="1">
                  <a:solidFill>
                    <a:srgbClr val="FFFFFF"/>
                  </a:solidFill>
                </a:rPr>
                <a:t>a</a:t>
              </a:r>
              <a:r>
                <a:rPr lang="zh-CN" altLang="en-US" sz="2000" b="1">
                  <a:solidFill>
                    <a:srgbClr val="FFFFFF"/>
                  </a:solidFill>
                </a:rPr>
                <a:t>，</a:t>
              </a:r>
              <a:r>
                <a:rPr lang="en-US" altLang="zh-CN" sz="2000" b="1">
                  <a:solidFill>
                    <a:srgbClr val="FFFFFF"/>
                  </a:solidFill>
                </a:rPr>
                <a:t>b</a:t>
              </a:r>
              <a:r>
                <a:rPr lang="zh-CN" altLang="en-US" sz="2000" b="1">
                  <a:solidFill>
                    <a:srgbClr val="FFFFFF"/>
                  </a:solidFill>
                  <a:latin typeface="黑体" pitchFamily="49" charset="-122"/>
                </a:rPr>
                <a:t>的作用域</a:t>
              </a:r>
            </a:p>
          </p:txBody>
        </p:sp>
        <p:grpSp>
          <p:nvGrpSpPr>
            <p:cNvPr id="477190" name="Group 6"/>
            <p:cNvGrpSpPr>
              <a:grpSpLocks/>
            </p:cNvGrpSpPr>
            <p:nvPr/>
          </p:nvGrpSpPr>
          <p:grpSpPr bwMode="auto">
            <a:xfrm>
              <a:off x="0" y="0"/>
              <a:ext cx="2304" cy="2608"/>
              <a:chOff x="0" y="0"/>
              <a:chExt cx="2496" cy="2832"/>
            </a:xfrm>
          </p:grpSpPr>
          <p:sp>
            <p:nvSpPr>
              <p:cNvPr id="477191" name="AutoShape 7"/>
              <p:cNvSpPr>
                <a:spLocks/>
              </p:cNvSpPr>
              <p:nvPr/>
            </p:nvSpPr>
            <p:spPr bwMode="auto">
              <a:xfrm>
                <a:off x="2304" y="0"/>
                <a:ext cx="192" cy="2832"/>
              </a:xfrm>
              <a:prstGeom prst="rightBracket">
                <a:avLst>
                  <a:gd name="adj" fmla="val 122917"/>
                </a:avLst>
              </a:prstGeom>
              <a:noFill/>
              <a:ln w="25400" cmpd="sng">
                <a:solidFill>
                  <a:srgbClr val="CC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477192" name="Line 8"/>
              <p:cNvSpPr>
                <a:spLocks noChangeShapeType="1"/>
              </p:cNvSpPr>
              <p:nvPr/>
            </p:nvSpPr>
            <p:spPr bwMode="auto">
              <a:xfrm>
                <a:off x="0" y="0"/>
                <a:ext cx="2304" cy="0"/>
              </a:xfrm>
              <a:prstGeom prst="line">
                <a:avLst/>
              </a:prstGeom>
              <a:noFill/>
              <a:ln w="25400" cmpd="sng">
                <a:solidFill>
                  <a:srgbClr val="CC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</p:grpSp>
      <p:grpSp>
        <p:nvGrpSpPr>
          <p:cNvPr id="477193" name="Group 9"/>
          <p:cNvGrpSpPr>
            <a:grpSpLocks/>
          </p:cNvGrpSpPr>
          <p:nvPr/>
        </p:nvGrpSpPr>
        <p:grpSpPr bwMode="auto">
          <a:xfrm>
            <a:off x="2976563" y="2535239"/>
            <a:ext cx="6324600" cy="3259137"/>
            <a:chOff x="0" y="0"/>
            <a:chExt cx="3984" cy="2053"/>
          </a:xfrm>
        </p:grpSpPr>
        <p:sp>
          <p:nvSpPr>
            <p:cNvPr id="477194" name="Text Box 10"/>
            <p:cNvSpPr txBox="1">
              <a:spLocks noChangeArrowheads="1"/>
            </p:cNvSpPr>
            <p:nvPr/>
          </p:nvSpPr>
          <p:spPr bwMode="auto">
            <a:xfrm>
              <a:off x="2329" y="1067"/>
              <a:ext cx="1008" cy="497"/>
            </a:xfrm>
            <a:prstGeom prst="rect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FFFFFF"/>
                  </a:solidFill>
                  <a:latin typeface="黑体" pitchFamily="49" charset="-122"/>
                </a:rPr>
                <a:t>全局变量</a:t>
              </a:r>
              <a:r>
                <a:rPr lang="en-US" altLang="zh-CN" sz="2000" b="1">
                  <a:solidFill>
                    <a:srgbClr val="FFFFFF"/>
                  </a:solidFill>
                </a:rPr>
                <a:t>f1</a:t>
              </a:r>
              <a:r>
                <a:rPr lang="zh-CN" altLang="zh-CN" sz="2000" b="1">
                  <a:solidFill>
                    <a:srgbClr val="FFFFFF"/>
                  </a:solidFill>
                  <a:latin typeface="Times New Roman" pitchFamily="18" charset="0"/>
                </a:rPr>
                <a:t>, </a:t>
              </a:r>
              <a:r>
                <a:rPr lang="en-US" altLang="zh-CN" sz="2000" b="1">
                  <a:solidFill>
                    <a:srgbClr val="FFFFFF"/>
                  </a:solidFill>
                </a:rPr>
                <a:t>f2</a:t>
              </a:r>
              <a:r>
                <a:rPr lang="zh-CN" altLang="en-US" sz="2000" b="1">
                  <a:solidFill>
                    <a:srgbClr val="FFFFFF"/>
                  </a:solidFill>
                  <a:latin typeface="黑体" pitchFamily="49" charset="-122"/>
                </a:rPr>
                <a:t>的作用域</a:t>
              </a:r>
            </a:p>
          </p:txBody>
        </p:sp>
        <p:sp>
          <p:nvSpPr>
            <p:cNvPr id="477195" name="Line 11"/>
            <p:cNvSpPr>
              <a:spLocks noChangeShapeType="1"/>
            </p:cNvSpPr>
            <p:nvPr/>
          </p:nvSpPr>
          <p:spPr bwMode="auto">
            <a:xfrm flipV="1">
              <a:off x="0" y="2053"/>
              <a:ext cx="3984" cy="0"/>
            </a:xfrm>
            <a:prstGeom prst="line">
              <a:avLst/>
            </a:prstGeom>
            <a:noFill/>
            <a:ln w="25400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grpSp>
          <p:nvGrpSpPr>
            <p:cNvPr id="477196" name="Group 12"/>
            <p:cNvGrpSpPr>
              <a:grpSpLocks/>
            </p:cNvGrpSpPr>
            <p:nvPr/>
          </p:nvGrpSpPr>
          <p:grpSpPr bwMode="auto">
            <a:xfrm>
              <a:off x="1488" y="1165"/>
              <a:ext cx="480" cy="888"/>
              <a:chOff x="0" y="0"/>
              <a:chExt cx="480" cy="912"/>
            </a:xfrm>
          </p:grpSpPr>
          <p:sp>
            <p:nvSpPr>
              <p:cNvPr id="477197" name="AutoShape 13"/>
              <p:cNvSpPr>
                <a:spLocks/>
              </p:cNvSpPr>
              <p:nvPr/>
            </p:nvSpPr>
            <p:spPr bwMode="auto">
              <a:xfrm>
                <a:off x="288" y="0"/>
                <a:ext cx="192" cy="912"/>
              </a:xfrm>
              <a:prstGeom prst="rightBracket">
                <a:avLst>
                  <a:gd name="adj" fmla="val 39583"/>
                </a:avLst>
              </a:prstGeom>
              <a:noFill/>
              <a:ln w="254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477198" name="AutoShape 14"/>
              <p:cNvSpPr>
                <a:spLocks/>
              </p:cNvSpPr>
              <p:nvPr/>
            </p:nvSpPr>
            <p:spPr bwMode="auto">
              <a:xfrm>
                <a:off x="0" y="288"/>
                <a:ext cx="144" cy="624"/>
              </a:xfrm>
              <a:prstGeom prst="rightBracket">
                <a:avLst>
                  <a:gd name="adj" fmla="val 36111"/>
                </a:avLst>
              </a:prstGeom>
              <a:noFill/>
              <a:ln w="254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477199" name="Group 15"/>
            <p:cNvGrpSpPr>
              <a:grpSpLocks/>
            </p:cNvGrpSpPr>
            <p:nvPr/>
          </p:nvGrpSpPr>
          <p:grpSpPr bwMode="auto">
            <a:xfrm>
              <a:off x="1152" y="888"/>
              <a:ext cx="1056" cy="1165"/>
              <a:chOff x="0" y="0"/>
              <a:chExt cx="1248" cy="1200"/>
            </a:xfrm>
          </p:grpSpPr>
          <p:sp>
            <p:nvSpPr>
              <p:cNvPr id="477200" name="AutoShape 16"/>
              <p:cNvSpPr>
                <a:spLocks/>
              </p:cNvSpPr>
              <p:nvPr/>
            </p:nvSpPr>
            <p:spPr bwMode="auto">
              <a:xfrm>
                <a:off x="1152" y="0"/>
                <a:ext cx="96" cy="1200"/>
              </a:xfrm>
              <a:prstGeom prst="rightBracket">
                <a:avLst>
                  <a:gd name="adj" fmla="val 104167"/>
                </a:avLst>
              </a:prstGeom>
              <a:noFill/>
              <a:ln w="25400" cmpd="sng">
                <a:solidFill>
                  <a:srgbClr val="CC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zh-CN" sz="1600">
                  <a:solidFill>
                    <a:srgbClr val="000000"/>
                  </a:solidFill>
                  <a:latin typeface="Courier New" pitchFamily="49" charset="0"/>
                  <a:ea typeface="宋体" pitchFamily="2" charset="-122"/>
                </a:endParaRPr>
              </a:p>
            </p:txBody>
          </p:sp>
          <p:sp>
            <p:nvSpPr>
              <p:cNvPr id="477201" name="Line 17"/>
              <p:cNvSpPr>
                <a:spLocks noChangeShapeType="1"/>
              </p:cNvSpPr>
              <p:nvPr/>
            </p:nvSpPr>
            <p:spPr bwMode="auto">
              <a:xfrm>
                <a:off x="0" y="0"/>
                <a:ext cx="1152" cy="0"/>
              </a:xfrm>
              <a:prstGeom prst="line">
                <a:avLst/>
              </a:prstGeom>
              <a:noFill/>
              <a:ln w="25400" cmpd="sng">
                <a:solidFill>
                  <a:srgbClr val="CC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477202" name="Group 18"/>
            <p:cNvGrpSpPr>
              <a:grpSpLocks/>
            </p:cNvGrpSpPr>
            <p:nvPr/>
          </p:nvGrpSpPr>
          <p:grpSpPr bwMode="auto">
            <a:xfrm>
              <a:off x="48" y="0"/>
              <a:ext cx="1536" cy="610"/>
              <a:chOff x="0" y="0"/>
              <a:chExt cx="1728" cy="624"/>
            </a:xfrm>
          </p:grpSpPr>
          <p:sp>
            <p:nvSpPr>
              <p:cNvPr id="477203" name="AutoShape 19"/>
              <p:cNvSpPr>
                <a:spLocks/>
              </p:cNvSpPr>
              <p:nvPr/>
            </p:nvSpPr>
            <p:spPr bwMode="auto">
              <a:xfrm>
                <a:off x="1584" y="0"/>
                <a:ext cx="144" cy="624"/>
              </a:xfrm>
              <a:prstGeom prst="rightBracket">
                <a:avLst>
                  <a:gd name="adj" fmla="val 36111"/>
                </a:avLst>
              </a:prstGeom>
              <a:noFill/>
              <a:ln w="254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477204" name="Line 20"/>
              <p:cNvSpPr>
                <a:spLocks noChangeShapeType="1"/>
              </p:cNvSpPr>
              <p:nvPr/>
            </p:nvSpPr>
            <p:spPr bwMode="auto">
              <a:xfrm>
                <a:off x="0" y="624"/>
                <a:ext cx="1632" cy="0"/>
              </a:xfrm>
              <a:prstGeom prst="line">
                <a:avLst/>
              </a:prstGeom>
              <a:noFill/>
              <a:ln w="254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626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7939F80-D9D1-4572-A18A-71B21A677A84}"/>
              </a:ext>
            </a:extLst>
          </p:cNvPr>
          <p:cNvSpPr txBox="1"/>
          <p:nvPr/>
        </p:nvSpPr>
        <p:spPr>
          <a:xfrm>
            <a:off x="119336" y="188640"/>
            <a:ext cx="6840760" cy="5509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a=5,b=10</a:t>
            </a:r>
            <a:r>
              <a:rPr lang="en-US" altLang="zh-CN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;//</a:t>
            </a:r>
            <a:r>
              <a:rPr lang="zh-CN" altLang="en-US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全局变量</a:t>
            </a:r>
            <a:endParaRPr lang="en-US" altLang="zh-CN" sz="320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void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fun();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a=2</a:t>
            </a:r>
            <a:r>
              <a:rPr lang="en-US" altLang="zh-CN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;//main</a:t>
            </a:r>
            <a:r>
              <a:rPr lang="zh-CN" altLang="en-US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函数的局部变量</a:t>
            </a:r>
            <a:endParaRPr lang="en-US" altLang="zh-CN" sz="320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fun();</a:t>
            </a: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8211" name="Rectangle 3"/>
          <p:cNvSpPr>
            <a:spLocks noChangeArrowheads="1"/>
          </p:cNvSpPr>
          <p:nvPr/>
        </p:nvSpPr>
        <p:spPr bwMode="auto">
          <a:xfrm>
            <a:off x="7536160" y="3736563"/>
            <a:ext cx="3072705" cy="2000548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CC00CC"/>
            </a:solidFill>
            <a:miter lim="800000"/>
            <a:headEnd/>
            <a:tailEnd/>
          </a:ln>
          <a:effectLst>
            <a:outerShdw dist="8980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zh-CN" altLang="zh-CN" sz="28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zh-CN" sz="3200">
                <a:solidFill>
                  <a:srgbClr val="000000"/>
                </a:solidFill>
                <a:latin typeface="Tahoma" pitchFamily="34" charset="0"/>
              </a:rPr>
              <a:t>a=2,b=10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zh-CN" sz="3200">
                <a:solidFill>
                  <a:srgbClr val="000000"/>
                </a:solidFill>
                <a:latin typeface="Tahoma" pitchFamily="34" charset="0"/>
              </a:rPr>
              <a:t>a=5,b=8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zh-CN" sz="3200">
                <a:solidFill>
                  <a:srgbClr val="000000"/>
                </a:solidFill>
                <a:latin typeface="Tahoma" pitchFamily="34" charset="0"/>
              </a:rPr>
              <a:t>a=2,b=10</a:t>
            </a:r>
            <a:endParaRPr lang="zh-CN" altLang="zh-CN" sz="2800" b="1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5E7C30-41B2-4F05-8842-F2E327C5452B}"/>
              </a:ext>
            </a:extLst>
          </p:cNvPr>
          <p:cNvSpPr txBox="1"/>
          <p:nvPr/>
        </p:nvSpPr>
        <p:spPr>
          <a:xfrm>
            <a:off x="6528048" y="566464"/>
            <a:ext cx="60292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void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fun()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int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b=8;//</a:t>
            </a:r>
            <a:r>
              <a:rPr lang="en-US" altLang="zh-CN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fun</a:t>
            </a:r>
            <a:r>
              <a:rPr lang="zh-CN" altLang="en-US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函数的局部变量</a:t>
            </a:r>
            <a:endParaRPr lang="en-US" altLang="zh-CN" sz="320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pt-BR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printf(</a:t>
            </a:r>
            <a:r>
              <a:rPr lang="pt-BR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a+=10;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b+=10;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2005443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82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8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78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 build="p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2446E6-B18C-0722-EADF-E5E61990A6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1137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int   x=3;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int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func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)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 int 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c=0 ; </a:t>
            </a:r>
            <a:b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</a:b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+=x;    x+= 10 ; </a:t>
            </a:r>
            <a:b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</a:b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return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(c);   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}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void main( 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{ int  k;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k=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func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) ;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(“%d\n”,  k ) ; //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此处的结果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k=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func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) ;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(“%d\n”,  k ) ; //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此处的结果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A986749-6F25-200F-28AA-B35AD7A52879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1A30358-7908-AF36-E2AF-CD73C9A51DD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8B9E7FBF-2052-D55B-F7CA-7D009BB2626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87CD6DF-C62D-FEBC-4940-8A38E781265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A11B656E-80B6-05C2-8E7F-AF270F5998B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107550CA-22FA-9343-B9C2-516A763F43A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79D7568-7FA7-98E9-EDA2-6DF1BE3BBED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9725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92350" y="149225"/>
            <a:ext cx="6553200" cy="717550"/>
          </a:xfrm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全局变量的特点</a:t>
            </a:r>
            <a:r>
              <a:rPr lang="zh-CN" altLang="zh-CN" sz="3200">
                <a:latin typeface="Courier New" pitchFamily="49" charset="0"/>
              </a:rPr>
              <a:t>: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28825" y="1268414"/>
            <a:ext cx="8382000" cy="4637087"/>
          </a:xfrm>
        </p:spPr>
        <p:txBody>
          <a:bodyPr/>
          <a:lstStyle/>
          <a:p>
            <a:pPr marL="280988" indent="-280988">
              <a:buSzPct val="85000"/>
              <a:buNone/>
            </a:pPr>
            <a:r>
              <a:rPr lang="zh-CN" altLang="zh-CN" sz="2800" b="1" dirty="0">
                <a:latin typeface="Times New Roman" pitchFamily="18" charset="0"/>
              </a:rPr>
              <a:t>1)</a:t>
            </a:r>
            <a:r>
              <a:rPr lang="zh-CN" altLang="zh-CN" sz="2800" b="1" dirty="0"/>
              <a:t> </a:t>
            </a:r>
            <a:r>
              <a:rPr lang="zh-CN" altLang="en-US" sz="2800" b="1" dirty="0"/>
              <a:t>使用全局变量的作用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优点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 marL="762000" lvl="1" indent="-290513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b="1" dirty="0"/>
              <a:t>增加了各函数间数据传送的渠道</a:t>
            </a:r>
            <a:r>
              <a:rPr lang="zh-CN" b="1" dirty="0">
                <a:solidFill>
                  <a:schemeClr val="bg2"/>
                </a:solidFill>
              </a:rPr>
              <a:t>。</a:t>
            </a:r>
            <a:r>
              <a:rPr lang="zh-CN" b="1" dirty="0"/>
              <a:t>函数调用只能返回一个函数值，而利用全局变量可以</a:t>
            </a:r>
            <a:r>
              <a:rPr lang="zh-CN" altLang="en-US" b="1" dirty="0"/>
              <a:t>在子</a:t>
            </a:r>
            <a:r>
              <a:rPr lang="zh-CN" b="1" dirty="0"/>
              <a:t>函数中</a:t>
            </a:r>
            <a:r>
              <a:rPr lang="zh-CN" altLang="en-US" b="1" dirty="0"/>
              <a:t>给其赋值</a:t>
            </a:r>
            <a:r>
              <a:rPr lang="en-US" altLang="zh-CN" b="1" dirty="0"/>
              <a:t>,</a:t>
            </a:r>
            <a:r>
              <a:rPr lang="zh-CN" altLang="en-US" b="1" dirty="0"/>
              <a:t>从而在不同函数间传递数据</a:t>
            </a:r>
            <a:r>
              <a:rPr lang="zh-CN" b="1" dirty="0"/>
              <a:t>。</a:t>
            </a:r>
          </a:p>
          <a:p>
            <a:pPr marL="762000" lvl="1" indent="-290513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b="1" dirty="0">
                <a:latin typeface="Courier New" pitchFamily="49" charset="0"/>
              </a:rPr>
              <a:t>利用全局变量可以减少函数中实参和形参的个数。</a:t>
            </a:r>
            <a:endParaRPr lang="zh-CN" b="1" dirty="0"/>
          </a:p>
          <a:p>
            <a:pPr marL="280988" indent="-280988">
              <a:buNone/>
            </a:pPr>
            <a:endParaRPr lang="zh-CN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4016245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11350" y="1762125"/>
            <a:ext cx="8636000" cy="46370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800" b="1">
                <a:latin typeface="Times New Roman" pitchFamily="18" charset="0"/>
                <a:ea typeface="黑体" pitchFamily="49" charset="-122"/>
              </a:rPr>
              <a:t>  </a:t>
            </a:r>
            <a:endParaRPr lang="zh-CN" altLang="zh-CN" sz="2400" b="1">
              <a:solidFill>
                <a:schemeClr val="tx2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481283" name="Text Box 3"/>
          <p:cNvSpPr txBox="1">
            <a:spLocks noChangeArrowheads="1"/>
          </p:cNvSpPr>
          <p:nvPr/>
        </p:nvSpPr>
        <p:spPr bwMode="auto">
          <a:xfrm>
            <a:off x="2117725" y="2025651"/>
            <a:ext cx="5105400" cy="4321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0513" indent="-290513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81013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D800D8"/>
                </a:solidFill>
                <a:latin typeface="Tahoma" pitchFamily="34" charset="0"/>
              </a:rPr>
              <a:t>int  </a:t>
            </a:r>
            <a:r>
              <a:rPr lang="en-US" altLang="zh-CN" b="1">
                <a:solidFill>
                  <a:srgbClr val="D800D8"/>
                </a:solidFill>
                <a:latin typeface="Tahoma" pitchFamily="34" charset="0"/>
              </a:rPr>
              <a:t>s1,</a:t>
            </a:r>
            <a:r>
              <a:rPr lang="zh-CN" altLang="zh-CN" b="1">
                <a:solidFill>
                  <a:srgbClr val="D800D8"/>
                </a:solidFill>
                <a:latin typeface="Tahoma" pitchFamily="34" charset="0"/>
              </a:rPr>
              <a:t>s</a:t>
            </a:r>
            <a:r>
              <a:rPr lang="zh-CN" altLang="zh-CN" b="1" dirty="0">
                <a:solidFill>
                  <a:srgbClr val="D800D8"/>
                </a:solidFill>
                <a:latin typeface="Tahoma" pitchFamily="34" charset="0"/>
              </a:rPr>
              <a:t>2 </a:t>
            </a:r>
            <a:r>
              <a:rPr lang="zh-CN" altLang="zh-CN" b="1" dirty="0">
                <a:solidFill>
                  <a:srgbClr val="D800D8"/>
                </a:solidFill>
              </a:rPr>
              <a:t>;</a:t>
            </a:r>
          </a:p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  <a:latin typeface="Tahoma" pitchFamily="34" charset="0"/>
              </a:rPr>
              <a:t>main</a:t>
            </a:r>
            <a:r>
              <a:rPr lang="zh-CN" altLang="zh-CN" b="1" dirty="0">
                <a:solidFill>
                  <a:srgbClr val="000000"/>
                </a:solidFill>
              </a:rPr>
              <a:t>( )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{ int  i</a:t>
            </a:r>
            <a:r>
              <a:rPr lang="zh-CN" altLang="zh-CN" b="1" dirty="0">
                <a:solidFill>
                  <a:srgbClr val="000000"/>
                </a:solidFill>
              </a:rPr>
              <a:t>, 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</a:rPr>
              <a:t>j </a:t>
            </a:r>
            <a:r>
              <a:rPr lang="zh-CN" altLang="zh-CN" b="1">
                <a:solidFill>
                  <a:srgbClr val="000000"/>
                </a:solidFill>
              </a:rPr>
              <a:t>,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</a:rPr>
              <a:t>a</a:t>
            </a:r>
            <a:r>
              <a:rPr lang="zh-CN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[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5</a:t>
            </a:r>
            <a:r>
              <a:rPr lang="zh-CN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][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5</a:t>
            </a:r>
            <a:r>
              <a:rPr lang="zh-CN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for</a:t>
            </a:r>
            <a:r>
              <a:rPr lang="zh-CN" altLang="zh-CN" b="1" dirty="0">
                <a:solidFill>
                  <a:srgbClr val="000000"/>
                </a:solidFill>
              </a:rPr>
              <a:t>(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i=0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i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&lt;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5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i++</a:t>
            </a:r>
            <a:r>
              <a:rPr lang="zh-CN" altLang="zh-CN" b="1" dirty="0">
                <a:solidFill>
                  <a:srgbClr val="000000"/>
                </a:solidFill>
              </a:rPr>
              <a:t>)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</a:t>
            </a: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 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for</a:t>
            </a:r>
            <a:r>
              <a:rPr lang="zh-CN" altLang="zh-CN" b="1" dirty="0">
                <a:solidFill>
                  <a:srgbClr val="000000"/>
                </a:solidFill>
              </a:rPr>
              <a:t>(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j=0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j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&lt;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5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j++</a:t>
            </a:r>
            <a:r>
              <a:rPr lang="zh-CN" altLang="zh-CN" b="1" dirty="0">
                <a:solidFill>
                  <a:srgbClr val="000000"/>
                </a:solidFill>
              </a:rPr>
              <a:t>)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  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scanf</a:t>
            </a:r>
            <a:r>
              <a:rPr lang="zh-CN" altLang="zh-CN" b="1" dirty="0">
                <a:solidFill>
                  <a:srgbClr val="000000"/>
                </a:solidFill>
              </a:rPr>
              <a:t>(</a:t>
            </a:r>
            <a:r>
              <a:rPr lang="zh-CN" altLang="zh-CN" b="1" dirty="0">
                <a:solidFill>
                  <a:srgbClr val="000000"/>
                </a:solidFill>
                <a:latin typeface="Times New Roman"/>
              </a:rPr>
              <a:t>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%d</a:t>
            </a:r>
            <a:r>
              <a:rPr lang="zh-CN" altLang="zh-CN" b="1" dirty="0">
                <a:solidFill>
                  <a:srgbClr val="000000"/>
                </a:solidFill>
                <a:latin typeface="Times New Roman"/>
              </a:rPr>
              <a:t>”</a:t>
            </a:r>
            <a:r>
              <a:rPr lang="zh-CN" altLang="zh-CN" b="1" dirty="0">
                <a:solidFill>
                  <a:srgbClr val="000000"/>
                </a:solidFill>
              </a:rPr>
              <a:t>, 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&amp;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a</a:t>
            </a:r>
            <a:r>
              <a:rPr lang="zh-CN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[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zh-CN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[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j</a:t>
            </a:r>
            <a:r>
              <a:rPr lang="zh-CN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zh-CN" b="1" dirty="0">
                <a:solidFill>
                  <a:srgbClr val="000000"/>
                </a:solidFill>
              </a:rPr>
              <a:t>);</a:t>
            </a:r>
          </a:p>
          <a:p>
            <a:pPr fontAlgn="base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D800D8"/>
                </a:solidFill>
                <a:latin typeface="Tahoma" pitchFamily="34" charset="0"/>
              </a:rPr>
              <a:t>   </a:t>
            </a:r>
            <a:r>
              <a:rPr lang="zh-CN" altLang="zh-CN" b="1">
                <a:solidFill>
                  <a:srgbClr val="D800D8"/>
                </a:solidFill>
                <a:latin typeface="Tahoma" pitchFamily="34" charset="0"/>
              </a:rPr>
              <a:t>sum</a:t>
            </a:r>
            <a:r>
              <a:rPr lang="zh-CN" altLang="zh-CN" b="1" dirty="0">
                <a:solidFill>
                  <a:srgbClr val="D800D8"/>
                </a:solidFill>
              </a:rPr>
              <a:t>(</a:t>
            </a:r>
            <a:r>
              <a:rPr lang="zh-CN" altLang="zh-CN" b="1" dirty="0">
                <a:solidFill>
                  <a:srgbClr val="D800D8"/>
                </a:solidFill>
                <a:latin typeface="Tahoma" pitchFamily="34" charset="0"/>
              </a:rPr>
              <a:t>a</a:t>
            </a:r>
            <a:r>
              <a:rPr lang="zh-CN" altLang="zh-CN" b="1" dirty="0">
                <a:solidFill>
                  <a:srgbClr val="D800D8"/>
                </a:solidFill>
              </a:rPr>
              <a:t>) 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</a:t>
            </a:r>
          </a:p>
          <a:p>
            <a:pPr fontAlgn="base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printf</a:t>
            </a:r>
            <a:r>
              <a:rPr lang="zh-CN" altLang="zh-CN" b="1" dirty="0">
                <a:solidFill>
                  <a:srgbClr val="000000"/>
                </a:solidFill>
              </a:rPr>
              <a:t>(</a:t>
            </a:r>
            <a:r>
              <a:rPr lang="zh-CN" altLang="zh-CN" b="1" dirty="0">
                <a:solidFill>
                  <a:srgbClr val="000000"/>
                </a:solidFill>
                <a:latin typeface="Times New Roman"/>
              </a:rPr>
              <a:t>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%d</a:t>
            </a:r>
            <a:r>
              <a:rPr lang="zh-CN" altLang="zh-CN" b="1" dirty="0">
                <a:solidFill>
                  <a:srgbClr val="000000"/>
                </a:solidFill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%d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\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n</a:t>
            </a:r>
            <a:r>
              <a:rPr lang="zh-CN" altLang="zh-CN" b="1" dirty="0">
                <a:solidFill>
                  <a:srgbClr val="000000"/>
                </a:solidFill>
                <a:latin typeface="Times New Roman"/>
              </a:rPr>
              <a:t>”</a:t>
            </a:r>
            <a:r>
              <a:rPr lang="zh-CN" altLang="zh-CN" b="1" dirty="0">
                <a:solidFill>
                  <a:srgbClr val="000000"/>
                </a:solidFill>
              </a:rPr>
              <a:t>,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s1</a:t>
            </a:r>
            <a:r>
              <a:rPr lang="zh-CN" altLang="zh-CN" b="1" dirty="0">
                <a:solidFill>
                  <a:srgbClr val="000000"/>
                </a:solidFill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s2</a:t>
            </a:r>
            <a:r>
              <a:rPr lang="zh-CN" altLang="zh-CN" b="1" dirty="0">
                <a:solidFill>
                  <a:srgbClr val="000000"/>
                </a:solidFill>
              </a:rPr>
              <a:t>); 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</a:rPr>
              <a:t>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481284" name="Text Box 4"/>
          <p:cNvSpPr txBox="1">
            <a:spLocks noChangeArrowheads="1"/>
          </p:cNvSpPr>
          <p:nvPr/>
        </p:nvSpPr>
        <p:spPr bwMode="auto">
          <a:xfrm>
            <a:off x="7209621" y="1500981"/>
            <a:ext cx="36591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D800D8"/>
                </a:solidFill>
              </a:rPr>
              <a:t>void </a:t>
            </a:r>
            <a:r>
              <a:rPr lang="zh-CN" altLang="zh-CN" sz="2400" b="1">
                <a:solidFill>
                  <a:srgbClr val="D800D8"/>
                </a:solidFill>
              </a:rPr>
              <a:t>sum</a:t>
            </a:r>
            <a:r>
              <a:rPr lang="zh-CN" altLang="zh-CN" sz="2400" b="1" dirty="0">
                <a:solidFill>
                  <a:srgbClr val="D800D8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D800D8"/>
                </a:solidFill>
              </a:rPr>
              <a:t> int  x</a:t>
            </a:r>
            <a:r>
              <a:rPr lang="zh-CN" altLang="zh-CN" sz="2400" b="1" dirty="0">
                <a:solidFill>
                  <a:srgbClr val="D800D8"/>
                </a:solidFill>
                <a:latin typeface="黑体" pitchFamily="49" charset="-122"/>
                <a:ea typeface="黑体" pitchFamily="49" charset="-122"/>
              </a:rPr>
              <a:t>[ ][</a:t>
            </a:r>
            <a:r>
              <a:rPr lang="zh-CN" altLang="zh-CN" sz="2400" b="1" dirty="0">
                <a:solidFill>
                  <a:srgbClr val="D800D8"/>
                </a:solidFill>
              </a:rPr>
              <a:t>5</a:t>
            </a:r>
            <a:r>
              <a:rPr lang="zh-CN" altLang="zh-CN" sz="2400" b="1" dirty="0">
                <a:solidFill>
                  <a:srgbClr val="D800D8"/>
                </a:solidFill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zh-CN" sz="2400" b="1" dirty="0">
                <a:solidFill>
                  <a:srgbClr val="D800D8"/>
                </a:solidFill>
                <a:latin typeface="Times New Roman" pitchFamily="18" charset="0"/>
              </a:rPr>
              <a:t>)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{ </a:t>
            </a:r>
            <a:r>
              <a:rPr lang="zh-CN" altLang="zh-CN" sz="2400" b="1">
                <a:solidFill>
                  <a:srgbClr val="000000"/>
                </a:solidFill>
              </a:rPr>
              <a:t>int  i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for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i=0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</a:rPr>
              <a:t> i</a:t>
            </a:r>
            <a:r>
              <a:rPr lang="zh-CN" altLang="zh-CN" sz="2400" dirty="0">
                <a:solidFill>
                  <a:srgbClr val="000000"/>
                </a:solidFill>
              </a:rPr>
              <a:t>&lt;</a:t>
            </a:r>
            <a:r>
              <a:rPr lang="zh-CN" altLang="zh-CN" sz="2400" b="1" dirty="0">
                <a:solidFill>
                  <a:srgbClr val="000000"/>
                </a:solidFill>
              </a:rPr>
              <a:t>5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</a:rPr>
              <a:t> i++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{ s1=s1+x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[</a:t>
            </a:r>
            <a:r>
              <a:rPr lang="zh-CN" altLang="zh-CN" sz="2400" b="1" dirty="0">
                <a:solidFill>
                  <a:srgbClr val="000000"/>
                </a:solidFill>
              </a:rPr>
              <a:t>i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][</a:t>
            </a:r>
            <a:r>
              <a:rPr lang="zh-CN" altLang="zh-CN" sz="2400" b="1" dirty="0">
                <a:solidFill>
                  <a:srgbClr val="000000"/>
                </a:solidFill>
              </a:rPr>
              <a:t>i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   s2+=x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[</a:t>
            </a:r>
            <a:r>
              <a:rPr lang="zh-CN" altLang="zh-CN" sz="2400" b="1" dirty="0">
                <a:solidFill>
                  <a:srgbClr val="000000"/>
                </a:solidFill>
              </a:rPr>
              <a:t>i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][</a:t>
            </a:r>
            <a:r>
              <a:rPr lang="zh-CN" altLang="zh-CN" sz="2400" b="1" dirty="0">
                <a:solidFill>
                  <a:srgbClr val="000000"/>
                </a:solidFill>
              </a:rPr>
              <a:t>5-i-1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}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81285" name="Rectangle 5"/>
          <p:cNvSpPr>
            <a:spLocks noChangeArrowheads="1"/>
          </p:cNvSpPr>
          <p:nvPr/>
        </p:nvSpPr>
        <p:spPr bwMode="auto">
          <a:xfrm>
            <a:off x="2414588" y="96838"/>
            <a:ext cx="8075612" cy="100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6.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7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调用函数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sum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求出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a[5][5]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主对角线元素及辅对角线元素之和。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s2</a:t>
            </a:r>
            <a:r>
              <a:rPr lang="zh-CN" altLang="zh-CN" sz="2400" b="1" dirty="0">
                <a:solidFill>
                  <a:srgbClr val="000000"/>
                </a:solidFill>
                <a:ea typeface="黑体" pitchFamily="49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--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主、辅对角线元素之和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)</a:t>
            </a:r>
          </a:p>
        </p:txBody>
      </p:sp>
      <p:sp>
        <p:nvSpPr>
          <p:cNvPr id="481286" name="Rectangle 6"/>
          <p:cNvSpPr>
            <a:spLocks noChangeArrowheads="1"/>
          </p:cNvSpPr>
          <p:nvPr/>
        </p:nvSpPr>
        <p:spPr bwMode="auto">
          <a:xfrm>
            <a:off x="2144232" y="1585346"/>
            <a:ext cx="39517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B0"/>
                </a:solidFill>
                <a:ea typeface="Dotum" pitchFamily="34" charset="-127"/>
              </a:rPr>
              <a:t>void </a:t>
            </a:r>
            <a:r>
              <a:rPr lang="zh-CN" altLang="zh-CN" sz="2400" b="1">
                <a:solidFill>
                  <a:srgbClr val="0000B0"/>
                </a:solidFill>
                <a:ea typeface="Dotum" pitchFamily="34" charset="-127"/>
              </a:rPr>
              <a:t>sum</a:t>
            </a:r>
            <a:r>
              <a:rPr lang="zh-CN" altLang="zh-CN" sz="2400" b="1">
                <a:solidFill>
                  <a:srgbClr val="0000B0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>
                <a:solidFill>
                  <a:srgbClr val="0000B0"/>
                </a:solidFill>
                <a:ea typeface="Dotum" pitchFamily="34" charset="-127"/>
              </a:rPr>
              <a:t> int  x[ ][5] </a:t>
            </a:r>
            <a:r>
              <a:rPr lang="zh-CN" altLang="zh-CN" sz="2400" b="1">
                <a:solidFill>
                  <a:srgbClr val="0000B0"/>
                </a:solidFill>
                <a:latin typeface="Times New Roman" pitchFamily="18" charset="0"/>
                <a:ea typeface="Dotum" pitchFamily="34" charset="-127"/>
              </a:rPr>
              <a:t>);</a:t>
            </a:r>
          </a:p>
        </p:txBody>
      </p:sp>
      <p:sp>
        <p:nvSpPr>
          <p:cNvPr id="481287" name="Rectangle 7"/>
          <p:cNvSpPr>
            <a:spLocks noChangeArrowheads="1"/>
          </p:cNvSpPr>
          <p:nvPr/>
        </p:nvSpPr>
        <p:spPr bwMode="auto">
          <a:xfrm>
            <a:off x="1848411" y="1143310"/>
            <a:ext cx="3389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#include 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&gt;  </a:t>
            </a:r>
          </a:p>
        </p:txBody>
      </p:sp>
    </p:spTree>
    <p:extLst>
      <p:ext uri="{BB962C8B-B14F-4D97-AF65-F5344CB8AC3E}">
        <p14:creationId xmlns:p14="http://schemas.microsoft.com/office/powerpoint/2010/main" val="214167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3" grpId="0" build="p" autoUpdateAnimBg="0"/>
      <p:bldP spid="481284" grpId="0" build="p" autoUpdateAnimBg="0"/>
      <p:bldP spid="48128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354263" y="61914"/>
            <a:ext cx="3962400" cy="733425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2) </a:t>
            </a:r>
            <a:r>
              <a:rPr lang="zh-CN" altLang="en-US" sz="280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缺点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6138" y="1263651"/>
            <a:ext cx="8089900" cy="4595813"/>
          </a:xfrm>
        </p:spPr>
        <p:txBody>
          <a:bodyPr/>
          <a:lstStyle/>
          <a:p>
            <a:pPr marL="290513" indent="-290513">
              <a:lnSpc>
                <a:spcPct val="120000"/>
              </a:lnSpc>
              <a:spcBef>
                <a:spcPct val="50000"/>
              </a:spcBef>
              <a:buSzPct val="50000"/>
            </a:pPr>
            <a:r>
              <a:rPr lang="zh-CN" altLang="en-US" sz="2400" b="1" dirty="0">
                <a:latin typeface="Courier New" pitchFamily="49" charset="0"/>
              </a:rPr>
              <a:t>全局变量在程序运行过程中始终占用存储单元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Courier New" pitchFamily="49" charset="0"/>
              </a:rPr>
              <a:t>而不是在函数被调用时才临时分配存储单元。</a:t>
            </a:r>
            <a:endParaRPr lang="zh-CN" altLang="en-US" sz="2400" b="1" dirty="0">
              <a:latin typeface="Times New Roman" pitchFamily="18" charset="0"/>
            </a:endParaRPr>
          </a:p>
          <a:p>
            <a:pPr marL="290513" indent="-290513">
              <a:lnSpc>
                <a:spcPct val="120000"/>
              </a:lnSpc>
              <a:spcBef>
                <a:spcPct val="65000"/>
              </a:spcBef>
              <a:buSzPct val="50000"/>
            </a:pPr>
            <a:r>
              <a:rPr lang="zh-CN" altLang="en-US" sz="2400" b="1" dirty="0">
                <a:latin typeface="Times New Roman" pitchFamily="18" charset="0"/>
              </a:rPr>
              <a:t>使</a:t>
            </a:r>
            <a:r>
              <a:rPr lang="zh-CN" altLang="en-US" sz="2400" b="1" dirty="0">
                <a:solidFill>
                  <a:srgbClr val="2E2EBA"/>
                </a:solidFill>
                <a:latin typeface="Times New Roman" pitchFamily="18" charset="0"/>
              </a:rPr>
              <a:t>函数的通用性降低</a:t>
            </a:r>
            <a:r>
              <a:rPr lang="zh-CN" altLang="en-US" sz="2400" b="1" dirty="0">
                <a:latin typeface="Times New Roman" pitchFamily="18" charset="0"/>
              </a:rPr>
              <a:t>。因为函数的运行要依赖于全局变量，这样函数很难进行移植也很难修改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通用性和可维护性差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</a:rPr>
              <a:t>。</a:t>
            </a:r>
          </a:p>
          <a:p>
            <a:pPr marL="290513" indent="-290513">
              <a:lnSpc>
                <a:spcPct val="120000"/>
              </a:lnSpc>
              <a:spcBef>
                <a:spcPct val="65000"/>
              </a:spcBef>
              <a:buSzPct val="50000"/>
            </a:pPr>
            <a:r>
              <a:rPr lang="zh-CN" altLang="en-US" sz="2400" b="1" dirty="0">
                <a:latin typeface="Times New Roman" pitchFamily="18" charset="0"/>
              </a:rPr>
              <a:t>另外，由于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每个函数执行时都有可能改变全局变量的值</a:t>
            </a:r>
            <a:r>
              <a:rPr lang="zh-CN" altLang="en-US" sz="2400" b="1" dirty="0">
                <a:latin typeface="Times New Roman" pitchFamily="18" charset="0"/>
              </a:rPr>
              <a:t>，程序容易出错。修改一个函数，另一个函数也要随之而改，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可维护性差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65000"/>
              </a:spcBef>
              <a:buSzPct val="50000"/>
              <a:buNone/>
            </a:pPr>
            <a:r>
              <a:rPr lang="zh-CN" altLang="en-US" sz="2400" b="1" dirty="0">
                <a:latin typeface="Times New Roman" pitchFamily="18" charset="0"/>
              </a:rPr>
              <a:t>因此，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非必要时不要使用全局变量。</a:t>
            </a:r>
          </a:p>
        </p:txBody>
      </p:sp>
    </p:spTree>
    <p:extLst>
      <p:ext uri="{BB962C8B-B14F-4D97-AF65-F5344CB8AC3E}">
        <p14:creationId xmlns:p14="http://schemas.microsoft.com/office/powerpoint/2010/main" val="3612472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53971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</a:rPr>
              <a:t>下面程序的运行结果为</a:t>
            </a:r>
            <a:r>
              <a:rPr lang="zh-CN" altLang="en-US" sz="2400" b="1" dirty="0">
                <a:solidFill>
                  <a:srgbClr val="639EF4"/>
                </a:solidFill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</a:rPr>
              <a:t>1]</a:t>
            </a:r>
            <a:r>
              <a:rPr lang="en-US" altLang="zh-CN" sz="2400" b="1" dirty="0">
                <a:solidFill>
                  <a:srgbClr val="000000"/>
                </a:solidFill>
              </a:rPr>
              <a:t> </a:t>
            </a:r>
            <a:endParaRPr lang="en-US" altLang="zh-CN" sz="2400" b="1" dirty="0">
              <a:solidFill>
                <a:srgbClr val="000000"/>
              </a:solidFill>
              <a:latin typeface="Arial" pitchFamily="34" charset="0"/>
            </a:endParaRP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CC0000"/>
                </a:solidFill>
                <a:latin typeface="Arial" pitchFamily="34" charset="0"/>
              </a:rPr>
              <a:t>int</a:t>
            </a:r>
            <a:r>
              <a:rPr lang="zh-CN" altLang="zh-CN" sz="2400" b="1" dirty="0">
                <a:solidFill>
                  <a:srgbClr val="CC0000"/>
                </a:solidFill>
              </a:rPr>
              <a:t>  a=</a:t>
            </a:r>
            <a:r>
              <a:rPr lang="zh-CN" altLang="zh-CN" sz="2400" b="1" dirty="0">
                <a:solidFill>
                  <a:srgbClr val="CC0000"/>
                </a:solidFill>
                <a:latin typeface="Arial" pitchFamily="34" charset="0"/>
              </a:rPr>
              <a:t>10</a:t>
            </a:r>
            <a:r>
              <a:rPr lang="zh-CN" altLang="zh-CN" sz="2400" b="1" dirty="0">
                <a:solidFill>
                  <a:srgbClr val="CC0000"/>
                </a:solidFill>
              </a:rPr>
              <a:t>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 void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f</a:t>
            </a:r>
            <a:r>
              <a:rPr lang="zh-CN" altLang="zh-CN" sz="2400" b="1" dirty="0">
                <a:latin typeface="Times New Roman" pitchFamily="18" charset="0"/>
              </a:rPr>
              <a:t>( )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400" b="1" dirty="0"/>
              <a:t> { </a:t>
            </a: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400" b="1" dirty="0"/>
              <a:t>    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/>
              <a:t>=</a:t>
            </a:r>
            <a:r>
              <a:rPr lang="zh-CN" altLang="zh-CN" sz="2000" b="1" dirty="0"/>
              <a:t>12</a:t>
            </a:r>
            <a:r>
              <a:rPr lang="zh-CN" altLang="zh-CN" sz="2400" b="1" dirty="0">
                <a:latin typeface="Times New Roman" pitchFamily="18" charset="0"/>
              </a:rPr>
              <a:t>;   </a:t>
            </a:r>
            <a:r>
              <a:rPr lang="zh-CN" altLang="zh-CN" sz="2400" b="1" dirty="0"/>
              <a:t> </a:t>
            </a:r>
            <a:endParaRPr lang="en-US" altLang="zh-CN" sz="2400" b="1" dirty="0"/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b="1" dirty="0"/>
              <a:t>  </a:t>
            </a:r>
            <a:r>
              <a:rPr lang="zh-CN" altLang="zh-CN" sz="2400" b="1" dirty="0"/>
              <a:t>}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main</a:t>
            </a:r>
            <a:r>
              <a:rPr lang="zh-CN" altLang="zh-CN" sz="2400" b="1" dirty="0">
                <a:latin typeface="Times New Roman" pitchFamily="18" charset="0"/>
              </a:rPr>
              <a:t>(  )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400" b="1" dirty="0"/>
              <a:t>{  </a:t>
            </a:r>
            <a:r>
              <a:rPr lang="zh-CN" altLang="zh-CN" sz="2400" b="1" dirty="0">
                <a:latin typeface="Arial" pitchFamily="34" charset="0"/>
              </a:rPr>
              <a:t>f</a:t>
            </a:r>
            <a:r>
              <a:rPr lang="zh-CN" altLang="zh-CN" sz="2400" b="1" dirty="0">
                <a:latin typeface="Times New Roman" pitchFamily="18" charset="0"/>
              </a:rPr>
              <a:t>( );</a:t>
            </a:r>
            <a:r>
              <a:rPr lang="zh-CN" altLang="zh-CN" sz="2400" b="1" dirty="0"/>
              <a:t> 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400" b="1" dirty="0"/>
              <a:t>    </a:t>
            </a:r>
            <a:r>
              <a:rPr lang="zh-CN" altLang="zh-CN" sz="2400" b="1" dirty="0">
                <a:latin typeface="Arial" pitchFamily="34" charset="0"/>
              </a:rPr>
              <a:t>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/>
              <a:t>%</a:t>
            </a:r>
            <a:r>
              <a:rPr lang="zh-CN" altLang="zh-CN" sz="2400" b="1" dirty="0">
                <a:latin typeface="Arial" pitchFamily="34" charset="0"/>
              </a:rPr>
              <a:t>d</a:t>
            </a:r>
            <a:r>
              <a:rPr lang="zh-CN" altLang="zh-CN" sz="2400" dirty="0"/>
              <a:t>\</a:t>
            </a:r>
            <a:r>
              <a:rPr lang="zh-CN" altLang="zh-CN" sz="2400" b="1" dirty="0"/>
              <a:t>n</a:t>
            </a:r>
            <a:r>
              <a:rPr lang="zh-CN" altLang="zh-CN" sz="2400" b="1" dirty="0">
                <a:latin typeface="Times New Roman" pitchFamily="18" charset="0"/>
              </a:rPr>
              <a:t>”, 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</a:p>
          <a:p>
            <a:pPr>
              <a:lnSpc>
                <a:spcPct val="10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/>
              <a:t> }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1524000" y="5849303"/>
            <a:ext cx="9144000" cy="365760"/>
          </a:xfrm>
          <a:prstGeom prst="rect">
            <a:avLst/>
          </a:prstGeom>
          <a:solidFill>
            <a:srgbClr val="FBFAEF">
              <a:alpha val="50000"/>
            </a:srgbClr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2BB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330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以下叙述中不正确的是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: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在不同的函数中可以使用相同名字的变量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函数中的形式参数是局部变量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在一个函数内定义的变量只在本函数范围内有效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59437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在一个函数内的复合语句中定义的变量在本函数范围内有效。 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658667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3773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143250" y="25400"/>
            <a:ext cx="6192838" cy="882650"/>
          </a:xfrm>
        </p:spPr>
        <p:txBody>
          <a:bodyPr/>
          <a:lstStyle/>
          <a:p>
            <a:r>
              <a:rPr lang="zh-CN" altLang="zh-CN" sz="36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5.2  </a:t>
            </a:r>
            <a:r>
              <a:rPr lang="zh-CN" altLang="en-US" sz="3600" dirty="0">
                <a:latin typeface="楷体_GB2312" pitchFamily="49" charset="-122"/>
              </a:rPr>
              <a:t>变量的存储类别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14538" y="1273176"/>
            <a:ext cx="8064500" cy="1223963"/>
          </a:xfrm>
        </p:spPr>
        <p:txBody>
          <a:bodyPr/>
          <a:lstStyle/>
          <a:p>
            <a:pPr marL="0" indent="0">
              <a:buSzPct val="85000"/>
              <a:buFont typeface="Wingdings" pitchFamily="2" charset="2"/>
              <a:buChar char="&amp;"/>
            </a:pPr>
            <a:r>
              <a:rPr lang="zh-CN" altLang="en-US" sz="2400" b="1">
                <a:latin typeface="Courier New" pitchFamily="49" charset="0"/>
              </a:rPr>
              <a:t>对变量的定义需要给出两方面的属性</a:t>
            </a:r>
            <a:r>
              <a:rPr lang="zh-CN" altLang="zh-CN" sz="2400" b="1">
                <a:latin typeface="Times New Roman" pitchFamily="18" charset="0"/>
              </a:rPr>
              <a:t>:</a:t>
            </a:r>
          </a:p>
        </p:txBody>
      </p:sp>
      <p:sp>
        <p:nvSpPr>
          <p:cNvPr id="490500" name="Text Box 4"/>
          <p:cNvSpPr txBox="1">
            <a:spLocks noChangeArrowheads="1"/>
          </p:cNvSpPr>
          <p:nvPr/>
        </p:nvSpPr>
        <p:spPr bwMode="auto">
          <a:xfrm>
            <a:off x="3797300" y="1885951"/>
            <a:ext cx="6654800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7145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9050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0955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指变量的类型</a:t>
            </a:r>
            <a:r>
              <a:rPr lang="zh-CN" altLang="en-US" sz="1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取值范围和占据存贮空间的大小。如整型</a:t>
            </a: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实型</a:t>
            </a:r>
            <a:r>
              <a:rPr lang="zh-CN" altLang="en-US" b="1" dirty="0">
                <a:solidFill>
                  <a:srgbClr val="000000"/>
                </a:solidFill>
                <a:latin typeface="Tahoma" pitchFamily="34" charset="0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字符型等。</a:t>
            </a:r>
          </a:p>
        </p:txBody>
      </p:sp>
      <p:sp>
        <p:nvSpPr>
          <p:cNvPr id="490501" name="Text Box 5"/>
          <p:cNvSpPr txBox="1">
            <a:spLocks noChangeArrowheads="1"/>
          </p:cNvSpPr>
          <p:nvPr/>
        </p:nvSpPr>
        <p:spPr bwMode="auto">
          <a:xfrm>
            <a:off x="3778250" y="3073401"/>
            <a:ext cx="6578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241425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431925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2425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有助于确定变量存在的时间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生存期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ea typeface="黑体" pitchFamily="49" charset="-122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作用域和在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内存中存放的地点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区域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。</a:t>
            </a:r>
            <a:endParaRPr lang="zh-CN" altLang="en-US" b="1" dirty="0">
              <a:solidFill>
                <a:srgbClr val="000000"/>
              </a:solidFill>
              <a:latin typeface="幼圆" pitchFamily="49" charset="-122"/>
              <a:ea typeface="黑体" pitchFamily="49" charset="-122"/>
            </a:endParaRPr>
          </a:p>
        </p:txBody>
      </p:sp>
      <p:sp>
        <p:nvSpPr>
          <p:cNvPr id="490502" name="Text Box 6"/>
          <p:cNvSpPr txBox="1">
            <a:spLocks noChangeArrowheads="1"/>
          </p:cNvSpPr>
          <p:nvPr/>
        </p:nvSpPr>
        <p:spPr bwMode="auto">
          <a:xfrm>
            <a:off x="2092325" y="1971676"/>
            <a:ext cx="194945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3675" indent="-193675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数据类型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: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endParaRPr lang="zh-CN" altLang="zh-CN" b="1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endParaRPr lang="zh-CN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存储类别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:</a:t>
            </a:r>
          </a:p>
        </p:txBody>
      </p:sp>
      <p:sp>
        <p:nvSpPr>
          <p:cNvPr id="490503" name="Rectangle 7"/>
          <p:cNvSpPr>
            <a:spLocks noChangeArrowheads="1"/>
          </p:cNvSpPr>
          <p:nvPr/>
        </p:nvSpPr>
        <p:spPr bwMode="auto">
          <a:xfrm>
            <a:off x="2098675" y="4238625"/>
            <a:ext cx="3568926" cy="465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85738" indent="-185738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变量说明的完整形式为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graphicFrame>
        <p:nvGraphicFramePr>
          <p:cNvPr id="490504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3808413" y="4732339"/>
          <a:ext cx="525780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r:id="rId3" imgW="2042477" imgH="491045" progId="Word.Picture.8">
                  <p:embed/>
                </p:oleObj>
              </mc:Choice>
              <mc:Fallback>
                <p:oleObj r:id="rId3" imgW="2042477" imgH="491045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3" y="4732339"/>
                        <a:ext cx="5257800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5000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50884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00" grpId="0" autoUpdateAnimBg="0"/>
      <p:bldP spid="490501" grpId="0" autoUpdateAnimBg="0"/>
      <p:bldP spid="49050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101976" y="41275"/>
            <a:ext cx="6926263" cy="757238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5.2  </a:t>
            </a:r>
            <a:r>
              <a:rPr lang="zh-CN" altLang="en-US" sz="3600" dirty="0">
                <a:latin typeface="楷体_GB2312" pitchFamily="49" charset="-122"/>
              </a:rPr>
              <a:t>变量的存储类别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1214" y="1177926"/>
            <a:ext cx="8459787" cy="5287963"/>
          </a:xfrm>
        </p:spPr>
        <p:txBody>
          <a:bodyPr/>
          <a:lstStyle/>
          <a:p>
            <a:pPr marL="271463" indent="-271463">
              <a:lnSpc>
                <a:spcPct val="110000"/>
              </a:lnSpc>
              <a:buSzPct val="50000"/>
            </a:pPr>
            <a:r>
              <a:rPr lang="zh-CN" altLang="en-US" sz="2400" b="1" dirty="0">
                <a:latin typeface="黑体" pitchFamily="49" charset="-122"/>
              </a:rPr>
              <a:t>变量的存储类别分为四类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</a:p>
          <a:p>
            <a:pPr marL="271463" indent="-271463">
              <a:lnSpc>
                <a:spcPct val="115000"/>
              </a:lnSpc>
              <a:spcBef>
                <a:spcPct val="3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400" b="1" dirty="0">
                <a:latin typeface="黑体" pitchFamily="49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自动类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auto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、静态类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static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、寄存器类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register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和外部类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extern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</a:rPr>
              <a:t>。</a:t>
            </a:r>
            <a:endParaRPr lang="zh-CN" altLang="en-US" sz="2400" b="1" dirty="0">
              <a:latin typeface="黑体" pitchFamily="49" charset="-122"/>
            </a:endParaRPr>
          </a:p>
          <a:p>
            <a:pPr marL="271463" indent="-271463">
              <a:lnSpc>
                <a:spcPct val="120000"/>
              </a:lnSpc>
              <a:spcBef>
                <a:spcPct val="25000"/>
              </a:spcBef>
              <a:buSzPct val="50000"/>
            </a:pPr>
            <a:r>
              <a:rPr lang="zh-CN" altLang="en-US" sz="2400" b="1" dirty="0"/>
              <a:t>两种存储期</a:t>
            </a:r>
          </a:p>
          <a:p>
            <a:pPr marL="628650" lvl="1" indent="-177800">
              <a:lnSpc>
                <a:spcPct val="115000"/>
              </a:lnSpc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动态</a:t>
            </a:r>
            <a:r>
              <a:rPr lang="zh-CN" altLang="en-US" sz="2400" b="1" dirty="0"/>
              <a:t>存储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期</a:t>
            </a:r>
          </a:p>
          <a:p>
            <a:pPr marL="1071563" lvl="2" indent="-263525">
              <a:lnSpc>
                <a:spcPct val="115000"/>
              </a:lnSpc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b="1" dirty="0">
                <a:latin typeface="黑体" pitchFamily="49" charset="-122"/>
                <a:ea typeface="黑体" pitchFamily="49" charset="-122"/>
              </a:rPr>
              <a:t>是指在程序运行期间根据需要进行</a:t>
            </a:r>
            <a:r>
              <a:rPr lang="zh-CN" b="1" dirty="0">
                <a:solidFill>
                  <a:srgbClr val="0000A8"/>
                </a:solidFill>
                <a:latin typeface="黑体" pitchFamily="49" charset="-122"/>
                <a:ea typeface="黑体" pitchFamily="49" charset="-122"/>
              </a:rPr>
              <a:t>动态的</a:t>
            </a:r>
            <a:r>
              <a:rPr lang="zh-CN" b="1" dirty="0">
                <a:latin typeface="黑体" pitchFamily="49" charset="-122"/>
                <a:ea typeface="黑体" pitchFamily="49" charset="-122"/>
              </a:rPr>
              <a:t>分配存储空间的方式。</a:t>
            </a:r>
            <a:r>
              <a:rPr lang="zh-CN" altLang="zh-CN" b="1" dirty="0">
                <a:latin typeface="Arial" pitchFamily="34" charset="0"/>
                <a:ea typeface="黑体" pitchFamily="49" charset="-122"/>
              </a:rPr>
              <a:t>auto</a:t>
            </a:r>
            <a:r>
              <a:rPr lang="zh-CN" b="1" dirty="0">
                <a:ea typeface="黑体" pitchFamily="49" charset="-122"/>
              </a:rPr>
              <a:t>和</a:t>
            </a:r>
            <a:r>
              <a:rPr lang="zh-CN" altLang="zh-CN" b="1" dirty="0">
                <a:latin typeface="Arial" pitchFamily="34" charset="0"/>
                <a:ea typeface="黑体" pitchFamily="49" charset="-122"/>
              </a:rPr>
              <a:t>register </a:t>
            </a:r>
            <a:r>
              <a:rPr lang="zh-CN" b="1" dirty="0">
                <a:ea typeface="黑体" pitchFamily="49" charset="-122"/>
              </a:rPr>
              <a:t>是</a:t>
            </a:r>
            <a:r>
              <a:rPr lang="zh-CN" b="1" dirty="0">
                <a:latin typeface="黑体" pitchFamily="49" charset="-122"/>
                <a:ea typeface="黑体" pitchFamily="49" charset="-122"/>
              </a:rPr>
              <a:t>动态存储变量。</a:t>
            </a:r>
          </a:p>
          <a:p>
            <a:pPr marL="628650" lvl="1" indent="-177800">
              <a:lnSpc>
                <a:spcPct val="115000"/>
              </a:lnSpc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静态</a:t>
            </a:r>
            <a:r>
              <a:rPr lang="zh-CN" altLang="en-US" sz="2400" b="1" dirty="0"/>
              <a:t>存储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期</a:t>
            </a:r>
          </a:p>
          <a:p>
            <a:pPr marL="1071563" lvl="2" indent="-263525">
              <a:lnSpc>
                <a:spcPct val="115000"/>
              </a:lnSpc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b="1" dirty="0">
                <a:latin typeface="黑体" pitchFamily="49" charset="-122"/>
                <a:ea typeface="黑体" pitchFamily="49" charset="-122"/>
              </a:rPr>
              <a:t>是指在是在程序编译期间分配</a:t>
            </a:r>
            <a:r>
              <a:rPr lang="zh-CN" b="1" dirty="0">
                <a:solidFill>
                  <a:srgbClr val="0000A8"/>
                </a:solidFill>
                <a:latin typeface="黑体" pitchFamily="49" charset="-122"/>
                <a:ea typeface="黑体" pitchFamily="49" charset="-122"/>
              </a:rPr>
              <a:t>固定的</a:t>
            </a:r>
            <a:r>
              <a:rPr lang="zh-CN" b="1" dirty="0">
                <a:latin typeface="黑体" pitchFamily="49" charset="-122"/>
                <a:ea typeface="黑体" pitchFamily="49" charset="-122"/>
              </a:rPr>
              <a:t>存储空间</a:t>
            </a:r>
            <a:r>
              <a:rPr lang="zh-CN" altLang="en-US" sz="1800" b="1" dirty="0">
                <a:latin typeface="黑体" pitchFamily="49" charset="-122"/>
                <a:ea typeface="黑体" pitchFamily="49" charset="-122"/>
              </a:rPr>
              <a:t>。</a:t>
            </a:r>
          </a:p>
          <a:p>
            <a:pPr marL="1071563" lvl="2" indent="-263525">
              <a:lnSpc>
                <a:spcPct val="115000"/>
              </a:lnSpc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altLang="zh-CN" b="1" dirty="0">
                <a:latin typeface="Arial" pitchFamily="34" charset="0"/>
              </a:rPr>
              <a:t>extern</a:t>
            </a:r>
            <a:r>
              <a:rPr lang="zh-CN" b="1" dirty="0">
                <a:ea typeface="黑体" pitchFamily="49" charset="-122"/>
              </a:rPr>
              <a:t>和</a:t>
            </a:r>
            <a:r>
              <a:rPr lang="zh-CN" altLang="zh-CN" b="1" dirty="0">
                <a:latin typeface="Arial" pitchFamily="34" charset="0"/>
              </a:rPr>
              <a:t>static</a:t>
            </a:r>
            <a:r>
              <a:rPr lang="zh-CN" b="1" dirty="0">
                <a:ea typeface="黑体" pitchFamily="49" charset="-122"/>
              </a:rPr>
              <a:t>是</a:t>
            </a:r>
            <a:r>
              <a:rPr lang="zh-CN" b="1" dirty="0">
                <a:latin typeface="黑体" pitchFamily="49" charset="-122"/>
                <a:ea typeface="黑体" pitchFamily="49" charset="-122"/>
              </a:rPr>
              <a:t>静态存储变量。</a:t>
            </a:r>
          </a:p>
        </p:txBody>
      </p:sp>
      <p:sp>
        <p:nvSpPr>
          <p:cNvPr id="49152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74825" y="765176"/>
            <a:ext cx="349250" cy="288925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744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79664" y="128589"/>
            <a:ext cx="7432675" cy="642937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内存中供用户使用的空间有三部分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graphicFrame>
        <p:nvGraphicFramePr>
          <p:cNvPr id="49254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37923"/>
              </p:ext>
            </p:extLst>
          </p:nvPr>
        </p:nvGraphicFramePr>
        <p:xfrm>
          <a:off x="1991544" y="1412776"/>
          <a:ext cx="8052568" cy="4680520"/>
        </p:xfrm>
        <a:graphic>
          <a:graphicData uri="http://schemas.openxmlformats.org/drawingml/2006/table">
            <a:tbl>
              <a:tblPr/>
              <a:tblGrid>
                <a:gridCol w="2204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4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61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系统存储区</a:t>
                      </a:r>
                    </a:p>
                  </a:txBody>
                  <a:tcPr marL="15240" marR="15240"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操作系统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6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用户存储区</a:t>
                      </a:r>
                    </a:p>
                  </a:txBody>
                  <a:tcPr marL="15240" marR="15240"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程序区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程序代码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数据区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静态存储区</a:t>
                      </a:r>
                    </a:p>
                  </a:txBody>
                  <a:tcPr marL="0" marR="0"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全局变量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静态局部变量</a:t>
                      </a:r>
                    </a:p>
                  </a:txBody>
                  <a:tcPr marL="0" marR="0"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1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itchFamily="34" charset="0"/>
                          <a:ea typeface="黑体" pitchFamily="49" charset="-122"/>
                        </a:rPr>
                        <a:t>动态存储区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黑体" pitchFamily="49" charset="-122"/>
                        </a:rPr>
                        <a:t>(</a:t>
                      </a: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黑体" pitchFamily="49" charset="-122"/>
                        </a:rPr>
                        <a:t>运行</a:t>
                      </a: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itchFamily="34" charset="0"/>
                          <a:ea typeface="黑体" pitchFamily="49" charset="-122"/>
                        </a:rPr>
                        <a:t>栈区</a:t>
                      </a: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黑体" pitchFamily="49" charset="-122"/>
                        </a:rPr>
                        <a:t>)</a:t>
                      </a:r>
                    </a:p>
                  </a:txBody>
                  <a:tcPr marL="15240" marR="0"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自动变量</a:t>
                      </a: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、</a:t>
                      </a:r>
                      <a:r>
                        <a:rPr kumimoji="0" 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itchFamily="34" charset="0"/>
                          <a:ea typeface="黑体" pitchFamily="49" charset="-122"/>
                        </a:rPr>
                        <a:t>形参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寄存器</a:t>
                      </a:r>
                      <a:r>
                        <a:rPr kumimoji="0" 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变量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2573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54188" y="747714"/>
            <a:ext cx="393700" cy="268287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92574" name="AutoShape 3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893888" y="396875"/>
            <a:ext cx="304800" cy="228600"/>
          </a:xfrm>
          <a:prstGeom prst="actionButtonForwardNext">
            <a:avLst/>
          </a:prstGeom>
          <a:noFill/>
          <a:ln w="0" cmpd="sng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92575" name="AutoShape 3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274888" y="679450"/>
            <a:ext cx="330200" cy="254000"/>
          </a:xfrm>
          <a:prstGeom prst="actionButtonForwardNext">
            <a:avLst/>
          </a:prstGeom>
          <a:noFill/>
          <a:ln w="0" cmpd="sng">
            <a:solidFill>
              <a:srgbClr val="002BB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1731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53419" y="1484784"/>
            <a:ext cx="8535069" cy="4896544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ct val="40000"/>
              </a:spcBef>
              <a:buSzPct val="50000"/>
            </a:pPr>
            <a:r>
              <a:rPr lang="zh-CN" altLang="en-US" b="1">
                <a:latin typeface="黑体" pitchFamily="49" charset="-122"/>
              </a:rPr>
              <a:t>自动</a:t>
            </a:r>
            <a:r>
              <a:rPr lang="zh-CN" altLang="en-US" b="1" dirty="0">
                <a:latin typeface="黑体" pitchFamily="49" charset="-122"/>
              </a:rPr>
              <a:t>变量用关键字</a:t>
            </a:r>
            <a:r>
              <a:rPr lang="zh-CN" altLang="zh-CN" b="1" dirty="0">
                <a:solidFill>
                  <a:srgbClr val="00009E"/>
                </a:solidFill>
                <a:latin typeface="Arial" pitchFamily="34" charset="0"/>
              </a:rPr>
              <a:t>auto</a:t>
            </a:r>
            <a:r>
              <a:rPr lang="zh-CN" altLang="en-US" b="1">
                <a:latin typeface="黑体" pitchFamily="49" charset="-122"/>
              </a:rPr>
              <a:t>表示。只能是</a:t>
            </a:r>
            <a:r>
              <a:rPr lang="zh-CN" altLang="en-US" b="1">
                <a:solidFill>
                  <a:srgbClr val="C00000"/>
                </a:solidFill>
                <a:latin typeface="黑体" pitchFamily="49" charset="-122"/>
              </a:rPr>
              <a:t>内部变量</a:t>
            </a:r>
            <a:endParaRPr lang="en-US" altLang="zh-CN" b="1">
              <a:solidFill>
                <a:srgbClr val="C00000"/>
              </a:solidFill>
              <a:latin typeface="黑体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40000"/>
              </a:spcBef>
              <a:buSzPct val="50000"/>
            </a:pPr>
            <a:r>
              <a:rPr lang="zh-CN" altLang="en-US" b="1">
                <a:latin typeface="黑体" pitchFamily="49" charset="-122"/>
              </a:rPr>
              <a:t>自动变量存放在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动态存储区</a:t>
            </a:r>
            <a:r>
              <a:rPr lang="zh-CN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  </a:t>
            </a:r>
            <a:r>
              <a:rPr lang="zh-CN" altLang="en-US" b="1">
                <a:latin typeface="黑体" pitchFamily="49" charset="-122"/>
              </a:rPr>
              <a:t>是动态分配存储空间的。未赋值时为不定值</a:t>
            </a:r>
          </a:p>
          <a:p>
            <a:pPr marL="0" indent="0">
              <a:lnSpc>
                <a:spcPct val="110000"/>
              </a:lnSpc>
              <a:spcBef>
                <a:spcPct val="40000"/>
              </a:spcBef>
              <a:buSzPct val="50000"/>
            </a:pPr>
            <a:endParaRPr lang="en-US" altLang="zh-CN" b="1">
              <a:latin typeface="黑体" pitchFamily="49" charset="-122"/>
            </a:endParaRPr>
          </a:p>
          <a:p>
            <a:pPr marL="542925" lvl="1" indent="-271463">
              <a:lnSpc>
                <a:spcPct val="110000"/>
              </a:lnSpc>
              <a:spcBef>
                <a:spcPct val="40000"/>
              </a:spcBef>
              <a:buClr>
                <a:srgbClr val="008000"/>
              </a:buClr>
              <a:buSzPct val="80000"/>
              <a:buFont typeface="Tahoma" pitchFamily="34" charset="0"/>
              <a:buChar char="−"/>
            </a:pP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</a:rPr>
              <a:t>定义点</a:t>
            </a: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</a:rPr>
              <a:t>: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</a:rPr>
              <a:t>函数内定义</a:t>
            </a:r>
            <a:endParaRPr lang="en-US" altLang="zh-CN" sz="3200" b="1">
              <a:solidFill>
                <a:srgbClr val="FF0000"/>
              </a:solidFill>
              <a:latin typeface="黑体" pitchFamily="49" charset="-122"/>
            </a:endParaRPr>
          </a:p>
          <a:p>
            <a:pPr marL="542925" lvl="1" indent="-271463">
              <a:lnSpc>
                <a:spcPct val="110000"/>
              </a:lnSpc>
              <a:spcBef>
                <a:spcPct val="40000"/>
              </a:spcBef>
              <a:buClr>
                <a:srgbClr val="008000"/>
              </a:buClr>
              <a:buSzPct val="80000"/>
              <a:buFont typeface="Tahoma" pitchFamily="34" charset="0"/>
              <a:buChar char="−"/>
            </a:pP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</a:rPr>
              <a:t>作用域</a:t>
            </a: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</a:rPr>
              <a:t>: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</a:rPr>
              <a:t>函数内有效</a:t>
            </a:r>
            <a:endParaRPr lang="en-US" altLang="zh-CN" sz="3200" b="1">
              <a:solidFill>
                <a:srgbClr val="FF0000"/>
              </a:solidFill>
              <a:latin typeface="黑体" pitchFamily="49" charset="-122"/>
            </a:endParaRPr>
          </a:p>
          <a:p>
            <a:pPr marL="542925" lvl="1" indent="-271463">
              <a:lnSpc>
                <a:spcPct val="110000"/>
              </a:lnSpc>
              <a:spcBef>
                <a:spcPct val="40000"/>
              </a:spcBef>
              <a:buClr>
                <a:srgbClr val="008000"/>
              </a:buClr>
              <a:buSzPct val="80000"/>
              <a:buFont typeface="Tahoma" pitchFamily="34" charset="0"/>
              <a:buChar char="−"/>
            </a:pP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</a:rPr>
              <a:t>生命期</a:t>
            </a: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</a:rPr>
              <a:t>: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</a:rPr>
              <a:t>生命期同定义的函数</a:t>
            </a: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</a:rPr>
              <a:t>(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</a:rPr>
              <a:t>动态存储期</a:t>
            </a: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</a:rPr>
              <a:t>)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title"/>
          </p:nvPr>
        </p:nvSpPr>
        <p:spPr>
          <a:xfrm>
            <a:off x="4195763" y="136525"/>
            <a:ext cx="3816350" cy="654050"/>
          </a:xfrm>
        </p:spPr>
        <p:txBody>
          <a:bodyPr/>
          <a:lstStyle/>
          <a:p>
            <a:r>
              <a:rPr lang="zh-CN" altLang="zh-CN" sz="3600">
                <a:latin typeface="楷体_GB2312" pitchFamily="49" charset="-122"/>
              </a:rPr>
              <a:t>1</a:t>
            </a:r>
            <a:r>
              <a:rPr lang="zh-CN" altLang="en-US" sz="3600">
                <a:latin typeface="楷体_GB2312" pitchFamily="49" charset="-122"/>
              </a:rPr>
              <a:t>、自动变量</a:t>
            </a:r>
          </a:p>
        </p:txBody>
      </p:sp>
      <p:sp>
        <p:nvSpPr>
          <p:cNvPr id="493574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36725" y="760414"/>
            <a:ext cx="433388" cy="365125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93576" name="Text Box 8"/>
          <p:cNvSpPr txBox="1">
            <a:spLocks noChangeArrowheads="1"/>
          </p:cNvSpPr>
          <p:nvPr/>
        </p:nvSpPr>
        <p:spPr bwMode="auto">
          <a:xfrm>
            <a:off x="6529389" y="4787901"/>
            <a:ext cx="860425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38574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93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93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93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 uiExpand="1" build="p" autoUpdateAnimBg="0"/>
      <p:bldP spid="493576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72781" y="1075419"/>
            <a:ext cx="8595219" cy="2209565"/>
          </a:xfrm>
        </p:spPr>
        <p:txBody>
          <a:bodyPr/>
          <a:lstStyle/>
          <a:p>
            <a:pPr marL="542925" lvl="1" indent="-271463">
              <a:lnSpc>
                <a:spcPct val="110000"/>
              </a:lnSpc>
              <a:spcBef>
                <a:spcPct val="40000"/>
              </a:spcBef>
              <a:buClr>
                <a:srgbClr val="008000"/>
              </a:buClr>
              <a:buSzPct val="80000"/>
              <a:buFont typeface="Tahoma" pitchFamily="34" charset="0"/>
              <a:buChar char="−"/>
            </a:pPr>
            <a:r>
              <a:rPr lang="zh-CN" altLang="zh-CN" b="1">
                <a:latin typeface="黑体" pitchFamily="49" charset="-122"/>
              </a:rPr>
              <a:t>C</a:t>
            </a:r>
            <a:r>
              <a:rPr lang="zh-CN" altLang="en-US" b="1" dirty="0">
                <a:latin typeface="黑体" pitchFamily="49" charset="-122"/>
              </a:rPr>
              <a:t>规定</a:t>
            </a:r>
            <a:r>
              <a:rPr lang="zh-CN" altLang="zh-CN" b="1">
                <a:latin typeface="Times New Roman" pitchFamily="18" charset="0"/>
              </a:rPr>
              <a:t>: </a:t>
            </a:r>
            <a:r>
              <a:rPr lang="zh-CN" altLang="en-US" b="1">
                <a:latin typeface="Times New Roman" pitchFamily="18" charset="0"/>
              </a:rPr>
              <a:t>在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内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部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变量</a:t>
            </a:r>
            <a:r>
              <a:rPr lang="zh-CN" altLang="en-US" b="1" dirty="0">
                <a:latin typeface="黑体" pitchFamily="49" charset="-122"/>
              </a:rPr>
              <a:t>的定义中</a:t>
            </a:r>
            <a:r>
              <a:rPr lang="zh-CN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省略存储类型</a:t>
            </a:r>
            <a:r>
              <a:rPr lang="en-US" altLang="zh-CN" b="1">
                <a:latin typeface="Times New Roman" pitchFamily="18" charset="0"/>
              </a:rPr>
              <a:t>,</a:t>
            </a:r>
            <a:r>
              <a:rPr lang="zh-CN" altLang="en-US" b="1">
                <a:latin typeface="Times New Roman" pitchFamily="18" charset="0"/>
              </a:rPr>
              <a:t>则默认为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自动型</a:t>
            </a:r>
            <a:r>
              <a:rPr lang="zh-CN" altLang="en-US" b="1">
                <a:latin typeface="Times New Roman" pitchFamily="18" charset="0"/>
              </a:rPr>
              <a:t>变量</a:t>
            </a:r>
            <a:endParaRPr lang="en-US" altLang="zh-CN" b="1">
              <a:latin typeface="Times New Roman" pitchFamily="18" charset="0"/>
            </a:endParaRPr>
          </a:p>
          <a:p>
            <a:pPr marL="542925" lvl="1" indent="-271463">
              <a:lnSpc>
                <a:spcPct val="110000"/>
              </a:lnSpc>
              <a:spcBef>
                <a:spcPct val="40000"/>
              </a:spcBef>
              <a:buClr>
                <a:srgbClr val="008000"/>
              </a:buClr>
              <a:buSzPct val="80000"/>
              <a:buFont typeface="Tahoma" pitchFamily="34" charset="0"/>
              <a:buChar char="−"/>
            </a:pPr>
            <a:r>
              <a:rPr lang="zh-CN" altLang="en-US" b="1">
                <a:latin typeface="黑体" pitchFamily="49" charset="-122"/>
              </a:rPr>
              <a:t>即没有 </a:t>
            </a:r>
            <a:r>
              <a:rPr lang="zh-CN" altLang="en-US" sz="2000" b="1">
                <a:latin typeface="黑体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</a:rPr>
              <a:t>指明存储</a:t>
            </a:r>
            <a:r>
              <a:rPr lang="zh-CN" altLang="en-US" b="1">
                <a:solidFill>
                  <a:srgbClr val="FF0000"/>
                </a:solidFill>
                <a:latin typeface="黑体" pitchFamily="49" charset="-122"/>
              </a:rPr>
              <a:t>类别的</a:t>
            </a:r>
            <a:r>
              <a:rPr lang="zh-CN" altLang="en-US" sz="3200" b="1">
                <a:solidFill>
                  <a:srgbClr val="C00000"/>
                </a:solidFill>
                <a:latin typeface="黑体" pitchFamily="49" charset="-122"/>
              </a:rPr>
              <a:t>内部变量</a:t>
            </a:r>
            <a:r>
              <a:rPr lang="zh-CN" altLang="zh-CN" b="1" dirty="0">
                <a:solidFill>
                  <a:srgbClr val="FF0000"/>
                </a:solidFill>
                <a:latin typeface="Times New Roman" pitchFamily="18" charset="0"/>
              </a:rPr>
              <a:t>,  </a:t>
            </a: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</a:rPr>
              <a:t>一律</a:t>
            </a:r>
            <a:r>
              <a:rPr lang="zh-CN" altLang="en-US" b="1">
                <a:solidFill>
                  <a:srgbClr val="FF0000"/>
                </a:solidFill>
                <a:latin typeface="黑体" pitchFamily="49" charset="-122"/>
              </a:rPr>
              <a:t>隐含为</a:t>
            </a:r>
            <a:r>
              <a:rPr lang="en-US" altLang="zh-CN" b="1">
                <a:solidFill>
                  <a:srgbClr val="FF0000"/>
                </a:solidFill>
                <a:latin typeface="黑体" pitchFamily="49" charset="-122"/>
              </a:rPr>
              <a:t>:auto</a:t>
            </a:r>
            <a:r>
              <a:rPr lang="zh-CN" altLang="en-US" b="1">
                <a:latin typeface="黑体" pitchFamily="49" charset="-122"/>
              </a:rPr>
              <a:t>。</a:t>
            </a:r>
            <a:endParaRPr lang="zh-CN" altLang="en-US" b="1" dirty="0">
              <a:latin typeface="黑体" pitchFamily="49" charset="-122"/>
            </a:endParaRPr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title"/>
          </p:nvPr>
        </p:nvSpPr>
        <p:spPr>
          <a:xfrm>
            <a:off x="4195763" y="136525"/>
            <a:ext cx="3816350" cy="654050"/>
          </a:xfrm>
        </p:spPr>
        <p:txBody>
          <a:bodyPr/>
          <a:lstStyle/>
          <a:p>
            <a:r>
              <a:rPr lang="zh-CN" altLang="zh-CN" sz="3600">
                <a:latin typeface="楷体_GB2312" pitchFamily="49" charset="-122"/>
              </a:rPr>
              <a:t>1</a:t>
            </a:r>
            <a:r>
              <a:rPr lang="zh-CN" altLang="en-US" sz="3600">
                <a:latin typeface="楷体_GB2312" pitchFamily="49" charset="-122"/>
              </a:rPr>
              <a:t>、自动变量</a:t>
            </a:r>
          </a:p>
        </p:txBody>
      </p:sp>
      <p:sp>
        <p:nvSpPr>
          <p:cNvPr id="493572" name="Text Box 4"/>
          <p:cNvSpPr txBox="1">
            <a:spLocks noChangeArrowheads="1"/>
          </p:cNvSpPr>
          <p:nvPr/>
        </p:nvSpPr>
        <p:spPr bwMode="auto">
          <a:xfrm>
            <a:off x="2408239" y="4343401"/>
            <a:ext cx="3525837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例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zh-CN" altLang="zh-CN" sz="2400" b="1">
                <a:solidFill>
                  <a:srgbClr val="000000"/>
                </a:solidFill>
              </a:rPr>
              <a:t>main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( )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  { int  x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400" b="1">
                <a:solidFill>
                  <a:srgbClr val="000000"/>
                </a:solidFill>
              </a:rPr>
              <a:t> y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; 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        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······</a:t>
            </a:r>
            <a:r>
              <a:rPr lang="zh-CN" altLang="zh-CN" sz="2400" b="1">
                <a:solidFill>
                  <a:srgbClr val="000000"/>
                </a:solidFill>
              </a:rPr>
              <a:t>    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  }</a:t>
            </a:r>
            <a:r>
              <a:rPr lang="zh-CN" altLang="zh-CN" sz="20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                             </a:t>
            </a:r>
          </a:p>
        </p:txBody>
      </p:sp>
      <p:sp>
        <p:nvSpPr>
          <p:cNvPr id="493573" name="Text Box 5"/>
          <p:cNvSpPr txBox="1">
            <a:spLocks noChangeArrowheads="1"/>
          </p:cNvSpPr>
          <p:nvPr/>
        </p:nvSpPr>
        <p:spPr bwMode="auto">
          <a:xfrm>
            <a:off x="6097589" y="4356100"/>
            <a:ext cx="4206875" cy="162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    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int 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fun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  <a:ea typeface="宋体" pitchFamily="2" charset="-122"/>
              </a:rPr>
              <a:t>auto</a:t>
            </a:r>
            <a:r>
              <a:rPr lang="zh-CN" altLang="zh-CN" sz="2400" b="1" dirty="0">
                <a:solidFill>
                  <a:srgbClr val="00009E"/>
                </a:solidFill>
                <a:ea typeface="宋体" pitchFamily="2" charset="-122"/>
              </a:rPr>
              <a:t> int  a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)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{ 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  <a:ea typeface="宋体" pitchFamily="2" charset="-122"/>
              </a:rPr>
              <a:t>auto</a:t>
            </a:r>
            <a:r>
              <a:rPr lang="zh-CN" altLang="zh-CN" sz="1400" b="1" dirty="0">
                <a:solidFill>
                  <a:srgbClr val="00009E"/>
                </a:solidFill>
                <a:ea typeface="宋体" pitchFamily="2" charset="-122"/>
              </a:rPr>
              <a:t>  </a:t>
            </a:r>
            <a:r>
              <a:rPr lang="zh-CN" altLang="zh-CN" sz="2400" b="1" dirty="0">
                <a:solidFill>
                  <a:srgbClr val="00009E"/>
                </a:solidFill>
                <a:ea typeface="宋体" pitchFamily="2" charset="-122"/>
              </a:rPr>
              <a:t>int  b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 dirty="0">
                <a:solidFill>
                  <a:srgbClr val="00009E"/>
                </a:solidFill>
                <a:ea typeface="宋体" pitchFamily="2" charset="-122"/>
              </a:rPr>
              <a:t> c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400" b="1" dirty="0">
                <a:solidFill>
                  <a:srgbClr val="00009E"/>
                </a:solidFill>
                <a:ea typeface="宋体" pitchFamily="2" charset="-122"/>
              </a:rPr>
              <a:t>d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             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······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   </a:t>
            </a:r>
          </a:p>
          <a:p>
            <a:pPr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}</a:t>
            </a:r>
          </a:p>
        </p:txBody>
      </p:sp>
      <p:sp>
        <p:nvSpPr>
          <p:cNvPr id="493574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36725" y="760414"/>
            <a:ext cx="433388" cy="365125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93575" name="Text Box 7"/>
          <p:cNvSpPr txBox="1">
            <a:spLocks noChangeArrowheads="1"/>
          </p:cNvSpPr>
          <p:nvPr/>
        </p:nvSpPr>
        <p:spPr bwMode="auto">
          <a:xfrm>
            <a:off x="8042276" y="4356100"/>
            <a:ext cx="20161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9E"/>
                </a:solidFill>
                <a:ea typeface="宋体" pitchFamily="2" charset="-122"/>
              </a:rPr>
              <a:t>int  a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)</a:t>
            </a:r>
          </a:p>
        </p:txBody>
      </p:sp>
      <p:sp>
        <p:nvSpPr>
          <p:cNvPr id="493576" name="Text Box 8"/>
          <p:cNvSpPr txBox="1">
            <a:spLocks noChangeArrowheads="1"/>
          </p:cNvSpPr>
          <p:nvPr/>
        </p:nvSpPr>
        <p:spPr bwMode="auto">
          <a:xfrm>
            <a:off x="6529389" y="4787901"/>
            <a:ext cx="860425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08757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 build="p" autoUpdateAnimBg="0"/>
      <p:bldP spid="493572" grpId="0" autoUpdateAnimBg="0"/>
      <p:bldP spid="493573" grpId="0" autoUpdateAnimBg="0"/>
      <p:bldP spid="493575" grpId="0" animBg="1" autoUpdateAnimBg="0"/>
      <p:bldP spid="493576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00376" y="158751"/>
            <a:ext cx="7350125" cy="684213"/>
          </a:xfrm>
        </p:spPr>
        <p:txBody>
          <a:bodyPr/>
          <a:lstStyle/>
          <a:p>
            <a:r>
              <a:rPr lang="en-US" altLang="zh-CN" sz="3600">
                <a:latin typeface="楷体_GB2312" pitchFamily="49" charset="-122"/>
              </a:rPr>
              <a:t>2</a:t>
            </a:r>
            <a:r>
              <a:rPr lang="zh-CN" altLang="zh-CN" sz="3600">
                <a:latin typeface="楷体_GB2312" pitchFamily="49" charset="-122"/>
              </a:rPr>
              <a:t>. </a:t>
            </a:r>
            <a:r>
              <a:rPr lang="zh-CN" altLang="en-US" sz="3600">
                <a:latin typeface="楷体_GB2312" pitchFamily="49" charset="-122"/>
              </a:rPr>
              <a:t>寄存器变量（</a:t>
            </a:r>
            <a:r>
              <a:rPr lang="zh-CN" altLang="zh-CN" sz="3600">
                <a:latin typeface="楷体_GB2312" pitchFamily="49" charset="-122"/>
              </a:rPr>
              <a:t>register</a:t>
            </a:r>
            <a:r>
              <a:rPr lang="zh-CN" altLang="en-US" sz="3600">
                <a:latin typeface="楷体_GB2312" pitchFamily="49" charset="-122"/>
              </a:rPr>
              <a:t>）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5026" y="1222375"/>
            <a:ext cx="8416925" cy="4889500"/>
          </a:xfrm>
        </p:spPr>
        <p:txBody>
          <a:bodyPr/>
          <a:lstStyle/>
          <a:p>
            <a:pPr marL="179388" indent="-179388" algn="just">
              <a:lnSpc>
                <a:spcPct val="115000"/>
              </a:lnSpc>
              <a:spcBef>
                <a:spcPct val="60000"/>
              </a:spcBef>
              <a:buSzPct val="50000"/>
            </a:pPr>
            <a:r>
              <a:rPr lang="zh-CN" altLang="en-US" sz="2800" b="1" dirty="0">
                <a:latin typeface="黑体" pitchFamily="49" charset="-122"/>
              </a:rPr>
              <a:t>用关键字</a:t>
            </a:r>
            <a:r>
              <a:rPr lang="zh-CN" altLang="zh-CN" sz="2800" b="1" dirty="0">
                <a:solidFill>
                  <a:srgbClr val="0031CE"/>
                </a:solidFill>
                <a:latin typeface="Arial" pitchFamily="34" charset="0"/>
              </a:rPr>
              <a:t>register</a:t>
            </a:r>
            <a:r>
              <a:rPr lang="zh-CN" altLang="en-US" sz="2800" b="1" dirty="0">
                <a:latin typeface="黑体" pitchFamily="49" charset="-122"/>
              </a:rPr>
              <a:t>声明的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局部变量</a:t>
            </a:r>
          </a:p>
          <a:p>
            <a:pPr marL="179388" indent="-179388" algn="just">
              <a:lnSpc>
                <a:spcPct val="115000"/>
              </a:lnSpc>
              <a:spcBef>
                <a:spcPct val="45000"/>
              </a:spcBef>
              <a:buSzPct val="50000"/>
            </a:pPr>
            <a:r>
              <a:rPr lang="zh-CN" altLang="en-US" sz="2800" b="1" dirty="0">
                <a:latin typeface="黑体" pitchFamily="49" charset="-122"/>
              </a:rPr>
              <a:t>说明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587375" lvl="1" indent="-228600">
              <a:lnSpc>
                <a:spcPct val="110000"/>
              </a:lnSpc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latin typeface="黑体" pitchFamily="49" charset="-122"/>
              </a:rPr>
              <a:t>寄存器变量只能用于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基本整型、短整型和字符型</a:t>
            </a:r>
            <a:r>
              <a:rPr lang="zh-CN" altLang="en-US" b="1" dirty="0">
                <a:latin typeface="黑体" pitchFamily="49" charset="-122"/>
              </a:rPr>
              <a:t>变量。</a:t>
            </a:r>
          </a:p>
          <a:p>
            <a:pPr marL="587375" lvl="1" indent="-22860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latin typeface="黑体" pitchFamily="49" charset="-122"/>
              </a:rPr>
              <a:t>寄存器变量的分配方式是</a:t>
            </a: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</a:rPr>
              <a:t>动态分配</a:t>
            </a:r>
            <a:r>
              <a:rPr lang="zh-CN" altLang="en-US" b="1" dirty="0">
                <a:latin typeface="黑体" pitchFamily="49" charset="-122"/>
              </a:rPr>
              <a:t>的</a:t>
            </a:r>
          </a:p>
          <a:p>
            <a:pPr marL="587375" lvl="1" indent="-22860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latin typeface="黑体" pitchFamily="49" charset="-122"/>
              </a:rPr>
              <a:t>由于</a:t>
            </a:r>
            <a:r>
              <a:rPr lang="zh-CN" altLang="zh-CN" b="1" dirty="0">
                <a:latin typeface="黑体" pitchFamily="49" charset="-122"/>
              </a:rPr>
              <a:t>CPU</a:t>
            </a:r>
            <a:r>
              <a:rPr lang="zh-CN" altLang="en-US" b="1" dirty="0">
                <a:latin typeface="黑体" pitchFamily="49" charset="-122"/>
              </a:rPr>
              <a:t>中寄存器数目有限</a:t>
            </a:r>
            <a:r>
              <a:rPr lang="zh-CN" altLang="zh-CN" b="1" dirty="0">
                <a:latin typeface="Times New Roman" pitchFamily="18" charset="0"/>
              </a:rPr>
              <a:t>, </a:t>
            </a:r>
            <a:r>
              <a:rPr lang="zh-CN" altLang="en-US" b="1" dirty="0">
                <a:latin typeface="黑体" pitchFamily="49" charset="-122"/>
              </a:rPr>
              <a:t>通常只把</a:t>
            </a: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</a:rPr>
              <a:t>少数使用频繁</a:t>
            </a:r>
            <a:r>
              <a:rPr lang="zh-CN" altLang="en-US" b="1" dirty="0">
                <a:latin typeface="黑体" pitchFamily="49" charset="-122"/>
              </a:rPr>
              <a:t>的变量定义为寄存器变量。对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超出寄存器数目的寄存器变量按自动变量处理</a:t>
            </a:r>
            <a:r>
              <a:rPr lang="zh-CN" altLang="en-US" b="1" dirty="0">
                <a:latin typeface="黑体" pitchFamily="49" charset="-122"/>
              </a:rPr>
              <a:t>。</a:t>
            </a:r>
          </a:p>
        </p:txBody>
      </p:sp>
      <p:sp>
        <p:nvSpPr>
          <p:cNvPr id="49869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208214" y="692150"/>
            <a:ext cx="358775" cy="241300"/>
          </a:xfrm>
          <a:prstGeom prst="actionButtonBackPrevious">
            <a:avLst/>
          </a:prstGeom>
          <a:noFill/>
          <a:ln w="0" cmpd="sng">
            <a:solidFill>
              <a:srgbClr val="00009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43278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00376" y="158751"/>
            <a:ext cx="7350125" cy="684213"/>
          </a:xfrm>
        </p:spPr>
        <p:txBody>
          <a:bodyPr/>
          <a:lstStyle/>
          <a:p>
            <a:r>
              <a:rPr lang="en-US" altLang="zh-CN" sz="3600">
                <a:latin typeface="楷体_GB2312" pitchFamily="49" charset="-122"/>
              </a:rPr>
              <a:t>2</a:t>
            </a:r>
            <a:r>
              <a:rPr lang="zh-CN" altLang="zh-CN" sz="3600">
                <a:latin typeface="楷体_GB2312" pitchFamily="49" charset="-122"/>
              </a:rPr>
              <a:t>. </a:t>
            </a:r>
            <a:r>
              <a:rPr lang="zh-CN" altLang="en-US" sz="3600">
                <a:latin typeface="楷体_GB2312" pitchFamily="49" charset="-122"/>
              </a:rPr>
              <a:t>寄存器变量（</a:t>
            </a:r>
            <a:r>
              <a:rPr lang="zh-CN" altLang="zh-CN" sz="3600">
                <a:latin typeface="楷体_GB2312" pitchFamily="49" charset="-122"/>
              </a:rPr>
              <a:t>register</a:t>
            </a:r>
            <a:r>
              <a:rPr lang="zh-CN" altLang="en-US" sz="3600">
                <a:latin typeface="楷体_GB2312" pitchFamily="49" charset="-122"/>
              </a:rPr>
              <a:t>）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412776"/>
            <a:ext cx="8416925" cy="4889500"/>
          </a:xfrm>
        </p:spPr>
        <p:txBody>
          <a:bodyPr/>
          <a:lstStyle/>
          <a:p>
            <a:pPr marL="587375" lvl="1" indent="-22860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3600" b="1" dirty="0">
                <a:latin typeface="黑体" pitchFamily="49" charset="-122"/>
              </a:rPr>
              <a:t>除了所占的存储空间的位置不同外，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寄存器变量与自动型变量的其它特点都是一样</a:t>
            </a:r>
            <a:r>
              <a:rPr lang="zh-CN" altLang="en-US" sz="3600" b="1" dirty="0">
                <a:latin typeface="黑体" pitchFamily="49" charset="-122"/>
              </a:rPr>
              <a:t>。</a:t>
            </a:r>
            <a:endParaRPr lang="en-US" altLang="zh-CN" sz="3600" b="1" dirty="0">
              <a:latin typeface="黑体" pitchFamily="49" charset="-122"/>
            </a:endParaRPr>
          </a:p>
          <a:p>
            <a:pPr marL="587375" lvl="1" indent="-22860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3600" b="1">
                <a:latin typeface="黑体" pitchFamily="49" charset="-122"/>
              </a:rPr>
              <a:t>由于当前的</a:t>
            </a:r>
            <a:r>
              <a:rPr lang="zh-CN" altLang="en-US" sz="3600" b="1" dirty="0">
                <a:latin typeface="黑体" pitchFamily="49" charset="-122"/>
              </a:rPr>
              <a:t>编译器都具有自动优化的功能，所以用户一般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不需要主动定义寄存器变量</a:t>
            </a:r>
            <a:r>
              <a:rPr lang="zh-CN" altLang="en-US" sz="3600" b="1" dirty="0">
                <a:latin typeface="黑体" pitchFamily="49" charset="-122"/>
              </a:rPr>
              <a:t>。</a:t>
            </a:r>
          </a:p>
        </p:txBody>
      </p:sp>
      <p:sp>
        <p:nvSpPr>
          <p:cNvPr id="49869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208214" y="692150"/>
            <a:ext cx="358775" cy="241300"/>
          </a:xfrm>
          <a:prstGeom prst="actionButtonBackPrevious">
            <a:avLst/>
          </a:prstGeom>
          <a:noFill/>
          <a:ln w="0" cmpd="sng">
            <a:solidFill>
              <a:srgbClr val="00009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467762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3625" y="144463"/>
            <a:ext cx="7793038" cy="641350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6.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8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求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n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!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的函数</a:t>
            </a:r>
          </a:p>
        </p:txBody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980728"/>
            <a:ext cx="8712968" cy="4687888"/>
          </a:xfr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ct val="10000"/>
              </a:spcBef>
              <a:buNone/>
            </a:pPr>
            <a:r>
              <a:rPr lang="zh-CN" altLang="zh-CN" sz="2800" b="1" dirty="0"/>
              <a:t>int  fact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1800" b="1" dirty="0">
                <a:latin typeface="Times New Roman" pitchFamily="18" charset="0"/>
              </a:rPr>
              <a:t> </a:t>
            </a:r>
            <a:r>
              <a:rPr lang="zh-CN" altLang="zh-CN" sz="2800" b="1" dirty="0"/>
              <a:t>int  n</a:t>
            </a:r>
            <a:r>
              <a:rPr lang="zh-CN" altLang="zh-CN" sz="14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zh-CN" sz="2800" b="1" dirty="0"/>
              <a:t>{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</a:t>
            </a:r>
            <a:r>
              <a:rPr lang="zh-CN" altLang="zh-CN" sz="2800" b="1" dirty="0">
                <a:solidFill>
                  <a:srgbClr val="0031CE"/>
                </a:solidFill>
              </a:rPr>
              <a:t>  int  i</a:t>
            </a:r>
            <a:r>
              <a:rPr lang="zh-CN" altLang="zh-CN" sz="2800" b="1" dirty="0">
                <a:solidFill>
                  <a:srgbClr val="0031CE"/>
                </a:solidFill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rgbClr val="0031CE"/>
                </a:solidFill>
              </a:rPr>
              <a:t> f=1</a:t>
            </a:r>
            <a:r>
              <a:rPr lang="zh-CN" altLang="zh-CN" sz="2800" b="1" dirty="0">
                <a:solidFill>
                  <a:srgbClr val="0031CE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/>
              <a:t>      </a:t>
            </a:r>
            <a:r>
              <a:rPr lang="zh-CN" altLang="zh-CN" sz="2800" b="1" dirty="0">
                <a:latin typeface="黑体" pitchFamily="49" charset="-122"/>
              </a:rPr>
              <a:t>//</a:t>
            </a:r>
            <a:r>
              <a:rPr lang="zh-CN" altLang="en-US" sz="2800" b="1" dirty="0">
                <a:latin typeface="黑体" pitchFamily="49" charset="-122"/>
              </a:rPr>
              <a:t>定义</a:t>
            </a:r>
            <a:r>
              <a:rPr lang="zh-CN" altLang="zh-CN" sz="2800" b="1" dirty="0"/>
              <a:t>i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f</a:t>
            </a:r>
            <a:r>
              <a:rPr lang="zh-CN" altLang="en-US" sz="2800" b="1" dirty="0">
                <a:latin typeface="黑体" pitchFamily="49" charset="-122"/>
              </a:rPr>
              <a:t>为寄存器变量</a:t>
            </a:r>
            <a:br>
              <a:rPr lang="zh-CN" altLang="en-US" sz="2800" b="1" dirty="0">
                <a:latin typeface="黑体" pitchFamily="49" charset="-122"/>
              </a:rPr>
            </a:br>
            <a:r>
              <a:rPr lang="zh-CN" altLang="en-US" sz="2800" b="1" dirty="0"/>
              <a:t>   </a:t>
            </a:r>
            <a:r>
              <a:rPr lang="zh-CN" altLang="zh-CN" sz="2800" b="1" dirty="0"/>
              <a:t>for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 i=1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=n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b="1" dirty="0">
                <a:latin typeface="Times New Roman" pitchFamily="18" charset="0"/>
              </a:rPr>
              <a:t>++)</a:t>
            </a:r>
            <a:br>
              <a:rPr lang="zh-CN" altLang="zh-CN" sz="2800" b="1" dirty="0"/>
            </a:br>
            <a:r>
              <a:rPr lang="zh-CN" altLang="zh-CN" sz="2800" b="1" dirty="0"/>
              <a:t>           f=f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i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br>
              <a:rPr lang="zh-CN" altLang="zh-CN" sz="2800" b="1" dirty="0"/>
            </a:br>
            <a:r>
              <a:rPr lang="zh-CN" altLang="zh-CN" sz="2800" b="1" dirty="0"/>
              <a:t>   return  f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800" b="1" dirty="0"/>
              <a:t>}</a:t>
            </a:r>
          </a:p>
          <a:p>
            <a:pPr marL="0" indent="0">
              <a:lnSpc>
                <a:spcPct val="115000"/>
              </a:lnSpc>
              <a:spcBef>
                <a:spcPct val="10000"/>
              </a:spcBef>
              <a:buNone/>
            </a:pPr>
            <a:r>
              <a:rPr lang="zh-CN" altLang="zh-CN" sz="2800" b="1" dirty="0"/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  <a:p>
            <a:pPr marL="0" indent="0">
              <a:lnSpc>
                <a:spcPct val="115000"/>
              </a:lnSpc>
              <a:spcBef>
                <a:spcPct val="10000"/>
              </a:spcBef>
              <a:buNone/>
            </a:pPr>
            <a:r>
              <a:rPr lang="zh-CN" altLang="zh-CN" sz="2800" b="1" dirty="0"/>
              <a:t>{ int  k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ct val="10000"/>
              </a:spcBef>
              <a:buNone/>
            </a:pPr>
            <a:r>
              <a:rPr lang="zh-CN" altLang="zh-CN" sz="2800" b="1" dirty="0"/>
              <a:t>   for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 k=1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k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=5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k</a:t>
            </a:r>
            <a:r>
              <a:rPr lang="zh-CN" altLang="zh-CN" sz="2800" b="1" dirty="0">
                <a:latin typeface="Times New Roman" pitchFamily="18" charset="0"/>
              </a:rPr>
              <a:t>++)</a:t>
            </a:r>
          </a:p>
          <a:p>
            <a:pPr marL="0" indent="0">
              <a:lnSpc>
                <a:spcPct val="115000"/>
              </a:lnSpc>
              <a:spcBef>
                <a:spcPct val="10000"/>
              </a:spcBef>
              <a:buNone/>
            </a:pPr>
            <a:r>
              <a:rPr lang="zh-CN" altLang="zh-CN" sz="2800" b="1" dirty="0"/>
              <a:t>      printf</a:t>
            </a:r>
            <a:r>
              <a:rPr lang="zh-CN" altLang="zh-CN" sz="2800" b="1" dirty="0">
                <a:latin typeface="Times New Roman" pitchFamily="18" charset="0"/>
              </a:rPr>
              <a:t>( “</a:t>
            </a:r>
            <a:r>
              <a:rPr lang="zh-CN" altLang="zh-CN" sz="2800" b="1" dirty="0"/>
              <a:t>%d!=%d</a:t>
            </a:r>
            <a:r>
              <a:rPr lang="zh-CN" altLang="zh-CN" sz="2800" dirty="0"/>
              <a:t>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 pitchFamily="18" charset="0"/>
              </a:rPr>
              <a:t>”,</a:t>
            </a:r>
            <a:r>
              <a:rPr lang="zh-CN" altLang="zh-CN" sz="2800" b="1" dirty="0"/>
              <a:t> k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fact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k</a:t>
            </a:r>
            <a:r>
              <a:rPr lang="zh-CN" altLang="zh-CN" sz="2800" b="1" dirty="0">
                <a:latin typeface="Times New Roman" pitchFamily="18" charset="0"/>
              </a:rPr>
              <a:t>) );</a:t>
            </a:r>
          </a:p>
          <a:p>
            <a:pPr marL="0" indent="0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zh-CN" sz="2800" b="1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08666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229101" y="141288"/>
            <a:ext cx="5021263" cy="614362"/>
          </a:xfrm>
        </p:spPr>
        <p:txBody>
          <a:bodyPr/>
          <a:lstStyle/>
          <a:p>
            <a:r>
              <a:rPr lang="en-US" altLang="zh-CN" sz="3600">
                <a:latin typeface="楷体_GB2312" pitchFamily="49" charset="-122"/>
              </a:rPr>
              <a:t>3</a:t>
            </a:r>
            <a:r>
              <a:rPr lang="zh-CN" altLang="en-US" sz="3600">
                <a:latin typeface="楷体_GB2312" pitchFamily="49" charset="-122"/>
              </a:rPr>
              <a:t>、静态变量</a:t>
            </a:r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1189" y="1412776"/>
            <a:ext cx="8471345" cy="4370388"/>
          </a:xfrm>
        </p:spPr>
        <p:txBody>
          <a:bodyPr/>
          <a:lstStyle/>
          <a:p>
            <a:pPr marL="280988" indent="-280988" algn="just">
              <a:lnSpc>
                <a:spcPct val="125000"/>
              </a:lnSpc>
              <a:spcBef>
                <a:spcPct val="70000"/>
              </a:spcBef>
              <a:buSzPct val="50000"/>
            </a:pPr>
            <a:r>
              <a:rPr lang="zh-CN" altLang="en-US" sz="3600" b="1" dirty="0">
                <a:latin typeface="黑体" pitchFamily="49" charset="-122"/>
              </a:rPr>
              <a:t>在局部变量前加上关键字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static</a:t>
            </a:r>
            <a:r>
              <a:rPr lang="zh-CN" altLang="zh-CN" sz="3600" b="1" dirty="0">
                <a:latin typeface="Times New Roman" pitchFamily="18" charset="0"/>
              </a:rPr>
              <a:t>,  </a:t>
            </a:r>
            <a:r>
              <a:rPr lang="zh-CN" altLang="en-US" sz="3600" b="1" dirty="0">
                <a:latin typeface="黑体" pitchFamily="49" charset="-122"/>
              </a:rPr>
              <a:t>称为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静态局部变量</a:t>
            </a:r>
            <a:r>
              <a:rPr lang="zh-CN" altLang="en-US" sz="3600" b="1" dirty="0">
                <a:latin typeface="黑体" pitchFamily="49" charset="-122"/>
              </a:rPr>
              <a:t>。</a:t>
            </a:r>
          </a:p>
          <a:p>
            <a:pPr marL="280988" indent="-280988" algn="just">
              <a:lnSpc>
                <a:spcPct val="125000"/>
              </a:lnSpc>
              <a:spcBef>
                <a:spcPct val="65000"/>
              </a:spcBef>
              <a:buSzPct val="50000"/>
            </a:pPr>
            <a:endParaRPr lang="en-US" altLang="zh-CN" sz="3600" b="1" dirty="0">
              <a:latin typeface="黑体" pitchFamily="49" charset="-122"/>
            </a:endParaRPr>
          </a:p>
          <a:p>
            <a:pPr marL="280988" indent="-280988" algn="just">
              <a:lnSpc>
                <a:spcPct val="125000"/>
              </a:lnSpc>
              <a:spcBef>
                <a:spcPct val="65000"/>
              </a:spcBef>
              <a:buSzPct val="50000"/>
            </a:pPr>
            <a:r>
              <a:rPr lang="zh-CN" altLang="en-US" sz="3600" b="1" dirty="0">
                <a:latin typeface="黑体" pitchFamily="49" charset="-122"/>
              </a:rPr>
              <a:t>静态局部变量存放在静态存储区。其初始值默认为</a:t>
            </a:r>
            <a:r>
              <a:rPr lang="en-US" altLang="zh-CN" sz="3600" b="1" dirty="0">
                <a:latin typeface="黑体" pitchFamily="49" charset="-122"/>
              </a:rPr>
              <a:t>:</a:t>
            </a:r>
            <a:r>
              <a:rPr lang="en-US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0</a:t>
            </a: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837973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229101" y="141288"/>
            <a:ext cx="5021263" cy="614362"/>
          </a:xfrm>
        </p:spPr>
        <p:txBody>
          <a:bodyPr/>
          <a:lstStyle/>
          <a:p>
            <a:r>
              <a:rPr lang="en-US" altLang="zh-CN" sz="3600">
                <a:latin typeface="楷体_GB2312" pitchFamily="49" charset="-122"/>
              </a:rPr>
              <a:t>3</a:t>
            </a:r>
            <a:r>
              <a:rPr lang="zh-CN" altLang="en-US" sz="3600">
                <a:latin typeface="楷体_GB2312" pitchFamily="49" charset="-122"/>
              </a:rPr>
              <a:t>、静态变量</a:t>
            </a:r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9151" y="1254125"/>
            <a:ext cx="8471345" cy="4370388"/>
          </a:xfrm>
        </p:spPr>
        <p:txBody>
          <a:bodyPr/>
          <a:lstStyle/>
          <a:p>
            <a:pPr lvl="1" algn="just">
              <a:lnSpc>
                <a:spcPct val="125000"/>
              </a:lnSpc>
              <a:spcBef>
                <a:spcPct val="65000"/>
              </a:spcBef>
              <a:buSzPct val="50000"/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定义点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: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函数内部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复合语句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)</a:t>
            </a:r>
          </a:p>
          <a:p>
            <a:pPr lvl="1" algn="just">
              <a:lnSpc>
                <a:spcPct val="125000"/>
              </a:lnSpc>
              <a:spcBef>
                <a:spcPct val="65000"/>
              </a:spcBef>
              <a:buSzPct val="50000"/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作用域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: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定义的函数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复合语句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)</a:t>
            </a:r>
          </a:p>
          <a:p>
            <a:pPr lvl="1" algn="just">
              <a:lnSpc>
                <a:spcPct val="125000"/>
              </a:lnSpc>
              <a:spcBef>
                <a:spcPct val="65000"/>
              </a:spcBef>
              <a:buSzPct val="50000"/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生命期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: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同程序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(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静态存储期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,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其定义和初始化语句是在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编译时完成的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.)</a:t>
            </a:r>
          </a:p>
        </p:txBody>
      </p:sp>
      <p:sp>
        <p:nvSpPr>
          <p:cNvPr id="49459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298700" y="698501"/>
            <a:ext cx="357188" cy="295275"/>
          </a:xfrm>
          <a:prstGeom prst="actionButtonForwardNext">
            <a:avLst/>
          </a:prstGeom>
          <a:noFill/>
          <a:ln w="0" cmpd="sng">
            <a:solidFill>
              <a:srgbClr val="002BB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94597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881189" y="333376"/>
            <a:ext cx="344487" cy="358775"/>
          </a:xfrm>
          <a:prstGeom prst="actionButtonBackPrevious">
            <a:avLst/>
          </a:prstGeom>
          <a:noFill/>
          <a:ln w="0" cmpd="sng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7187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78064" y="176214"/>
            <a:ext cx="7793037" cy="547687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静态变量举例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</a:t>
            </a:r>
          </a:p>
        </p:txBody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4701" y="1038226"/>
            <a:ext cx="8488363" cy="5146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</a:extLst>
        </p:spPr>
        <p:txBody>
          <a:bodyPr/>
          <a:lstStyle/>
          <a:p>
            <a:pPr marL="0" indent="0">
              <a:lnSpc>
                <a:spcPct val="105000"/>
              </a:lnSpc>
              <a:spcBef>
                <a:spcPct val="25000"/>
              </a:spcBef>
              <a:buNone/>
            </a:pPr>
            <a:r>
              <a:rPr lang="zh-CN" altLang="zh-CN" sz="2400" b="1"/>
              <a:t>#include &lt;stdio</a:t>
            </a:r>
            <a:r>
              <a:rPr lang="zh-CN" altLang="zh-CN" sz="2400" b="1">
                <a:latin typeface="Times New Roman" pitchFamily="18" charset="0"/>
              </a:rPr>
              <a:t>.</a:t>
            </a:r>
            <a:r>
              <a:rPr lang="zh-CN" altLang="zh-CN" sz="2400" b="1"/>
              <a:t>h&gt;</a:t>
            </a:r>
            <a:r>
              <a:rPr lang="zh-CN" altLang="zh-CN" sz="2800" b="1"/>
              <a:t> </a:t>
            </a:r>
          </a:p>
          <a:p>
            <a:pPr marL="0" indent="0">
              <a:lnSpc>
                <a:spcPct val="105000"/>
              </a:lnSpc>
              <a:spcBef>
                <a:spcPct val="25000"/>
              </a:spcBef>
              <a:buNone/>
            </a:pPr>
            <a:r>
              <a:rPr lang="zh-CN" altLang="zh-CN" sz="2400" b="1"/>
              <a:t>void  f</a:t>
            </a:r>
            <a:r>
              <a:rPr lang="zh-CN" altLang="zh-CN" sz="2400" b="1">
                <a:latin typeface="Times New Roman" pitchFamily="18" charset="0"/>
              </a:rPr>
              <a:t>(</a:t>
            </a:r>
            <a:r>
              <a:rPr lang="zh-CN" altLang="zh-CN" sz="2400" b="1"/>
              <a:t> int  c </a:t>
            </a:r>
            <a:r>
              <a:rPr lang="zh-CN" altLang="zh-CN" sz="2400" b="1">
                <a:latin typeface="Times New Roman" pitchFamily="18" charset="0"/>
              </a:rPr>
              <a:t>)</a:t>
            </a:r>
            <a:br>
              <a:rPr lang="zh-CN" altLang="zh-CN" sz="2400" b="1">
                <a:latin typeface="Times New Roman" pitchFamily="18" charset="0"/>
              </a:rPr>
            </a:br>
            <a:r>
              <a:rPr lang="zh-CN" altLang="zh-CN" sz="2800" b="1">
                <a:latin typeface="Times New Roman" pitchFamily="18" charset="0"/>
              </a:rPr>
              <a:t> </a:t>
            </a:r>
            <a:r>
              <a:rPr lang="zh-CN" altLang="zh-CN" sz="2400" b="1"/>
              <a:t>{ int  a=0 </a:t>
            </a:r>
            <a:r>
              <a:rPr lang="zh-CN" altLang="zh-CN" sz="2400" b="1">
                <a:latin typeface="Times New Roman" pitchFamily="18" charset="0"/>
              </a:rPr>
              <a:t>;</a:t>
            </a:r>
            <a:r>
              <a:rPr lang="zh-CN" altLang="zh-CN" sz="2800" b="1"/>
              <a:t> </a:t>
            </a:r>
            <a:r>
              <a:rPr lang="zh-CN" altLang="zh-CN" sz="2000" b="1">
                <a:latin typeface="黑体" pitchFamily="49" charset="-122"/>
              </a:rPr>
              <a:t>//</a:t>
            </a:r>
            <a:r>
              <a:rPr lang="zh-CN" altLang="en-US" sz="2000" b="1">
                <a:latin typeface="黑体" pitchFamily="49" charset="-122"/>
              </a:rPr>
              <a:t>每次调用时</a:t>
            </a:r>
            <a:r>
              <a:rPr lang="zh-CN" altLang="zh-CN" sz="2000" b="1">
                <a:latin typeface="Times New Roman" pitchFamily="18" charset="0"/>
              </a:rPr>
              <a:t>, </a:t>
            </a:r>
            <a:r>
              <a:rPr lang="zh-CN" altLang="en-US" sz="2000" b="1">
                <a:latin typeface="黑体" pitchFamily="49" charset="-122"/>
              </a:rPr>
              <a:t>都会对变量</a:t>
            </a:r>
            <a:r>
              <a:rPr lang="zh-CN" altLang="zh-CN" sz="2000" b="1"/>
              <a:t>a</a:t>
            </a:r>
            <a:r>
              <a:rPr lang="zh-CN" altLang="en-US" sz="2000" b="1">
                <a:latin typeface="黑体" pitchFamily="49" charset="-122"/>
              </a:rPr>
              <a:t>初始化</a:t>
            </a:r>
            <a:r>
              <a:rPr lang="zh-CN" altLang="zh-CN" sz="2000" b="1">
                <a:latin typeface="Times New Roman" pitchFamily="18" charset="0"/>
              </a:rPr>
              <a:t>, </a:t>
            </a:r>
            <a:r>
              <a:rPr lang="zh-CN" altLang="en-US" sz="2000" b="1">
                <a:latin typeface="黑体" pitchFamily="49" charset="-122"/>
              </a:rPr>
              <a:t>不保留上一次的值</a:t>
            </a:r>
            <a:endParaRPr lang="zh-CN" altLang="en-US" sz="2800" b="1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b="1"/>
              <a:t>    </a:t>
            </a:r>
            <a:r>
              <a:rPr lang="zh-CN" altLang="zh-CN" sz="2400" b="1">
                <a:solidFill>
                  <a:srgbClr val="C00000"/>
                </a:solidFill>
              </a:rPr>
              <a:t>static</a:t>
            </a:r>
            <a:r>
              <a:rPr lang="zh-CN" altLang="zh-CN" sz="2400" b="1"/>
              <a:t>  int  b=0</a:t>
            </a:r>
            <a:r>
              <a:rPr lang="zh-CN" altLang="zh-CN" sz="2400" b="1">
                <a:latin typeface="Times New Roman" pitchFamily="18" charset="0"/>
              </a:rPr>
              <a:t>;</a:t>
            </a:r>
            <a:r>
              <a:rPr lang="zh-CN" altLang="zh-CN" sz="2800" b="1"/>
              <a:t> </a:t>
            </a:r>
            <a:r>
              <a:rPr lang="zh-CN" altLang="zh-CN" sz="2000" b="1">
                <a:latin typeface="黑体" pitchFamily="49" charset="-122"/>
              </a:rPr>
              <a:t>//</a:t>
            </a:r>
            <a:r>
              <a:rPr lang="zh-CN" altLang="en-US" sz="2000" b="1">
                <a:latin typeface="黑体" pitchFamily="49" charset="-122"/>
              </a:rPr>
              <a:t>只对静态局部变量</a:t>
            </a:r>
            <a:r>
              <a:rPr lang="zh-CN" altLang="zh-CN" sz="2000" b="1">
                <a:latin typeface="黑体" pitchFamily="49" charset="-122"/>
              </a:rPr>
              <a:t>b</a:t>
            </a:r>
            <a:r>
              <a:rPr lang="zh-CN" altLang="en-US" sz="2000" b="1">
                <a:latin typeface="黑体" pitchFamily="49" charset="-122"/>
              </a:rPr>
              <a:t>初始化一次</a:t>
            </a:r>
            <a:endParaRPr lang="zh-CN" altLang="en-US" sz="2000" b="1"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en-US" sz="2800" b="1"/>
              <a:t>    </a:t>
            </a:r>
            <a:r>
              <a:rPr lang="zh-CN" altLang="zh-CN" sz="2400" b="1"/>
              <a:t>a</a:t>
            </a:r>
            <a:r>
              <a:rPr lang="zh-CN" altLang="zh-CN" sz="2400"/>
              <a:t>++</a:t>
            </a:r>
            <a:r>
              <a:rPr lang="zh-CN" altLang="zh-CN" sz="2400" b="1">
                <a:latin typeface="Times New Roman" pitchFamily="18" charset="0"/>
              </a:rPr>
              <a:t>;    </a:t>
            </a:r>
            <a:r>
              <a:rPr lang="zh-CN" altLang="zh-CN" sz="2400" b="1"/>
              <a:t>b</a:t>
            </a:r>
            <a:r>
              <a:rPr lang="zh-CN" altLang="zh-CN" sz="2400"/>
              <a:t>++</a:t>
            </a:r>
            <a:r>
              <a:rPr lang="zh-CN" altLang="zh-CN" sz="2400" b="1">
                <a:latin typeface="Times New Roman" pitchFamily="18" charset="0"/>
              </a:rPr>
              <a:t>;</a:t>
            </a:r>
            <a:r>
              <a:rPr lang="zh-CN" altLang="zh-CN" sz="2400" b="1"/>
              <a:t> </a:t>
            </a:r>
          </a:p>
          <a:p>
            <a:pPr marL="0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zh-CN" sz="2400" b="1">
                <a:solidFill>
                  <a:srgbClr val="E03500"/>
                </a:solidFill>
              </a:rPr>
              <a:t>     </a:t>
            </a:r>
            <a:r>
              <a:rPr lang="zh-CN" altLang="zh-CN" sz="2400" b="1">
                <a:solidFill>
                  <a:srgbClr val="C00000"/>
                </a:solidFill>
              </a:rPr>
              <a:t>printf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(“</a:t>
            </a:r>
            <a:r>
              <a:rPr lang="zh-CN" altLang="zh-CN" sz="2400" b="1">
                <a:solidFill>
                  <a:srgbClr val="C00000"/>
                </a:solidFill>
              </a:rPr>
              <a:t>%d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: </a:t>
            </a:r>
            <a:r>
              <a:rPr lang="zh-CN" altLang="zh-CN" sz="2400" b="1">
                <a:solidFill>
                  <a:srgbClr val="C00000"/>
                </a:solidFill>
              </a:rPr>
              <a:t>a=%d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, </a:t>
            </a:r>
            <a:r>
              <a:rPr lang="zh-CN" altLang="zh-CN" sz="2400" b="1">
                <a:solidFill>
                  <a:srgbClr val="C00000"/>
                </a:solidFill>
              </a:rPr>
              <a:t>b=%d</a:t>
            </a:r>
            <a:r>
              <a:rPr lang="zh-CN" altLang="zh-CN" sz="2400">
                <a:solidFill>
                  <a:srgbClr val="C00000"/>
                </a:solidFill>
              </a:rPr>
              <a:t>\</a:t>
            </a:r>
            <a:r>
              <a:rPr lang="zh-CN" altLang="zh-CN" sz="2400" b="1">
                <a:solidFill>
                  <a:srgbClr val="C00000"/>
                </a:solidFill>
              </a:rPr>
              <a:t>n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”,</a:t>
            </a:r>
            <a:r>
              <a:rPr lang="zh-CN" altLang="zh-CN" sz="2400" b="1">
                <a:solidFill>
                  <a:srgbClr val="C00000"/>
                </a:solidFill>
              </a:rPr>
              <a:t> c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,</a:t>
            </a:r>
            <a:r>
              <a:rPr lang="zh-CN" altLang="zh-CN" sz="2400" b="1">
                <a:solidFill>
                  <a:srgbClr val="C00000"/>
                </a:solidFill>
              </a:rPr>
              <a:t> a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,</a:t>
            </a:r>
            <a:r>
              <a:rPr lang="zh-CN" altLang="zh-CN" sz="2400" b="1">
                <a:solidFill>
                  <a:srgbClr val="C00000"/>
                </a:solidFill>
              </a:rPr>
              <a:t> b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);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zh-CN" sz="2400" b="1"/>
              <a:t> }</a:t>
            </a:r>
          </a:p>
          <a:p>
            <a:pPr marL="0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zh-CN" sz="2400" b="1"/>
              <a:t>main</a:t>
            </a:r>
            <a:r>
              <a:rPr lang="zh-CN" altLang="zh-CN" sz="2400" b="1">
                <a:latin typeface="Times New Roman" pitchFamily="18" charset="0"/>
              </a:rPr>
              <a:t>( )</a:t>
            </a:r>
          </a:p>
          <a:p>
            <a:pPr marL="0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zh-CN" sz="2400" b="1"/>
              <a:t> { int  i </a:t>
            </a:r>
            <a:r>
              <a:rPr lang="zh-CN" altLang="zh-CN" sz="2400" b="1">
                <a:latin typeface="Times New Roman" pitchFamily="18" charset="0"/>
              </a:rPr>
              <a:t>;</a:t>
            </a:r>
          </a:p>
          <a:p>
            <a:pPr marL="0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zh-CN" sz="2400" b="1"/>
              <a:t>    for</a:t>
            </a:r>
            <a:r>
              <a:rPr lang="zh-CN" altLang="zh-CN" sz="2400" b="1">
                <a:latin typeface="Times New Roman" pitchFamily="18" charset="0"/>
              </a:rPr>
              <a:t>(</a:t>
            </a:r>
            <a:r>
              <a:rPr lang="zh-CN" altLang="zh-CN" sz="2400" b="1"/>
              <a:t> i=1</a:t>
            </a:r>
            <a:r>
              <a:rPr lang="zh-CN" altLang="zh-CN" sz="2400" b="1">
                <a:latin typeface="Times New Roman" pitchFamily="18" charset="0"/>
              </a:rPr>
              <a:t>; </a:t>
            </a:r>
            <a:r>
              <a:rPr lang="zh-CN" altLang="zh-CN" sz="2400" b="1"/>
              <a:t>i</a:t>
            </a:r>
            <a:r>
              <a:rPr lang="zh-CN" altLang="zh-CN" sz="2400"/>
              <a:t>&lt;</a:t>
            </a:r>
            <a:r>
              <a:rPr lang="zh-CN" altLang="zh-CN" sz="2400" b="1"/>
              <a:t>=2</a:t>
            </a:r>
            <a:r>
              <a:rPr lang="zh-CN" altLang="zh-CN" sz="2400" b="1">
                <a:latin typeface="Times New Roman" pitchFamily="18" charset="0"/>
              </a:rPr>
              <a:t>; </a:t>
            </a:r>
            <a:r>
              <a:rPr lang="zh-CN" altLang="zh-CN" sz="2400" b="1"/>
              <a:t>i++</a:t>
            </a:r>
            <a:r>
              <a:rPr lang="zh-CN" altLang="zh-CN" sz="2400" b="1">
                <a:latin typeface="Times New Roman" pitchFamily="18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zh-CN" sz="2800" b="1"/>
              <a:t>        </a:t>
            </a:r>
            <a:r>
              <a:rPr lang="zh-CN" altLang="zh-CN" sz="2400" b="1">
                <a:solidFill>
                  <a:srgbClr val="C00000"/>
                </a:solidFill>
              </a:rPr>
              <a:t>f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zh-CN" altLang="zh-CN" sz="2400" b="1">
                <a:solidFill>
                  <a:srgbClr val="C00000"/>
                </a:solidFill>
              </a:rPr>
              <a:t>i</a:t>
            </a:r>
            <a:r>
              <a:rPr lang="zh-CN" altLang="zh-CN" sz="2400" b="1">
                <a:solidFill>
                  <a:srgbClr val="C00000"/>
                </a:solidFill>
                <a:latin typeface="Times New Roman" pitchFamily="18" charset="0"/>
              </a:rPr>
              <a:t>);</a:t>
            </a:r>
            <a:r>
              <a:rPr lang="zh-CN" altLang="zh-CN" sz="2800" b="1">
                <a:solidFill>
                  <a:srgbClr val="CE3100"/>
                </a:solidFill>
                <a:latin typeface="Times New Roman" pitchFamily="18" charset="0"/>
              </a:rPr>
              <a:t>        </a:t>
            </a:r>
            <a:r>
              <a:rPr lang="zh-CN" altLang="zh-CN" sz="2000" b="1">
                <a:latin typeface="黑体" pitchFamily="49" charset="-122"/>
              </a:rPr>
              <a:t>//</a:t>
            </a:r>
            <a:r>
              <a:rPr lang="zh-CN" altLang="en-US" sz="2000" b="1">
                <a:latin typeface="黑体" pitchFamily="49" charset="-122"/>
              </a:rPr>
              <a:t>调用两次函数</a:t>
            </a:r>
            <a:endParaRPr lang="zh-CN" altLang="en-US" sz="2800" b="1">
              <a:solidFill>
                <a:srgbClr val="CE3100"/>
              </a:solidFill>
              <a:latin typeface="Times New Roman" pitchFamily="18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en-US" sz="2400" b="1"/>
              <a:t> </a:t>
            </a:r>
            <a:r>
              <a:rPr lang="zh-CN" altLang="zh-CN" sz="2400" b="1"/>
              <a:t>}</a:t>
            </a:r>
          </a:p>
        </p:txBody>
      </p:sp>
      <p:sp>
        <p:nvSpPr>
          <p:cNvPr id="495620" name="Text Box 4"/>
          <p:cNvSpPr txBox="1">
            <a:spLocks noChangeArrowheads="1"/>
          </p:cNvSpPr>
          <p:nvPr/>
        </p:nvSpPr>
        <p:spPr bwMode="auto">
          <a:xfrm>
            <a:off x="8124825" y="260350"/>
            <a:ext cx="1993900" cy="1123950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E03500"/>
            </a:solidFill>
            <a:miter lim="800000"/>
            <a:headEnd/>
            <a:tailEnd/>
          </a:ln>
          <a:effectLst>
            <a:outerShdw dist="8980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E03500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000" b="1">
                <a:solidFill>
                  <a:srgbClr val="E035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15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1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2000" b="1">
                <a:solidFill>
                  <a:srgbClr val="000000"/>
                </a:solidFill>
              </a:rPr>
              <a:t> a=1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000" b="1">
                <a:solidFill>
                  <a:srgbClr val="000000"/>
                </a:solidFill>
              </a:rPr>
              <a:t> b=1</a:t>
            </a:r>
          </a:p>
          <a:p>
            <a:pPr fontAlgn="base">
              <a:spcBef>
                <a:spcPct val="15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2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2000" b="1">
                <a:solidFill>
                  <a:srgbClr val="000000"/>
                </a:solidFill>
              </a:rPr>
              <a:t> a=1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000" b="1">
                <a:solidFill>
                  <a:srgbClr val="000000"/>
                </a:solidFill>
              </a:rPr>
              <a:t> b=2</a:t>
            </a:r>
          </a:p>
        </p:txBody>
      </p:sp>
    </p:spTree>
    <p:extLst>
      <p:ext uri="{BB962C8B-B14F-4D97-AF65-F5344CB8AC3E}">
        <p14:creationId xmlns:p14="http://schemas.microsoft.com/office/powerpoint/2010/main" val="32265752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0" grpId="0" build="p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24101" y="165101"/>
            <a:ext cx="5491163" cy="727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静态变量的特点</a:t>
            </a:r>
            <a:r>
              <a:rPr lang="zh-CN" altLang="zh-CN" sz="3200">
                <a:latin typeface="Courier New" pitchFamily="49" charset="0"/>
              </a:rPr>
              <a:t>: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052736"/>
            <a:ext cx="8037513" cy="4649788"/>
          </a:xfrm>
        </p:spPr>
        <p:txBody>
          <a:bodyPr/>
          <a:lstStyle/>
          <a:p>
            <a:pPr marL="290513" indent="-290513">
              <a:lnSpc>
                <a:spcPct val="120000"/>
              </a:lnSpc>
              <a:spcBef>
                <a:spcPct val="70000"/>
              </a:spcBef>
              <a:buSzPct val="50000"/>
            </a:pPr>
            <a:r>
              <a:rPr lang="zh-CN" altLang="en-US" b="1" dirty="0">
                <a:latin typeface="黑体" pitchFamily="49" charset="-122"/>
              </a:rPr>
              <a:t>静态局部变量和全局变量一样</a:t>
            </a:r>
            <a:r>
              <a:rPr lang="zh-CN" altLang="zh-CN" b="1" dirty="0">
                <a:latin typeface="Times New Roman" pitchFamily="18" charset="0"/>
              </a:rPr>
              <a:t>, </a:t>
            </a:r>
            <a:r>
              <a:rPr lang="zh-CN" altLang="en-US" b="1" dirty="0">
                <a:latin typeface="Times New Roman" pitchFamily="18" charset="0"/>
              </a:rPr>
              <a:t>其定义或初始化的语句是在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编译时</a:t>
            </a:r>
            <a:r>
              <a:rPr lang="zh-CN" altLang="en-US" b="1" dirty="0">
                <a:latin typeface="Times New Roman" pitchFamily="18" charset="0"/>
              </a:rPr>
              <a:t>执行的</a:t>
            </a:r>
            <a:r>
              <a:rPr lang="zh-CN" altLang="zh-CN" b="1" dirty="0">
                <a:latin typeface="Times New Roman" pitchFamily="18" charset="0"/>
              </a:rPr>
              <a:t>, </a:t>
            </a:r>
            <a:r>
              <a:rPr lang="zh-CN" altLang="en-US" b="1" dirty="0">
                <a:latin typeface="黑体" pitchFamily="49" charset="-122"/>
              </a:rPr>
              <a:t>以后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每次函数调用时使用上次函数调用结束时的保留值</a:t>
            </a:r>
            <a:r>
              <a:rPr lang="zh-CN" altLang="en-US" b="1" dirty="0">
                <a:latin typeface="黑体" pitchFamily="49" charset="-122"/>
              </a:rPr>
              <a:t>。</a:t>
            </a:r>
            <a:endParaRPr lang="en-US" altLang="zh-CN" b="1" dirty="0">
              <a:latin typeface="黑体" pitchFamily="49" charset="-122"/>
            </a:endParaRPr>
          </a:p>
          <a:p>
            <a:pPr marL="290513" indent="-290513">
              <a:lnSpc>
                <a:spcPct val="120000"/>
              </a:lnSpc>
              <a:spcBef>
                <a:spcPct val="70000"/>
              </a:spcBef>
              <a:buSzPct val="50000"/>
            </a:pPr>
            <a:r>
              <a:rPr lang="zh-CN" altLang="en-US" b="1" dirty="0">
                <a:latin typeface="黑体" pitchFamily="49" charset="-122"/>
              </a:rPr>
              <a:t>静态变量定义时如不赋初值，系统会自动对数值型静态变量</a:t>
            </a: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</a:rPr>
              <a:t>赋初值</a:t>
            </a:r>
            <a:r>
              <a:rPr lang="zh-CN" altLang="zh-CN" b="1" dirty="0">
                <a:solidFill>
                  <a:srgbClr val="FF0000"/>
                </a:solidFill>
                <a:latin typeface="黑体" pitchFamily="49" charset="-122"/>
              </a:rPr>
              <a:t>0</a:t>
            </a:r>
            <a:r>
              <a:rPr lang="zh-CN" altLang="en-US" b="1" dirty="0">
                <a:latin typeface="黑体" pitchFamily="49" charset="-122"/>
              </a:rPr>
              <a:t>；</a:t>
            </a:r>
            <a:endParaRPr lang="en-US" altLang="zh-CN" b="1" dirty="0">
              <a:latin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164058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24101" y="165101"/>
            <a:ext cx="5491163" cy="727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静态变量的特点</a:t>
            </a:r>
            <a:r>
              <a:rPr lang="zh-CN" altLang="zh-CN" sz="3200">
                <a:latin typeface="Courier New" pitchFamily="49" charset="0"/>
              </a:rPr>
              <a:t>: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052736"/>
            <a:ext cx="8037513" cy="4649788"/>
          </a:xfrm>
        </p:spPr>
        <p:txBody>
          <a:bodyPr/>
          <a:lstStyle/>
          <a:p>
            <a:pPr marL="290513" indent="-290513" algn="just">
              <a:lnSpc>
                <a:spcPct val="115000"/>
              </a:lnSpc>
              <a:spcBef>
                <a:spcPct val="85000"/>
              </a:spcBef>
              <a:buSzPct val="50000"/>
            </a:pPr>
            <a:r>
              <a:rPr lang="zh-CN" altLang="en-US" b="1" dirty="0">
                <a:latin typeface="黑体" pitchFamily="49" charset="-122"/>
              </a:rPr>
              <a:t>静态局部变量作用域还是定义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它的函数（复合语句），</a:t>
            </a:r>
            <a:r>
              <a:rPr lang="zh-CN" altLang="en-US" b="1" dirty="0">
                <a:latin typeface="黑体" pitchFamily="49" charset="-122"/>
              </a:rPr>
              <a:t>仅能为该函数（复合语句）使用，其他函数不能使用和影响它们。</a:t>
            </a:r>
          </a:p>
        </p:txBody>
      </p:sp>
    </p:spTree>
    <p:extLst>
      <p:ext uri="{BB962C8B-B14F-4D97-AF65-F5344CB8AC3E}">
        <p14:creationId xmlns:p14="http://schemas.microsoft.com/office/powerpoint/2010/main" val="217816500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39975" y="295275"/>
            <a:ext cx="7793038" cy="622300"/>
          </a:xfrm>
        </p:spPr>
        <p:txBody>
          <a:bodyPr/>
          <a:lstStyle/>
          <a:p>
            <a:r>
              <a:rPr lang="zh-CN" altLang="en-US" sz="3200" b="1">
                <a:latin typeface="Courier New" pitchFamily="49" charset="0"/>
                <a:ea typeface="楷体_GB2312" pitchFamily="49" charset="-122"/>
              </a:rPr>
              <a:t>自动变量和静态局部变量区别：</a:t>
            </a:r>
          </a:p>
        </p:txBody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4875" y="1377950"/>
            <a:ext cx="7772400" cy="4114800"/>
          </a:xfrm>
        </p:spPr>
        <p:txBody>
          <a:bodyPr/>
          <a:lstStyle/>
          <a:p>
            <a:pPr marL="271463" indent="-271463">
              <a:lnSpc>
                <a:spcPct val="120000"/>
              </a:lnSpc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 dirty="0">
                <a:latin typeface="Courier New" pitchFamily="49" charset="0"/>
                <a:ea typeface="黑体" pitchFamily="49" charset="-122"/>
              </a:rPr>
              <a:t>自动变量在函数调用结束后，将随之被删除，释放变量所占的内存空间，下次再调用该函数时重新定义该变量，因此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黑体" pitchFamily="49" charset="-122"/>
              </a:rPr>
              <a:t>不能保留值</a:t>
            </a:r>
            <a:r>
              <a:rPr lang="zh-CN" altLang="en-US" sz="2800" b="1" dirty="0">
                <a:latin typeface="Courier New" pitchFamily="49" charset="0"/>
                <a:ea typeface="黑体" pitchFamily="49" charset="-122"/>
              </a:rPr>
              <a:t>。</a:t>
            </a:r>
          </a:p>
          <a:p>
            <a:pPr marL="271463" indent="-271463">
              <a:lnSpc>
                <a:spcPct val="120000"/>
              </a:lnSpc>
              <a:buClr>
                <a:srgbClr val="008000"/>
              </a:buClr>
              <a:buSzPct val="45000"/>
              <a:buNone/>
            </a:pPr>
            <a:endParaRPr lang="zh-CN" altLang="en-US" sz="2000" b="1" dirty="0">
              <a:latin typeface="Courier New" pitchFamily="49" charset="0"/>
              <a:ea typeface="黑体" pitchFamily="49" charset="-122"/>
            </a:endParaRPr>
          </a:p>
          <a:p>
            <a:pPr marL="271463" indent="-271463">
              <a:lnSpc>
                <a:spcPct val="120000"/>
              </a:lnSpc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 dirty="0">
                <a:latin typeface="Courier New" pitchFamily="49" charset="0"/>
                <a:ea typeface="黑体" pitchFamily="49" charset="-122"/>
              </a:rPr>
              <a:t>静态变量占用静态存储区，其生命期与程序是</a:t>
            </a:r>
            <a:r>
              <a:rPr lang="zh-CN" altLang="en-US" sz="2800" b="1">
                <a:latin typeface="Courier New" pitchFamily="49" charset="0"/>
                <a:ea typeface="黑体" pitchFamily="49" charset="-122"/>
              </a:rPr>
              <a:t>一样的。</a:t>
            </a:r>
            <a:r>
              <a:rPr lang="zh-CN" altLang="en-US" sz="2800" b="1" dirty="0">
                <a:latin typeface="Courier New" pitchFamily="49" charset="0"/>
                <a:ea typeface="黑体" pitchFamily="49" charset="-122"/>
              </a:rPr>
              <a:t>在定义它的函数调用结束后，它也不删除，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黑体" pitchFamily="49" charset="-122"/>
              </a:rPr>
              <a:t>仍然保留上次调用结束时的值</a:t>
            </a:r>
            <a:r>
              <a:rPr lang="zh-CN" altLang="en-US" sz="2800" b="1" dirty="0">
                <a:latin typeface="Courier New" pitchFamily="49" charset="0"/>
                <a:ea typeface="黑体" pitchFamily="49" charset="-122"/>
              </a:rPr>
              <a:t>。</a:t>
            </a:r>
            <a:endParaRPr lang="zh-CN" altLang="en-US" sz="2800" b="1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3343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229101" y="141288"/>
            <a:ext cx="5021263" cy="614362"/>
          </a:xfrm>
        </p:spPr>
        <p:txBody>
          <a:bodyPr/>
          <a:lstStyle/>
          <a:p>
            <a:r>
              <a:rPr lang="en-US" altLang="zh-CN" sz="3600">
                <a:latin typeface="楷体_GB2312" pitchFamily="49" charset="-122"/>
              </a:rPr>
              <a:t>3</a:t>
            </a:r>
            <a:r>
              <a:rPr lang="zh-CN" altLang="en-US" sz="3600">
                <a:latin typeface="楷体_GB2312" pitchFamily="49" charset="-122"/>
              </a:rPr>
              <a:t>、静态变量</a:t>
            </a:r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9151" y="1254125"/>
            <a:ext cx="8903393" cy="4370388"/>
          </a:xfrm>
        </p:spPr>
        <p:txBody>
          <a:bodyPr/>
          <a:lstStyle/>
          <a:p>
            <a:pPr marL="280988" indent="-280988" algn="just">
              <a:lnSpc>
                <a:spcPct val="125000"/>
              </a:lnSpc>
              <a:spcBef>
                <a:spcPct val="60000"/>
              </a:spcBef>
              <a:buSzPct val="50000"/>
            </a:pPr>
            <a:r>
              <a:rPr lang="zh-CN" altLang="en-US" sz="3600" b="1" dirty="0">
                <a:latin typeface="黑体" pitchFamily="49" charset="-122"/>
              </a:rPr>
              <a:t>所有全局变量都在静态区的</a:t>
            </a:r>
            <a:r>
              <a:rPr lang="en-US" altLang="zh-CN" sz="3600" b="1" dirty="0">
                <a:latin typeface="黑体" pitchFamily="49" charset="-122"/>
              </a:rPr>
              <a:t>(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静态生存期</a:t>
            </a:r>
            <a:r>
              <a:rPr lang="en-US" altLang="zh-CN" sz="3600" b="1" dirty="0">
                <a:latin typeface="黑体" pitchFamily="49" charset="-122"/>
              </a:rPr>
              <a:t>)</a:t>
            </a:r>
            <a:endParaRPr lang="en-US" altLang="zh-CN" sz="3600" b="1" dirty="0">
              <a:latin typeface="Times New Roman" pitchFamily="18" charset="0"/>
            </a:endParaRPr>
          </a:p>
          <a:p>
            <a:pPr marL="681038" lvl="1" indent="-280988" algn="just">
              <a:lnSpc>
                <a:spcPct val="125000"/>
              </a:lnSpc>
              <a:spcBef>
                <a:spcPct val="60000"/>
              </a:spcBef>
              <a:buSzPct val="50000"/>
            </a:pPr>
            <a:r>
              <a:rPr lang="zh-CN" altLang="en-US" sz="3200" b="1" dirty="0">
                <a:latin typeface="黑体" pitchFamily="49" charset="-122"/>
              </a:rPr>
              <a:t>在定义全局变量时</a:t>
            </a:r>
            <a:endParaRPr lang="en-US" altLang="zh-CN" sz="3200" b="1" dirty="0">
              <a:latin typeface="黑体" pitchFamily="49" charset="-122"/>
            </a:endParaRPr>
          </a:p>
          <a:p>
            <a:pPr marL="400050" lvl="1" indent="0" algn="just">
              <a:lnSpc>
                <a:spcPct val="125000"/>
              </a:lnSpc>
              <a:spcBef>
                <a:spcPct val="60000"/>
              </a:spcBef>
              <a:buSzPct val="50000"/>
              <a:buNone/>
            </a:pPr>
            <a:r>
              <a:rPr lang="en-US" altLang="zh-CN" sz="3200" b="1" dirty="0">
                <a:latin typeface="黑体" pitchFamily="49" charset="-122"/>
              </a:rPr>
              <a:t>1</a:t>
            </a:r>
            <a:r>
              <a:rPr lang="zh-CN" altLang="en-US" sz="3200" b="1" dirty="0">
                <a:latin typeface="黑体" pitchFamily="49" charset="-122"/>
              </a:rPr>
              <a:t>）</a:t>
            </a:r>
            <a:r>
              <a:rPr lang="zh-CN" altLang="en-US" sz="3200" b="1" dirty="0">
                <a:latin typeface="Times New Roman" pitchFamily="18" charset="0"/>
              </a:rPr>
              <a:t> </a:t>
            </a:r>
            <a:r>
              <a:rPr lang="zh-CN" altLang="zh-CN" sz="3200" b="1" dirty="0">
                <a:solidFill>
                  <a:srgbClr val="0031CE"/>
                </a:solidFill>
                <a:latin typeface="Arial" pitchFamily="34" charset="0"/>
              </a:rPr>
              <a:t>static</a:t>
            </a:r>
            <a:r>
              <a:rPr lang="zh-CN" altLang="en-US" sz="3200" b="1" dirty="0">
                <a:solidFill>
                  <a:srgbClr val="0031CE"/>
                </a:solidFill>
                <a:latin typeface="Arial" pitchFamily="34" charset="0"/>
              </a:rPr>
              <a:t>：</a:t>
            </a:r>
            <a:r>
              <a:rPr lang="zh-CN" altLang="zh-CN" sz="3200" b="1" dirty="0">
                <a:latin typeface="Times New Roman" pitchFamily="18" charset="0"/>
              </a:rPr>
              <a:t> </a:t>
            </a:r>
            <a:r>
              <a:rPr lang="zh-CN" altLang="en-US" sz="3200" b="1" dirty="0">
                <a:latin typeface="Times New Roman" pitchFamily="18" charset="0"/>
              </a:rPr>
              <a:t>只允许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本源文件使用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别的源文件不得使用</a:t>
            </a:r>
            <a:r>
              <a:rPr lang="zh-CN" altLang="en-US" sz="3200" b="1" dirty="0">
                <a:latin typeface="黑体" pitchFamily="49" charset="-122"/>
              </a:rPr>
              <a:t>。</a:t>
            </a:r>
            <a:endParaRPr lang="en-US" altLang="zh-CN" sz="3200" b="1" dirty="0">
              <a:latin typeface="黑体" pitchFamily="49" charset="-122"/>
            </a:endParaRPr>
          </a:p>
          <a:p>
            <a:pPr marL="400050" lvl="1" indent="0" algn="just">
              <a:lnSpc>
                <a:spcPct val="125000"/>
              </a:lnSpc>
              <a:spcBef>
                <a:spcPct val="60000"/>
              </a:spcBef>
              <a:buSzPct val="50000"/>
              <a:buNone/>
            </a:pPr>
            <a:r>
              <a:rPr lang="en-US" altLang="zh-CN" sz="3200" b="1" dirty="0">
                <a:latin typeface="黑体" pitchFamily="49" charset="-122"/>
              </a:rPr>
              <a:t>2</a:t>
            </a:r>
            <a:r>
              <a:rPr lang="zh-CN" altLang="en-US" sz="3200" b="1" dirty="0">
                <a:latin typeface="黑体" pitchFamily="49" charset="-122"/>
              </a:rPr>
              <a:t>）</a:t>
            </a:r>
            <a:r>
              <a:rPr lang="en-US" altLang="zh-CN" sz="3200" b="1" dirty="0">
                <a:solidFill>
                  <a:srgbClr val="0031CE"/>
                </a:solidFill>
                <a:latin typeface="Arial" pitchFamily="34" charset="0"/>
              </a:rPr>
              <a:t>extern:</a:t>
            </a:r>
            <a:r>
              <a:rPr lang="en-US" altLang="zh-CN" sz="3200" b="1" dirty="0">
                <a:latin typeface="黑体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项目中的所有源文件都可以使用</a:t>
            </a:r>
            <a:r>
              <a:rPr lang="zh-CN" altLang="en-US" sz="3200" b="1" dirty="0">
                <a:latin typeface="黑体" pitchFamily="49" charset="-122"/>
              </a:rPr>
              <a:t>。</a:t>
            </a:r>
            <a:endParaRPr lang="en-US" altLang="zh-CN" sz="3200" b="1" dirty="0">
              <a:latin typeface="黑体" pitchFamily="49" charset="-122"/>
            </a:endParaRPr>
          </a:p>
          <a:p>
            <a:pPr marL="400050" lvl="1" indent="0" algn="just">
              <a:lnSpc>
                <a:spcPct val="125000"/>
              </a:lnSpc>
              <a:spcBef>
                <a:spcPct val="60000"/>
              </a:spcBef>
              <a:buSzPct val="50000"/>
              <a:buNone/>
            </a:pPr>
            <a:r>
              <a:rPr lang="zh-CN" altLang="en-US" sz="3200" b="1" dirty="0">
                <a:latin typeface="黑体" pitchFamily="49" charset="-122"/>
              </a:rPr>
              <a:t>缺省是：</a:t>
            </a:r>
            <a:r>
              <a:rPr lang="en-US" altLang="zh-CN" sz="3200" b="1" dirty="0">
                <a:solidFill>
                  <a:srgbClr val="0031CE"/>
                </a:solidFill>
                <a:latin typeface="Arial" pitchFamily="34" charset="0"/>
              </a:rPr>
              <a:t> extern:</a:t>
            </a:r>
            <a:endParaRPr lang="zh-CN" altLang="en-US" sz="3200" b="1" dirty="0">
              <a:latin typeface="黑体" pitchFamily="49" charset="-122"/>
            </a:endParaRPr>
          </a:p>
        </p:txBody>
      </p:sp>
      <p:sp>
        <p:nvSpPr>
          <p:cNvPr id="49459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298700" y="698501"/>
            <a:ext cx="357188" cy="295275"/>
          </a:xfrm>
          <a:prstGeom prst="actionButtonForwardNext">
            <a:avLst/>
          </a:prstGeom>
          <a:noFill/>
          <a:ln w="0" cmpd="sng">
            <a:solidFill>
              <a:srgbClr val="002BB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94597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881189" y="333376"/>
            <a:ext cx="344487" cy="358775"/>
          </a:xfrm>
          <a:prstGeom prst="actionButtonBackPrevious">
            <a:avLst/>
          </a:prstGeom>
          <a:noFill/>
          <a:ln w="0" cmpd="sng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47488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43264" y="165101"/>
            <a:ext cx="6264275" cy="657225"/>
          </a:xfrm>
        </p:spPr>
        <p:txBody>
          <a:bodyPr/>
          <a:lstStyle/>
          <a:p>
            <a:r>
              <a:rPr lang="zh-CN" altLang="zh-CN" sz="3600">
                <a:latin typeface="楷体_GB2312" pitchFamily="49" charset="-122"/>
              </a:rPr>
              <a:t>4. </a:t>
            </a:r>
            <a:r>
              <a:rPr lang="zh-CN" altLang="en-US" sz="3600">
                <a:latin typeface="楷体_GB2312" pitchFamily="49" charset="-122"/>
              </a:rPr>
              <a:t>外部变量（</a:t>
            </a:r>
            <a:r>
              <a:rPr lang="zh-CN" altLang="zh-CN" sz="3600">
                <a:latin typeface="楷体_GB2312" pitchFamily="49" charset="-122"/>
              </a:rPr>
              <a:t>extern</a:t>
            </a:r>
            <a:r>
              <a:rPr lang="zh-CN" altLang="en-US" sz="3600">
                <a:latin typeface="楷体_GB2312" pitchFamily="49" charset="-122"/>
              </a:rPr>
              <a:t>）</a:t>
            </a: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9789" y="1163639"/>
            <a:ext cx="8074025" cy="5246687"/>
          </a:xfrm>
        </p:spPr>
        <p:txBody>
          <a:bodyPr/>
          <a:lstStyle/>
          <a:p>
            <a:pPr marL="179388" indent="-179388">
              <a:lnSpc>
                <a:spcPct val="120000"/>
              </a:lnSpc>
              <a:spcBef>
                <a:spcPct val="70000"/>
              </a:spcBef>
              <a:buSzPct val="50000"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定义点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:</a:t>
            </a:r>
            <a:r>
              <a:rPr lang="zh-CN" altLang="en-US" sz="2800" b="1">
                <a:latin typeface="黑体" pitchFamily="49" charset="-122"/>
              </a:rPr>
              <a:t>外部</a:t>
            </a:r>
            <a:r>
              <a:rPr lang="zh-CN" altLang="en-US" sz="2800" b="1" dirty="0">
                <a:latin typeface="黑体" pitchFamily="49" charset="-122"/>
              </a:rPr>
              <a:t>变量是指在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函数外定义</a:t>
            </a:r>
            <a:r>
              <a:rPr lang="zh-CN" altLang="en-US" sz="2800" b="1" dirty="0">
                <a:latin typeface="黑体" pitchFamily="49" charset="-122"/>
              </a:rPr>
              <a:t>的变量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黑体" pitchFamily="49" charset="-122"/>
              </a:rPr>
              <a:t>也称为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全局变量</a:t>
            </a:r>
            <a:r>
              <a:rPr lang="zh-CN" altLang="en-US" sz="2800" b="1">
                <a:latin typeface="黑体" pitchFamily="49" charset="-122"/>
              </a:rPr>
              <a:t>。</a:t>
            </a:r>
            <a:endParaRPr lang="en-US" altLang="zh-CN" sz="2800" b="1">
              <a:latin typeface="黑体" pitchFamily="49" charset="-122"/>
            </a:endParaRPr>
          </a:p>
          <a:p>
            <a:pPr marL="179388" indent="-179388">
              <a:lnSpc>
                <a:spcPct val="120000"/>
              </a:lnSpc>
              <a:spcBef>
                <a:spcPct val="70000"/>
              </a:spcBef>
              <a:buSzPct val="50000"/>
            </a:pPr>
            <a:endParaRPr lang="en-US" altLang="zh-CN" sz="2800" b="1">
              <a:latin typeface="黑体" pitchFamily="49" charset="-122"/>
            </a:endParaRPr>
          </a:p>
          <a:p>
            <a:pPr marL="179388" indent="-179388">
              <a:lnSpc>
                <a:spcPct val="120000"/>
              </a:lnSpc>
              <a:spcBef>
                <a:spcPct val="70000"/>
              </a:spcBef>
              <a:buSzPct val="50000"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作用域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:</a:t>
            </a:r>
            <a:r>
              <a:rPr lang="zh-CN" altLang="en-US" sz="2800" b="1">
                <a:latin typeface="黑体" pitchFamily="49" charset="-122"/>
              </a:rPr>
              <a:t>从</a:t>
            </a:r>
            <a:r>
              <a:rPr lang="zh-CN" altLang="en-US" sz="2800" b="1" dirty="0">
                <a:latin typeface="黑体" pitchFamily="49" charset="-122"/>
              </a:rPr>
              <a:t>变量的定义处开始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黑体" pitchFamily="49" charset="-122"/>
              </a:rPr>
              <a:t>直到本程序文件的</a:t>
            </a:r>
            <a:r>
              <a:rPr lang="zh-CN" altLang="en-US" sz="2800" b="1">
                <a:latin typeface="黑体" pitchFamily="49" charset="-122"/>
              </a:rPr>
              <a:t>结束。</a:t>
            </a:r>
            <a:endParaRPr lang="en-US" altLang="zh-CN" sz="2800" b="1">
              <a:latin typeface="黑体" pitchFamily="49" charset="-122"/>
            </a:endParaRPr>
          </a:p>
          <a:p>
            <a:pPr marL="179388" indent="-179388">
              <a:lnSpc>
                <a:spcPct val="120000"/>
              </a:lnSpc>
              <a:spcBef>
                <a:spcPct val="70000"/>
              </a:spcBef>
              <a:buSzPct val="50000"/>
            </a:pPr>
            <a:endParaRPr lang="en-US" altLang="zh-CN" sz="2800" b="1">
              <a:latin typeface="黑体" pitchFamily="49" charset="-122"/>
            </a:endParaRPr>
          </a:p>
          <a:p>
            <a:pPr marL="179388" indent="-179388">
              <a:lnSpc>
                <a:spcPct val="120000"/>
              </a:lnSpc>
              <a:spcBef>
                <a:spcPct val="70000"/>
              </a:spcBef>
              <a:buSzPct val="50000"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生命期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:</a:t>
            </a:r>
            <a:r>
              <a:rPr lang="zh-CN" altLang="en-US" sz="2800" b="1">
                <a:latin typeface="黑体" pitchFamily="49" charset="-122"/>
              </a:rPr>
              <a:t>外部变量占用静态存储区</a:t>
            </a:r>
            <a:r>
              <a:rPr lang="en-US" altLang="zh-CN" sz="2800" b="1">
                <a:latin typeface="黑体" pitchFamily="49" charset="-122"/>
              </a:rPr>
              <a:t>,</a:t>
            </a:r>
            <a:r>
              <a:rPr lang="zh-CN" altLang="en-US" sz="2800" b="1">
                <a:latin typeface="黑体" pitchFamily="49" charset="-122"/>
              </a:rPr>
              <a:t>生命期同程序</a:t>
            </a:r>
            <a:endParaRPr lang="en-US" altLang="zh-CN" sz="2800" b="1">
              <a:latin typeface="黑体" pitchFamily="49" charset="-122"/>
            </a:endParaRPr>
          </a:p>
          <a:p>
            <a:pPr marL="179388" indent="-179388">
              <a:lnSpc>
                <a:spcPct val="120000"/>
              </a:lnSpc>
              <a:spcBef>
                <a:spcPct val="70000"/>
              </a:spcBef>
              <a:buSzPct val="50000"/>
            </a:pPr>
            <a:endParaRPr lang="zh-CN" altLang="en-US" sz="2800" b="1" dirty="0">
              <a:latin typeface="黑体" pitchFamily="49" charset="-122"/>
            </a:endParaRPr>
          </a:p>
        </p:txBody>
      </p:sp>
      <p:sp>
        <p:nvSpPr>
          <p:cNvPr id="50074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2287588" y="692150"/>
            <a:ext cx="292100" cy="254000"/>
          </a:xfrm>
          <a:prstGeom prst="actionButtonForwardNext">
            <a:avLst/>
          </a:prstGeom>
          <a:noFill/>
          <a:ln w="0" cmpd="sng">
            <a:solidFill>
              <a:srgbClr val="002BB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62813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0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43264" y="165101"/>
            <a:ext cx="6264275" cy="657225"/>
          </a:xfrm>
        </p:spPr>
        <p:txBody>
          <a:bodyPr/>
          <a:lstStyle/>
          <a:p>
            <a:r>
              <a:rPr lang="zh-CN" altLang="zh-CN" sz="3600">
                <a:latin typeface="楷体_GB2312" pitchFamily="49" charset="-122"/>
              </a:rPr>
              <a:t>4. </a:t>
            </a:r>
            <a:r>
              <a:rPr lang="zh-CN" altLang="en-US" sz="3600">
                <a:latin typeface="楷体_GB2312" pitchFamily="49" charset="-122"/>
              </a:rPr>
              <a:t>外部变量（</a:t>
            </a:r>
            <a:r>
              <a:rPr lang="zh-CN" altLang="zh-CN" sz="3600">
                <a:latin typeface="楷体_GB2312" pitchFamily="49" charset="-122"/>
              </a:rPr>
              <a:t>extern</a:t>
            </a:r>
            <a:r>
              <a:rPr lang="zh-CN" altLang="en-US" sz="3600">
                <a:latin typeface="楷体_GB2312" pitchFamily="49" charset="-122"/>
              </a:rPr>
              <a:t>）</a:t>
            </a: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9789" y="1163639"/>
            <a:ext cx="8074025" cy="4497609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75000"/>
              </a:spcBef>
              <a:buClr>
                <a:srgbClr val="C00000"/>
              </a:buClr>
              <a:buSzPct val="100000"/>
              <a:buNone/>
            </a:pPr>
            <a:r>
              <a:rPr lang="en-US" altLang="zh-CN" sz="2800" b="1" dirty="0">
                <a:latin typeface="黑体" pitchFamily="49" charset="-122"/>
              </a:rPr>
              <a:t>extern </a:t>
            </a:r>
            <a:r>
              <a:rPr lang="zh-CN" altLang="en-US" sz="2800" b="1" dirty="0">
                <a:latin typeface="黑体" pitchFamily="49" charset="-122"/>
              </a:rPr>
              <a:t>主要用于声明</a:t>
            </a:r>
            <a:endParaRPr lang="en-US" altLang="zh-CN" sz="2800" b="1" dirty="0">
              <a:latin typeface="黑体" pitchFamily="49" charset="-122"/>
            </a:endParaRPr>
          </a:p>
          <a:p>
            <a:pPr marL="457200" indent="-457200">
              <a:lnSpc>
                <a:spcPct val="120000"/>
              </a:lnSpc>
              <a:spcBef>
                <a:spcPct val="750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latin typeface="黑体" pitchFamily="49" charset="-122"/>
              </a:rPr>
              <a:t>当在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一个文件中</a:t>
            </a:r>
            <a:r>
              <a:rPr lang="zh-CN" altLang="en-US" sz="2800" b="1" dirty="0">
                <a:latin typeface="黑体" pitchFamily="49" charset="-122"/>
              </a:rPr>
              <a:t>要引用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另一个文件中</a:t>
            </a:r>
            <a:r>
              <a:rPr lang="zh-CN" altLang="en-US" sz="2800" b="1" dirty="0">
                <a:latin typeface="黑体" pitchFamily="49" charset="-122"/>
              </a:rPr>
              <a:t>的全局变量</a:t>
            </a:r>
            <a:endParaRPr lang="en-US" altLang="zh-CN" sz="2800" b="1" dirty="0">
              <a:latin typeface="Times New Roman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ct val="750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zh-CN" altLang="en-US" sz="3600" b="1" dirty="0">
                <a:latin typeface="黑体" pitchFamily="49" charset="-122"/>
              </a:rPr>
              <a:t>在本文件中全局变量的</a:t>
            </a:r>
            <a:r>
              <a:rPr lang="zh-CN" altLang="en-US" sz="3600" b="1" dirty="0">
                <a:solidFill>
                  <a:srgbClr val="FF0000"/>
                </a:solidFill>
                <a:latin typeface="黑体" pitchFamily="49" charset="-122"/>
              </a:rPr>
              <a:t>定义域之外</a:t>
            </a:r>
            <a:r>
              <a:rPr lang="zh-CN" altLang="en-US" sz="3600" b="1" dirty="0">
                <a:latin typeface="黑体" pitchFamily="49" charset="-122"/>
              </a:rPr>
              <a:t>要引用它时</a:t>
            </a:r>
            <a:r>
              <a:rPr lang="zh-CN" altLang="zh-CN" sz="3600" b="1" dirty="0">
                <a:latin typeface="Times New Roman" pitchFamily="18" charset="0"/>
              </a:rPr>
              <a:t>,  </a:t>
            </a:r>
            <a:r>
              <a:rPr lang="zh-CN" altLang="en-US" sz="3600" b="1" dirty="0">
                <a:latin typeface="黑体" pitchFamily="49" charset="-122"/>
              </a:rPr>
              <a:t>可用</a:t>
            </a:r>
            <a:r>
              <a:rPr lang="zh-CN" altLang="zh-CN" sz="3600" b="1" dirty="0">
                <a:solidFill>
                  <a:srgbClr val="00009E"/>
                </a:solidFill>
                <a:latin typeface="Arial" pitchFamily="34" charset="0"/>
              </a:rPr>
              <a:t>extern</a:t>
            </a:r>
            <a:r>
              <a:rPr lang="zh-CN" altLang="en-US" sz="3600" b="1" dirty="0">
                <a:latin typeface="Arial" pitchFamily="34" charset="0"/>
              </a:rPr>
              <a:t>作</a:t>
            </a:r>
            <a:r>
              <a:rPr lang="zh-CN" altLang="en-US" sz="3600" b="1" dirty="0">
                <a:latin typeface="黑体" pitchFamily="49" charset="-122"/>
              </a:rPr>
              <a:t>声明。</a:t>
            </a:r>
            <a:endParaRPr lang="en-US" altLang="zh-CN" sz="3600" b="1" dirty="0">
              <a:latin typeface="黑体" pitchFamily="49" charset="-122"/>
            </a:endParaRPr>
          </a:p>
        </p:txBody>
      </p:sp>
      <p:sp>
        <p:nvSpPr>
          <p:cNvPr id="50074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2287588" y="692150"/>
            <a:ext cx="292100" cy="254000"/>
          </a:xfrm>
          <a:prstGeom prst="actionButtonForwardNext">
            <a:avLst/>
          </a:prstGeom>
          <a:noFill/>
          <a:ln w="0" cmpd="sng">
            <a:solidFill>
              <a:srgbClr val="002BB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571974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25700" y="112713"/>
            <a:ext cx="7793038" cy="696912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外部变量举例（在</a:t>
            </a:r>
            <a:r>
              <a:rPr lang="zh-CN" altLang="en-US" sz="2800">
                <a:solidFill>
                  <a:srgbClr val="0000C4"/>
                </a:solidFill>
                <a:latin typeface="Courier New" pitchFamily="49" charset="0"/>
                <a:ea typeface="黑体" pitchFamily="49" charset="-122"/>
              </a:rPr>
              <a:t>同一</a:t>
            </a:r>
            <a:r>
              <a:rPr lang="zh-CN" altLang="en-US" sz="280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源文件内）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8850" y="1136651"/>
            <a:ext cx="8382000" cy="4843463"/>
          </a:xfrm>
        </p:spPr>
        <p:txBody>
          <a:bodyPr/>
          <a:lstStyle/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#include &lt;stdio.h&gt;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int  max( int  a,  int  b )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{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	int  c ;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	c=a&gt;b?a:b ;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	return  c ;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}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main( )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{ 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	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 x, y ;   </a:t>
            </a:r>
            <a:r>
              <a:rPr lang="en-US" altLang="zh-CN" sz="2400" b="1"/>
              <a:t>//</a:t>
            </a:r>
            <a:r>
              <a:rPr lang="zh-CN" altLang="en-US" sz="2400" b="1"/>
              <a:t>外部变量声明</a:t>
            </a:r>
            <a:r>
              <a:rPr lang="en-US" altLang="zh-CN" sz="2400" b="1"/>
              <a:t>, </a:t>
            </a:r>
            <a:r>
              <a:rPr lang="zh-CN" altLang="en-US" sz="2400" b="1"/>
              <a:t>不重新开辟内存空间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sz="2400" b="1"/>
              <a:t>	</a:t>
            </a:r>
            <a:r>
              <a:rPr lang="en-US" altLang="zh-CN" sz="2400" b="1"/>
              <a:t>printf("%d\n", max(x, y));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/>
              <a:t>}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int  x=12, y=-8;       </a:t>
            </a:r>
            <a:r>
              <a:rPr lang="en-US" altLang="zh-CN" sz="2400" b="1"/>
              <a:t>//</a:t>
            </a:r>
            <a:r>
              <a:rPr lang="zh-CN" altLang="en-US" sz="2400" b="1"/>
              <a:t>外部变量定义</a:t>
            </a:r>
            <a:r>
              <a:rPr lang="en-US" altLang="zh-CN" sz="2400" b="1"/>
              <a:t>,  </a:t>
            </a:r>
            <a:r>
              <a:rPr lang="zh-CN" altLang="en-US" sz="2400" b="1"/>
              <a:t>开辟内存空间</a:t>
            </a:r>
            <a:endParaRPr lang="zh-CN" altLang="en-US" sz="2400" b="1" dirty="0"/>
          </a:p>
        </p:txBody>
      </p:sp>
      <p:sp>
        <p:nvSpPr>
          <p:cNvPr id="501764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2211388" y="692150"/>
            <a:ext cx="374650" cy="273050"/>
          </a:xfrm>
          <a:prstGeom prst="actionButtonBackPrevious">
            <a:avLst/>
          </a:prstGeom>
          <a:noFill/>
          <a:ln w="0" cmpd="sng">
            <a:solidFill>
              <a:srgbClr val="002BB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524702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3914" y="1228725"/>
            <a:ext cx="8250237" cy="5100638"/>
          </a:xfrm>
        </p:spPr>
        <p:txBody>
          <a:bodyPr/>
          <a:lstStyle/>
          <a:p>
            <a:pPr marL="179388" indent="-179388">
              <a:lnSpc>
                <a:spcPct val="115000"/>
              </a:lnSpc>
            </a:pPr>
            <a:r>
              <a:rPr lang="zh-CN" altLang="en-US" sz="3600" b="1" dirty="0">
                <a:latin typeface="Arial" pitchFamily="34" charset="0"/>
              </a:rPr>
              <a:t>对于由多个源文件组成</a:t>
            </a:r>
            <a:r>
              <a:rPr lang="zh-CN" altLang="zh-CN" sz="3600" b="1" dirty="0">
                <a:latin typeface="Times New Roman" pitchFamily="18" charset="0"/>
              </a:rPr>
              <a:t>C</a:t>
            </a:r>
            <a:r>
              <a:rPr lang="zh-CN" altLang="en-US" sz="3600" b="1" dirty="0">
                <a:latin typeface="Arial" pitchFamily="34" charset="0"/>
              </a:rPr>
              <a:t>程序</a:t>
            </a:r>
            <a:r>
              <a:rPr lang="zh-CN" altLang="zh-CN" sz="3600" b="1" dirty="0">
                <a:latin typeface="Times New Roman" pitchFamily="18" charset="0"/>
              </a:rPr>
              <a:t>,  C</a:t>
            </a:r>
            <a:r>
              <a:rPr lang="zh-CN" altLang="en-US" sz="3600" b="1" dirty="0">
                <a:latin typeface="Arial" pitchFamily="34" charset="0"/>
              </a:rPr>
              <a:t>语言规定</a:t>
            </a:r>
            <a:r>
              <a:rPr lang="zh-CN" altLang="zh-CN" sz="3600" b="1" dirty="0">
                <a:latin typeface="Times New Roman" pitchFamily="18" charset="0"/>
              </a:rPr>
              <a:t>:</a:t>
            </a:r>
          </a:p>
          <a:p>
            <a:pPr marL="630238" lvl="1" indent="-271463">
              <a:lnSpc>
                <a:spcPct val="120000"/>
              </a:lnSpc>
              <a:spcBef>
                <a:spcPct val="5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sz="3600" b="1" dirty="0">
                <a:latin typeface="Arial" pitchFamily="34" charset="0"/>
              </a:rPr>
              <a:t>对共用的外部变量可以在任一源文件中</a:t>
            </a:r>
            <a:r>
              <a:rPr 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定义一次</a:t>
            </a:r>
            <a:r>
              <a:rPr lang="zh-CN" altLang="zh-CN" sz="3600" b="1" dirty="0">
                <a:latin typeface="Times New Roman" pitchFamily="18" charset="0"/>
              </a:rPr>
              <a:t>, </a:t>
            </a:r>
            <a:r>
              <a:rPr lang="zh-CN" sz="3600" b="1" dirty="0">
                <a:latin typeface="Arial" pitchFamily="34" charset="0"/>
              </a:rPr>
              <a:t>其他源文件中用</a:t>
            </a:r>
            <a:r>
              <a:rPr lang="zh-CN" altLang="zh-CN" sz="3600" b="1" dirty="0">
                <a:solidFill>
                  <a:srgbClr val="0000A8"/>
                </a:solidFill>
                <a:latin typeface="Arial" pitchFamily="34" charset="0"/>
              </a:rPr>
              <a:t>extern</a:t>
            </a:r>
            <a:r>
              <a:rPr lang="zh-CN" sz="3600" b="1" dirty="0">
                <a:latin typeface="Arial" pitchFamily="34" charset="0"/>
              </a:rPr>
              <a:t>对其声明后</a:t>
            </a:r>
            <a:r>
              <a:rPr lang="zh-CN" altLang="zh-CN" sz="3600" b="1" dirty="0">
                <a:latin typeface="Times New Roman" pitchFamily="18" charset="0"/>
              </a:rPr>
              <a:t>, </a:t>
            </a:r>
            <a:r>
              <a:rPr lang="zh-CN" sz="3600" b="1" dirty="0">
                <a:latin typeface="Arial" pitchFamily="34" charset="0"/>
              </a:rPr>
              <a:t>即可</a:t>
            </a:r>
            <a:r>
              <a:rPr lang="zh-CN" sz="3600" b="1">
                <a:latin typeface="Arial" pitchFamily="34" charset="0"/>
              </a:rPr>
              <a:t>使用。</a:t>
            </a:r>
            <a:endParaRPr lang="zh-CN" sz="3600" b="1" dirty="0">
              <a:latin typeface="Arial" pitchFamily="34" charset="0"/>
            </a:endParaRPr>
          </a:p>
        </p:txBody>
      </p:sp>
      <p:pic>
        <p:nvPicPr>
          <p:cNvPr id="502788" name="Picture 4" descr="b1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88" y="5805488"/>
            <a:ext cx="182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7242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3914" y="1228725"/>
            <a:ext cx="8250237" cy="5100638"/>
          </a:xfrm>
        </p:spPr>
        <p:txBody>
          <a:bodyPr/>
          <a:lstStyle/>
          <a:p>
            <a:pPr marL="630238" lvl="1" indent="-271463">
              <a:lnSpc>
                <a:spcPct val="120000"/>
              </a:lnSpc>
              <a:spcBef>
                <a:spcPct val="6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sz="3600" b="1">
                <a:latin typeface="Arial" pitchFamily="34" charset="0"/>
              </a:rPr>
              <a:t>如果</a:t>
            </a:r>
            <a:r>
              <a:rPr lang="zh-CN" sz="3600" b="1" dirty="0">
                <a:latin typeface="Arial" pitchFamily="34" charset="0"/>
              </a:rPr>
              <a:t>希望外部变量仅限于本文件使用</a:t>
            </a:r>
            <a:r>
              <a:rPr lang="zh-CN" altLang="zh-CN" sz="3600" b="1" dirty="0">
                <a:latin typeface="Times New Roman" pitchFamily="18" charset="0"/>
              </a:rPr>
              <a:t>,  </a:t>
            </a:r>
            <a:r>
              <a:rPr lang="zh-CN" sz="3600" b="1" dirty="0">
                <a:latin typeface="Arial" pitchFamily="34" charset="0"/>
              </a:rPr>
              <a:t>则在定义外部变量时前面加一个</a:t>
            </a:r>
            <a:r>
              <a:rPr lang="zh-CN" altLang="zh-CN" sz="3600" b="1" dirty="0">
                <a:solidFill>
                  <a:srgbClr val="0000A8"/>
                </a:solidFill>
                <a:latin typeface="Arial" pitchFamily="34" charset="0"/>
              </a:rPr>
              <a:t>static</a:t>
            </a:r>
            <a:r>
              <a:rPr lang="zh-CN" sz="3600" b="1" dirty="0">
                <a:latin typeface="Arial" pitchFamily="34" charset="0"/>
              </a:rPr>
              <a:t>说明</a:t>
            </a:r>
            <a:r>
              <a:rPr lang="zh-CN" sz="3600" b="1" dirty="0"/>
              <a:t>。</a:t>
            </a:r>
            <a:endParaRPr lang="en-US" altLang="zh-CN" sz="3600" b="1" dirty="0"/>
          </a:p>
          <a:p>
            <a:pPr marL="630238" lvl="1" indent="-271463">
              <a:lnSpc>
                <a:spcPct val="120000"/>
              </a:lnSpc>
              <a:spcBef>
                <a:spcPct val="6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3600" b="1" dirty="0"/>
              <a:t>外部变量前既没有</a:t>
            </a:r>
            <a:r>
              <a:rPr lang="en-US" altLang="zh-CN" sz="3600" b="1" dirty="0">
                <a:solidFill>
                  <a:srgbClr val="FF0000"/>
                </a:solidFill>
              </a:rPr>
              <a:t>extern</a:t>
            </a:r>
            <a:r>
              <a:rPr lang="zh-CN" altLang="en-US" sz="3600" b="1" dirty="0"/>
              <a:t>也没有</a:t>
            </a:r>
            <a:r>
              <a:rPr lang="en-US" altLang="zh-CN" sz="3600" b="1" dirty="0">
                <a:solidFill>
                  <a:srgbClr val="FF0000"/>
                </a:solidFill>
              </a:rPr>
              <a:t>static</a:t>
            </a:r>
            <a:r>
              <a:rPr lang="zh-CN" altLang="en-US" sz="3600" b="1" dirty="0"/>
              <a:t>，则默认是</a:t>
            </a:r>
            <a:r>
              <a:rPr lang="en-US" altLang="zh-CN" sz="3600" b="1" dirty="0">
                <a:solidFill>
                  <a:srgbClr val="FF0000"/>
                </a:solidFill>
              </a:rPr>
              <a:t>extern</a:t>
            </a:r>
            <a:r>
              <a:rPr lang="en-US" altLang="zh-CN" sz="3600" b="1" dirty="0"/>
              <a:t>.</a:t>
            </a:r>
            <a:endParaRPr lang="zh-CN" sz="3600" dirty="0"/>
          </a:p>
        </p:txBody>
      </p:sp>
      <p:pic>
        <p:nvPicPr>
          <p:cNvPr id="502788" name="Picture 4" descr="b1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88" y="5805488"/>
            <a:ext cx="182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458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21984" y="404664"/>
            <a:ext cx="7874000" cy="572646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复合语句中 </a:t>
            </a:r>
            <a:r>
              <a:rPr lang="zh-CN" altLang="zh-CN" sz="3200" b="1">
                <a:solidFill>
                  <a:schemeClr val="folHlink"/>
                </a:solidFill>
                <a:ea typeface="黑体" pitchFamily="49" charset="-122"/>
              </a:rPr>
              <a:t>extern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声明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使用外部变量</a:t>
            </a:r>
            <a:r>
              <a:rPr lang="zh-CN" altLang="en-US" sz="32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。</a:t>
            </a:r>
          </a:p>
        </p:txBody>
      </p:sp>
      <p:sp>
        <p:nvSpPr>
          <p:cNvPr id="485379" name="Rectangle 3"/>
          <p:cNvSpPr>
            <a:spLocks noChangeArrowheads="1"/>
          </p:cNvSpPr>
          <p:nvPr/>
        </p:nvSpPr>
        <p:spPr bwMode="auto">
          <a:xfrm>
            <a:off x="2034992" y="1083704"/>
            <a:ext cx="7696200" cy="5752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#include &lt;stdio.h&gt;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int n=10;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main()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	int n=20;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	printf("1:n=%d\n",n);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	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		</a:t>
            </a:r>
            <a:r>
              <a:rPr lang="pt-BR" altLang="zh-CN" sz="2400" b="1" dirty="0">
                <a:solidFill>
                  <a:srgbClr val="FF0000"/>
                </a:solidFill>
                <a:ea typeface="Dotum" pitchFamily="34" charset="-127"/>
              </a:rPr>
              <a:t>extern</a:t>
            </a: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 n;  //</a:t>
            </a:r>
            <a:r>
              <a:rPr lang="zh-CN" altLang="en-US" sz="2400" b="1" dirty="0">
                <a:solidFill>
                  <a:srgbClr val="000000"/>
                </a:solidFill>
                <a:ea typeface="Dotum" pitchFamily="34" charset="-127"/>
              </a:rPr>
              <a:t>声明</a:t>
            </a:r>
            <a:r>
              <a:rPr lang="en-US" altLang="zh-CN" sz="2400" b="1" dirty="0">
                <a:solidFill>
                  <a:srgbClr val="000000"/>
                </a:solidFill>
                <a:ea typeface="Dotum" pitchFamily="34" charset="-127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ea typeface="Dotum" pitchFamily="34" charset="-127"/>
              </a:rPr>
              <a:t>是外部变量</a:t>
            </a:r>
            <a:endParaRPr lang="pt-BR" altLang="zh-CN" sz="2400" b="1" dirty="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		printf("2:n=%d\n",n);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	}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	printf("3:n=%d\n",n);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	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pt-BR" altLang="zh-CN" sz="2400" b="1" dirty="0">
                <a:solidFill>
                  <a:srgbClr val="000000"/>
                </a:solidFill>
                <a:ea typeface="Dotum" pitchFamily="34" charset="-127"/>
              </a:rPr>
              <a:t>}</a:t>
            </a: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8818564" y="1290639"/>
            <a:ext cx="1652587" cy="1200329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2BB6"/>
            </a:solidFill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333CC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000" b="1" dirty="0">
                <a:solidFill>
                  <a:srgbClr val="3333CC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zh-CN" altLang="zh-CN" sz="2000" dirty="0">
              <a:solidFill>
                <a:srgbClr val="3333CC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</a:rPr>
              <a:t>1:n=20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00"/>
                </a:solidFill>
              </a:rPr>
              <a:t>2:n=10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</a:rPr>
              <a:t>3:n=20</a:t>
            </a:r>
            <a:endParaRPr lang="zh-CN" altLang="zh-CN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35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3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0" grpId="0" build="p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011614" y="111126"/>
            <a:ext cx="4537075" cy="720725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一、内部函数</a:t>
            </a:r>
          </a:p>
        </p:txBody>
      </p:sp>
      <p:sp>
        <p:nvSpPr>
          <p:cNvPr id="503811" name="Rectangle 3"/>
          <p:cNvSpPr>
            <a:spLocks noChangeArrowheads="1"/>
          </p:cNvSpPr>
          <p:nvPr/>
        </p:nvSpPr>
        <p:spPr bwMode="auto">
          <a:xfrm>
            <a:off x="2097089" y="1174750"/>
            <a:ext cx="8129587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85738" indent="-185738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只能被本文件中的其他函数所调用的函数称为内部函数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503812" name="Rectangle 4"/>
          <p:cNvSpPr>
            <a:spLocks noChangeArrowheads="1"/>
          </p:cNvSpPr>
          <p:nvPr/>
        </p:nvSpPr>
        <p:spPr bwMode="auto">
          <a:xfrm>
            <a:off x="2122489" y="2343151"/>
            <a:ext cx="8023225" cy="308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85738" indent="-185738"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格式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85738" indent="-185738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</a:t>
            </a:r>
            <a:r>
              <a:rPr lang="zh-CN" altLang="zh-CN" sz="2800" b="1" dirty="0">
                <a:solidFill>
                  <a:srgbClr val="FFCF01"/>
                </a:solidFill>
                <a:latin typeface="Times New Roman" pitchFamily="18" charset="0"/>
                <a:ea typeface="宋体" pitchFamily="2" charset="-122"/>
              </a:rPr>
              <a:t>          </a:t>
            </a:r>
            <a:r>
              <a:rPr lang="zh-CN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static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函数类型   函数名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形参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marL="542925" lvl="1" indent="-177800" fontAlgn="base">
              <a:lnSpc>
                <a:spcPct val="125000"/>
              </a:lnSpc>
              <a:spcBef>
                <a:spcPct val="65000"/>
              </a:spcBef>
              <a:spcAft>
                <a:spcPct val="0"/>
              </a:spcAft>
              <a:buClr>
                <a:srgbClr val="008000"/>
              </a:buClr>
              <a:buSzPct val="80000"/>
              <a:buFont typeface="Tahoma" pitchFamily="34" charset="0"/>
              <a:buChar char="−"/>
            </a:pPr>
            <a:r>
              <a:rPr lang="zh-CN" altLang="en-US" sz="2800" b="1" dirty="0">
                <a:solidFill>
                  <a:srgbClr val="000000"/>
                </a:solidFill>
              </a:rPr>
              <a:t>内部函数也称静态函数</a:t>
            </a:r>
          </a:p>
          <a:p>
            <a:pPr marL="542925" lvl="1" indent="-17780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80000"/>
              <a:buFont typeface="Tahoma" pitchFamily="34" charset="0"/>
              <a:buChar char="−"/>
            </a:pPr>
            <a:r>
              <a:rPr lang="zh-CN" altLang="en-US" sz="2800" b="1" dirty="0">
                <a:solidFill>
                  <a:srgbClr val="000000"/>
                </a:solidFill>
              </a:rPr>
              <a:t>内部函数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不能被其他文件中的函数使用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800" b="1" dirty="0">
                <a:solidFill>
                  <a:srgbClr val="000000"/>
                </a:solidFill>
              </a:rPr>
              <a:t>所以在不同文件中可以使用相同名字的内部函数。</a:t>
            </a:r>
            <a:endParaRPr lang="zh-CN" altLang="en-US" sz="28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5081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008439" y="1"/>
            <a:ext cx="4537075" cy="809625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二、外部函数</a:t>
            </a:r>
          </a:p>
        </p:txBody>
      </p:sp>
      <p:sp>
        <p:nvSpPr>
          <p:cNvPr id="504835" name="Rectangle 3"/>
          <p:cNvSpPr>
            <a:spLocks noChangeArrowheads="1"/>
          </p:cNvSpPr>
          <p:nvPr/>
        </p:nvSpPr>
        <p:spPr bwMode="auto">
          <a:xfrm>
            <a:off x="2101851" y="1295400"/>
            <a:ext cx="8278813" cy="421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71463" indent="-271463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</a:rPr>
              <a:t>在一个文件内定义的函数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400" b="1" dirty="0">
                <a:solidFill>
                  <a:srgbClr val="000000"/>
                </a:solidFill>
              </a:rPr>
              <a:t>也可以被其他文件内的函数调用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这样的的函数称为外部函数。</a:t>
            </a:r>
          </a:p>
          <a:p>
            <a:pPr marL="271463" indent="-271463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</a:rPr>
              <a:t>格式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800" b="1" dirty="0">
                <a:solidFill>
                  <a:srgbClr val="FFCF01"/>
                </a:solidFill>
                <a:ea typeface="宋体" pitchFamily="2" charset="-122"/>
              </a:rPr>
              <a:t>    </a:t>
            </a:r>
          </a:p>
          <a:p>
            <a:pPr marL="271463" indent="-271463"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             extern   </a:t>
            </a:r>
            <a:r>
              <a:rPr lang="zh-CN" altLang="en-US" sz="2800" b="1" dirty="0">
                <a:solidFill>
                  <a:srgbClr val="000000"/>
                </a:solidFill>
              </a:rPr>
              <a:t>函数类型</a:t>
            </a:r>
            <a:r>
              <a:rPr lang="zh-CN" altLang="en-US" sz="2800" b="1" dirty="0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</a:rPr>
              <a:t>函数名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</a:rPr>
              <a:t>形参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marL="271463" indent="-271463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说明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</a:p>
          <a:p>
            <a:pPr marL="714375" lvl="1" indent="-263525" fontAlgn="base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在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语言中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函数前如果无关键字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extern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隐含为外部函数。</a:t>
            </a:r>
          </a:p>
          <a:p>
            <a:pPr marL="714375" lvl="1" indent="-263525" fontAlgn="base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在调用它的其他文件中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用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extern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加函数原型来声明所用的函数是外部函数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953858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370139" y="73025"/>
            <a:ext cx="7793037" cy="793750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例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</a:t>
            </a:r>
          </a:p>
        </p:txBody>
      </p:sp>
      <p:sp>
        <p:nvSpPr>
          <p:cNvPr id="505859" name="Text Box 3"/>
          <p:cNvSpPr txBox="1">
            <a:spLocks noChangeArrowheads="1"/>
          </p:cNvSpPr>
          <p:nvPr/>
        </p:nvSpPr>
        <p:spPr bwMode="auto">
          <a:xfrm>
            <a:off x="1559497" y="1306513"/>
            <a:ext cx="4712718" cy="3211713"/>
          </a:xfrm>
          <a:prstGeom prst="rect">
            <a:avLst/>
          </a:prstGeom>
          <a:solidFill>
            <a:srgbClr val="D1E8FF"/>
          </a:solidFill>
          <a:ln w="9525" cmpd="sng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Dotum" pitchFamily="34" charset="-127"/>
              </a:rPr>
              <a:t>#include &lt;stdio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ea typeface="Dotum" pitchFamily="34" charset="-127"/>
              </a:rPr>
              <a:t>h&gt;</a:t>
            </a:r>
            <a:endParaRPr lang="zh-CN" altLang="en-US" sz="2400" b="1" dirty="0">
              <a:solidFill>
                <a:srgbClr val="000000"/>
              </a:solidFill>
              <a:ea typeface="宋体" pitchFamily="2" charset="-122"/>
            </a:endParaRPr>
          </a:p>
          <a:p>
            <a:pPr fontAlgn="base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ea typeface="宋体" pitchFamily="2" charset="-122"/>
              </a:rPr>
              <a:t>int  a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en-US" sz="2400" b="1" dirty="0">
                <a:solidFill>
                  <a:srgbClr val="0000FF"/>
                </a:solidFill>
                <a:ea typeface="宋体" pitchFamily="2" charset="-122"/>
              </a:rPr>
              <a:t> 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    </a:t>
            </a:r>
            <a:r>
              <a:rPr lang="en-GB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Dotum" pitchFamily="34" charset="-127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Dotum" pitchFamily="34" charset="-127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定义外部变量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70C0"/>
                </a:solidFill>
                <a:ea typeface="宋体" pitchFamily="2" charset="-122"/>
              </a:rPr>
              <a:t>extern  int  max</a:t>
            </a:r>
            <a:r>
              <a:rPr lang="zh-CN" altLang="en-US" sz="24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( );</a:t>
            </a:r>
          </a:p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void main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</a:p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{scanf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%d%d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”,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宋体" pitchFamily="2" charset="-122"/>
              </a:rPr>
              <a:t>&amp;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宋体" pitchFamily="2" charset="-122"/>
              </a:rPr>
              <a:t>&amp;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  printf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%d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”,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 max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));</a:t>
            </a:r>
          </a:p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}</a:t>
            </a:r>
          </a:p>
        </p:txBody>
      </p:sp>
      <p:sp>
        <p:nvSpPr>
          <p:cNvPr id="505860" name="Text Box 4"/>
          <p:cNvSpPr txBox="1">
            <a:spLocks noChangeArrowheads="1"/>
          </p:cNvSpPr>
          <p:nvPr/>
        </p:nvSpPr>
        <p:spPr bwMode="auto">
          <a:xfrm>
            <a:off x="6543676" y="1344613"/>
            <a:ext cx="4880916" cy="2770716"/>
          </a:xfrm>
          <a:prstGeom prst="rect">
            <a:avLst/>
          </a:prstGeom>
          <a:solidFill>
            <a:srgbClr val="D1E8FF"/>
          </a:solidFill>
          <a:ln w="9525" cmpd="sng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tIns="118800" bIns="6480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extern int  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 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GB" altLang="en-US" sz="2000" b="1" dirty="0">
                <a:solidFill>
                  <a:srgbClr val="000000"/>
                </a:solidFill>
                <a:ea typeface="Dotum" pitchFamily="34" charset="-127"/>
              </a:rPr>
              <a:t>         </a:t>
            </a:r>
            <a:r>
              <a:rPr lang="en-GB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Dotum" pitchFamily="34" charset="-127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声明外部变量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70C0"/>
                </a:solidFill>
                <a:ea typeface="宋体" pitchFamily="2" charset="-122"/>
              </a:rPr>
              <a:t>int max</a:t>
            </a:r>
            <a:r>
              <a:rPr lang="zh-CN" altLang="en-US" sz="24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( )</a:t>
            </a:r>
            <a:r>
              <a:rPr lang="zh-CN" altLang="en-US" sz="2400" b="1" dirty="0">
                <a:solidFill>
                  <a:srgbClr val="0070C0"/>
                </a:solidFill>
                <a:ea typeface="宋体" pitchFamily="2" charset="-122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    return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ea typeface="宋体" pitchFamily="2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b?a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b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05863" name="Text Box 7"/>
          <p:cNvSpPr txBox="1">
            <a:spLocks noChangeArrowheads="1"/>
          </p:cNvSpPr>
          <p:nvPr/>
        </p:nvSpPr>
        <p:spPr bwMode="auto">
          <a:xfrm>
            <a:off x="1415480" y="4720490"/>
            <a:ext cx="15636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f1</a:t>
            </a:r>
            <a:r>
              <a:rPr lang="zh-CN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.</a:t>
            </a:r>
            <a:r>
              <a:rPr lang="zh-CN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c</a:t>
            </a:r>
            <a:endParaRPr lang="zh-CN" altLang="zh-CN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Dotum" pitchFamily="34" charset="-127"/>
            </a:endParaRPr>
          </a:p>
        </p:txBody>
      </p:sp>
      <p:sp>
        <p:nvSpPr>
          <p:cNvPr id="505864" name="Text Box 8"/>
          <p:cNvSpPr txBox="1">
            <a:spLocks noChangeArrowheads="1"/>
          </p:cNvSpPr>
          <p:nvPr/>
        </p:nvSpPr>
        <p:spPr bwMode="auto">
          <a:xfrm>
            <a:off x="6672064" y="4581128"/>
            <a:ext cx="156368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f2</a:t>
            </a:r>
            <a:r>
              <a:rPr lang="zh-CN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.</a:t>
            </a:r>
            <a:r>
              <a:rPr lang="zh-CN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c</a:t>
            </a:r>
            <a:endParaRPr lang="zh-CN" altLang="zh-CN" sz="4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Dotum" pitchFamily="34" charset="-127"/>
            </a:endParaRPr>
          </a:p>
        </p:txBody>
      </p:sp>
      <p:pic>
        <p:nvPicPr>
          <p:cNvPr id="505865" name="Picture 9" descr="b1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88" y="6165850"/>
            <a:ext cx="182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939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标题 1">
            <a:extLst>
              <a:ext uri="{FF2B5EF4-FFF2-40B4-BE49-F238E27FC236}">
                <a16:creationId xmlns:a16="http://schemas.microsoft.com/office/drawing/2014/main" id="{3EDBB583-8DFC-4937-9665-FCDB12FD8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83632" y="1"/>
            <a:ext cx="7793038" cy="114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2400" dirty="0"/>
              <a:t>变量的作用域和生存期小结</a:t>
            </a:r>
          </a:p>
        </p:txBody>
      </p:sp>
      <p:graphicFrame>
        <p:nvGraphicFramePr>
          <p:cNvPr id="4" name="Group 141">
            <a:extLst>
              <a:ext uri="{FF2B5EF4-FFF2-40B4-BE49-F238E27FC236}">
                <a16:creationId xmlns:a16="http://schemas.microsoft.com/office/drawing/2014/main" id="{1A4A5A65-3DFD-4790-91EB-9C81A41A2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583353"/>
              </p:ext>
            </p:extLst>
          </p:nvPr>
        </p:nvGraphicFramePr>
        <p:xfrm>
          <a:off x="983432" y="1546224"/>
          <a:ext cx="11017223" cy="4511040"/>
        </p:xfrm>
        <a:graphic>
          <a:graphicData uri="http://schemas.openxmlformats.org/drawingml/2006/table">
            <a:tbl>
              <a:tblPr/>
              <a:tblGrid>
                <a:gridCol w="1766120">
                  <a:extLst>
                    <a:ext uri="{9D8B030D-6E8A-4147-A177-3AD203B41FA5}">
                      <a16:colId xmlns:a16="http://schemas.microsoft.com/office/drawing/2014/main" val="1634509755"/>
                    </a:ext>
                  </a:extLst>
                </a:gridCol>
                <a:gridCol w="2050304">
                  <a:extLst>
                    <a:ext uri="{9D8B030D-6E8A-4147-A177-3AD203B41FA5}">
                      <a16:colId xmlns:a16="http://schemas.microsoft.com/office/drawing/2014/main" val="219262186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4149443256"/>
                    </a:ext>
                  </a:extLst>
                </a:gridCol>
                <a:gridCol w="5112567">
                  <a:extLst>
                    <a:ext uri="{9D8B030D-6E8A-4147-A177-3AD203B41FA5}">
                      <a16:colId xmlns:a16="http://schemas.microsoft.com/office/drawing/2014/main" val="4007116096"/>
                    </a:ext>
                  </a:extLst>
                </a:gridCol>
              </a:tblGrid>
              <a:tr h="4357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变 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允许的存储类别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生 存 期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作 用 域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368326"/>
                  </a:ext>
                </a:extLst>
              </a:tr>
              <a:tr h="754011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外部变量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省略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[extern]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与程序相同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静态生存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定义点到程序结束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作用域外需要用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extern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声明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116"/>
                  </a:ext>
                </a:extLst>
              </a:tr>
              <a:tr h="7540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  <a:sym typeface="Verdana" panose="020B0604030504040204" pitchFamily="34" charset="0"/>
                        </a:rPr>
                        <a:t>从定义点到程序结束</a:t>
                      </a:r>
                      <a:endParaRPr kumimoji="0" lang="en-US" altLang="zh-CN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  <a:cs typeface="Times New Roman" panose="02020603050405020304" pitchFamily="18" charset="0"/>
                        <a:sym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只能在定义它的文件内使用）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956197"/>
                  </a:ext>
                </a:extLst>
              </a:tr>
              <a:tr h="435726"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内部变量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auto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或省略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与函数相同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kumimoji="0" lang="zh-CN" altLang="en-US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  <a:sym typeface="Verdana" panose="020B0604030504040204" pitchFamily="34" charset="0"/>
                        </a:rPr>
                        <a:t>动态生存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定义该变量的</a:t>
                      </a:r>
                      <a:endParaRPr kumimoji="0" lang="en-US" altLang="zh-CN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函数或复合语句内</a:t>
                      </a: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445325"/>
                  </a:ext>
                </a:extLst>
              </a:tr>
              <a:tr h="4357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register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061199"/>
                  </a:ext>
                </a:extLst>
              </a:tr>
              <a:tr h="4357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-2628900" algn="l"/>
                        </a:tabLst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  <a:sym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2628900" algn="l"/>
                        </a:tabLst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（静态生存）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36732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69CD827-276A-9BA2-982A-F801313E85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2422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局部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内部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其默认的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存储类别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关键字为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全局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外部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其默认的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存储类别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关键字为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函数的</a:t>
            </a:r>
            <a:r>
              <a:rPr lang="zh-CN" altLang="en-US" sz="2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存储类别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默认关键字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9502E08-943F-83CD-3B05-CFDF8643230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115A1D2-C6F4-CDF7-3947-77D6CEB8F33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73659E0B-C289-8C8A-B5B5-9E5E53999B0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89B51923-4AAC-BF2E-F083-03E4D339C30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AE024994-5C25-FDA5-FBE5-61EC60F31E28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0C72DDBF-4207-325D-2B37-6F31B6801D7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84B5406-702F-9C95-27B3-3250F6173F2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73166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2446E6-B18C-0722-EADF-E5E61990A6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06500" y="744220"/>
            <a:ext cx="9753600" cy="632239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#include </a:t>
            </a:r>
            <a:r>
              <a:rPr lang="zh-CN" altLang="zh-CN" sz="2800" b="1" dirty="0">
                <a:latin typeface="Times New Roman" pitchFamily="18" charset="0"/>
              </a:rPr>
              <a:t>“</a:t>
            </a:r>
            <a:r>
              <a:rPr lang="zh-CN" altLang="zh-CN" sz="2800" b="1" dirty="0"/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/>
              <a:t>h</a:t>
            </a:r>
            <a:r>
              <a:rPr lang="zh-CN" altLang="zh-CN" sz="2800" b="1" dirty="0">
                <a:latin typeface="Times New Roman"/>
              </a:rPr>
              <a:t>”</a:t>
            </a:r>
            <a:endParaRPr lang="zh-CN" altLang="zh-CN" sz="2800" b="1" dirty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DA0000"/>
                </a:solidFill>
              </a:rPr>
              <a:t>int  id=3</a:t>
            </a:r>
            <a:r>
              <a:rPr lang="zh-CN" altLang="zh-CN" sz="2800" b="1" dirty="0">
                <a:solidFill>
                  <a:srgbClr val="DA0000"/>
                </a:solidFill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{ </a:t>
            </a:r>
            <a:endParaRPr lang="en-US" altLang="zh-CN" sz="2800" b="1" dirty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/>
              <a:t>   </a:t>
            </a:r>
            <a:r>
              <a:rPr lang="zh-CN" altLang="zh-CN" sz="2800" b="1" dirty="0"/>
              <a:t>int  id=5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{ </a:t>
            </a:r>
            <a:endParaRPr lang="en-US" altLang="zh-CN" sz="2800" b="1" dirty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/>
              <a:t>      </a:t>
            </a:r>
            <a:r>
              <a:rPr lang="zh-CN" altLang="zh-CN" sz="2800" b="1" dirty="0"/>
              <a:t>int  id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id=7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id=%d</a:t>
            </a:r>
            <a:r>
              <a:rPr lang="zh-CN" altLang="zh-CN" sz="2800" dirty="0"/>
              <a:t>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 pitchFamily="18" charset="0"/>
              </a:rPr>
              <a:t>”, </a:t>
            </a:r>
            <a:r>
              <a:rPr lang="zh-CN" altLang="zh-CN" sz="2800" b="1" dirty="0"/>
              <a:t>id 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  <a:r>
              <a:rPr lang="zh-CN" altLang="en-US" sz="2800" b="1" dirty="0">
                <a:latin typeface="Times New Roman" pitchFamily="18" charset="0"/>
              </a:rPr>
              <a:t>此处输出</a:t>
            </a:r>
            <a:r>
              <a:rPr lang="en-US" altLang="zh-CN" sz="2800" b="1" dirty="0">
                <a:latin typeface="Times New Roman" pitchFamily="18" charset="0"/>
              </a:rPr>
              <a:t>:</a:t>
            </a:r>
            <a:r>
              <a:rPr lang="zh-CN" altLang="en-US" sz="2800" b="1" dirty="0">
                <a:solidFill>
                  <a:srgbClr val="639EF4"/>
                </a:solidFill>
                <a:latin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639EF4"/>
                </a:solidFill>
                <a:latin typeface="Times New Roman" pitchFamily="18" charset="0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Times New Roman" pitchFamily="18" charset="0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Times New Roman" pitchFamily="18" charset="0"/>
              </a:rPr>
              <a:t>1]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zh-CN" altLang="zh-CN" sz="28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 dirty="0"/>
              <a:t>  </a:t>
            </a:r>
            <a:r>
              <a:rPr lang="en-US" altLang="zh-CN" sz="2800" b="1" dirty="0"/>
              <a:t>  </a:t>
            </a:r>
            <a:r>
              <a:rPr lang="zh-CN" altLang="zh-CN" sz="2800" b="1" dirty="0"/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 dirty="0"/>
              <a:t>   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id=%d</a:t>
            </a:r>
            <a:r>
              <a:rPr lang="zh-CN" altLang="zh-CN" sz="2800" dirty="0"/>
              <a:t>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 pitchFamily="18" charset="0"/>
              </a:rPr>
              <a:t>”, </a:t>
            </a:r>
            <a:r>
              <a:rPr lang="zh-CN" altLang="zh-CN" sz="2800" b="1" dirty="0"/>
              <a:t>id 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  <a:r>
              <a:rPr lang="zh-CN" altLang="en-US" sz="2800" b="1" dirty="0">
                <a:latin typeface="Times New Roman" pitchFamily="18" charset="0"/>
              </a:rPr>
              <a:t>此处输出</a:t>
            </a:r>
            <a:r>
              <a:rPr lang="en-US" altLang="zh-CN" sz="2800" b="1" dirty="0">
                <a:latin typeface="Times New Roman" pitchFamily="18" charset="0"/>
              </a:rPr>
              <a:t>:</a:t>
            </a:r>
            <a:r>
              <a:rPr lang="zh-CN" altLang="en-US" sz="2800" b="1" dirty="0">
                <a:solidFill>
                  <a:srgbClr val="639EF4"/>
                </a:solidFill>
                <a:latin typeface="Times New Roman" pitchFamily="18" charset="0"/>
              </a:rPr>
              <a:t>  </a:t>
            </a:r>
            <a:r>
              <a:rPr lang="en-US" altLang="zh-CN" sz="2800" b="1" dirty="0">
                <a:solidFill>
                  <a:srgbClr val="639EF4"/>
                </a:solidFill>
                <a:latin typeface="Times New Roman" pitchFamily="18" charset="0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Times New Roman" pitchFamily="18" charset="0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Times New Roman" pitchFamily="18" charset="0"/>
              </a:rPr>
              <a:t>2]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zh-CN" altLang="zh-CN" sz="28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 dirty="0"/>
              <a:t>}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A986749-6F25-200F-28AA-B35AD7A52879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1A30358-7908-AF36-E2AF-CD73C9A51DD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8B9E7FBF-2052-D55B-F7CA-7D009BB2626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87CD6DF-C62D-FEBC-4940-8A38E781265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A11B656E-80B6-05C2-8E7F-AF270F5998B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107550CA-22FA-9343-B9C2-516A763F43A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79D7568-7FA7-98E9-EDA2-6DF1BE3BBED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91268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8050088" cy="33522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zh-CN" altLang="zh-CN" sz="3200" b="1" dirty="0"/>
              <a:t>函数调用语句 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f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((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x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,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y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), (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a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,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b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,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c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),(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1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,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2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,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3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,</a:t>
            </a:r>
            <a:r>
              <a:rPr lang="zh-CN" altLang="zh-CN" sz="3200" b="1" dirty="0">
                <a:solidFill>
                  <a:srgbClr val="2E2EBA"/>
                </a:solidFill>
                <a:latin typeface="Arial" pitchFamily="34" charset="0"/>
              </a:rPr>
              <a:t>4</a:t>
            </a:r>
            <a:r>
              <a:rPr lang="zh-CN" altLang="zh-CN" sz="3200" b="1" dirty="0">
                <a:solidFill>
                  <a:srgbClr val="2E2EBA"/>
                </a:solidFill>
                <a:latin typeface="Times New Roman" pitchFamily="18" charset="0"/>
              </a:rPr>
              <a:t>));</a:t>
            </a:r>
            <a:r>
              <a:rPr lang="zh-CN" altLang="zh-CN" sz="3200" b="1" dirty="0"/>
              <a:t>中</a:t>
            </a:r>
            <a:r>
              <a:rPr lang="zh-CN" altLang="zh-CN" sz="3200" b="1" dirty="0">
                <a:latin typeface="Times New Roman" pitchFamily="18" charset="0"/>
              </a:rPr>
              <a:t>,  </a:t>
            </a:r>
            <a:r>
              <a:rPr lang="zh-CN" altLang="zh-CN" sz="3200" b="1" dirty="0"/>
              <a:t>所含的实参个数是</a:t>
            </a:r>
            <a:r>
              <a:rPr lang="zh-CN" altLang="zh-CN" sz="3200" b="1" dirty="0">
                <a:latin typeface="Times New Roman" pitchFamily="18" charset="0"/>
              </a:rPr>
              <a:t>: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4024611" y="4005064"/>
            <a:ext cx="87099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368011" y="4069357"/>
            <a:ext cx="87099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4024611" y="5004396"/>
            <a:ext cx="87099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368011" y="5068689"/>
            <a:ext cx="87099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3310236" y="406935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653636" y="4133650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3310236" y="5068689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653636" y="513298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20139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1052736"/>
            <a:ext cx="7315200" cy="460851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BE00BE"/>
                </a:solidFill>
                <a:latin typeface="Arial" pitchFamily="34" charset="0"/>
                <a:ea typeface="楷体_GB2312" pitchFamily="49" charset="-122"/>
              </a:rPr>
              <a:t>void fun</a:t>
            </a:r>
            <a:r>
              <a:rPr lang="zh-CN" altLang="zh-CN" sz="2400" b="1" dirty="0">
                <a:solidFill>
                  <a:srgbClr val="BE00BE"/>
                </a:solidFill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rgbClr val="BE00BE"/>
                </a:solidFill>
                <a:latin typeface="Times New Roman" pitchFamily="18" charset="0"/>
                <a:ea typeface="楷体_GB2312" pitchFamily="49" charset="-122"/>
              </a:rPr>
              <a:t>( </a:t>
            </a:r>
            <a:r>
              <a:rPr lang="zh-CN" altLang="zh-CN" sz="2400" b="1" dirty="0">
                <a:solidFill>
                  <a:srgbClr val="BE00BE"/>
                </a:solidFill>
                <a:latin typeface="Arial" pitchFamily="34" charset="0"/>
                <a:ea typeface="楷体_GB2312" pitchFamily="49" charset="-122"/>
              </a:rPr>
              <a:t>int</a:t>
            </a:r>
            <a:r>
              <a:rPr lang="zh-CN" altLang="zh-CN" sz="2400" b="1" dirty="0">
                <a:solidFill>
                  <a:srgbClr val="BE00BE"/>
                </a:solidFill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rgbClr val="BE00BE"/>
                </a:solidFill>
                <a:latin typeface="Arial" pitchFamily="34" charset="0"/>
                <a:ea typeface="楷体_GB2312" pitchFamily="49" charset="-122"/>
              </a:rPr>
              <a:t>a</a:t>
            </a:r>
            <a:r>
              <a:rPr lang="zh-CN" altLang="zh-CN" sz="2400" b="1" dirty="0">
                <a:solidFill>
                  <a:srgbClr val="BE00BE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zh-CN" altLang="zh-CN" sz="2400" b="1" dirty="0">
                <a:solidFill>
                  <a:srgbClr val="BE00BE"/>
                </a:solidFill>
                <a:latin typeface="Arial" pitchFamily="34" charset="0"/>
                <a:ea typeface="楷体_GB2312" pitchFamily="49" charset="-122"/>
              </a:rPr>
              <a:t>int</a:t>
            </a:r>
            <a:r>
              <a:rPr lang="zh-CN" altLang="zh-CN" sz="2400" b="1" dirty="0">
                <a:solidFill>
                  <a:srgbClr val="BE00BE"/>
                </a:solidFill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rgbClr val="BE00BE"/>
                </a:solidFill>
                <a:latin typeface="Arial" pitchFamily="34" charset="0"/>
                <a:ea typeface="楷体_GB2312" pitchFamily="49" charset="-122"/>
              </a:rPr>
              <a:t>b</a:t>
            </a:r>
            <a:r>
              <a:rPr lang="zh-CN" altLang="zh-CN" sz="2400" b="1" dirty="0">
                <a:solidFill>
                  <a:srgbClr val="BE00BE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zh-CN" altLang="zh-CN" sz="2400" b="1" dirty="0">
                <a:solidFill>
                  <a:srgbClr val="BE00BE"/>
                </a:solidFill>
                <a:latin typeface="Arial" pitchFamily="34" charset="0"/>
                <a:ea typeface="楷体_GB2312" pitchFamily="49" charset="-122"/>
              </a:rPr>
              <a:t>int</a:t>
            </a:r>
            <a:r>
              <a:rPr lang="zh-CN" altLang="zh-CN" sz="2400" b="1" dirty="0">
                <a:solidFill>
                  <a:srgbClr val="BE00BE"/>
                </a:solidFill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rgbClr val="BE00BE"/>
                </a:solidFill>
                <a:latin typeface="Arial" pitchFamily="34" charset="0"/>
                <a:ea typeface="楷体_GB2312" pitchFamily="49" charset="-122"/>
              </a:rPr>
              <a:t>c</a:t>
            </a:r>
            <a:r>
              <a:rPr lang="zh-CN" altLang="zh-CN" sz="2400" b="1" dirty="0">
                <a:solidFill>
                  <a:srgbClr val="BE00BE"/>
                </a:solidFill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楷体_GB2312" pitchFamily="49" charset="-122"/>
              </a:rPr>
              <a:t>　{ a=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456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;</a:t>
            </a:r>
            <a:r>
              <a:rPr lang="zh-CN" altLang="zh-CN" sz="2400" b="1" dirty="0">
                <a:ea typeface="楷体_GB2312" pitchFamily="49" charset="-122"/>
              </a:rPr>
              <a:t> b=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567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;</a:t>
            </a:r>
            <a:r>
              <a:rPr lang="zh-CN" altLang="zh-CN" sz="2400" b="1" dirty="0">
                <a:ea typeface="楷体_GB2312" pitchFamily="49" charset="-122"/>
              </a:rPr>
              <a:t> c=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678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;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楷体_GB2312" pitchFamily="49" charset="-122"/>
              </a:rPr>
              <a:t>    }</a:t>
            </a: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main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( )</a:t>
            </a:r>
            <a:r>
              <a:rPr lang="zh-CN" altLang="zh-CN" sz="2400" b="1" dirty="0">
                <a:ea typeface="楷体_GB2312" pitchFamily="49" charset="-122"/>
              </a:rPr>
              <a:t>　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楷体_GB2312" pitchFamily="49" charset="-122"/>
              </a:rPr>
              <a:t>　{ 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int</a:t>
            </a:r>
            <a:r>
              <a:rPr lang="zh-CN" altLang="zh-CN" sz="2400" b="1" dirty="0">
                <a:ea typeface="楷体_GB2312" pitchFamily="49" charset="-122"/>
              </a:rPr>
              <a:t>  x=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10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,</a:t>
            </a:r>
            <a:r>
              <a:rPr lang="zh-CN" altLang="zh-CN" sz="2400" b="1" dirty="0">
                <a:ea typeface="楷体_GB2312" pitchFamily="49" charset="-122"/>
              </a:rPr>
              <a:t> y=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20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,</a:t>
            </a:r>
            <a:r>
              <a:rPr lang="zh-CN" altLang="zh-CN" sz="2400" b="1" dirty="0">
                <a:ea typeface="楷体_GB2312" pitchFamily="49" charset="-122"/>
              </a:rPr>
              <a:t> z=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30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;</a:t>
            </a:r>
            <a:r>
              <a:rPr lang="zh-CN" altLang="zh-CN" sz="2400" b="1" dirty="0">
                <a:ea typeface="楷体_GB2312" pitchFamily="49" charset="-122"/>
              </a:rPr>
              <a:t>　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楷体_GB2312" pitchFamily="49" charset="-122"/>
              </a:rPr>
              <a:t>   　</a:t>
            </a:r>
            <a:r>
              <a:rPr lang="zh-CN" altLang="zh-CN" sz="2400" b="1" dirty="0">
                <a:solidFill>
                  <a:srgbClr val="BE00BE"/>
                </a:solidFill>
                <a:latin typeface="Arial" pitchFamily="34" charset="0"/>
                <a:ea typeface="楷体_GB2312" pitchFamily="49" charset="-122"/>
              </a:rPr>
              <a:t>fun</a:t>
            </a:r>
            <a:r>
              <a:rPr lang="zh-CN" altLang="zh-CN" sz="2400" b="1" dirty="0">
                <a:solidFill>
                  <a:srgbClr val="BE00BE"/>
                </a:solidFill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rgbClr val="BE00BE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zh-CN" altLang="zh-CN" sz="2400" b="1" dirty="0">
                <a:solidFill>
                  <a:srgbClr val="BE00BE"/>
                </a:solidFill>
                <a:ea typeface="楷体_GB2312" pitchFamily="49" charset="-122"/>
              </a:rPr>
              <a:t>x</a:t>
            </a:r>
            <a:r>
              <a:rPr lang="zh-CN" altLang="zh-CN" sz="2400" b="1" dirty="0">
                <a:solidFill>
                  <a:srgbClr val="BE00BE"/>
                </a:solidFill>
                <a:latin typeface="Times New Roman" pitchFamily="18" charset="0"/>
                <a:ea typeface="楷体_GB2312" pitchFamily="49" charset="-122"/>
              </a:rPr>
              <a:t>,</a:t>
            </a:r>
            <a:r>
              <a:rPr lang="zh-CN" altLang="zh-CN" sz="2400" b="1" dirty="0">
                <a:solidFill>
                  <a:srgbClr val="BE00BE"/>
                </a:solidFill>
                <a:ea typeface="楷体_GB2312" pitchFamily="49" charset="-122"/>
              </a:rPr>
              <a:t> y</a:t>
            </a:r>
            <a:r>
              <a:rPr lang="zh-CN" altLang="zh-CN" sz="2400" b="1" dirty="0">
                <a:solidFill>
                  <a:srgbClr val="BE00BE"/>
                </a:solidFill>
                <a:latin typeface="Times New Roman" pitchFamily="18" charset="0"/>
                <a:ea typeface="楷体_GB2312" pitchFamily="49" charset="-122"/>
              </a:rPr>
              <a:t>,</a:t>
            </a:r>
            <a:r>
              <a:rPr lang="zh-CN" altLang="zh-CN" sz="2400" b="1" dirty="0">
                <a:solidFill>
                  <a:srgbClr val="BE00BE"/>
                </a:solidFill>
                <a:ea typeface="楷体_GB2312" pitchFamily="49" charset="-122"/>
              </a:rPr>
              <a:t> z</a:t>
            </a:r>
            <a:r>
              <a:rPr lang="zh-CN" altLang="zh-CN" sz="2400" b="1" dirty="0">
                <a:solidFill>
                  <a:srgbClr val="BE00BE"/>
                </a:solidFill>
                <a:latin typeface="Times New Roman" pitchFamily="18" charset="0"/>
                <a:ea typeface="楷体_GB2312" pitchFamily="49" charset="-122"/>
              </a:rPr>
              <a:t>) ;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　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楷体_GB2312" pitchFamily="49" charset="-122"/>
              </a:rPr>
              <a:t>   　</a:t>
            </a:r>
            <a:r>
              <a:rPr lang="zh-CN" altLang="zh-CN" sz="2400" b="1" dirty="0">
                <a:latin typeface="Arial" pitchFamily="34" charset="0"/>
                <a:ea typeface="楷体_GB2312" pitchFamily="49" charset="-122"/>
              </a:rPr>
              <a:t>printf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(“</a:t>
            </a:r>
            <a:r>
              <a:rPr lang="zh-CN" altLang="zh-CN" sz="2400" b="1" dirty="0">
                <a:ea typeface="楷体_GB2312" pitchFamily="49" charset="-122"/>
              </a:rPr>
              <a:t>%d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,</a:t>
            </a:r>
            <a:r>
              <a:rPr lang="zh-CN" altLang="zh-CN" sz="2400" b="1" dirty="0">
                <a:ea typeface="楷体_GB2312" pitchFamily="49" charset="-122"/>
              </a:rPr>
              <a:t>%d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,</a:t>
            </a:r>
            <a:r>
              <a:rPr lang="zh-CN" altLang="zh-CN" sz="2400" b="1" dirty="0">
                <a:ea typeface="楷体_GB2312" pitchFamily="49" charset="-122"/>
              </a:rPr>
              <a:t>%d</a:t>
            </a:r>
            <a:r>
              <a:rPr lang="zh-CN" altLang="zh-CN" sz="2400" dirty="0">
                <a:ea typeface="楷体_GB2312" pitchFamily="49" charset="-122"/>
              </a:rPr>
              <a:t>\</a:t>
            </a:r>
            <a:r>
              <a:rPr lang="zh-CN" altLang="zh-CN" sz="2400" b="1" dirty="0">
                <a:ea typeface="楷体_GB2312" pitchFamily="49" charset="-122"/>
              </a:rPr>
              <a:t>n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”,  </a:t>
            </a:r>
            <a:r>
              <a:rPr lang="zh-CN" altLang="zh-CN" sz="2400" b="1" dirty="0">
                <a:ea typeface="楷体_GB2312" pitchFamily="49" charset="-122"/>
              </a:rPr>
              <a:t>x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zh-CN" altLang="zh-CN" sz="2400" b="1" dirty="0">
                <a:ea typeface="楷体_GB2312" pitchFamily="49" charset="-122"/>
              </a:rPr>
              <a:t>y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zh-CN" altLang="zh-CN" sz="2400" b="1" dirty="0">
                <a:ea typeface="楷体_GB2312" pitchFamily="49" charset="-122"/>
              </a:rPr>
              <a:t>z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);</a:t>
            </a:r>
            <a:r>
              <a:rPr lang="zh-CN" altLang="zh-CN" sz="2400" b="1" dirty="0">
                <a:ea typeface="楷体_GB2312" pitchFamily="49" charset="-122"/>
              </a:rPr>
              <a:t>　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楷体_GB2312" pitchFamily="49" charset="-122"/>
              </a:rPr>
              <a:t>　}  </a:t>
            </a:r>
            <a:endParaRPr lang="en-US" altLang="zh-CN" sz="2400" b="1" dirty="0">
              <a:ea typeface="楷体_GB2312" pitchFamily="49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输出结果为</a:t>
            </a:r>
            <a:r>
              <a:rPr lang="en-US" altLang="zh-CN" sz="2400" b="1" dirty="0">
                <a:ea typeface="楷体_GB2312" pitchFamily="49" charset="-122"/>
              </a:rPr>
              <a:t>:</a:t>
            </a:r>
            <a:r>
              <a:rPr lang="zh-CN" altLang="en-US" sz="2400" b="1" dirty="0">
                <a:solidFill>
                  <a:srgbClr val="639EF4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ea typeface="楷体_GB2312" pitchFamily="49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ea typeface="楷体_GB2312" pitchFamily="49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ea typeface="楷体_GB2312" pitchFamily="49" charset="-122"/>
              </a:rPr>
              <a:t>1]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endParaRPr lang="zh-CN" altLang="zh-CN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 bwMode="auto">
          <a:xfrm>
            <a:off x="1524000" y="5849303"/>
            <a:ext cx="9144000" cy="365760"/>
          </a:xfrm>
          <a:prstGeom prst="rect">
            <a:avLst/>
          </a:prstGeom>
          <a:solidFill>
            <a:srgbClr val="FBFAEF">
              <a:alpha val="50000"/>
            </a:srgbClr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2BB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7594600" cy="635000"/>
            <a:chOff x="-2211212" y="-1385392"/>
            <a:chExt cx="9144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-2211212" y="-1385392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-2211212" y="-1385392"/>
              <a:ext cx="190501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905393" y="-1385392"/>
              <a:ext cx="1905001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-374002" y="-1276172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90457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1894942" y="495697"/>
            <a:ext cx="9673665" cy="4322857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ea typeface="黑体" pitchFamily="49" charset="-122"/>
              </a:rPr>
              <a:t>#include &lt;stdio.h&gt;</a:t>
            </a:r>
          </a:p>
          <a:p>
            <a:pPr>
              <a:spcAft>
                <a:spcPts val="600"/>
              </a:spcAft>
            </a:pPr>
            <a:r>
              <a:rPr lang="en-US" altLang="zh-CN" sz="2800" b="1">
                <a:ea typeface="黑体" pitchFamily="49" charset="-122"/>
              </a:rPr>
              <a:t>int a,b;</a:t>
            </a:r>
          </a:p>
          <a:p>
            <a:pPr>
              <a:spcAft>
                <a:spcPts val="600"/>
              </a:spcAft>
            </a:pPr>
            <a:r>
              <a:rPr lang="en-US" altLang="zh-CN" sz="2800" b="1">
                <a:ea typeface="黑体" pitchFamily="49" charset="-122"/>
              </a:rPr>
              <a:t>void fun()</a:t>
            </a:r>
          </a:p>
          <a:p>
            <a:pPr>
              <a:spcAft>
                <a:spcPts val="600"/>
              </a:spcAft>
            </a:pPr>
            <a:r>
              <a:rPr lang="en-US" altLang="zh-CN" sz="2800" b="1">
                <a:ea typeface="黑体" pitchFamily="49" charset="-122"/>
              </a:rPr>
              <a:t>{ a=100;  b=200; }</a:t>
            </a:r>
          </a:p>
          <a:p>
            <a:pPr>
              <a:spcAft>
                <a:spcPts val="600"/>
              </a:spcAft>
            </a:pPr>
            <a:r>
              <a:rPr lang="en-US" altLang="zh-CN" sz="2800" b="1">
                <a:ea typeface="黑体" pitchFamily="49" charset="-122"/>
              </a:rPr>
              <a:t>main()</a:t>
            </a:r>
          </a:p>
          <a:p>
            <a:pPr>
              <a:spcAft>
                <a:spcPts val="600"/>
              </a:spcAft>
            </a:pPr>
            <a:r>
              <a:rPr lang="en-US" altLang="zh-CN" sz="2800" b="1">
                <a:ea typeface="黑体" pitchFamily="49" charset="-122"/>
              </a:rPr>
              <a:t>{ int a=5,b=7;</a:t>
            </a:r>
          </a:p>
          <a:p>
            <a:pPr>
              <a:spcAft>
                <a:spcPts val="600"/>
              </a:spcAft>
            </a:pPr>
            <a:r>
              <a:rPr lang="en-US" altLang="zh-CN" sz="2800" b="1">
                <a:ea typeface="黑体" pitchFamily="49" charset="-122"/>
              </a:rPr>
              <a:t>   fun();</a:t>
            </a:r>
          </a:p>
          <a:p>
            <a:pPr>
              <a:spcAft>
                <a:spcPts val="600"/>
              </a:spcAft>
            </a:pPr>
            <a:r>
              <a:rPr lang="en-US" altLang="zh-CN" sz="2800" b="1">
                <a:ea typeface="黑体" pitchFamily="49" charset="-122"/>
              </a:rPr>
              <a:t>   printf("%d%d\n",a,b);  }</a:t>
            </a:r>
            <a:r>
              <a:rPr lang="zh-CN" altLang="en-US" sz="3200" b="1">
                <a:ea typeface="黑体" pitchFamily="49" charset="-122"/>
              </a:rPr>
              <a:t>程序的输出结果是</a:t>
            </a:r>
            <a:endParaRPr lang="zh-CN" altLang="en-US" sz="28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3461364" y="5161455"/>
            <a:ext cx="183509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100 200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2746988" y="522574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6520590" y="5161455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702969" y="608299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6520590" y="608299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 bwMode="auto">
          <a:xfrm>
            <a:off x="9881744" y="6166618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3461363" y="6082998"/>
            <a:ext cx="169107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200 100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7536160" y="5161455"/>
            <a:ext cx="84010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5 7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7536159" y="6082998"/>
            <a:ext cx="84010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7 5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40465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17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三、编译预处理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5486400" y="6400800"/>
            <a:ext cx="12192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kumimoji="0" sz="110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新宋体" pitchFamily="49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27AC70-97B4-4D73-B7E6-861E88C9A21D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88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ECFBA-DF2D-40F0-B09B-DC7F306CA42D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18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简介</a:t>
            </a:r>
          </a:p>
        </p:txBody>
      </p:sp>
      <p:sp>
        <p:nvSpPr>
          <p:cNvPr id="118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预处理</a:t>
            </a:r>
            <a:r>
              <a:rPr lang="zh-CN" altLang="en-US" sz="2000" dirty="0">
                <a:solidFill>
                  <a:srgbClr val="FF00FF"/>
                </a:solidFill>
                <a:latin typeface="Comic Sans MS" pitchFamily="66" charset="0"/>
              </a:rPr>
              <a:t>（</a:t>
            </a:r>
            <a:r>
              <a:rPr lang="en-US" altLang="zh-CN" sz="2000" dirty="0">
                <a:solidFill>
                  <a:srgbClr val="FF00FF"/>
                </a:solidFill>
                <a:latin typeface="Comic Sans MS" pitchFamily="66" charset="0"/>
              </a:rPr>
              <a:t>preprocessing</a:t>
            </a:r>
            <a:r>
              <a:rPr lang="zh-CN" altLang="en-US" sz="2000" dirty="0">
                <a:solidFill>
                  <a:srgbClr val="FF00FF"/>
                </a:solidFill>
                <a:latin typeface="Comic Sans MS" pitchFamily="66" charset="0"/>
              </a:rPr>
              <a:t>）</a:t>
            </a:r>
          </a:p>
          <a:p>
            <a:pPr lvl="1"/>
            <a:r>
              <a:rPr lang="zh-CN" altLang="en-US" dirty="0"/>
              <a:t>在实施代码转换（编译）之前进行。</a:t>
            </a:r>
          </a:p>
          <a:p>
            <a:pPr lvl="1"/>
            <a:r>
              <a:rPr lang="zh-CN" altLang="en-US" dirty="0"/>
              <a:t>包括：</a:t>
            </a:r>
          </a:p>
          <a:p>
            <a:pPr marL="1371600" lvl="2" indent="-457200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包含其它文件</a:t>
            </a:r>
          </a:p>
          <a:p>
            <a:pPr marL="1371600" lvl="2" indent="-457200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定义宏</a:t>
            </a:r>
          </a:p>
          <a:p>
            <a:pPr marL="1371600" lvl="2" indent="-457200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有条件的编译程序代码</a:t>
            </a:r>
          </a:p>
          <a:p>
            <a:r>
              <a:rPr lang="zh-CN" altLang="en-US" dirty="0"/>
              <a:t>预处理命令</a:t>
            </a:r>
            <a:r>
              <a:rPr lang="zh-CN" altLang="en-US" sz="2000" dirty="0">
                <a:solidFill>
                  <a:srgbClr val="FF00FF"/>
                </a:solidFill>
                <a:latin typeface="Comic Sans MS" pitchFamily="66" charset="0"/>
              </a:rPr>
              <a:t>（</a:t>
            </a:r>
            <a:r>
              <a:rPr lang="en-US" altLang="zh-CN" sz="2000" dirty="0">
                <a:solidFill>
                  <a:srgbClr val="FF00FF"/>
                </a:solidFill>
                <a:latin typeface="Comic Sans MS" pitchFamily="66" charset="0"/>
              </a:rPr>
              <a:t>preprocessor directive</a:t>
            </a:r>
            <a:r>
              <a:rPr lang="zh-CN" altLang="en-US" sz="2000" dirty="0">
                <a:solidFill>
                  <a:srgbClr val="FF00FF"/>
                </a:solidFill>
                <a:latin typeface="Comic Sans MS" pitchFamily="66" charset="0"/>
              </a:rPr>
              <a:t>）</a:t>
            </a:r>
            <a:r>
              <a:rPr lang="zh-CN" altLang="en-US" dirty="0"/>
              <a:t>的格式</a:t>
            </a:r>
          </a:p>
          <a:p>
            <a:pPr lvl="1"/>
            <a:r>
              <a:rPr lang="zh-CN" altLang="en-US" dirty="0"/>
              <a:t>以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</a:t>
            </a:r>
            <a:r>
              <a:rPr lang="zh-CN" altLang="en-US" dirty="0"/>
              <a:t>开头的一行（可以占多</a:t>
            </a:r>
            <a:r>
              <a:rPr lang="zh-CN" altLang="en-US"/>
              <a:t>行）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7573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75871-8A4F-4F61-9DAF-2778FBC9EF0C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文件包含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把所包含的文件的内容放到指令所在的地方。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两种形式：</a:t>
            </a:r>
          </a:p>
          <a:p>
            <a:pPr lvl="2"/>
            <a:r>
              <a:rPr lang="en-US" altLang="zh-CN" dirty="0"/>
              <a:t>#</a:t>
            </a:r>
            <a:r>
              <a:rPr lang="en-US" altLang="zh-CN" dirty="0">
                <a:solidFill>
                  <a:srgbClr val="FF0000"/>
                </a:solidFill>
              </a:rPr>
              <a:t>include &lt;filename&gt;</a:t>
            </a:r>
          </a:p>
          <a:p>
            <a:pPr lvl="3"/>
            <a:r>
              <a:rPr lang="zh-CN" altLang="en-US" dirty="0"/>
              <a:t>只在指定存放头文件的目录下（</a:t>
            </a:r>
            <a:r>
              <a:rPr lang="en-US" altLang="zh-CN" dirty="0"/>
              <a:t>IDE</a:t>
            </a:r>
            <a:r>
              <a:rPr lang="zh-CN" altLang="en-US" dirty="0"/>
              <a:t>的</a:t>
            </a:r>
            <a:r>
              <a:rPr lang="en-US" altLang="zh-CN" dirty="0"/>
              <a:t>include</a:t>
            </a:r>
            <a:r>
              <a:rPr lang="zh-CN" altLang="en-US" dirty="0"/>
              <a:t>子目录下）查找该文件。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#include "filename“</a:t>
            </a:r>
          </a:p>
          <a:p>
            <a:pPr lvl="3"/>
            <a:r>
              <a:rPr lang="zh-CN" altLang="en-US" b="1" dirty="0">
                <a:solidFill>
                  <a:srgbClr val="FF0000"/>
                </a:solidFill>
              </a:rPr>
              <a:t>首先在源文件所在目录下查找该文件；</a:t>
            </a:r>
          </a:p>
          <a:p>
            <a:pPr lvl="3"/>
            <a:r>
              <a:rPr lang="zh-CN" altLang="en-US" b="1" dirty="0">
                <a:solidFill>
                  <a:srgbClr val="FF0000"/>
                </a:solidFill>
              </a:rPr>
              <a:t>若未找到，再到指定存放头文件的目录下去查找（</a:t>
            </a:r>
            <a:r>
              <a:rPr lang="en-US" altLang="zh-CN" b="1" dirty="0">
                <a:solidFill>
                  <a:srgbClr val="FF0000"/>
                </a:solidFill>
              </a:rPr>
              <a:t>IDE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include</a:t>
            </a:r>
            <a:r>
              <a:rPr lang="zh-CN" altLang="en-US" b="1" dirty="0">
                <a:solidFill>
                  <a:srgbClr val="FF0000"/>
                </a:solidFill>
              </a:rPr>
              <a:t>子目录下）。</a:t>
            </a:r>
          </a:p>
        </p:txBody>
      </p:sp>
    </p:spTree>
    <p:extLst>
      <p:ext uri="{BB962C8B-B14F-4D97-AF65-F5344CB8AC3E}">
        <p14:creationId xmlns:p14="http://schemas.microsoft.com/office/powerpoint/2010/main" val="1767161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75871-8A4F-4F61-9DAF-2778FBC9EF0C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文件包含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zh-CN" altLang="en-US" sz="4000" dirty="0"/>
              <a:t>优点：</a:t>
            </a:r>
          </a:p>
          <a:p>
            <a:pPr lvl="2"/>
            <a:r>
              <a:rPr lang="zh-CN" altLang="en-US" sz="3600" dirty="0"/>
              <a:t>当许多程序中需要用到一些共同的常量、数据等资料时，可以把这些共同的东西单独建立一个文件</a:t>
            </a:r>
            <a:r>
              <a:rPr lang="en-US" altLang="zh-CN" sz="3600" dirty="0"/>
              <a:t>(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一般以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.h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作为扩展名的头文件中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也可以是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.c</a:t>
            </a:r>
            <a:r>
              <a:rPr lang="en-US" altLang="zh-CN" sz="3600" dirty="0"/>
              <a:t>)</a:t>
            </a:r>
            <a:r>
              <a:rPr lang="zh-CN" altLang="en-US" sz="3600" dirty="0"/>
              <a:t>；</a:t>
            </a:r>
          </a:p>
          <a:p>
            <a:pPr lvl="2"/>
            <a:r>
              <a:rPr lang="zh-CN" altLang="en-US" sz="3600" dirty="0"/>
              <a:t>如果哪个程序需要用时，就可用文件包含命令把它们包含进来，省去了重复定义的麻烦。</a:t>
            </a:r>
          </a:p>
        </p:txBody>
      </p:sp>
    </p:spTree>
    <p:extLst>
      <p:ext uri="{BB962C8B-B14F-4D97-AF65-F5344CB8AC3E}">
        <p14:creationId xmlns:p14="http://schemas.microsoft.com/office/powerpoint/2010/main" val="41889166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75871-8A4F-4F61-9DAF-2778FBC9EF0C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文件包含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/*</a:t>
            </a:r>
            <a:r>
              <a:rPr lang="en-US" altLang="zh-CN" sz="2400" b="1" dirty="0" err="1">
                <a:solidFill>
                  <a:srgbClr val="FF0000"/>
                </a:solidFill>
              </a:rPr>
              <a:t>struct.c</a:t>
            </a:r>
            <a:r>
              <a:rPr lang="en-US" altLang="zh-CN" sz="2400" b="1" dirty="0">
                <a:solidFill>
                  <a:srgbClr val="FF0000"/>
                </a:solidFill>
              </a:rPr>
              <a:t>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struct </a:t>
            </a:r>
            <a:r>
              <a:rPr lang="en-US" altLang="zh-CN" sz="2400" dirty="0" err="1"/>
              <a:t>stu</a:t>
            </a:r>
            <a:endParaRPr lang="en-US" altLang="zh-CN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int id;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char name[10];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float score;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};</a:t>
            </a:r>
          </a:p>
          <a:p>
            <a:pPr marL="0" indent="0">
              <a:buNone/>
            </a:pPr>
            <a:r>
              <a:rPr lang="en-US" altLang="zh-CN" dirty="0"/>
              <a:t>/*1.c*/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#include "</a:t>
            </a:r>
            <a:r>
              <a:rPr lang="en-US" altLang="zh-CN" b="1" dirty="0" err="1">
                <a:solidFill>
                  <a:srgbClr val="FF0000"/>
                </a:solidFill>
              </a:rPr>
              <a:t>struct.c</a:t>
            </a:r>
            <a:r>
              <a:rPr lang="en-US" altLang="zh-CN" b="1" dirty="0">
                <a:solidFill>
                  <a:srgbClr val="FF0000"/>
                </a:solidFill>
              </a:rPr>
              <a:t> "</a:t>
            </a:r>
          </a:p>
          <a:p>
            <a:pPr marL="0" indent="0">
              <a:buNone/>
            </a:pPr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5055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4160C5-B791-4A01-B881-C3B9A6AAA315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118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文件包含</a:t>
            </a:r>
          </a:p>
        </p:txBody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en-US" altLang="zh-CN" dirty="0">
                <a:solidFill>
                  <a:srgbClr val="FF0000"/>
                </a:solidFill>
              </a:rPr>
              <a:t>#include</a:t>
            </a:r>
            <a:r>
              <a:rPr lang="zh-CN" altLang="en-US" dirty="0">
                <a:solidFill>
                  <a:srgbClr val="FF0000"/>
                </a:solidFill>
              </a:rPr>
              <a:t>命令只能指定一个被包含文件，</a:t>
            </a:r>
            <a:r>
              <a:rPr lang="zh-CN" altLang="en-US" dirty="0"/>
              <a:t>若有多个文件要包含，则需要用多个</a:t>
            </a:r>
            <a:r>
              <a:rPr lang="en-US" altLang="zh-CN" dirty="0"/>
              <a:t>#include</a:t>
            </a:r>
            <a:r>
              <a:rPr lang="zh-CN" altLang="en-US" dirty="0"/>
              <a:t>命令。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文件包含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允许嵌套</a:t>
            </a:r>
            <a:r>
              <a:rPr lang="zh-CN" altLang="en-US" dirty="0"/>
              <a:t>，即在一个被包含文件中又可以包含另一个文件。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使用文件包含命令可使多个源文件</a:t>
            </a:r>
            <a:r>
              <a:rPr lang="zh-CN" altLang="en-US" sz="3600" dirty="0">
                <a:solidFill>
                  <a:srgbClr val="C00000"/>
                </a:solidFill>
              </a:rPr>
              <a:t>合并</a:t>
            </a:r>
            <a:r>
              <a:rPr lang="zh-CN" altLang="en-US" dirty="0">
                <a:solidFill>
                  <a:srgbClr val="FF0000"/>
                </a:solidFill>
              </a:rPr>
              <a:t>成一个源程序后进行编译和运行。</a:t>
            </a:r>
          </a:p>
          <a:p>
            <a:pPr lvl="1">
              <a:buFont typeface="Wingdings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28303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#define</a:t>
            </a:r>
            <a:endParaRPr lang="en-US" altLang="zh-CN" sz="2000" dirty="0">
              <a:solidFill>
                <a:srgbClr val="FF0000"/>
              </a:solidFill>
              <a:latin typeface="Comic Sans MS" pitchFamily="66" charset="0"/>
            </a:endParaRPr>
          </a:p>
          <a:p>
            <a:pPr lvl="1">
              <a:spcAft>
                <a:spcPts val="1800"/>
              </a:spcAft>
              <a:buFont typeface="Wingdings" pitchFamily="2" charset="2"/>
              <a:buChar char="Ø"/>
            </a:pPr>
            <a:r>
              <a:rPr lang="zh-CN" altLang="en-US" dirty="0"/>
              <a:t>用一个</a:t>
            </a:r>
            <a:r>
              <a:rPr lang="zh-CN" altLang="en-US" b="1" dirty="0">
                <a:solidFill>
                  <a:srgbClr val="FF0000"/>
                </a:solidFill>
              </a:rPr>
              <a:t>标识符</a:t>
            </a:r>
            <a:r>
              <a:rPr lang="zh-CN" altLang="en-US" dirty="0"/>
              <a:t>来表示一个</a:t>
            </a:r>
            <a:r>
              <a:rPr lang="zh-CN" altLang="en-US" b="1" dirty="0">
                <a:solidFill>
                  <a:srgbClr val="FF0000"/>
                </a:solidFill>
              </a:rPr>
              <a:t>字符串</a:t>
            </a:r>
            <a:r>
              <a:rPr lang="zh-CN" altLang="en-US" dirty="0"/>
              <a:t>，称为“宏”</a:t>
            </a:r>
            <a:r>
              <a:rPr lang="en-US" altLang="zh-CN" dirty="0"/>
              <a:t>(</a:t>
            </a:r>
            <a:r>
              <a:rPr lang="zh-CN" altLang="en-US" dirty="0"/>
              <a:t>常量</a:t>
            </a:r>
            <a:r>
              <a:rPr lang="en-US" altLang="zh-CN" dirty="0"/>
              <a:t>)</a:t>
            </a:r>
            <a:endParaRPr lang="zh-CN" altLang="en-US" dirty="0"/>
          </a:p>
          <a:p>
            <a:pPr lvl="1">
              <a:spcAft>
                <a:spcPts val="1800"/>
              </a:spcAft>
              <a:buFont typeface="Wingdings" pitchFamily="2" charset="2"/>
              <a:buChar char="Ø"/>
            </a:pPr>
            <a:r>
              <a:rPr lang="zh-CN" altLang="en-US" dirty="0"/>
              <a:t>被定义为“宏”的标识符称为“</a:t>
            </a:r>
            <a:r>
              <a:rPr lang="zh-CN" altLang="en-US" b="1" dirty="0">
                <a:solidFill>
                  <a:srgbClr val="FF0000"/>
                </a:solidFill>
              </a:rPr>
              <a:t>宏名</a:t>
            </a:r>
            <a:r>
              <a:rPr lang="zh-CN" altLang="en-US" dirty="0"/>
              <a:t>”。</a:t>
            </a:r>
          </a:p>
          <a:p>
            <a:pPr lvl="1">
              <a:spcAft>
                <a:spcPts val="1800"/>
              </a:spcAft>
              <a:buFont typeface="Wingdings" pitchFamily="2" charset="2"/>
              <a:buChar char="Ø"/>
            </a:pPr>
            <a:r>
              <a:rPr lang="zh-CN" altLang="en-US" dirty="0"/>
              <a:t>在编译预处理时</a:t>
            </a:r>
            <a:r>
              <a:rPr lang="en-US" altLang="zh-CN" dirty="0"/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编译之前</a:t>
            </a:r>
            <a:r>
              <a:rPr lang="en-US" altLang="zh-CN" dirty="0"/>
              <a:t>)</a:t>
            </a:r>
            <a:r>
              <a:rPr lang="zh-CN" altLang="en-US" dirty="0"/>
              <a:t>，对程序中所有出现的“宏名”（双引号里面的宏名不替换），都用</a:t>
            </a:r>
            <a:r>
              <a:rPr lang="zh-CN" altLang="en-US" b="1" dirty="0">
                <a:solidFill>
                  <a:srgbClr val="FF0000"/>
                </a:solidFill>
              </a:rPr>
              <a:t>宏定义中的字符串去代换，这称为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  <a:p>
            <a:pPr lvl="2">
              <a:spcAft>
                <a:spcPts val="1800"/>
              </a:spcAft>
              <a:buFont typeface="Wingdings" panose="05000000000000000000" pitchFamily="2" charset="2"/>
              <a:buChar char="u"/>
            </a:pPr>
            <a:r>
              <a:rPr lang="zh-CN" altLang="en-US" sz="3000" b="1" dirty="0">
                <a:solidFill>
                  <a:srgbClr val="FF0000"/>
                </a:solidFill>
              </a:rPr>
              <a:t>“宏替换”</a:t>
            </a:r>
            <a:endParaRPr lang="en-US" altLang="zh-CN" sz="3000" b="1" dirty="0">
              <a:solidFill>
                <a:srgbClr val="FF0000"/>
              </a:solidFill>
            </a:endParaRPr>
          </a:p>
          <a:p>
            <a:pPr lvl="2">
              <a:spcAft>
                <a:spcPts val="1800"/>
              </a:spcAft>
              <a:buFont typeface="Wingdings" panose="05000000000000000000" pitchFamily="2" charset="2"/>
              <a:buChar char="u"/>
            </a:pPr>
            <a:r>
              <a:rPr lang="zh-CN" altLang="en-US" sz="3000" b="1" dirty="0">
                <a:solidFill>
                  <a:srgbClr val="FF0000"/>
                </a:solidFill>
              </a:rPr>
              <a:t>“宏代换”</a:t>
            </a:r>
            <a:endParaRPr lang="en-US" altLang="zh-CN" sz="3000" b="1" dirty="0">
              <a:solidFill>
                <a:srgbClr val="FF0000"/>
              </a:solidFill>
            </a:endParaRPr>
          </a:p>
          <a:p>
            <a:pPr lvl="2">
              <a:spcAft>
                <a:spcPts val="1800"/>
              </a:spcAft>
              <a:buFont typeface="Wingdings" panose="05000000000000000000" pitchFamily="2" charset="2"/>
              <a:buChar char="u"/>
            </a:pPr>
            <a:r>
              <a:rPr lang="zh-CN" altLang="en-US" sz="3000" b="1" dirty="0">
                <a:solidFill>
                  <a:srgbClr val="FF0000"/>
                </a:solidFill>
              </a:rPr>
              <a:t>“宏展开”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65807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zh-CN" altLang="en-US" dirty="0"/>
              <a:t>宏的种类</a:t>
            </a:r>
            <a:r>
              <a:rPr lang="en-US" altLang="zh-CN" dirty="0"/>
              <a:t>:</a:t>
            </a:r>
          </a:p>
          <a:p>
            <a:pPr>
              <a:spcAft>
                <a:spcPts val="2400"/>
              </a:spcAft>
            </a:pPr>
            <a:r>
              <a:rPr lang="zh-CN" altLang="en-US" dirty="0"/>
              <a:t>包括：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不带参数的宏定义（无参宏）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带参数的宏定义（有参宏）</a:t>
            </a:r>
          </a:p>
        </p:txBody>
      </p:sp>
    </p:spTree>
    <p:extLst>
      <p:ext uri="{BB962C8B-B14F-4D97-AF65-F5344CB8AC3E}">
        <p14:creationId xmlns:p14="http://schemas.microsoft.com/office/powerpoint/2010/main" val="25652096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8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51318"/>
            <a:ext cx="8229600" cy="529005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无参数的宏定义</a:t>
            </a:r>
            <a:endParaRPr lang="zh-CN" altLang="en-US" sz="2000" dirty="0">
              <a:solidFill>
                <a:srgbClr val="FF00FF"/>
              </a:solidFill>
              <a:latin typeface="Comic Sans MS" pitchFamily="66" charset="0"/>
            </a:endParaRPr>
          </a:p>
          <a:p>
            <a:pPr lvl="1"/>
            <a:r>
              <a:rPr lang="zh-CN" altLang="en-US" dirty="0"/>
              <a:t>格式：</a:t>
            </a:r>
          </a:p>
          <a:p>
            <a:pPr lvl="2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#define &lt;</a:t>
            </a:r>
            <a:r>
              <a:rPr lang="zh-CN" altLang="en-US" dirty="0">
                <a:solidFill>
                  <a:srgbClr val="FF0000"/>
                </a:solidFill>
              </a:rPr>
              <a:t>宏名</a:t>
            </a:r>
            <a:r>
              <a:rPr lang="en-US" altLang="zh-CN" dirty="0">
                <a:solidFill>
                  <a:srgbClr val="FF0000"/>
                </a:solidFill>
              </a:rPr>
              <a:t>&gt; &lt;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</a:p>
          <a:p>
            <a:pPr lvl="1"/>
            <a:r>
              <a:rPr lang="zh-CN" altLang="en-US" dirty="0"/>
              <a:t>举例：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说明：</a:t>
            </a:r>
          </a:p>
          <a:p>
            <a:pPr lvl="2"/>
            <a:r>
              <a:rPr lang="zh-CN" altLang="en-US" dirty="0"/>
              <a:t>宏定义一般写在程序的开头。</a:t>
            </a:r>
          </a:p>
          <a:p>
            <a:pPr lvl="2"/>
            <a:r>
              <a:rPr lang="zh-CN" altLang="en-US" dirty="0"/>
              <a:t>宏名的命名规则同变量名，一般习惯用</a:t>
            </a:r>
            <a:r>
              <a:rPr lang="zh-CN" altLang="en-US" sz="2600" b="1" dirty="0">
                <a:solidFill>
                  <a:srgbClr val="FF0000"/>
                </a:solidFill>
              </a:rPr>
              <a:t>大写字母</a:t>
            </a:r>
            <a:r>
              <a:rPr lang="zh-CN" altLang="en-US" dirty="0"/>
              <a:t>，以便与变量区别，但也允许用小写字母。</a:t>
            </a: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宏名的有效范围是从宏定义开始到本源程序文件结束，或遇到预处理命令</a:t>
            </a:r>
            <a:r>
              <a:rPr lang="en-US" altLang="zh-CN" sz="3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#undef </a:t>
            </a:r>
            <a:r>
              <a:rPr lang="zh-CN" altLang="en-US" sz="3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宏名</a:t>
            </a:r>
            <a:r>
              <a:rPr lang="zh-CN" altLang="en-US" dirty="0">
                <a:solidFill>
                  <a:srgbClr val="FF0000"/>
                </a:solidFill>
              </a:rPr>
              <a:t>时止。</a:t>
            </a:r>
          </a:p>
        </p:txBody>
      </p:sp>
      <p:sp>
        <p:nvSpPr>
          <p:cNvPr id="1188869" name="Text Box 5"/>
          <p:cNvSpPr txBox="1">
            <a:spLocks noChangeArrowheads="1"/>
          </p:cNvSpPr>
          <p:nvPr/>
        </p:nvSpPr>
        <p:spPr bwMode="auto">
          <a:xfrm>
            <a:off x="4441329" y="3035105"/>
            <a:ext cx="2973387" cy="42319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000" b="1">
                <a:latin typeface="Courier New" pitchFamily="49" charset="0"/>
              </a:rPr>
              <a:t>#define PI 3.14</a:t>
            </a:r>
          </a:p>
        </p:txBody>
      </p:sp>
    </p:spTree>
    <p:extLst>
      <p:ext uri="{BB962C8B-B14F-4D97-AF65-F5344CB8AC3E}">
        <p14:creationId xmlns:p14="http://schemas.microsoft.com/office/powerpoint/2010/main" val="4565091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2B6FED-B7B1-43C2-849B-4D0944EF8228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119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9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宏替换</a:t>
            </a:r>
            <a:r>
              <a:rPr lang="zh-CN" altLang="en-US" dirty="0">
                <a:solidFill>
                  <a:srgbClr val="FF0000"/>
                </a:solidFill>
              </a:rPr>
              <a:t>只是用指定字符串替换宏名的简单替换</a:t>
            </a:r>
            <a:r>
              <a:rPr lang="zh-CN" altLang="en-US" dirty="0"/>
              <a:t>，不做任何语法检查。如有错误，只能</a:t>
            </a:r>
            <a:r>
              <a:rPr lang="zh-CN" altLang="en-US"/>
              <a:t>在编译时已</a:t>
            </a:r>
            <a:r>
              <a:rPr lang="zh-CN" altLang="en-US" dirty="0"/>
              <a:t>被宏展开后的源程序时发现。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注意：字符串中</a:t>
            </a:r>
            <a:r>
              <a:rPr lang="zh-CN" altLang="en-US" b="1">
                <a:solidFill>
                  <a:srgbClr val="FF0000"/>
                </a:solidFill>
              </a:rPr>
              <a:t>的宏名是</a:t>
            </a:r>
            <a:r>
              <a:rPr lang="zh-CN" altLang="en-US" b="1" dirty="0">
                <a:solidFill>
                  <a:srgbClr val="FF0000"/>
                </a:solidFill>
              </a:rPr>
              <a:t>不被替换的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宏定义不是变量定义或语句，在行末不能</a:t>
            </a:r>
            <a:r>
              <a:rPr lang="zh-CN" altLang="en-US" b="1">
                <a:solidFill>
                  <a:srgbClr val="FF0000"/>
                </a:solidFill>
              </a:rPr>
              <a:t>加分号</a:t>
            </a:r>
            <a:endParaRPr lang="en-US" altLang="zh-CN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</a:rPr>
              <a:t>（如果</a:t>
            </a:r>
            <a:r>
              <a:rPr lang="zh-CN" altLang="en-US" b="1" dirty="0">
                <a:solidFill>
                  <a:srgbClr val="FF0000"/>
                </a:solidFill>
              </a:rPr>
              <a:t>加上分号则分号</a:t>
            </a:r>
            <a:r>
              <a:rPr lang="zh-CN" altLang="en-US" b="1">
                <a:solidFill>
                  <a:srgbClr val="FF0000"/>
                </a:solidFill>
              </a:rPr>
              <a:t>也成为被替换的字符串一部分）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1336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9150-5368-4AE3-9478-6324601429CF}" type="slidenum">
              <a:rPr lang="zh-CN" altLang="en-US"/>
              <a:pPr/>
              <a:t>57</a:t>
            </a:fld>
            <a:endParaRPr lang="en-US" altLang="zh-CN"/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2639616" y="1484784"/>
            <a:ext cx="597730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</a:rPr>
              <a:t>#include &lt;stdio.h&gt;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R  3.0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PI  3.1415926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L  2*PI*R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N  10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main( )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{ 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	float  score[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3200" dirty="0">
                <a:solidFill>
                  <a:srgbClr val="000000"/>
                </a:solidFill>
              </a:rPr>
              <a:t>]; 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	printf("</a:t>
            </a:r>
            <a:r>
              <a:rPr lang="en-US" altLang="zh-CN" sz="3200" dirty="0">
                <a:solidFill>
                  <a:srgbClr val="FFC000"/>
                </a:solidFill>
              </a:rPr>
              <a:t>L</a:t>
            </a:r>
            <a:r>
              <a:rPr lang="en-US" altLang="zh-CN" sz="3200" dirty="0">
                <a:solidFill>
                  <a:srgbClr val="000000"/>
                </a:solidFill>
              </a:rPr>
              <a:t>=%f\</a:t>
            </a:r>
            <a:r>
              <a:rPr lang="en-US" altLang="zh-CN" sz="3200" dirty="0" err="1">
                <a:solidFill>
                  <a:srgbClr val="000000"/>
                </a:solidFill>
              </a:rPr>
              <a:t>n",</a:t>
            </a:r>
            <a:r>
              <a:rPr lang="en-US" altLang="zh-CN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altLang="zh-CN" sz="3200" dirty="0">
                <a:solidFill>
                  <a:srgbClr val="000000"/>
                </a:solidFill>
              </a:rPr>
              <a:t>);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36901" name="Rectangle 5"/>
          <p:cNvSpPr>
            <a:spLocks noChangeArrowheads="1"/>
          </p:cNvSpPr>
          <p:nvPr/>
        </p:nvSpPr>
        <p:spPr bwMode="auto">
          <a:xfrm>
            <a:off x="1974483" y="658815"/>
            <a:ext cx="10406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例1</a:t>
            </a:r>
            <a:r>
              <a:rPr lang="zh-CN" altLang="en-US" sz="3200" dirty="0"/>
              <a:t>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F384B2-726D-5613-C55B-C475209A8C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684"/>
          <a:stretch/>
        </p:blipFill>
        <p:spPr>
          <a:xfrm>
            <a:off x="7176120" y="1988840"/>
            <a:ext cx="441610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23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2B6FED-B7B1-43C2-849B-4D0944EF8228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119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9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  <a:p>
            <a:pPr lvl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宏定义</a:t>
            </a:r>
            <a:r>
              <a:rPr lang="zh-CN" altLang="en-US" dirty="0"/>
              <a:t>是专门用于预处理命令的一个专用名词，只作字符替换，不分配内存空间。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当宏定义在一行中写不下，需要在下一行继续时，只需在最后一个字符后紧接着加一个反斜杠“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</a:p>
          <a:p>
            <a:pPr lvl="1">
              <a:buFont typeface="Wingdings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7492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9150-5368-4AE3-9478-6324601429CF}" type="slidenum">
              <a:rPr lang="zh-CN" altLang="en-US"/>
              <a:pPr/>
              <a:t>59</a:t>
            </a:fld>
            <a:endParaRPr lang="en-US" altLang="zh-CN"/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2639616" y="1484785"/>
            <a:ext cx="597730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</a:rPr>
              <a:t>#include &lt;stdio.h&gt;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TEST "ABC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3200" dirty="0">
                <a:solidFill>
                  <a:srgbClr val="000000"/>
                </a:solidFill>
              </a:rPr>
              <a:t>DEF\n"</a:t>
            </a:r>
          </a:p>
          <a:p>
            <a:endParaRPr lang="en-US" altLang="zh-CN" sz="3200" dirty="0">
              <a:solidFill>
                <a:srgbClr val="000000"/>
              </a:solidFill>
            </a:endParaRPr>
          </a:p>
          <a:p>
            <a:r>
              <a:rPr lang="en-US" altLang="zh-CN" sz="3200" dirty="0">
                <a:solidFill>
                  <a:srgbClr val="000000"/>
                </a:solidFill>
              </a:rPr>
              <a:t>main( )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{ 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	printf(TEST);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36901" name="Rectangle 5"/>
          <p:cNvSpPr>
            <a:spLocks noChangeArrowheads="1"/>
          </p:cNvSpPr>
          <p:nvPr/>
        </p:nvSpPr>
        <p:spPr bwMode="auto">
          <a:xfrm>
            <a:off x="1974483" y="658815"/>
            <a:ext cx="10406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例</a:t>
            </a:r>
            <a:r>
              <a:rPr lang="en-US" altLang="zh-CN" sz="3200" dirty="0">
                <a:solidFill>
                  <a:srgbClr val="000000"/>
                </a:solidFill>
              </a:rPr>
              <a:t>2</a:t>
            </a:r>
            <a:r>
              <a:rPr lang="zh-CN" altLang="en-US" sz="3200" dirty="0"/>
              <a:t>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83E9E9-A204-4398-9F7B-AF34D7C3B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2697653"/>
            <a:ext cx="4824536" cy="160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3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BCD32-0489-4397-9CF4-19B7099E5B7B}" type="slidenum">
              <a:rPr lang="en-US" altLang="zh-CN"/>
              <a:pPr/>
              <a:t>60</a:t>
            </a:fld>
            <a:endParaRPr lang="en-US" altLang="zh-CN" dirty="0"/>
          </a:p>
        </p:txBody>
      </p:sp>
      <p:sp>
        <p:nvSpPr>
          <p:cNvPr id="1192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9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有参数的宏定义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  <a:p>
            <a:pPr lvl="1"/>
            <a:r>
              <a:rPr lang="zh-CN" altLang="en-US" dirty="0"/>
              <a:t>格式：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#define </a:t>
            </a:r>
            <a:r>
              <a:rPr lang="zh-CN" altLang="en-US" sz="3600" dirty="0">
                <a:solidFill>
                  <a:srgbClr val="FF0000"/>
                </a:solidFill>
              </a:rPr>
              <a:t>宏名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形参表</a:t>
            </a:r>
            <a:r>
              <a:rPr lang="en-US" altLang="zh-CN" sz="3600" dirty="0">
                <a:solidFill>
                  <a:srgbClr val="FF0000"/>
                </a:solidFill>
              </a:rPr>
              <a:t>) </a:t>
            </a:r>
            <a:r>
              <a:rPr lang="zh-CN" altLang="en-US" sz="3600" dirty="0">
                <a:solidFill>
                  <a:srgbClr val="FF0000"/>
                </a:solidFill>
              </a:rPr>
              <a:t>字符串</a:t>
            </a:r>
          </a:p>
          <a:p>
            <a:pPr lvl="1"/>
            <a:r>
              <a:rPr lang="zh-CN" altLang="en-US" dirty="0"/>
              <a:t>举例：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说明：</a:t>
            </a:r>
          </a:p>
          <a:p>
            <a:pPr lvl="2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实参个数与形参个数相同，但没有类型要求。</a:t>
            </a:r>
          </a:p>
          <a:p>
            <a:pPr lvl="2"/>
            <a:endParaRPr lang="zh-CN" altLang="en-US" dirty="0"/>
          </a:p>
        </p:txBody>
      </p:sp>
      <p:sp>
        <p:nvSpPr>
          <p:cNvPr id="1192965" name="Text Box 5"/>
          <p:cNvSpPr txBox="1">
            <a:spLocks noChangeArrowheads="1"/>
          </p:cNvSpPr>
          <p:nvPr/>
        </p:nvSpPr>
        <p:spPr bwMode="auto">
          <a:xfrm>
            <a:off x="3287688" y="3698677"/>
            <a:ext cx="4104456" cy="48936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>
                <a:latin typeface="Courier New" pitchFamily="49" charset="0"/>
              </a:rPr>
              <a:t>#define M(a,b) a*b</a:t>
            </a:r>
          </a:p>
        </p:txBody>
      </p:sp>
    </p:spTree>
    <p:extLst>
      <p:ext uri="{BB962C8B-B14F-4D97-AF65-F5344CB8AC3E}">
        <p14:creationId xmlns:p14="http://schemas.microsoft.com/office/powerpoint/2010/main" val="15039098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9150-5368-4AE3-9478-6324601429CF}" type="slidenum">
              <a:rPr lang="zh-CN" altLang="en-US"/>
              <a:pPr/>
              <a:t>61</a:t>
            </a:fld>
            <a:endParaRPr lang="en-US" altLang="zh-CN"/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1631504" y="1412776"/>
            <a:ext cx="633670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ES" altLang="zh-CN" sz="3200" dirty="0">
                <a:solidFill>
                  <a:srgbClr val="000000"/>
                </a:solidFill>
              </a:rPr>
              <a:t>#include &lt;stdio.h&gt;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#define  M(a,b)  a*b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#define  N(a,b) (a)*(b)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main( )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{ 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	int x,y;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	x=M(1+1,2+2);</a:t>
            </a:r>
            <a:r>
              <a:rPr lang="en-US" altLang="zh-CN" sz="3200" dirty="0">
                <a:solidFill>
                  <a:srgbClr val="000000"/>
                </a:solidFill>
              </a:rPr>
              <a:t>//</a:t>
            </a:r>
            <a:r>
              <a:rPr lang="en-US" altLang="zh-CN" sz="3200" dirty="0">
                <a:solidFill>
                  <a:srgbClr val="00B050"/>
                </a:solidFill>
              </a:rPr>
              <a:t>1+1*2+2</a:t>
            </a:r>
            <a:endParaRPr lang="es-ES" altLang="zh-CN" sz="3200" dirty="0">
              <a:solidFill>
                <a:srgbClr val="00B050"/>
              </a:solidFill>
            </a:endParaRPr>
          </a:p>
          <a:p>
            <a:r>
              <a:rPr lang="es-ES" altLang="zh-CN" sz="3200" dirty="0">
                <a:solidFill>
                  <a:srgbClr val="000000"/>
                </a:solidFill>
              </a:rPr>
              <a:t>	y=N(1+1,2+2);//(</a:t>
            </a:r>
            <a:r>
              <a:rPr lang="es-ES" altLang="zh-CN" sz="3200" dirty="0">
                <a:solidFill>
                  <a:srgbClr val="00B050"/>
                </a:solidFill>
              </a:rPr>
              <a:t>1+1)*(2+2)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	printf("x=%d,y=%d\n",x,y);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36901" name="Rectangle 5"/>
          <p:cNvSpPr>
            <a:spLocks noChangeArrowheads="1"/>
          </p:cNvSpPr>
          <p:nvPr/>
        </p:nvSpPr>
        <p:spPr bwMode="auto">
          <a:xfrm>
            <a:off x="1974483" y="658815"/>
            <a:ext cx="10406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例</a:t>
            </a:r>
            <a:r>
              <a:rPr lang="en-US" altLang="zh-CN" sz="3200" dirty="0">
                <a:solidFill>
                  <a:srgbClr val="000000"/>
                </a:solidFill>
              </a:rPr>
              <a:t>3</a:t>
            </a:r>
            <a:r>
              <a:rPr lang="zh-CN" altLang="en-US" sz="3200" dirty="0"/>
              <a:t>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EF5999-1DE6-47B3-A01D-EA29B53C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60" y="1484785"/>
            <a:ext cx="4587602" cy="170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2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E3129-808A-487D-A6CF-D9747BFC8D51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119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条件编译</a:t>
            </a:r>
          </a:p>
        </p:txBody>
      </p:sp>
      <p:sp>
        <p:nvSpPr>
          <p:cNvPr id="1195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66059"/>
            <a:ext cx="8229600" cy="4686320"/>
          </a:xfrm>
        </p:spPr>
        <p:txBody>
          <a:bodyPr>
            <a:normAutofit/>
          </a:bodyPr>
          <a:lstStyle/>
          <a:p>
            <a:r>
              <a:rPr lang="zh-CN" altLang="en-US" dirty="0"/>
              <a:t>条件编译</a:t>
            </a:r>
          </a:p>
          <a:p>
            <a:pPr lvl="1"/>
            <a:r>
              <a:rPr lang="zh-CN" altLang="en-US" dirty="0"/>
              <a:t>目的和作用</a:t>
            </a:r>
            <a:endParaRPr lang="zh-CN" altLang="en-US" sz="1800" dirty="0">
              <a:solidFill>
                <a:srgbClr val="FF00FF"/>
              </a:solidFill>
              <a:latin typeface="Comic Sans MS" pitchFamily="66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zh-CN" altLang="en-US" dirty="0"/>
              <a:t>条件编译是指对源程序中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某段程序通过条件来控制是否参加编译</a:t>
            </a:r>
            <a:r>
              <a:rPr lang="zh-CN" altLang="en-US" dirty="0"/>
              <a:t>。</a:t>
            </a:r>
          </a:p>
          <a:p>
            <a:pPr lvl="2">
              <a:buFont typeface="Wingdings" pitchFamily="2" charset="2"/>
              <a:buChar char="Ø"/>
            </a:pPr>
            <a:r>
              <a:rPr lang="zh-CN" altLang="en-US" dirty="0"/>
              <a:t>根据条件来选取需要的代码进行编译，以便生成不同的应用程序，供不同用户使用</a:t>
            </a:r>
            <a:r>
              <a:rPr lang="en-US" altLang="zh-CN" dirty="0"/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不同的软硬件平台</a:t>
            </a:r>
            <a:r>
              <a:rPr lang="zh-CN" altLang="en-US" dirty="0"/>
              <a:t>）。</a:t>
            </a:r>
          </a:p>
          <a:p>
            <a:pPr lvl="2">
              <a:buFont typeface="Wingdings" pitchFamily="2" charset="2"/>
              <a:buChar char="Ø"/>
            </a:pPr>
            <a:r>
              <a:rPr lang="zh-CN" altLang="en-US" dirty="0"/>
              <a:t>此外，条件编译还可以方便程序的逐段调试，简化程序调试工作。</a:t>
            </a:r>
          </a:p>
        </p:txBody>
      </p:sp>
    </p:spTree>
    <p:extLst>
      <p:ext uri="{BB962C8B-B14F-4D97-AF65-F5344CB8AC3E}">
        <p14:creationId xmlns:p14="http://schemas.microsoft.com/office/powerpoint/2010/main" val="3515642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E3129-808A-487D-A6CF-D9747BFC8D51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119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条件编译</a:t>
            </a:r>
          </a:p>
        </p:txBody>
      </p:sp>
      <p:sp>
        <p:nvSpPr>
          <p:cNvPr id="119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条件编译</a:t>
            </a:r>
          </a:p>
          <a:p>
            <a:r>
              <a:rPr lang="zh-CN" altLang="en-US" dirty="0"/>
              <a:t>指令：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#if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</a:t>
            </a:r>
            <a:r>
              <a:rPr lang="en-US" altLang="zh-CN" dirty="0" err="1"/>
              <a:t>ifdef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</a:t>
            </a:r>
            <a:r>
              <a:rPr lang="en-US" altLang="zh-CN" dirty="0" err="1"/>
              <a:t>ifndef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#else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787698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  #</a:t>
            </a:r>
            <a:r>
              <a:rPr lang="en-US" altLang="zh-CN" dirty="0" err="1"/>
              <a:t>ifdef</a:t>
            </a:r>
            <a:r>
              <a:rPr lang="en-US" altLang="zh-CN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560" y="1484784"/>
            <a:ext cx="8640960" cy="46863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ifdef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标识符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程序段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#else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程序段</a:t>
            </a:r>
            <a:r>
              <a:rPr lang="en-US" altLang="zh-CN" dirty="0">
                <a:solidFill>
                  <a:srgbClr val="FF0000"/>
                </a:solidFill>
              </a:rPr>
              <a:t>2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zh-CN" altLang="en-US" dirty="0">
                <a:solidFill>
                  <a:srgbClr val="FF0000"/>
                </a:solidFill>
              </a:rPr>
              <a:t>如果标识符已被</a:t>
            </a:r>
            <a:r>
              <a:rPr lang="en-US" altLang="zh-CN" dirty="0">
                <a:solidFill>
                  <a:srgbClr val="FF0000"/>
                </a:solidFill>
              </a:rPr>
              <a:t>#define</a:t>
            </a:r>
            <a:r>
              <a:rPr lang="zh-CN" altLang="en-US" dirty="0">
                <a:solidFill>
                  <a:srgbClr val="FF0000"/>
                </a:solidFill>
              </a:rPr>
              <a:t>定义过，则对程序段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进行编译，否则对程序段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进行编译。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格式中的</a:t>
            </a:r>
            <a:r>
              <a:rPr lang="en-US" altLang="zh-CN" dirty="0"/>
              <a:t>#else</a:t>
            </a:r>
            <a:r>
              <a:rPr lang="zh-CN" altLang="en-US" dirty="0"/>
              <a:t>部分可以没有，即：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ifdef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标识符      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程序段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081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#</a:t>
            </a:r>
            <a:r>
              <a:rPr lang="en-US" altLang="zh-CN" dirty="0" err="1"/>
              <a:t>ifndef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600200"/>
            <a:ext cx="8856984" cy="46863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ifndef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标识符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程序段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#else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程序段</a:t>
            </a:r>
            <a:r>
              <a:rPr lang="en-US" altLang="zh-CN" dirty="0">
                <a:solidFill>
                  <a:srgbClr val="FF0000"/>
                </a:solidFill>
              </a:rPr>
              <a:t>2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zh-CN" altLang="en-US" dirty="0"/>
              <a:t>功能与</a:t>
            </a:r>
            <a:r>
              <a:rPr lang="en-US" altLang="zh-CN" dirty="0" err="1"/>
              <a:t>ifdef</a:t>
            </a:r>
            <a:r>
              <a:rPr lang="zh-CN" altLang="en-US" dirty="0"/>
              <a:t>形式的功能正好相反</a:t>
            </a:r>
          </a:p>
        </p:txBody>
      </p:sp>
    </p:spTree>
    <p:extLst>
      <p:ext uri="{BB962C8B-B14F-4D97-AF65-F5344CB8AC3E}">
        <p14:creationId xmlns:p14="http://schemas.microsoft.com/office/powerpoint/2010/main" val="20103980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#if </a:t>
            </a:r>
            <a:r>
              <a:rPr lang="zh-CN" altLang="en-US" dirty="0"/>
              <a:t>常量表达式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11624" y="1600200"/>
            <a:ext cx="8208912" cy="46863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#if </a:t>
            </a:r>
            <a:r>
              <a:rPr lang="zh-CN" altLang="en-US" dirty="0">
                <a:solidFill>
                  <a:srgbClr val="FF0000"/>
                </a:solidFill>
              </a:rPr>
              <a:t>常量表达式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程序段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#else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程序段</a:t>
            </a:r>
            <a:r>
              <a:rPr lang="en-US" altLang="zh-CN" dirty="0">
                <a:solidFill>
                  <a:srgbClr val="FF0000"/>
                </a:solidFill>
              </a:rPr>
              <a:t>2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zh-CN" altLang="en-US" dirty="0"/>
              <a:t>功能：如果常量表达式的值为真（非</a:t>
            </a:r>
            <a:r>
              <a:rPr lang="en-US" altLang="zh-CN" dirty="0"/>
              <a:t>0</a:t>
            </a:r>
            <a:r>
              <a:rPr lang="zh-CN" altLang="en-US" dirty="0"/>
              <a:t>），则对程序段</a:t>
            </a:r>
            <a:r>
              <a:rPr lang="en-US" altLang="zh-CN" dirty="0"/>
              <a:t>1</a:t>
            </a:r>
            <a:r>
              <a:rPr lang="zh-CN" altLang="en-US" dirty="0"/>
              <a:t>进行编译，否则对程序段</a:t>
            </a:r>
            <a:r>
              <a:rPr lang="en-US" altLang="zh-CN" dirty="0"/>
              <a:t>2</a:t>
            </a:r>
            <a:r>
              <a:rPr lang="zh-CN" altLang="en-US" dirty="0"/>
              <a:t>进行编译，因此可以使程序在不同条件下，完成不同的功能。 </a:t>
            </a:r>
          </a:p>
        </p:txBody>
      </p:sp>
    </p:spTree>
    <p:extLst>
      <p:ext uri="{BB962C8B-B14F-4D97-AF65-F5344CB8AC3E}">
        <p14:creationId xmlns:p14="http://schemas.microsoft.com/office/powerpoint/2010/main" val="14456167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379FF8-F2B6-44C8-AA37-BF110F5FDE88}"/>
              </a:ext>
            </a:extLst>
          </p:cNvPr>
          <p:cNvSpPr txBox="1"/>
          <p:nvPr/>
        </p:nvSpPr>
        <p:spPr>
          <a:xfrm>
            <a:off x="551384" y="181957"/>
            <a:ext cx="63367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 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a,b;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#ifdef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a=10,b=20;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#else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a=100,b=200;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#endif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DDFF61-8DA8-43A4-9484-EDCD282C8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877" y="1628800"/>
            <a:ext cx="5424739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050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379FF8-F2B6-44C8-AA37-BF110F5FDE88}"/>
              </a:ext>
            </a:extLst>
          </p:cNvPr>
          <p:cNvSpPr txBox="1"/>
          <p:nvPr/>
        </p:nvSpPr>
        <p:spPr>
          <a:xfrm>
            <a:off x="551384" y="181957"/>
            <a:ext cx="63367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 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a,b;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#if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a=10,b=20;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#else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a=100,b=200;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#endif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7B1451-C758-420C-BD1B-F714183E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1412776"/>
            <a:ext cx="5265487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248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379FF8-F2B6-44C8-AA37-BF110F5FDE88}"/>
              </a:ext>
            </a:extLst>
          </p:cNvPr>
          <p:cNvSpPr txBox="1"/>
          <p:nvPr/>
        </p:nvSpPr>
        <p:spPr>
          <a:xfrm>
            <a:off x="551384" y="181957"/>
            <a:ext cx="63367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 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a,b;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a=10,b=20;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#else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a=100,b=200;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#endif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 MIC</a:t>
            </a: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B23B78-8D58-4F8A-9423-FC97BD055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088" y="1772816"/>
            <a:ext cx="5424739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106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379FF8-F2B6-44C8-AA37-BF110F5FDE88}"/>
              </a:ext>
            </a:extLst>
          </p:cNvPr>
          <p:cNvSpPr txBox="1"/>
          <p:nvPr/>
        </p:nvSpPr>
        <p:spPr>
          <a:xfrm>
            <a:off x="551384" y="181957"/>
            <a:ext cx="6336704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3200" dirty="0" err="1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stdio.h</a:t>
            </a:r>
            <a:r>
              <a:rPr lang="en-US" altLang="zh-CN" sz="32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endParaRPr lang="en-US" altLang="zh-CN" sz="32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</a:t>
            </a:r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  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int</a:t>
            </a:r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a,b</a:t>
            </a:r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#if</a:t>
            </a:r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a=10,b=20;</a:t>
            </a:r>
          </a:p>
          <a:p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#else</a:t>
            </a:r>
            <a:endParaRPr lang="en-US" altLang="zh-CN" sz="32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a=100,b=200;</a:t>
            </a:r>
          </a:p>
          <a:p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#endif</a:t>
            </a:r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 MIC</a:t>
            </a:r>
          </a:p>
          <a:p>
            <a:r>
              <a:rPr lang="pt-BR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printf(</a:t>
            </a:r>
            <a:r>
              <a:rPr lang="pt-BR" altLang="zh-CN" sz="32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7B1451-C758-420C-BD1B-F714183E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1412776"/>
            <a:ext cx="5265487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598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1600200"/>
            <a:ext cx="8352928" cy="4686320"/>
          </a:xfrm>
        </p:spPr>
        <p:txBody>
          <a:bodyPr/>
          <a:lstStyle/>
          <a:p>
            <a:r>
              <a:rPr lang="zh-CN" altLang="en-US" dirty="0"/>
              <a:t>上面介绍的条件编译实现的逻辑也可以用条件语句来实现，但是用条件语句将会对整个源程序进行编译，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生成的目标代码程序较长，运行时间也较长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dirty="0"/>
              <a:t>采用条件编译则根据条件只编译其中的程序段</a:t>
            </a:r>
            <a:r>
              <a:rPr lang="en-US" altLang="zh-CN" dirty="0"/>
              <a:t>1</a:t>
            </a:r>
            <a:r>
              <a:rPr lang="zh-CN" altLang="en-US" dirty="0"/>
              <a:t>或程序段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生成的目标程序较短。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33547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以下关于文件包含的说法中错误的是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223592" y="249289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文件包含是指一个源文件可以将另一个源文件的全部内容包含进来。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223592" y="335014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文件包含处理命令的格式为＃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include“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包含文件名”或＃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include &lt;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包含文件名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&gt;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223592" y="420739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一条包含命令可以指定多个被包含文件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223592" y="506464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文件包含可以嵌套，即被包含文件中又包含另一个文件。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509217" y="255718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509217" y="341443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509217" y="4271689"/>
            <a:ext cx="549068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509217" y="512893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0101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在文件包含预处理语句的中，被包含文件名用“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&lt; &gt;”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括起时，寻找被包含文件的方式是（    ）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223592" y="249289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直接按系统设定的标准方式</a:t>
            </a:r>
            <a:r>
              <a:rPr lang="zh-CN" altLang="en-US" sz="24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搜索目录，即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安装文件夹的子文件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include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里搜</a:t>
            </a:r>
            <a:r>
              <a:rPr lang="zh-CN" altLang="en-US" sz="24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223592" y="335014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先在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源程序所在目录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搜索，再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按系统设定的标准方式搜索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223592" y="420739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仅仅在源程序所在目录搜索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223592" y="506464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仅仅搜索当前目录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509217" y="2557189"/>
            <a:ext cx="549068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509217" y="341443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509217" y="427168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509217" y="512893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69239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在宏定义 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#define  A  xxx 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中，宏名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代替一个（    ）。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单精度数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双精度数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常量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字符串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71763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以下叙述正确的是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可以把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define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定义为用户标识符。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可以把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define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定义为用户标识符，但不能把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定义为用户标识符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可以把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定义为用户标识符，但不能把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define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定义不用户标识符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define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都不能定义为用户标识符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24687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36580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以下程序的输出结果是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M(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x,y,z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 x*y+z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int 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a=1,b=2, c=3;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printf(“%d\n”, M(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a+b,b+c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,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c+a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));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2895600" y="447588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2895600" y="533313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7448183" y="446595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7448183" y="532320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12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181225" y="454017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33808" y="454017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181225" y="539742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33808" y="5387502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53522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36580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有以下程序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 define f(x) (x*x)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int i1, i2;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i1=f(8)/f(4) 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i2=f(4+4)/f(2+2) 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printf("%d, %d\n",i1,i2</a:t>
            </a:r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);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程序运行后的输出结果是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2895600" y="447588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64, 28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2895600" y="533313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4, 3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7448183" y="446595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4, 4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7448183" y="532320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64, 64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181225" y="454017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33808" y="454017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181225" y="539742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33808" y="538750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61625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895600" y="447588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895600" y="533313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448183" y="446595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7448183" y="532320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181225" y="454017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733808" y="454017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181225" y="539742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733808" y="538750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4" name="TextBox 3"/>
          <p:cNvSpPr txBox="1"/>
          <p:nvPr>
            <p:custDataLst>
              <p:tags r:id="rId11"/>
            </p:custDataLst>
          </p:nvPr>
        </p:nvSpPr>
        <p:spPr>
          <a:xfrm>
            <a:off x="2438400" y="231457"/>
            <a:ext cx="7315200" cy="406163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有如下程序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N 2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M N+1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NUM 2*M+1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int i;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for(i=1;i&lt;=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NUM;i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++)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printf(“%d\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n”,i</a:t>
            </a:r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);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该程序中的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for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循环执行的次数是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38045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36580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MAX(x,y) (x)&gt;(y)?(x):(y)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int a=5,b=2,c=3,d=5,t;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t=MAX(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a+b,c+d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)*10;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printf(“%d\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n”,t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</a:t>
            </a: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2895600" y="447588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2895600" y="533313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7448183" y="446595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7448183" y="532320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181225" y="454017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33808" y="454017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181225" y="539742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33808" y="538750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3044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55800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下列程序的输出结果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。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TEST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 )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 </a:t>
            </a: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int x,y;  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ifdef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TEST </a:t>
            </a: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x=5,y=10;   </a:t>
            </a: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#else</a:t>
            </a: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x=15,y=20;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pPr lvl="1"/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endif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(“%d,%d\n”,x,y);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602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3&quot;]},{&quot;num&quot;:2,&quot;caseSensitive&quot;:false,&quot;fuzzyMatch&quot;:false,&quot;Score&quot;:1.0,&quot;answers&quot;:[&quot;13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10&quot;]}]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true,&quot;fuzzyMatch&quot;:false,&quot;Score&quot;:1.0,&quot;answers&quot;:[&quot;auto&quot;]},{&quot;num&quot;:2,&quot;caseSensitive&quot;:true,&quot;fuzzyMatch&quot;:false,&quot;Score&quot;:1.0,&quot;answers&quot;:[&quot;extern&quot;]},{&quot;num&quot;:3,&quot;caseSensitive&quot;:true,&quot;fuzzyMatch&quot;:false,&quot;Score&quot;:1.0,&quot;answers&quot;:[&quot;extern&quot;]}]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id=7&quot;]},{&quot;num&quot;:2,&quot;caseSensitive&quot;:false,&quot;fuzzyMatch&quot;:false,&quot;Score&quot;:1.0,&quot;answers&quot;:[&quot;id=5&quot;]}]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10,20,30&quot;]}]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5,10&quot;]}]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whu8">
  <a:themeElements>
    <a:clrScheme name="1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1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8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0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1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12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alloons">
  <a:themeElements>
    <a:clrScheme name="Balloons 16">
      <a:dk1>
        <a:srgbClr val="000000"/>
      </a:dk1>
      <a:lt1>
        <a:srgbClr val="FFFFFF"/>
      </a:lt1>
      <a:dk2>
        <a:srgbClr val="000000"/>
      </a:dk2>
      <a:lt2>
        <a:srgbClr val="FFCC99"/>
      </a:lt2>
      <a:accent1>
        <a:srgbClr val="FFD08B"/>
      </a:accent1>
      <a:accent2>
        <a:srgbClr val="FFB7DB"/>
      </a:accent2>
      <a:accent3>
        <a:srgbClr val="FFFFFF"/>
      </a:accent3>
      <a:accent4>
        <a:srgbClr val="000000"/>
      </a:accent4>
      <a:accent5>
        <a:srgbClr val="FFE4C4"/>
      </a:accent5>
      <a:accent6>
        <a:srgbClr val="E7A6C6"/>
      </a:accent6>
      <a:hlink>
        <a:srgbClr val="FF9999"/>
      </a:hlink>
      <a:folHlink>
        <a:srgbClr val="FFFF99"/>
      </a:folHlink>
    </a:clrScheme>
    <a:fontScheme name="Balloons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1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15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16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5759</TotalTime>
  <Words>5444</Words>
  <Application>Microsoft Office PowerPoint</Application>
  <PresentationFormat>宽屏</PresentationFormat>
  <Paragraphs>798</Paragraphs>
  <Slides>80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100" baseType="lpstr">
      <vt:lpstr>仿宋</vt:lpstr>
      <vt:lpstr>黑体</vt:lpstr>
      <vt:lpstr>华文新魏</vt:lpstr>
      <vt:lpstr>楷体_GB2312</vt:lpstr>
      <vt:lpstr>Microsoft Yahei</vt:lpstr>
      <vt:lpstr>新宋体</vt:lpstr>
      <vt:lpstr>幼圆</vt:lpstr>
      <vt:lpstr>Arial</vt:lpstr>
      <vt:lpstr>Calibri</vt:lpstr>
      <vt:lpstr>Comic Sans MS</vt:lpstr>
      <vt:lpstr>Courier New</vt:lpstr>
      <vt:lpstr>Tahoma</vt:lpstr>
      <vt:lpstr>Times New Roman</vt:lpstr>
      <vt:lpstr>Verdana</vt:lpstr>
      <vt:lpstr>Wingdings</vt:lpstr>
      <vt:lpstr>Wingdings 2</vt:lpstr>
      <vt:lpstr>3_whu8</vt:lpstr>
      <vt:lpstr>1_whu8</vt:lpstr>
      <vt:lpstr>Balloons</vt:lpstr>
      <vt:lpstr>Microsoft Word Picture</vt:lpstr>
      <vt:lpstr>6.5.1 变量的作用域</vt:lpstr>
      <vt:lpstr>一、局部变量                               </vt:lpstr>
      <vt:lpstr>PowerPoint 演示文稿</vt:lpstr>
      <vt:lpstr>说明:</vt:lpstr>
      <vt:lpstr>说明:</vt:lpstr>
      <vt:lpstr>一、局部变量</vt:lpstr>
      <vt:lpstr>例: 写出下面程序的运行结果</vt:lpstr>
      <vt:lpstr>二、 全局变量</vt:lpstr>
      <vt:lpstr>二、 全局变量</vt:lpstr>
      <vt:lpstr>PowerPoint 演示文稿</vt:lpstr>
      <vt:lpstr>PowerPoint 演示文稿</vt:lpstr>
      <vt:lpstr>全局变量的特点:</vt:lpstr>
      <vt:lpstr>PowerPoint 演示文稿</vt:lpstr>
      <vt:lpstr>2) 缺点:</vt:lpstr>
      <vt:lpstr>PowerPoint 演示文稿</vt:lpstr>
      <vt:lpstr>PowerPoint 演示文稿</vt:lpstr>
      <vt:lpstr> 6.5.2  变量的存储类别</vt:lpstr>
      <vt:lpstr>6.5.2  变量的存储类别</vt:lpstr>
      <vt:lpstr>内存中供用户使用的空间有三部分:</vt:lpstr>
      <vt:lpstr>1、自动变量</vt:lpstr>
      <vt:lpstr>1、自动变量</vt:lpstr>
      <vt:lpstr>2. 寄存器变量（register）</vt:lpstr>
      <vt:lpstr>2. 寄存器变量（register）</vt:lpstr>
      <vt:lpstr>例6.8 求n!的函数</vt:lpstr>
      <vt:lpstr>3、静态变量</vt:lpstr>
      <vt:lpstr>3、静态变量</vt:lpstr>
      <vt:lpstr>静态变量举例:</vt:lpstr>
      <vt:lpstr>静态变量的特点:</vt:lpstr>
      <vt:lpstr>静态变量的特点:</vt:lpstr>
      <vt:lpstr>自动变量和静态局部变量区别：</vt:lpstr>
      <vt:lpstr>3、静态变量</vt:lpstr>
      <vt:lpstr>4. 外部变量（extern）</vt:lpstr>
      <vt:lpstr>4. 外部变量（extern）</vt:lpstr>
      <vt:lpstr>外部变量举例（在同一源文件内）</vt:lpstr>
      <vt:lpstr>PowerPoint 演示文稿</vt:lpstr>
      <vt:lpstr>PowerPoint 演示文稿</vt:lpstr>
      <vt:lpstr>复合语句中 extern声明使用外部变量。</vt:lpstr>
      <vt:lpstr>一、内部函数</vt:lpstr>
      <vt:lpstr>二、外部函数</vt:lpstr>
      <vt:lpstr>例:</vt:lpstr>
      <vt:lpstr>变量的作用域和生存期小结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三、编译预处理</vt:lpstr>
      <vt:lpstr>简介</vt:lpstr>
      <vt:lpstr>文件包含</vt:lpstr>
      <vt:lpstr>文件包含</vt:lpstr>
      <vt:lpstr>文件包含</vt:lpstr>
      <vt:lpstr>文件包含</vt:lpstr>
      <vt:lpstr>宏定义</vt:lpstr>
      <vt:lpstr>宏定义</vt:lpstr>
      <vt:lpstr>宏定义</vt:lpstr>
      <vt:lpstr>宏定义</vt:lpstr>
      <vt:lpstr>PowerPoint 演示文稿</vt:lpstr>
      <vt:lpstr>宏定义</vt:lpstr>
      <vt:lpstr>PowerPoint 演示文稿</vt:lpstr>
      <vt:lpstr>宏定义</vt:lpstr>
      <vt:lpstr>PowerPoint 演示文稿</vt:lpstr>
      <vt:lpstr>条件编译</vt:lpstr>
      <vt:lpstr>条件编译</vt:lpstr>
      <vt:lpstr>1   #ifdef </vt:lpstr>
      <vt:lpstr>2、#ifndef </vt:lpstr>
      <vt:lpstr>3、#if 常量表达式 </vt:lpstr>
      <vt:lpstr>PowerPoint 演示文稿</vt:lpstr>
      <vt:lpstr>PowerPoint 演示文稿</vt:lpstr>
      <vt:lpstr>PowerPoint 演示文稿</vt:lpstr>
      <vt:lpstr>PowerPoint 演示文稿</vt:lpstr>
      <vt:lpstr>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  函数</dc:title>
  <dc:creator>wwb</dc:creator>
  <cp:lastModifiedBy>Administrator</cp:lastModifiedBy>
  <cp:revision>85</cp:revision>
  <dcterms:created xsi:type="dcterms:W3CDTF">2020-01-12T03:32:12Z</dcterms:created>
  <dcterms:modified xsi:type="dcterms:W3CDTF">2025-08-09T01:23:54Z</dcterms:modified>
</cp:coreProperties>
</file>