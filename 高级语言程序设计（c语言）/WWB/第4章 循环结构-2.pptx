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8"/>
  </p:notesMasterIdLst>
  <p:sldIdLst>
    <p:sldId id="293" r:id="rId3"/>
    <p:sldId id="294" r:id="rId4"/>
    <p:sldId id="295" r:id="rId5"/>
    <p:sldId id="299" r:id="rId6"/>
    <p:sldId id="300" r:id="rId7"/>
    <p:sldId id="296" r:id="rId8"/>
    <p:sldId id="341" r:id="rId9"/>
    <p:sldId id="337" r:id="rId10"/>
    <p:sldId id="338" r:id="rId11"/>
    <p:sldId id="319" r:id="rId12"/>
    <p:sldId id="320" r:id="rId13"/>
    <p:sldId id="321" r:id="rId14"/>
    <p:sldId id="322" r:id="rId15"/>
    <p:sldId id="323" r:id="rId16"/>
    <p:sldId id="326" r:id="rId17"/>
    <p:sldId id="327" r:id="rId18"/>
    <p:sldId id="302" r:id="rId19"/>
    <p:sldId id="303" r:id="rId20"/>
    <p:sldId id="304" r:id="rId21"/>
    <p:sldId id="324" r:id="rId22"/>
    <p:sldId id="325" r:id="rId23"/>
    <p:sldId id="352" r:id="rId24"/>
    <p:sldId id="351" r:id="rId25"/>
    <p:sldId id="353" r:id="rId26"/>
    <p:sldId id="333" r:id="rId27"/>
    <p:sldId id="354" r:id="rId28"/>
    <p:sldId id="345" r:id="rId29"/>
    <p:sldId id="355" r:id="rId30"/>
    <p:sldId id="346" r:id="rId31"/>
    <p:sldId id="347" r:id="rId32"/>
    <p:sldId id="348" r:id="rId33"/>
    <p:sldId id="349" r:id="rId34"/>
    <p:sldId id="350" r:id="rId35"/>
    <p:sldId id="342" r:id="rId36"/>
    <p:sldId id="360" r:id="rId37"/>
    <p:sldId id="358" r:id="rId38"/>
    <p:sldId id="361" r:id="rId39"/>
    <p:sldId id="357" r:id="rId40"/>
    <p:sldId id="363" r:id="rId41"/>
    <p:sldId id="364" r:id="rId42"/>
    <p:sldId id="356" r:id="rId43"/>
    <p:sldId id="362" r:id="rId44"/>
    <p:sldId id="274" r:id="rId45"/>
    <p:sldId id="343" r:id="rId46"/>
    <p:sldId id="344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2376-DCD9-4056-9A01-BB655DE77974}" type="datetimeFigureOut">
              <a:rPr lang="zh-CN" altLang="en-US" smtClean="0"/>
              <a:t>2025/8/9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9C92E-7C19-4686-B342-F0316F8B9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59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3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非素数一定是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……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的倍数。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方法的依据：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100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这些自然数可以分为三类：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单位数：仅有一个数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素数：  是这样一个数，它大于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，且只有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和它自身这样两个正因数。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合数：  除了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和自身以外，还有其他正因数。</a:t>
            </a:r>
          </a:p>
          <a:p>
            <a:r>
              <a:rPr lang="zh-CN" altLang="zh-CN" b="1"/>
              <a:t>1</a:t>
            </a:r>
            <a:r>
              <a:rPr lang="zh-CN" b="1"/>
              <a:t>不是素数，除</a:t>
            </a:r>
            <a:r>
              <a:rPr lang="zh-CN" altLang="zh-CN" b="1"/>
              <a:t>1</a:t>
            </a:r>
            <a:r>
              <a:rPr lang="zh-CN" b="1"/>
              <a:t>以外的自然数，当然只有素数与合数。</a:t>
            </a:r>
          </a:p>
          <a:p>
            <a:r>
              <a:rPr lang="zh-CN" b="1"/>
              <a:t>筛法实际上是筛去合数，留下素数。</a:t>
            </a:r>
          </a:p>
          <a:p>
            <a:r>
              <a:rPr lang="zh-CN" b="1"/>
              <a:t>	为了提高筛选法效率，注意到：</a:t>
            </a:r>
          </a:p>
          <a:p>
            <a:r>
              <a:rPr lang="zh-CN" b="1"/>
              <a:t>	令</a:t>
            </a:r>
            <a:r>
              <a:rPr lang="zh-CN" altLang="zh-CN" b="1"/>
              <a:t>n</a:t>
            </a:r>
            <a:r>
              <a:rPr lang="zh-CN" b="1"/>
              <a:t>为合数（这里是</a:t>
            </a:r>
            <a:r>
              <a:rPr lang="zh-CN" altLang="zh-CN" b="1"/>
              <a:t>100</a:t>
            </a:r>
            <a:r>
              <a:rPr lang="zh-CN" b="1"/>
              <a:t>），</a:t>
            </a:r>
            <a:r>
              <a:rPr lang="zh-CN" altLang="zh-CN" b="1"/>
              <a:t>c</a:t>
            </a:r>
            <a:r>
              <a:rPr lang="zh-CN" b="1"/>
              <a:t>为</a:t>
            </a:r>
            <a:r>
              <a:rPr lang="zh-CN" altLang="zh-CN" b="1"/>
              <a:t>n</a:t>
            </a:r>
            <a:r>
              <a:rPr lang="zh-CN" b="1"/>
              <a:t>的最小正因数，则据初等数论</a:t>
            </a:r>
          </a:p>
          <a:p>
            <a:pPr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b="1"/>
              <a:t>只要找到</a:t>
            </a:r>
            <a:r>
              <a:rPr lang="zh-CN" altLang="zh-CN" b="1"/>
              <a:t>c</a:t>
            </a:r>
            <a:r>
              <a:rPr lang="zh-CN" b="1"/>
              <a:t>就可以确认</a:t>
            </a:r>
            <a:r>
              <a:rPr lang="zh-CN" altLang="zh-CN" b="1"/>
              <a:t>n</a:t>
            </a:r>
            <a:r>
              <a:rPr lang="zh-CN" b="1"/>
              <a:t>为合数，将其筛去。</a:t>
            </a:r>
          </a:p>
          <a:p>
            <a:pPr lvl="1"/>
            <a:endParaRPr lang="zh-CN" b="1"/>
          </a:p>
          <a:p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301854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非素数一定是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……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的倍数。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方法的依据：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100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这些自然数可以分为三类：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单位数：仅有一个数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素数：  是这样一个数，它大于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，且只有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和它自身这样两个正因数。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合数：  除了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和自身以外，还有其他正因数。</a:t>
            </a:r>
          </a:p>
          <a:p>
            <a:r>
              <a:rPr lang="zh-CN" altLang="zh-CN" b="1"/>
              <a:t>1</a:t>
            </a:r>
            <a:r>
              <a:rPr lang="zh-CN" b="1"/>
              <a:t>不是素数，除</a:t>
            </a:r>
            <a:r>
              <a:rPr lang="zh-CN" altLang="zh-CN" b="1"/>
              <a:t>1</a:t>
            </a:r>
            <a:r>
              <a:rPr lang="zh-CN" b="1"/>
              <a:t>以外的自然数，当然只有素数与合数。</a:t>
            </a:r>
          </a:p>
          <a:p>
            <a:r>
              <a:rPr lang="zh-CN" b="1"/>
              <a:t>筛法实际上是筛去合数，留下素数。</a:t>
            </a:r>
          </a:p>
          <a:p>
            <a:r>
              <a:rPr lang="zh-CN" b="1"/>
              <a:t>	为了提高筛选法效率，注意到：</a:t>
            </a:r>
          </a:p>
          <a:p>
            <a:r>
              <a:rPr lang="zh-CN" b="1"/>
              <a:t>	令</a:t>
            </a:r>
            <a:r>
              <a:rPr lang="zh-CN" altLang="zh-CN" b="1"/>
              <a:t>n</a:t>
            </a:r>
            <a:r>
              <a:rPr lang="zh-CN" b="1"/>
              <a:t>为合数（这里是</a:t>
            </a:r>
            <a:r>
              <a:rPr lang="zh-CN" altLang="zh-CN" b="1"/>
              <a:t>100</a:t>
            </a:r>
            <a:r>
              <a:rPr lang="zh-CN" b="1"/>
              <a:t>），</a:t>
            </a:r>
            <a:r>
              <a:rPr lang="zh-CN" altLang="zh-CN" b="1"/>
              <a:t>c</a:t>
            </a:r>
            <a:r>
              <a:rPr lang="zh-CN" b="1"/>
              <a:t>为</a:t>
            </a:r>
            <a:r>
              <a:rPr lang="zh-CN" altLang="zh-CN" b="1"/>
              <a:t>n</a:t>
            </a:r>
            <a:r>
              <a:rPr lang="zh-CN" b="1"/>
              <a:t>的最小正因数，则据初等数论</a:t>
            </a:r>
          </a:p>
          <a:p>
            <a:pPr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b="1"/>
              <a:t>只要找到</a:t>
            </a:r>
            <a:r>
              <a:rPr lang="zh-CN" altLang="zh-CN" b="1"/>
              <a:t>c</a:t>
            </a:r>
            <a:r>
              <a:rPr lang="zh-CN" b="1"/>
              <a:t>就可以确认</a:t>
            </a:r>
            <a:r>
              <a:rPr lang="zh-CN" altLang="zh-CN" b="1"/>
              <a:t>n</a:t>
            </a:r>
            <a:r>
              <a:rPr lang="zh-CN" b="1"/>
              <a:t>为合数，将其筛去。</a:t>
            </a:r>
          </a:p>
          <a:p>
            <a:pPr lvl="1"/>
            <a:endParaRPr lang="zh-CN" b="1"/>
          </a:p>
          <a:p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4159511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非素数一定是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……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的倍数。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方法的依据：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100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这些自然数可以分为三类：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单位数：仅有一个数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素数：  是这样一个数，它大于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，且只有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和它自身这样两个正因数。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合数：  除了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和自身以外，还有其他正因数。</a:t>
            </a:r>
          </a:p>
          <a:p>
            <a:r>
              <a:rPr lang="zh-CN" altLang="zh-CN" b="1"/>
              <a:t>1</a:t>
            </a:r>
            <a:r>
              <a:rPr lang="zh-CN" b="1"/>
              <a:t>不是素数，除</a:t>
            </a:r>
            <a:r>
              <a:rPr lang="zh-CN" altLang="zh-CN" b="1"/>
              <a:t>1</a:t>
            </a:r>
            <a:r>
              <a:rPr lang="zh-CN" b="1"/>
              <a:t>以外的自然数，当然只有素数与合数。</a:t>
            </a:r>
          </a:p>
          <a:p>
            <a:r>
              <a:rPr lang="zh-CN" b="1"/>
              <a:t>筛法实际上是筛去合数，留下素数。</a:t>
            </a:r>
          </a:p>
          <a:p>
            <a:r>
              <a:rPr lang="zh-CN" b="1"/>
              <a:t>	为了提高筛选法效率，注意到：</a:t>
            </a:r>
          </a:p>
          <a:p>
            <a:r>
              <a:rPr lang="zh-CN" b="1"/>
              <a:t>	令</a:t>
            </a:r>
            <a:r>
              <a:rPr lang="zh-CN" altLang="zh-CN" b="1"/>
              <a:t>n</a:t>
            </a:r>
            <a:r>
              <a:rPr lang="zh-CN" b="1"/>
              <a:t>为合数（这里是</a:t>
            </a:r>
            <a:r>
              <a:rPr lang="zh-CN" altLang="zh-CN" b="1"/>
              <a:t>100</a:t>
            </a:r>
            <a:r>
              <a:rPr lang="zh-CN" b="1"/>
              <a:t>），</a:t>
            </a:r>
            <a:r>
              <a:rPr lang="zh-CN" altLang="zh-CN" b="1"/>
              <a:t>c</a:t>
            </a:r>
            <a:r>
              <a:rPr lang="zh-CN" b="1"/>
              <a:t>为</a:t>
            </a:r>
            <a:r>
              <a:rPr lang="zh-CN" altLang="zh-CN" b="1"/>
              <a:t>n</a:t>
            </a:r>
            <a:r>
              <a:rPr lang="zh-CN" b="1"/>
              <a:t>的最小正因数，则据初等数论</a:t>
            </a:r>
          </a:p>
          <a:p>
            <a:pPr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b="1"/>
              <a:t>只要找到</a:t>
            </a:r>
            <a:r>
              <a:rPr lang="zh-CN" altLang="zh-CN" b="1"/>
              <a:t>c</a:t>
            </a:r>
            <a:r>
              <a:rPr lang="zh-CN" b="1"/>
              <a:t>就可以确认</a:t>
            </a:r>
            <a:r>
              <a:rPr lang="zh-CN" altLang="zh-CN" b="1"/>
              <a:t>n</a:t>
            </a:r>
            <a:r>
              <a:rPr lang="zh-CN" b="1"/>
              <a:t>为合数，将其筛去。</a:t>
            </a:r>
          </a:p>
          <a:p>
            <a:pPr lvl="1"/>
            <a:endParaRPr lang="zh-CN" b="1"/>
          </a:p>
          <a:p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365814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非素数一定是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……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的倍数。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方法的依据：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100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这些自然数可以分为三类：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单位数：仅有一个数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素数：  是这样一个数，它大于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，且只有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和它自身这样两个正因数。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合数：  除了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和自身以外，还有其他正因数。</a:t>
            </a:r>
          </a:p>
          <a:p>
            <a:r>
              <a:rPr lang="zh-CN" altLang="zh-CN" b="1"/>
              <a:t>1</a:t>
            </a:r>
            <a:r>
              <a:rPr lang="zh-CN" b="1"/>
              <a:t>不是素数，除</a:t>
            </a:r>
            <a:r>
              <a:rPr lang="zh-CN" altLang="zh-CN" b="1"/>
              <a:t>1</a:t>
            </a:r>
            <a:r>
              <a:rPr lang="zh-CN" b="1"/>
              <a:t>以外的自然数，当然只有素数与合数。</a:t>
            </a:r>
          </a:p>
          <a:p>
            <a:r>
              <a:rPr lang="zh-CN" b="1"/>
              <a:t>筛法实际上是筛去合数，留下素数。</a:t>
            </a:r>
          </a:p>
          <a:p>
            <a:r>
              <a:rPr lang="zh-CN" b="1"/>
              <a:t>	为了提高筛选法效率，注意到：</a:t>
            </a:r>
          </a:p>
          <a:p>
            <a:r>
              <a:rPr lang="zh-CN" b="1"/>
              <a:t>	令</a:t>
            </a:r>
            <a:r>
              <a:rPr lang="zh-CN" altLang="zh-CN" b="1"/>
              <a:t>n</a:t>
            </a:r>
            <a:r>
              <a:rPr lang="zh-CN" b="1"/>
              <a:t>为合数（这里是</a:t>
            </a:r>
            <a:r>
              <a:rPr lang="zh-CN" altLang="zh-CN" b="1"/>
              <a:t>100</a:t>
            </a:r>
            <a:r>
              <a:rPr lang="zh-CN" b="1"/>
              <a:t>），</a:t>
            </a:r>
            <a:r>
              <a:rPr lang="zh-CN" altLang="zh-CN" b="1"/>
              <a:t>c</a:t>
            </a:r>
            <a:r>
              <a:rPr lang="zh-CN" b="1"/>
              <a:t>为</a:t>
            </a:r>
            <a:r>
              <a:rPr lang="zh-CN" altLang="zh-CN" b="1"/>
              <a:t>n</a:t>
            </a:r>
            <a:r>
              <a:rPr lang="zh-CN" b="1"/>
              <a:t>的最小正因数，则据初等数论</a:t>
            </a:r>
          </a:p>
          <a:p>
            <a:pPr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b="1"/>
              <a:t>只要找到</a:t>
            </a:r>
            <a:r>
              <a:rPr lang="zh-CN" altLang="zh-CN" b="1"/>
              <a:t>c</a:t>
            </a:r>
            <a:r>
              <a:rPr lang="zh-CN" b="1"/>
              <a:t>就可以确认</a:t>
            </a:r>
            <a:r>
              <a:rPr lang="zh-CN" altLang="zh-CN" b="1"/>
              <a:t>n</a:t>
            </a:r>
            <a:r>
              <a:rPr lang="zh-CN" b="1"/>
              <a:t>为合数，将其筛去。</a:t>
            </a:r>
          </a:p>
          <a:p>
            <a:pPr lvl="1"/>
            <a:endParaRPr lang="zh-CN" b="1"/>
          </a:p>
          <a:p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3911939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非素数一定是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……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的倍数。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方法的依据：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100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这些自然数可以分为三类：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单位数：仅有一个数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素数：  是这样一个数，它大于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，且只有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和它自身这样两个正因数。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合数：  除了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和自身以外，还有其他正因数。</a:t>
            </a:r>
          </a:p>
          <a:p>
            <a:r>
              <a:rPr lang="zh-CN" altLang="zh-CN" b="1"/>
              <a:t>1</a:t>
            </a:r>
            <a:r>
              <a:rPr lang="zh-CN" b="1"/>
              <a:t>不是素数，除</a:t>
            </a:r>
            <a:r>
              <a:rPr lang="zh-CN" altLang="zh-CN" b="1"/>
              <a:t>1</a:t>
            </a:r>
            <a:r>
              <a:rPr lang="zh-CN" b="1"/>
              <a:t>以外的自然数，当然只有素数与合数。</a:t>
            </a:r>
          </a:p>
          <a:p>
            <a:r>
              <a:rPr lang="zh-CN" b="1"/>
              <a:t>筛法实际上是筛去合数，留下素数。</a:t>
            </a:r>
          </a:p>
          <a:p>
            <a:r>
              <a:rPr lang="zh-CN" b="1"/>
              <a:t>	为了提高筛选法效率，注意到：</a:t>
            </a:r>
          </a:p>
          <a:p>
            <a:r>
              <a:rPr lang="zh-CN" b="1"/>
              <a:t>	令</a:t>
            </a:r>
            <a:r>
              <a:rPr lang="zh-CN" altLang="zh-CN" b="1"/>
              <a:t>n</a:t>
            </a:r>
            <a:r>
              <a:rPr lang="zh-CN" b="1"/>
              <a:t>为合数（这里是</a:t>
            </a:r>
            <a:r>
              <a:rPr lang="zh-CN" altLang="zh-CN" b="1"/>
              <a:t>100</a:t>
            </a:r>
            <a:r>
              <a:rPr lang="zh-CN" b="1"/>
              <a:t>），</a:t>
            </a:r>
            <a:r>
              <a:rPr lang="zh-CN" altLang="zh-CN" b="1"/>
              <a:t>c</a:t>
            </a:r>
            <a:r>
              <a:rPr lang="zh-CN" b="1"/>
              <a:t>为</a:t>
            </a:r>
            <a:r>
              <a:rPr lang="zh-CN" altLang="zh-CN" b="1"/>
              <a:t>n</a:t>
            </a:r>
            <a:r>
              <a:rPr lang="zh-CN" b="1"/>
              <a:t>的最小正因数，则据初等数论</a:t>
            </a:r>
          </a:p>
          <a:p>
            <a:pPr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b="1"/>
              <a:t>只要找到</a:t>
            </a:r>
            <a:r>
              <a:rPr lang="zh-CN" altLang="zh-CN" b="1"/>
              <a:t>c</a:t>
            </a:r>
            <a:r>
              <a:rPr lang="zh-CN" b="1"/>
              <a:t>就可以确认</a:t>
            </a:r>
            <a:r>
              <a:rPr lang="zh-CN" altLang="zh-CN" b="1"/>
              <a:t>n</a:t>
            </a:r>
            <a:r>
              <a:rPr lang="zh-CN" b="1"/>
              <a:t>为合数，将其筛去。</a:t>
            </a:r>
          </a:p>
          <a:p>
            <a:pPr lvl="1"/>
            <a:endParaRPr lang="zh-CN" b="1"/>
          </a:p>
          <a:p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3473753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非素数一定是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</a:rPr>
              <a:t>……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的倍数。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方法的依据：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100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这些自然数可以分为三类：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单位数：仅有一个数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素数：  是这样一个数，它大于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，且只有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和它自身这样两个正因数。</a:t>
            </a:r>
          </a:p>
          <a:p>
            <a:pPr lvl="1"/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合数：  除了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和自身以外，还有其他正因数。</a:t>
            </a:r>
          </a:p>
          <a:p>
            <a:r>
              <a:rPr lang="zh-CN" altLang="zh-CN" b="1"/>
              <a:t>1</a:t>
            </a:r>
            <a:r>
              <a:rPr lang="zh-CN" b="1"/>
              <a:t>不是素数，除</a:t>
            </a:r>
            <a:r>
              <a:rPr lang="zh-CN" altLang="zh-CN" b="1"/>
              <a:t>1</a:t>
            </a:r>
            <a:r>
              <a:rPr lang="zh-CN" b="1"/>
              <a:t>以外的自然数，当然只有素数与合数。</a:t>
            </a:r>
          </a:p>
          <a:p>
            <a:r>
              <a:rPr lang="zh-CN" b="1"/>
              <a:t>筛法实际上是筛去合数，留下素数。</a:t>
            </a:r>
          </a:p>
          <a:p>
            <a:r>
              <a:rPr lang="zh-CN" b="1"/>
              <a:t>	为了提高筛选法效率，注意到：</a:t>
            </a:r>
          </a:p>
          <a:p>
            <a:r>
              <a:rPr lang="zh-CN" b="1"/>
              <a:t>	令</a:t>
            </a:r>
            <a:r>
              <a:rPr lang="zh-CN" altLang="zh-CN" b="1"/>
              <a:t>n</a:t>
            </a:r>
            <a:r>
              <a:rPr lang="zh-CN" b="1"/>
              <a:t>为合数（这里是</a:t>
            </a:r>
            <a:r>
              <a:rPr lang="zh-CN" altLang="zh-CN" b="1"/>
              <a:t>100</a:t>
            </a:r>
            <a:r>
              <a:rPr lang="zh-CN" b="1"/>
              <a:t>），</a:t>
            </a:r>
            <a:r>
              <a:rPr lang="zh-CN" altLang="zh-CN" b="1"/>
              <a:t>c</a:t>
            </a:r>
            <a:r>
              <a:rPr lang="zh-CN" b="1"/>
              <a:t>为</a:t>
            </a:r>
            <a:r>
              <a:rPr lang="zh-CN" altLang="zh-CN" b="1"/>
              <a:t>n</a:t>
            </a:r>
            <a:r>
              <a:rPr lang="zh-CN" b="1"/>
              <a:t>的最小正因数，则据初等数论</a:t>
            </a:r>
          </a:p>
          <a:p>
            <a:pPr>
              <a:spcBef>
                <a:spcPct val="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zh-CN" b="1"/>
              <a:t>只要找到</a:t>
            </a:r>
            <a:r>
              <a:rPr lang="zh-CN" altLang="zh-CN" b="1"/>
              <a:t>c</a:t>
            </a:r>
            <a:r>
              <a:rPr lang="zh-CN" b="1"/>
              <a:t>就可以确认</a:t>
            </a:r>
            <a:r>
              <a:rPr lang="zh-CN" altLang="zh-CN" b="1"/>
              <a:t>n</a:t>
            </a:r>
            <a:r>
              <a:rPr lang="zh-CN" b="1"/>
              <a:t>为合数，将其筛去。</a:t>
            </a:r>
          </a:p>
          <a:p>
            <a:pPr lvl="1"/>
            <a:endParaRPr lang="zh-CN" b="1"/>
          </a:p>
          <a:p>
            <a:endParaRPr lang="zh-CN" altLang="zh-CN" b="1"/>
          </a:p>
        </p:txBody>
      </p:sp>
    </p:spTree>
    <p:extLst>
      <p:ext uri="{BB962C8B-B14F-4D97-AF65-F5344CB8AC3E}">
        <p14:creationId xmlns:p14="http://schemas.microsoft.com/office/powerpoint/2010/main" val="1628830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提问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这种循环当表达式的值</a:t>
            </a:r>
            <a:r>
              <a:rPr lang="zh-CN" b="1"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永远为真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时，会如何？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答：会构成</a:t>
            </a:r>
            <a:r>
              <a:rPr lang="zh-CN" b="1"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死循环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，即无休止地执行循环体</a:t>
            </a:r>
          </a:p>
          <a:p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请实验：</a:t>
            </a:r>
          </a:p>
          <a:p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1.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定义为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型看看执行结果并分析为什么</a:t>
            </a:r>
          </a:p>
          <a:p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2.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将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1e-6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变为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1e-7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或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1e-4</a:t>
            </a:r>
            <a:r>
              <a:rPr 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看看结果</a:t>
            </a:r>
          </a:p>
          <a:p>
            <a:endParaRPr lang="zh-CN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2051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2054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4049454-BC45-4838-96FD-55F84B6D2941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3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484CF-D3E2-43DD-B37D-6A7048F135A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6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4BA46-36F5-4F2D-ACB7-59BC9B75C0D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02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9868D-EB19-4EF7-9ABA-EB80F4902B0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0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68307C-E694-4A51-8A31-C65D0E7D1FC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02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79AEC8-915D-4964-9E48-1C16BD3DCB6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18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E3386E-54BD-4027-9CCA-4EBC70BDC31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53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00B59-49DF-4EC1-989E-EF180328CD0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89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BADE4-32C9-4CF6-9C59-F8ACAA22A3B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5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38B7B-BD12-444C-8EB3-B58C0C382D5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51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9AD704-0C10-4BD3-8A8D-4359B1A3296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799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B285E01-B516-49A2-98A5-3F1D0CE4F734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982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80F23-1145-4AC0-9766-5743A91E5D0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596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157EA-054B-4329-B0D9-F1107576BB7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595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EEA2B-8D26-4FFE-83AB-B71BC1A0ECC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779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906CEC-F30D-4D15-96BA-FFCB418F412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432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D07B6-16AF-4233-A94B-F1BFB800472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96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07A280-80E5-49B8-A0BD-6614BE65729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699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1CD7F-3EE9-4908-9216-6CAD25695BD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2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2E0FF-CBE4-4635-8A06-8036F602939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13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F1DA34-0B21-4FB3-B339-12C164A965D6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301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ADC0D3-A7B2-452B-8C32-6FC53B90B0D2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918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2832C677-59C9-4DA4-96B9-1D4D36480BC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6299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76C8D42-6159-4FFC-B4FB-7B5BC98E059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67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58C8374-F4AB-4E49-99E2-7B94D608BD8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64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AFDEF03-CF4D-4F86-BAB1-ACDFA25AAB17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6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688F5C-29C3-40E1-A2E2-76B27F358A79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4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2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.gi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slide" Target="slide1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2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18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2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87800" y="163513"/>
            <a:ext cx="5334000" cy="652462"/>
          </a:xfrm>
        </p:spPr>
        <p:txBody>
          <a:bodyPr/>
          <a:lstStyle/>
          <a:p>
            <a:r>
              <a:rPr lang="zh-CN" altLang="en-US" sz="3600">
                <a:latin typeface="楷体_GB2312" pitchFamily="49" charset="-122"/>
              </a:rPr>
              <a:t>一、</a:t>
            </a:r>
            <a:r>
              <a:rPr lang="zh-CN" altLang="zh-CN" sz="3600">
                <a:latin typeface="楷体_GB2312" pitchFamily="49" charset="-122"/>
              </a:rPr>
              <a:t>break</a:t>
            </a:r>
            <a:r>
              <a:rPr lang="zh-CN" altLang="en-US" sz="3600">
                <a:latin typeface="楷体_GB2312" pitchFamily="49" charset="-122"/>
              </a:rPr>
              <a:t>语句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0739" y="1222376"/>
            <a:ext cx="8289925" cy="4646613"/>
          </a:xfrm>
        </p:spPr>
        <p:txBody>
          <a:bodyPr/>
          <a:lstStyle/>
          <a:p>
            <a:pPr marL="261938" indent="-261938" algn="just"/>
            <a:r>
              <a:rPr lang="zh-CN" altLang="en-US" sz="2800" b="1" dirty="0">
                <a:latin typeface="黑体" pitchFamily="49" charset="-122"/>
              </a:rPr>
              <a:t>格式</a:t>
            </a:r>
            <a:r>
              <a:rPr lang="zh-CN" altLang="zh-CN" sz="2800" b="1" dirty="0">
                <a:latin typeface="Times New Roman" pitchFamily="18" charset="0"/>
              </a:rPr>
              <a:t>:  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</a:rPr>
              <a:t>brea</a:t>
            </a:r>
            <a:r>
              <a:rPr lang="zh-CN" altLang="zh-CN" sz="2800" b="1" dirty="0">
                <a:solidFill>
                  <a:schemeClr val="hlink"/>
                </a:solidFill>
              </a:rPr>
              <a:t>k </a:t>
            </a:r>
            <a:r>
              <a:rPr lang="zh-CN" altLang="zh-CN" sz="2800" b="1" dirty="0">
                <a:solidFill>
                  <a:schemeClr val="hlink"/>
                </a:solidFill>
                <a:latin typeface="Times New Roman" pitchFamily="18" charset="0"/>
              </a:rPr>
              <a:t>;</a:t>
            </a:r>
          </a:p>
          <a:p>
            <a:pPr marL="261938" indent="-261938">
              <a:spcBef>
                <a:spcPct val="50000"/>
              </a:spcBef>
            </a:pPr>
            <a:r>
              <a:rPr lang="zh-CN" altLang="en-US" sz="2800" b="1" dirty="0">
                <a:latin typeface="黑体" pitchFamily="49" charset="-122"/>
              </a:rPr>
              <a:t>作用</a:t>
            </a:r>
            <a:r>
              <a:rPr lang="zh-CN" altLang="zh-CN" sz="2800" b="1" dirty="0">
                <a:latin typeface="Times New Roman" pitchFamily="18" charset="0"/>
              </a:rPr>
              <a:t>:   </a:t>
            </a:r>
            <a:r>
              <a:rPr lang="zh-CN" altLang="en-US" sz="2800" b="1" dirty="0">
                <a:latin typeface="黑体" pitchFamily="49" charset="-122"/>
              </a:rPr>
              <a:t>提前退出某个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</a:rPr>
              <a:t>循环</a:t>
            </a:r>
            <a:r>
              <a:rPr lang="zh-CN" altLang="en-US" sz="2800" b="1" dirty="0">
                <a:latin typeface="黑体" pitchFamily="49" charset="-122"/>
              </a:rPr>
              <a:t>或跳出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switch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结构</a:t>
            </a:r>
            <a:r>
              <a:rPr lang="zh-CN" altLang="en-US" sz="2800" b="1" dirty="0">
                <a:latin typeface="Times New Roman" pitchFamily="18" charset="0"/>
              </a:rPr>
              <a:t>。</a:t>
            </a:r>
            <a:endParaRPr lang="zh-CN" altLang="en-US" sz="2800" b="1" dirty="0">
              <a:latin typeface="黑体" pitchFamily="49" charset="-122"/>
            </a:endParaRPr>
          </a:p>
          <a:p>
            <a:pPr lvl="1" indent="-301625">
              <a:lnSpc>
                <a:spcPct val="110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b="1" dirty="0">
                <a:latin typeface="黑体" pitchFamily="49" charset="-122"/>
              </a:rPr>
              <a:t>退出当前</a:t>
            </a:r>
            <a:r>
              <a:rPr lang="zh-CN" altLang="zh-CN" b="1" dirty="0">
                <a:latin typeface="Arial" pitchFamily="34" charset="0"/>
              </a:rPr>
              <a:t>switch</a:t>
            </a:r>
            <a:r>
              <a:rPr lang="zh-CN" b="1" dirty="0">
                <a:latin typeface="黑体" pitchFamily="49" charset="-122"/>
              </a:rPr>
              <a:t>语句</a:t>
            </a:r>
          </a:p>
          <a:p>
            <a:pPr lvl="1" indent="-301625">
              <a:lnSpc>
                <a:spcPct val="115000"/>
              </a:lnSpc>
              <a:spcBef>
                <a:spcPct val="4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b="1" dirty="0">
                <a:latin typeface="黑体" pitchFamily="49" charset="-122"/>
              </a:rPr>
              <a:t>退出当前循环</a:t>
            </a:r>
            <a:r>
              <a:rPr lang="zh-CN" altLang="zh-CN" b="1" dirty="0">
                <a:latin typeface="黑体" pitchFamily="49" charset="-122"/>
              </a:rPr>
              <a:t>(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在循环体中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break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语句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一般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if</a:t>
            </a:r>
            <a:r>
              <a:rPr 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语句搭配使用</a:t>
            </a: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marL="261938" indent="-261938" algn="just">
              <a:spcBef>
                <a:spcPct val="55000"/>
              </a:spcBef>
            </a:pPr>
            <a:r>
              <a:rPr lang="zh-CN" altLang="en-US" sz="2800" b="1" dirty="0">
                <a:latin typeface="黑体" pitchFamily="49" charset="-122"/>
              </a:rPr>
              <a:t>用法</a:t>
            </a:r>
            <a:r>
              <a:rPr lang="zh-CN" altLang="zh-CN" sz="2800" b="1" dirty="0">
                <a:latin typeface="Times New Roman" pitchFamily="18" charset="0"/>
              </a:rPr>
              <a:t>: 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</a:rPr>
              <a:t>只能</a:t>
            </a:r>
            <a:r>
              <a:rPr lang="zh-CN" altLang="en-US" sz="2800" b="1" dirty="0">
                <a:latin typeface="黑体" pitchFamily="49" charset="-122"/>
              </a:rPr>
              <a:t>在</a:t>
            </a:r>
            <a:r>
              <a:rPr lang="zh-CN" altLang="zh-CN" sz="2800" b="1" dirty="0">
                <a:latin typeface="Arial" pitchFamily="34" charset="0"/>
              </a:rPr>
              <a:t>switch</a:t>
            </a:r>
            <a:r>
              <a:rPr lang="zh-CN" altLang="en-US" sz="2800" b="1" dirty="0">
                <a:latin typeface="黑体" pitchFamily="49" charset="-122"/>
              </a:rPr>
              <a:t>语句和循环体中使用 </a:t>
            </a:r>
          </a:p>
        </p:txBody>
      </p:sp>
      <p:sp>
        <p:nvSpPr>
          <p:cNvPr id="287748" name="Rectangle 4"/>
          <p:cNvSpPr>
            <a:spLocks noChangeArrowheads="1"/>
          </p:cNvSpPr>
          <p:nvPr/>
        </p:nvSpPr>
        <p:spPr bwMode="auto">
          <a:xfrm>
            <a:off x="2103438" y="5062538"/>
            <a:ext cx="8420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华文楷体" pitchFamily="2" charset="-122"/>
              </a:rPr>
              <a:t>break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</a:rPr>
              <a:t>只能跳出一层循环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(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或一层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switch</a:t>
            </a:r>
            <a:r>
              <a:rPr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语句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740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2214" y="212726"/>
            <a:ext cx="7412037" cy="550863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7688" y="1249364"/>
            <a:ext cx="8616950" cy="44719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/>
              <a:t>                 </a:t>
            </a:r>
            <a:r>
              <a:rPr lang="zh-CN" altLang="zh-CN" sz="2800" b="1">
                <a:latin typeface="Arial" pitchFamily="34" charset="0"/>
              </a:rPr>
              <a:t>for</a:t>
            </a:r>
            <a:r>
              <a:rPr lang="zh-CN" altLang="zh-CN" sz="2800" b="1">
                <a:latin typeface="Times New Roman" pitchFamily="18" charset="0"/>
              </a:rPr>
              <a:t>( ;  ; )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800" b="1"/>
              <a:t>                 {</a:t>
            </a:r>
            <a:r>
              <a:rPr lang="zh-CN" altLang="zh-CN" sz="2800"/>
              <a:t> </a:t>
            </a:r>
            <a:r>
              <a:rPr lang="zh-CN" altLang="zh-CN" sz="2800" b="1"/>
              <a:t>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</a:rPr>
              <a:t>for</a:t>
            </a:r>
            <a:r>
              <a:rPr lang="zh-CN" altLang="zh-CN" sz="2800" b="1">
                <a:solidFill>
                  <a:schemeClr val="hlink"/>
                </a:solidFill>
                <a:latin typeface="Times New Roman" pitchFamily="18" charset="0"/>
              </a:rPr>
              <a:t>( ; ; 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/>
              <a:t>                      </a:t>
            </a:r>
            <a:r>
              <a:rPr lang="zh-CN" altLang="zh-CN" sz="2800" b="1">
                <a:solidFill>
                  <a:schemeClr val="hlink"/>
                </a:solidFill>
              </a:rPr>
              <a:t>{</a:t>
            </a:r>
            <a:r>
              <a:rPr lang="zh-CN" altLang="zh-CN" sz="2800" b="1"/>
              <a:t>  </a:t>
            </a:r>
            <a:r>
              <a:rPr lang="zh-CN" altLang="zh-CN" sz="2800" b="1">
                <a:latin typeface="Times New Roman"/>
                <a:cs typeface="Tahoma" pitchFamily="34" charset="0"/>
              </a:rPr>
              <a:t>…</a:t>
            </a:r>
            <a:endParaRPr lang="zh-CN" altLang="zh-CN" sz="2800" b="1">
              <a:cs typeface="Tahoma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>
                <a:cs typeface="Tahoma" pitchFamily="34" charset="0"/>
              </a:rPr>
              <a:t>                          </a:t>
            </a:r>
            <a:r>
              <a:rPr lang="zh-CN" altLang="zh-CN" sz="2800" b="1">
                <a:latin typeface="Arial" pitchFamily="34" charset="0"/>
                <a:cs typeface="Tahoma" pitchFamily="34" charset="0"/>
              </a:rPr>
              <a:t>if</a:t>
            </a:r>
            <a:r>
              <a:rPr lang="zh-CN" altLang="zh-CN" sz="2800" b="1">
                <a:latin typeface="Times New Roman" pitchFamily="18" charset="0"/>
                <a:cs typeface="Tahoma" pitchFamily="34" charset="0"/>
              </a:rPr>
              <a:t>(</a:t>
            </a:r>
            <a:r>
              <a:rPr lang="zh-CN" altLang="zh-CN" sz="2800" b="1">
                <a:latin typeface="Arial" pitchFamily="34" charset="0"/>
                <a:cs typeface="Tahoma" pitchFamily="34" charset="0"/>
              </a:rPr>
              <a:t>i</a:t>
            </a:r>
            <a:r>
              <a:rPr lang="zh-CN" altLang="zh-CN" sz="2800" b="1">
                <a:cs typeface="Tahoma" pitchFamily="34" charset="0"/>
              </a:rPr>
              <a:t>==</a:t>
            </a:r>
            <a:r>
              <a:rPr lang="zh-CN" altLang="zh-CN" sz="2800" b="1">
                <a:latin typeface="Arial" pitchFamily="34" charset="0"/>
                <a:cs typeface="Tahoma" pitchFamily="34" charset="0"/>
              </a:rPr>
              <a:t>1</a:t>
            </a:r>
            <a:r>
              <a:rPr lang="zh-CN" altLang="zh-CN" sz="2800" b="1">
                <a:latin typeface="Times New Roman" pitchFamily="18" charset="0"/>
                <a:cs typeface="Tahoma" pitchFamily="34" charset="0"/>
              </a:rPr>
              <a:t>)</a:t>
            </a:r>
            <a:r>
              <a:rPr lang="zh-CN" altLang="zh-CN" sz="2800" b="1">
                <a:cs typeface="Tahoma" pitchFamily="34" charset="0"/>
              </a:rPr>
              <a:t> </a:t>
            </a:r>
            <a:r>
              <a:rPr lang="zh-CN" altLang="zh-CN" sz="2800" b="1">
                <a:solidFill>
                  <a:schemeClr val="hlink"/>
                </a:solidFill>
                <a:latin typeface="Arial" pitchFamily="34" charset="0"/>
                <a:cs typeface="Tahoma" pitchFamily="34" charset="0"/>
              </a:rPr>
              <a:t>break</a:t>
            </a:r>
            <a:r>
              <a:rPr lang="zh-CN" altLang="zh-CN" sz="2800" b="1">
                <a:cs typeface="Tahoma" pitchFamily="34" charset="0"/>
              </a:rPr>
              <a:t> </a:t>
            </a:r>
            <a:r>
              <a:rPr lang="zh-CN" altLang="zh-CN" sz="2800" b="1">
                <a:latin typeface="Times New Roman" pitchFamily="18" charset="0"/>
                <a:cs typeface="Tahoma" pitchFamily="34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>
                <a:cs typeface="Tahoma" pitchFamily="34" charset="0"/>
              </a:rPr>
              <a:t>                           </a:t>
            </a:r>
            <a:r>
              <a:rPr lang="zh-CN" altLang="zh-CN" sz="2800" b="1">
                <a:latin typeface="Times New Roman"/>
                <a:cs typeface="Tahoma" pitchFamily="34" charset="0"/>
              </a:rPr>
              <a:t>…</a:t>
            </a:r>
            <a:endParaRPr lang="zh-CN" altLang="zh-CN" sz="2800" b="1">
              <a:cs typeface="Tahoma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>
                <a:cs typeface="Tahoma" pitchFamily="34" charset="0"/>
              </a:rPr>
              <a:t>                      </a:t>
            </a:r>
            <a:r>
              <a:rPr lang="zh-CN" altLang="zh-CN" sz="2800" b="1">
                <a:solidFill>
                  <a:schemeClr val="hlink"/>
                </a:solidFill>
                <a:cs typeface="Tahoma" pitchFamily="34" charset="0"/>
              </a:rPr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>
                <a:cs typeface="Tahoma" pitchFamily="34" charset="0"/>
              </a:rPr>
              <a:t>                        </a:t>
            </a:r>
            <a:r>
              <a:rPr lang="zh-CN" altLang="zh-CN" sz="2800" b="1">
                <a:latin typeface="Arial" pitchFamily="34" charset="0"/>
                <a:cs typeface="Tahoma" pitchFamily="34" charset="0"/>
              </a:rPr>
              <a:t>a</a:t>
            </a:r>
            <a:r>
              <a:rPr lang="zh-CN" altLang="zh-CN" sz="2800" b="1">
                <a:cs typeface="Tahoma" pitchFamily="34" charset="0"/>
              </a:rPr>
              <a:t>=</a:t>
            </a:r>
            <a:r>
              <a:rPr lang="zh-CN" altLang="zh-CN" sz="2800" b="1">
                <a:latin typeface="Arial" pitchFamily="34" charset="0"/>
                <a:cs typeface="Tahoma" pitchFamily="34" charset="0"/>
              </a:rPr>
              <a:t>1</a:t>
            </a:r>
            <a:r>
              <a:rPr lang="zh-CN" altLang="zh-CN" sz="2800" b="1">
                <a:cs typeface="Tahoma" pitchFamily="34" charset="0"/>
              </a:rPr>
              <a:t> </a:t>
            </a:r>
            <a:r>
              <a:rPr lang="zh-CN" altLang="zh-CN" sz="2800" b="1">
                <a:latin typeface="Times New Roman" pitchFamily="18" charset="0"/>
                <a:cs typeface="Tahoma" pitchFamily="34" charset="0"/>
              </a:rPr>
              <a:t>; </a:t>
            </a:r>
            <a:r>
              <a:rPr lang="zh-CN" altLang="zh-CN" sz="2800" b="1">
                <a:cs typeface="Tahoma" pitchFamily="34" charset="0"/>
              </a:rPr>
              <a:t>     </a:t>
            </a:r>
            <a:r>
              <a:rPr lang="zh-CN" altLang="zh-CN" sz="2800">
                <a:cs typeface="Tahoma" pitchFamily="34" charset="0"/>
              </a:rPr>
              <a:t>/</a:t>
            </a:r>
            <a:r>
              <a:rPr lang="zh-CN" altLang="zh-CN" sz="2800" b="1">
                <a:latin typeface="黑体" pitchFamily="49" charset="-122"/>
              </a:rPr>
              <a:t>*</a:t>
            </a:r>
            <a:r>
              <a:rPr lang="zh-CN" altLang="zh-CN" sz="2800" b="1">
                <a:latin typeface="Arial" pitchFamily="34" charset="0"/>
                <a:cs typeface="Tahoma" pitchFamily="34" charset="0"/>
              </a:rPr>
              <a:t>break</a:t>
            </a:r>
            <a:r>
              <a:rPr lang="zh-CN" altLang="en-US" sz="2800" b="1"/>
              <a:t>跳至此处</a:t>
            </a:r>
            <a:r>
              <a:rPr lang="zh-CN" altLang="en-US" sz="2800" b="1">
                <a:latin typeface="黑体" pitchFamily="49" charset="-122"/>
              </a:rPr>
              <a:t>*</a:t>
            </a:r>
            <a:r>
              <a:rPr lang="zh-CN" altLang="zh-CN" sz="2800"/>
              <a:t>/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>
                <a:cs typeface="Tahoma" pitchFamily="34" charset="0"/>
              </a:rPr>
              <a:t>                           </a:t>
            </a:r>
            <a:r>
              <a:rPr lang="zh-CN" altLang="zh-CN" sz="2800" b="1">
                <a:latin typeface="Times New Roman"/>
                <a:cs typeface="Tahoma" pitchFamily="34" charset="0"/>
              </a:rPr>
              <a:t>…</a:t>
            </a:r>
            <a:endParaRPr lang="zh-CN" altLang="zh-CN" sz="2800" b="1">
              <a:cs typeface="Tahoma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/>
              <a:t>             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zh-CN" sz="2800"/>
          </a:p>
        </p:txBody>
      </p:sp>
    </p:spTree>
    <p:extLst>
      <p:ext uri="{BB962C8B-B14F-4D97-AF65-F5344CB8AC3E}">
        <p14:creationId xmlns:p14="http://schemas.microsoft.com/office/powerpoint/2010/main" val="239319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7714" y="250826"/>
            <a:ext cx="7775575" cy="588963"/>
          </a:xfrm>
        </p:spPr>
        <p:txBody>
          <a:bodyPr/>
          <a:lstStyle/>
          <a:p>
            <a:pPr algn="ctr"/>
            <a:r>
              <a:rPr lang="zh-CN" altLang="en-US" sz="3600">
                <a:latin typeface="楷体_GB2312" pitchFamily="49" charset="-122"/>
              </a:rPr>
              <a:t>二、</a:t>
            </a:r>
            <a:r>
              <a:rPr lang="zh-CN" altLang="zh-CN" sz="3600">
                <a:latin typeface="楷体_GB2312" pitchFamily="49" charset="-122"/>
              </a:rPr>
              <a:t>continue</a:t>
            </a:r>
            <a:r>
              <a:rPr lang="zh-CN" altLang="en-US" sz="3600">
                <a:latin typeface="楷体_GB2312" pitchFamily="49" charset="-122"/>
              </a:rPr>
              <a:t>语句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3276" y="1196975"/>
            <a:ext cx="8367713" cy="4387850"/>
          </a:xfrm>
        </p:spPr>
        <p:txBody>
          <a:bodyPr/>
          <a:lstStyle/>
          <a:p>
            <a:pPr marL="179388" indent="-179388" eaLnBrk="0" hangingPunct="0">
              <a:lnSpc>
                <a:spcPct val="110000"/>
              </a:lnSpc>
              <a:spcBef>
                <a:spcPct val="50000"/>
              </a:spcBef>
              <a:buSzPct val="50000"/>
            </a:pPr>
            <a:r>
              <a:rPr lang="zh-CN" altLang="en-US" sz="2400" b="1" dirty="0">
                <a:latin typeface="黑体" pitchFamily="49" charset="-122"/>
              </a:rPr>
              <a:t>格式</a:t>
            </a:r>
            <a:r>
              <a:rPr lang="zh-CN" altLang="zh-CN" sz="2400" b="1" dirty="0">
                <a:latin typeface="Times New Roman" pitchFamily="18" charset="0"/>
              </a:rPr>
              <a:t>:    </a:t>
            </a:r>
            <a:r>
              <a:rPr lang="zh-CN" altLang="zh-CN" sz="2800" b="1" dirty="0">
                <a:solidFill>
                  <a:schemeClr val="hlink"/>
                </a:solidFill>
                <a:latin typeface="Arial" pitchFamily="34" charset="0"/>
              </a:rPr>
              <a:t>continue 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179388" indent="-179388">
              <a:lnSpc>
                <a:spcPct val="120000"/>
              </a:lnSpc>
              <a:spcBef>
                <a:spcPct val="50000"/>
              </a:spcBef>
              <a:buSzPct val="50000"/>
            </a:pPr>
            <a:r>
              <a:rPr lang="zh-CN" altLang="en-US" sz="2400" b="1" dirty="0">
                <a:latin typeface="黑体" pitchFamily="49" charset="-122"/>
              </a:rPr>
              <a:t>作用</a:t>
            </a:r>
            <a:r>
              <a:rPr lang="zh-CN" altLang="zh-CN" sz="2400" b="1" dirty="0">
                <a:latin typeface="Times New Roman" pitchFamily="18" charset="0"/>
              </a:rPr>
              <a:t>:   </a:t>
            </a:r>
            <a:r>
              <a:rPr lang="zh-CN" altLang="en-US" sz="2400" b="1" dirty="0">
                <a:latin typeface="黑体" pitchFamily="49" charset="-122"/>
              </a:rPr>
              <a:t>结束本次循环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/>
              <a:t>使程序回到循环条件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黑体" pitchFamily="49" charset="-122"/>
              </a:rPr>
              <a:t>接着进行下一次是否执行循环的判定。</a:t>
            </a:r>
            <a:endParaRPr lang="zh-CN" altLang="zh-CN" sz="2800" b="1" dirty="0">
              <a:latin typeface="黑体" pitchFamily="49" charset="-122"/>
            </a:endParaRPr>
          </a:p>
        </p:txBody>
      </p:sp>
      <p:sp>
        <p:nvSpPr>
          <p:cNvPr id="289796" name="Text Box 4"/>
          <p:cNvSpPr txBox="1">
            <a:spLocks noChangeArrowheads="1"/>
          </p:cNvSpPr>
          <p:nvPr/>
        </p:nvSpPr>
        <p:spPr bwMode="auto">
          <a:xfrm>
            <a:off x="2073276" y="3411539"/>
            <a:ext cx="8386763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9388" indent="-179388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ea typeface="黑体" pitchFamily="49" charset="-122"/>
              </a:rPr>
              <a:t>说明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:  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只能用于循环结构中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常与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if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语句联合起来使用</a:t>
            </a:r>
            <a:r>
              <a:rPr lang="zh-CN" altLang="zh-CN" b="1" dirty="0">
                <a:solidFill>
                  <a:srgbClr val="000000"/>
                </a:solidFill>
                <a:ea typeface="黑体" pitchFamily="49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以便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在满足条件时提前结束本次循环。</a:t>
            </a:r>
          </a:p>
        </p:txBody>
      </p:sp>
      <p:sp>
        <p:nvSpPr>
          <p:cNvPr id="289797" name="Rectangle 5"/>
          <p:cNvSpPr>
            <a:spLocks noChangeArrowheads="1"/>
          </p:cNvSpPr>
          <p:nvPr/>
        </p:nvSpPr>
        <p:spPr bwMode="auto">
          <a:xfrm>
            <a:off x="2087563" y="4072282"/>
            <a:ext cx="8280400" cy="2351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179388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注意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:  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00100" lvl="1" indent="-3429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50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在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while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和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do-while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结构中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在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continue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语句被执行之后立即进行</a:t>
            </a:r>
            <a:r>
              <a:rPr lang="zh-CN" altLang="en-US" sz="2400" b="1" dirty="0">
                <a:solidFill>
                  <a:srgbClr val="FF0000"/>
                </a:solidFill>
                <a:latin typeface="Arial" pitchFamily="34" charset="0"/>
              </a:rPr>
              <a:t>循环条件的测试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 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00100" lvl="1" indent="-3429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8000"/>
              </a:buClr>
              <a:buSzPct val="4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在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结构中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则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先执行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表达式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，然后进行循环条件的测试（表达式</a:t>
            </a:r>
            <a:r>
              <a:rPr lang="en-US" altLang="zh-CN" sz="2400" b="1" dirty="0">
                <a:solidFill>
                  <a:srgbClr val="000000"/>
                </a:solidFill>
                <a:latin typeface="Arial" pitchFamily="34" charset="0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Arial" pitchFamily="34" charset="0"/>
              </a:rPr>
              <a:t>）。</a:t>
            </a:r>
            <a:endParaRPr lang="zh-CN" altLang="en-US" sz="2400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77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 autoUpdateAnimBg="0"/>
      <p:bldP spid="28979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890" name="Object 2"/>
          <p:cNvGraphicFramePr>
            <a:graphicFrameLocks noChangeAspect="1"/>
          </p:cNvGraphicFramePr>
          <p:nvPr/>
        </p:nvGraphicFramePr>
        <p:xfrm>
          <a:off x="1524001" y="-14288"/>
          <a:ext cx="9191625" cy="689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r:id="rId3" imgW="4500360" imgH="3379680" progId="PowerPoint.Slide.8">
                  <p:embed/>
                </p:oleObj>
              </mc:Choice>
              <mc:Fallback>
                <p:oleObj r:id="rId3" imgW="4500360" imgH="3379680" progId="PowerPoint.Slid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-14288"/>
                        <a:ext cx="9191625" cy="689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8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1" name="Rectangle 3"/>
          <p:cNvSpPr>
            <a:spLocks noChangeArrowheads="1"/>
          </p:cNvSpPr>
          <p:nvPr/>
        </p:nvSpPr>
        <p:spPr bwMode="auto">
          <a:xfrm>
            <a:off x="1260475" y="233364"/>
            <a:ext cx="9513888" cy="188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80010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(1)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while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en-US" sz="2400" b="1">
                <a:solidFill>
                  <a:srgbClr val="FFCF01"/>
                </a:solidFill>
                <a:ea typeface="黑体" pitchFamily="49" charset="-122"/>
              </a:rPr>
              <a:t>表达式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1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) 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              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(2)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while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en-US" sz="2400" b="1">
                <a:solidFill>
                  <a:srgbClr val="FFCF01"/>
                </a:solidFill>
                <a:ea typeface="黑体" pitchFamily="49" charset="-122"/>
              </a:rPr>
              <a:t>表达式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1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)</a:t>
            </a:r>
            <a:endParaRPr lang="zh-CN" altLang="zh-CN" sz="2400" b="1">
              <a:solidFill>
                <a:srgbClr val="FFCF01"/>
              </a:solidFill>
              <a:latin typeface="Times New Roman" pitchFamily="18" charset="0"/>
            </a:endParaRPr>
          </a:p>
          <a:p>
            <a:pPr indent="800100" algn="just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CF01"/>
                </a:solidFill>
              </a:rPr>
              <a:t>     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{        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</a:rPr>
              <a:t>…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                             {          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</a:rPr>
              <a:t>…</a:t>
            </a:r>
          </a:p>
          <a:p>
            <a:pPr indent="8001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     if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en-US" sz="2400" b="1">
                <a:solidFill>
                  <a:srgbClr val="FFCF01"/>
                </a:solidFill>
                <a:ea typeface="黑体" pitchFamily="49" charset="-122"/>
              </a:rPr>
              <a:t>表达式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2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)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FF9900"/>
                </a:solidFill>
                <a:cs typeface="Courier New" pitchFamily="49" charset="0"/>
              </a:rPr>
              <a:t>break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</a:rPr>
              <a:t>;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                if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en-US" sz="2400" b="1">
                <a:solidFill>
                  <a:srgbClr val="FFCF01"/>
                </a:solidFill>
                <a:ea typeface="黑体" pitchFamily="49" charset="-122"/>
              </a:rPr>
              <a:t>表达式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2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  <a:cs typeface="Courier New" pitchFamily="49" charset="0"/>
              </a:rPr>
              <a:t>)</a:t>
            </a: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</a:t>
            </a:r>
            <a:r>
              <a:rPr lang="zh-CN" altLang="zh-CN" sz="2400" b="1">
                <a:solidFill>
                  <a:srgbClr val="FF9900"/>
                </a:solidFill>
                <a:cs typeface="Courier New" pitchFamily="49" charset="0"/>
              </a:rPr>
              <a:t>continue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</a:rPr>
              <a:t>;</a:t>
            </a:r>
          </a:p>
          <a:p>
            <a:pPr indent="8001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          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</a:rPr>
              <a:t>…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	</a:t>
            </a:r>
            <a:r>
              <a:rPr lang="zh-CN" altLang="zh-CN" sz="2400" b="1">
                <a:solidFill>
                  <a:srgbClr val="000000"/>
                </a:solidFill>
                <a:cs typeface="Courier New" pitchFamily="49" charset="0"/>
              </a:rPr>
              <a:t>		                      </a:t>
            </a:r>
            <a:r>
              <a:rPr lang="zh-CN" altLang="zh-CN" sz="2400" b="1">
                <a:solidFill>
                  <a:srgbClr val="FFCF01"/>
                </a:solidFill>
                <a:latin typeface="Times New Roman" pitchFamily="18" charset="0"/>
              </a:rPr>
              <a:t>…</a:t>
            </a:r>
            <a:endParaRPr lang="zh-CN" altLang="zh-CN" sz="2400" b="1">
              <a:solidFill>
                <a:srgbClr val="FFCF0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800100" algn="just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CF01"/>
                </a:solidFill>
                <a:cs typeface="Courier New" pitchFamily="49" charset="0"/>
              </a:rPr>
              <a:t>     }                                             }		</a:t>
            </a:r>
          </a:p>
        </p:txBody>
      </p:sp>
    </p:spTree>
    <p:extLst>
      <p:ext uri="{BB962C8B-B14F-4D97-AF65-F5344CB8AC3E}">
        <p14:creationId xmlns:p14="http://schemas.microsoft.com/office/powerpoint/2010/main" val="175434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60325"/>
            <a:ext cx="7793038" cy="719138"/>
          </a:xfrm>
        </p:spPr>
        <p:txBody>
          <a:bodyPr/>
          <a:lstStyle/>
          <a:p>
            <a:r>
              <a:rPr lang="zh-CN" altLang="en-US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例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  </a:t>
            </a:r>
            <a:r>
              <a:rPr lang="zh-CN" altLang="zh-CN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break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与 </a:t>
            </a:r>
            <a:r>
              <a:rPr lang="zh-CN" altLang="zh-CN"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continue</a:t>
            </a:r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的区别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1701" y="1017589"/>
            <a:ext cx="4614863" cy="458628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#include </a:t>
            </a:r>
            <a:r>
              <a:rPr lang="zh-CN" altLang="zh-CN" sz="2400"/>
              <a:t>&lt;</a:t>
            </a:r>
            <a:r>
              <a:rPr lang="zh-CN" altLang="zh-CN" sz="2400" b="1"/>
              <a:t>stdio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 b="1"/>
              <a:t>h</a:t>
            </a:r>
            <a:r>
              <a:rPr lang="zh-CN" altLang="zh-CN" sz="2400"/>
              <a:t>&gt;</a:t>
            </a:r>
            <a:r>
              <a:rPr lang="zh-CN" altLang="zh-CN" sz="2400" b="1"/>
              <a:t> </a:t>
            </a:r>
          </a:p>
          <a:p>
            <a:pPr>
              <a:lnSpc>
                <a:spcPct val="9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/>
              <a:t>void</a:t>
            </a:r>
            <a:r>
              <a:rPr lang="zh-CN" altLang="zh-CN" sz="2800" b="1"/>
              <a:t> </a:t>
            </a:r>
            <a:r>
              <a:rPr lang="zh-CN" altLang="zh-CN" sz="2400" b="1"/>
              <a:t>main</a:t>
            </a:r>
            <a:r>
              <a:rPr lang="zh-CN" altLang="zh-CN" sz="2400" b="1">
                <a:latin typeface="Times New Roman" pitchFamily="18" charset="0"/>
              </a:rPr>
              <a:t>(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{ int  x</a:t>
            </a:r>
            <a:r>
              <a:rPr lang="zh-CN" altLang="zh-CN" sz="2400" b="1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   </a:t>
            </a:r>
            <a:r>
              <a:rPr lang="zh-CN" altLang="zh-CN" sz="2400" b="1">
                <a:solidFill>
                  <a:srgbClr val="CC0000"/>
                </a:solidFill>
              </a:rPr>
              <a:t>for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( </a:t>
            </a:r>
            <a:r>
              <a:rPr lang="zh-CN" altLang="zh-CN" sz="2400" b="1">
                <a:solidFill>
                  <a:srgbClr val="CC0000"/>
                </a:solidFill>
              </a:rPr>
              <a:t>x=1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; </a:t>
            </a:r>
            <a:r>
              <a:rPr lang="zh-CN" altLang="zh-CN" sz="2400" b="1">
                <a:solidFill>
                  <a:srgbClr val="CC0000"/>
                </a:solidFill>
              </a:rPr>
              <a:t>x</a:t>
            </a:r>
            <a:r>
              <a:rPr lang="zh-CN" altLang="zh-CN" sz="2400">
                <a:solidFill>
                  <a:srgbClr val="CC0000"/>
                </a:solidFill>
              </a:rPr>
              <a:t>&lt;</a:t>
            </a:r>
            <a:r>
              <a:rPr lang="zh-CN" altLang="zh-CN" sz="2400" b="1">
                <a:solidFill>
                  <a:srgbClr val="CC0000"/>
                </a:solidFill>
              </a:rPr>
              <a:t>=10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; </a:t>
            </a:r>
            <a:r>
              <a:rPr lang="zh-CN" altLang="zh-CN" sz="2400" b="1">
                <a:solidFill>
                  <a:srgbClr val="CC0000"/>
                </a:solidFill>
              </a:rPr>
              <a:t>x++ 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  </a:t>
            </a:r>
            <a:r>
              <a:rPr lang="zh-CN" altLang="zh-CN" sz="2400" b="1">
                <a:solidFill>
                  <a:srgbClr val="CC0000"/>
                </a:solidFill>
              </a:rPr>
              <a:t>{</a:t>
            </a:r>
            <a:r>
              <a:rPr lang="zh-CN" altLang="zh-CN" sz="2400"/>
              <a:t> </a:t>
            </a:r>
            <a:r>
              <a:rPr lang="zh-CN" altLang="zh-CN" sz="2400" b="1"/>
              <a:t>if </a:t>
            </a:r>
            <a:r>
              <a:rPr lang="zh-CN" altLang="zh-CN" sz="2400" b="1">
                <a:latin typeface="Times New Roman" pitchFamily="18" charset="0"/>
              </a:rPr>
              <a:t>(</a:t>
            </a:r>
            <a:r>
              <a:rPr lang="zh-CN" altLang="zh-CN" sz="2400" b="1"/>
              <a:t>x==5</a:t>
            </a:r>
            <a:r>
              <a:rPr lang="zh-CN" altLang="zh-CN" sz="2400" b="1">
                <a:latin typeface="Times New Roman" pitchFamily="18" charset="0"/>
              </a:rPr>
              <a:t>) </a:t>
            </a:r>
            <a:r>
              <a:rPr lang="zh-CN" altLang="zh-CN" sz="2400" b="1">
                <a:solidFill>
                  <a:srgbClr val="0000B2"/>
                </a:solidFill>
              </a:rPr>
              <a:t>break</a:t>
            </a:r>
            <a:r>
              <a:rPr lang="zh-CN" altLang="zh-CN" sz="2400" b="1">
                <a:solidFill>
                  <a:srgbClr val="0000B2"/>
                </a:solidFill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     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%d </a:t>
            </a:r>
            <a:r>
              <a:rPr lang="zh-CN" altLang="zh-CN" sz="2400" b="1">
                <a:latin typeface="Times New Roman" pitchFamily="18" charset="0"/>
              </a:rPr>
              <a:t>”, </a:t>
            </a:r>
            <a:r>
              <a:rPr lang="zh-CN" altLang="zh-CN" sz="2400" b="1"/>
              <a:t>x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 </a:t>
            </a:r>
            <a:r>
              <a:rPr lang="zh-CN" altLang="zh-CN" sz="2400" b="1">
                <a:solidFill>
                  <a:srgbClr val="CC0000"/>
                </a:solidFill>
              </a:rPr>
              <a:t>  }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   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”);</a:t>
            </a:r>
          </a:p>
          <a:p>
            <a:pPr>
              <a:lnSpc>
                <a:spcPct val="11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2400" b="1"/>
              <a:t>}</a:t>
            </a:r>
          </a:p>
        </p:txBody>
      </p:sp>
      <p:sp>
        <p:nvSpPr>
          <p:cNvPr id="294916" name="Rectangle 4"/>
          <p:cNvSpPr>
            <a:spLocks noChangeArrowheads="1"/>
          </p:cNvSpPr>
          <p:nvPr/>
        </p:nvSpPr>
        <p:spPr bwMode="auto">
          <a:xfrm>
            <a:off x="2417763" y="4819650"/>
            <a:ext cx="3048000" cy="87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400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</a:rPr>
              <a:t>              1 2 3 4</a:t>
            </a:r>
          </a:p>
        </p:txBody>
      </p:sp>
      <p:sp>
        <p:nvSpPr>
          <p:cNvPr id="294917" name="Rectangle 5"/>
          <p:cNvSpPr>
            <a:spLocks noChangeArrowheads="1"/>
          </p:cNvSpPr>
          <p:nvPr/>
        </p:nvSpPr>
        <p:spPr bwMode="auto">
          <a:xfrm>
            <a:off x="6759576" y="4800601"/>
            <a:ext cx="3865563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400" b="1">
                <a:solidFill>
                  <a:srgbClr val="00009E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  1 2 3 4 6 7 8 9 10</a:t>
            </a:r>
          </a:p>
        </p:txBody>
      </p:sp>
      <p:sp>
        <p:nvSpPr>
          <p:cNvPr id="294918" name="Rectangle 6"/>
          <p:cNvSpPr>
            <a:spLocks noChangeArrowheads="1"/>
          </p:cNvSpPr>
          <p:nvPr/>
        </p:nvSpPr>
        <p:spPr bwMode="auto">
          <a:xfrm>
            <a:off x="6424614" y="957264"/>
            <a:ext cx="4243387" cy="470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45000"/>
            </a:pP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#include 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&lt;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&gt;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 </a:t>
            </a:r>
          </a:p>
          <a:p>
            <a:pPr marL="342900" indent="-3429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void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main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{ int  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for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( 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x=1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; 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x</a:t>
            </a:r>
            <a:r>
              <a:rPr lang="zh-CN" altLang="zh-CN" sz="2400">
                <a:solidFill>
                  <a:srgbClr val="CC0000"/>
                </a:solidFill>
                <a:ea typeface="宋体" pitchFamily="2" charset="-122"/>
              </a:rPr>
              <a:t>&lt;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=10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; 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x++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{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if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x==5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  <a:r>
              <a:rPr lang="zh-CN" altLang="zh-CN" sz="2400" b="1">
                <a:solidFill>
                  <a:srgbClr val="0000B2"/>
                </a:solidFill>
                <a:ea typeface="宋体" pitchFamily="2" charset="-122"/>
              </a:rPr>
              <a:t>continue</a:t>
            </a:r>
            <a:r>
              <a:rPr lang="zh-CN" altLang="zh-CN" sz="2400" b="1">
                <a:solidFill>
                  <a:srgbClr val="0000B2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 printf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%d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 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x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400" b="1">
                <a:solidFill>
                  <a:srgbClr val="CC0000"/>
                </a:solidFill>
                <a:ea typeface="宋体" pitchFamily="2" charset="-122"/>
              </a:rPr>
              <a:t>}</a:t>
            </a:r>
          </a:p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  printf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sz="2400">
                <a:solidFill>
                  <a:srgbClr val="000000"/>
                </a:solidFill>
                <a:ea typeface="宋体" pitchFamily="2" charset="-122"/>
              </a:rPr>
              <a:t>\</a:t>
            </a: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”);</a:t>
            </a:r>
          </a:p>
          <a:p>
            <a:pPr marL="342900" indent="-342900" fontAlgn="base">
              <a:lnSpc>
                <a:spcPct val="110000"/>
              </a:lnSpc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zh-CN" altLang="zh-CN" sz="2400" b="1">
                <a:solidFill>
                  <a:srgbClr val="000000"/>
                </a:solidFill>
                <a:ea typeface="宋体" pitchFamily="2" charset="-12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779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6" grpId="0" build="p" autoUpdateAnimBg="0"/>
      <p:bldP spid="294917" grpId="0" build="p" autoUpdateAnimBg="0"/>
      <p:bldP spid="29491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8" y="-44450"/>
            <a:ext cx="8158162" cy="9715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9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统计</a:t>
            </a:r>
            <a:r>
              <a:rPr lang="zh-CN" altLang="zh-CN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～</a:t>
            </a:r>
            <a:r>
              <a:rPr lang="zh-CN" altLang="zh-CN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20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之间不能被</a:t>
            </a:r>
            <a:r>
              <a:rPr lang="zh-CN" altLang="zh-CN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整除的数的个数</a:t>
            </a:r>
            <a:r>
              <a:rPr lang="zh-CN" altLang="zh-CN" sz="24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并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输出这些数</a:t>
            </a:r>
            <a:r>
              <a:rPr lang="zh-CN" altLang="zh-CN" sz="24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24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要求每行输出十个数。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8651" y="1495425"/>
            <a:ext cx="8404225" cy="47942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b="1"/>
              <a:t>                </a:t>
            </a:r>
            <a:endParaRPr lang="zh-CN" altLang="zh-CN" b="1"/>
          </a:p>
        </p:txBody>
      </p:sp>
      <p:sp>
        <p:nvSpPr>
          <p:cNvPr id="290820" name="Rectangle 4"/>
          <p:cNvSpPr>
            <a:spLocks noChangeArrowheads="1"/>
          </p:cNvSpPr>
          <p:nvPr/>
        </p:nvSpPr>
        <p:spPr bwMode="auto">
          <a:xfrm>
            <a:off x="1836739" y="1149350"/>
            <a:ext cx="7419975" cy="555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     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#include 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&lt;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stdio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.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h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&gt;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</a:rPr>
              <a:t>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000000"/>
                </a:solidFill>
              </a:rPr>
              <a:t>      </a:t>
            </a:r>
            <a:r>
              <a:rPr lang="zh-CN" altLang="zh-CN" sz="2400" b="1" dirty="0">
                <a:solidFill>
                  <a:srgbClr val="000000"/>
                </a:solidFill>
              </a:rPr>
              <a:t>void</a:t>
            </a:r>
            <a:r>
              <a:rPr lang="zh-CN" altLang="zh-CN" sz="2800" b="1" dirty="0">
                <a:solidFill>
                  <a:srgbClr val="000000"/>
                </a:solidFill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</a:rPr>
              <a:t>main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 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{ int   i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</a:rPr>
              <a:t> s=0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   </a:t>
            </a:r>
            <a:r>
              <a:rPr lang="zh-CN" altLang="zh-CN" sz="2400" b="1" dirty="0">
                <a:solidFill>
                  <a:srgbClr val="CC00FF"/>
                </a:solidFill>
              </a:rPr>
              <a:t>for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 i=1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</a:rPr>
              <a:t> i</a:t>
            </a:r>
            <a:r>
              <a:rPr lang="zh-CN" altLang="zh-CN" sz="2400" dirty="0">
                <a:solidFill>
                  <a:srgbClr val="000000"/>
                </a:solidFill>
              </a:rPr>
              <a:t>&lt;</a:t>
            </a:r>
            <a:r>
              <a:rPr lang="zh-CN" altLang="zh-CN" sz="2400" b="1" dirty="0">
                <a:solidFill>
                  <a:srgbClr val="000000"/>
                </a:solidFill>
              </a:rPr>
              <a:t>=20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</a:rPr>
              <a:t> i++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fontAlgn="base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　      </a:t>
            </a:r>
            <a:r>
              <a:rPr lang="zh-CN" altLang="zh-CN" sz="2400" b="1" dirty="0">
                <a:solidFill>
                  <a:srgbClr val="CC00FF"/>
                </a:solidFill>
              </a:rPr>
              <a:t>{ </a:t>
            </a:r>
            <a:r>
              <a:rPr lang="zh-CN" altLang="zh-CN" sz="2400" b="1" dirty="0">
                <a:solidFill>
                  <a:srgbClr val="FF0000"/>
                </a:solidFill>
              </a:rPr>
              <a:t>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fontAlgn="base">
              <a:lnSpc>
                <a:spcPct val="115000"/>
              </a:lnSpc>
              <a:spcBef>
                <a:spcPct val="2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     </a:t>
            </a:r>
            <a:r>
              <a:rPr lang="zh-CN" altLang="zh-CN" sz="2400" b="1" dirty="0">
                <a:solidFill>
                  <a:srgbClr val="000000"/>
                </a:solidFill>
              </a:rPr>
              <a:t>if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</a:rPr>
              <a:t>i%3==0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zh-CN" altLang="zh-CN" sz="2400" b="1" dirty="0">
                <a:solidFill>
                  <a:srgbClr val="CC00FF"/>
                </a:solidFill>
              </a:rPr>
              <a:t>continue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       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“</a:t>
            </a:r>
            <a:r>
              <a:rPr lang="zh-CN" altLang="zh-CN" sz="2400" b="1" dirty="0">
                <a:solidFill>
                  <a:srgbClr val="000000"/>
                </a:solidFill>
              </a:rPr>
              <a:t>%d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”,</a:t>
            </a:r>
            <a:r>
              <a:rPr lang="zh-CN" altLang="zh-CN" sz="2400" b="1" dirty="0">
                <a:solidFill>
                  <a:srgbClr val="000000"/>
                </a:solidFill>
              </a:rPr>
              <a:t> i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 ;</a:t>
            </a:r>
            <a:r>
              <a:rPr lang="zh-CN" altLang="zh-CN" sz="2400" b="1" dirty="0">
                <a:solidFill>
                  <a:srgbClr val="000000"/>
                </a:solidFill>
              </a:rPr>
              <a:t> 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       s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</a:rPr>
              <a:t>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       if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</a:rPr>
              <a:t> s%10==0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rgbClr val="000000"/>
                </a:solidFill>
              </a:rPr>
              <a:t> printf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(“</a:t>
            </a:r>
            <a:r>
              <a:rPr lang="zh-CN" altLang="zh-CN" sz="2400" dirty="0">
                <a:solidFill>
                  <a:srgbClr val="000000"/>
                </a:solidFill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”);</a:t>
            </a:r>
            <a:r>
              <a:rPr lang="zh-CN" altLang="zh-CN" sz="2400" b="1" dirty="0">
                <a:solidFill>
                  <a:srgbClr val="000000"/>
                </a:solidFill>
              </a:rPr>
              <a:t>  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   </a:t>
            </a:r>
            <a:r>
              <a:rPr lang="zh-CN" altLang="zh-CN" sz="2400" b="1" dirty="0">
                <a:solidFill>
                  <a:srgbClr val="CC00FF"/>
                </a:solidFill>
              </a:rPr>
              <a:t>}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CC00FF"/>
                </a:solidFill>
              </a:rPr>
              <a:t>         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printf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total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: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%d</a:t>
            </a:r>
            <a:r>
              <a:rPr lang="zh-CN" altLang="zh-CN" sz="2400" dirty="0">
                <a:solidFill>
                  <a:srgbClr val="000000"/>
                </a:solidFill>
                <a:ea typeface="Dotum" pitchFamily="34" charset="-127"/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n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 </a:t>
            </a:r>
            <a:r>
              <a:rPr lang="zh-CN" altLang="zh-CN" sz="2400" b="1" dirty="0">
                <a:solidFill>
                  <a:srgbClr val="000000"/>
                </a:solidFill>
                <a:ea typeface="Dotum" pitchFamily="34" charset="-127"/>
              </a:rPr>
              <a:t>s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</a:t>
            </a:r>
          </a:p>
          <a:p>
            <a:pPr fontAlgn="base"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00"/>
                </a:solidFill>
              </a:rPr>
              <a:t>       }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290821" name="Rectangle 5"/>
          <p:cNvSpPr>
            <a:spLocks noChangeArrowheads="1"/>
          </p:cNvSpPr>
          <p:nvPr/>
        </p:nvSpPr>
        <p:spPr bwMode="auto">
          <a:xfrm>
            <a:off x="8232775" y="1204913"/>
            <a:ext cx="2152650" cy="190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>
                <a:solidFill>
                  <a:srgbClr val="000000"/>
                </a:solidFill>
              </a:rPr>
              <a:t>i</a:t>
            </a:r>
            <a:r>
              <a:rPr lang="zh-CN" altLang="zh-CN" sz="2400" b="1">
                <a:solidFill>
                  <a:srgbClr val="000000"/>
                </a:solidFill>
                <a:latin typeface="Times New Roman"/>
              </a:rPr>
              <a:t>—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循环变量，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从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～</a:t>
            </a:r>
            <a:r>
              <a:rPr lang="zh-CN" altLang="zh-CN" sz="2400" b="1">
                <a:solidFill>
                  <a:srgbClr val="000000"/>
                </a:solidFill>
                <a:latin typeface="黑体" pitchFamily="49" charset="-122"/>
              </a:rPr>
              <a:t>20</a:t>
            </a:r>
          </a:p>
          <a:p>
            <a:pPr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zh-CN" sz="2400" b="1">
                <a:solidFill>
                  <a:srgbClr val="000000"/>
                </a:solidFill>
              </a:rPr>
              <a:t>s</a:t>
            </a:r>
            <a:r>
              <a:rPr lang="zh-CN" altLang="zh-CN" sz="2400" b="1">
                <a:solidFill>
                  <a:srgbClr val="000000"/>
                </a:solidFill>
                <a:latin typeface="Times New Roman"/>
              </a:rPr>
              <a:t>—</a:t>
            </a: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输出数据</a:t>
            </a:r>
          </a:p>
          <a:p>
            <a:pPr fontAlgn="base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</a:rPr>
              <a:t>   的个数</a:t>
            </a:r>
          </a:p>
        </p:txBody>
      </p:sp>
    </p:spTree>
    <p:extLst>
      <p:ext uri="{BB962C8B-B14F-4D97-AF65-F5344CB8AC3E}">
        <p14:creationId xmlns:p14="http://schemas.microsoft.com/office/powerpoint/2010/main" val="76462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0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7914" y="241300"/>
            <a:ext cx="7793037" cy="534988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阅读程序段</a:t>
            </a:r>
            <a:r>
              <a:rPr lang="zh-CN" altLang="zh-CN" sz="2800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: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139825"/>
            <a:ext cx="7904162" cy="4578350"/>
          </a:xfrm>
        </p:spPr>
        <p:txBody>
          <a:bodyPr/>
          <a:lstStyle/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#include &lt;</a:t>
            </a:r>
            <a:r>
              <a:rPr lang="en-US" altLang="zh-CN" sz="2400" b="1" dirty="0" err="1">
                <a:latin typeface="Arial" pitchFamily="34" charset="0"/>
              </a:rPr>
              <a:t>stdio.h</a:t>
            </a:r>
            <a:r>
              <a:rPr lang="en-US" altLang="zh-CN" sz="2400" b="1" dirty="0">
                <a:latin typeface="Arial" pitchFamily="34" charset="0"/>
              </a:rPr>
              <a:t>&gt;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main()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{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int </a:t>
            </a:r>
            <a:r>
              <a:rPr lang="en-US" altLang="zh-CN" sz="2400" b="1" dirty="0" err="1">
                <a:latin typeface="Arial" pitchFamily="34" charset="0"/>
              </a:rPr>
              <a:t>i,s</a:t>
            </a:r>
            <a:r>
              <a:rPr lang="en-US" altLang="zh-CN" sz="2400" b="1" dirty="0">
                <a:latin typeface="Arial" pitchFamily="34" charset="0"/>
              </a:rPr>
              <a:t>=0;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for(</a:t>
            </a:r>
            <a:r>
              <a:rPr lang="en-US" altLang="zh-CN" sz="2400" b="1" dirty="0" err="1">
                <a:latin typeface="Arial" pitchFamily="34" charset="0"/>
              </a:rPr>
              <a:t>i</a:t>
            </a:r>
            <a:r>
              <a:rPr lang="en-US" altLang="zh-CN" sz="2400" b="1" dirty="0">
                <a:latin typeface="Arial" pitchFamily="34" charset="0"/>
              </a:rPr>
              <a:t>=1;i&lt;=100000;i++)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{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	if (i%2) continue;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	if (</a:t>
            </a:r>
            <a:r>
              <a:rPr lang="en-US" altLang="zh-CN" sz="2400" b="1" dirty="0" err="1">
                <a:latin typeface="Arial" pitchFamily="34" charset="0"/>
              </a:rPr>
              <a:t>i</a:t>
            </a:r>
            <a:r>
              <a:rPr lang="en-US" altLang="zh-CN" sz="2400" b="1" dirty="0">
                <a:latin typeface="Arial" pitchFamily="34" charset="0"/>
              </a:rPr>
              <a:t>&gt;10) break;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	s+=</a:t>
            </a:r>
            <a:r>
              <a:rPr lang="en-US" altLang="zh-CN" sz="2400" b="1" dirty="0" err="1">
                <a:latin typeface="Arial" pitchFamily="34" charset="0"/>
              </a:rPr>
              <a:t>i</a:t>
            </a:r>
            <a:r>
              <a:rPr lang="en-US" altLang="zh-CN" sz="2400" b="1" dirty="0">
                <a:latin typeface="Arial" pitchFamily="34" charset="0"/>
              </a:rPr>
              <a:t>;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}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	</a:t>
            </a:r>
            <a:r>
              <a:rPr lang="en-US" altLang="zh-CN" sz="2400" b="1" dirty="0" err="1">
                <a:latin typeface="Arial" pitchFamily="34" charset="0"/>
              </a:rPr>
              <a:t>printf</a:t>
            </a:r>
            <a:r>
              <a:rPr lang="en-US" altLang="zh-CN" sz="2400" b="1" dirty="0">
                <a:latin typeface="Arial" pitchFamily="34" charset="0"/>
              </a:rPr>
              <a:t>("s=%</a:t>
            </a:r>
            <a:r>
              <a:rPr lang="en-US" altLang="zh-CN" sz="2400" b="1" dirty="0" err="1">
                <a:latin typeface="Arial" pitchFamily="34" charset="0"/>
              </a:rPr>
              <a:t>d,i</a:t>
            </a:r>
            <a:r>
              <a:rPr lang="en-US" altLang="zh-CN" sz="2400" b="1" dirty="0">
                <a:latin typeface="Arial" pitchFamily="34" charset="0"/>
              </a:rPr>
              <a:t>=%d\n",</a:t>
            </a:r>
            <a:r>
              <a:rPr lang="en-US" altLang="zh-CN" sz="2400" b="1" dirty="0" err="1">
                <a:latin typeface="Arial" pitchFamily="34" charset="0"/>
              </a:rPr>
              <a:t>s,i</a:t>
            </a:r>
            <a:r>
              <a:rPr lang="en-US" altLang="zh-CN" sz="2400" b="1" dirty="0">
                <a:latin typeface="Arial" pitchFamily="34" charset="0"/>
              </a:rPr>
              <a:t>);</a:t>
            </a:r>
          </a:p>
          <a:p>
            <a:pPr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400" b="1" dirty="0">
                <a:latin typeface="Arial" pitchFamily="34" charset="0"/>
              </a:rPr>
              <a:t>}</a:t>
            </a:r>
            <a:endParaRPr lang="zh-CN" altLang="zh-CN" sz="2400" b="1" dirty="0">
              <a:solidFill>
                <a:srgbClr val="0000A2"/>
              </a:solidFill>
            </a:endParaRPr>
          </a:p>
        </p:txBody>
      </p:sp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8212454" y="2348880"/>
            <a:ext cx="20874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A2"/>
                </a:solidFill>
                <a:ea typeface="宋体" pitchFamily="2" charset="-122"/>
              </a:rPr>
              <a:t>s=</a:t>
            </a:r>
            <a:r>
              <a:rPr lang="zh-CN" altLang="zh-CN" sz="2800" b="1" dirty="0">
                <a:solidFill>
                  <a:srgbClr val="0000A2"/>
                </a:solidFill>
                <a:ea typeface="宋体" pitchFamily="2" charset="-122"/>
              </a:rPr>
              <a:t>3</a:t>
            </a:r>
            <a:r>
              <a:rPr lang="en-US" altLang="zh-CN" sz="2800" b="1" dirty="0">
                <a:solidFill>
                  <a:srgbClr val="0000A2"/>
                </a:solidFill>
                <a:ea typeface="宋体" pitchFamily="2" charset="-122"/>
              </a:rPr>
              <a:t>0 </a:t>
            </a:r>
            <a:r>
              <a:rPr lang="en-US" altLang="zh-CN" sz="2800" b="1" dirty="0" err="1">
                <a:solidFill>
                  <a:srgbClr val="0000A2"/>
                </a:solidFill>
                <a:ea typeface="宋体" pitchFamily="2" charset="-122"/>
              </a:rPr>
              <a:t>i</a:t>
            </a:r>
            <a:r>
              <a:rPr lang="en-US" altLang="zh-CN" sz="2800" b="1" dirty="0">
                <a:solidFill>
                  <a:srgbClr val="0000A2"/>
                </a:solidFill>
                <a:ea typeface="宋体" pitchFamily="2" charset="-122"/>
              </a:rPr>
              <a:t>=12</a:t>
            </a:r>
            <a:endParaRPr lang="zh-CN" altLang="zh-CN" sz="2800" b="1" dirty="0">
              <a:solidFill>
                <a:srgbClr val="0000A2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808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366392" y="1299661"/>
            <a:ext cx="7315200" cy="3096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09600" indent="-609600"/>
            <a:r>
              <a:rPr lang="zh-CN" altLang="zh-CN" sz="2400" b="1" dirty="0"/>
              <a:t>以下程序段的输出结果是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latin typeface="Arial" pitchFamily="34" charset="0"/>
              </a:rPr>
              <a:t>main</a:t>
            </a:r>
            <a:r>
              <a:rPr lang="zh-CN" altLang="zh-CN" sz="2400" b="1" dirty="0">
                <a:latin typeface="Times New Roman" pitchFamily="18" charset="0"/>
              </a:rPr>
              <a:t>( 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{</a:t>
            </a:r>
            <a:r>
              <a:rPr lang="zh-CN" altLang="zh-CN" sz="2400" b="1" dirty="0">
                <a:latin typeface="Arial" pitchFamily="34" charset="0"/>
              </a:rPr>
              <a:t> int </a:t>
            </a:r>
            <a:r>
              <a:rPr lang="zh-CN" altLang="zh-CN" sz="2400" b="1" dirty="0"/>
              <a:t> i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   </a:t>
            </a:r>
            <a:r>
              <a:rPr lang="zh-CN" altLang="zh-CN" sz="2400" b="1" dirty="0">
                <a:latin typeface="Arial" pitchFamily="34" charset="0"/>
              </a:rPr>
              <a:t>for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/>
              <a:t>i=</a:t>
            </a:r>
            <a:r>
              <a:rPr lang="zh-CN" altLang="zh-CN" sz="2400" b="1" dirty="0">
                <a:latin typeface="Arial" pitchFamily="34" charset="0"/>
              </a:rPr>
              <a:t>0</a:t>
            </a:r>
            <a:r>
              <a:rPr lang="zh-CN" altLang="zh-CN" sz="2400" b="1" dirty="0">
                <a:latin typeface="Times New Roman" pitchFamily="18" charset="0"/>
              </a:rPr>
              <a:t>;  </a:t>
            </a:r>
            <a:r>
              <a:rPr lang="zh-CN" altLang="zh-CN" sz="2400" b="1" dirty="0"/>
              <a:t>i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=5</a:t>
            </a:r>
            <a:r>
              <a:rPr lang="zh-CN" altLang="zh-CN" sz="2400" b="1" dirty="0">
                <a:latin typeface="Times New Roman" pitchFamily="18" charset="0"/>
              </a:rPr>
              <a:t>;  </a:t>
            </a:r>
            <a:r>
              <a:rPr lang="zh-CN" altLang="zh-CN" sz="2400" b="1" dirty="0"/>
              <a:t>i++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   </a:t>
            </a:r>
            <a:r>
              <a:rPr lang="en-US" altLang="zh-CN" sz="2400" b="1" dirty="0"/>
              <a:t> </a:t>
            </a:r>
            <a:r>
              <a:rPr lang="zh-CN" altLang="zh-CN" sz="2400" b="1" dirty="0"/>
              <a:t>{ 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9E"/>
                </a:solidFill>
              </a:rPr>
              <a:t>      </a:t>
            </a:r>
            <a:r>
              <a:rPr lang="zh-CN" altLang="zh-CN" sz="2400" b="1" dirty="0">
                <a:solidFill>
                  <a:srgbClr val="00009E"/>
                </a:solidFill>
              </a:rPr>
              <a:t>if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9E"/>
                </a:solidFill>
              </a:rPr>
              <a:t>i%2 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) 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printf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(“</a:t>
            </a:r>
            <a:r>
              <a:rPr lang="zh-CN" altLang="zh-CN" sz="2400" b="1" dirty="0">
                <a:solidFill>
                  <a:srgbClr val="00009E"/>
                </a:solidFill>
                <a:latin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”);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9E"/>
                </a:solidFill>
              </a:rPr>
              <a:t>      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else </a:t>
            </a:r>
            <a:r>
              <a:rPr lang="zh-CN" altLang="zh-CN" sz="2400" b="1" dirty="0">
                <a:solidFill>
                  <a:srgbClr val="00009E"/>
                </a:solidFill>
              </a:rPr>
              <a:t> </a:t>
            </a:r>
            <a:r>
              <a:rPr lang="zh-CN" altLang="zh-CN" sz="2400" b="1" dirty="0">
                <a:solidFill>
                  <a:srgbClr val="00009E"/>
                </a:solidFill>
                <a:latin typeface="Arial" pitchFamily="34" charset="0"/>
              </a:rPr>
              <a:t>continue</a:t>
            </a:r>
            <a:r>
              <a:rPr lang="zh-CN" altLang="zh-CN" sz="2400" b="1" dirty="0">
                <a:solidFill>
                  <a:srgbClr val="00009E"/>
                </a:solidFill>
              </a:rPr>
              <a:t> 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     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#</a:t>
            </a:r>
            <a:r>
              <a:rPr lang="zh-CN" altLang="zh-CN" sz="2400" b="1" dirty="0">
                <a:latin typeface="Times New Roman" pitchFamily="18" charset="0"/>
              </a:rPr>
              <a:t>”);   </a:t>
            </a:r>
            <a:endParaRPr lang="en-US" altLang="zh-CN" sz="24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 </a:t>
            </a:r>
            <a:r>
              <a:rPr lang="zh-CN" altLang="zh-CN" sz="2400" b="1" dirty="0"/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  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dirty="0"/>
              <a:t>$\</a:t>
            </a:r>
            <a:r>
              <a:rPr lang="zh-CN" altLang="zh-CN" sz="2400" b="1" dirty="0">
                <a:latin typeface="Arial" pitchFamily="34" charset="0"/>
              </a:rPr>
              <a:t>n</a:t>
            </a:r>
            <a:r>
              <a:rPr lang="zh-CN" altLang="zh-CN" sz="2400" b="1" dirty="0">
                <a:latin typeface="Times New Roman" pitchFamily="18" charset="0"/>
              </a:rPr>
              <a:t>”);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}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444976" y="4622470"/>
            <a:ext cx="25790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dirty="0"/>
              <a:t>$</a:t>
            </a:r>
            <a:r>
              <a:rPr lang="zh-CN" altLang="zh-CN" sz="2800" b="1" dirty="0"/>
              <a:t>	</a:t>
            </a:r>
            <a:endParaRPr lang="zh-CN" altLang="zh-CN" sz="2800" dirty="0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097216" y="4622470"/>
            <a:ext cx="310324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 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dirty="0"/>
              <a:t>$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98888" y="5422106"/>
            <a:ext cx="272010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zh-CN" altLang="zh-CN" sz="2800" b="1" dirty="0"/>
              <a:t> 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dirty="0"/>
              <a:t>$</a:t>
            </a:r>
            <a:r>
              <a:rPr lang="zh-CN" altLang="zh-CN" sz="2800" b="1" dirty="0"/>
              <a:t>	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097216" y="5357813"/>
            <a:ext cx="33912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#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dirty="0"/>
              <a:t>$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84513" y="4675817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382841" y="468676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84513" y="5486399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382841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617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159000" y="1559225"/>
            <a:ext cx="7315200" cy="3096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09600" indent="-609600"/>
            <a:r>
              <a:rPr lang="zh-CN" altLang="zh-CN" sz="2000" b="1" dirty="0"/>
              <a:t>以下程序段的输出结果是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000" b="1" dirty="0">
                <a:latin typeface="Arial" pitchFamily="34" charset="0"/>
              </a:rPr>
              <a:t>main</a:t>
            </a:r>
            <a:r>
              <a:rPr lang="zh-CN" altLang="zh-CN" sz="2000" b="1" dirty="0">
                <a:latin typeface="Times New Roman" pitchFamily="18" charset="0"/>
              </a:rPr>
              <a:t>( )</a:t>
            </a:r>
          </a:p>
          <a:p>
            <a:pPr>
              <a:buFont typeface="Wingdings" pitchFamily="2" charset="2"/>
              <a:buNone/>
            </a:pPr>
            <a:r>
              <a:rPr lang="zh-CN" altLang="zh-CN" sz="2000" b="1" dirty="0"/>
              <a:t>{ </a:t>
            </a:r>
            <a:r>
              <a:rPr lang="zh-CN" altLang="zh-CN" sz="2000" b="1" dirty="0">
                <a:latin typeface="Arial" pitchFamily="34" charset="0"/>
              </a:rPr>
              <a:t>int</a:t>
            </a:r>
            <a:r>
              <a:rPr lang="zh-CN" altLang="zh-CN" sz="2000" b="1" dirty="0"/>
              <a:t>  i</a:t>
            </a:r>
            <a:r>
              <a:rPr lang="zh-CN" altLang="zh-CN" sz="2000" b="1" dirty="0">
                <a:latin typeface="Times New Roman" pitchFamily="18" charset="0"/>
              </a:rPr>
              <a:t>,</a:t>
            </a:r>
            <a:r>
              <a:rPr lang="zh-CN" altLang="zh-CN" sz="2000" b="1" dirty="0"/>
              <a:t> j</a:t>
            </a:r>
            <a:r>
              <a:rPr lang="zh-CN" altLang="zh-CN" sz="2000" b="1" dirty="0">
                <a:latin typeface="Times New Roman" pitchFamily="18" charset="0"/>
              </a:rPr>
              <a:t>,</a:t>
            </a:r>
            <a:r>
              <a:rPr lang="zh-CN" altLang="zh-CN" sz="2000" b="1" dirty="0"/>
              <a:t> </a:t>
            </a:r>
            <a:r>
              <a:rPr lang="zh-CN" altLang="zh-CN" sz="2000" b="1" dirty="0">
                <a:latin typeface="Arial" pitchFamily="34" charset="0"/>
              </a:rPr>
              <a:t>a</a:t>
            </a:r>
            <a:r>
              <a:rPr lang="zh-CN" altLang="zh-CN" sz="2000" b="1" dirty="0"/>
              <a:t>=</a:t>
            </a:r>
            <a:r>
              <a:rPr lang="zh-CN" altLang="zh-CN" sz="2000" b="1" dirty="0">
                <a:latin typeface="Arial" pitchFamily="34" charset="0"/>
              </a:rPr>
              <a:t>0</a:t>
            </a:r>
            <a:r>
              <a:rPr lang="zh-CN" altLang="zh-CN" sz="2000" b="1" dirty="0">
                <a:latin typeface="Times New Roman" pitchFamily="18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zh-CN" altLang="zh-CN" sz="2000" b="1" dirty="0"/>
              <a:t>   </a:t>
            </a:r>
            <a:r>
              <a:rPr lang="zh-CN" altLang="zh-CN" sz="2000" b="1" dirty="0">
                <a:latin typeface="Arial" pitchFamily="34" charset="0"/>
              </a:rPr>
              <a:t>for</a:t>
            </a:r>
            <a:r>
              <a:rPr lang="zh-CN" altLang="zh-CN" sz="2000" b="1" dirty="0">
                <a:latin typeface="Times New Roman" pitchFamily="18" charset="0"/>
              </a:rPr>
              <a:t>( </a:t>
            </a:r>
            <a:r>
              <a:rPr lang="zh-CN" altLang="zh-CN" sz="2000" b="1" dirty="0"/>
              <a:t>i=</a:t>
            </a:r>
            <a:r>
              <a:rPr lang="zh-CN" altLang="zh-CN" sz="2000" b="1" dirty="0">
                <a:latin typeface="Arial" pitchFamily="34" charset="0"/>
              </a:rPr>
              <a:t>0</a:t>
            </a:r>
            <a:r>
              <a:rPr lang="zh-CN" altLang="zh-CN" sz="2000" b="1" dirty="0">
                <a:latin typeface="Times New Roman" pitchFamily="18" charset="0"/>
              </a:rPr>
              <a:t>;</a:t>
            </a:r>
            <a:r>
              <a:rPr lang="zh-CN" altLang="zh-CN" sz="2000" b="1" dirty="0"/>
              <a:t> i</a:t>
            </a:r>
            <a:r>
              <a:rPr lang="zh-CN" altLang="zh-CN" sz="2000" dirty="0"/>
              <a:t>&lt;</a:t>
            </a:r>
            <a:r>
              <a:rPr lang="zh-CN" altLang="zh-CN" sz="2000" b="1" dirty="0">
                <a:latin typeface="Arial" pitchFamily="34" charset="0"/>
              </a:rPr>
              <a:t>2</a:t>
            </a:r>
            <a:r>
              <a:rPr lang="zh-CN" altLang="zh-CN" sz="2000" b="1" dirty="0">
                <a:latin typeface="Times New Roman" pitchFamily="18" charset="0"/>
              </a:rPr>
              <a:t>;</a:t>
            </a:r>
            <a:r>
              <a:rPr lang="zh-CN" altLang="zh-CN" sz="2000" b="1" dirty="0"/>
              <a:t> i++</a:t>
            </a:r>
            <a:r>
              <a:rPr lang="zh-CN" altLang="zh-CN" sz="2000" b="1" dirty="0">
                <a:latin typeface="Times New Roman" pitchFamily="18" charset="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zh-CN" altLang="zh-CN" sz="2000" b="1" dirty="0"/>
              <a:t>  </a:t>
            </a:r>
            <a:r>
              <a:rPr lang="en-US" altLang="zh-CN" sz="2000" b="1" dirty="0"/>
              <a:t>  </a:t>
            </a:r>
            <a:r>
              <a:rPr lang="zh-CN" altLang="zh-CN" sz="2000" b="1" dirty="0"/>
              <a:t>{</a:t>
            </a:r>
            <a:endParaRPr lang="en-US" altLang="zh-CN" sz="2000" b="1" dirty="0"/>
          </a:p>
          <a:p>
            <a:pPr>
              <a:buFont typeface="Wingdings" pitchFamily="2" charset="2"/>
              <a:buNone/>
            </a:pPr>
            <a:r>
              <a:rPr lang="en-US" altLang="zh-CN" sz="2000" b="1" dirty="0"/>
              <a:t>     </a:t>
            </a:r>
            <a:r>
              <a:rPr lang="zh-CN" altLang="zh-CN" sz="2000" b="1" dirty="0"/>
              <a:t> </a:t>
            </a:r>
            <a:r>
              <a:rPr lang="zh-CN" altLang="zh-CN" sz="2000" b="1" dirty="0">
                <a:solidFill>
                  <a:srgbClr val="00009E"/>
                </a:solidFill>
                <a:latin typeface="Arial" pitchFamily="34" charset="0"/>
              </a:rPr>
              <a:t>for</a:t>
            </a:r>
            <a:r>
              <a:rPr lang="zh-CN" altLang="zh-CN" sz="2000" b="1" dirty="0">
                <a:solidFill>
                  <a:srgbClr val="00009E"/>
                </a:solidFill>
                <a:latin typeface="Times New Roman" pitchFamily="18" charset="0"/>
              </a:rPr>
              <a:t>( </a:t>
            </a:r>
            <a:r>
              <a:rPr lang="zh-CN" altLang="zh-CN" sz="2000" b="1" dirty="0">
                <a:solidFill>
                  <a:srgbClr val="00009E"/>
                </a:solidFill>
              </a:rPr>
              <a:t>j=</a:t>
            </a:r>
            <a:r>
              <a:rPr lang="zh-CN" altLang="zh-CN" sz="2000" b="1" dirty="0">
                <a:solidFill>
                  <a:srgbClr val="00009E"/>
                </a:solidFill>
                <a:latin typeface="Arial" pitchFamily="34" charset="0"/>
              </a:rPr>
              <a:t>0</a:t>
            </a:r>
            <a:r>
              <a:rPr lang="zh-CN" altLang="zh-CN" sz="2000" b="1" dirty="0">
                <a:solidFill>
                  <a:srgbClr val="00009E"/>
                </a:solidFill>
                <a:latin typeface="Times New Roman" pitchFamily="18" charset="0"/>
              </a:rPr>
              <a:t>;</a:t>
            </a:r>
            <a:r>
              <a:rPr lang="zh-CN" altLang="zh-CN" sz="2000" b="1" dirty="0">
                <a:solidFill>
                  <a:srgbClr val="00009E"/>
                </a:solidFill>
              </a:rPr>
              <a:t> j</a:t>
            </a:r>
            <a:r>
              <a:rPr lang="zh-CN" altLang="zh-CN" sz="2000" dirty="0">
                <a:solidFill>
                  <a:srgbClr val="00009E"/>
                </a:solidFill>
              </a:rPr>
              <a:t>&lt;</a:t>
            </a:r>
            <a:r>
              <a:rPr lang="zh-CN" altLang="zh-CN" sz="2000" b="1" dirty="0">
                <a:solidFill>
                  <a:srgbClr val="00009E"/>
                </a:solidFill>
              </a:rPr>
              <a:t>4</a:t>
            </a:r>
            <a:r>
              <a:rPr lang="zh-CN" altLang="zh-CN" sz="2000" b="1" dirty="0">
                <a:solidFill>
                  <a:srgbClr val="00009E"/>
                </a:solidFill>
                <a:latin typeface="Times New Roman" pitchFamily="18" charset="0"/>
              </a:rPr>
              <a:t>;</a:t>
            </a:r>
            <a:r>
              <a:rPr lang="zh-CN" altLang="zh-CN" sz="2000" b="1" dirty="0">
                <a:solidFill>
                  <a:srgbClr val="00009E"/>
                </a:solidFill>
              </a:rPr>
              <a:t> j++</a:t>
            </a:r>
            <a:r>
              <a:rPr lang="zh-CN" altLang="zh-CN" sz="2000" b="1" dirty="0">
                <a:solidFill>
                  <a:srgbClr val="00009E"/>
                </a:solidFill>
                <a:latin typeface="Times New Roman" pitchFamily="18" charset="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zh-CN" altLang="zh-CN" sz="2000" b="1" dirty="0"/>
              <a:t>     </a:t>
            </a:r>
            <a:r>
              <a:rPr lang="en-US" altLang="zh-CN" sz="2000" b="1" dirty="0"/>
              <a:t> </a:t>
            </a:r>
            <a:r>
              <a:rPr lang="zh-CN" altLang="zh-CN" sz="2000" b="1" dirty="0">
                <a:solidFill>
                  <a:srgbClr val="00009E"/>
                </a:solidFill>
              </a:rPr>
              <a:t>{</a:t>
            </a:r>
            <a:endParaRPr lang="en-US" altLang="zh-CN" sz="2000" b="1" dirty="0">
              <a:solidFill>
                <a:srgbClr val="00009E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9E"/>
                </a:solidFill>
              </a:rPr>
              <a:t>          </a:t>
            </a:r>
            <a:r>
              <a:rPr lang="zh-CN" altLang="zh-CN" sz="2000" b="1" dirty="0"/>
              <a:t> </a:t>
            </a:r>
            <a:r>
              <a:rPr lang="zh-CN" altLang="zh-CN" sz="2000" b="1" dirty="0">
                <a:latin typeface="Arial" pitchFamily="34" charset="0"/>
              </a:rPr>
              <a:t>if</a:t>
            </a:r>
            <a:r>
              <a:rPr lang="zh-CN" altLang="zh-CN" sz="2000" b="1" dirty="0"/>
              <a:t> </a:t>
            </a:r>
            <a:r>
              <a:rPr lang="zh-CN" altLang="zh-CN" sz="2000" b="1" dirty="0">
                <a:latin typeface="Times New Roman" pitchFamily="18" charset="0"/>
              </a:rPr>
              <a:t>(</a:t>
            </a:r>
            <a:r>
              <a:rPr lang="zh-CN" altLang="zh-CN" sz="2000" b="1" dirty="0"/>
              <a:t> j%</a:t>
            </a:r>
            <a:r>
              <a:rPr lang="zh-CN" altLang="zh-CN" sz="2000" b="1" dirty="0">
                <a:latin typeface="Arial" pitchFamily="34" charset="0"/>
              </a:rPr>
              <a:t>2</a:t>
            </a:r>
            <a:r>
              <a:rPr lang="zh-CN" altLang="zh-CN" sz="2000" b="1" dirty="0"/>
              <a:t> </a:t>
            </a:r>
            <a:r>
              <a:rPr lang="zh-CN" altLang="zh-CN" sz="2000" b="1" dirty="0">
                <a:latin typeface="Times New Roman" pitchFamily="18" charset="0"/>
              </a:rPr>
              <a:t>)</a:t>
            </a:r>
            <a:r>
              <a:rPr lang="zh-CN" altLang="zh-CN" sz="2000" b="1" dirty="0"/>
              <a:t> </a:t>
            </a:r>
            <a:r>
              <a:rPr lang="zh-CN" altLang="zh-CN" sz="2000" b="1" dirty="0">
                <a:latin typeface="Arial" pitchFamily="34" charset="0"/>
              </a:rPr>
              <a:t>break</a:t>
            </a:r>
            <a:r>
              <a:rPr lang="zh-CN" altLang="zh-CN" sz="2000" b="1" dirty="0">
                <a:latin typeface="Times New Roman" pitchFamily="18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zh-CN" altLang="zh-CN" sz="2000" b="1" dirty="0"/>
              <a:t>           </a:t>
            </a:r>
            <a:r>
              <a:rPr lang="zh-CN" altLang="zh-CN" sz="2000" b="1" dirty="0">
                <a:latin typeface="Arial" pitchFamily="34" charset="0"/>
              </a:rPr>
              <a:t>a</a:t>
            </a:r>
            <a:r>
              <a:rPr lang="zh-CN" altLang="zh-CN" sz="2000" b="1" dirty="0"/>
              <a:t>++</a:t>
            </a:r>
            <a:r>
              <a:rPr lang="zh-CN" altLang="zh-CN" sz="2000" b="1" dirty="0">
                <a:latin typeface="Times New Roman" pitchFamily="18" charset="0"/>
              </a:rPr>
              <a:t>;</a:t>
            </a:r>
            <a:r>
              <a:rPr lang="zh-CN" altLang="zh-CN" sz="2000" b="1" dirty="0"/>
              <a:t>        </a:t>
            </a:r>
            <a:endParaRPr lang="en-US" altLang="zh-CN" sz="2000" b="1" dirty="0"/>
          </a:p>
          <a:p>
            <a:pP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9E"/>
                </a:solidFill>
              </a:rPr>
              <a:t>       </a:t>
            </a:r>
            <a:r>
              <a:rPr lang="zh-CN" altLang="zh-CN" sz="2000" b="1" dirty="0">
                <a:solidFill>
                  <a:srgbClr val="00009E"/>
                </a:solidFill>
              </a:rPr>
              <a:t>}</a:t>
            </a:r>
            <a:r>
              <a:rPr lang="zh-CN" altLang="zh-CN" sz="2000" b="1" dirty="0"/>
              <a:t>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000" b="1" dirty="0"/>
              <a:t>      </a:t>
            </a:r>
            <a:r>
              <a:rPr lang="zh-CN" altLang="zh-CN" sz="2000" b="1" dirty="0">
                <a:latin typeface="Arial" pitchFamily="34" charset="0"/>
              </a:rPr>
              <a:t>a</a:t>
            </a:r>
            <a:r>
              <a:rPr lang="zh-CN" altLang="zh-CN" sz="2000" b="1" dirty="0"/>
              <a:t>++</a:t>
            </a:r>
            <a:r>
              <a:rPr lang="zh-CN" altLang="zh-CN" sz="20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000" b="1" dirty="0"/>
              <a:t>  </a:t>
            </a:r>
            <a:r>
              <a:rPr lang="en-US" altLang="zh-CN" sz="2000" b="1" dirty="0"/>
              <a:t>  </a:t>
            </a:r>
            <a:r>
              <a:rPr lang="zh-CN" altLang="zh-CN" sz="2000" b="1" dirty="0"/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000" b="1" dirty="0"/>
              <a:t>  </a:t>
            </a:r>
            <a:r>
              <a:rPr lang="zh-CN" altLang="zh-CN" sz="2000" b="1" dirty="0">
                <a:latin typeface="Arial" pitchFamily="34" charset="0"/>
              </a:rPr>
              <a:t>printf</a:t>
            </a:r>
            <a:r>
              <a:rPr lang="zh-CN" altLang="zh-CN" sz="2000" b="1" dirty="0">
                <a:latin typeface="Times New Roman" pitchFamily="18" charset="0"/>
              </a:rPr>
              <a:t>(</a:t>
            </a:r>
            <a:r>
              <a:rPr lang="zh-CN" altLang="zh-CN" sz="2000" b="1" dirty="0">
                <a:latin typeface="Times New Roman"/>
              </a:rPr>
              <a:t>“</a:t>
            </a:r>
            <a:r>
              <a:rPr lang="zh-CN" altLang="zh-CN" sz="2000" b="1" dirty="0"/>
              <a:t>%</a:t>
            </a:r>
            <a:r>
              <a:rPr lang="zh-CN" altLang="zh-CN" sz="2000" b="1" dirty="0">
                <a:latin typeface="Arial" pitchFamily="34" charset="0"/>
              </a:rPr>
              <a:t>d</a:t>
            </a:r>
            <a:r>
              <a:rPr lang="zh-CN" altLang="zh-CN" sz="2000" dirty="0"/>
              <a:t>\</a:t>
            </a:r>
            <a:r>
              <a:rPr lang="zh-CN" altLang="zh-CN" sz="2000" b="1" dirty="0">
                <a:latin typeface="Arial" pitchFamily="34" charset="0"/>
              </a:rPr>
              <a:t>n</a:t>
            </a:r>
            <a:r>
              <a:rPr lang="zh-CN" altLang="zh-CN" sz="2000" b="1" dirty="0">
                <a:latin typeface="Times New Roman"/>
              </a:rPr>
              <a:t>”</a:t>
            </a:r>
            <a:r>
              <a:rPr lang="zh-CN" altLang="zh-CN" sz="2000" b="1" dirty="0">
                <a:latin typeface="Times New Roman" pitchFamily="18" charset="0"/>
              </a:rPr>
              <a:t>,</a:t>
            </a:r>
            <a:r>
              <a:rPr lang="zh-CN" altLang="zh-CN" sz="2000" b="1" dirty="0">
                <a:latin typeface="Arial" pitchFamily="34" charset="0"/>
              </a:rPr>
              <a:t>a</a:t>
            </a:r>
            <a:r>
              <a:rPr lang="zh-CN" altLang="zh-CN" sz="2000" b="1" dirty="0">
                <a:latin typeface="Times New Roman" pitchFamily="18" charset="0"/>
              </a:rPr>
              <a:t>);  </a:t>
            </a:r>
            <a:r>
              <a:rPr lang="zh-CN" altLang="zh-CN" sz="2000" b="1" dirty="0"/>
              <a:t>}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835323" y="5471924"/>
            <a:ext cx="6155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en-US" altLang="zh-CN" sz="2800" b="1" dirty="0"/>
              <a:t>4</a:t>
            </a:r>
            <a:endParaRPr lang="zh-CN" altLang="zh-CN" sz="2800" b="1" dirty="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4674301" y="5470994"/>
            <a:ext cx="66160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Arial" pitchFamily="34" charset="0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6292573" y="5416713"/>
            <a:ext cx="123103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60000"/>
              </a:spcBef>
            </a:pPr>
            <a:r>
              <a:rPr lang="en-US" altLang="zh-CN" sz="2800" b="1" dirty="0"/>
              <a:t>6</a:t>
            </a:r>
            <a:endParaRPr lang="zh-CN" altLang="zh-CN" sz="2800" b="1" dirty="0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8564736" y="5456802"/>
            <a:ext cx="1519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>
              <a:spcBef>
                <a:spcPct val="90000"/>
              </a:spcBef>
            </a:pPr>
            <a:r>
              <a:rPr lang="en-US" altLang="zh-CN" sz="2800" b="1" dirty="0"/>
              <a:t>7</a:t>
            </a:r>
            <a:endParaRPr lang="zh-CN" altLang="zh-CN" sz="2800" b="1" dirty="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74860" y="5525271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59926" y="553528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748460" y="554530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850361" y="552109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256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0926" y="109538"/>
            <a:ext cx="6011863" cy="696912"/>
          </a:xfrm>
        </p:spPr>
        <p:txBody>
          <a:bodyPr/>
          <a:lstStyle/>
          <a:p>
            <a:r>
              <a:rPr lang="zh-CN" altLang="en-US" sz="3600">
                <a:solidFill>
                  <a:srgbClr val="000090"/>
                </a:solidFill>
                <a:latin typeface="楷体_GB2312" pitchFamily="49" charset="-122"/>
              </a:rPr>
              <a:t>几种循环的比较</a:t>
            </a:r>
            <a:r>
              <a:rPr lang="zh-CN" altLang="zh-CN" sz="3600">
                <a:solidFill>
                  <a:srgbClr val="000090"/>
                </a:solidFill>
                <a:latin typeface="楷体_GB2312" pitchFamily="49" charset="-122"/>
              </a:rPr>
              <a:t>: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1" y="1160464"/>
            <a:ext cx="8353425" cy="5216525"/>
          </a:xfrm>
        </p:spPr>
        <p:txBody>
          <a:bodyPr/>
          <a:lstStyle/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>
                <a:latin typeface="Times New Roman" pitchFamily="18" charset="0"/>
              </a:rPr>
              <a:t>1) </a:t>
            </a:r>
            <a:r>
              <a:rPr lang="zh-CN" altLang="en-US" sz="2400" b="1" dirty="0"/>
              <a:t>三种循环可以互相代替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不提倡使用</a:t>
            </a:r>
            <a:r>
              <a:rPr lang="zh-CN" altLang="zh-CN" sz="2400" b="1" dirty="0">
                <a:latin typeface="Arial" pitchFamily="34" charset="0"/>
              </a:rPr>
              <a:t>goto</a:t>
            </a:r>
            <a:r>
              <a:rPr lang="zh-CN" altLang="zh-CN" sz="2400" b="1" dirty="0"/>
              <a:t> </a:t>
            </a:r>
            <a:r>
              <a:rPr lang="zh-CN" altLang="en-US" sz="2400" b="1" dirty="0"/>
              <a:t>语句 。</a:t>
            </a:r>
          </a:p>
          <a:p>
            <a:pPr lvl="1">
              <a:lnSpc>
                <a:spcPct val="125000"/>
              </a:lnSpc>
              <a:spcBef>
                <a:spcPct val="35000"/>
              </a:spcBef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400" b="1" dirty="0"/>
              <a:t>如</a:t>
            </a:r>
            <a:r>
              <a:rPr lang="zh-CN" altLang="en-US" sz="2400" b="1" dirty="0">
                <a:solidFill>
                  <a:srgbClr val="FF0000"/>
                </a:solidFill>
              </a:rPr>
              <a:t>循环次数已知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明确始末点，</a:t>
            </a:r>
            <a:r>
              <a:rPr lang="zh-CN" altLang="en-US" sz="2400" b="1" dirty="0">
                <a:solidFill>
                  <a:srgbClr val="FF0000"/>
                </a:solidFill>
              </a:rPr>
              <a:t>一般用</a:t>
            </a:r>
            <a:r>
              <a:rPr lang="zh-CN" altLang="zh-CN" sz="2400" b="1" dirty="0">
                <a:solidFill>
                  <a:srgbClr val="FF0000"/>
                </a:solidFill>
                <a:latin typeface="Arial" pitchFamily="34" charset="0"/>
              </a:rPr>
              <a:t>for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 lvl="1">
              <a:lnSpc>
                <a:spcPct val="125000"/>
              </a:lnSpc>
              <a:spcBef>
                <a:spcPct val="35000"/>
              </a:spcBef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400" b="1" dirty="0"/>
              <a:t>如果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循环次数是由循环体的执行情况</a:t>
            </a:r>
            <a:r>
              <a:rPr lang="zh-CN" altLang="en-US" sz="2400" b="1" dirty="0"/>
              <a:t>确定的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则一般用</a:t>
            </a:r>
            <a:r>
              <a:rPr lang="zh-CN" altLang="zh-CN" sz="2400" b="1" dirty="0">
                <a:latin typeface="Arial" pitchFamily="34" charset="0"/>
              </a:rPr>
              <a:t>while</a:t>
            </a:r>
            <a:r>
              <a:rPr lang="zh-CN" altLang="en-US" sz="2400" b="1" dirty="0"/>
              <a:t>或</a:t>
            </a:r>
            <a:r>
              <a:rPr lang="zh-CN" altLang="zh-CN" sz="2400" b="1" dirty="0">
                <a:latin typeface="Arial" pitchFamily="34" charset="0"/>
              </a:rPr>
              <a:t>do-while</a:t>
            </a:r>
            <a:r>
              <a:rPr lang="zh-CN" altLang="en-US" sz="2400" b="1" dirty="0"/>
              <a:t>语句。</a:t>
            </a:r>
          </a:p>
          <a:p>
            <a:pPr lvl="1">
              <a:lnSpc>
                <a:spcPct val="125000"/>
              </a:lnSpc>
              <a:spcBef>
                <a:spcPct val="40000"/>
              </a:spcBef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</a:rPr>
              <a:t>循环体至少执行一次时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</a:rPr>
              <a:t>用</a:t>
            </a:r>
            <a:r>
              <a:rPr lang="zh-CN" altLang="zh-CN" sz="2400" b="1" dirty="0">
                <a:solidFill>
                  <a:srgbClr val="FF0000"/>
                </a:solidFill>
                <a:latin typeface="Arial" pitchFamily="34" charset="0"/>
              </a:rPr>
              <a:t>do-while</a:t>
            </a:r>
            <a:r>
              <a:rPr lang="zh-CN" altLang="en-US" sz="2400" b="1" dirty="0">
                <a:solidFill>
                  <a:srgbClr val="FF0000"/>
                </a:solidFill>
              </a:rPr>
              <a:t>语句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反之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如果循环体可能一次也不执行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/>
              <a:t>选用</a:t>
            </a:r>
            <a:r>
              <a:rPr lang="zh-CN" altLang="zh-CN" sz="2400" b="1" dirty="0">
                <a:latin typeface="Arial" pitchFamily="34" charset="0"/>
              </a:rPr>
              <a:t>while</a:t>
            </a:r>
            <a:r>
              <a:rPr lang="zh-CN" altLang="en-US" sz="2400" b="1" dirty="0"/>
              <a:t>语句或</a:t>
            </a:r>
            <a:r>
              <a:rPr lang="zh-CN" altLang="zh-CN" sz="2400" b="1" dirty="0">
                <a:latin typeface="Arial" pitchFamily="34" charset="0"/>
              </a:rPr>
              <a:t>for</a:t>
            </a:r>
            <a:r>
              <a:rPr lang="zh-CN" altLang="en-US" sz="2400" b="1" dirty="0"/>
              <a:t>语句。</a:t>
            </a:r>
          </a:p>
          <a:p>
            <a:pPr>
              <a:lnSpc>
                <a:spcPct val="115000"/>
              </a:lnSpc>
              <a:spcBef>
                <a:spcPct val="55000"/>
              </a:spcBef>
              <a:buClrTx/>
              <a:buSzTx/>
              <a:buFontTx/>
              <a:buNone/>
            </a:pPr>
            <a:r>
              <a:rPr lang="zh-CN" altLang="zh-CN" sz="2400" b="1" dirty="0">
                <a:latin typeface="Times New Roman" pitchFamily="18" charset="0"/>
              </a:rPr>
              <a:t>2) </a:t>
            </a:r>
            <a:r>
              <a:rPr lang="zh-CN" altLang="zh-CN" sz="2400" b="1" dirty="0">
                <a:latin typeface="Arial" pitchFamily="34" charset="0"/>
              </a:rPr>
              <a:t>for</a:t>
            </a:r>
            <a:r>
              <a:rPr lang="zh-CN" altLang="en-US" sz="24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while</a:t>
            </a:r>
            <a:r>
              <a:rPr lang="zh-CN" altLang="zh-CN" sz="2400" b="1" dirty="0"/>
              <a:t> </a:t>
            </a:r>
            <a:r>
              <a:rPr lang="zh-CN" altLang="en-US" sz="2400" b="1" dirty="0"/>
              <a:t>属</a:t>
            </a:r>
            <a:r>
              <a:rPr lang="zh-CN" altLang="en-US" sz="2400" b="1" dirty="0">
                <a:solidFill>
                  <a:schemeClr val="hlink"/>
                </a:solidFill>
              </a:rPr>
              <a:t>当型</a:t>
            </a:r>
            <a:r>
              <a:rPr lang="zh-CN" altLang="en-US" sz="2400" b="1" dirty="0"/>
              <a:t>循环</a:t>
            </a:r>
            <a:r>
              <a:rPr lang="zh-CN" altLang="en-US" sz="2400" b="1" dirty="0">
                <a:latin typeface="黑体" pitchFamily="49" charset="-122"/>
              </a:rPr>
              <a:t>（先判断后执行）</a:t>
            </a:r>
            <a:endParaRPr lang="zh-CN" altLang="en-US" sz="2400" b="1" dirty="0"/>
          </a:p>
          <a:p>
            <a:pPr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    </a:t>
            </a:r>
            <a:r>
              <a:rPr lang="zh-CN" altLang="zh-CN" sz="2400" b="1" dirty="0">
                <a:latin typeface="Arial" pitchFamily="34" charset="0"/>
              </a:rPr>
              <a:t>do-while</a:t>
            </a:r>
            <a:r>
              <a:rPr lang="zh-CN" altLang="zh-CN" sz="2400" b="1" dirty="0"/>
              <a:t> </a:t>
            </a:r>
            <a:r>
              <a:rPr lang="zh-CN" altLang="en-US" sz="2400" b="1" dirty="0"/>
              <a:t>循环属</a:t>
            </a:r>
            <a:r>
              <a:rPr lang="zh-CN" altLang="en-US" sz="2400" b="1" dirty="0">
                <a:solidFill>
                  <a:schemeClr val="hlink"/>
                </a:solidFill>
              </a:rPr>
              <a:t>直到型</a:t>
            </a:r>
            <a:r>
              <a:rPr lang="zh-CN" altLang="en-US" sz="2400" b="1" dirty="0"/>
              <a:t>循环</a:t>
            </a:r>
            <a:r>
              <a:rPr lang="zh-CN" altLang="zh-CN" sz="2400" b="1" dirty="0">
                <a:latin typeface="黑体" pitchFamily="49" charset="-122"/>
              </a:rPr>
              <a:t>(</a:t>
            </a:r>
            <a:r>
              <a:rPr lang="zh-CN" altLang="en-US" sz="2400" b="1" dirty="0">
                <a:latin typeface="黑体" pitchFamily="49" charset="-122"/>
              </a:rPr>
              <a:t>先执行后判断</a:t>
            </a:r>
            <a:r>
              <a:rPr lang="zh-CN" altLang="zh-CN" sz="2400" b="1" dirty="0">
                <a:latin typeface="黑体" pitchFamily="49" charset="-122"/>
              </a:rPr>
              <a:t>)</a:t>
            </a:r>
          </a:p>
        </p:txBody>
      </p:sp>
      <p:pic>
        <p:nvPicPr>
          <p:cNvPr id="304132" name="Picture 4" descr="b19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6308725"/>
            <a:ext cx="182562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417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963012" indent="-370389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481557" indent="-296311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2074179" indent="-296311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666802" indent="-296311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3259425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852047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4444670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5037292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554C4D6-E7FE-49F5-8B88-C33A5E02EB04}" type="slidenum">
              <a:rPr lang="en-US" altLang="ko-KR" smtClean="0"/>
              <a:pPr eaLnBrk="1" hangingPunct="1"/>
              <a:t>11</a:t>
            </a:fld>
            <a:endParaRPr lang="en-US" altLang="ko-KR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常用算法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267885"/>
            <a:ext cx="7989888" cy="1657349"/>
          </a:xfrm>
        </p:spPr>
        <p:txBody>
          <a:bodyPr/>
          <a:lstStyle/>
          <a:p>
            <a:pPr marL="232523" indent="-232523"/>
            <a:r>
              <a:rPr lang="zh-CN" altLang="en-US" sz="3400" b="1" dirty="0">
                <a:latin typeface="华文行楷" pitchFamily="2" charset="-122"/>
                <a:ea typeface="华文行楷" pitchFamily="2" charset="-122"/>
              </a:rPr>
              <a:t>一</a:t>
            </a:r>
            <a:r>
              <a:rPr lang="en-US" altLang="zh-CN" sz="3400" b="1" dirty="0">
                <a:latin typeface="华文行楷" pitchFamily="2" charset="-122"/>
                <a:ea typeface="华文行楷" pitchFamily="2" charset="-122"/>
              </a:rPr>
              <a:t>.</a:t>
            </a:r>
            <a:r>
              <a:rPr lang="zh-CN" altLang="en-US" sz="3100" b="1" dirty="0"/>
              <a:t>枚举法</a:t>
            </a:r>
            <a:r>
              <a:rPr lang="en-US" altLang="zh-CN" sz="3100" b="1" dirty="0"/>
              <a:t>(</a:t>
            </a:r>
            <a:r>
              <a:rPr lang="zh-CN" altLang="en-US" sz="3100" b="1" dirty="0"/>
              <a:t>穷举法或试凑法</a:t>
            </a:r>
            <a:r>
              <a:rPr lang="en-US" altLang="zh-CN" sz="3100" b="1" dirty="0"/>
              <a:t>)</a:t>
            </a:r>
            <a:r>
              <a:rPr lang="en-US" altLang="zh-CN" sz="3100" dirty="0"/>
              <a:t> </a:t>
            </a:r>
            <a:endParaRPr lang="zh-CN" altLang="en-US" sz="3400" dirty="0">
              <a:latin typeface="华文行楷" pitchFamily="2" charset="-122"/>
              <a:ea typeface="华文行楷" pitchFamily="2" charset="-122"/>
            </a:endParaRPr>
          </a:p>
          <a:p>
            <a:pPr marL="232523" indent="-232523" algn="just">
              <a:spcBef>
                <a:spcPct val="30000"/>
              </a:spcBef>
              <a:spcAft>
                <a:spcPct val="50000"/>
              </a:spcAft>
              <a:buNone/>
            </a:pPr>
            <a:r>
              <a:rPr lang="zh-CN" altLang="en-US" sz="3100" dirty="0"/>
              <a:t>　　</a:t>
            </a: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2351089" y="2421467"/>
            <a:ext cx="7696201" cy="2581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1.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确定范围</a:t>
            </a:r>
            <a:r>
              <a:rPr lang="zh-CN" altLang="en-US" sz="3200" b="1" dirty="0"/>
              <a:t>（最小）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2.</a:t>
            </a:r>
            <a:r>
              <a:rPr lang="zh-CN" altLang="en-US" sz="3200" b="1" dirty="0"/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试</a:t>
            </a:r>
            <a:r>
              <a:rPr lang="zh-CN" altLang="en-US" sz="3200" b="1" dirty="0"/>
              <a:t>（利用循环列举出范围内每种可能，一一尝试）。</a:t>
            </a:r>
          </a:p>
        </p:txBody>
      </p:sp>
    </p:spTree>
    <p:extLst>
      <p:ext uri="{BB962C8B-B14F-4D97-AF65-F5344CB8AC3E}">
        <p14:creationId xmlns:p14="http://schemas.microsoft.com/office/powerpoint/2010/main" val="282374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4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84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963012" indent="-370389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481557" indent="-296311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2074179" indent="-296311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666802" indent="-296311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3259425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852047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4444670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5037292" indent="-29631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2622BBA-A183-423E-83FF-EE74C0D44C96}" type="slidenum">
              <a:rPr lang="en-US" altLang="ko-KR" smtClean="0"/>
              <a:pPr eaLnBrk="1" hangingPunct="1"/>
              <a:t>12</a:t>
            </a:fld>
            <a:endParaRPr lang="en-US" altLang="ko-KR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枚举法</a:t>
            </a:r>
            <a:r>
              <a:rPr lang="en-US" altLang="zh-CN"/>
              <a:t>(</a:t>
            </a:r>
            <a:r>
              <a:rPr lang="zh-CN" altLang="en-US"/>
              <a:t>穷举法或试凑法</a:t>
            </a:r>
            <a:r>
              <a:rPr lang="en-US" altLang="zh-CN"/>
              <a:t>) </a:t>
            </a:r>
          </a:p>
        </p:txBody>
      </p:sp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1990726" y="2862948"/>
            <a:ext cx="4897437" cy="2489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1.m</a:t>
            </a:r>
            <a:r>
              <a:rPr lang="zh-CN" altLang="en-US" sz="2800" b="1" dirty="0"/>
              <a:t>的因子范围为</a:t>
            </a:r>
            <a:r>
              <a:rPr lang="en-US" altLang="zh-CN" sz="2800" b="1" dirty="0"/>
              <a:t>1-m</a:t>
            </a:r>
            <a:r>
              <a:rPr lang="zh-CN" altLang="en-US" sz="2800" b="1" dirty="0"/>
              <a:t>之间的整数。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 设置变量</a:t>
            </a:r>
            <a:r>
              <a:rPr lang="en-US" altLang="zh-CN" sz="2800" b="1" dirty="0"/>
              <a:t>i</a:t>
            </a:r>
            <a:r>
              <a:rPr lang="zh-CN" altLang="en-US" sz="2800" b="1" dirty="0"/>
              <a:t>取</a:t>
            </a:r>
            <a:r>
              <a:rPr lang="en-US" altLang="zh-CN" sz="2800" b="1" dirty="0"/>
              <a:t>1-m</a:t>
            </a:r>
            <a:r>
              <a:rPr lang="zh-CN" altLang="en-US" sz="2800" b="1" dirty="0"/>
              <a:t>之间的每个整数，对</a:t>
            </a:r>
            <a:r>
              <a:rPr lang="en-US" altLang="zh-CN" sz="2800" b="1" dirty="0"/>
              <a:t>i</a:t>
            </a:r>
            <a:r>
              <a:rPr lang="zh-CN" altLang="en-US" sz="2800" b="1" dirty="0"/>
              <a:t>的每个取值进行判断。</a:t>
            </a:r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2206624" y="1296815"/>
            <a:ext cx="4897487" cy="1227677"/>
          </a:xfrm>
          <a:prstGeom prst="rect">
            <a:avLst/>
          </a:prstGeom>
          <a:noFill/>
          <a:ln w="38100" cmpd="dbl">
            <a:solidFill>
              <a:srgbClr val="CC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8525" tIns="59262" rIns="118525" bIns="59262">
            <a:spAutoFit/>
          </a:bodyPr>
          <a:lstStyle/>
          <a:p>
            <a:r>
              <a:rPr lang="zh-CN" altLang="en-US" sz="36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例：显示出正整数</a:t>
            </a:r>
            <a:r>
              <a:rPr lang="en-US" altLang="zh-CN" sz="36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m</a:t>
            </a:r>
            <a:r>
              <a:rPr lang="zh-CN" altLang="en-US" sz="36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的所有因子及因子的个数。</a:t>
            </a:r>
          </a:p>
        </p:txBody>
      </p:sp>
      <p:graphicFrame>
        <p:nvGraphicFramePr>
          <p:cNvPr id="185351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7464426" y="1341968"/>
          <a:ext cx="2879724" cy="489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Visio" r:id="rId3" imgW="4944161" imgH="8674608" progId="Visio.Drawing.11">
                  <p:embed/>
                </p:oleObj>
              </mc:Choice>
              <mc:Fallback>
                <p:oleObj name="Visio" r:id="rId3" imgW="4944161" imgH="867460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1341968"/>
                        <a:ext cx="2879724" cy="4895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938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8328027" y="3357037"/>
            <a:ext cx="935037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真</a:t>
            </a:r>
          </a:p>
        </p:txBody>
      </p:sp>
      <p:sp>
        <p:nvSpPr>
          <p:cNvPr id="185354" name="Text Box 10"/>
          <p:cNvSpPr txBox="1">
            <a:spLocks noChangeArrowheads="1"/>
          </p:cNvSpPr>
          <p:nvPr/>
        </p:nvSpPr>
        <p:spPr bwMode="auto">
          <a:xfrm>
            <a:off x="9774238" y="2785537"/>
            <a:ext cx="481012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假</a:t>
            </a:r>
          </a:p>
        </p:txBody>
      </p:sp>
      <p:sp>
        <p:nvSpPr>
          <p:cNvPr id="185355" name="Text Box 11"/>
          <p:cNvSpPr txBox="1">
            <a:spLocks noChangeArrowheads="1"/>
          </p:cNvSpPr>
          <p:nvPr/>
        </p:nvSpPr>
        <p:spPr bwMode="auto">
          <a:xfrm>
            <a:off x="9529763" y="3932770"/>
            <a:ext cx="311150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假</a:t>
            </a:r>
          </a:p>
        </p:txBody>
      </p:sp>
      <p:sp>
        <p:nvSpPr>
          <p:cNvPr id="185356" name="Text Box 12"/>
          <p:cNvSpPr txBox="1">
            <a:spLocks noChangeArrowheads="1"/>
          </p:cNvSpPr>
          <p:nvPr/>
        </p:nvSpPr>
        <p:spPr bwMode="auto">
          <a:xfrm>
            <a:off x="8328027" y="3934886"/>
            <a:ext cx="935037" cy="408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真</a:t>
            </a:r>
          </a:p>
        </p:txBody>
      </p:sp>
    </p:spTree>
    <p:extLst>
      <p:ext uri="{BB962C8B-B14F-4D97-AF65-F5344CB8AC3E}">
        <p14:creationId xmlns:p14="http://schemas.microsoft.com/office/powerpoint/2010/main" val="25080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9" grpId="0"/>
      <p:bldP spid="185350" grpId="0" animBg="1"/>
      <p:bldP spid="185353" grpId="0"/>
      <p:bldP spid="185354" grpId="0"/>
      <p:bldP spid="185355" grpId="0"/>
      <p:bldP spid="1853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381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7824788" y="1341970"/>
          <a:ext cx="2305050" cy="4967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Visio" r:id="rId3" imgW="3379622" imgH="8131759" progId="Visio.Drawing.11">
                  <p:embed/>
                </p:oleObj>
              </mc:Choice>
              <mc:Fallback>
                <p:oleObj name="Visio" r:id="rId3" imgW="3379622" imgH="813175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1341970"/>
                        <a:ext cx="2305050" cy="4967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938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枚举法</a:t>
            </a:r>
            <a:r>
              <a:rPr lang="en-US" altLang="zh-CN" b="1"/>
              <a:t>(</a:t>
            </a:r>
            <a:r>
              <a:rPr lang="zh-CN" altLang="en-US" b="1"/>
              <a:t>穷举法或试凑法</a:t>
            </a:r>
            <a:r>
              <a:rPr lang="en-US" altLang="zh-CN" b="1"/>
              <a:t>)</a:t>
            </a:r>
            <a:endParaRPr lang="en-US" altLang="zh-CN"/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2060576" y="3141135"/>
            <a:ext cx="5187553" cy="215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8525" tIns="59262" rIns="118525" bIns="5926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/>
              <a:t>1.m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最大公约数的范围为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～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之间的整数。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/>
              <a:t>2.</a:t>
            </a:r>
            <a:r>
              <a:rPr lang="zh-CN" altLang="en-US" sz="2400" b="1" dirty="0"/>
              <a:t> 设置变量</a:t>
            </a:r>
            <a:r>
              <a:rPr lang="en-US" altLang="zh-CN" sz="2400" b="1" dirty="0"/>
              <a:t>i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开始向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变化，当找到第一个能够同时整除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的数，即是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最大公约数。</a:t>
            </a:r>
          </a:p>
        </p:txBody>
      </p:sp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2133603" y="1411817"/>
            <a:ext cx="4824413" cy="1104566"/>
          </a:xfrm>
          <a:prstGeom prst="rect">
            <a:avLst/>
          </a:prstGeom>
          <a:noFill/>
          <a:ln w="38100" cmpd="dbl">
            <a:solidFill>
              <a:srgbClr val="CC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r>
              <a:rPr lang="zh-CN" altLang="en-US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例：显示出正整数</a:t>
            </a:r>
            <a:r>
              <a:rPr lang="en-US" altLang="zh-CN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m</a:t>
            </a:r>
            <a:r>
              <a:rPr lang="zh-CN" altLang="en-US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的最大公约数（</a:t>
            </a:r>
            <a:r>
              <a:rPr lang="en-US" altLang="zh-CN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m&gt;=n)</a:t>
            </a:r>
            <a:r>
              <a:rPr lang="zh-CN" altLang="en-US" sz="32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。</a:t>
            </a:r>
          </a:p>
        </p:txBody>
      </p:sp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9340852" y="3511554"/>
            <a:ext cx="252413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真</a:t>
            </a:r>
          </a:p>
        </p:txBody>
      </p:sp>
      <p:sp>
        <p:nvSpPr>
          <p:cNvPr id="186377" name="Text Box 9"/>
          <p:cNvSpPr txBox="1">
            <a:spLocks noChangeArrowheads="1"/>
          </p:cNvSpPr>
          <p:nvPr/>
        </p:nvSpPr>
        <p:spPr bwMode="auto">
          <a:xfrm>
            <a:off x="9958387" y="2849037"/>
            <a:ext cx="468312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假</a:t>
            </a:r>
          </a:p>
        </p:txBody>
      </p:sp>
      <p:sp>
        <p:nvSpPr>
          <p:cNvPr id="186378" name="Text Box 10"/>
          <p:cNvSpPr txBox="1">
            <a:spLocks noChangeArrowheads="1"/>
          </p:cNvSpPr>
          <p:nvPr/>
        </p:nvSpPr>
        <p:spPr bwMode="auto">
          <a:xfrm>
            <a:off x="8616951" y="4201587"/>
            <a:ext cx="935037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假</a:t>
            </a: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9732965" y="3716870"/>
            <a:ext cx="935037" cy="410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938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525" tIns="59262" rIns="118525" bIns="5926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真</a:t>
            </a:r>
          </a:p>
        </p:txBody>
      </p:sp>
    </p:spTree>
    <p:extLst>
      <p:ext uri="{BB962C8B-B14F-4D97-AF65-F5344CB8AC3E}">
        <p14:creationId xmlns:p14="http://schemas.microsoft.com/office/powerpoint/2010/main" val="209383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8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07 0.00949 C -0.02256 0.08357 -0.01388 0.15764 -0.03107 0.19468 C -0.04826 0.23171 -0.09114 0.23171 -0.13385 0.23171 " pathEditMode="relative" rAng="0" ptsTypes="aaA">
                                      <p:cBhvr>
                                        <p:cTn id="34" dur="2000" fill="hold"/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88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3" grpId="0"/>
      <p:bldP spid="186374" grpId="0" animBg="1"/>
      <p:bldP spid="186376" grpId="0"/>
      <p:bldP spid="186377" grpId="0"/>
      <p:bldP spid="186378" grpId="0"/>
      <p:bldP spid="1863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枚举法</a:t>
            </a:r>
            <a:r>
              <a:rPr lang="en-US" altLang="zh-CN" b="1"/>
              <a:t>(</a:t>
            </a:r>
            <a:r>
              <a:rPr lang="zh-CN" altLang="en-US" b="1"/>
              <a:t>穷举法或试凑法</a:t>
            </a:r>
            <a:r>
              <a:rPr lang="en-US" altLang="zh-CN" b="1"/>
              <a:t>)</a:t>
            </a:r>
            <a:endParaRPr lang="en-US" altLang="zh-CN"/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2060574" y="2348881"/>
            <a:ext cx="7131770" cy="2335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8525" tIns="59262" rIns="118525" bIns="5926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1.</a:t>
            </a:r>
            <a:r>
              <a:rPr lang="zh-CN" altLang="en-US" sz="3200" b="1" dirty="0"/>
              <a:t>范围为</a:t>
            </a:r>
            <a:r>
              <a:rPr lang="en-US" altLang="zh-CN" sz="3200" b="1" dirty="0"/>
              <a:t>100-999</a:t>
            </a:r>
            <a:r>
              <a:rPr lang="zh-CN" altLang="en-US" sz="3200" b="1" dirty="0"/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2.</a:t>
            </a:r>
            <a:r>
              <a:rPr lang="zh-CN" altLang="en-US" sz="3200" b="1" dirty="0"/>
              <a:t> 设置变量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从</a:t>
            </a:r>
            <a:r>
              <a:rPr lang="en-US" altLang="zh-CN" sz="3200" b="1" dirty="0"/>
              <a:t>100</a:t>
            </a:r>
            <a:r>
              <a:rPr lang="zh-CN" altLang="en-US" sz="3200" b="1" dirty="0"/>
              <a:t>开始向</a:t>
            </a:r>
            <a:r>
              <a:rPr lang="en-US" altLang="zh-CN" sz="3200" b="1" dirty="0"/>
              <a:t>999</a:t>
            </a:r>
            <a:r>
              <a:rPr lang="zh-CN" altLang="en-US" sz="3200" b="1" dirty="0"/>
              <a:t>变化，每次循环中求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的各位数字的立方和是否等于</a:t>
            </a:r>
            <a:r>
              <a:rPr lang="en-US" altLang="zh-CN" sz="3200" b="1" dirty="0"/>
              <a:t>n</a:t>
            </a:r>
            <a:endParaRPr lang="zh-CN" altLang="en-US" sz="3200" b="1" dirty="0"/>
          </a:p>
        </p:txBody>
      </p:sp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2133602" y="1411818"/>
            <a:ext cx="6050630" cy="673679"/>
          </a:xfrm>
          <a:prstGeom prst="rect">
            <a:avLst/>
          </a:prstGeom>
          <a:noFill/>
          <a:ln w="38100" cmpd="dbl">
            <a:solidFill>
              <a:srgbClr val="CC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8525" tIns="59262" rIns="118525" bIns="59262">
            <a:spAutoFit/>
          </a:bodyPr>
          <a:lstStyle/>
          <a:p>
            <a:r>
              <a:rPr lang="zh-CN" altLang="en-US" sz="36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例：打印出所有的水仙花数。</a:t>
            </a:r>
          </a:p>
        </p:txBody>
      </p:sp>
    </p:spTree>
    <p:extLst>
      <p:ext uri="{BB962C8B-B14F-4D97-AF65-F5344CB8AC3E}">
        <p14:creationId xmlns:p14="http://schemas.microsoft.com/office/powerpoint/2010/main" val="174116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3" grpId="0"/>
      <p:bldP spid="1863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35560" y="1196752"/>
            <a:ext cx="8172400" cy="1234016"/>
          </a:xfrm>
          <a:solidFill>
            <a:schemeClr val="bg1"/>
          </a:solidFill>
        </p:spPr>
        <p:txBody>
          <a:bodyPr vert="horz" wrap="square" lIns="0" tIns="13999" rIns="0" bIns="0" numCol="1" anchor="ctr" anchorCtr="0" compatLnSpc="1">
            <a:prstTxWarp prst="textNoShape">
              <a:avLst/>
            </a:prstTxWarp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indent="360000">
              <a:defRPr/>
            </a:pP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百元买百鸡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(100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元钱买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100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只鸡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),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公鸡每只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元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母鸡每只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元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小鸡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元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只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可买公鸡、母鸡、小鸡各几只</a:t>
            </a:r>
            <a:r>
              <a:rPr lang="en-US" altLang="zh-CN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900" dirty="0">
                <a:ln/>
                <a:solidFill>
                  <a:schemeClr val="accent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有几种买法。</a:t>
            </a: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2342220" y="2783344"/>
            <a:ext cx="7507560" cy="28803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333" tIns="60662" rIns="4666" bIns="13999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lvl1pPr marL="623888" indent="-62388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1pPr>
            <a:lvl2pPr marL="1184275" indent="-38100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2pPr>
            <a:lvl3pPr marL="1706563" indent="-3429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3pPr>
            <a:lvl4pPr marL="2190750" indent="-3048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4pPr>
            <a:lvl5pPr marL="2674938" indent="-3048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5pPr>
            <a:lvl6pPr marL="3132138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6pPr>
            <a:lvl7pPr marL="3589338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7pPr>
            <a:lvl8pPr marL="4046538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8pPr>
            <a:lvl9pPr marL="4503738" indent="-3048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微软雅黑" pitchFamily="34" charset="-122"/>
                <a:sym typeface="Verdana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设公鸡、母鸡、小鸡的数量分别为</a:t>
            </a:r>
            <a:r>
              <a:rPr lang="en-US" altLang="zh-CN" sz="2600" b="1" dirty="0" err="1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x,y,z</a:t>
            </a: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endParaRPr lang="en-US" altLang="zh-CN" sz="2600" b="1" dirty="0">
              <a:ln/>
              <a:solidFill>
                <a:schemeClr val="accent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①买百只鸡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 </a:t>
            </a:r>
            <a:r>
              <a:rPr lang="en-US" altLang="zh-CN" sz="2600" b="1" dirty="0" err="1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x+y+z</a:t>
            </a:r>
            <a:r>
              <a:rPr lang="en-US" altLang="zh-CN" sz="2600" b="1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=100 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②</a:t>
            </a: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用百元钱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 </a:t>
            </a:r>
            <a:r>
              <a:rPr lang="en-US" altLang="zh-CN" sz="2600" b="1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5x+3y+(1/3)z=100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en-US" altLang="zh-CN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600" b="1" dirty="0">
                <a:ln/>
                <a:solidFill>
                  <a:schemeClr val="accent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统分后：</a:t>
            </a:r>
            <a:r>
              <a:rPr lang="en-US" altLang="zh-CN" sz="2600" b="1" dirty="0">
                <a:ln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15x+9y+z=300</a:t>
            </a:r>
          </a:p>
        </p:txBody>
      </p:sp>
    </p:spTree>
    <p:extLst>
      <p:ext uri="{BB962C8B-B14F-4D97-AF65-F5344CB8AC3E}">
        <p14:creationId xmlns:p14="http://schemas.microsoft.com/office/powerpoint/2010/main" val="230868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爱因斯坦阶梯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196752"/>
            <a:ext cx="10363200" cy="4114800"/>
          </a:xfrm>
        </p:spPr>
        <p:txBody>
          <a:bodyPr/>
          <a:lstStyle/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有一条长阶梯，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若每步跨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阶，则最后剩余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阶；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若每步跨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阶，则最后剩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阶；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若每步跨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阶，则最后剩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阶；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若每步跨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阶，则最后剩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阶；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若每步跨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阶，则最后剩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阶；若每步跨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7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阶，最后才正好一阶不剩。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请问，这条阶梯最少共有多少阶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?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9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335214" y="120651"/>
            <a:ext cx="7793037" cy="593725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12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判断整数</a:t>
            </a:r>
            <a:r>
              <a:rPr lang="zh-CN" altLang="en-US" sz="1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m</a:t>
            </a:r>
            <a:r>
              <a:rPr lang="zh-CN" altLang="zh-CN" sz="1800" dirty="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是否素数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79626" y="1101726"/>
            <a:ext cx="8353425" cy="5184775"/>
          </a:xfrm>
        </p:spPr>
        <p:txBody>
          <a:bodyPr/>
          <a:lstStyle/>
          <a:p>
            <a:pPr marL="0" indent="0">
              <a:buSzPct val="50000"/>
            </a:pPr>
            <a:r>
              <a:rPr lang="zh-CN" altLang="zh-CN" sz="2400" b="1" dirty="0">
                <a:latin typeface="Arial" pitchFamily="34" charset="0"/>
              </a:rPr>
              <a:t> </a:t>
            </a:r>
            <a:r>
              <a:rPr lang="zh-CN" altLang="en-US" sz="2400" b="1" dirty="0">
                <a:latin typeface="Arial" pitchFamily="34" charset="0"/>
              </a:rPr>
              <a:t>分析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</a:p>
          <a:p>
            <a:pPr marL="449263" lvl="1" indent="-174625">
              <a:lnSpc>
                <a:spcPct val="120000"/>
              </a:lnSpc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latin typeface="Arial" pitchFamily="34" charset="0"/>
              </a:rPr>
              <a:t>素数</a:t>
            </a:r>
            <a:r>
              <a:rPr lang="zh-CN" altLang="en-US" sz="2400" b="1" dirty="0"/>
              <a:t>大于</a:t>
            </a:r>
            <a:r>
              <a:rPr lang="zh-CN" altLang="zh-CN" sz="2000" b="1" dirty="0"/>
              <a:t>1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Arial" pitchFamily="34" charset="0"/>
              </a:rPr>
              <a:t>并且除了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en-US" sz="2400" b="1" dirty="0">
                <a:latin typeface="Arial" pitchFamily="34" charset="0"/>
              </a:rPr>
              <a:t>和它自身外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>
                <a:latin typeface="Arial" pitchFamily="34" charset="0"/>
              </a:rPr>
              <a:t> </a:t>
            </a:r>
            <a:r>
              <a:rPr lang="zh-CN" altLang="en-US" sz="2400" b="1" dirty="0">
                <a:latin typeface="Arial" pitchFamily="34" charset="0"/>
              </a:rPr>
              <a:t>不能被任何整数整除的自然数</a:t>
            </a:r>
            <a:r>
              <a:rPr lang="zh-CN" altLang="en-US" sz="1600" b="1" dirty="0">
                <a:latin typeface="Arial" pitchFamily="34" charset="0"/>
              </a:rPr>
              <a:t>。</a:t>
            </a:r>
          </a:p>
          <a:p>
            <a:pPr marL="0" indent="0">
              <a:lnSpc>
                <a:spcPct val="115000"/>
              </a:lnSpc>
              <a:spcBef>
                <a:spcPct val="25000"/>
              </a:spcBef>
              <a:buNone/>
            </a:pPr>
            <a:r>
              <a:rPr lang="zh-CN" altLang="en-US" sz="2000" b="1" dirty="0"/>
              <a:t>      </a:t>
            </a:r>
            <a:r>
              <a:rPr lang="zh-CN" altLang="en-US" sz="2400" b="1" dirty="0">
                <a:latin typeface="Arial" pitchFamily="34" charset="0"/>
              </a:rPr>
              <a:t>由定义可知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  <a:r>
              <a:rPr lang="zh-CN" altLang="zh-CN" sz="2000" b="1" dirty="0">
                <a:latin typeface="Times New Roman" pitchFamily="18" charset="0"/>
              </a:rPr>
              <a:t>  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5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7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11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13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17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19</a:t>
            </a:r>
            <a:r>
              <a:rPr lang="zh-CN" altLang="zh-CN" sz="2000" b="1" dirty="0"/>
              <a:t> </a:t>
            </a:r>
            <a:r>
              <a:rPr lang="zh-CN" altLang="en-US" sz="2400" b="1" dirty="0">
                <a:latin typeface="Arial" pitchFamily="34" charset="0"/>
              </a:rPr>
              <a:t>等是素数</a:t>
            </a:r>
            <a:r>
              <a:rPr lang="zh-CN" altLang="en-US" sz="2000" b="1" dirty="0"/>
              <a:t>；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zh-CN" altLang="en-US" sz="2000" b="1" dirty="0"/>
              <a:t>                              </a:t>
            </a:r>
            <a:r>
              <a:rPr lang="zh-CN" altLang="zh-CN" sz="2400" b="1" dirty="0">
                <a:latin typeface="Arial" pitchFamily="34" charset="0"/>
              </a:rPr>
              <a:t>1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4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6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8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9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10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12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14</a:t>
            </a:r>
            <a:r>
              <a:rPr lang="zh-CN" altLang="en-US" sz="16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15</a:t>
            </a:r>
            <a:r>
              <a:rPr lang="zh-CN" altLang="zh-CN" sz="2000" b="1" dirty="0"/>
              <a:t> </a:t>
            </a:r>
            <a:r>
              <a:rPr lang="zh-CN" altLang="en-US" sz="2400" b="1" dirty="0">
                <a:latin typeface="Arial" pitchFamily="34" charset="0"/>
              </a:rPr>
              <a:t>等非素数；</a:t>
            </a:r>
            <a:endParaRPr lang="zh-CN" altLang="en-US" sz="2400" b="1" dirty="0">
              <a:latin typeface="Arial" pitchFamily="34" charset="0"/>
              <a:sym typeface="Symbol" pitchFamily="18" charset="2"/>
            </a:endParaRPr>
          </a:p>
          <a:p>
            <a:pPr marL="449263" lvl="1" indent="-174625">
              <a:lnSpc>
                <a:spcPct val="120000"/>
              </a:lnSpc>
              <a:spcBef>
                <a:spcPct val="25000"/>
              </a:spcBef>
              <a:buClr>
                <a:srgbClr val="008000"/>
              </a:buClr>
              <a:buSzPct val="85000"/>
              <a:buFont typeface="Tahoma" pitchFamily="34" charset="0"/>
              <a:buChar char="−"/>
            </a:pPr>
            <a:r>
              <a:rPr lang="zh-CN" altLang="en-US" sz="2400" b="1" dirty="0">
                <a:latin typeface="黑体" pitchFamily="49" charset="-122"/>
              </a:rPr>
              <a:t>要判断</a:t>
            </a:r>
            <a:r>
              <a:rPr lang="zh-CN" altLang="zh-CN" sz="2400" b="1" dirty="0"/>
              <a:t>m</a:t>
            </a:r>
            <a:r>
              <a:rPr lang="zh-CN" altLang="en-US" sz="2400" b="1" dirty="0">
                <a:latin typeface="黑体" pitchFamily="49" charset="-122"/>
              </a:rPr>
              <a:t>是否是素数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黑体" pitchFamily="49" charset="-122"/>
              </a:rPr>
              <a:t>最简单的办法是把数</a:t>
            </a:r>
            <a:r>
              <a:rPr lang="zh-CN" altLang="zh-CN" sz="2400" b="1" dirty="0"/>
              <a:t>m</a:t>
            </a:r>
            <a:r>
              <a:rPr lang="zh-CN" altLang="en-US" sz="2400" b="1" dirty="0">
                <a:latin typeface="黑体" pitchFamily="49" charset="-122"/>
              </a:rPr>
              <a:t>被</a:t>
            </a:r>
            <a:r>
              <a:rPr lang="zh-CN" altLang="en-US" sz="2000" b="1" dirty="0">
                <a:latin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en-US" sz="18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en-US" sz="2400" b="1" dirty="0"/>
              <a:t>直到   </a:t>
            </a:r>
            <a:r>
              <a:rPr lang="en-US" altLang="zh-CN" sz="2400" b="1" dirty="0"/>
              <a:t> </a:t>
            </a:r>
            <a:r>
              <a:rPr lang="zh-CN" altLang="zh-CN" sz="2400" b="1" dirty="0"/>
              <a:t>m-1</a:t>
            </a:r>
            <a:r>
              <a:rPr lang="zh-CN" altLang="en-US" sz="2400" b="1" dirty="0"/>
              <a:t>这些数除，若</a:t>
            </a:r>
            <a:r>
              <a:rPr lang="zh-CN" altLang="en-US" sz="2400" b="1" dirty="0">
                <a:latin typeface="黑体" pitchFamily="49" charset="-122"/>
                <a:sym typeface="Symbol" pitchFamily="18" charset="2"/>
              </a:rPr>
              <a:t>都不能被整除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/>
              <a:t>则</a:t>
            </a:r>
            <a:r>
              <a:rPr lang="zh-CN" altLang="zh-CN" sz="2400" b="1" dirty="0"/>
              <a:t>m</a:t>
            </a:r>
            <a:r>
              <a:rPr lang="zh-CN" altLang="en-US" sz="2400" b="1" dirty="0"/>
              <a:t>是素数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  <a:endParaRPr lang="zh-CN" altLang="en-US" sz="2400" b="1" dirty="0"/>
          </a:p>
          <a:p>
            <a:pPr marL="274638" lvl="1" indent="0">
              <a:spcBef>
                <a:spcPct val="55000"/>
              </a:spcBef>
              <a:buClr>
                <a:srgbClr val="008000"/>
              </a:buClr>
              <a:buSzPct val="85000"/>
              <a:buNone/>
            </a:pPr>
            <a:r>
              <a:rPr lang="en-US" altLang="zh-CN" sz="2400" b="1" dirty="0"/>
              <a:t>  </a:t>
            </a:r>
            <a:r>
              <a:rPr lang="zh-CN" altLang="zh-CN" sz="2400" b="1" dirty="0"/>
              <a:t>m </a:t>
            </a:r>
            <a:r>
              <a:rPr lang="zh-CN" altLang="en-US" sz="2400" b="1" dirty="0">
                <a:latin typeface="黑体" pitchFamily="49" charset="-122"/>
              </a:rPr>
              <a:t>被</a:t>
            </a:r>
            <a:r>
              <a:rPr lang="zh-CN" altLang="en-US" sz="1800" b="1" dirty="0">
                <a:latin typeface="黑体" pitchFamily="49" charset="-122"/>
              </a:rPr>
              <a:t> </a:t>
            </a:r>
            <a:r>
              <a:rPr lang="zh-CN" altLang="zh-CN" sz="2400" b="1" dirty="0">
                <a:latin typeface="Arial" pitchFamily="34" charset="0"/>
              </a:rPr>
              <a:t>2</a:t>
            </a:r>
            <a:r>
              <a:rPr lang="zh-CN" altLang="en-US" sz="2000" b="1" dirty="0"/>
              <a:t>、</a:t>
            </a:r>
            <a:r>
              <a:rPr lang="zh-CN" altLang="zh-CN" sz="2400" b="1" dirty="0">
                <a:latin typeface="Arial" pitchFamily="34" charset="0"/>
              </a:rPr>
              <a:t>3</a:t>
            </a:r>
            <a:r>
              <a:rPr lang="zh-CN" altLang="en-US" sz="2400" b="1" dirty="0"/>
              <a:t>～       </a:t>
            </a:r>
            <a:r>
              <a:rPr lang="zh-CN" altLang="en-US" sz="2400" b="1" dirty="0">
                <a:latin typeface="黑体" pitchFamily="49" charset="-122"/>
              </a:rPr>
              <a:t>的数都除不尽，则</a:t>
            </a:r>
            <a:r>
              <a:rPr lang="zh-CN" altLang="zh-CN" sz="2400" b="1" dirty="0"/>
              <a:t>m</a:t>
            </a:r>
            <a:r>
              <a:rPr lang="zh-CN" altLang="en-US" sz="2400" b="1" dirty="0">
                <a:latin typeface="黑体" pitchFamily="49" charset="-122"/>
              </a:rPr>
              <a:t>必是素数。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latin typeface="Arial" pitchFamily="34" charset="0"/>
              </a:rPr>
              <a:t>   </a:t>
            </a:r>
            <a:r>
              <a:rPr lang="zh-CN" altLang="en-US" sz="2000" b="1" dirty="0">
                <a:latin typeface="Arial" pitchFamily="34" charset="0"/>
              </a:rPr>
              <a:t>   </a:t>
            </a:r>
          </a:p>
        </p:txBody>
      </p:sp>
      <p:graphicFrame>
        <p:nvGraphicFramePr>
          <p:cNvPr id="29696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410075" y="4567239"/>
          <a:ext cx="5016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r:id="rId4" imgW="279717" imgH="228917" progId="Equation.3">
                  <p:embed/>
                </p:oleObj>
              </mc:Choice>
              <mc:Fallback>
                <p:oleObj r:id="rId4" imgW="279717" imgH="228917" progId="Equation.3">
                  <p:embed/>
                  <p:pic>
                    <p:nvPicPr>
                      <p:cNvPr id="296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4567239"/>
                        <a:ext cx="5016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5" name="Text Box 5"/>
          <p:cNvSpPr txBox="1">
            <a:spLocks noChangeArrowheads="1"/>
          </p:cNvSpPr>
          <p:nvPr/>
        </p:nvSpPr>
        <p:spPr bwMode="auto">
          <a:xfrm>
            <a:off x="2357438" y="5168900"/>
            <a:ext cx="741680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9900"/>
              </a:buClr>
              <a:buSzPct val="85000"/>
            </a:pP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 可以用一个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</a:rPr>
              <a:t>for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</a:rPr>
              <a:t>语句来表示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</a:t>
            </a:r>
          </a:p>
          <a:p>
            <a:pPr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3333FF"/>
                </a:solidFill>
                <a:ea typeface="Dotum" pitchFamily="34" charset="-127"/>
              </a:rPr>
              <a:t>                     </a:t>
            </a:r>
            <a:r>
              <a:rPr lang="zh-CN" altLang="zh-CN" sz="2400" b="1" dirty="0">
                <a:solidFill>
                  <a:srgbClr val="0000B4"/>
                </a:solidFill>
                <a:ea typeface="Dotum" pitchFamily="34" charset="-127"/>
              </a:rPr>
              <a:t>for 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 dirty="0">
                <a:solidFill>
                  <a:srgbClr val="0000B4"/>
                </a:solidFill>
                <a:ea typeface="Dotum" pitchFamily="34" charset="-127"/>
              </a:rPr>
              <a:t> i=2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Dotum" pitchFamily="34" charset="-127"/>
              </a:rPr>
              <a:t>;</a:t>
            </a:r>
            <a:r>
              <a:rPr lang="zh-CN" altLang="zh-CN" sz="2400" b="1" dirty="0">
                <a:solidFill>
                  <a:srgbClr val="0000B4"/>
                </a:solidFill>
                <a:ea typeface="Dotum" pitchFamily="34" charset="-127"/>
              </a:rPr>
              <a:t> i&lt;=sqrt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 dirty="0">
                <a:solidFill>
                  <a:srgbClr val="0000B4"/>
                </a:solidFill>
                <a:ea typeface="Dotum" pitchFamily="34" charset="-127"/>
              </a:rPr>
              <a:t>m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Dotum" pitchFamily="34" charset="-127"/>
              </a:rPr>
              <a:t>);</a:t>
            </a:r>
            <a:r>
              <a:rPr lang="zh-CN" altLang="zh-CN" sz="2400" b="1" dirty="0">
                <a:solidFill>
                  <a:srgbClr val="0000B4"/>
                </a:solidFill>
                <a:ea typeface="Dotum" pitchFamily="34" charset="-127"/>
              </a:rPr>
              <a:t> i++ </a:t>
            </a:r>
            <a:r>
              <a:rPr lang="zh-CN" altLang="zh-CN" sz="2400" b="1" dirty="0">
                <a:solidFill>
                  <a:srgbClr val="0000B4"/>
                </a:solidFill>
                <a:latin typeface="Times New Roman" pitchFamily="18" charset="0"/>
                <a:ea typeface="Dotum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461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build="p" bldLvl="2" autoUpdateAnimBg="0"/>
      <p:bldP spid="29696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6964" y="52388"/>
            <a:ext cx="7793037" cy="711200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12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判断整数</a:t>
            </a:r>
            <a:r>
              <a:rPr lang="zh-CN" altLang="en-US" sz="9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zh-CN" sz="2800" dirty="0">
                <a:solidFill>
                  <a:schemeClr val="tx1"/>
                </a:solidFill>
                <a:latin typeface="Arial" pitchFamily="34" charset="0"/>
                <a:ea typeface="黑体" pitchFamily="49" charset="-122"/>
              </a:rPr>
              <a:t>m</a:t>
            </a:r>
            <a:r>
              <a:rPr lang="zh-CN" altLang="zh-CN" sz="900" dirty="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是否素数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6801" y="1162050"/>
            <a:ext cx="8151813" cy="5461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/>
              <a:t>#include </a:t>
            </a:r>
            <a:r>
              <a:rPr lang="zh-CN" altLang="zh-CN" sz="2400"/>
              <a:t>&lt;</a:t>
            </a:r>
            <a:r>
              <a:rPr lang="zh-CN" altLang="zh-CN" sz="2400" b="1"/>
              <a:t>stdio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 b="1"/>
              <a:t>h</a:t>
            </a:r>
            <a:r>
              <a:rPr lang="zh-CN" altLang="zh-CN" sz="2400"/>
              <a:t>&gt;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#include </a:t>
            </a:r>
            <a:r>
              <a:rPr lang="zh-CN" altLang="zh-CN" sz="2400"/>
              <a:t>&lt;</a:t>
            </a:r>
            <a:r>
              <a:rPr lang="zh-CN" altLang="zh-CN" sz="2400" b="1"/>
              <a:t>math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 b="1"/>
              <a:t>h</a:t>
            </a:r>
            <a:r>
              <a:rPr lang="zh-CN" altLang="zh-CN" sz="2400"/>
              <a:t>&gt;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main</a:t>
            </a:r>
            <a:r>
              <a:rPr lang="zh-CN" altLang="zh-CN" sz="2400" b="1">
                <a:latin typeface="Times New Roman" pitchFamily="18" charset="0"/>
              </a:rPr>
              <a:t>( )</a:t>
            </a:r>
            <a:r>
              <a:rPr lang="zh-CN" altLang="zh-CN" sz="2400" b="1"/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/>
              <a:t>{  int  k</a:t>
            </a:r>
            <a:r>
              <a:rPr lang="zh-CN" altLang="zh-CN" sz="2400" b="1">
                <a:latin typeface="Times New Roman" pitchFamily="18" charset="0"/>
              </a:rPr>
              <a:t>,</a:t>
            </a:r>
            <a:r>
              <a:rPr lang="zh-CN" altLang="zh-CN" sz="2400" b="1"/>
              <a:t> i </a:t>
            </a:r>
            <a:r>
              <a:rPr lang="zh-CN" altLang="zh-CN" sz="2400" b="1">
                <a:latin typeface="Times New Roman" pitchFamily="18" charset="0"/>
              </a:rPr>
              <a:t>, </a:t>
            </a:r>
            <a:r>
              <a:rPr lang="zh-CN" altLang="zh-CN" sz="2400" b="1"/>
              <a:t>m </a:t>
            </a:r>
            <a:r>
              <a:rPr lang="zh-CN" altLang="zh-CN" sz="2400" b="1">
                <a:latin typeface="Times New Roman" pitchFamily="18" charset="0"/>
              </a:rPr>
              <a:t>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/>
              <a:t>    scanf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%d</a:t>
            </a:r>
            <a:r>
              <a:rPr lang="zh-CN" altLang="zh-CN" sz="2400" b="1">
                <a:latin typeface="Times New Roman" pitchFamily="18" charset="0"/>
              </a:rPr>
              <a:t>”,</a:t>
            </a:r>
            <a:r>
              <a:rPr lang="zh-CN" altLang="zh-CN" sz="2400" b="1"/>
              <a:t> </a:t>
            </a:r>
            <a:r>
              <a:rPr lang="zh-CN" altLang="zh-CN" sz="2400"/>
              <a:t>&amp;</a:t>
            </a:r>
            <a:r>
              <a:rPr lang="zh-CN" altLang="zh-CN" sz="2400" b="1"/>
              <a:t>m </a:t>
            </a:r>
            <a:r>
              <a:rPr lang="zh-CN" altLang="zh-CN" sz="2400" b="1">
                <a:latin typeface="Times New Roman" pitchFamily="18" charset="0"/>
              </a:rPr>
              <a:t>);</a:t>
            </a:r>
            <a:r>
              <a:rPr lang="zh-CN" altLang="zh-CN" sz="2400" b="1"/>
              <a:t>    k=sqrt</a:t>
            </a:r>
            <a:r>
              <a:rPr lang="zh-CN" altLang="zh-CN" sz="2400" b="1">
                <a:latin typeface="Times New Roman" pitchFamily="18" charset="0"/>
              </a:rPr>
              <a:t>( </a:t>
            </a:r>
            <a:r>
              <a:rPr lang="zh-CN" altLang="zh-CN" sz="2400" b="1"/>
              <a:t>m 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/>
              <a:t>    </a:t>
            </a:r>
            <a:r>
              <a:rPr lang="zh-CN" altLang="zh-CN" sz="2400" b="1">
                <a:solidFill>
                  <a:srgbClr val="CC0000"/>
                </a:solidFill>
              </a:rPr>
              <a:t>for 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( </a:t>
            </a:r>
            <a:r>
              <a:rPr lang="zh-CN" altLang="zh-CN" sz="2400" b="1">
                <a:solidFill>
                  <a:srgbClr val="CC0000"/>
                </a:solidFill>
              </a:rPr>
              <a:t>i=2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  </a:t>
            </a:r>
            <a:r>
              <a:rPr lang="zh-CN" altLang="zh-CN" sz="2400" b="1">
                <a:solidFill>
                  <a:srgbClr val="CC0000"/>
                </a:solidFill>
              </a:rPr>
              <a:t>i</a:t>
            </a:r>
            <a:r>
              <a:rPr lang="zh-CN" altLang="zh-CN" sz="2400">
                <a:solidFill>
                  <a:srgbClr val="CC0000"/>
                </a:solidFill>
              </a:rPr>
              <a:t>&lt;</a:t>
            </a:r>
            <a:r>
              <a:rPr lang="zh-CN" altLang="zh-CN" sz="2400" b="1">
                <a:solidFill>
                  <a:srgbClr val="CC0000"/>
                </a:solidFill>
              </a:rPr>
              <a:t>=k</a:t>
            </a:r>
            <a:r>
              <a:rPr lang="zh-CN" altLang="zh-CN" sz="2400" b="1">
                <a:latin typeface="Times New Roman" pitchFamily="18" charset="0"/>
              </a:rPr>
              <a:t>;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  </a:t>
            </a:r>
            <a:r>
              <a:rPr lang="zh-CN" altLang="zh-CN" sz="2400" b="1">
                <a:solidFill>
                  <a:srgbClr val="CC0000"/>
                </a:solidFill>
              </a:rPr>
              <a:t>i++ 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)   </a:t>
            </a:r>
            <a:r>
              <a:rPr lang="zh-CN" altLang="zh-CN" sz="2000" b="1">
                <a:latin typeface="Arial" pitchFamily="34" charset="0"/>
              </a:rPr>
              <a:t>//</a:t>
            </a:r>
            <a:r>
              <a:rPr lang="zh-CN" altLang="en-US" sz="2000" b="1">
                <a:latin typeface="Arial" pitchFamily="34" charset="0"/>
              </a:rPr>
              <a:t>控制变量</a:t>
            </a:r>
            <a:r>
              <a:rPr lang="zh-CN" altLang="zh-CN" sz="2000" b="1">
                <a:latin typeface="Arial" pitchFamily="34" charset="0"/>
              </a:rPr>
              <a:t>i</a:t>
            </a:r>
            <a:r>
              <a:rPr lang="zh-CN" altLang="en-US" sz="2000" b="1">
                <a:latin typeface="Arial" pitchFamily="34" charset="0"/>
              </a:rPr>
              <a:t>初值为</a:t>
            </a:r>
            <a:r>
              <a:rPr lang="zh-CN" altLang="zh-CN" sz="2000" b="1">
                <a:latin typeface="Arial" pitchFamily="34" charset="0"/>
              </a:rPr>
              <a:t>2</a:t>
            </a:r>
            <a:r>
              <a:rPr lang="zh-CN" altLang="zh-CN" sz="2000" b="1">
                <a:latin typeface="Times New Roman" pitchFamily="18" charset="0"/>
              </a:rPr>
              <a:t>,</a:t>
            </a:r>
            <a:r>
              <a:rPr lang="zh-CN" altLang="zh-CN" sz="2000" b="1">
                <a:latin typeface="Arial" pitchFamily="34" charset="0"/>
              </a:rPr>
              <a:t> </a:t>
            </a:r>
            <a:r>
              <a:rPr lang="zh-CN" altLang="en-US" sz="2000" b="1">
                <a:latin typeface="Arial" pitchFamily="34" charset="0"/>
              </a:rPr>
              <a:t>终值为</a:t>
            </a:r>
            <a:r>
              <a:rPr lang="zh-CN" altLang="zh-CN" sz="2000" b="1">
                <a:latin typeface="Arial" pitchFamily="34" charset="0"/>
              </a:rPr>
              <a:t>k</a:t>
            </a:r>
            <a:endParaRPr lang="zh-CN" altLang="zh-CN" sz="2000" b="1">
              <a:solidFill>
                <a:srgbClr val="CC0000"/>
              </a:solidFill>
              <a:latin typeface="Arial" pitchFamily="34" charset="0"/>
            </a:endParaRP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>
                <a:solidFill>
                  <a:srgbClr val="CC0000"/>
                </a:solidFill>
              </a:rPr>
              <a:t>         if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 ( </a:t>
            </a:r>
            <a:r>
              <a:rPr lang="zh-CN" altLang="zh-CN" sz="2400" b="1">
                <a:solidFill>
                  <a:srgbClr val="CC0000"/>
                </a:solidFill>
              </a:rPr>
              <a:t>m%i==0 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)</a:t>
            </a:r>
            <a:r>
              <a:rPr lang="zh-CN" altLang="zh-CN" sz="2400" b="1">
                <a:solidFill>
                  <a:srgbClr val="CC0000"/>
                </a:solidFill>
              </a:rPr>
              <a:t> break</a:t>
            </a:r>
            <a:r>
              <a:rPr lang="zh-CN" altLang="zh-CN" sz="2400" b="1">
                <a:solidFill>
                  <a:srgbClr val="CC0000"/>
                </a:solidFill>
                <a:latin typeface="Times New Roman" pitchFamily="18" charset="0"/>
              </a:rPr>
              <a:t>;  </a:t>
            </a:r>
            <a:r>
              <a:rPr lang="zh-CN" altLang="zh-CN" sz="2000" b="1">
                <a:latin typeface="Arial" pitchFamily="34" charset="0"/>
              </a:rPr>
              <a:t>//</a:t>
            </a:r>
            <a:r>
              <a:rPr lang="zh-CN" altLang="en-US" sz="2000" b="1">
                <a:latin typeface="Arial" pitchFamily="34" charset="0"/>
              </a:rPr>
              <a:t>条件成立</a:t>
            </a:r>
            <a:r>
              <a:rPr lang="zh-CN" altLang="zh-CN" sz="2000" b="1">
                <a:latin typeface="Times New Roman" pitchFamily="18" charset="0"/>
              </a:rPr>
              <a:t>,</a:t>
            </a:r>
            <a:r>
              <a:rPr lang="zh-CN" altLang="zh-CN" sz="2000" b="1">
                <a:latin typeface="Arial" pitchFamily="34" charset="0"/>
              </a:rPr>
              <a:t> m</a:t>
            </a:r>
            <a:r>
              <a:rPr lang="zh-CN" altLang="en-US" sz="2000" b="1">
                <a:latin typeface="Arial" pitchFamily="34" charset="0"/>
              </a:rPr>
              <a:t>为合数并退出循环</a:t>
            </a:r>
            <a:endParaRPr lang="zh-CN" altLang="en-US" sz="2400" b="1">
              <a:solidFill>
                <a:srgbClr val="CC0000"/>
              </a:solidFill>
              <a:latin typeface="Times New Roman" pitchFamily="18" charset="0"/>
            </a:endParaRP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b="1"/>
              <a:t>    </a:t>
            </a:r>
            <a:r>
              <a:rPr lang="zh-CN" altLang="zh-CN" sz="2400" b="1"/>
              <a:t>if </a:t>
            </a:r>
            <a:r>
              <a:rPr lang="zh-CN" altLang="zh-CN" sz="2400" b="1">
                <a:latin typeface="Times New Roman" pitchFamily="18" charset="0"/>
              </a:rPr>
              <a:t>(</a:t>
            </a:r>
            <a:r>
              <a:rPr lang="zh-CN" altLang="zh-CN" sz="2400" b="1"/>
              <a:t>i</a:t>
            </a:r>
            <a:r>
              <a:rPr lang="zh-CN" altLang="zh-CN" sz="2400"/>
              <a:t>&gt;</a:t>
            </a:r>
            <a:r>
              <a:rPr lang="zh-CN" altLang="zh-CN" sz="2400" b="1"/>
              <a:t>k</a:t>
            </a:r>
            <a:r>
              <a:rPr lang="zh-CN" altLang="zh-CN" sz="2400" b="1">
                <a:latin typeface="Times New Roman" pitchFamily="18" charset="0"/>
              </a:rPr>
              <a:t>)</a:t>
            </a:r>
            <a:r>
              <a:rPr lang="zh-CN" altLang="zh-CN" sz="2400" b="1"/>
              <a:t> 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%d is a prime number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”,</a:t>
            </a:r>
            <a:r>
              <a:rPr lang="zh-CN" altLang="zh-CN" sz="2400" b="1"/>
              <a:t> m </a:t>
            </a:r>
            <a:r>
              <a:rPr lang="zh-CN" altLang="zh-CN" sz="2400" b="1">
                <a:latin typeface="Times New Roman" pitchFamily="18" charset="0"/>
              </a:rPr>
              <a:t>) 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/>
              <a:t>    else  printf</a:t>
            </a:r>
            <a:r>
              <a:rPr lang="zh-CN" altLang="zh-CN" sz="2400" b="1">
                <a:latin typeface="Times New Roman" pitchFamily="18" charset="0"/>
              </a:rPr>
              <a:t>(“</a:t>
            </a:r>
            <a:r>
              <a:rPr lang="zh-CN" altLang="zh-CN" sz="2400" b="1"/>
              <a:t>%d is not a prime number</a:t>
            </a:r>
            <a:r>
              <a:rPr lang="zh-CN" altLang="zh-CN" sz="2400" b="1">
                <a:latin typeface="Times New Roman" pitchFamily="18" charset="0"/>
              </a:rPr>
              <a:t>.</a:t>
            </a:r>
            <a:r>
              <a:rPr lang="zh-CN" altLang="zh-CN" sz="2400"/>
              <a:t>\</a:t>
            </a:r>
            <a:r>
              <a:rPr lang="zh-CN" altLang="zh-CN" sz="2400" b="1"/>
              <a:t>n</a:t>
            </a:r>
            <a:r>
              <a:rPr lang="zh-CN" altLang="zh-CN" sz="2400" b="1">
                <a:latin typeface="Times New Roman" pitchFamily="18" charset="0"/>
              </a:rPr>
              <a:t>”,</a:t>
            </a:r>
            <a:r>
              <a:rPr lang="zh-CN" altLang="zh-CN" sz="2400" b="1"/>
              <a:t> m </a:t>
            </a:r>
            <a:r>
              <a:rPr lang="zh-CN" altLang="zh-CN" sz="2400" b="1">
                <a:latin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2752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328864" y="106364"/>
            <a:ext cx="7793037" cy="636587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12 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找出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100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en-US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zh-CN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00</a:t>
            </a: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间的全部素数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950" y="1150938"/>
            <a:ext cx="8066088" cy="5256212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zh-CN" sz="2400" b="1" dirty="0"/>
              <a:t>#include 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stdio</a:t>
            </a:r>
            <a:r>
              <a:rPr lang="zh-CN" altLang="zh-CN" sz="2400" b="1" dirty="0">
                <a:latin typeface="Times New Roman" pitchFamily="18" charset="0"/>
              </a:rPr>
              <a:t>.</a:t>
            </a:r>
            <a:r>
              <a:rPr lang="zh-CN" altLang="zh-CN" sz="2400" b="1" dirty="0"/>
              <a:t>h</a:t>
            </a:r>
            <a:r>
              <a:rPr lang="zh-CN" altLang="zh-CN" sz="2400" dirty="0"/>
              <a:t>&gt;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/>
              <a:t>#include </a:t>
            </a:r>
            <a:r>
              <a:rPr lang="zh-CN" altLang="zh-CN" sz="2400" dirty="0"/>
              <a:t>&lt;</a:t>
            </a:r>
            <a:r>
              <a:rPr lang="zh-CN" altLang="zh-CN" sz="2400" b="1" dirty="0"/>
              <a:t>math</a:t>
            </a:r>
            <a:r>
              <a:rPr lang="zh-CN" altLang="zh-CN" sz="2400" b="1" dirty="0">
                <a:latin typeface="Times New Roman" pitchFamily="18" charset="0"/>
              </a:rPr>
              <a:t>.</a:t>
            </a:r>
            <a:r>
              <a:rPr lang="zh-CN" altLang="zh-CN" sz="2400" b="1" dirty="0"/>
              <a:t>h</a:t>
            </a:r>
            <a:r>
              <a:rPr lang="zh-CN" altLang="zh-CN" sz="2400" dirty="0"/>
              <a:t>&gt;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/>
              <a:t>main</a:t>
            </a:r>
            <a:r>
              <a:rPr lang="zh-CN" altLang="zh-CN" sz="2400" b="1" dirty="0">
                <a:latin typeface="Times New Roman" pitchFamily="18" charset="0"/>
              </a:rPr>
              <a:t>( )</a:t>
            </a:r>
            <a:r>
              <a:rPr lang="zh-CN" altLang="zh-CN" sz="2400" b="1" dirty="0"/>
              <a:t> 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/>
              <a:t>{  int  m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k</a:t>
            </a:r>
            <a:r>
              <a:rPr lang="zh-CN" altLang="zh-CN" sz="2400" b="1" dirty="0">
                <a:latin typeface="Times New Roman" pitchFamily="18" charset="0"/>
              </a:rPr>
              <a:t>,</a:t>
            </a:r>
            <a:r>
              <a:rPr lang="zh-CN" altLang="zh-CN" sz="2400" b="1" dirty="0"/>
              <a:t> i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/>
              <a:t>    </a:t>
            </a:r>
            <a:r>
              <a:rPr lang="zh-CN" altLang="zh-CN" sz="2400" b="1" dirty="0">
                <a:solidFill>
                  <a:srgbClr val="0000A2"/>
                </a:solidFill>
              </a:rPr>
              <a:t>for </a:t>
            </a:r>
            <a:r>
              <a:rPr lang="zh-CN" altLang="zh-CN" sz="2400" b="1" dirty="0">
                <a:solidFill>
                  <a:srgbClr val="0000A2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0000A2"/>
                </a:solidFill>
              </a:rPr>
              <a:t>m=</a:t>
            </a:r>
            <a:r>
              <a:rPr lang="en-US" altLang="zh-CN" sz="2400" b="1" dirty="0">
                <a:solidFill>
                  <a:srgbClr val="0000A2"/>
                </a:solidFill>
              </a:rPr>
              <a:t>100</a:t>
            </a:r>
            <a:r>
              <a:rPr lang="zh-CN" altLang="zh-CN" sz="2400" b="1" dirty="0">
                <a:solidFill>
                  <a:srgbClr val="0000A2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A2"/>
                </a:solidFill>
              </a:rPr>
              <a:t> m</a:t>
            </a:r>
            <a:r>
              <a:rPr lang="zh-CN" altLang="zh-CN" sz="2400" dirty="0">
                <a:solidFill>
                  <a:srgbClr val="0000A2"/>
                </a:solidFill>
              </a:rPr>
              <a:t>&lt;</a:t>
            </a:r>
            <a:r>
              <a:rPr lang="zh-CN" altLang="zh-CN" sz="2400" b="1" dirty="0">
                <a:solidFill>
                  <a:srgbClr val="0000A2"/>
                </a:solidFill>
              </a:rPr>
              <a:t>=</a:t>
            </a:r>
            <a:r>
              <a:rPr lang="en-US" altLang="zh-CN" sz="2400" b="1" dirty="0">
                <a:solidFill>
                  <a:srgbClr val="0000A2"/>
                </a:solidFill>
              </a:rPr>
              <a:t>2</a:t>
            </a:r>
            <a:r>
              <a:rPr lang="zh-CN" altLang="zh-CN" sz="2400" b="1" dirty="0">
                <a:solidFill>
                  <a:srgbClr val="0000A2"/>
                </a:solidFill>
              </a:rPr>
              <a:t>00</a:t>
            </a:r>
            <a:r>
              <a:rPr lang="zh-CN" altLang="zh-CN" sz="2400" b="1" dirty="0">
                <a:solidFill>
                  <a:srgbClr val="0000A2"/>
                </a:solidFill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0000A2"/>
                </a:solidFill>
              </a:rPr>
              <a:t> m++</a:t>
            </a:r>
            <a:r>
              <a:rPr lang="zh-CN" altLang="zh-CN" sz="2400" b="1" dirty="0">
                <a:solidFill>
                  <a:srgbClr val="0000A2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latin typeface="Times New Roman" pitchFamily="18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400" b="1" dirty="0"/>
              <a:t>   </a:t>
            </a:r>
            <a:r>
              <a:rPr lang="zh-CN" altLang="zh-CN" sz="2400" b="1" dirty="0">
                <a:solidFill>
                  <a:srgbClr val="0000A2"/>
                </a:solidFill>
              </a:rPr>
              <a:t>{</a:t>
            </a:r>
            <a:r>
              <a:rPr lang="zh-CN" altLang="zh-CN" sz="2400" b="1" dirty="0"/>
              <a:t>  k=sqrt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/>
              <a:t>m 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/>
              <a:t>       </a:t>
            </a:r>
            <a:r>
              <a:rPr lang="zh-CN" altLang="zh-CN" sz="2400" b="1" dirty="0">
                <a:solidFill>
                  <a:srgbClr val="CC0000"/>
                </a:solidFill>
              </a:rPr>
              <a:t>for </a:t>
            </a:r>
            <a:r>
              <a:rPr lang="zh-CN" altLang="zh-CN" sz="2400" b="1" dirty="0">
                <a:solidFill>
                  <a:srgbClr val="CC0000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CC0000"/>
                </a:solidFill>
              </a:rPr>
              <a:t> i=2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CC0000"/>
                </a:solidFill>
              </a:rPr>
              <a:t> i</a:t>
            </a:r>
            <a:r>
              <a:rPr lang="zh-CN" altLang="zh-CN" sz="2400" dirty="0">
                <a:solidFill>
                  <a:srgbClr val="CC0000"/>
                </a:solidFill>
              </a:rPr>
              <a:t>&lt;</a:t>
            </a:r>
            <a:r>
              <a:rPr lang="zh-CN" altLang="zh-CN" sz="2400" b="1" dirty="0">
                <a:solidFill>
                  <a:srgbClr val="CC0000"/>
                </a:solidFill>
              </a:rPr>
              <a:t>=k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>
                <a:solidFill>
                  <a:srgbClr val="CC0000"/>
                </a:solidFill>
              </a:rPr>
              <a:t> i++ </a:t>
            </a:r>
            <a:r>
              <a:rPr lang="zh-CN" altLang="zh-CN" sz="2400" b="1" dirty="0">
                <a:solidFill>
                  <a:srgbClr val="CC0000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115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CC0000"/>
                </a:solidFill>
              </a:rPr>
              <a:t>            if </a:t>
            </a:r>
            <a:r>
              <a:rPr lang="zh-CN" altLang="zh-CN" sz="2400" b="1" dirty="0">
                <a:solidFill>
                  <a:srgbClr val="CC0000"/>
                </a:solidFill>
                <a:latin typeface="Times New Roman" pitchFamily="18" charset="0"/>
              </a:rPr>
              <a:t>( </a:t>
            </a:r>
            <a:r>
              <a:rPr lang="zh-CN" altLang="zh-CN" sz="2400" b="1" dirty="0">
                <a:solidFill>
                  <a:srgbClr val="CC0000"/>
                </a:solidFill>
              </a:rPr>
              <a:t>m%i==0</a:t>
            </a:r>
            <a:r>
              <a:rPr lang="zh-CN" altLang="zh-CN" sz="2400" b="1" dirty="0">
                <a:solidFill>
                  <a:srgbClr val="CC0000"/>
                </a:solidFill>
                <a:latin typeface="Times New Roman" pitchFamily="18" charset="0"/>
              </a:rPr>
              <a:t>)</a:t>
            </a:r>
            <a:r>
              <a:rPr lang="zh-CN" altLang="zh-CN" sz="2400" b="1" dirty="0">
                <a:solidFill>
                  <a:srgbClr val="CC0000"/>
                </a:solidFill>
              </a:rPr>
              <a:t> break</a:t>
            </a:r>
            <a:r>
              <a:rPr lang="zh-CN" altLang="zh-CN" sz="2400" b="1" dirty="0">
                <a:solidFill>
                  <a:srgbClr val="CC0000"/>
                </a:solidFill>
                <a:latin typeface="Times New Roman" pitchFamily="18" charset="0"/>
              </a:rPr>
              <a:t>;</a:t>
            </a:r>
          </a:p>
          <a:p>
            <a:pPr>
              <a:lnSpc>
                <a:spcPct val="115000"/>
              </a:lnSpc>
              <a:buFont typeface="Wingdings" pitchFamily="2" charset="2"/>
              <a:buNone/>
            </a:pPr>
            <a:r>
              <a:rPr lang="zh-CN" altLang="zh-CN" sz="2400" b="1" dirty="0"/>
              <a:t>       if 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i</a:t>
            </a:r>
            <a:r>
              <a:rPr lang="zh-CN" altLang="zh-CN" sz="2400" dirty="0"/>
              <a:t>&gt;</a:t>
            </a:r>
            <a:r>
              <a:rPr lang="zh-CN" altLang="zh-CN" sz="2400" b="1" dirty="0"/>
              <a:t>k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  <a:r>
              <a:rPr lang="zh-CN" altLang="zh-CN" sz="2400" b="1" dirty="0"/>
              <a:t> 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/>
              <a:t>%3d</a:t>
            </a:r>
            <a:r>
              <a:rPr lang="zh-CN" altLang="zh-CN" sz="2400" b="1" dirty="0">
                <a:latin typeface="Times New Roman" pitchFamily="18" charset="0"/>
              </a:rPr>
              <a:t>”,</a:t>
            </a:r>
            <a:r>
              <a:rPr lang="zh-CN" altLang="zh-CN" sz="2400" b="1" dirty="0"/>
              <a:t> m </a:t>
            </a:r>
            <a:r>
              <a:rPr lang="zh-CN" altLang="zh-CN" sz="2400" b="1" dirty="0">
                <a:latin typeface="Times New Roman" pitchFamily="18" charset="0"/>
              </a:rPr>
              <a:t>);</a:t>
            </a:r>
          </a:p>
          <a:p>
            <a:pPr>
              <a:lnSpc>
                <a:spcPct val="11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sz="2400" b="1" dirty="0"/>
              <a:t>    </a:t>
            </a:r>
            <a:r>
              <a:rPr lang="zh-CN" altLang="zh-CN" sz="2400" b="1" dirty="0">
                <a:solidFill>
                  <a:srgbClr val="0000A2"/>
                </a:solidFill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/>
              <a:t>}</a:t>
            </a:r>
            <a:endParaRPr lang="zh-CN" altLang="zh-CN" sz="2400" dirty="0"/>
          </a:p>
        </p:txBody>
      </p:sp>
      <p:sp>
        <p:nvSpPr>
          <p:cNvPr id="300036" name="Rectangle 4"/>
          <p:cNvSpPr>
            <a:spLocks noChangeArrowheads="1"/>
          </p:cNvSpPr>
          <p:nvPr/>
        </p:nvSpPr>
        <p:spPr bwMode="auto">
          <a:xfrm>
            <a:off x="2986088" y="4879975"/>
            <a:ext cx="6462712" cy="8763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if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&gt;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k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{ printf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%3d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”,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m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  s++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B4"/>
                </a:solidFill>
                <a:ea typeface="Dotum" pitchFamily="34" charset="-127"/>
              </a:rPr>
              <a:t>              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if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</a:t>
            </a:r>
            <a:r>
              <a:rPr lang="zh-CN" altLang="zh-CN" sz="2400" b="1">
                <a:solidFill>
                  <a:srgbClr val="0000B4"/>
                </a:solidFill>
                <a:latin typeface="Times New Roman" pitchFamily="18" charset="0"/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s%</a:t>
            </a:r>
            <a:r>
              <a:rPr lang="zh-CN" altLang="zh-CN" sz="2400" b="1">
                <a:solidFill>
                  <a:srgbClr val="000000"/>
                </a:solidFill>
                <a:latin typeface="Arial" pitchFamily="34" charset="0"/>
                <a:ea typeface="Dotum" pitchFamily="34" charset="-127"/>
              </a:rPr>
              <a:t>10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==0</a:t>
            </a:r>
            <a:r>
              <a:rPr lang="zh-CN" altLang="zh-CN" sz="2400" b="1">
                <a:solidFill>
                  <a:srgbClr val="0000B4"/>
                </a:solidFill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) 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printf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(“</a:t>
            </a:r>
            <a:r>
              <a:rPr lang="zh-CN" altLang="zh-CN" sz="2400">
                <a:solidFill>
                  <a:srgbClr val="000000"/>
                </a:solidFill>
                <a:ea typeface="Dotum" pitchFamily="34" charset="-127"/>
              </a:rPr>
              <a:t>\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n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”);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 }</a:t>
            </a:r>
          </a:p>
        </p:txBody>
      </p:sp>
      <p:sp>
        <p:nvSpPr>
          <p:cNvPr id="300037" name="Rectangle 5"/>
          <p:cNvSpPr>
            <a:spLocks noChangeArrowheads="1"/>
          </p:cNvSpPr>
          <p:nvPr/>
        </p:nvSpPr>
        <p:spPr bwMode="auto">
          <a:xfrm>
            <a:off x="4368801" y="2519363"/>
            <a:ext cx="10080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 </a:t>
            </a:r>
            <a:r>
              <a:rPr lang="zh-CN" altLang="zh-CN" sz="2400" b="1">
                <a:solidFill>
                  <a:srgbClr val="0000B4"/>
                </a:solidFill>
                <a:ea typeface="Dotum" pitchFamily="34" charset="-127"/>
              </a:rPr>
              <a:t>s=0</a:t>
            </a:r>
            <a:r>
              <a:rPr lang="zh-CN" altLang="zh-CN" sz="2400" b="1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400" b="1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6900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build="p" autoUpdateAnimBg="0"/>
      <p:bldP spid="300036" grpId="0" build="p" animBg="1" autoUpdateAnimBg="0"/>
      <p:bldP spid="300037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5"/>
          <p:cNvSpPr txBox="1">
            <a:spLocks noChangeArrowheads="1"/>
          </p:cNvSpPr>
          <p:nvPr/>
        </p:nvSpPr>
        <p:spPr bwMode="auto">
          <a:xfrm>
            <a:off x="2233614" y="1416053"/>
            <a:ext cx="769620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893" tIns="44447" rIns="88893" bIns="4444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700" b="1"/>
              <a:t>从初值出发，归纳出新值与旧值间的关系，利用循环来完成迭代，每次循环时都从旧值的基础上递推出新值，并由新值代替旧值。</a:t>
            </a:r>
          </a:p>
        </p:txBody>
      </p:sp>
      <p:sp>
        <p:nvSpPr>
          <p:cNvPr id="187398" name="Rectangle 6"/>
          <p:cNvSpPr>
            <a:spLocks noChangeArrowheads="1"/>
          </p:cNvSpPr>
          <p:nvPr/>
        </p:nvSpPr>
        <p:spPr bwMode="auto">
          <a:xfrm>
            <a:off x="2454277" y="2851151"/>
            <a:ext cx="6624637" cy="3785652"/>
          </a:xfrm>
          <a:prstGeom prst="rect">
            <a:avLst/>
          </a:prstGeom>
          <a:noFill/>
          <a:ln w="38100" cmpd="dbl">
            <a:solidFill>
              <a:srgbClr val="CC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893" tIns="44447" rIns="88893" bIns="44447">
            <a:spAutoFit/>
          </a:bodyPr>
          <a:lstStyle/>
          <a:p>
            <a:pPr>
              <a:defRPr/>
            </a:pPr>
            <a:r>
              <a:rPr lang="zh-CN" altLang="en-US" sz="4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zh-CN" altLang="en-US" sz="43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猴子吃桃子问题。小猴有桃若干，每天吃掉现有数的一半多一个，到第</a:t>
            </a:r>
            <a:r>
              <a:rPr lang="en-US" altLang="zh-CN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7</a:t>
            </a: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天要吃时只剩下一个了，问小猴从第一天到第七天，每天桃子多少个？</a:t>
            </a:r>
          </a:p>
          <a:p>
            <a:pPr>
              <a:defRPr/>
            </a:pP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设第</a:t>
            </a:r>
            <a:r>
              <a:rPr lang="en-US" altLang="zh-CN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天的桃子为</a:t>
            </a:r>
            <a:r>
              <a:rPr lang="en-US" altLang="zh-CN" sz="2700" b="1" dirty="0" err="1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700" b="1" baseline="-25000" dirty="0" err="1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，它是前一天的桃子数的一半少</a:t>
            </a:r>
            <a:r>
              <a:rPr lang="en-US" altLang="zh-CN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个，</a:t>
            </a:r>
          </a:p>
          <a:p>
            <a:pPr>
              <a:defRPr/>
            </a:pPr>
            <a:endParaRPr lang="en-US" altLang="zh-CN" sz="2700" b="1" dirty="0">
              <a:solidFill>
                <a:srgbClr val="3366FF"/>
              </a:solidFill>
              <a:latin typeface="Times New Roman" pitchFamily="18" charset="0"/>
              <a:ea typeface="华文新魏" pitchFamily="2" charset="-122"/>
            </a:endParaRPr>
          </a:p>
          <a:p>
            <a:pPr>
              <a:defRPr/>
            </a:pPr>
            <a:r>
              <a:rPr lang="zh-CN" altLang="en-US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递推公式 </a:t>
            </a:r>
            <a:r>
              <a:rPr lang="en-US" altLang="zh-CN" sz="2700" b="1" dirty="0">
                <a:solidFill>
                  <a:srgbClr val="3366FF"/>
                </a:solidFill>
                <a:latin typeface="Times New Roman" pitchFamily="18" charset="0"/>
                <a:ea typeface="华文新魏" pitchFamily="2" charset="-122"/>
              </a:rPr>
              <a:t>:</a:t>
            </a:r>
            <a:r>
              <a:rPr lang="en-US" altLang="zh-CN" sz="27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700" b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=x</a:t>
            </a:r>
            <a:r>
              <a:rPr lang="en-US" altLang="zh-CN" sz="27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n-1</a:t>
            </a:r>
            <a:r>
              <a:rPr lang="en-US" altLang="zh-CN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/2-1  </a:t>
            </a:r>
            <a:r>
              <a:rPr lang="zh-CN" altLang="en-US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 x</a:t>
            </a:r>
            <a:r>
              <a:rPr lang="en-US" altLang="zh-CN" sz="27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n-1</a:t>
            </a:r>
            <a:r>
              <a:rPr lang="en-US" altLang="zh-CN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=(x</a:t>
            </a:r>
            <a:r>
              <a:rPr lang="en-US" altLang="zh-CN" sz="27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新魏" pitchFamily="2" charset="-122"/>
              </a:rPr>
              <a:t>+1)×2 </a:t>
            </a:r>
            <a:endParaRPr lang="zh-CN" altLang="en-US" sz="27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499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递推法</a:t>
            </a:r>
            <a:r>
              <a:rPr lang="en-US" altLang="zh-CN" dirty="0"/>
              <a:t>(</a:t>
            </a:r>
            <a:r>
              <a:rPr lang="zh-CN" altLang="en-US" dirty="0"/>
              <a:t>迭代法</a:t>
            </a:r>
            <a:r>
              <a:rPr lang="en-US" altLang="zh-CN" dirty="0"/>
              <a:t>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88813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3902" y="908720"/>
            <a:ext cx="8228211" cy="177933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sz="3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3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lang="zh-CN" altLang="en-US" sz="3100" b="1" dirty="0">
                <a:latin typeface="楷体" panose="02010609060101010101" pitchFamily="49" charset="-122"/>
                <a:ea typeface="楷体" panose="02010609060101010101" pitchFamily="49" charset="-122"/>
              </a:rPr>
              <a:t>已知数列成 </a:t>
            </a:r>
            <a:r>
              <a:rPr lang="en-US" altLang="zh-CN" sz="3100" b="1" dirty="0">
                <a:latin typeface="楷体" panose="02010609060101010101" pitchFamily="49" charset="-122"/>
                <a:ea typeface="楷体" panose="02010609060101010101" pitchFamily="49" charset="-122"/>
              </a:rPr>
              <a:t>1,1,2,3,5,8,13,21,34,…</a:t>
            </a:r>
            <a:r>
              <a:rPr lang="zh-CN" altLang="en-US" sz="3100" b="1" dirty="0">
                <a:latin typeface="楷体" panose="02010609060101010101" pitchFamily="49" charset="-122"/>
                <a:ea typeface="楷体" panose="02010609060101010101" pitchFamily="49" charset="-122"/>
              </a:rPr>
              <a:t>。编一程序求该数列的第</a:t>
            </a:r>
            <a:r>
              <a:rPr lang="en-US" altLang="zh-CN" sz="3100" b="1" dirty="0"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zh-CN" altLang="en-US" sz="3100" b="1" dirty="0">
                <a:latin typeface="楷体" panose="02010609060101010101" pitchFamily="49" charset="-122"/>
                <a:ea typeface="楷体" panose="02010609060101010101" pitchFamily="49" charset="-122"/>
              </a:rPr>
              <a:t>项。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86019" name="Rectangle 4"/>
          <p:cNvSpPr>
            <a:spLocks noChangeArrowheads="1"/>
          </p:cNvSpPr>
          <p:nvPr/>
        </p:nvSpPr>
        <p:spPr bwMode="auto">
          <a:xfrm>
            <a:off x="2495600" y="2852936"/>
            <a:ext cx="7560840" cy="2005600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8884" tIns="44443" rIns="88884" bIns="44443">
            <a:spAutoFit/>
          </a:bodyPr>
          <a:lstStyle/>
          <a:p>
            <a:pPr marL="333350" indent="-333350">
              <a:lnSpc>
                <a:spcPct val="140000"/>
              </a:lnSpc>
            </a:pP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　思路：设该数列的当前项为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</a:p>
          <a:p>
            <a:pPr marL="333350" indent="-333350">
              <a:lnSpc>
                <a:spcPct val="140000"/>
              </a:lnSpc>
            </a:pP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的前两项分别为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f1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f2,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则当前项</a:t>
            </a:r>
            <a:r>
              <a:rPr lang="en-US" altLang="zh-CN" sz="3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f=f1+f2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3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33350" indent="-333350">
              <a:lnSpc>
                <a:spcPct val="140000"/>
              </a:lnSpc>
            </a:pP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于是可在一开始置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f1=1,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置</a:t>
            </a:r>
            <a:r>
              <a:rPr lang="en-US" altLang="zh-CN" sz="3100" dirty="0">
                <a:latin typeface="楷体" panose="02010609060101010101" pitchFamily="49" charset="-122"/>
                <a:ea typeface="楷体" panose="02010609060101010101" pitchFamily="49" charset="-122"/>
              </a:rPr>
              <a:t>f2=1</a:t>
            </a:r>
            <a:r>
              <a:rPr lang="zh-CN" altLang="en-US" sz="3100" dirty="0">
                <a:latin typeface="楷体" panose="02010609060101010101" pitchFamily="49" charset="-122"/>
                <a:ea typeface="楷体" panose="02010609060101010101" pitchFamily="49" charset="-122"/>
              </a:rPr>
              <a:t> 。 </a:t>
            </a:r>
          </a:p>
        </p:txBody>
      </p:sp>
    </p:spTree>
    <p:extLst>
      <p:ext uri="{BB962C8B-B14F-4D97-AF65-F5344CB8AC3E}">
        <p14:creationId xmlns:p14="http://schemas.microsoft.com/office/powerpoint/2010/main" val="348746108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4F96257-7931-4FF3-8DEB-12201235275A}"/>
              </a:ext>
            </a:extLst>
          </p:cNvPr>
          <p:cNvSpPr txBox="1"/>
          <p:nvPr/>
        </p:nvSpPr>
        <p:spPr>
          <a:xfrm>
            <a:off x="1631504" y="404664"/>
            <a:ext cx="9505056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i,f1=1,f2=1,f;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for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(i=3;i&lt;=30;i++)//</a:t>
            </a:r>
            <a:r>
              <a:rPr lang="zh-CN" altLang="en-US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从第</a:t>
            </a:r>
            <a:r>
              <a:rPr lang="en-US" altLang="zh-CN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项求到第</a:t>
            </a:r>
            <a:r>
              <a:rPr lang="en-US" altLang="zh-CN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</a:t>
            </a:r>
            <a:r>
              <a:rPr lang="zh-CN" altLang="en-US" sz="320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</a:t>
            </a:r>
            <a:endParaRPr lang="en-US" altLang="zh-CN" sz="320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{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f=f1+f2;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f1=f2;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f2=f;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}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printf(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"%d\n"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,f);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3C7DC9-7A7D-481C-995E-3FB740045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33056"/>
            <a:ext cx="561250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695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6018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59496" y="908720"/>
                <a:ext cx="9361040" cy="1779331"/>
              </a:xfrm>
            </p:spPr>
            <p:txBody>
              <a:bodyPr/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【</a:t>
                </a:r>
                <a:r>
                  <a:rPr lang="zh-CN" altLang="en-US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</a:t>
                </a:r>
                <a:r>
                  <a:rPr lang="en-US" altLang="zh-CN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】</a:t>
                </a:r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用迭代法求</a:t>
                </a:r>
                <a14:m>
                  <m:oMath xmlns:m="http://schemas.openxmlformats.org/officeDocument/2006/math">
                    <m:r>
                      <a:rPr lang="zh-CN" altLang="en-US" sz="2800" b="1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zh-CN" altLang="zh-CN" sz="2800" b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zh-CN" altLang="zh-CN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g>
                      <m:e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rad>
                  </m:oMath>
                </a14:m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。迭代公式为：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zh-CN" altLang="zh-CN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zh-CN" sz="2800" b="1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zh-CN" altLang="zh-CN" sz="2800" b="1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num>
                      <m:den>
                        <m:r>
                          <a:rPr lang="zh-CN" altLang="en-US" sz="2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zh-CN" altLang="zh-CN" sz="2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2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endParaRPr lang="zh-CN" altLang="zh-CN" sz="28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迭代到|x</a:t>
                </a:r>
                <a:r>
                  <a:rPr lang="zh-CN" altLang="zh-CN" sz="2800" b="1" kern="100" baseline="-250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i+1</a:t>
                </a:r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-x</a:t>
                </a:r>
                <a:r>
                  <a:rPr lang="zh-CN" altLang="zh-CN" sz="2800" b="1" kern="100" baseline="-250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|&lt;10</a:t>
                </a:r>
                <a:r>
                  <a:rPr lang="zh-CN" altLang="zh-CN" sz="2800" b="1" kern="100" baseline="300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为止 ，x</a:t>
                </a:r>
                <a:r>
                  <a:rPr lang="zh-CN" altLang="zh-CN" sz="2800" b="1" kern="100" baseline="-250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i+1</a:t>
                </a:r>
                <a:r>
                  <a:rPr lang="zh-CN" altLang="zh-CN" sz="2800" b="1" kern="10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为方程的近似解。</a:t>
                </a:r>
                <a:endParaRPr lang="zh-CN" altLang="zh-CN" sz="2800" kern="10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buFontTx/>
                  <a:buNone/>
                </a:pPr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601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59496" y="908720"/>
                <a:ext cx="9361040" cy="1779331"/>
              </a:xfrm>
              <a:blipFill>
                <a:blip r:embed="rId2"/>
                <a:stretch>
                  <a:fillRect l="-1694" t="-5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19938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CAAABAF-FCEC-4089-A728-C5E119D091B4}"/>
              </a:ext>
            </a:extLst>
          </p:cNvPr>
          <p:cNvSpPr txBox="1"/>
          <p:nvPr/>
        </p:nvSpPr>
        <p:spPr>
          <a:xfrm>
            <a:off x="1631504" y="188640"/>
            <a:ext cx="8424936" cy="69865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&lt;math.h&gt;</a:t>
            </a:r>
            <a:endParaRPr lang="en-US" altLang="zh-CN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double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x1,x2,a;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"a="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scanf(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"%lf"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,&amp;a);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x1=a;</a:t>
            </a:r>
            <a:r>
              <a:rPr lang="pt-BR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x2=x1/2+a/(2*x1);</a:t>
            </a:r>
          </a:p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while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(fabs(x1-x2)&gt;=1e-5)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{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x1=x2;</a:t>
            </a:r>
          </a:p>
          <a:p>
            <a:r>
              <a:rPr lang="pt-BR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x2=x1/2+a/(2*x1);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}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"%f\n"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,x1);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endParaRPr lang="zh-CN" altLang="en-US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43548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15184" y="1052736"/>
            <a:ext cx="7315200" cy="14258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09600" indent="-609600" algn="just">
              <a:spcBef>
                <a:spcPct val="75000"/>
              </a:spcBef>
            </a:pPr>
            <a:r>
              <a:rPr lang="zh-CN" altLang="zh-CN" sz="2400" b="1" dirty="0"/>
              <a:t>在</a:t>
            </a:r>
            <a:r>
              <a:rPr lang="zh-CN" altLang="zh-CN" sz="2400" b="1" dirty="0">
                <a:latin typeface="Times New Roman" pitchFamily="18" charset="0"/>
              </a:rPr>
              <a:t>if</a:t>
            </a:r>
            <a:r>
              <a:rPr lang="zh-CN" altLang="zh-CN" sz="2400" b="1" dirty="0"/>
              <a:t>语句中的 </a:t>
            </a:r>
            <a:r>
              <a:rPr lang="zh-CN" altLang="zh-CN" sz="2400" b="1" dirty="0">
                <a:latin typeface="Times New Roman" pitchFamily="18" charset="0"/>
              </a:rPr>
              <a:t>!</a:t>
            </a:r>
            <a:r>
              <a:rPr lang="zh-CN" altLang="zh-CN" sz="2400" b="1" dirty="0"/>
              <a:t>a等价于 </a:t>
            </a:r>
            <a:r>
              <a:rPr lang="zh-CN" altLang="zh-CN" sz="2400" b="1" u="sng" dirty="0"/>
              <a:t>        </a:t>
            </a:r>
            <a:r>
              <a:rPr lang="zh-CN" altLang="zh-CN" sz="2400" b="1" dirty="0"/>
              <a:t> 。</a:t>
            </a:r>
          </a:p>
          <a:p>
            <a:pPr marL="609600" indent="-609600" algn="just">
              <a:spcBef>
                <a:spcPct val="30000"/>
              </a:spcBef>
            </a:pPr>
            <a:r>
              <a:rPr lang="zh-CN" altLang="zh-CN" sz="2400" b="1" dirty="0">
                <a:latin typeface="Arial" pitchFamily="34" charset="0"/>
              </a:rPr>
              <a:t>int</a:t>
            </a:r>
            <a:r>
              <a:rPr lang="zh-CN" altLang="zh-CN" sz="2400" b="1" dirty="0"/>
              <a:t>  a 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 </a:t>
            </a:r>
            <a:r>
              <a:rPr lang="zh-CN" altLang="zh-CN" sz="2400" b="1" dirty="0">
                <a:latin typeface="Arial" pitchFamily="34" charset="0"/>
              </a:rPr>
              <a:t>scanf</a:t>
            </a:r>
            <a:r>
              <a:rPr lang="zh-CN" altLang="zh-CN" sz="2400" b="1" dirty="0">
                <a:latin typeface="Times New Roman" pitchFamily="18" charset="0"/>
              </a:rPr>
              <a:t>(”</a:t>
            </a:r>
            <a:r>
              <a:rPr lang="zh-CN" altLang="zh-CN" sz="2400" b="1" dirty="0"/>
              <a:t>%</a:t>
            </a:r>
            <a:r>
              <a:rPr lang="zh-CN" altLang="zh-CN" sz="2400" b="1" dirty="0">
                <a:latin typeface="Arial" pitchFamily="34" charset="0"/>
              </a:rPr>
              <a:t>d</a:t>
            </a:r>
            <a:r>
              <a:rPr lang="zh-CN" altLang="zh-CN" sz="2400" b="1" dirty="0">
                <a:latin typeface="Times New Roman" pitchFamily="18" charset="0"/>
              </a:rPr>
              <a:t>”, </a:t>
            </a:r>
            <a:r>
              <a:rPr lang="zh-CN" altLang="zh-CN" sz="2400" dirty="0"/>
              <a:t>&amp;</a:t>
            </a:r>
            <a:r>
              <a:rPr lang="zh-CN" altLang="zh-CN" sz="2400" b="1" dirty="0">
                <a:latin typeface="Arial" pitchFamily="34" charset="0"/>
              </a:rPr>
              <a:t>a</a:t>
            </a:r>
            <a:r>
              <a:rPr lang="zh-CN" altLang="zh-CN" sz="2400" b="1" dirty="0">
                <a:latin typeface="Times New Roman" pitchFamily="18" charset="0"/>
              </a:rPr>
              <a:t>) ;</a:t>
            </a:r>
          </a:p>
          <a:p>
            <a:pPr marL="609600" indent="-609600" algn="just">
              <a:lnSpc>
                <a:spcPct val="110000"/>
              </a:lnSpc>
            </a:pPr>
            <a:r>
              <a:rPr lang="zh-CN" altLang="zh-CN" sz="2400" b="1" dirty="0">
                <a:latin typeface="Arial" pitchFamily="34" charset="0"/>
              </a:rPr>
              <a:t>if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solidFill>
                  <a:schemeClr val="hlink"/>
                </a:solidFill>
                <a:latin typeface="Times New Roman" pitchFamily="18" charset="0"/>
              </a:rPr>
              <a:t>!</a:t>
            </a:r>
            <a:r>
              <a:rPr lang="zh-CN" altLang="zh-CN" sz="2400" b="1" dirty="0">
                <a:solidFill>
                  <a:schemeClr val="hlink"/>
                </a:solidFill>
              </a:rPr>
              <a:t>a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Arial" pitchFamily="34" charset="0"/>
              </a:rPr>
              <a:t>printf</a:t>
            </a:r>
            <a:r>
              <a:rPr lang="zh-CN" altLang="zh-CN" sz="2400" b="1" dirty="0">
                <a:latin typeface="Times New Roman" pitchFamily="18" charset="0"/>
              </a:rPr>
              <a:t>(“</a:t>
            </a:r>
            <a:r>
              <a:rPr lang="zh-CN" altLang="zh-CN" sz="2400" b="1" dirty="0">
                <a:latin typeface="Arial" pitchFamily="34" charset="0"/>
              </a:rPr>
              <a:t>continue</a:t>
            </a:r>
            <a:r>
              <a:rPr lang="zh-CN" altLang="zh-CN" sz="2400" b="1" dirty="0">
                <a:latin typeface="Times New Roman" pitchFamily="18" charset="0"/>
              </a:rPr>
              <a:t>”) 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/>
              <a:t>!=</a:t>
            </a:r>
            <a:r>
              <a:rPr lang="zh-CN" altLang="zh-CN" sz="2800" b="1" dirty="0">
                <a:latin typeface="Arial" pitchFamily="34" charset="0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b="1" dirty="0"/>
              <a:t>==</a:t>
            </a:r>
            <a:r>
              <a:rPr lang="zh-CN" altLang="zh-CN" sz="2800" b="1" dirty="0">
                <a:latin typeface="Arial" pitchFamily="34" charset="0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dirty="0"/>
              <a:t>&gt;</a:t>
            </a:r>
            <a:r>
              <a:rPr lang="zh-CN" altLang="zh-CN" sz="2800" b="1" dirty="0">
                <a:latin typeface="Arial" pitchFamily="34" charset="0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 algn="just">
              <a:spcBef>
                <a:spcPct val="45000"/>
              </a:spcBef>
            </a:pPr>
            <a:r>
              <a:rPr lang="zh-CN" altLang="zh-CN" sz="2800" b="1" dirty="0">
                <a:latin typeface="Arial" pitchFamily="34" charset="0"/>
              </a:rPr>
              <a:t>a</a:t>
            </a:r>
            <a:r>
              <a:rPr lang="zh-CN" altLang="zh-CN" sz="2800" dirty="0"/>
              <a:t>&gt;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Arial" pitchFamily="34" charset="0"/>
              </a:rPr>
              <a:t>0</a:t>
            </a:r>
            <a:endParaRPr lang="zh-CN" altLang="zh-CN" sz="2800" b="1" dirty="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1772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351584" y="937688"/>
            <a:ext cx="8145312" cy="35677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#include&lt;stdio.h&gt;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main()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int a=1,b=2;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for(;a&lt;8;a++) </a:t>
            </a:r>
          </a:p>
          <a:p>
            <a:pPr marL="269240"/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{b+=</a:t>
            </a:r>
            <a:r>
              <a:rPr lang="en-US" altLang="zh-CN" sz="28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a;a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+=2;} 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8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("%d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%d\n",</a:t>
            </a:r>
            <a:r>
              <a:rPr lang="en-US" altLang="zh-CN" sz="28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9240"/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程序运行后的输出结果是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412232" y="4556171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032104" y="4509120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412232" y="547399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032104" y="5473993"/>
            <a:ext cx="144705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609600" indent="-609600" algn="just">
              <a:spcBef>
                <a:spcPct val="45000"/>
              </a:spcBef>
            </a:pPr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endParaRPr lang="zh-CN" altLang="zh-CN" sz="2800" b="1" dirty="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97857" y="4620464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317729" y="457341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97857" y="5538286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317729" y="5538286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9742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94" name="Rectangle 10"/>
          <p:cNvSpPr>
            <a:spLocks noChangeArrowheads="1"/>
          </p:cNvSpPr>
          <p:nvPr/>
        </p:nvSpPr>
        <p:spPr bwMode="auto">
          <a:xfrm>
            <a:off x="1670958" y="1371602"/>
            <a:ext cx="8658226" cy="4441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pPr marL="342900" indent="342900">
              <a:lnSpc>
                <a:spcPct val="130000"/>
              </a:lnSpc>
            </a:pPr>
            <a:r>
              <a:rPr lang="zh-CN" altLang="en-US" sz="3600" dirty="0">
                <a:solidFill>
                  <a:prstClr val="black"/>
                </a:solidFill>
              </a:rPr>
              <a:t>累加或连乘实际就是求若干个数之和或积，这些数之间有一定规律可寻</a:t>
            </a:r>
            <a:endParaRPr lang="en-US" altLang="zh-CN" sz="3600" dirty="0">
              <a:solidFill>
                <a:prstClr val="black"/>
              </a:solidFill>
            </a:endParaRPr>
          </a:p>
          <a:p>
            <a:pPr marL="514350" indent="-514350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存放结果要有一个变量</a:t>
            </a: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存放累加结果的变量和计数变量初始值一般应为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值</a:t>
            </a:r>
            <a:endParaRPr lang="en-US" altLang="zh-CN" sz="3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存放连乘积的变量初始值一般为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累加</a:t>
            </a:r>
            <a:r>
              <a:rPr lang="zh-CN" altLang="en-US" dirty="0"/>
              <a:t>、连乘</a:t>
            </a:r>
          </a:p>
        </p:txBody>
      </p:sp>
    </p:spTree>
    <p:extLst>
      <p:ext uri="{BB962C8B-B14F-4D97-AF65-F5344CB8AC3E}">
        <p14:creationId xmlns:p14="http://schemas.microsoft.com/office/powerpoint/2010/main" val="293413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8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94" name="Rectangle 10"/>
          <p:cNvSpPr>
            <a:spLocks noChangeArrowheads="1"/>
          </p:cNvSpPr>
          <p:nvPr/>
        </p:nvSpPr>
        <p:spPr bwMode="auto">
          <a:xfrm>
            <a:off x="1670958" y="1371602"/>
            <a:ext cx="8658226" cy="4441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3600" dirty="0"/>
              <a:t>计算</a:t>
            </a:r>
            <a:r>
              <a:rPr lang="en-US" altLang="zh-CN" sz="3600" dirty="0"/>
              <a:t>100-300</a:t>
            </a:r>
            <a:r>
              <a:rPr lang="zh-CN" altLang="en-US" sz="3600" dirty="0"/>
              <a:t>之间所有的奇数之和。</a:t>
            </a:r>
            <a:endParaRPr lang="en-US" altLang="zh-CN" sz="36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altLang="zh-CN" sz="3600" dirty="0"/>
          </a:p>
          <a:p>
            <a:pPr>
              <a:spcAft>
                <a:spcPts val="1800"/>
              </a:spcAft>
            </a:pPr>
            <a:endParaRPr lang="en-US" altLang="zh-CN" sz="3600" dirty="0"/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3600" dirty="0"/>
              <a:t>打印</a:t>
            </a:r>
            <a:r>
              <a:rPr lang="en-US" altLang="zh-CN" sz="3600" dirty="0"/>
              <a:t>1-100</a:t>
            </a:r>
            <a:r>
              <a:rPr lang="zh-CN" altLang="en-US" sz="3600" dirty="0"/>
              <a:t>能够被</a:t>
            </a:r>
            <a:r>
              <a:rPr lang="en-US" altLang="zh-CN" sz="3600" dirty="0"/>
              <a:t>3</a:t>
            </a:r>
            <a:r>
              <a:rPr lang="zh-CN" altLang="en-US" sz="3600" dirty="0"/>
              <a:t>整除且个位数为</a:t>
            </a:r>
            <a:r>
              <a:rPr lang="en-US" altLang="zh-CN" sz="3600" dirty="0"/>
              <a:t>5</a:t>
            </a:r>
            <a:r>
              <a:rPr lang="zh-CN" altLang="en-US" sz="3600" dirty="0"/>
              <a:t>的数，并统计这些数字的数量。</a:t>
            </a:r>
            <a:endParaRPr lang="en-US" altLang="zh-CN" sz="36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累加</a:t>
            </a:r>
            <a:r>
              <a:rPr lang="zh-CN" altLang="en-US" dirty="0"/>
              <a:t>、连乘</a:t>
            </a:r>
          </a:p>
        </p:txBody>
      </p:sp>
    </p:spTree>
    <p:extLst>
      <p:ext uri="{BB962C8B-B14F-4D97-AF65-F5344CB8AC3E}">
        <p14:creationId xmlns:p14="http://schemas.microsoft.com/office/powerpoint/2010/main" val="149314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8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94" name="Rectangle 10"/>
          <p:cNvSpPr>
            <a:spLocks noChangeArrowheads="1"/>
          </p:cNvSpPr>
          <p:nvPr/>
        </p:nvSpPr>
        <p:spPr bwMode="auto">
          <a:xfrm>
            <a:off x="1670958" y="1371602"/>
            <a:ext cx="8658226" cy="4441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1" tIns="45716" rIns="91431" bIns="45716"/>
          <a:lstStyle/>
          <a:p>
            <a:pPr marL="342900" indent="-342900"/>
            <a:r>
              <a:rPr lang="zh-CN" altLang="en-US" sz="2800" dirty="0">
                <a:solidFill>
                  <a:prstClr val="black"/>
                </a:solidFill>
              </a:rPr>
              <a:t>编程模板：</a:t>
            </a:r>
          </a:p>
          <a:p>
            <a:pPr marL="342900" indent="-342900"/>
            <a:r>
              <a:rPr lang="en-US" altLang="zh-CN" sz="2800" dirty="0">
                <a:solidFill>
                  <a:prstClr val="black"/>
                </a:solidFill>
              </a:rPr>
              <a:t>        s=*****                     //</a:t>
            </a:r>
            <a:r>
              <a:rPr lang="zh-CN" altLang="en-US" sz="2800" dirty="0">
                <a:solidFill>
                  <a:prstClr val="black"/>
                </a:solidFill>
              </a:rPr>
              <a:t>累加器变量初始值</a:t>
            </a:r>
          </a:p>
          <a:p>
            <a:pPr marL="342900" indent="-342900"/>
            <a:r>
              <a:rPr lang="zh-CN" altLang="en-US" sz="2800" dirty="0">
                <a:solidFill>
                  <a:prstClr val="black"/>
                </a:solidFill>
              </a:rPr>
              <a:t>        </a:t>
            </a:r>
            <a:r>
              <a:rPr lang="en-US" altLang="zh-CN" sz="2800" dirty="0">
                <a:solidFill>
                  <a:prstClr val="black"/>
                </a:solidFill>
              </a:rPr>
              <a:t>p=*****                    //</a:t>
            </a:r>
            <a:r>
              <a:rPr lang="zh-CN" altLang="en-US" sz="2800" dirty="0">
                <a:solidFill>
                  <a:prstClr val="black"/>
                </a:solidFill>
              </a:rPr>
              <a:t>累加和的通项式开始值 </a:t>
            </a:r>
          </a:p>
          <a:p>
            <a:pPr marL="342900" indent="-342900"/>
            <a:r>
              <a:rPr lang="zh-CN" altLang="en-US" sz="2800" dirty="0">
                <a:solidFill>
                  <a:prstClr val="black"/>
                </a:solidFill>
              </a:rPr>
              <a:t>        </a:t>
            </a:r>
            <a:r>
              <a:rPr lang="en-US" altLang="zh-CN" sz="2800" dirty="0">
                <a:solidFill>
                  <a:prstClr val="black"/>
                </a:solidFill>
              </a:rPr>
              <a:t>for (;;)     	//</a:t>
            </a:r>
            <a:r>
              <a:rPr lang="zh-CN" altLang="en-US" sz="2800" dirty="0">
                <a:solidFill>
                  <a:prstClr val="black"/>
                </a:solidFill>
              </a:rPr>
              <a:t>循环变量的范围，累加项个数</a:t>
            </a:r>
          </a:p>
          <a:p>
            <a:pPr marL="342900" indent="-342900"/>
            <a:r>
              <a:rPr lang="zh-CN" altLang="en-US" sz="2800" dirty="0">
                <a:solidFill>
                  <a:prstClr val="black"/>
                </a:solidFill>
              </a:rPr>
              <a:t>        </a:t>
            </a:r>
            <a:r>
              <a:rPr lang="en-US" altLang="zh-CN" sz="2800" dirty="0">
                <a:solidFill>
                  <a:prstClr val="black"/>
                </a:solidFill>
              </a:rPr>
              <a:t>{</a:t>
            </a:r>
            <a:r>
              <a:rPr lang="zh-CN" altLang="en-US" sz="2800" dirty="0">
                <a:solidFill>
                  <a:prstClr val="black"/>
                </a:solidFill>
              </a:rPr>
              <a:t>   </a:t>
            </a:r>
            <a:r>
              <a:rPr lang="en-US" altLang="zh-CN" sz="2800" dirty="0">
                <a:solidFill>
                  <a:prstClr val="black"/>
                </a:solidFill>
              </a:rPr>
              <a:t>p=*****        //</a:t>
            </a:r>
            <a:r>
              <a:rPr lang="zh-CN" altLang="en-US" sz="2800" dirty="0">
                <a:solidFill>
                  <a:prstClr val="black"/>
                </a:solidFill>
              </a:rPr>
              <a:t>累加和的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通项式</a:t>
            </a:r>
            <a:r>
              <a:rPr lang="zh-CN" altLang="en-US" sz="2800" dirty="0">
                <a:solidFill>
                  <a:prstClr val="black"/>
                </a:solidFill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递推公式</a:t>
            </a:r>
            <a:r>
              <a:rPr lang="en-US" altLang="zh-CN" sz="2800" dirty="0">
                <a:solidFill>
                  <a:prstClr val="black"/>
                </a:solidFill>
              </a:rPr>
              <a:t>!!</a:t>
            </a:r>
          </a:p>
          <a:p>
            <a:pPr marL="342900" indent="-342900"/>
            <a:r>
              <a:rPr lang="en-US" altLang="zh-CN" sz="2800" dirty="0">
                <a:solidFill>
                  <a:prstClr val="black"/>
                </a:solidFill>
              </a:rPr>
              <a:t>            s=</a:t>
            </a:r>
            <a:r>
              <a:rPr lang="en-US" altLang="zh-CN" sz="2800" dirty="0" err="1">
                <a:solidFill>
                  <a:prstClr val="black"/>
                </a:solidFill>
              </a:rPr>
              <a:t>s+p</a:t>
            </a:r>
            <a:r>
              <a:rPr lang="en-US" altLang="zh-CN" sz="2800" dirty="0">
                <a:solidFill>
                  <a:prstClr val="black"/>
                </a:solidFill>
              </a:rPr>
              <a:t>        //</a:t>
            </a:r>
            <a:r>
              <a:rPr lang="zh-CN" altLang="en-US" sz="2800" dirty="0">
                <a:solidFill>
                  <a:prstClr val="black"/>
                </a:solidFill>
              </a:rPr>
              <a:t>在其基础上累加</a:t>
            </a:r>
          </a:p>
          <a:p>
            <a:pPr marL="342900" indent="-342900"/>
            <a:r>
              <a:rPr lang="en-US" altLang="zh-CN" sz="2800" dirty="0">
                <a:solidFill>
                  <a:prstClr val="black"/>
                </a:solidFill>
              </a:rPr>
              <a:t>         }</a:t>
            </a:r>
          </a:p>
          <a:p>
            <a:pPr marL="342900" indent="-342900"/>
            <a:r>
              <a:rPr lang="en-US" altLang="zh-CN" sz="2800" dirty="0">
                <a:solidFill>
                  <a:prstClr val="black"/>
                </a:solidFill>
              </a:rPr>
              <a:t>        </a:t>
            </a:r>
            <a:r>
              <a:rPr lang="en-US" altLang="zh-CN" sz="2800" dirty="0" err="1">
                <a:solidFill>
                  <a:prstClr val="black"/>
                </a:solidFill>
              </a:rPr>
              <a:t>printf</a:t>
            </a:r>
            <a:r>
              <a:rPr lang="en-US" altLang="zh-CN" sz="2800" dirty="0">
                <a:solidFill>
                  <a:prstClr val="black"/>
                </a:solidFill>
              </a:rPr>
              <a:t>()              //</a:t>
            </a:r>
            <a:r>
              <a:rPr lang="zh-CN" altLang="en-US" sz="2800" dirty="0">
                <a:solidFill>
                  <a:prstClr val="black"/>
                </a:solidFill>
              </a:rPr>
              <a:t>输出结果</a:t>
            </a:r>
          </a:p>
          <a:p>
            <a:pPr marL="342900" indent="-342900"/>
            <a:r>
              <a:rPr lang="zh-CN" altLang="en-US" sz="2800" dirty="0">
                <a:solidFill>
                  <a:prstClr val="black"/>
                </a:solidFill>
              </a:rPr>
              <a:t>        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zh-CN" altLang="en-US" dirty="0"/>
              <a:t>累加、连乘</a:t>
            </a:r>
          </a:p>
        </p:txBody>
      </p:sp>
    </p:spTree>
    <p:extLst>
      <p:ext uri="{BB962C8B-B14F-4D97-AF65-F5344CB8AC3E}">
        <p14:creationId xmlns:p14="http://schemas.microsoft.com/office/powerpoint/2010/main" val="65986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8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331584" y="264373"/>
            <a:ext cx="8300920" cy="49394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b="1" dirty="0"/>
              <a:t>s=1*2+3*4+5*6+……+99*100</a:t>
            </a:r>
            <a:r>
              <a:rPr lang="zh-CN" altLang="en-US" b="1" dirty="0"/>
              <a:t>的值</a:t>
            </a:r>
          </a:p>
        </p:txBody>
      </p:sp>
      <p:sp>
        <p:nvSpPr>
          <p:cNvPr id="1089539" name="Rectangle 3"/>
          <p:cNvSpPr>
            <a:spLocks noChangeArrowheads="1"/>
          </p:cNvSpPr>
          <p:nvPr/>
        </p:nvSpPr>
        <p:spPr bwMode="auto">
          <a:xfrm>
            <a:off x="1631504" y="1126309"/>
            <a:ext cx="8856984" cy="1200321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1" tIns="45716" rIns="91431" bIns="45716">
            <a:spAutoFit/>
          </a:bodyPr>
          <a:lstStyle/>
          <a:p>
            <a:pPr algn="just"/>
            <a:r>
              <a:rPr lang="zh-CN" altLang="zh-CN" sz="2400" kern="100" dirty="0">
                <a:solidFill>
                  <a:srgbClr val="0000FF"/>
                </a:solidFill>
                <a:latin typeface="Times New Roman"/>
                <a:ea typeface="宋体"/>
              </a:rPr>
              <a:t>分析：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循环变量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	i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：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1	2	3	</a:t>
            </a:r>
            <a:r>
              <a:rPr lang="en-US" altLang="zh-CN" sz="2400" b="1" kern="100" dirty="0">
                <a:solidFill>
                  <a:srgbClr val="FF0000"/>
                </a:solidFill>
                <a:latin typeface="宋体"/>
                <a:ea typeface="宋体"/>
              </a:rPr>
              <a:t> ……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50</a:t>
            </a:r>
            <a:endParaRPr lang="zh-CN" altLang="zh-CN" sz="2400" b="1" kern="1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algn="just"/>
            <a:r>
              <a:rPr lang="en-US" altLang="zh-CN" sz="2400" b="1" kern="100">
                <a:solidFill>
                  <a:srgbClr val="FF0000"/>
                </a:solidFill>
                <a:latin typeface="Times New Roman"/>
                <a:ea typeface="宋体"/>
              </a:rPr>
              <a:t>            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当前项值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 	p:1*2	3*4</a:t>
            </a:r>
            <a:r>
              <a:rPr lang="en-US" altLang="zh-CN" sz="2400" b="1" kern="100" dirty="0">
                <a:solidFill>
                  <a:srgbClr val="FF0000"/>
                </a:solidFill>
                <a:latin typeface="宋体"/>
                <a:ea typeface="宋体"/>
              </a:rPr>
              <a:t>	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5*6</a:t>
            </a:r>
            <a:r>
              <a:rPr lang="en-US" altLang="zh-CN" sz="2400" b="1" kern="100" dirty="0">
                <a:solidFill>
                  <a:srgbClr val="FF0000"/>
                </a:solidFill>
                <a:latin typeface="宋体"/>
                <a:ea typeface="宋体"/>
              </a:rPr>
              <a:t>	……	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99*100</a:t>
            </a:r>
            <a:endParaRPr lang="zh-CN" altLang="zh-CN" sz="2400" b="1" kern="1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algn="just"/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         	</a:t>
            </a:r>
            <a:r>
              <a:rPr lang="zh-CN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通项公式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/>
                <a:ea typeface="宋体"/>
              </a:rPr>
              <a:t>  p=(2*i-1)*(2*i)</a:t>
            </a:r>
            <a:endParaRPr lang="zh-CN" altLang="zh-CN" sz="2400" b="1" kern="1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71EFC7-4395-4433-A7A4-E2E38136C358}"/>
              </a:ext>
            </a:extLst>
          </p:cNvPr>
          <p:cNvSpPr txBox="1"/>
          <p:nvPr/>
        </p:nvSpPr>
        <p:spPr>
          <a:xfrm>
            <a:off x="1631504" y="2564904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24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int</a:t>
            </a:r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i,p,s=0;</a:t>
            </a:r>
          </a:p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for</a:t>
            </a:r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(i=1;i&lt;=50;i++)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{</a:t>
            </a:r>
          </a:p>
          <a:p>
            <a:r>
              <a:rPr lang="nn-NO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p=(2*i-1)*(2*i);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s+=p;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}</a:t>
            </a:r>
          </a:p>
          <a:p>
            <a:r>
              <a:rPr lang="pt-BR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printf(</a:t>
            </a:r>
            <a:r>
              <a:rPr lang="pt-BR" altLang="zh-CN" sz="24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"s=%d\n"</a:t>
            </a:r>
            <a:r>
              <a:rPr lang="pt-BR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,s);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endParaRPr lang="zh-CN" altLang="en-US" sz="24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995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8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95600" y="188640"/>
            <a:ext cx="8640960" cy="49394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b="1" dirty="0"/>
              <a:t>s=1*2+3*4+5*6+……+99*100</a:t>
            </a:r>
            <a:r>
              <a:rPr lang="zh-CN" altLang="en-US" b="1" dirty="0"/>
              <a:t>的值</a:t>
            </a:r>
          </a:p>
        </p:txBody>
      </p:sp>
      <p:sp>
        <p:nvSpPr>
          <p:cNvPr id="1089539" name="Rectangle 3"/>
          <p:cNvSpPr>
            <a:spLocks noChangeArrowheads="1"/>
          </p:cNvSpPr>
          <p:nvPr/>
        </p:nvSpPr>
        <p:spPr bwMode="auto">
          <a:xfrm>
            <a:off x="1631504" y="1052736"/>
            <a:ext cx="8856984" cy="1384986"/>
          </a:xfrm>
          <a:prstGeom prst="rect">
            <a:avLst/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1" tIns="45716" rIns="91431" bIns="45716">
            <a:spAutoFit/>
          </a:bodyPr>
          <a:lstStyle/>
          <a:p>
            <a:pPr algn="just"/>
            <a:r>
              <a:rPr lang="zh-CN" altLang="zh-CN" sz="2800" kern="100" dirty="0">
                <a:solidFill>
                  <a:srgbClr val="0000FF"/>
                </a:solidFill>
                <a:latin typeface="Times New Roman"/>
                <a:ea typeface="宋体"/>
              </a:rPr>
              <a:t>分析：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循环变量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	i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：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100">
                <a:solidFill>
                  <a:srgbClr val="FF0000"/>
                </a:solidFill>
                <a:latin typeface="Times New Roman"/>
                <a:ea typeface="宋体"/>
              </a:rPr>
              <a:t>	  3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	5</a:t>
            </a:r>
            <a:r>
              <a:rPr lang="en-US" altLang="zh-CN" sz="2800" b="1" kern="100" dirty="0">
                <a:solidFill>
                  <a:srgbClr val="FF0000"/>
                </a:solidFill>
                <a:latin typeface="宋体"/>
                <a:ea typeface="宋体"/>
              </a:rPr>
              <a:t>     ……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99</a:t>
            </a:r>
            <a:endParaRPr lang="zh-CN" altLang="zh-CN" sz="2800" b="1" kern="1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algn="just"/>
            <a:r>
              <a:rPr lang="en-US" altLang="zh-CN" sz="2800" b="1" kern="100">
                <a:solidFill>
                  <a:srgbClr val="FF0000"/>
                </a:solidFill>
                <a:latin typeface="Times New Roman"/>
                <a:ea typeface="宋体"/>
              </a:rPr>
              <a:t>            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当前项值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 	p:1*2</a:t>
            </a:r>
            <a:r>
              <a:rPr lang="en-US" altLang="zh-CN" sz="2800" b="1" kern="100">
                <a:solidFill>
                  <a:srgbClr val="FF0000"/>
                </a:solidFill>
                <a:latin typeface="Times New Roman"/>
                <a:ea typeface="宋体"/>
              </a:rPr>
              <a:t>	 3*4</a:t>
            </a:r>
            <a:r>
              <a:rPr lang="en-US" altLang="zh-CN" sz="2800" b="1" kern="100" dirty="0">
                <a:solidFill>
                  <a:srgbClr val="FF0000"/>
                </a:solidFill>
                <a:latin typeface="宋体"/>
                <a:ea typeface="宋体"/>
              </a:rPr>
              <a:t>	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5*6</a:t>
            </a:r>
            <a:r>
              <a:rPr lang="en-US" altLang="zh-CN" sz="2800" b="1" kern="100" dirty="0">
                <a:solidFill>
                  <a:srgbClr val="FF0000"/>
                </a:solidFill>
                <a:latin typeface="宋体"/>
                <a:ea typeface="宋体"/>
              </a:rPr>
              <a:t>	……	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99*100</a:t>
            </a:r>
            <a:endParaRPr lang="zh-CN" altLang="zh-CN" sz="2800" b="1" kern="100" dirty="0">
              <a:solidFill>
                <a:srgbClr val="FF0000"/>
              </a:solidFill>
              <a:latin typeface="Times New Roman"/>
              <a:ea typeface="宋体"/>
            </a:endParaRPr>
          </a:p>
          <a:p>
            <a:pPr algn="just"/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         	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通项公式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/>
                <a:ea typeface="宋体"/>
              </a:rPr>
              <a:t>  p=i*(i+1)</a:t>
            </a:r>
            <a:endParaRPr lang="zh-CN" altLang="zh-CN" sz="2800" b="1" kern="10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A9E3B9-180F-421A-A1DA-6F99C7F15125}"/>
              </a:ext>
            </a:extLst>
          </p:cNvPr>
          <p:cNvSpPr txBox="1"/>
          <p:nvPr/>
        </p:nvSpPr>
        <p:spPr>
          <a:xfrm>
            <a:off x="1650277" y="2665943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24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int</a:t>
            </a:r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i,p,s=0;</a:t>
            </a:r>
          </a:p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for</a:t>
            </a:r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(i=1;i&lt;=99;i+=2)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p=i*(i+1);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s+=p;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}</a:t>
            </a:r>
          </a:p>
          <a:p>
            <a:r>
              <a:rPr lang="pt-BR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pt-BR" altLang="zh-CN" sz="24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"s=%d\n"</a:t>
            </a:r>
            <a:r>
              <a:rPr lang="pt-BR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,s);</a:t>
            </a:r>
          </a:p>
          <a:p>
            <a:r>
              <a:rPr lang="en-US" altLang="zh-CN" sz="24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373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8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99858" y="764704"/>
            <a:ext cx="8229600" cy="56695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</a:rPr>
              <a:t>编程：计算</a:t>
            </a:r>
            <a:r>
              <a:rPr lang="en-US" altLang="zh-CN" dirty="0">
                <a:solidFill>
                  <a:schemeClr val="bg1"/>
                </a:solidFill>
              </a:rPr>
              <a:t>π</a:t>
            </a:r>
            <a:r>
              <a:rPr lang="zh-CN" altLang="en-US" dirty="0">
                <a:solidFill>
                  <a:schemeClr val="bg1"/>
                </a:solidFill>
              </a:rPr>
              <a:t>的近似值，</a:t>
            </a:r>
            <a:r>
              <a:rPr lang="en-US" altLang="zh-CN" dirty="0">
                <a:solidFill>
                  <a:schemeClr val="bg1"/>
                </a:solidFill>
              </a:rPr>
              <a:t>π</a:t>
            </a:r>
            <a:r>
              <a:rPr lang="zh-CN" altLang="en-US" dirty="0">
                <a:solidFill>
                  <a:schemeClr val="bg1"/>
                </a:solidFill>
              </a:rPr>
              <a:t>的计算公式为：</a:t>
            </a:r>
            <a:br>
              <a:rPr lang="zh-CN" altLang="en-US" dirty="0"/>
            </a:b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                           </a:t>
            </a:r>
          </a:p>
          <a:p>
            <a:pPr marL="0" indent="0">
              <a:buNone/>
            </a:pPr>
            <a:r>
              <a:rPr lang="zh-CN" altLang="en-US" dirty="0"/>
              <a:t>         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</a:t>
            </a:r>
            <a:r>
              <a:rPr lang="en-US" altLang="zh-CN" dirty="0" err="1"/>
              <a:t>i</a:t>
            </a:r>
            <a:r>
              <a:rPr lang="en-US" altLang="zh-CN" dirty="0"/>
              <a:t>   1        2     3             n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p   </a:t>
            </a:r>
          </a:p>
          <a:p>
            <a:pPr marL="0" indent="0">
              <a:buNone/>
            </a:pPr>
            <a:r>
              <a:rPr lang="zh-CN" altLang="en-US" dirty="0"/>
              <a:t>要求：  </a:t>
            </a:r>
            <a:br>
              <a:rPr lang="zh-CN" altLang="en-US" dirty="0"/>
            </a:br>
            <a:r>
              <a:rPr lang="zh-CN" altLang="en-US" dirty="0"/>
              <a:t> 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n</a:t>
            </a:r>
            <a:r>
              <a:rPr lang="zh-CN" altLang="en-US" dirty="0"/>
              <a:t>值由键盘输入。</a:t>
            </a:r>
            <a:br>
              <a:rPr lang="zh-CN" altLang="en-US" dirty="0"/>
            </a:br>
            <a:r>
              <a:rPr lang="zh-CN" altLang="en-US" dirty="0"/>
              <a:t> （</a:t>
            </a:r>
            <a:r>
              <a:rPr lang="en-US" altLang="zh-CN" dirty="0"/>
              <a:t>2</a:t>
            </a:r>
            <a:r>
              <a:rPr lang="zh-CN" altLang="en-US" dirty="0"/>
              <a:t>）分别输出当</a:t>
            </a:r>
            <a:r>
              <a:rPr lang="en-US" altLang="zh-CN" dirty="0"/>
              <a:t>n </a:t>
            </a:r>
            <a:r>
              <a:rPr lang="zh-CN" altLang="en-US" dirty="0"/>
              <a:t>为</a:t>
            </a:r>
            <a:r>
              <a:rPr lang="en-US" altLang="zh-CN" dirty="0"/>
              <a:t>100</a:t>
            </a:r>
            <a:r>
              <a:rPr lang="zh-CN" altLang="en-US" dirty="0"/>
              <a:t>、</a:t>
            </a:r>
            <a:r>
              <a:rPr lang="en-US" altLang="zh-CN" dirty="0"/>
              <a:t>1000</a:t>
            </a:r>
            <a:r>
              <a:rPr lang="zh-CN" altLang="en-US" dirty="0"/>
              <a:t>、</a:t>
            </a:r>
            <a:r>
              <a:rPr lang="en-US" altLang="zh-CN" dirty="0"/>
              <a:t>10000</a:t>
            </a:r>
            <a:r>
              <a:rPr lang="zh-CN" altLang="en-US" dirty="0"/>
              <a:t>时的计算结果。</a:t>
            </a:r>
            <a:br>
              <a:rPr lang="zh-CN" altLang="en-US" dirty="0"/>
            </a:br>
            <a:r>
              <a:rPr lang="zh-CN" altLang="en-US" dirty="0"/>
              <a:t>             </a:t>
            </a:r>
            <a:br>
              <a:rPr lang="zh-CN" altLang="en-US" dirty="0"/>
            </a:b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16632"/>
            <a:ext cx="8712968" cy="244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8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EEBC67-DBF7-4840-8532-33D8557C9A3A}"/>
              </a:ext>
            </a:extLst>
          </p:cNvPr>
          <p:cNvSpPr txBox="1"/>
          <p:nvPr/>
        </p:nvSpPr>
        <p:spPr>
          <a:xfrm>
            <a:off x="1884876" y="0"/>
            <a:ext cx="7776864" cy="74789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int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i,n;</a:t>
            </a:r>
          </a:p>
          <a:p>
            <a:r>
              <a:rPr lang="en-US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double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pi=2,p;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"n="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scanf(</a:t>
            </a:r>
            <a:r>
              <a:rPr lang="en-US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"%d"</a:t>
            </a:r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,&amp;n);</a:t>
            </a:r>
          </a:p>
          <a:p>
            <a:r>
              <a:rPr lang="nn-NO" altLang="zh-CN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for</a:t>
            </a:r>
            <a:r>
              <a:rPr lang="nn-NO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(i=1;i&lt;=n;i++)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{</a:t>
            </a:r>
          </a:p>
          <a:p>
            <a:r>
              <a:rPr lang="nn-NO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p=4.0*i*i/((2*i-1)*(2*i+1));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pi*=p;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}</a:t>
            </a:r>
          </a:p>
          <a:p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printf(</a:t>
            </a:r>
            <a:r>
              <a:rPr lang="pt-BR" altLang="zh-CN" sz="32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"pi=%f\n"</a:t>
            </a:r>
            <a:r>
              <a:rPr lang="pt-BR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,pi);</a:t>
            </a:r>
          </a:p>
          <a:p>
            <a:r>
              <a:rPr lang="en-US" altLang="zh-CN" sz="32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endParaRPr lang="zh-CN" altLang="en-US" sz="32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 descr="屏幕剪辑">
            <a:extLst>
              <a:ext uri="{FF2B5EF4-FFF2-40B4-BE49-F238E27FC236}">
                <a16:creationId xmlns:a16="http://schemas.microsoft.com/office/drawing/2014/main" id="{ECF8F628-0F31-4EDD-9E45-14AA3969E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308" y="620688"/>
            <a:ext cx="6360140" cy="178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69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编程题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F7F018-F118-49F6-AFF8-1BA44020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1" y="1196975"/>
            <a:ext cx="8881813" cy="4114800"/>
          </a:xfrm>
        </p:spPr>
        <p:txBody>
          <a:bodyPr/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求</a:t>
            </a:r>
            <a:r>
              <a:rPr lang="en-US" altLang="zh-CN" dirty="0"/>
              <a:t>s=1+12+123+…+123…</a:t>
            </a:r>
            <a:r>
              <a:rPr lang="en-US" altLang="zh-CN" dirty="0" err="1"/>
              <a:t>n,n</a:t>
            </a:r>
            <a:r>
              <a:rPr lang="zh-CN" altLang="en-US" dirty="0"/>
              <a:t>值通过键盘输入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i</a:t>
            </a:r>
            <a:r>
              <a:rPr lang="en-US" altLang="zh-CN" dirty="0"/>
              <a:t>   1   2    3     …   n</a:t>
            </a:r>
            <a:br>
              <a:rPr lang="en-US" altLang="zh-CN" dirty="0"/>
            </a:br>
            <a:r>
              <a:rPr lang="zh-CN" altLang="en-US" dirty="0"/>
              <a:t>递推公式：</a:t>
            </a:r>
            <a:r>
              <a:rPr lang="en-US" altLang="zh-CN" dirty="0"/>
              <a:t>p=p*10+i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73975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EEBC67-DBF7-4840-8532-33D8557C9A3A}"/>
              </a:ext>
            </a:extLst>
          </p:cNvPr>
          <p:cNvSpPr txBox="1"/>
          <p:nvPr/>
        </p:nvSpPr>
        <p:spPr>
          <a:xfrm>
            <a:off x="1487488" y="332656"/>
            <a:ext cx="7776864" cy="717119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32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stdio.h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32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main()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/>
            <a:r>
              <a:rPr lang="pt-BR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i,n,p,s=0;</a:t>
            </a:r>
          </a:p>
          <a:p>
            <a:pPr lvl="1"/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scanf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"%</a:t>
            </a:r>
            <a:r>
              <a:rPr lang="en-US" altLang="zh-CN" sz="32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d"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,&amp;n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lvl="1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p=0;</a:t>
            </a:r>
          </a:p>
          <a:p>
            <a:pPr lvl="1"/>
            <a:r>
              <a:rPr lang="nn-NO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nn-NO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(i=1;i&lt;=n;i++)</a:t>
            </a:r>
          </a:p>
          <a:p>
            <a:pPr lvl="1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2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p=p*10+i;</a:t>
            </a:r>
          </a:p>
          <a:p>
            <a:pPr lvl="2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s+=p;</a:t>
            </a:r>
          </a:p>
          <a:p>
            <a:pPr lvl="1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/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"s=%d\n"</a:t>
            </a:r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,p);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sz="4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4413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编程题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F7F018-F118-49F6-AFF8-1BA44020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1" y="1196975"/>
            <a:ext cx="8881813" cy="4114800"/>
          </a:xfrm>
        </p:spPr>
        <p:txBody>
          <a:bodyPr/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/>
              <a:t>求</a:t>
            </a:r>
            <a:r>
              <a:rPr lang="en-US" altLang="zh-CN" sz="2800" dirty="0"/>
              <a:t>s=</a:t>
            </a:r>
            <a:r>
              <a:rPr lang="en-US" altLang="zh-CN" sz="2800" dirty="0" err="1"/>
              <a:t>a+aa+aaa</a:t>
            </a:r>
            <a:r>
              <a:rPr lang="en-US" altLang="zh-CN" sz="2800" dirty="0"/>
              <a:t>+…+</a:t>
            </a:r>
            <a:r>
              <a:rPr lang="en-US" altLang="zh-CN" sz="2800" dirty="0" err="1"/>
              <a:t>aaaaaa</a:t>
            </a:r>
            <a:r>
              <a:rPr lang="en-US" altLang="zh-CN" sz="2800" dirty="0"/>
              <a:t>(n</a:t>
            </a:r>
            <a:r>
              <a:rPr lang="zh-CN" altLang="en-US" sz="2800" dirty="0"/>
              <a:t>个），其中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n</a:t>
            </a:r>
            <a:r>
              <a:rPr lang="zh-CN" altLang="en-US" sz="2800" dirty="0"/>
              <a:t>通过键盘输入</a:t>
            </a:r>
            <a:r>
              <a:rPr lang="en-US" altLang="zh-CN" sz="2800" dirty="0"/>
              <a:t>,</a:t>
            </a:r>
            <a:r>
              <a:rPr lang="zh-CN" altLang="en-US" sz="2800" dirty="0"/>
              <a:t>如</a:t>
            </a:r>
            <a:r>
              <a:rPr lang="en-US" altLang="zh-CN" sz="2800" dirty="0"/>
              <a:t>a=2,n=3,</a:t>
            </a:r>
            <a:r>
              <a:rPr lang="zh-CN" altLang="en-US" sz="2800" dirty="0"/>
              <a:t>则</a:t>
            </a:r>
            <a:r>
              <a:rPr lang="en-US" altLang="zh-CN" sz="2800" dirty="0"/>
              <a:t>s=2+22+222</a:t>
            </a:r>
            <a:br>
              <a:rPr lang="en-US" altLang="zh-CN" sz="2800" dirty="0"/>
            </a:b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  1   2    3     …   n</a:t>
            </a:r>
            <a:br>
              <a:rPr lang="en-US" altLang="zh-CN" sz="2800" dirty="0"/>
            </a:br>
            <a:r>
              <a:rPr lang="zh-CN" altLang="en-US" sz="2800" dirty="0"/>
              <a:t>递推公式：</a:t>
            </a:r>
            <a:r>
              <a:rPr lang="en-US" altLang="zh-CN" sz="2800" dirty="0"/>
              <a:t>p=p*10+a</a:t>
            </a:r>
          </a:p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2399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EEBC67-DBF7-4840-8532-33D8557C9A3A}"/>
              </a:ext>
            </a:extLst>
          </p:cNvPr>
          <p:cNvSpPr txBox="1"/>
          <p:nvPr/>
        </p:nvSpPr>
        <p:spPr>
          <a:xfrm>
            <a:off x="1487488" y="332656"/>
            <a:ext cx="7776864" cy="76020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32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stdio.h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32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main()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/>
            <a:r>
              <a:rPr lang="pt-BR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i,a,n,p,s=0;</a:t>
            </a:r>
          </a:p>
          <a:p>
            <a:pPr lvl="1"/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scanf(</a:t>
            </a:r>
            <a:r>
              <a:rPr lang="pt-BR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"%a%d"</a:t>
            </a:r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,&amp;a,&amp;n);</a:t>
            </a:r>
          </a:p>
          <a:p>
            <a:pPr lvl="1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p=0;</a:t>
            </a:r>
          </a:p>
          <a:p>
            <a:pPr lvl="1"/>
            <a:r>
              <a:rPr lang="nn-NO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nn-NO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(i=1;i&lt;=n;i++)</a:t>
            </a:r>
          </a:p>
          <a:p>
            <a:pPr lvl="1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3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p=p*10+a;</a:t>
            </a:r>
          </a:p>
          <a:p>
            <a:pPr lvl="3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s+=p;</a:t>
            </a:r>
          </a:p>
          <a:p>
            <a:pPr lvl="1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1"/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"s=%d\n"</a:t>
            </a:r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,p);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sz="72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1238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编程题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F7F018-F118-49F6-AFF8-1BA44020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1" y="1196975"/>
            <a:ext cx="8881813" cy="4114800"/>
          </a:xfrm>
        </p:spPr>
        <p:txBody>
          <a:bodyPr/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        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    1       2        3  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p=1   </a:t>
            </a:r>
            <a:r>
              <a:rPr lang="zh-CN" altLang="en-US" sz="2800" dirty="0"/>
              <a:t>递推公式：</a:t>
            </a:r>
            <a:r>
              <a:rPr lang="en-US" altLang="zh-CN" sz="2800" dirty="0"/>
              <a:t>p=p*x/</a:t>
            </a:r>
            <a:r>
              <a:rPr lang="en-US" altLang="zh-CN" sz="2800" dirty="0" err="1"/>
              <a:t>i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要求精度为</a:t>
            </a:r>
            <a:r>
              <a:rPr lang="en-US" altLang="zh-CN" sz="2800" dirty="0"/>
              <a:t>1e-6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C1B0A2E-32BF-400E-B9ED-1871458352F4}"/>
                  </a:ext>
                </a:extLst>
              </p:cNvPr>
              <p:cNvSpPr txBox="1"/>
              <p:nvPr/>
            </p:nvSpPr>
            <p:spPr>
              <a:xfrm>
                <a:off x="1725912" y="1412776"/>
                <a:ext cx="9338639" cy="11115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+…,  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C1B0A2E-32BF-400E-B9ED-187145835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12" y="1412776"/>
                <a:ext cx="9338639" cy="1111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919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EEBC67-DBF7-4840-8532-33D8557C9A3A}"/>
              </a:ext>
            </a:extLst>
          </p:cNvPr>
          <p:cNvSpPr txBox="1"/>
          <p:nvPr/>
        </p:nvSpPr>
        <p:spPr>
          <a:xfrm>
            <a:off x="1487488" y="332656"/>
            <a:ext cx="7776864" cy="61247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28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stdio.h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main()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2"/>
            <a:r>
              <a:rPr lang="fr-FR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double</a:t>
            </a:r>
            <a:r>
              <a:rPr lang="fr-FR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x,ex=0,i=0,p;</a:t>
            </a:r>
          </a:p>
          <a:p>
            <a:pPr lvl="2"/>
            <a:r>
              <a:rPr lang="en-US" altLang="zh-CN" sz="28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scanf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"%</a:t>
            </a:r>
            <a:r>
              <a:rPr lang="en-US" altLang="zh-CN" sz="28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lf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,&amp;x);</a:t>
            </a:r>
          </a:p>
          <a:p>
            <a:pPr lvl="2"/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p=1;   </a:t>
            </a:r>
            <a:r>
              <a:rPr lang="en-US" altLang="zh-CN" sz="2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2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循环之前构造第</a:t>
            </a:r>
            <a:r>
              <a:rPr lang="en-US" altLang="zh-CN" sz="2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项</a:t>
            </a:r>
            <a:endParaRPr lang="en-US" altLang="zh-CN" sz="2800" dirty="0">
              <a:solidFill>
                <a:srgbClr val="00B05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2"/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while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(p&gt;=1e-6)</a:t>
            </a:r>
          </a:p>
          <a:p>
            <a:pPr lvl="2"/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4"/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ex+=p;</a:t>
            </a:r>
          </a:p>
          <a:p>
            <a:pPr lvl="4"/>
            <a:r>
              <a:rPr lang="en-US" altLang="zh-CN" sz="28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++;</a:t>
            </a:r>
          </a:p>
          <a:p>
            <a:pPr lvl="4"/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p=p*x/</a:t>
            </a:r>
            <a:r>
              <a:rPr lang="en-US" altLang="zh-CN" sz="28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2"/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2"/>
            <a:r>
              <a:rPr lang="pt-BR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"ex=%f\n"</a:t>
            </a:r>
            <a:r>
              <a:rPr lang="pt-BR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,ex);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199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9666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编程题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F7F018-F118-49F6-AFF8-1BA44020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51" y="1196975"/>
            <a:ext cx="8881813" cy="4114800"/>
          </a:xfrm>
        </p:spPr>
        <p:txBody>
          <a:bodyPr/>
          <a:lstStyle/>
          <a:p>
            <a:pPr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        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    1       2        3  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p=1   </a:t>
            </a:r>
            <a:r>
              <a:rPr lang="zh-CN" altLang="en-US" sz="2800" dirty="0"/>
              <a:t>递推公式：</a:t>
            </a:r>
            <a:r>
              <a:rPr lang="en-US" altLang="zh-CN" sz="2800" dirty="0"/>
              <a:t>p=p/</a:t>
            </a:r>
            <a:r>
              <a:rPr lang="en-US" altLang="zh-CN" sz="2800" dirty="0" err="1"/>
              <a:t>i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要求精度为</a:t>
            </a:r>
            <a:r>
              <a:rPr lang="en-US" altLang="zh-CN" sz="2800" dirty="0"/>
              <a:t>1e-6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C1B0A2E-32BF-400E-B9ED-1871458352F4}"/>
                  </a:ext>
                </a:extLst>
              </p:cNvPr>
              <p:cNvSpPr txBox="1"/>
              <p:nvPr/>
            </p:nvSpPr>
            <p:spPr>
              <a:xfrm>
                <a:off x="1725912" y="1412776"/>
                <a:ext cx="9338639" cy="1040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60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+…,  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C1B0A2E-32BF-400E-B9ED-187145835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12" y="1412776"/>
                <a:ext cx="9338639" cy="1040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89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编程题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CF7F018-F118-49F6-AFF8-1BA44020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2743200"/>
            <a:ext cx="8881813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double </a:t>
            </a:r>
            <a:r>
              <a:rPr lang="en-US" altLang="zh-CN" sz="2800" dirty="0" err="1"/>
              <a:t>fz</a:t>
            </a:r>
            <a:r>
              <a:rPr lang="en-US" altLang="zh-CN" sz="2800" dirty="0"/>
              <a:t>=2,fm=1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p=</a:t>
            </a:r>
            <a:r>
              <a:rPr lang="en-US" altLang="zh-CN" sz="2800" dirty="0" err="1"/>
              <a:t>fz</a:t>
            </a:r>
            <a:r>
              <a:rPr lang="en-US" altLang="zh-CN" sz="2800" dirty="0"/>
              <a:t>/</a:t>
            </a:r>
            <a:r>
              <a:rPr lang="en-US" altLang="zh-CN" sz="2800" dirty="0" err="1"/>
              <a:t>fm</a:t>
            </a:r>
            <a:r>
              <a:rPr lang="en-US" altLang="zh-CN" sz="2800" dirty="0"/>
              <a:t>;</a:t>
            </a:r>
          </a:p>
          <a:p>
            <a:pPr marL="0" indent="0">
              <a:buNone/>
            </a:pPr>
            <a:r>
              <a:rPr lang="en-US" altLang="zh-CN" sz="2800" dirty="0" err="1"/>
              <a:t>fz</a:t>
            </a:r>
            <a:r>
              <a:rPr lang="en-US" altLang="zh-CN" sz="2800" dirty="0"/>
              <a:t>=</a:t>
            </a:r>
            <a:r>
              <a:rPr lang="en-US" altLang="zh-CN" sz="2800" dirty="0" err="1"/>
              <a:t>fz+fm,fm</a:t>
            </a:r>
            <a:r>
              <a:rPr lang="en-US" altLang="zh-CN" sz="2800" dirty="0"/>
              <a:t>=</a:t>
            </a:r>
            <a:r>
              <a:rPr lang="en-US" altLang="zh-CN" sz="2800" dirty="0" err="1"/>
              <a:t>fz-fm</a:t>
            </a:r>
            <a:r>
              <a:rPr lang="en-US" altLang="zh-CN" sz="2800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160BB3-E18E-4DB0-843F-31D0BFFD0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1412776"/>
            <a:ext cx="10220228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21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EEBC67-DBF7-4840-8532-33D8557C9A3A}"/>
              </a:ext>
            </a:extLst>
          </p:cNvPr>
          <p:cNvSpPr txBox="1"/>
          <p:nvPr/>
        </p:nvSpPr>
        <p:spPr>
          <a:xfrm>
            <a:off x="1487488" y="332656"/>
            <a:ext cx="7776864" cy="82638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32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stdio.h</a:t>
            </a:r>
            <a:r>
              <a:rPr lang="en-US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32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main()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2"/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double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fz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=2,fm=1,p,s=0;</a:t>
            </a:r>
          </a:p>
          <a:p>
            <a:pPr lvl="2"/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2"/>
            <a:r>
              <a:rPr lang="en-US" altLang="zh-CN" sz="32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=1;i&lt;=20;i++)</a:t>
            </a:r>
          </a:p>
          <a:p>
            <a:pPr lvl="2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4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p=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fz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fm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4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s+=p;</a:t>
            </a:r>
          </a:p>
          <a:p>
            <a:pPr lvl="4"/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fz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fz+fm,fm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3200" dirty="0" err="1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fz-fm</a:t>
            </a:r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2"/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lvl="2"/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32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"s=%.2f\n"</a:t>
            </a:r>
            <a:r>
              <a:rPr lang="pt-BR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,s);</a:t>
            </a:r>
          </a:p>
          <a:p>
            <a:r>
              <a:rPr lang="en-US" altLang="zh-CN" sz="32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sz="115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898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ChangeArrowheads="1"/>
          </p:cNvSpPr>
          <p:nvPr/>
        </p:nvSpPr>
        <p:spPr bwMode="auto">
          <a:xfrm>
            <a:off x="2332037" y="-40663"/>
            <a:ext cx="8061325" cy="10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5000"/>
              </a:lnSpc>
              <a:spcBef>
                <a:spcPct val="25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用                   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公式求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π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的近似值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直到最后一项 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&lt;</a:t>
            </a:r>
            <a:r>
              <a:rPr lang="zh-CN" altLang="zh-CN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10</a:t>
            </a:r>
            <a:r>
              <a:rPr lang="zh-CN" altLang="zh-CN" sz="2400" b="1" baseline="300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-6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为止。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            </a:t>
            </a:r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821487"/>
              </p:ext>
            </p:extLst>
          </p:nvPr>
        </p:nvGraphicFramePr>
        <p:xfrm>
          <a:off x="2783632" y="0"/>
          <a:ext cx="29432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r:id="rId4" imgW="1371322" imgH="393846" progId="Equation.3">
                  <p:embed/>
                </p:oleObj>
              </mc:Choice>
              <mc:Fallback>
                <p:oleObj r:id="rId4" imgW="1371322" imgH="393846" progId="Equation.3">
                  <p:embed/>
                  <p:pic>
                    <p:nvPicPr>
                      <p:cNvPr id="267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0"/>
                        <a:ext cx="29432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7270" name="Picture 6" descr="b19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1" y="6248400"/>
            <a:ext cx="182563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7271" name="Rectangle 7"/>
          <p:cNvSpPr>
            <a:spLocks noChangeArrowheads="1"/>
          </p:cNvSpPr>
          <p:nvPr/>
        </p:nvSpPr>
        <p:spPr bwMode="auto">
          <a:xfrm>
            <a:off x="7320136" y="5589240"/>
            <a:ext cx="2449513" cy="576262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tIns="10800" bIns="10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FFFFFF"/>
                </a:solidFill>
                <a:ea typeface="Dotum" pitchFamily="34" charset="-127"/>
              </a:rPr>
              <a:t>π</a:t>
            </a:r>
            <a:r>
              <a:rPr lang="zh-CN" altLang="zh-CN" sz="2000" b="1">
                <a:solidFill>
                  <a:srgbClr val="FFFFFF"/>
                </a:solidFill>
              </a:rPr>
              <a:t>=3</a:t>
            </a:r>
            <a:r>
              <a:rPr lang="zh-CN" altLang="zh-CN" sz="2000" b="1">
                <a:solidFill>
                  <a:srgbClr val="FFFFFF"/>
                </a:solidFill>
                <a:latin typeface="Times New Roman" pitchFamily="18" charset="0"/>
              </a:rPr>
              <a:t>.</a:t>
            </a:r>
            <a:r>
              <a:rPr lang="zh-CN" altLang="zh-CN" sz="2000" b="1">
                <a:solidFill>
                  <a:srgbClr val="FFFFFF"/>
                </a:solidFill>
              </a:rPr>
              <a:t>141594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95D3FC-4B7E-48D2-92DF-2CDC8C8E8F02}"/>
              </a:ext>
            </a:extLst>
          </p:cNvPr>
          <p:cNvSpPr txBox="1"/>
          <p:nvPr/>
        </p:nvSpPr>
        <p:spPr>
          <a:xfrm>
            <a:off x="1839071" y="908720"/>
            <a:ext cx="806132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800" dirty="0" err="1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stdio.h</a:t>
            </a:r>
            <a:r>
              <a:rPr lang="en-US" altLang="zh-CN" sz="28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</a:t>
            </a:r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2800" dirty="0" err="1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math.h</a:t>
            </a:r>
            <a:r>
              <a:rPr lang="en-US" altLang="zh-CN" sz="28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main()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int</a:t>
            </a:r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sign=1;</a:t>
            </a:r>
          </a:p>
          <a:p>
            <a:r>
              <a:rPr lang="fr-FR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double</a:t>
            </a:r>
            <a:r>
              <a:rPr lang="fr-FR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i=1,p=1,pi=0;</a:t>
            </a:r>
          </a:p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while</a:t>
            </a:r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(fabs(p)&gt;=1e-6);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{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pi+=p;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+=2,sign=-sign;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p=sign/</a:t>
            </a:r>
            <a:r>
              <a:rPr lang="en-US" altLang="zh-CN" sz="28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}</a:t>
            </a:r>
          </a:p>
          <a:p>
            <a:r>
              <a:rPr lang="pt-BR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printf(</a:t>
            </a:r>
            <a:r>
              <a:rPr lang="pt-BR" altLang="zh-CN" sz="2800" dirty="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"pi=%f\n"</a:t>
            </a:r>
            <a:r>
              <a:rPr lang="pt-BR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,4*pi);</a:t>
            </a:r>
          </a:p>
          <a:p>
            <a:r>
              <a:rPr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864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1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A59B121-F6F1-4C9E-ABBE-00E5B36225E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319071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设有以下程序段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int x=0,s=0;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while ( !x!= 0 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 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s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+= ++x;</a:t>
            </a:r>
          </a:p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(“% d”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 );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则程序的执行结果是（）。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AE97EE-5A96-47C0-CF2F-04536623E23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93473" y="4307660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E70D40-5F10-929D-FD31-540FE2016B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93473" y="5164910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87F287-1F59-1CA7-4D60-FC1CF433F8A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248128" y="4238149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循环条件有错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A7949F-2E19-ACC0-7DEA-028492288CA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248128" y="5095399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无限次循环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BC2D8D-F5AC-15E5-5FF7-FFA99BF6D3C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126698" y="437195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333673A-5B55-CEC4-C280-00FE6C16E1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381353" y="4302443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9C6A2EB-80C2-9BA2-EFEE-3BAA3937690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154555" y="5159692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5F8DC46-7A61-A155-71E6-7783B86E04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381353" y="5159692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648CB0D-7476-D786-1117-CFFE2B40111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ACC3A27-D7CF-13F9-C1E0-528136FFDD4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9AA592D-4649-334F-7717-149120E34EB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E30FF0BF-4417-5F95-E93B-1012135C40A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9CE5137-2290-864A-254A-80D0D09A2D8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00F207F-4F0C-4AD2-8712-DF6BB2AFB2A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3A064BC-FBB7-D42D-846A-29F2097F3C3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7065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A59B121-F6F1-4C9E-ABBE-00E5B36225E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61728" y="664344"/>
            <a:ext cx="9753600" cy="398367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&lt;stdio.h&gt;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x=0,y=0;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while(x&lt;15) 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	y++,x+=++y;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printf ("%d,%d\n",x,y); </a:t>
            </a:r>
          </a:p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以上程序的执行结果为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AE97EE-5A96-47C0-CF2F-04536623E23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93473" y="4593108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20,7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E70D40-5F10-929D-FD31-540FE2016B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93473" y="5450358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20,8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87F287-1F59-1CA7-4D60-FC1CF433F8A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248128" y="4523597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6,12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A7949F-2E19-ACC0-7DEA-028492288CA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248128" y="5380847"/>
            <a:ext cx="25054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8,20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BC2D8D-F5AC-15E5-5FF7-FFA99BF6D3C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126698" y="465740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333673A-5B55-CEC4-C280-00FE6C16E1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381353" y="458789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9C6A2EB-80C2-9BA2-EFEE-3BAA3937690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154555" y="5445140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5F8DC46-7A61-A155-71E6-7783B86E04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381353" y="5445140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648CB0D-7476-D786-1117-CFFE2B40111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ACC3A27-D7CF-13F9-C1E0-528136FFDD4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9AA592D-4649-334F-7717-149120E34EB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E30FF0BF-4417-5F95-E93B-1012135C40A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9CE5137-2290-864A-254A-80D0D09A2D8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00F207F-4F0C-4AD2-8712-DF6BB2AFB2A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3A064BC-FBB7-D42D-846A-29F2097F3C3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8525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9900"/>
      </a:hlink>
      <a:folHlink>
        <a:srgbClr val="FFCC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17052</TotalTime>
  <Words>4506</Words>
  <Application>Microsoft Office PowerPoint</Application>
  <PresentationFormat>宽屏</PresentationFormat>
  <Paragraphs>571</Paragraphs>
  <Slides>45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4" baseType="lpstr">
      <vt:lpstr>黑体</vt:lpstr>
      <vt:lpstr>华文行楷</vt:lpstr>
      <vt:lpstr>楷体</vt:lpstr>
      <vt:lpstr>楷体_GB2312</vt:lpstr>
      <vt:lpstr>隶书</vt:lpstr>
      <vt:lpstr>宋体</vt:lpstr>
      <vt:lpstr>Microsoft Yahei</vt:lpstr>
      <vt:lpstr>新宋体</vt:lpstr>
      <vt:lpstr>Arial</vt:lpstr>
      <vt:lpstr>Calibri</vt:lpstr>
      <vt:lpstr>Cambria Math</vt:lpstr>
      <vt:lpstr>Tahoma</vt:lpstr>
      <vt:lpstr>Times New Roman</vt:lpstr>
      <vt:lpstr>Wingdings</vt:lpstr>
      <vt:lpstr>Blends</vt:lpstr>
      <vt:lpstr>3_whu8</vt:lpstr>
      <vt:lpstr>Microsoft PowerPoint 97-2003 Slide</vt:lpstr>
      <vt:lpstr>Visio</vt:lpstr>
      <vt:lpstr>Equation.3</vt:lpstr>
      <vt:lpstr>一、break语句</vt:lpstr>
      <vt:lpstr>例:</vt:lpstr>
      <vt:lpstr>二、continue语句</vt:lpstr>
      <vt:lpstr>PowerPoint 演示文稿</vt:lpstr>
      <vt:lpstr>例:  break 与 continue 的区别</vt:lpstr>
      <vt:lpstr>例4.9统计1～20之间不能被3整除的数的个数, 并输出这些数,  要求每行输出十个数。</vt:lpstr>
      <vt:lpstr>例4.10 阅读程序段:</vt:lpstr>
      <vt:lpstr>PowerPoint 演示文稿</vt:lpstr>
      <vt:lpstr>PowerPoint 演示文稿</vt:lpstr>
      <vt:lpstr>几种循环的比较:</vt:lpstr>
      <vt:lpstr>常用算法</vt:lpstr>
      <vt:lpstr>枚举法(穷举法或试凑法) </vt:lpstr>
      <vt:lpstr>枚举法(穷举法或试凑法)</vt:lpstr>
      <vt:lpstr>枚举法(穷举法或试凑法)</vt:lpstr>
      <vt:lpstr>百元买百鸡(100元钱买100只鸡),公鸡每只5元,母鸡每只3元,小鸡1元3只,可买公鸡、母鸡、小鸡各几只,有几种买法。</vt:lpstr>
      <vt:lpstr>爱因斯坦阶梯</vt:lpstr>
      <vt:lpstr>例4.12 判断整数 m 是否素数</vt:lpstr>
      <vt:lpstr>例4.12 判断整数 m 是否素数</vt:lpstr>
      <vt:lpstr>例4.12 找出100-200间的全部素数</vt:lpstr>
      <vt:lpstr>递推法(迭代法)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累加、连乘</vt:lpstr>
      <vt:lpstr>累加、连乘</vt:lpstr>
      <vt:lpstr>7.累加、连乘</vt:lpstr>
      <vt:lpstr>PowerPoint 演示文稿</vt:lpstr>
      <vt:lpstr>PowerPoint 演示文稿</vt:lpstr>
      <vt:lpstr>PowerPoint 演示文稿</vt:lpstr>
      <vt:lpstr>PowerPoint 演示文稿</vt:lpstr>
      <vt:lpstr>编程题</vt:lpstr>
      <vt:lpstr>PowerPoint 演示文稿</vt:lpstr>
      <vt:lpstr>编程题</vt:lpstr>
      <vt:lpstr>PowerPoint 演示文稿</vt:lpstr>
      <vt:lpstr>编程题</vt:lpstr>
      <vt:lpstr>PowerPoint 演示文稿</vt:lpstr>
      <vt:lpstr>编程题</vt:lpstr>
      <vt:lpstr>编程题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wwb</dc:creator>
  <cp:lastModifiedBy>Administrator</cp:lastModifiedBy>
  <cp:revision>72</cp:revision>
  <dcterms:created xsi:type="dcterms:W3CDTF">2020-01-07T05:33:56Z</dcterms:created>
  <dcterms:modified xsi:type="dcterms:W3CDTF">2025-08-09T01:22:38Z</dcterms:modified>
</cp:coreProperties>
</file>