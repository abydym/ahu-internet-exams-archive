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6" r:id="rId3"/>
    <p:sldId id="258" r:id="rId4"/>
    <p:sldId id="663" r:id="rId5"/>
    <p:sldId id="260" r:id="rId6"/>
    <p:sldId id="261" r:id="rId7"/>
    <p:sldId id="262" r:id="rId8"/>
    <p:sldId id="263" r:id="rId9"/>
    <p:sldId id="264" r:id="rId10"/>
    <p:sldId id="689" r:id="rId11"/>
    <p:sldId id="690" r:id="rId12"/>
    <p:sldId id="721" r:id="rId13"/>
    <p:sldId id="691" r:id="rId14"/>
    <p:sldId id="697" r:id="rId15"/>
    <p:sldId id="692" r:id="rId16"/>
    <p:sldId id="701" r:id="rId17"/>
    <p:sldId id="702" r:id="rId18"/>
    <p:sldId id="706" r:id="rId19"/>
    <p:sldId id="703" r:id="rId20"/>
    <p:sldId id="705" r:id="rId21"/>
    <p:sldId id="724" r:id="rId22"/>
    <p:sldId id="708" r:id="rId23"/>
    <p:sldId id="709" r:id="rId24"/>
    <p:sldId id="716" r:id="rId25"/>
    <p:sldId id="722" r:id="rId26"/>
    <p:sldId id="714" r:id="rId27"/>
    <p:sldId id="723" r:id="rId28"/>
    <p:sldId id="710" r:id="rId29"/>
    <p:sldId id="711" r:id="rId30"/>
    <p:sldId id="712" r:id="rId31"/>
    <p:sldId id="713" r:id="rId32"/>
    <p:sldId id="717" r:id="rId33"/>
    <p:sldId id="718" r:id="rId34"/>
    <p:sldId id="719" r:id="rId35"/>
  </p:sldIdLst>
  <p:sldSz cx="12192000" cy="6858000"/>
  <p:notesSz cx="6851650" cy="9747250"/>
  <p:defaultTextStyle>
    <a:defPPr>
      <a:defRPr lang="en-US"/>
    </a:defPPr>
    <a:lvl1pPr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>
          <p15:clr>
            <a:srgbClr val="A4A3A4"/>
          </p15:clr>
        </p15:guide>
        <p15:guide id="2" pos="215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FF5FA"/>
    <a:srgbClr val="99FF33"/>
    <a:srgbClr val="666699"/>
    <a:srgbClr val="0099CC"/>
    <a:srgbClr val="009900"/>
    <a:srgbClr val="008080"/>
    <a:srgbClr val="339933"/>
    <a:srgbClr val="00E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9" autoAdjust="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9608"/>
    </p:cViewPr>
  </p:sorterViewPr>
  <p:notesViewPr>
    <p:cSldViewPr snapToGrid="0">
      <p:cViewPr varScale="1">
        <p:scale>
          <a:sx n="50" d="100"/>
          <a:sy n="50" d="100"/>
        </p:scale>
        <p:origin x="-1908" y="-102"/>
      </p:cViewPr>
      <p:guideLst>
        <p:guide orient="horz" pos="3070"/>
        <p:guide pos="2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fld id="{BC1DA40A-4C94-4B14-AD70-8DD6A368550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102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106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77800" y="730250"/>
            <a:ext cx="6497638" cy="3656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629150"/>
            <a:ext cx="50260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 smtClean="0"/>
            </a:lvl1pPr>
          </a:lstStyle>
          <a:p>
            <a:pPr>
              <a:defRPr/>
            </a:pPr>
            <a:fld id="{17034921-EF81-42E2-853F-2E35C38909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8489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C3515C0-3144-416D-BABE-9EC48B552E94}" type="slidenum">
              <a:rPr lang="zh-CN" altLang="en-US" sz="1200" b="0"/>
              <a:pPr eaLnBrk="1" hangingPunct="1"/>
              <a:t>1</a:t>
            </a:fld>
            <a:endParaRPr lang="en-US" altLang="zh-CN" sz="1200" b="0"/>
          </a:p>
        </p:txBody>
      </p:sp>
      <p:sp>
        <p:nvSpPr>
          <p:cNvPr id="302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302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CB4B4EF2-66EA-4435-9CEA-5B0E2DECB206}" type="slidenum">
              <a:rPr lang="zh-CN" altLang="en-US" sz="1200" b="0"/>
              <a:pPr eaLnBrk="1" hangingPunct="1"/>
              <a:t>7</a:t>
            </a:fld>
            <a:endParaRPr lang="en-US" altLang="zh-CN" sz="1200" b="0"/>
          </a:p>
        </p:txBody>
      </p:sp>
      <p:sp>
        <p:nvSpPr>
          <p:cNvPr id="303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303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887413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defTabSz="887413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87B7D6B-CB2A-4164-B44F-3177ED25112E}" type="slidenum">
              <a:rPr lang="zh-CN" altLang="en-US" sz="1200" b="0"/>
              <a:pPr eaLnBrk="1" hangingPunct="1"/>
              <a:t>18</a:t>
            </a:fld>
            <a:endParaRPr lang="en-US" altLang="zh-CN" sz="1200" b="0"/>
          </a:p>
        </p:txBody>
      </p:sp>
      <p:sp>
        <p:nvSpPr>
          <p:cNvPr id="304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304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83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725247" y="762000"/>
            <a:ext cx="1036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914400" y="3429000"/>
            <a:ext cx="85344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6977CB-81D8-4F5B-A046-330A395621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2946614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92E79-B577-4A9B-911E-4FB1AAC546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164599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kumimoji="0"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5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400" b="0" smtClean="0"/>
            </a:lvl1pPr>
          </a:lstStyle>
          <a:p>
            <a:pPr>
              <a:defRPr/>
            </a:pPr>
            <a:fld id="{B8FBFE90-4FE6-4B23-8C0B-1C093A95D2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5" r:id="rId2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1.tmp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1.tmp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image" Target="../media/image1.tmp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image" Target="../media/image1.tmp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image" Target="../media/image1.tmp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10" Type="http://schemas.openxmlformats.org/officeDocument/2006/relationships/tags" Target="../tags/tag10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>
          <a:xfrm>
            <a:off x="1947863" y="2133600"/>
            <a:ext cx="8420100" cy="1143000"/>
          </a:xfrm>
        </p:spPr>
        <p:txBody>
          <a:bodyPr/>
          <a:lstStyle/>
          <a:p>
            <a:r>
              <a:rPr lang="zh-CN" altLang="en-US" sz="6000" dirty="0"/>
              <a:t>第</a:t>
            </a:r>
            <a:r>
              <a:rPr lang="en-US" altLang="zh-CN" sz="6000" dirty="0"/>
              <a:t>1</a:t>
            </a:r>
            <a:r>
              <a:rPr lang="zh-CN" altLang="en-US" sz="6000" dirty="0"/>
              <a:t>章 </a:t>
            </a:r>
            <a:r>
              <a:rPr lang="en-US" altLang="zh-CN" sz="6000" dirty="0"/>
              <a:t>C</a:t>
            </a:r>
            <a:r>
              <a:rPr lang="zh-CN" altLang="en-US" sz="6000" dirty="0"/>
              <a:t>语言概述</a:t>
            </a:r>
          </a:p>
        </p:txBody>
      </p:sp>
      <p:sp>
        <p:nvSpPr>
          <p:cNvPr id="30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CFB85781-74A6-4A63-AA8E-ADB9CE28C0AF}" type="slidenum">
              <a:rPr kumimoji="0" lang="zh-CN" altLang="en-US" sz="1400" b="0"/>
              <a:pPr eaLnBrk="1" hangingPunct="1"/>
              <a:t>1</a:t>
            </a:fld>
            <a:endParaRPr kumimoji="0" lang="en-US" altLang="zh-CN" sz="1400" b="0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C071EB25-0934-D087-C6E5-098D2F4A77AA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E33215-8C72-4923-80C8-3A7884FB9E95}" type="slidenum">
              <a:rPr kumimoji="0" lang="zh-CN" altLang="en-US" sz="1400" b="0"/>
              <a:pPr eaLnBrk="1" hangingPunct="1"/>
              <a:t>2</a:t>
            </a:fld>
            <a:endParaRPr kumimoji="0" lang="en-US" altLang="zh-CN" sz="1400" b="0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43001" y="1"/>
            <a:ext cx="1698625" cy="519113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>
                <a:solidFill>
                  <a:srgbClr val="0000CC"/>
                </a:solidFill>
                <a:ea typeface="隶书" pitchFamily="49" charset="-122"/>
              </a:rPr>
              <a:t>前  言</a:t>
            </a:r>
            <a:endParaRPr lang="zh-CN" altLang="en-US" sz="3200">
              <a:solidFill>
                <a:srgbClr val="339933"/>
              </a:solidFill>
              <a:ea typeface="隶书" pitchFamily="49" charset="-122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105400" y="533400"/>
            <a:ext cx="24765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前    言</a:t>
            </a:r>
            <a:endParaRPr lang="zh-CN" altLang="en-US" sz="540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>
            <a:off x="4692650" y="2209800"/>
            <a:ext cx="660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216150" y="1371600"/>
            <a:ext cx="371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一、计算机语言</a:t>
            </a:r>
            <a:endParaRPr lang="zh-CN" altLang="en-US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628900" y="2057401"/>
            <a:ext cx="2724150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1、机器语言</a:t>
            </a:r>
          </a:p>
          <a:p>
            <a:pPr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2、汇编语言</a:t>
            </a:r>
          </a:p>
          <a:p>
            <a:pPr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3、高级语言</a:t>
            </a:r>
            <a:endParaRPr lang="zh-CN" altLang="en-US" sz="32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隶书" pitchFamily="49" charset="-122"/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2354263" y="4203700"/>
            <a:ext cx="627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4、高级语言向机器语言的过渡</a:t>
            </a:r>
            <a:endParaRPr lang="zh-CN" altLang="en-US" sz="32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隶书" pitchFamily="49" charset="-122"/>
            </a:endParaRPr>
          </a:p>
        </p:txBody>
      </p:sp>
      <p:grpSp>
        <p:nvGrpSpPr>
          <p:cNvPr id="9246" name="Group 30"/>
          <p:cNvGrpSpPr>
            <a:grpSpLocks/>
          </p:cNvGrpSpPr>
          <p:nvPr/>
        </p:nvGrpSpPr>
        <p:grpSpPr bwMode="auto">
          <a:xfrm>
            <a:off x="2794000" y="5072431"/>
            <a:ext cx="1816100" cy="1219200"/>
            <a:chOff x="960" y="3209"/>
            <a:chExt cx="1056" cy="596"/>
          </a:xfrm>
        </p:grpSpPr>
        <p:sp>
          <p:nvSpPr>
            <p:cNvPr id="5146" name="Rectangle 11"/>
            <p:cNvSpPr>
              <a:spLocks noChangeArrowheads="1"/>
            </p:cNvSpPr>
            <p:nvPr/>
          </p:nvSpPr>
          <p:spPr bwMode="auto">
            <a:xfrm>
              <a:off x="1008" y="3252"/>
              <a:ext cx="960" cy="407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960" y="3209"/>
              <a:ext cx="105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80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高级语言源程序</a:t>
              </a:r>
              <a:endParaRPr lang="zh-CN" altLang="en-US" sz="320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endParaRPr>
            </a:p>
          </p:txBody>
        </p:sp>
      </p:grpSp>
      <p:sp>
        <p:nvSpPr>
          <p:cNvPr id="5130" name="Rectangle 15"/>
          <p:cNvSpPr>
            <a:spLocks noChangeArrowheads="1"/>
          </p:cNvSpPr>
          <p:nvPr/>
        </p:nvSpPr>
        <p:spPr bwMode="auto">
          <a:xfrm>
            <a:off x="6003925" y="2571750"/>
            <a:ext cx="1857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zh-CN" altLang="en-US" sz="3200">
              <a:solidFill>
                <a:srgbClr val="FF9900"/>
              </a:solidFill>
              <a:ea typeface="隶书" pitchFamily="49" charset="-122"/>
            </a:endParaRPr>
          </a:p>
        </p:txBody>
      </p:sp>
      <p:grpSp>
        <p:nvGrpSpPr>
          <p:cNvPr id="9247" name="Group 31"/>
          <p:cNvGrpSpPr>
            <a:grpSpLocks/>
          </p:cNvGrpSpPr>
          <p:nvPr/>
        </p:nvGrpSpPr>
        <p:grpSpPr bwMode="auto">
          <a:xfrm>
            <a:off x="5848350" y="5096258"/>
            <a:ext cx="1898650" cy="1295400"/>
            <a:chOff x="2736" y="3213"/>
            <a:chExt cx="1104" cy="596"/>
          </a:xfrm>
        </p:grpSpPr>
        <p:sp>
          <p:nvSpPr>
            <p:cNvPr id="5144" name="Rectangle 12"/>
            <p:cNvSpPr>
              <a:spLocks noChangeArrowheads="1"/>
            </p:cNvSpPr>
            <p:nvPr/>
          </p:nvSpPr>
          <p:spPr bwMode="auto">
            <a:xfrm>
              <a:off x="2832" y="3252"/>
              <a:ext cx="912" cy="407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2" name="Rectangle 16"/>
            <p:cNvSpPr>
              <a:spLocks noChangeArrowheads="1"/>
            </p:cNvSpPr>
            <p:nvPr/>
          </p:nvSpPr>
          <p:spPr bwMode="auto">
            <a:xfrm>
              <a:off x="2736" y="3213"/>
              <a:ext cx="110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80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机器语言目标程序</a:t>
              </a:r>
            </a:p>
          </p:txBody>
        </p:sp>
      </p:grpSp>
      <p:grpSp>
        <p:nvGrpSpPr>
          <p:cNvPr id="9245" name="Group 29"/>
          <p:cNvGrpSpPr>
            <a:grpSpLocks/>
          </p:cNvGrpSpPr>
          <p:nvPr/>
        </p:nvGrpSpPr>
        <p:grpSpPr bwMode="auto">
          <a:xfrm>
            <a:off x="8820150" y="5124455"/>
            <a:ext cx="1816100" cy="646113"/>
            <a:chOff x="4464" y="3228"/>
            <a:chExt cx="1056" cy="407"/>
          </a:xfrm>
        </p:grpSpPr>
        <p:sp>
          <p:nvSpPr>
            <p:cNvPr id="5142" name="Rectangle 13"/>
            <p:cNvSpPr>
              <a:spLocks noChangeArrowheads="1"/>
            </p:cNvSpPr>
            <p:nvPr/>
          </p:nvSpPr>
          <p:spPr bwMode="auto">
            <a:xfrm>
              <a:off x="4512" y="3228"/>
              <a:ext cx="960" cy="407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4464" y="3264"/>
              <a:ext cx="10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80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计算结果</a:t>
              </a:r>
            </a:p>
          </p:txBody>
        </p:sp>
      </p:grpSp>
      <p:grpSp>
        <p:nvGrpSpPr>
          <p:cNvPr id="9243" name="Group 27"/>
          <p:cNvGrpSpPr>
            <a:grpSpLocks/>
          </p:cNvGrpSpPr>
          <p:nvPr/>
        </p:nvGrpSpPr>
        <p:grpSpPr bwMode="auto">
          <a:xfrm>
            <a:off x="4527550" y="4876801"/>
            <a:ext cx="1485900" cy="1160463"/>
            <a:chOff x="1968" y="3072"/>
            <a:chExt cx="864" cy="731"/>
          </a:xfrm>
        </p:grpSpPr>
        <p:sp>
          <p:nvSpPr>
            <p:cNvPr id="5140" name="Line 18"/>
            <p:cNvSpPr>
              <a:spLocks noChangeShapeType="1"/>
            </p:cNvSpPr>
            <p:nvPr/>
          </p:nvSpPr>
          <p:spPr bwMode="auto">
            <a:xfrm>
              <a:off x="1968" y="3456"/>
              <a:ext cx="86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6" name="Text Box 20"/>
            <p:cNvSpPr txBox="1">
              <a:spLocks noChangeArrowheads="1"/>
            </p:cNvSpPr>
            <p:nvPr/>
          </p:nvSpPr>
          <p:spPr bwMode="auto">
            <a:xfrm>
              <a:off x="2016" y="3072"/>
              <a:ext cx="72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800">
                  <a:solidFill>
                    <a:srgbClr val="CC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编译</a:t>
              </a:r>
            </a:p>
            <a:p>
              <a:pPr algn="ctr">
                <a:defRPr/>
              </a:pPr>
              <a:r>
                <a:rPr lang="zh-CN" altLang="en-US" sz="2800">
                  <a:solidFill>
                    <a:srgbClr val="CC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解释</a:t>
              </a:r>
              <a:endParaRPr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9244" name="Group 28"/>
          <p:cNvGrpSpPr>
            <a:grpSpLocks/>
          </p:cNvGrpSpPr>
          <p:nvPr/>
        </p:nvGrpSpPr>
        <p:grpSpPr bwMode="auto">
          <a:xfrm>
            <a:off x="7581900" y="4876800"/>
            <a:ext cx="1320800" cy="609600"/>
            <a:chOff x="3744" y="3072"/>
            <a:chExt cx="768" cy="384"/>
          </a:xfrm>
        </p:grpSpPr>
        <p:sp>
          <p:nvSpPr>
            <p:cNvPr id="5138" name="Line 19"/>
            <p:cNvSpPr>
              <a:spLocks noChangeShapeType="1"/>
            </p:cNvSpPr>
            <p:nvPr/>
          </p:nvSpPr>
          <p:spPr bwMode="auto">
            <a:xfrm>
              <a:off x="3744" y="3456"/>
              <a:ext cx="7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7" name="Text Box 21"/>
            <p:cNvSpPr txBox="1">
              <a:spLocks noChangeArrowheads="1"/>
            </p:cNvSpPr>
            <p:nvPr/>
          </p:nvSpPr>
          <p:spPr bwMode="auto">
            <a:xfrm>
              <a:off x="3840" y="3072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800">
                  <a:solidFill>
                    <a:srgbClr val="A5002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执行</a:t>
              </a:r>
            </a:p>
          </p:txBody>
        </p:sp>
      </p:grp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5022850" y="2057400"/>
            <a:ext cx="421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——机器指令的集合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5022850" y="2819400"/>
            <a:ext cx="46815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——符号化的机器语言</a:t>
            </a:r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5022850" y="3505200"/>
            <a:ext cx="5118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——通用自然的算法语言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 autoUpdateAnimBg="0"/>
      <p:bldP spid="9226" grpId="0" autoUpdateAnimBg="0"/>
      <p:bldP spid="9238" grpId="0" autoUpdateAnimBg="0"/>
      <p:bldP spid="9240" grpId="0" autoUpdateAnimBg="0"/>
      <p:bldP spid="924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914B9637-BCE5-44FF-8077-3977A221F5C3}" type="slidenum">
              <a:rPr kumimoji="0" lang="zh-CN" altLang="en-US" sz="1400" b="0"/>
              <a:pPr eaLnBrk="1" hangingPunct="1"/>
              <a:t>3</a:t>
            </a:fld>
            <a:endParaRPr kumimoji="0" lang="en-US" altLang="zh-CN" sz="1400" b="0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143001" y="1"/>
            <a:ext cx="1871663" cy="519113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>
                <a:solidFill>
                  <a:srgbClr val="0000CC"/>
                </a:solidFill>
                <a:ea typeface="隶书" pitchFamily="49" charset="-122"/>
              </a:rPr>
              <a:t>前  言</a:t>
            </a:r>
            <a:endParaRPr lang="zh-CN" altLang="en-US" sz="3200" b="0">
              <a:solidFill>
                <a:srgbClr val="0000CC"/>
              </a:solidFill>
              <a:ea typeface="隶书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406525" y="735013"/>
            <a:ext cx="4514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二、程序与程序设计</a:t>
            </a:r>
            <a:endParaRPr lang="zh-CN" altLang="en-US" sz="3200" b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隶书" pitchFamily="49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3167064" y="2470151"/>
            <a:ext cx="74390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——完成某一功能的计算机</a:t>
            </a:r>
          </a:p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指令的有序集合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546350" y="1687514"/>
            <a:ext cx="1816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1、程序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2630488" y="3908425"/>
            <a:ext cx="264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2、程序设计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490914" y="4805364"/>
            <a:ext cx="697388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——设计、编制、调试程序</a:t>
            </a:r>
          </a:p>
          <a:p>
            <a:pPr algn="ctr">
              <a:defRPr/>
            </a:pPr>
            <a:r>
              <a:rPr lang="zh-C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的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过程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utoUpdateAnimBg="0"/>
      <p:bldP spid="11270" grpId="0" autoUpdateAnimBg="0"/>
      <p:bldP spid="11273" grpId="0" autoUpdateAnimBg="0"/>
      <p:bldP spid="1127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F58BE19-A294-4BEF-9765-743F3240872B}" type="slidenum">
              <a:rPr kumimoji="0" lang="zh-CN" altLang="en-US" sz="1400" b="0"/>
              <a:pPr eaLnBrk="1" hangingPunct="1"/>
              <a:t>4</a:t>
            </a:fld>
            <a:endParaRPr kumimoji="0" lang="en-US" altLang="zh-CN" sz="1400" b="0"/>
          </a:p>
        </p:txBody>
      </p:sp>
      <p:sp>
        <p:nvSpPr>
          <p:cNvPr id="534532" name="Rectangle 4"/>
          <p:cNvSpPr>
            <a:spLocks noChangeArrowheads="1"/>
          </p:cNvSpPr>
          <p:nvPr/>
        </p:nvSpPr>
        <p:spPr bwMode="auto">
          <a:xfrm>
            <a:off x="2056449" y="2591119"/>
            <a:ext cx="4937125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&amp;"/>
            </a:pPr>
            <a:r>
              <a:rPr lang="zh-CN" altLang="en-US" sz="4000">
                <a:solidFill>
                  <a:schemeClr val="bg2"/>
                </a:solidFill>
              </a:rPr>
              <a:t>本章内容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SzPct val="90000"/>
            </a:pPr>
            <a:r>
              <a:rPr lang="zh-CN" altLang="en-US" sz="3200">
                <a:solidFill>
                  <a:srgbClr val="000000"/>
                </a:solidFill>
              </a:rPr>
              <a:t>1.1  </a:t>
            </a:r>
            <a:r>
              <a:rPr lang="en-US" altLang="en-US" sz="3200">
                <a:solidFill>
                  <a:srgbClr val="000000"/>
                </a:solidFill>
              </a:rPr>
              <a:t>C</a:t>
            </a:r>
            <a:r>
              <a:rPr lang="zh-CN" altLang="en-US" sz="3200">
                <a:solidFill>
                  <a:srgbClr val="000000"/>
                </a:solidFill>
              </a:rPr>
              <a:t>语言发展史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SzPct val="90000"/>
            </a:pPr>
            <a:r>
              <a:rPr lang="zh-CN" altLang="en-US" sz="3200">
                <a:solidFill>
                  <a:srgbClr val="000000"/>
                </a:solidFill>
              </a:rPr>
              <a:t>1.2  </a:t>
            </a:r>
            <a:r>
              <a:rPr lang="en-US" altLang="en-US" sz="3200">
                <a:solidFill>
                  <a:srgbClr val="000000"/>
                </a:solidFill>
              </a:rPr>
              <a:t>C</a:t>
            </a:r>
            <a:r>
              <a:rPr lang="zh-CN" altLang="en-US" sz="3200">
                <a:solidFill>
                  <a:srgbClr val="000000"/>
                </a:solidFill>
              </a:rPr>
              <a:t>语言特点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SzPct val="90000"/>
            </a:pPr>
            <a:r>
              <a:rPr lang="zh-CN" altLang="en-US" sz="3200">
                <a:solidFill>
                  <a:srgbClr val="000000"/>
                </a:solidFill>
              </a:rPr>
              <a:t>1.3  </a:t>
            </a:r>
            <a:r>
              <a:rPr lang="zh-CN" altLang="zh-CN" sz="3200">
                <a:solidFill>
                  <a:srgbClr val="000000"/>
                </a:solidFill>
              </a:rPr>
              <a:t>简单</a:t>
            </a:r>
            <a:r>
              <a:rPr lang="en-US" altLang="zh-CN" sz="3200">
                <a:solidFill>
                  <a:srgbClr val="000000"/>
                </a:solidFill>
              </a:rPr>
              <a:t>C</a:t>
            </a:r>
            <a:r>
              <a:rPr lang="zh-CN" altLang="en-US" sz="3200">
                <a:solidFill>
                  <a:srgbClr val="000000"/>
                </a:solidFill>
              </a:rPr>
              <a:t>程序分析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1562735" y="1305243"/>
            <a:ext cx="5380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rgbClr val="0000CC"/>
                </a:solidFill>
              </a:rPr>
              <a:t>第一章 </a:t>
            </a:r>
            <a:r>
              <a:rPr lang="en-US" altLang="en-US" sz="4400">
                <a:solidFill>
                  <a:srgbClr val="0000CC"/>
                </a:solidFill>
              </a:rPr>
              <a:t>C</a:t>
            </a:r>
            <a:r>
              <a:rPr lang="zh-CN" altLang="en-US" sz="4400">
                <a:solidFill>
                  <a:srgbClr val="0000CC"/>
                </a:solidFill>
              </a:rPr>
              <a:t>语言概述</a:t>
            </a:r>
            <a:endParaRPr lang="zh-CN" altLang="en-US" sz="3200" b="0">
              <a:solidFill>
                <a:srgbClr val="0000CC"/>
              </a:solidFill>
              <a:ea typeface="隶书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534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534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534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34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4E155230-18A9-40C0-90C4-E03B6537EB45}" type="slidenum">
              <a:rPr kumimoji="0" lang="zh-CN" altLang="en-US" sz="1400" b="0"/>
              <a:pPr eaLnBrk="1" hangingPunct="1"/>
              <a:t>5</a:t>
            </a:fld>
            <a:endParaRPr kumimoji="0" lang="en-US" altLang="zh-CN" sz="1400" b="0"/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268095" y="320893"/>
            <a:ext cx="5380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4400" dirty="0">
                <a:solidFill>
                  <a:srgbClr val="0000CC"/>
                </a:solidFill>
              </a:rPr>
              <a:t>第一章 </a:t>
            </a:r>
            <a:r>
              <a:rPr lang="en-US" altLang="en-US" sz="4400" dirty="0">
                <a:solidFill>
                  <a:srgbClr val="0000CC"/>
                </a:solidFill>
              </a:rPr>
              <a:t>C</a:t>
            </a:r>
            <a:r>
              <a:rPr lang="zh-CN" altLang="en-US" sz="4400" dirty="0">
                <a:solidFill>
                  <a:srgbClr val="0000CC"/>
                </a:solidFill>
              </a:rPr>
              <a:t>语言概述</a:t>
            </a:r>
            <a:endParaRPr lang="zh-CN" altLang="en-US" sz="3200" b="0" dirty="0">
              <a:solidFill>
                <a:srgbClr val="0000CC"/>
              </a:solidFill>
              <a:ea typeface="隶书" pitchFamily="49" charset="-122"/>
            </a:endParaRPr>
          </a:p>
        </p:txBody>
      </p:sp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1166495" y="1065113"/>
            <a:ext cx="4584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000000"/>
                </a:solidFill>
              </a:rPr>
              <a:t>§1.1  </a:t>
            </a:r>
            <a:r>
              <a:rPr lang="en-US" altLang="en-US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语言发展史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163954" y="1627624"/>
            <a:ext cx="950404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003300"/>
                </a:solidFill>
              </a:rPr>
              <a:t>1</a:t>
            </a:r>
            <a:r>
              <a:rPr lang="zh-CN" altLang="en-US" sz="2800" dirty="0">
                <a:solidFill>
                  <a:srgbClr val="003300"/>
                </a:solidFill>
              </a:rPr>
              <a:t>、</a:t>
            </a:r>
            <a:r>
              <a:rPr lang="en-US" altLang="zh-CN" sz="2800" dirty="0">
                <a:solidFill>
                  <a:srgbClr val="003300"/>
                </a:solidFill>
              </a:rPr>
              <a:t>1973</a:t>
            </a:r>
            <a:r>
              <a:rPr lang="zh-CN" altLang="en-US" sz="2800" dirty="0">
                <a:solidFill>
                  <a:srgbClr val="003300"/>
                </a:solidFill>
              </a:rPr>
              <a:t>年，</a:t>
            </a:r>
            <a:r>
              <a:rPr lang="en-US" altLang="zh-CN" sz="2800" dirty="0">
                <a:solidFill>
                  <a:srgbClr val="003300"/>
                </a:solidFill>
              </a:rPr>
              <a:t>C</a:t>
            </a:r>
            <a:r>
              <a:rPr lang="zh-CN" altLang="en-US" sz="2800" dirty="0">
                <a:solidFill>
                  <a:srgbClr val="003300"/>
                </a:solidFill>
              </a:rPr>
              <a:t>语言在贝尔实验室内诞生</a:t>
            </a:r>
            <a:r>
              <a:rPr lang="en-US" altLang="zh-CN" sz="2800" dirty="0">
                <a:solidFill>
                  <a:srgbClr val="003300"/>
                </a:solidFill>
              </a:rPr>
              <a:t>,</a:t>
            </a:r>
            <a:r>
              <a:rPr lang="zh-CN" altLang="en-US" sz="2800" dirty="0">
                <a:solidFill>
                  <a:srgbClr val="003300"/>
                </a:solidFill>
              </a:rPr>
              <a:t>并使用其改写</a:t>
            </a:r>
            <a:r>
              <a:rPr lang="en-US" altLang="zh-CN" sz="2800" dirty="0">
                <a:solidFill>
                  <a:srgbClr val="003300"/>
                </a:solidFill>
              </a:rPr>
              <a:t>Unix</a:t>
            </a:r>
            <a:r>
              <a:rPr lang="zh-CN" altLang="en-US" sz="2800" dirty="0">
                <a:solidFill>
                  <a:srgbClr val="003300"/>
                </a:solidFill>
              </a:rPr>
              <a:t>系统</a:t>
            </a:r>
            <a:r>
              <a:rPr lang="en-US" altLang="zh-CN" sz="2800" dirty="0">
                <a:solidFill>
                  <a:srgbClr val="003300"/>
                </a:solidFill>
              </a:rPr>
              <a:t>(</a:t>
            </a:r>
            <a:r>
              <a:rPr lang="zh-CN" altLang="en-US" sz="2800" dirty="0">
                <a:solidFill>
                  <a:srgbClr val="003300"/>
                </a:solidFill>
              </a:rPr>
              <a:t>丹尼斯</a:t>
            </a:r>
            <a:r>
              <a:rPr lang="en-US" altLang="zh-CN" sz="2800" dirty="0">
                <a:solidFill>
                  <a:srgbClr val="003300"/>
                </a:solidFill>
              </a:rPr>
              <a:t>·⾥</a:t>
            </a:r>
            <a:r>
              <a:rPr lang="zh-CN" altLang="en-US" sz="2800" dirty="0">
                <a:solidFill>
                  <a:srgbClr val="003300"/>
                </a:solidFill>
              </a:rPr>
              <a:t>奇</a:t>
            </a:r>
            <a:r>
              <a:rPr lang="en-US" altLang="zh-CN" sz="2800" dirty="0">
                <a:solidFill>
                  <a:srgbClr val="003300"/>
                </a:solidFill>
              </a:rPr>
              <a:t>)</a:t>
            </a:r>
            <a:r>
              <a:rPr lang="zh-CN" altLang="en-US" sz="2800" dirty="0">
                <a:solidFill>
                  <a:srgbClr val="003300"/>
                </a:solidFill>
              </a:rPr>
              <a:t>。</a:t>
            </a:r>
          </a:p>
          <a:p>
            <a:pPr eaLnBrk="1" hangingPunct="1"/>
            <a:r>
              <a:rPr lang="en-US" altLang="zh-CN" sz="2800" dirty="0">
                <a:solidFill>
                  <a:srgbClr val="003300"/>
                </a:solidFill>
              </a:rPr>
              <a:t>2</a:t>
            </a:r>
            <a:r>
              <a:rPr lang="zh-CN" altLang="en-US" sz="2800" dirty="0">
                <a:solidFill>
                  <a:srgbClr val="003300"/>
                </a:solidFill>
              </a:rPr>
              <a:t>、</a:t>
            </a:r>
            <a:r>
              <a:rPr lang="en-US" altLang="zh-CN" sz="2800" dirty="0">
                <a:solidFill>
                  <a:srgbClr val="003300"/>
                </a:solidFill>
              </a:rPr>
              <a:t>1978</a:t>
            </a:r>
            <a:r>
              <a:rPr lang="zh-CN" altLang="en-US" sz="2800" dirty="0">
                <a:solidFill>
                  <a:srgbClr val="003300"/>
                </a:solidFill>
              </a:rPr>
              <a:t>年，</a:t>
            </a:r>
            <a:r>
              <a:rPr lang="en-US" altLang="zh-CN" sz="2800" dirty="0">
                <a:solidFill>
                  <a:srgbClr val="003300"/>
                </a:solidFill>
              </a:rPr>
              <a:t>C</a:t>
            </a:r>
            <a:r>
              <a:rPr lang="zh-CN" altLang="en-US" sz="2800" dirty="0">
                <a:solidFill>
                  <a:srgbClr val="003300"/>
                </a:solidFill>
              </a:rPr>
              <a:t>语言教材被发表 </a:t>
            </a:r>
            <a:r>
              <a:rPr lang="en-US" altLang="zh-CN" sz="2800" dirty="0">
                <a:solidFill>
                  <a:srgbClr val="003300"/>
                </a:solidFill>
              </a:rPr>
              <a:t>(</a:t>
            </a:r>
            <a:r>
              <a:rPr lang="zh-CN" altLang="en-US" sz="2800" dirty="0">
                <a:solidFill>
                  <a:srgbClr val="003300"/>
                </a:solidFill>
              </a:rPr>
              <a:t>丹尼斯</a:t>
            </a:r>
            <a:r>
              <a:rPr lang="en-US" altLang="zh-CN" sz="2800" dirty="0">
                <a:solidFill>
                  <a:srgbClr val="003300"/>
                </a:solidFill>
              </a:rPr>
              <a:t>·⾥</a:t>
            </a:r>
            <a:r>
              <a:rPr lang="zh-CN" altLang="en-US" sz="2800" dirty="0">
                <a:solidFill>
                  <a:srgbClr val="003300"/>
                </a:solidFill>
              </a:rPr>
              <a:t>奇</a:t>
            </a:r>
            <a:r>
              <a:rPr lang="en-US" altLang="zh-CN" sz="2800" dirty="0">
                <a:solidFill>
                  <a:srgbClr val="003300"/>
                </a:solidFill>
              </a:rPr>
              <a:t>(Dennis Ritchie)</a:t>
            </a:r>
            <a:r>
              <a:rPr lang="zh-CN" altLang="en-US" sz="2800" dirty="0">
                <a:solidFill>
                  <a:srgbClr val="003300"/>
                </a:solidFill>
              </a:rPr>
              <a:t>和布莱恩</a:t>
            </a:r>
            <a:r>
              <a:rPr lang="en-US" altLang="zh-CN" sz="2800" dirty="0">
                <a:solidFill>
                  <a:srgbClr val="003300"/>
                </a:solidFill>
              </a:rPr>
              <a:t>·</a:t>
            </a:r>
            <a:r>
              <a:rPr lang="zh-CN" altLang="en-US" sz="2800" dirty="0">
                <a:solidFill>
                  <a:srgbClr val="003300"/>
                </a:solidFill>
              </a:rPr>
              <a:t>科尔尼⼲</a:t>
            </a:r>
            <a:r>
              <a:rPr lang="en-US" altLang="zh-CN" sz="2800" dirty="0">
                <a:solidFill>
                  <a:srgbClr val="003300"/>
                </a:solidFill>
              </a:rPr>
              <a:t>(Brian Kernighan))</a:t>
            </a:r>
            <a:r>
              <a:rPr lang="zh-CN" altLang="en-US" sz="2800" dirty="0">
                <a:solidFill>
                  <a:srgbClr val="003300"/>
                </a:solidFill>
              </a:rPr>
              <a:t>。</a:t>
            </a:r>
          </a:p>
          <a:p>
            <a:pPr eaLnBrk="1" hangingPunct="1"/>
            <a:r>
              <a:rPr lang="en-US" altLang="zh-CN" sz="2800" dirty="0">
                <a:solidFill>
                  <a:srgbClr val="003300"/>
                </a:solidFill>
              </a:rPr>
              <a:t>3</a:t>
            </a:r>
            <a:r>
              <a:rPr lang="zh-CN" altLang="en-US" sz="2800" dirty="0">
                <a:solidFill>
                  <a:srgbClr val="003300"/>
                </a:solidFill>
              </a:rPr>
              <a:t>、</a:t>
            </a:r>
            <a:r>
              <a:rPr lang="en-US" altLang="zh-CN" sz="2800" dirty="0">
                <a:solidFill>
                  <a:srgbClr val="003300"/>
                </a:solidFill>
              </a:rPr>
              <a:t>1983</a:t>
            </a:r>
            <a:r>
              <a:rPr lang="zh-CN" altLang="en-US" sz="2800" dirty="0">
                <a:solidFill>
                  <a:srgbClr val="003300"/>
                </a:solidFill>
              </a:rPr>
              <a:t>年，</a:t>
            </a:r>
            <a:r>
              <a:rPr lang="en-US" altLang="zh-CN" sz="2800" dirty="0">
                <a:solidFill>
                  <a:srgbClr val="003300"/>
                </a:solidFill>
              </a:rPr>
              <a:t>ANSI</a:t>
            </a:r>
            <a:r>
              <a:rPr lang="zh-CN" altLang="en-US" sz="2800" dirty="0">
                <a:solidFill>
                  <a:srgbClr val="003300"/>
                </a:solidFill>
              </a:rPr>
              <a:t> 建立了专门委员会，制定标准</a:t>
            </a:r>
            <a:r>
              <a:rPr lang="en-US" altLang="zh-CN" sz="2800" dirty="0">
                <a:solidFill>
                  <a:srgbClr val="003300"/>
                </a:solidFill>
              </a:rPr>
              <a:t>,</a:t>
            </a:r>
            <a:r>
              <a:rPr lang="zh-CN" altLang="en-US" sz="2800" dirty="0">
                <a:solidFill>
                  <a:srgbClr val="003300"/>
                </a:solidFill>
              </a:rPr>
              <a:t>并在</a:t>
            </a:r>
            <a:r>
              <a:rPr lang="en-US" altLang="zh-CN" sz="2800" dirty="0">
                <a:solidFill>
                  <a:srgbClr val="003300"/>
                </a:solidFill>
              </a:rPr>
              <a:t>1989</a:t>
            </a:r>
            <a:r>
              <a:rPr lang="zh-CN" altLang="en-US" sz="2800" dirty="0">
                <a:solidFill>
                  <a:srgbClr val="003300"/>
                </a:solidFill>
              </a:rPr>
              <a:t>年推出</a:t>
            </a:r>
            <a:r>
              <a:rPr lang="en-US" altLang="zh-CN" sz="2800" dirty="0">
                <a:solidFill>
                  <a:srgbClr val="003300"/>
                </a:solidFill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C89,C90,ANSI C,ISO C</a:t>
            </a:r>
            <a:r>
              <a:rPr lang="en-US" altLang="zh-CN" sz="2800" dirty="0">
                <a:solidFill>
                  <a:srgbClr val="003300"/>
                </a:solidFill>
              </a:rPr>
              <a:t>)</a:t>
            </a:r>
            <a:r>
              <a:rPr lang="zh-CN" altLang="en-US" sz="2800" dirty="0">
                <a:solidFill>
                  <a:srgbClr val="003300"/>
                </a:solidFill>
              </a:rPr>
              <a:t>。</a:t>
            </a:r>
          </a:p>
          <a:p>
            <a:pPr eaLnBrk="1" hangingPunct="1"/>
            <a:r>
              <a:rPr lang="en-US" altLang="zh-CN" sz="2800" dirty="0">
                <a:solidFill>
                  <a:srgbClr val="003300"/>
                </a:solidFill>
              </a:rPr>
              <a:t>4</a:t>
            </a:r>
            <a:r>
              <a:rPr lang="zh-CN" altLang="en-US" sz="2800" dirty="0">
                <a:solidFill>
                  <a:srgbClr val="003300"/>
                </a:solidFill>
              </a:rPr>
              <a:t> 、</a:t>
            </a:r>
            <a:r>
              <a:rPr lang="en-US" altLang="zh-CN" sz="2800" dirty="0">
                <a:solidFill>
                  <a:srgbClr val="003300"/>
                </a:solidFill>
              </a:rPr>
              <a:t>1988</a:t>
            </a:r>
            <a:r>
              <a:rPr lang="zh-CN" altLang="en-US" sz="2800" dirty="0">
                <a:solidFill>
                  <a:srgbClr val="003300"/>
                </a:solidFill>
              </a:rPr>
              <a:t>年丹尼斯</a:t>
            </a:r>
            <a:r>
              <a:rPr lang="en-US" altLang="zh-CN" sz="2800" dirty="0">
                <a:solidFill>
                  <a:srgbClr val="003300"/>
                </a:solidFill>
              </a:rPr>
              <a:t>·⾥</a:t>
            </a:r>
            <a:r>
              <a:rPr lang="zh-CN" altLang="en-US" sz="2800" dirty="0">
                <a:solidFill>
                  <a:srgbClr val="003300"/>
                </a:solidFill>
              </a:rPr>
              <a:t>奇和布莱恩</a:t>
            </a:r>
            <a:r>
              <a:rPr lang="en-US" altLang="zh-CN" sz="2800" dirty="0">
                <a:solidFill>
                  <a:srgbClr val="003300"/>
                </a:solidFill>
              </a:rPr>
              <a:t>·</a:t>
            </a:r>
            <a:r>
              <a:rPr lang="zh-CN" altLang="en-US" sz="2800" dirty="0">
                <a:solidFill>
                  <a:srgbClr val="003300"/>
                </a:solidFill>
              </a:rPr>
              <a:t>科尔尼⼲，出版了</a:t>
            </a:r>
            <a:r>
              <a:rPr lang="en-US" altLang="zh-CN" sz="2800" dirty="0">
                <a:solidFill>
                  <a:srgbClr val="003300"/>
                </a:solidFill>
              </a:rPr>
              <a:t>《The C Programming Language》</a:t>
            </a:r>
            <a:r>
              <a:rPr lang="zh-CN" altLang="en-US" sz="2800" dirty="0">
                <a:solidFill>
                  <a:srgbClr val="003300"/>
                </a:solidFill>
              </a:rPr>
              <a:t>第⼆版，第⼆版涵盖了</a:t>
            </a:r>
            <a:r>
              <a:rPr lang="en-US" altLang="zh-CN" sz="2800" dirty="0">
                <a:solidFill>
                  <a:srgbClr val="003300"/>
                </a:solidFill>
              </a:rPr>
              <a:t>ANSI C</a:t>
            </a:r>
            <a:r>
              <a:rPr lang="zh-CN" altLang="en-US" sz="2800" dirty="0">
                <a:solidFill>
                  <a:srgbClr val="003300"/>
                </a:solidFill>
              </a:rPr>
              <a:t>语⾔标准。</a:t>
            </a:r>
            <a:endParaRPr lang="en-US" altLang="zh-CN" sz="2800" dirty="0">
              <a:solidFill>
                <a:srgbClr val="003300"/>
              </a:solidFill>
            </a:endParaRPr>
          </a:p>
          <a:p>
            <a:pPr eaLnBrk="1" hangingPunct="1"/>
            <a:r>
              <a:rPr lang="en-US" altLang="zh-CN" sz="2800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sz="2800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dirty="0">
                <a:solidFill>
                  <a:srgbClr val="003300"/>
                </a:solidFill>
              </a:rPr>
              <a:t>C99</a:t>
            </a:r>
            <a:r>
              <a:rPr lang="zh-CN" altLang="en-US" sz="2800" dirty="0">
                <a:solidFill>
                  <a:srgbClr val="003300"/>
                </a:solidFill>
              </a:rPr>
              <a:t>、</a:t>
            </a:r>
            <a:r>
              <a:rPr lang="en-US" altLang="zh-CN" sz="2800" dirty="0">
                <a:solidFill>
                  <a:srgbClr val="003300"/>
                </a:solidFill>
              </a:rPr>
              <a:t>C11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7CEBF42-3357-4A1D-B680-F96CA596F81D}" type="slidenum">
              <a:rPr kumimoji="0" lang="zh-CN" altLang="en-US" sz="1400" b="0"/>
              <a:pPr eaLnBrk="1" hangingPunct="1"/>
              <a:t>6</a:t>
            </a:fld>
            <a:endParaRPr kumimoji="0" lang="en-US" altLang="zh-CN" sz="1400" b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312988" y="622300"/>
            <a:ext cx="3956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§1.2  </a:t>
            </a:r>
            <a:r>
              <a:rPr lang="en-US" altLang="en-US">
                <a:solidFill>
                  <a:srgbClr val="000000"/>
                </a:solidFill>
              </a:rPr>
              <a:t>C</a:t>
            </a:r>
            <a:r>
              <a:rPr lang="zh-CN" altLang="en-US">
                <a:solidFill>
                  <a:srgbClr val="000000"/>
                </a:solidFill>
              </a:rPr>
              <a:t>语言特点</a:t>
            </a:r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770189" y="1304926"/>
            <a:ext cx="637698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1、简练、自由、结构化</a:t>
            </a:r>
          </a:p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    （</a:t>
            </a:r>
            <a:r>
              <a:rPr lang="en-US" altLang="zh-CN" sz="3200">
                <a:solidFill>
                  <a:srgbClr val="000000"/>
                </a:solidFill>
              </a:rPr>
              <a:t>32</a:t>
            </a:r>
            <a:r>
              <a:rPr lang="zh-CN" altLang="en-US" sz="3200">
                <a:solidFill>
                  <a:srgbClr val="000000"/>
                </a:solidFill>
              </a:rPr>
              <a:t>个关键字、</a:t>
            </a:r>
            <a:r>
              <a:rPr lang="en-US" altLang="zh-CN" sz="3200">
                <a:solidFill>
                  <a:srgbClr val="000000"/>
                </a:solidFill>
              </a:rPr>
              <a:t>9</a:t>
            </a:r>
            <a:r>
              <a:rPr lang="zh-CN" altLang="en-US" sz="3200">
                <a:solidFill>
                  <a:srgbClr val="000000"/>
                </a:solidFill>
              </a:rPr>
              <a:t>种控制语句）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770189" y="2744789"/>
            <a:ext cx="5976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000000"/>
                </a:solidFill>
              </a:rPr>
              <a:t>2、运算符丰富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2770189" y="3506789"/>
            <a:ext cx="37877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3、数据结构丰富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2770189" y="4281489"/>
            <a:ext cx="55070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4、可直接对硬件进行操作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770188" y="5095875"/>
            <a:ext cx="414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5、目标程序质量高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770188" y="5856289"/>
            <a:ext cx="4140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00"/>
                </a:solidFill>
              </a:rPr>
              <a:t>6</a:t>
            </a:r>
            <a:r>
              <a:rPr lang="zh-CN" altLang="en-US" sz="3200">
                <a:solidFill>
                  <a:srgbClr val="000000"/>
                </a:solidFill>
              </a:rPr>
              <a:t>、可移植性好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  <p:bldP spid="14342" grpId="0" autoUpdateAnimBg="0"/>
      <p:bldP spid="14343" grpId="0" autoUpdateAnimBg="0"/>
      <p:bldP spid="14344" grpId="0" autoUpdateAnimBg="0"/>
      <p:bldP spid="14345" grpId="0" autoUpdateAnimBg="0"/>
      <p:bldP spid="1434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D76F17C-692B-453F-8B02-496C6B22B96B}" type="slidenum">
              <a:rPr kumimoji="0" lang="zh-CN" altLang="en-US" sz="1400" b="0"/>
              <a:pPr eaLnBrk="1" hangingPunct="1"/>
              <a:t>7</a:t>
            </a:fld>
            <a:endParaRPr kumimoji="0" lang="en-US" altLang="zh-CN" sz="1400" b="0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143000" y="752476"/>
            <a:ext cx="5067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00CC"/>
                </a:solidFill>
              </a:rPr>
              <a:t>§1.3  </a:t>
            </a:r>
            <a:r>
              <a:rPr lang="zh-CN" altLang="zh-CN">
                <a:solidFill>
                  <a:srgbClr val="0000CC"/>
                </a:solidFill>
              </a:rPr>
              <a:t>简单</a:t>
            </a:r>
            <a:r>
              <a:rPr lang="en-US" altLang="zh-CN">
                <a:solidFill>
                  <a:srgbClr val="0000CC"/>
                </a:solidFill>
              </a:rPr>
              <a:t>C</a:t>
            </a:r>
            <a:r>
              <a:rPr lang="zh-CN" altLang="en-US">
                <a:solidFill>
                  <a:srgbClr val="0000CC"/>
                </a:solidFill>
              </a:rPr>
              <a:t>程序分析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963863" y="1628775"/>
            <a:ext cx="6380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例1.1  打印（显示）一串字符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53615" y="5526086"/>
            <a:ext cx="6191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dirty="0">
                <a:solidFill>
                  <a:srgbClr val="000000"/>
                </a:solidFill>
              </a:rPr>
              <a:t>运行结果:</a:t>
            </a:r>
            <a:r>
              <a:rPr lang="zh-CN" altLang="en-US" sz="3200" dirty="0">
                <a:solidFill>
                  <a:srgbClr val="0000FF"/>
                </a:solidFill>
              </a:rPr>
              <a:t> </a:t>
            </a:r>
            <a:r>
              <a:rPr lang="en-US" altLang="zh-CN" sz="3200" dirty="0"/>
              <a:t>Hello World! </a:t>
            </a:r>
            <a:endParaRPr lang="en-US" altLang="zh-CN" sz="3200" dirty="0">
              <a:solidFill>
                <a:srgbClr val="A50021"/>
              </a:solidFill>
            </a:endParaRP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109913" y="2396356"/>
            <a:ext cx="8167687" cy="292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3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75000"/>
              </a:lnSpc>
            </a:pPr>
            <a:r>
              <a:rPr lang="en-US" altLang="zh-CN" sz="3200" dirty="0"/>
              <a:t>#include &lt;</a:t>
            </a:r>
            <a:r>
              <a:rPr lang="en-US" altLang="zh-CN" sz="3200" dirty="0" err="1"/>
              <a:t>stdio.h</a:t>
            </a:r>
            <a:r>
              <a:rPr lang="en-US" altLang="zh-CN" sz="3200" dirty="0"/>
              <a:t>&gt;   </a:t>
            </a:r>
            <a:r>
              <a:rPr lang="en-US" altLang="zh-CN" sz="3200" dirty="0">
                <a:solidFill>
                  <a:srgbClr val="00B0F0"/>
                </a:solidFill>
              </a:rPr>
              <a:t>//</a:t>
            </a:r>
            <a:r>
              <a:rPr lang="zh-CN" altLang="en-US" sz="3200" dirty="0">
                <a:solidFill>
                  <a:srgbClr val="00B0F0"/>
                </a:solidFill>
              </a:rPr>
              <a:t>编译预处理命令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zh-CN" sz="3200" dirty="0"/>
              <a:t>main( )   </a:t>
            </a:r>
            <a:r>
              <a:rPr lang="en-US" altLang="zh-CN" sz="3200" dirty="0">
                <a:solidFill>
                  <a:srgbClr val="00B0F0"/>
                </a:solidFill>
              </a:rPr>
              <a:t>//</a:t>
            </a:r>
            <a:r>
              <a:rPr lang="zh-CN" altLang="en-US" sz="3200" dirty="0">
                <a:solidFill>
                  <a:srgbClr val="00B0F0"/>
                </a:solidFill>
              </a:rPr>
              <a:t>函数头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zh-CN" sz="3200" dirty="0"/>
              <a:t>{                           </a:t>
            </a:r>
            <a:r>
              <a:rPr lang="en-US" altLang="zh-CN" sz="3200" dirty="0">
                <a:solidFill>
                  <a:srgbClr val="00B0F0"/>
                </a:solidFill>
              </a:rPr>
              <a:t>//</a:t>
            </a:r>
            <a:r>
              <a:rPr lang="zh-CN" altLang="en-US" sz="3200" dirty="0">
                <a:solidFill>
                  <a:srgbClr val="00B0F0"/>
                </a:solidFill>
              </a:rPr>
              <a:t>函数体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zh-CN" sz="3200"/>
              <a:t>    printf</a:t>
            </a:r>
            <a:r>
              <a:rPr lang="en-US" altLang="zh-CN" sz="3200" dirty="0"/>
              <a:t>(“Hello World! \n”)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altLang="zh-CN" sz="3200" dirty="0"/>
              <a:t>  </a:t>
            </a:r>
            <a:r>
              <a:rPr lang="en-US" altLang="zh-CN" sz="3200" dirty="0">
                <a:solidFill>
                  <a:srgbClr val="00B0F0"/>
                </a:solidFill>
              </a:rPr>
              <a:t>//</a:t>
            </a:r>
            <a:r>
              <a:rPr lang="zh-CN" altLang="en-US" sz="3200" dirty="0">
                <a:solidFill>
                  <a:srgbClr val="00B0F0"/>
                </a:solidFill>
              </a:rPr>
              <a:t>输出语句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zh-CN" sz="3200" dirty="0"/>
              <a:t>}</a:t>
            </a:r>
            <a:endParaRPr lang="zh-CN" altLang="en-US" sz="32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719799B-FAC8-483F-817D-941D34A55E4E}" type="slidenum">
              <a:rPr kumimoji="0" lang="zh-CN" altLang="en-US" sz="1400" b="0"/>
              <a:pPr eaLnBrk="1" hangingPunct="1"/>
              <a:t>8</a:t>
            </a:fld>
            <a:endParaRPr kumimoji="0" lang="en-US" altLang="zh-CN" sz="1400" b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120776" y="84138"/>
            <a:ext cx="5945505" cy="88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3200" dirty="0">
                <a:solidFill>
                  <a:srgbClr val="000000"/>
                </a:solidFill>
              </a:rPr>
              <a:t>例1.</a:t>
            </a:r>
            <a:r>
              <a:rPr lang="en-US" altLang="zh-CN" sz="3200" dirty="0">
                <a:solidFill>
                  <a:srgbClr val="000000"/>
                </a:solidFill>
              </a:rPr>
              <a:t>2  </a:t>
            </a:r>
            <a:r>
              <a:rPr lang="zh-CN" altLang="en-US" sz="3200" dirty="0">
                <a:solidFill>
                  <a:srgbClr val="000000"/>
                </a:solidFill>
              </a:rPr>
              <a:t>已知三角形三边 </a:t>
            </a:r>
            <a:r>
              <a:rPr lang="en-US" altLang="en-US" sz="3200" dirty="0">
                <a:solidFill>
                  <a:srgbClr val="000000"/>
                </a:solidFill>
              </a:rPr>
              <a:t>a, b, c, </a:t>
            </a:r>
            <a:r>
              <a:rPr lang="zh-CN" altLang="en-US" sz="3200" dirty="0">
                <a:solidFill>
                  <a:srgbClr val="000000"/>
                </a:solidFill>
              </a:rPr>
              <a:t>求面积。</a:t>
            </a:r>
            <a:r>
              <a:rPr lang="zh-CN" altLang="en-US" sz="3200" dirty="0">
                <a:solidFill>
                  <a:srgbClr val="663300"/>
                </a:solidFill>
              </a:rPr>
              <a:t>            </a:t>
            </a:r>
            <a:endParaRPr lang="en-US" altLang="zh-CN" sz="3200" dirty="0">
              <a:solidFill>
                <a:srgbClr val="663300"/>
              </a:solidFill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019175" y="964379"/>
            <a:ext cx="6643688" cy="5580759"/>
          </a:xfrm>
          <a:prstGeom prst="rect">
            <a:avLst/>
          </a:prstGeom>
          <a:solidFill>
            <a:srgbClr val="FFFF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dirty="0"/>
              <a:t>#include &lt;</a:t>
            </a:r>
            <a:r>
              <a:rPr lang="en-US" altLang="zh-CN" sz="3200" dirty="0" err="1"/>
              <a:t>stdio.h</a:t>
            </a:r>
            <a:r>
              <a:rPr lang="en-US" altLang="zh-CN" sz="3200" dirty="0"/>
              <a:t>&gt;</a:t>
            </a:r>
          </a:p>
          <a:p>
            <a:pPr>
              <a:lnSpc>
                <a:spcPct val="80000"/>
              </a:lnSpc>
            </a:pPr>
            <a:r>
              <a:rPr lang="en-US" altLang="zh-CN" sz="3200" dirty="0">
                <a:solidFill>
                  <a:srgbClr val="002060"/>
                </a:solidFill>
              </a:rPr>
              <a:t>#include </a:t>
            </a:r>
            <a:r>
              <a:rPr lang="en-US" altLang="en-US" sz="3200" dirty="0">
                <a:solidFill>
                  <a:srgbClr val="002060"/>
                </a:solidFill>
              </a:rPr>
              <a:t>“</a:t>
            </a:r>
            <a:r>
              <a:rPr lang="en-US" altLang="en-US" sz="3200" dirty="0" err="1">
                <a:solidFill>
                  <a:srgbClr val="002060"/>
                </a:solidFill>
              </a:rPr>
              <a:t>math.h</a:t>
            </a:r>
            <a:r>
              <a:rPr lang="en-US" altLang="en-US" sz="3200" dirty="0">
                <a:solidFill>
                  <a:srgbClr val="002060"/>
                </a:solidFill>
              </a:rPr>
              <a:t>”</a:t>
            </a:r>
            <a:endParaRPr lang="en-US" altLang="zh-CN" sz="3200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</a:pPr>
            <a:r>
              <a:rPr lang="zh-CN" altLang="en-US" sz="3200" dirty="0">
                <a:solidFill>
                  <a:srgbClr val="002060"/>
                </a:solidFill>
              </a:rPr>
              <a:t> </a:t>
            </a:r>
            <a:r>
              <a:rPr lang="en-US" altLang="en-US" sz="3200" dirty="0">
                <a:solidFill>
                  <a:srgbClr val="002060"/>
                </a:solidFill>
              </a:rPr>
              <a:t>main( )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{ 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   float a, b, c, p, s;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   </a:t>
            </a:r>
            <a:r>
              <a:rPr lang="en-US" altLang="en-US" sz="3200" dirty="0" err="1">
                <a:solidFill>
                  <a:srgbClr val="002060"/>
                </a:solidFill>
              </a:rPr>
              <a:t>scanf</a:t>
            </a:r>
            <a:r>
              <a:rPr lang="en-US" altLang="en-US" sz="3200" dirty="0">
                <a:solidFill>
                  <a:srgbClr val="002060"/>
                </a:solidFill>
              </a:rPr>
              <a:t>(“%f, %f, %f ”, &amp;a, &amp;b, &amp;c);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   p=(</a:t>
            </a:r>
            <a:r>
              <a:rPr lang="en-US" altLang="en-US" sz="3200" dirty="0" err="1">
                <a:solidFill>
                  <a:srgbClr val="002060"/>
                </a:solidFill>
              </a:rPr>
              <a:t>a+b+c</a:t>
            </a:r>
            <a:r>
              <a:rPr lang="en-US" altLang="en-US" sz="3200" dirty="0">
                <a:solidFill>
                  <a:srgbClr val="002060"/>
                </a:solidFill>
              </a:rPr>
              <a:t>)/2;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   s=sqrt(p*(p-a)*(p-b)*(p-c));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   </a:t>
            </a:r>
            <a:r>
              <a:rPr lang="en-US" altLang="en-US" sz="3200" dirty="0" err="1">
                <a:solidFill>
                  <a:srgbClr val="002060"/>
                </a:solidFill>
              </a:rPr>
              <a:t>printf</a:t>
            </a:r>
            <a:r>
              <a:rPr lang="en-US" altLang="en-US" sz="3200" dirty="0">
                <a:solidFill>
                  <a:srgbClr val="002060"/>
                </a:solidFill>
              </a:rPr>
              <a:t>(“P=%f </a:t>
            </a:r>
            <a:r>
              <a:rPr lang="en-US" altLang="zh-CN" sz="3200" dirty="0">
                <a:solidFill>
                  <a:srgbClr val="002060"/>
                </a:solidFill>
              </a:rPr>
              <a:t>\n </a:t>
            </a:r>
            <a:r>
              <a:rPr lang="en-US" altLang="en-US" sz="3200" dirty="0">
                <a:solidFill>
                  <a:srgbClr val="002060"/>
                </a:solidFill>
              </a:rPr>
              <a:t>S=%f ”, p, s);</a:t>
            </a:r>
          </a:p>
          <a:p>
            <a:pPr>
              <a:lnSpc>
                <a:spcPct val="60000"/>
              </a:lnSpc>
            </a:pPr>
            <a:r>
              <a:rPr lang="en-US" altLang="en-US" sz="3200" dirty="0">
                <a:solidFill>
                  <a:srgbClr val="002060"/>
                </a:solidFill>
              </a:rPr>
              <a:t>} 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8315326" y="2303464"/>
            <a:ext cx="23733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</a:rPr>
              <a:t>输入：</a:t>
            </a:r>
          </a:p>
          <a:p>
            <a:pPr eaLnBrk="1" hangingPunct="1"/>
            <a:r>
              <a:rPr lang="zh-CN" altLang="en-US" sz="3200">
                <a:solidFill>
                  <a:srgbClr val="A50021"/>
                </a:solidFill>
              </a:rPr>
              <a:t>4，5，6 </a:t>
            </a:r>
            <a:r>
              <a:rPr lang="zh-CN" altLang="en-US" sz="2800">
                <a:solidFill>
                  <a:srgbClr val="A50021"/>
                </a:solidFill>
              </a:rPr>
              <a:t>↙</a:t>
            </a:r>
            <a:endParaRPr lang="en-US" altLang="zh-CN" sz="2800">
              <a:solidFill>
                <a:srgbClr val="A50021"/>
              </a:solidFill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8370889" y="3938588"/>
            <a:ext cx="2371725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输出：</a:t>
            </a:r>
          </a:p>
          <a:p>
            <a:pPr eaLnBrk="1" hangingPunct="1"/>
            <a:r>
              <a:rPr lang="en-US" altLang="zh-CN" sz="2800">
                <a:solidFill>
                  <a:srgbClr val="A50021"/>
                </a:solidFill>
              </a:rPr>
              <a:t>P=7.500000</a:t>
            </a:r>
          </a:p>
          <a:p>
            <a:pPr eaLnBrk="1" hangingPunct="1"/>
            <a:r>
              <a:rPr lang="en-US" altLang="zh-CN" sz="2800">
                <a:solidFill>
                  <a:srgbClr val="A50021"/>
                </a:solidFill>
              </a:rPr>
              <a:t>S=9.921567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0" grpId="0"/>
      <p:bldP spid="163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96B427C3-137C-4A0B-8FEC-B23933ED9771}" type="slidenum">
              <a:rPr kumimoji="0" lang="zh-CN" altLang="en-US" sz="1400" b="0"/>
              <a:pPr eaLnBrk="1" hangingPunct="1"/>
              <a:t>9</a:t>
            </a:fld>
            <a:endParaRPr kumimoji="0" lang="en-US" altLang="zh-CN" sz="1400" b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349375" y="1384301"/>
            <a:ext cx="9329738" cy="4856163"/>
          </a:xfrm>
          <a:prstGeom prst="rect">
            <a:avLst/>
          </a:prstGeom>
          <a:solidFill>
            <a:srgbClr val="FFFFF3"/>
          </a:solidFill>
          <a:ln w="38100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max( int x , int y )   main( )    /*max number*/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{                            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  int z ; 		           int a , b , c ;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  if(x&gt;y) z=x ; 	           scanf(“%d,%d”,&amp;a,&amp;b);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  else z=y ; 	           c=max( a , b ) ;       	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  return(z) ;	           printf(“max=%d\n ”, c) 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>
                <a:solidFill>
                  <a:srgbClr val="002060"/>
                </a:solidFill>
              </a:rPr>
              <a:t>}			          }</a:t>
            </a:r>
          </a:p>
        </p:txBody>
      </p:sp>
      <p:sp>
        <p:nvSpPr>
          <p:cNvPr id="14341" name="Rectangle 8"/>
          <p:cNvSpPr>
            <a:spLocks noChangeArrowheads="1"/>
          </p:cNvSpPr>
          <p:nvPr/>
        </p:nvSpPr>
        <p:spPr bwMode="auto">
          <a:xfrm>
            <a:off x="1349375" y="262907"/>
            <a:ext cx="533908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例1.</a:t>
            </a:r>
            <a:r>
              <a:rPr lang="en-US" altLang="zh-CN" sz="3200" dirty="0">
                <a:solidFill>
                  <a:srgbClr val="000000"/>
                </a:solidFill>
              </a:rPr>
              <a:t>3  </a:t>
            </a:r>
            <a:r>
              <a:rPr lang="zh-CN" altLang="en-US" sz="3200" dirty="0">
                <a:solidFill>
                  <a:srgbClr val="000000"/>
                </a:solidFill>
              </a:rPr>
              <a:t>已知整数 </a:t>
            </a:r>
            <a:r>
              <a:rPr lang="en-US" altLang="zh-CN" sz="3200" dirty="0">
                <a:solidFill>
                  <a:srgbClr val="000000"/>
                </a:solidFill>
              </a:rPr>
              <a:t>a, b, </a:t>
            </a:r>
            <a:r>
              <a:rPr lang="zh-CN" altLang="zh-CN" sz="3200" dirty="0">
                <a:solidFill>
                  <a:srgbClr val="000000"/>
                </a:solidFill>
              </a:rPr>
              <a:t>求</a:t>
            </a:r>
            <a:r>
              <a:rPr lang="zh-CN" altLang="en-US" sz="3200" dirty="0">
                <a:solidFill>
                  <a:srgbClr val="000000"/>
                </a:solidFill>
              </a:rPr>
              <a:t>其中的最大数。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sp>
        <p:nvSpPr>
          <p:cNvPr id="14342" name="Line 12"/>
          <p:cNvSpPr>
            <a:spLocks noChangeShapeType="1"/>
          </p:cNvSpPr>
          <p:nvPr/>
        </p:nvSpPr>
        <p:spPr bwMode="auto">
          <a:xfrm>
            <a:off x="5095875" y="1501776"/>
            <a:ext cx="0" cy="4849813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6627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6628" name="标题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43000" y="1"/>
            <a:ext cx="2451100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/>
          <a:p>
            <a:pPr eaLnBrk="1" hangingPunct="1"/>
            <a:r>
              <a:rPr lang="zh-CN" altLang="en-US" sz="3800" dirty="0"/>
              <a:t>语言简介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143000" y="1309681"/>
            <a:ext cx="9328150" cy="230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7287" tIns="53643" rIns="107287" bIns="53643" anchor="ctr">
            <a:spAutoFit/>
          </a:bodyPr>
          <a:lstStyle/>
          <a:p>
            <a:pPr indent="469379">
              <a:lnSpc>
                <a:spcPct val="150000"/>
              </a:lnSpc>
              <a:spcBef>
                <a:spcPct val="10000"/>
              </a:spcBef>
            </a:pPr>
            <a:r>
              <a:rPr lang="en-US" altLang="zh-CN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、程序执行由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主函数开始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，在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主函数中结束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 </a:t>
            </a:r>
          </a:p>
          <a:p>
            <a:pPr indent="469379">
              <a:lnSpc>
                <a:spcPct val="150000"/>
              </a:lnSpc>
              <a:spcBef>
                <a:spcPct val="10000"/>
              </a:spcBef>
            </a:pPr>
            <a:r>
              <a:rPr lang="en-US" altLang="zh-CN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、函数名后应跟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（）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，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函数头</a:t>
            </a:r>
            <a:endParaRPr lang="en-US" altLang="zh-CN" sz="32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  <a:p>
            <a:pPr indent="469379">
              <a:lnSpc>
                <a:spcPct val="150000"/>
              </a:lnSpc>
              <a:spcBef>
                <a:spcPct val="10000"/>
              </a:spcBef>
            </a:pPr>
            <a:r>
              <a:rPr lang="zh-CN" altLang="en-US" sz="320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  函数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内容必须用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{}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括起来，称为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函数体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AAE6B2-2610-91F4-D03C-4A3C07B17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735" y="3753940"/>
            <a:ext cx="9313325" cy="2161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7287" tIns="53643" rIns="107287" bIns="53643" anchor="ctr">
            <a:spAutoFit/>
          </a:bodyPr>
          <a:lstStyle/>
          <a:p>
            <a:pPr indent="469379">
              <a:lnSpc>
                <a:spcPct val="1500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3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、文件包含是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C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语言预处理程序的一个重要功能。</a:t>
            </a:r>
            <a:endParaRPr lang="en-US" altLang="zh-CN" sz="28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indent="469379">
              <a:lnSpc>
                <a:spcPct val="15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文件包含命令的功能是把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指定的文件插入该命令行位置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，从而把指定的文件和当前的源程序文件合并成一个源文件。</a:t>
            </a:r>
            <a:endParaRPr lang="en-US" altLang="zh-CN" sz="28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09833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7651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1431924" y="585165"/>
            <a:ext cx="9725513" cy="670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7287" tIns="53643" rIns="107287" bIns="53643" anchor="ctr">
            <a:spAutoFit/>
          </a:bodyPr>
          <a:lstStyle/>
          <a:p>
            <a:pPr indent="469379">
              <a:lnSpc>
                <a:spcPct val="150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有两种格式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: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＃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include  “stdio.h” </a:t>
            </a:r>
          </a:p>
          <a:p>
            <a:pPr indent="469379">
              <a:lnSpc>
                <a:spcPct val="150000"/>
              </a:lnSpc>
              <a:spcBef>
                <a:spcPct val="10000"/>
              </a:spcBef>
            </a:pP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         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＃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include &lt;stdio.h&gt;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双引号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(“”)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，在两个文件夹中找</a:t>
            </a:r>
            <a:endParaRPr lang="en-US" altLang="zh-CN" sz="28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源程序所在的目录</a:t>
            </a:r>
            <a:r>
              <a:rPr lang="en-US" altLang="zh-CN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文件夹</a:t>
            </a:r>
            <a:r>
              <a:rPr lang="en-US" altLang="zh-CN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查找包含文件，找到结束。</a:t>
            </a:r>
            <a:endParaRPr lang="en-US" altLang="zh-CN" sz="24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如果找不到，再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按系统标准方式在有关目录（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include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）中</a:t>
            </a:r>
            <a:r>
              <a:rPr lang="zh-CN" altLang="en-US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查找</a:t>
            </a:r>
            <a:r>
              <a:rPr lang="en-US" altLang="zh-CN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两个查找位置</a:t>
            </a:r>
            <a:r>
              <a:rPr lang="en-US" altLang="zh-CN" sz="24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尖括号</a:t>
            </a:r>
            <a:r>
              <a:rPr lang="en-US" altLang="zh-CN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(&lt;&gt;)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只在按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系统标准方式的有关目录中查找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即仅在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include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文件夹中查找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仅一个查找位置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)</a:t>
            </a:r>
          </a:p>
          <a:p>
            <a:pPr indent="469379">
              <a:lnSpc>
                <a:spcPct val="150000"/>
              </a:lnSpc>
            </a:pPr>
            <a:endParaRPr lang="zh-CN" altLang="en-US" sz="28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43000" y="1"/>
            <a:ext cx="2451100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800"/>
              <a:t>语言简介</a:t>
            </a:r>
            <a:endParaRPr lang="zh-CN" altLang="en-US" sz="3800" dirty="0"/>
          </a:p>
        </p:txBody>
      </p:sp>
    </p:spTree>
    <p:extLst>
      <p:ext uri="{BB962C8B-B14F-4D97-AF65-F5344CB8AC3E}">
        <p14:creationId xmlns:p14="http://schemas.microsoft.com/office/powerpoint/2010/main" val="316204951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7651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1435365" y="706188"/>
            <a:ext cx="9328150" cy="561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7287" tIns="53643" rIns="107287" bIns="53643" anchor="ctr">
            <a:spAutoFit/>
          </a:bodyPr>
          <a:lstStyle/>
          <a:p>
            <a:pPr indent="469379">
              <a:lnSpc>
                <a:spcPct val="150000"/>
              </a:lnSpc>
            </a:pPr>
            <a:r>
              <a:rPr lang="en-US" altLang="zh-CN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4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、在Ｃ语言源程序中允许用一个标识符来表示一个字符串，称为</a:t>
            </a:r>
            <a:r>
              <a:rPr lang="zh-CN" altLang="en-US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宏</a:t>
            </a:r>
            <a:r>
              <a:rPr lang="en-US" altLang="zh-CN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常量）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32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indent="469379">
              <a:lnSpc>
                <a:spcPct val="150000"/>
              </a:lnSpc>
            </a:pP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格式 ＃</a:t>
            </a:r>
            <a:r>
              <a:rPr lang="en-US" altLang="zh-CN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define </a:t>
            </a:r>
            <a:r>
              <a:rPr lang="zh-CN" alt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宏名</a:t>
            </a: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替换字符串</a:t>
            </a:r>
            <a:endParaRPr lang="en-US" altLang="zh-CN" sz="32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indent="469379">
              <a:lnSpc>
                <a:spcPct val="150000"/>
              </a:lnSpc>
            </a:pPr>
            <a:r>
              <a:rPr lang="zh-CN" altLang="en-US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如   ＃</a:t>
            </a:r>
            <a:r>
              <a:rPr lang="en-US" altLang="zh-CN" sz="32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define Pi  3.14</a:t>
            </a:r>
          </a:p>
          <a:p>
            <a:pPr indent="469379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（先替换，再计算）</a:t>
            </a:r>
            <a:endParaRPr lang="en-US" altLang="zh-CN" sz="32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  <a:p>
            <a:pPr indent="469379">
              <a:lnSpc>
                <a:spcPct val="150000"/>
              </a:lnSpc>
            </a:pPr>
            <a:endParaRPr lang="zh-CN" altLang="en-US" sz="32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43000" y="1"/>
            <a:ext cx="2451100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800"/>
              <a:t>语言简介</a:t>
            </a:r>
            <a:endParaRPr lang="zh-CN" altLang="en-US" sz="3800" dirty="0"/>
          </a:p>
        </p:txBody>
      </p:sp>
    </p:spTree>
    <p:extLst>
      <p:ext uri="{BB962C8B-B14F-4D97-AF65-F5344CB8AC3E}">
        <p14:creationId xmlns:p14="http://schemas.microsoft.com/office/powerpoint/2010/main" val="240393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8675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1143001" y="1659734"/>
            <a:ext cx="9712457" cy="333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7287" tIns="53643" rIns="107287" bIns="53643" anchor="ctr">
            <a:spAutoFit/>
          </a:bodyPr>
          <a:lstStyle/>
          <a:p>
            <a:pPr indent="469379">
              <a:lnSpc>
                <a:spcPct val="1500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5.C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源文件的编辑、编译、连接、运行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源程序：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C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源程序以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.C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为扩展名</a:t>
            </a:r>
            <a:endParaRPr lang="en-US" altLang="zh-CN" sz="2800" dirty="0">
              <a:solidFill>
                <a:srgbClr val="002060"/>
              </a:solidFill>
              <a:latin typeface="仿宋" pitchFamily="49" charset="-122"/>
              <a:ea typeface="仿宋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目标程序：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 .</a:t>
            </a:r>
            <a:r>
              <a:rPr lang="en-US" altLang="zh-CN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obj</a:t>
            </a:r>
            <a:r>
              <a:rPr lang="en-US" altLang="zh-CN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文件，把高级语言程序翻译成机器指令程序的过程称为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编译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43000" y="1"/>
            <a:ext cx="2451100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800"/>
              <a:t>语言简介</a:t>
            </a:r>
            <a:endParaRPr lang="zh-CN" altLang="en-US" sz="3800" dirty="0"/>
          </a:p>
        </p:txBody>
      </p:sp>
    </p:spTree>
    <p:extLst>
      <p:ext uri="{BB962C8B-B14F-4D97-AF65-F5344CB8AC3E}">
        <p14:creationId xmlns:p14="http://schemas.microsoft.com/office/powerpoint/2010/main" val="25194283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8675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1143000" y="1882117"/>
            <a:ext cx="9712457" cy="309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7287" tIns="53643" rIns="107287" bIns="53643" anchor="ctr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可执行文件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.exe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应对这些库文件的代码与目标文件进行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连接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，同时对所有机器指令程序进行重定位，此过程称为连接。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生成的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.exe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文件才可运行</a:t>
            </a:r>
            <a:r>
              <a:rPr lang="zh-CN" altLang="en-US" sz="2800" dirty="0">
                <a:solidFill>
                  <a:srgbClr val="002060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43000" y="1"/>
            <a:ext cx="2451100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800"/>
              <a:t>语言简介</a:t>
            </a:r>
            <a:endParaRPr lang="zh-CN" altLang="en-US" sz="3800" dirty="0"/>
          </a:p>
        </p:txBody>
      </p:sp>
    </p:spTree>
    <p:extLst>
      <p:ext uri="{BB962C8B-B14F-4D97-AF65-F5344CB8AC3E}">
        <p14:creationId xmlns:p14="http://schemas.microsoft.com/office/powerpoint/2010/main" val="2970725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9699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2828970" y="3008491"/>
            <a:ext cx="1322634" cy="11161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zh-CN" sz="2000">
                <a:solidFill>
                  <a:srgbClr val="4D4D4D"/>
                </a:solidFill>
                <a:latin typeface="Times New Roman" pitchFamily="18" charset="0"/>
              </a:rPr>
              <a:t>C</a:t>
            </a:r>
            <a:r>
              <a:rPr lang="zh-CN" altLang="en-US" sz="2000">
                <a:solidFill>
                  <a:srgbClr val="4D4D4D"/>
                </a:solidFill>
                <a:latin typeface="Times New Roman" pitchFamily="18" charset="0"/>
              </a:rPr>
              <a:t>源程序</a:t>
            </a:r>
          </a:p>
          <a:p>
            <a:pPr algn="just">
              <a:spcBef>
                <a:spcPct val="20000"/>
              </a:spcBef>
            </a:pPr>
            <a:r>
              <a:rPr lang="en-US" altLang="zh-CN" sz="2000">
                <a:solidFill>
                  <a:srgbClr val="4D4D4D"/>
                </a:solidFill>
                <a:latin typeface="Times New Roman" pitchFamily="18" charset="0"/>
              </a:rPr>
              <a:t>File.c</a:t>
            </a:r>
            <a:endParaRPr lang="en-US" altLang="zh-CN" sz="2000">
              <a:solidFill>
                <a:srgbClr val="4D4D4D"/>
              </a:solidFill>
              <a:latin typeface="Tahoma" pitchFamily="34" charset="0"/>
            </a:endParaRPr>
          </a:p>
        </p:txBody>
      </p:sp>
      <p:sp>
        <p:nvSpPr>
          <p:cNvPr id="29704" name="Text Box 7"/>
          <p:cNvSpPr txBox="1">
            <a:spLocks noChangeArrowheads="1"/>
          </p:cNvSpPr>
          <p:nvPr/>
        </p:nvSpPr>
        <p:spPr bwMode="auto">
          <a:xfrm>
            <a:off x="5096343" y="3008491"/>
            <a:ext cx="1322634" cy="11161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sz="2000">
                <a:solidFill>
                  <a:srgbClr val="4D4D4D"/>
                </a:solidFill>
                <a:latin typeface="Times New Roman" pitchFamily="18" charset="0"/>
              </a:rPr>
              <a:t>目标程序</a:t>
            </a:r>
          </a:p>
          <a:p>
            <a:pPr algn="just">
              <a:spcBef>
                <a:spcPct val="20000"/>
              </a:spcBef>
            </a:pPr>
            <a:r>
              <a:rPr lang="en-US" altLang="zh-CN" sz="2000">
                <a:solidFill>
                  <a:srgbClr val="4D4D4D"/>
                </a:solidFill>
                <a:latin typeface="Times New Roman" pitchFamily="18" charset="0"/>
              </a:rPr>
              <a:t>File.obj</a:t>
            </a:r>
            <a:endParaRPr lang="en-US" altLang="zh-CN" sz="2000">
              <a:solidFill>
                <a:srgbClr val="4D4D4D"/>
              </a:solidFill>
              <a:latin typeface="Tahoma" pitchFamily="34" charset="0"/>
            </a:endParaRPr>
          </a:p>
        </p:txBody>
      </p:sp>
      <p:sp>
        <p:nvSpPr>
          <p:cNvPr id="29705" name="Text Box 8"/>
          <p:cNvSpPr txBox="1">
            <a:spLocks noChangeArrowheads="1"/>
          </p:cNvSpPr>
          <p:nvPr/>
        </p:nvSpPr>
        <p:spPr bwMode="auto">
          <a:xfrm>
            <a:off x="7174769" y="3008491"/>
            <a:ext cx="1511582" cy="11161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sz="2000" dirty="0">
                <a:solidFill>
                  <a:srgbClr val="4D4D4D"/>
                </a:solidFill>
                <a:latin typeface="Times New Roman" pitchFamily="18" charset="0"/>
              </a:rPr>
              <a:t>可执行文件</a:t>
            </a:r>
          </a:p>
          <a:p>
            <a:pPr algn="just">
              <a:spcBef>
                <a:spcPct val="20000"/>
              </a:spcBef>
            </a:pPr>
            <a:r>
              <a:rPr lang="en-US" altLang="zh-CN" sz="2000" dirty="0">
                <a:solidFill>
                  <a:srgbClr val="4D4D4D"/>
                </a:solidFill>
                <a:latin typeface="Times New Roman" pitchFamily="18" charset="0"/>
              </a:rPr>
              <a:t>File.exe</a:t>
            </a:r>
            <a:endParaRPr lang="en-US" altLang="zh-CN" sz="2000" dirty="0">
              <a:solidFill>
                <a:srgbClr val="4D4D4D"/>
              </a:solidFill>
              <a:latin typeface="Tahoma" pitchFamily="34" charset="0"/>
            </a:endParaRPr>
          </a:p>
        </p:txBody>
      </p:sp>
      <p:sp>
        <p:nvSpPr>
          <p:cNvPr id="29706" name="Line 9"/>
          <p:cNvSpPr>
            <a:spLocks noChangeShapeType="1"/>
          </p:cNvSpPr>
          <p:nvPr/>
        </p:nvSpPr>
        <p:spPr bwMode="auto">
          <a:xfrm>
            <a:off x="4151604" y="3678204"/>
            <a:ext cx="9447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29707" name="Line 10"/>
          <p:cNvSpPr>
            <a:spLocks noChangeShapeType="1"/>
          </p:cNvSpPr>
          <p:nvPr/>
        </p:nvSpPr>
        <p:spPr bwMode="auto">
          <a:xfrm>
            <a:off x="6418978" y="3678204"/>
            <a:ext cx="75579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29708" name="AutoShape 11"/>
          <p:cNvSpPr>
            <a:spLocks noChangeArrowheads="1"/>
          </p:cNvSpPr>
          <p:nvPr/>
        </p:nvSpPr>
        <p:spPr bwMode="auto">
          <a:xfrm>
            <a:off x="4151604" y="1892302"/>
            <a:ext cx="944739" cy="892951"/>
          </a:xfrm>
          <a:prstGeom prst="wedgeEllipseCallout">
            <a:avLst>
              <a:gd name="adj1" fmla="val -1556"/>
              <a:gd name="adj2" fmla="val 147435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/>
          <a:p>
            <a:pPr algn="just" eaLnBrk="0" hangingPunct="0">
              <a:spcBef>
                <a:spcPct val="20000"/>
              </a:spcBef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编译</a:t>
            </a:r>
          </a:p>
        </p:txBody>
      </p:sp>
      <p:sp>
        <p:nvSpPr>
          <p:cNvPr id="29709" name="AutoShape 12"/>
          <p:cNvSpPr>
            <a:spLocks noChangeArrowheads="1"/>
          </p:cNvSpPr>
          <p:nvPr/>
        </p:nvSpPr>
        <p:spPr bwMode="auto">
          <a:xfrm>
            <a:off x="6418978" y="1892302"/>
            <a:ext cx="944739" cy="892951"/>
          </a:xfrm>
          <a:prstGeom prst="wedgeEllipseCallout">
            <a:avLst>
              <a:gd name="adj1" fmla="val -19333"/>
              <a:gd name="adj2" fmla="val 14615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/>
          <a:p>
            <a:pPr algn="just" eaLnBrk="0" hangingPunct="0">
              <a:spcBef>
                <a:spcPct val="20000"/>
              </a:spcBef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连接</a:t>
            </a:r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>
            <a:off x="2073179" y="3678204"/>
            <a:ext cx="75579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29711" name="AutoShape 14"/>
          <p:cNvSpPr>
            <a:spLocks noChangeArrowheads="1"/>
          </p:cNvSpPr>
          <p:nvPr/>
        </p:nvSpPr>
        <p:spPr bwMode="auto">
          <a:xfrm>
            <a:off x="1884231" y="1892302"/>
            <a:ext cx="944739" cy="892951"/>
          </a:xfrm>
          <a:prstGeom prst="wedgeEllipseCallout">
            <a:avLst>
              <a:gd name="adj1" fmla="val -1556"/>
              <a:gd name="adj2" fmla="val 147435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/>
          <a:p>
            <a:pPr algn="just" eaLnBrk="0" hangingPunct="0">
              <a:spcBef>
                <a:spcPct val="20000"/>
              </a:spcBef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编辑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>
            <a:off x="8686351" y="3678204"/>
            <a:ext cx="75579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29713" name="AutoShape 16"/>
          <p:cNvSpPr>
            <a:spLocks noChangeArrowheads="1"/>
          </p:cNvSpPr>
          <p:nvPr/>
        </p:nvSpPr>
        <p:spPr bwMode="auto">
          <a:xfrm>
            <a:off x="8875299" y="1892302"/>
            <a:ext cx="944739" cy="892951"/>
          </a:xfrm>
          <a:prstGeom prst="wedgeEllipseCallout">
            <a:avLst>
              <a:gd name="adj1" fmla="val -39333"/>
              <a:gd name="adj2" fmla="val 151282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/>
          <a:p>
            <a:pPr algn="just" eaLnBrk="0" hangingPunct="0">
              <a:spcBef>
                <a:spcPct val="20000"/>
              </a:spcBef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运行</a:t>
            </a:r>
          </a:p>
        </p:txBody>
      </p:sp>
      <p:sp>
        <p:nvSpPr>
          <p:cNvPr id="29714" name="Text Box 17"/>
          <p:cNvSpPr txBox="1">
            <a:spLocks noChangeArrowheads="1"/>
          </p:cNvSpPr>
          <p:nvPr/>
        </p:nvSpPr>
        <p:spPr bwMode="auto">
          <a:xfrm>
            <a:off x="9442142" y="3008491"/>
            <a:ext cx="944739" cy="11161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08000" tIns="154800" rIns="0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sz="2000">
                <a:solidFill>
                  <a:srgbClr val="4D4D4D"/>
                </a:solidFill>
                <a:latin typeface="Times New Roman" pitchFamily="18" charset="0"/>
              </a:rPr>
              <a:t>结果</a:t>
            </a:r>
            <a:endParaRPr lang="zh-CN" altLang="en-US" sz="2000">
              <a:solidFill>
                <a:srgbClr val="4D4D4D"/>
              </a:solidFill>
              <a:latin typeface="Tahoma" pitchFamily="34" charset="0"/>
            </a:endParaRPr>
          </a:p>
        </p:txBody>
      </p:sp>
      <p:sp>
        <p:nvSpPr>
          <p:cNvPr id="29715" name="AutoShape 18"/>
          <p:cNvSpPr>
            <a:spLocks noChangeArrowheads="1"/>
          </p:cNvSpPr>
          <p:nvPr/>
        </p:nvSpPr>
        <p:spPr bwMode="auto">
          <a:xfrm>
            <a:off x="6041082" y="4347918"/>
            <a:ext cx="1511582" cy="892951"/>
          </a:xfrm>
          <a:prstGeom prst="cloudCallout">
            <a:avLst>
              <a:gd name="adj1" fmla="val -7292"/>
              <a:gd name="adj2" fmla="val -120671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just" eaLnBrk="0" hangingPunct="0">
              <a:spcBef>
                <a:spcPct val="20000"/>
              </a:spcBef>
            </a:pPr>
            <a:r>
              <a:rPr lang="zh-CN" altLang="en-US" sz="2000">
                <a:solidFill>
                  <a:srgbClr val="4D4D4D"/>
                </a:solidFill>
              </a:rPr>
              <a:t>库函数</a:t>
            </a:r>
          </a:p>
          <a:p>
            <a:pPr eaLnBrk="0" hangingPunct="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4D4D4D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2424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nimBg="1"/>
      <p:bldP spid="29704" grpId="0" animBg="1"/>
      <p:bldP spid="29705" grpId="0" animBg="1"/>
      <p:bldP spid="29706" grpId="0" animBg="1"/>
      <p:bldP spid="29707" grpId="0" animBg="1"/>
      <p:bldP spid="29708" grpId="0" animBg="1"/>
      <p:bldP spid="29709" grpId="0" animBg="1"/>
      <p:bldP spid="29710" grpId="0" animBg="1"/>
      <p:bldP spid="29711" grpId="0" animBg="1"/>
      <p:bldP spid="29712" grpId="0" animBg="1"/>
      <p:bldP spid="29713" grpId="0" animBg="1"/>
      <p:bldP spid="29714" grpId="0" animBg="1"/>
      <p:bldP spid="297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2531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306606" y="1450305"/>
            <a:ext cx="9582823" cy="337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358" tIns="54910" rIns="63358" bIns="12672" anchor="ctr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6./*……*/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或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//……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为注释语句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仅起注释作用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程序运行时不被执行。</a:t>
            </a:r>
            <a:endParaRPr lang="en-US" altLang="zh-CN" sz="2800" dirty="0">
              <a:latin typeface="仿宋" pitchFamily="49" charset="-122"/>
              <a:ea typeface="仿宋" pitchFamily="49" charset="-122"/>
            </a:endParaRPr>
          </a:p>
          <a:p>
            <a:pPr marL="800100" lvl="1" indent="-342900"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前一种形式的注释语句可位于程序任何部位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但后一种形式的</a:t>
            </a:r>
            <a:r>
              <a:rPr lang="zh-CN" altLang="en-US" sz="2800">
                <a:latin typeface="仿宋" pitchFamily="49" charset="-122"/>
                <a:ea typeface="仿宋" pitchFamily="49" charset="-122"/>
              </a:rPr>
              <a:t>注释语句一般放在行末（不能换行）</a:t>
            </a:r>
            <a:endParaRPr lang="en-US" altLang="zh-CN" sz="2800" dirty="0">
              <a:latin typeface="仿宋" pitchFamily="49" charset="-122"/>
              <a:ea typeface="仿宋" pitchFamily="49" charset="-122"/>
            </a:endParaRPr>
          </a:p>
          <a:p>
            <a:pPr marL="800100" lvl="1" indent="-342900"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若注释语句需分开写在两行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或多行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),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则用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/*……*/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29930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直接连接符 2"/>
          <p:cNvSpPr>
            <a:spLocks noChangeShapeType="1"/>
          </p:cNvSpPr>
          <p:nvPr/>
        </p:nvSpPr>
        <p:spPr bwMode="auto">
          <a:xfrm rot="5400000">
            <a:off x="1221186" y="406797"/>
            <a:ext cx="817033" cy="344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22531" name="直接连接符 3"/>
          <p:cNvSpPr>
            <a:spLocks noChangeShapeType="1"/>
          </p:cNvSpPr>
          <p:nvPr/>
        </p:nvSpPr>
        <p:spPr bwMode="auto">
          <a:xfrm rot="5400000">
            <a:off x="1455672" y="239384"/>
            <a:ext cx="480484" cy="1719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7287" tIns="53643" rIns="107287" bIns="53643"/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231901" y="1012840"/>
            <a:ext cx="9582823" cy="4017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358" tIns="54910" rIns="63358" bIns="12672" anchor="ctr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7.C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源程序中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英文字母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区分大小写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例如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主函数名为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main,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而非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Main)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2800" dirty="0">
              <a:latin typeface="仿宋" pitchFamily="49" charset="-122"/>
              <a:ea typeface="仿宋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8.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若需要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几个语句可写在同一行</a:t>
            </a: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一个语句也可分开写在多个行（任何空格处或符号处都可以换行）。但规范写法应是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一行一条语句，一条语句写在一行中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2800" dirty="0">
              <a:latin typeface="仿宋" pitchFamily="49" charset="-122"/>
              <a:ea typeface="仿宋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仿宋" pitchFamily="49" charset="-122"/>
                <a:ea typeface="仿宋" pitchFamily="49" charset="-122"/>
              </a:rPr>
              <a:t>9.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的每个文件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以及每个函数都可以单独编译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.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7924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9CEA5BF3-7D73-43EF-95CF-A6856EA8912A}" type="slidenum">
              <a:rPr kumimoji="0" lang="zh-CN" altLang="en-US" sz="1400" b="0"/>
              <a:pPr eaLnBrk="1" hangingPunct="1"/>
              <a:t>18</a:t>
            </a:fld>
            <a:endParaRPr kumimoji="0" lang="en-US" altLang="zh-CN" sz="1400" b="0"/>
          </a:p>
        </p:txBody>
      </p:sp>
      <p:sp>
        <p:nvSpPr>
          <p:cNvPr id="15363" name="Text Box 1026"/>
          <p:cNvSpPr txBox="1">
            <a:spLocks noChangeArrowheads="1"/>
          </p:cNvSpPr>
          <p:nvPr/>
        </p:nvSpPr>
        <p:spPr bwMode="auto">
          <a:xfrm>
            <a:off x="1143000" y="1"/>
            <a:ext cx="3348038" cy="519113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CC"/>
                </a:solidFill>
                <a:ea typeface="隶书" pitchFamily="49" charset="-122"/>
              </a:rPr>
              <a:t>第一章 </a:t>
            </a:r>
            <a:r>
              <a:rPr lang="en-US" altLang="en-US" sz="2800">
                <a:solidFill>
                  <a:srgbClr val="0000CC"/>
                </a:solidFill>
                <a:ea typeface="隶书" pitchFamily="49" charset="-122"/>
              </a:rPr>
              <a:t>C</a:t>
            </a:r>
            <a:r>
              <a:rPr lang="zh-CN" altLang="en-US" sz="2800">
                <a:solidFill>
                  <a:srgbClr val="0000CC"/>
                </a:solidFill>
                <a:ea typeface="隶书" pitchFamily="49" charset="-122"/>
              </a:rPr>
              <a:t>语言概述</a:t>
            </a:r>
            <a:endParaRPr lang="zh-CN" altLang="en-US" sz="2400" b="0"/>
          </a:p>
        </p:txBody>
      </p:sp>
      <p:sp>
        <p:nvSpPr>
          <p:cNvPr id="15364" name="Text Box 1028"/>
          <p:cNvSpPr txBox="1">
            <a:spLocks noChangeArrowheads="1"/>
          </p:cNvSpPr>
          <p:nvPr/>
        </p:nvSpPr>
        <p:spPr bwMode="auto">
          <a:xfrm>
            <a:off x="1660526" y="731839"/>
            <a:ext cx="26193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b="0" dirty="0">
                <a:solidFill>
                  <a:srgbClr val="0000CC"/>
                </a:solidFill>
                <a:ea typeface="隶书" pitchFamily="49" charset="-122"/>
              </a:rPr>
              <a:t>小结</a:t>
            </a:r>
            <a:r>
              <a:rPr lang="en-US" altLang="zh-CN" sz="3200" b="0" dirty="0">
                <a:solidFill>
                  <a:srgbClr val="0000CC"/>
                </a:solidFill>
                <a:ea typeface="隶书" pitchFamily="49" charset="-122"/>
              </a:rPr>
              <a:t>:</a:t>
            </a:r>
            <a:endParaRPr lang="zh-CN" altLang="en-US" sz="3200" b="0" dirty="0">
              <a:solidFill>
                <a:srgbClr val="0000CC"/>
              </a:solidFill>
              <a:ea typeface="隶书" pitchFamily="49" charset="-122"/>
            </a:endParaRPr>
          </a:p>
        </p:txBody>
      </p:sp>
      <p:sp>
        <p:nvSpPr>
          <p:cNvPr id="15365" name="Text Box 1029"/>
          <p:cNvSpPr txBox="1">
            <a:spLocks noChangeArrowheads="1"/>
          </p:cNvSpPr>
          <p:nvPr/>
        </p:nvSpPr>
        <p:spPr bwMode="auto">
          <a:xfrm>
            <a:off x="2309814" y="1404939"/>
            <a:ext cx="4638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000000"/>
                </a:solidFill>
              </a:rPr>
              <a:t>1、</a:t>
            </a:r>
            <a:r>
              <a:rPr lang="en-US" altLang="en-US" sz="3200">
                <a:solidFill>
                  <a:srgbClr val="000000"/>
                </a:solidFill>
              </a:rPr>
              <a:t>C</a:t>
            </a:r>
            <a:r>
              <a:rPr lang="zh-CN" altLang="en-US" sz="3200">
                <a:solidFill>
                  <a:srgbClr val="000000"/>
                </a:solidFill>
              </a:rPr>
              <a:t>程序由函数构成</a:t>
            </a:r>
          </a:p>
        </p:txBody>
      </p:sp>
      <p:sp>
        <p:nvSpPr>
          <p:cNvPr id="129031" name="Text Box 1031"/>
          <p:cNvSpPr txBox="1">
            <a:spLocks noChangeArrowheads="1"/>
          </p:cNvSpPr>
          <p:nvPr/>
        </p:nvSpPr>
        <p:spPr bwMode="auto">
          <a:xfrm>
            <a:off x="2068514" y="1855789"/>
            <a:ext cx="269398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0000"/>
                </a:solidFill>
              </a:rPr>
              <a:t>C</a:t>
            </a:r>
            <a:r>
              <a:rPr lang="zh-CN" altLang="en-US" sz="3200">
                <a:solidFill>
                  <a:srgbClr val="000000"/>
                </a:solidFill>
              </a:rPr>
              <a:t>程序=</a:t>
            </a:r>
            <a:r>
              <a:rPr lang="zh-CN" altLang="en-US" sz="8000" b="0">
                <a:solidFill>
                  <a:srgbClr val="000000"/>
                </a:solidFill>
              </a:rPr>
              <a:t>{</a:t>
            </a:r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129032" name="Text Box 1032"/>
          <p:cNvSpPr txBox="1">
            <a:spLocks noChangeArrowheads="1"/>
          </p:cNvSpPr>
          <p:nvPr/>
        </p:nvSpPr>
        <p:spPr bwMode="auto">
          <a:xfrm>
            <a:off x="4179888" y="2166938"/>
            <a:ext cx="6869112" cy="989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65000"/>
              </a:lnSpc>
            </a:pPr>
            <a:r>
              <a:rPr lang="zh-CN" altLang="en-US" sz="3200">
                <a:solidFill>
                  <a:srgbClr val="000000"/>
                </a:solidFill>
              </a:rPr>
              <a:t>一个主函数（</a:t>
            </a:r>
            <a:r>
              <a:rPr lang="en-US" altLang="en-US" sz="3200">
                <a:solidFill>
                  <a:srgbClr val="000000"/>
                </a:solidFill>
              </a:rPr>
              <a:t>main</a:t>
            </a:r>
            <a:r>
              <a:rPr lang="zh-CN" altLang="en-US" sz="3200">
                <a:solidFill>
                  <a:srgbClr val="000000"/>
                </a:solidFill>
              </a:rPr>
              <a:t>函数）</a:t>
            </a:r>
          </a:p>
          <a:p>
            <a:pPr eaLnBrk="1" hangingPunct="1">
              <a:lnSpc>
                <a:spcPct val="65000"/>
              </a:lnSpc>
            </a:pPr>
            <a:r>
              <a:rPr lang="zh-CN" altLang="en-US" sz="3200">
                <a:solidFill>
                  <a:srgbClr val="000000"/>
                </a:solidFill>
              </a:rPr>
              <a:t>一个主函数+若干其他函数(子或库)</a:t>
            </a:r>
          </a:p>
        </p:txBody>
      </p:sp>
      <p:grpSp>
        <p:nvGrpSpPr>
          <p:cNvPr id="129058" name="Group 1058"/>
          <p:cNvGrpSpPr>
            <a:grpSpLocks/>
          </p:cNvGrpSpPr>
          <p:nvPr/>
        </p:nvGrpSpPr>
        <p:grpSpPr bwMode="auto">
          <a:xfrm>
            <a:off x="2462213" y="3167063"/>
            <a:ext cx="4216400" cy="1435100"/>
            <a:chOff x="831" y="2043"/>
            <a:chExt cx="2656" cy="904"/>
          </a:xfrm>
        </p:grpSpPr>
        <p:sp>
          <p:nvSpPr>
            <p:cNvPr id="15378" name="Text Box 1034"/>
            <p:cNvSpPr txBox="1">
              <a:spLocks noChangeArrowheads="1"/>
            </p:cNvSpPr>
            <p:nvPr/>
          </p:nvSpPr>
          <p:spPr bwMode="auto">
            <a:xfrm>
              <a:off x="2232" y="2128"/>
              <a:ext cx="1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3200" dirty="0">
                  <a:solidFill>
                    <a:srgbClr val="000000"/>
                  </a:solidFill>
                </a:rPr>
                <a:t>函数头</a:t>
              </a:r>
            </a:p>
          </p:txBody>
        </p:sp>
        <p:sp>
          <p:nvSpPr>
            <p:cNvPr id="15379" name="Text Box 1036"/>
            <p:cNvSpPr txBox="1">
              <a:spLocks noChangeArrowheads="1"/>
            </p:cNvSpPr>
            <p:nvPr/>
          </p:nvSpPr>
          <p:spPr bwMode="auto">
            <a:xfrm>
              <a:off x="831" y="2043"/>
              <a:ext cx="1551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3200">
                  <a:solidFill>
                    <a:srgbClr val="000000"/>
                  </a:solidFill>
                </a:rPr>
                <a:t>2、函数</a:t>
              </a:r>
              <a:r>
                <a:rPr lang="zh-CN" altLang="en-US" sz="8000" b="0">
                  <a:solidFill>
                    <a:srgbClr val="000000"/>
                  </a:solidFill>
                </a:rPr>
                <a:t>{</a:t>
              </a:r>
              <a:endParaRPr lang="zh-CN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15380" name="Text Box 1037"/>
            <p:cNvSpPr txBox="1">
              <a:spLocks noChangeArrowheads="1"/>
            </p:cNvSpPr>
            <p:nvPr/>
          </p:nvSpPr>
          <p:spPr bwMode="auto">
            <a:xfrm>
              <a:off x="2185" y="2582"/>
              <a:ext cx="129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3200">
                  <a:solidFill>
                    <a:srgbClr val="000000"/>
                  </a:solidFill>
                </a:rPr>
                <a:t>{ 函数体 }</a:t>
              </a:r>
              <a:endParaRPr lang="zh-CN" altLang="en-US" sz="80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129048" name="Group 1048"/>
          <p:cNvGrpSpPr>
            <a:grpSpLocks/>
          </p:cNvGrpSpPr>
          <p:nvPr/>
        </p:nvGrpSpPr>
        <p:grpSpPr bwMode="auto">
          <a:xfrm>
            <a:off x="6632576" y="3487739"/>
            <a:ext cx="4125913" cy="1311275"/>
            <a:chOff x="3388" y="2465"/>
            <a:chExt cx="2598" cy="826"/>
          </a:xfrm>
        </p:grpSpPr>
        <p:sp>
          <p:nvSpPr>
            <p:cNvPr id="15375" name="Text Box 1039"/>
            <p:cNvSpPr txBox="1">
              <a:spLocks noChangeArrowheads="1"/>
            </p:cNvSpPr>
            <p:nvPr/>
          </p:nvSpPr>
          <p:spPr bwMode="auto">
            <a:xfrm>
              <a:off x="3674" y="2634"/>
              <a:ext cx="1341" cy="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数据定义</a:t>
              </a:r>
            </a:p>
            <a:p>
              <a:pPr algn="ctr" eaLnBrk="1" hangingPunct="1"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执行部分</a:t>
              </a:r>
            </a:p>
          </p:txBody>
        </p:sp>
        <p:sp>
          <p:nvSpPr>
            <p:cNvPr id="15376" name="Text Box 1040"/>
            <p:cNvSpPr txBox="1">
              <a:spLocks noChangeArrowheads="1"/>
            </p:cNvSpPr>
            <p:nvPr/>
          </p:nvSpPr>
          <p:spPr bwMode="auto">
            <a:xfrm>
              <a:off x="4524" y="2701"/>
              <a:ext cx="146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3200">
                  <a:solidFill>
                    <a:srgbClr val="000000"/>
                  </a:solidFill>
                </a:rPr>
                <a:t>（语句）</a:t>
              </a:r>
            </a:p>
          </p:txBody>
        </p:sp>
        <p:sp>
          <p:nvSpPr>
            <p:cNvPr id="15377" name="Rectangle 1045"/>
            <p:cNvSpPr>
              <a:spLocks noChangeArrowheads="1"/>
            </p:cNvSpPr>
            <p:nvPr/>
          </p:nvSpPr>
          <p:spPr bwMode="auto">
            <a:xfrm>
              <a:off x="3388" y="2465"/>
              <a:ext cx="381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8000" b="0">
                  <a:solidFill>
                    <a:srgbClr val="000000"/>
                  </a:solidFill>
                </a:rPr>
                <a:t>{</a:t>
              </a:r>
            </a:p>
          </p:txBody>
        </p:sp>
      </p:grpSp>
      <p:sp>
        <p:nvSpPr>
          <p:cNvPr id="15371" name="AutoShape 105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810750" y="6371581"/>
            <a:ext cx="1238250" cy="461665"/>
          </a:xfrm>
          <a:prstGeom prst="actionButtonBlank">
            <a:avLst/>
          </a:prstGeom>
          <a:solidFill>
            <a:srgbClr val="008080"/>
          </a:solidFill>
          <a:ln>
            <a:noFill/>
          </a:ln>
          <a:effectLst>
            <a:prstShdw prst="shdw17" dist="17961" dir="2700000">
              <a:srgbClr val="004D4D"/>
            </a:prst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400"/>
              <a:t>跳转</a:t>
            </a:r>
          </a:p>
        </p:txBody>
      </p:sp>
      <p:sp>
        <p:nvSpPr>
          <p:cNvPr id="129052" name="Text Box 1052"/>
          <p:cNvSpPr txBox="1">
            <a:spLocks noChangeArrowheads="1"/>
          </p:cNvSpPr>
          <p:nvPr/>
        </p:nvSpPr>
        <p:spPr bwMode="auto">
          <a:xfrm>
            <a:off x="2594499" y="4827476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000000"/>
                </a:solidFill>
              </a:rPr>
              <a:t>3、语句书写自由，后带分号“；”</a:t>
            </a:r>
          </a:p>
        </p:txBody>
      </p:sp>
      <p:sp>
        <p:nvSpPr>
          <p:cNvPr id="129053" name="Text Box 1053"/>
          <p:cNvSpPr txBox="1">
            <a:spLocks noChangeArrowheads="1"/>
          </p:cNvSpPr>
          <p:nvPr/>
        </p:nvSpPr>
        <p:spPr bwMode="auto">
          <a:xfrm>
            <a:off x="2594500" y="5627708"/>
            <a:ext cx="74342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000000"/>
                </a:solidFill>
              </a:rPr>
              <a:t>4、可用 /*……*/ 或</a:t>
            </a:r>
            <a:r>
              <a:rPr lang="en-US" altLang="zh-CN" sz="3200" dirty="0">
                <a:solidFill>
                  <a:srgbClr val="000000"/>
                </a:solidFill>
              </a:rPr>
              <a:t>//</a:t>
            </a:r>
            <a:r>
              <a:rPr lang="zh-CN" altLang="en-US" sz="3200" dirty="0">
                <a:solidFill>
                  <a:srgbClr val="000000"/>
                </a:solidFill>
              </a:rPr>
              <a:t>对</a:t>
            </a:r>
            <a:r>
              <a:rPr lang="en-US" altLang="en-US" sz="3200" dirty="0">
                <a:solidFill>
                  <a:srgbClr val="000000"/>
                </a:solidFill>
              </a:rPr>
              <a:t>C</a:t>
            </a:r>
            <a:r>
              <a:rPr lang="zh-CN" altLang="en-US" sz="3200" dirty="0">
                <a:solidFill>
                  <a:srgbClr val="000000"/>
                </a:solidFill>
              </a:rPr>
              <a:t>程序作注释</a:t>
            </a:r>
          </a:p>
        </p:txBody>
      </p:sp>
      <p:sp>
        <p:nvSpPr>
          <p:cNvPr id="15374" name="AutoShape 105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212850" y="6343006"/>
            <a:ext cx="1238250" cy="461665"/>
          </a:xfrm>
          <a:prstGeom prst="actionButtonBlank">
            <a:avLst/>
          </a:prstGeom>
          <a:solidFill>
            <a:srgbClr val="008080"/>
          </a:solidFill>
          <a:ln>
            <a:noFill/>
          </a:ln>
          <a:effectLst>
            <a:prstShdw prst="shdw17" dist="17961" dir="2700000">
              <a:srgbClr val="004D4D"/>
            </a:prst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400"/>
              <a:t>前一页</a:t>
            </a:r>
          </a:p>
        </p:txBody>
      </p:sp>
    </p:spTree>
    <p:extLst>
      <p:ext uri="{BB962C8B-B14F-4D97-AF65-F5344CB8AC3E}">
        <p14:creationId xmlns:p14="http://schemas.microsoft.com/office/powerpoint/2010/main" val="37899911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/>
      <p:bldP spid="129032" grpId="0"/>
      <p:bldP spid="129052" grpId="0" autoUpdateAnimBg="0"/>
      <p:bldP spid="12905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846667"/>
            <a:ext cx="7924800" cy="21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3300"/>
              <a:t> 一个C程序的执行是从_____。 </a:t>
            </a:r>
          </a:p>
        </p:txBody>
      </p:sp>
      <p:sp>
        <p:nvSpPr>
          <p:cNvPr id="30723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4200" y="27860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300"/>
              <a:t>main函数开始,到main函数结束</a:t>
            </a:r>
            <a:endParaRPr lang="zh-CN" altLang="en-US" sz="2800"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0724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24200" y="34718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300"/>
              <a:t>本程序文件的第一个函数开始,到本程序文件的最后一个函数结束 </a:t>
            </a:r>
          </a:p>
        </p:txBody>
      </p:sp>
      <p:sp>
        <p:nvSpPr>
          <p:cNvPr id="30725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24200" y="41576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300"/>
              <a:t>main函数开始,到本程序文件的最后一个函数结束</a:t>
            </a:r>
            <a:endParaRPr lang="zh-CN" altLang="en-US" sz="2800"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0726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24200" y="48434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300"/>
              <a:t>本程序文件的第一个函数开始,到本程序main函数结束 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0806" y="2850356"/>
            <a:ext cx="416190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0806" y="3536156"/>
            <a:ext cx="416190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0806" y="4221956"/>
            <a:ext cx="416190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0806" y="4907756"/>
            <a:ext cx="416190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763" y="6215063"/>
            <a:ext cx="1253729" cy="412751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zh-CN" altLang="en-US" sz="1900">
                <a:solidFill>
                  <a:schemeClr val="tx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30732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6667"/>
            <a:chOff x="-1055077" y="-1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7" y="-1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7" y="-1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30736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5" y="-1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1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30737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6881" y="81914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1830270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846667"/>
            <a:ext cx="7924800" cy="21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/>
              <a:t>C</a:t>
            </a:r>
            <a:r>
              <a:rPr lang="zh-CN" altLang="en-US" sz="3300"/>
              <a:t>语言规定</a:t>
            </a:r>
            <a:r>
              <a:rPr lang="en-US" altLang="zh-CN" sz="3300"/>
              <a:t>:</a:t>
            </a:r>
            <a:r>
              <a:rPr lang="zh-CN" altLang="en-US" sz="3300"/>
              <a:t>在一个源程序中</a:t>
            </a:r>
            <a:r>
              <a:rPr lang="en-US" altLang="zh-CN" sz="3300"/>
              <a:t>,main</a:t>
            </a:r>
            <a:r>
              <a:rPr lang="zh-CN" altLang="en-US" sz="3300"/>
              <a:t>函数的位置 </a:t>
            </a:r>
            <a:r>
              <a:rPr lang="en-US" altLang="zh-CN" sz="3300"/>
              <a:t>______</a:t>
            </a:r>
            <a:r>
              <a:rPr lang="zh-CN" altLang="en-US" sz="3300"/>
              <a:t> </a:t>
            </a:r>
          </a:p>
        </p:txBody>
      </p:sp>
      <p:sp>
        <p:nvSpPr>
          <p:cNvPr id="32771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4200" y="27860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300"/>
              <a:t>在必须在最开始 </a:t>
            </a:r>
          </a:p>
        </p:txBody>
      </p:sp>
      <p:sp>
        <p:nvSpPr>
          <p:cNvPr id="32772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24200" y="34718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300"/>
              <a:t>必须在系统调用的库函数的后面 </a:t>
            </a:r>
          </a:p>
        </p:txBody>
      </p:sp>
      <p:sp>
        <p:nvSpPr>
          <p:cNvPr id="32773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24200" y="41576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300"/>
              <a:t>可以任意</a:t>
            </a:r>
          </a:p>
        </p:txBody>
      </p:sp>
      <p:sp>
        <p:nvSpPr>
          <p:cNvPr id="32774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24200" y="4843463"/>
            <a:ext cx="69342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300"/>
              <a:t>必须在最后 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0806" y="2850356"/>
            <a:ext cx="416190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0806" y="3536156"/>
            <a:ext cx="416190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0806" y="4221956"/>
            <a:ext cx="416190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0806" y="4907756"/>
            <a:ext cx="416190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763" y="6215063"/>
            <a:ext cx="1253729" cy="412751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zh-CN" altLang="en-US" sz="1900">
                <a:solidFill>
                  <a:schemeClr val="tx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32780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6667"/>
            <a:chOff x="-1055077" y="-1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7" y="-1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7" y="-1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32784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5" y="-1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1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32785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6881" y="81914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63104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846667"/>
            <a:ext cx="7924800" cy="21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 dirty="0"/>
              <a:t>C </a:t>
            </a:r>
            <a:r>
              <a:rPr lang="zh-CN" altLang="en-US" sz="3300" dirty="0"/>
              <a:t>语言源程序文件经过编译生成文件扩展名为（ ）。</a:t>
            </a:r>
          </a:p>
        </p:txBody>
      </p:sp>
      <p:sp>
        <p:nvSpPr>
          <p:cNvPr id="32771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88944" y="2786063"/>
            <a:ext cx="1087754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300"/>
              <a:t>.exe </a:t>
            </a:r>
            <a:endParaRPr lang="zh-CN" altLang="en-US" sz="2300" dirty="0"/>
          </a:p>
        </p:txBody>
      </p:sp>
      <p:sp>
        <p:nvSpPr>
          <p:cNvPr id="32772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88944" y="3471863"/>
            <a:ext cx="1087754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300"/>
              <a:t>.obj</a:t>
            </a:r>
            <a:endParaRPr lang="zh-CN" altLang="en-US" sz="2300" dirty="0"/>
          </a:p>
        </p:txBody>
      </p:sp>
      <p:sp>
        <p:nvSpPr>
          <p:cNvPr id="32773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465183" y="2850356"/>
            <a:ext cx="1087754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300" dirty="0"/>
              <a:t>.C</a:t>
            </a:r>
            <a:endParaRPr lang="zh-CN" altLang="en-US" sz="2300" dirty="0"/>
          </a:p>
        </p:txBody>
      </p:sp>
      <p:sp>
        <p:nvSpPr>
          <p:cNvPr id="32774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465183" y="3536156"/>
            <a:ext cx="1087754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300" dirty="0"/>
              <a:t>.PY</a:t>
            </a:r>
            <a:endParaRPr lang="zh-CN" altLang="en-US" sz="2300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51809" y="2850356"/>
            <a:ext cx="539015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51809" y="3536156"/>
            <a:ext cx="539015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728048" y="2914649"/>
            <a:ext cx="539015" cy="514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28048" y="3600449"/>
            <a:ext cx="539015" cy="514351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763" y="6215063"/>
            <a:ext cx="1253729" cy="412751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 anchorCtr="1"/>
          <a:lstStyle/>
          <a:p>
            <a:pPr algn="ctr">
              <a:defRPr/>
            </a:pPr>
            <a:r>
              <a:rPr lang="zh-CN" altLang="en-US" sz="1900">
                <a:solidFill>
                  <a:schemeClr val="tx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32780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6667"/>
            <a:chOff x="-1055077" y="-1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7" y="-1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7" y="-1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32784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5" y="-1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1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32785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6881" y="81914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3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40043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0A91-2AB0-44AA-A7B5-2A833369FCE6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482306" name="Text Box 2"/>
          <p:cNvSpPr txBox="1">
            <a:spLocks noChangeArrowheads="1"/>
          </p:cNvSpPr>
          <p:nvPr/>
        </p:nvSpPr>
        <p:spPr bwMode="auto">
          <a:xfrm>
            <a:off x="4573588" y="660401"/>
            <a:ext cx="37211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1.7 </a:t>
            </a:r>
            <a:r>
              <a:rPr lang="zh-CN" altLang="en-US" sz="4000" dirty="0">
                <a:solidFill>
                  <a:srgbClr val="0000CC"/>
                </a:solidFill>
              </a:rPr>
              <a:t>算法概述</a:t>
            </a:r>
          </a:p>
        </p:txBody>
      </p:sp>
      <p:sp>
        <p:nvSpPr>
          <p:cNvPr id="482310" name="Text Box 6"/>
          <p:cNvSpPr txBox="1">
            <a:spLocks noChangeArrowheads="1"/>
          </p:cNvSpPr>
          <p:nvPr/>
        </p:nvSpPr>
        <p:spPr bwMode="auto">
          <a:xfrm>
            <a:off x="2392364" y="1841500"/>
            <a:ext cx="8353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endParaRPr lang="en-US" altLang="zh-CN">
              <a:solidFill>
                <a:srgbClr val="993300"/>
              </a:solidFill>
            </a:endParaRPr>
          </a:p>
        </p:txBody>
      </p:sp>
      <p:sp>
        <p:nvSpPr>
          <p:cNvPr id="482311" name="Text Box 7"/>
          <p:cNvSpPr txBox="1">
            <a:spLocks noChangeArrowheads="1"/>
          </p:cNvSpPr>
          <p:nvPr/>
        </p:nvSpPr>
        <p:spPr bwMode="auto">
          <a:xfrm>
            <a:off x="1305242" y="1453367"/>
            <a:ext cx="3833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数据结构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</a:p>
        </p:txBody>
      </p:sp>
      <p:sp>
        <p:nvSpPr>
          <p:cNvPr id="482313" name="Text Box 9"/>
          <p:cNvSpPr txBox="1">
            <a:spLocks noChangeArrowheads="1"/>
          </p:cNvSpPr>
          <p:nvPr/>
        </p:nvSpPr>
        <p:spPr bwMode="auto">
          <a:xfrm>
            <a:off x="1446211" y="2230438"/>
            <a:ext cx="43386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0000"/>
                </a:solidFill>
              </a:rPr>
              <a:t>数据结构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r>
              <a:rPr lang="zh-CN" altLang="en-US" sz="2800" dirty="0">
                <a:solidFill>
                  <a:srgbClr val="000000"/>
                </a:solidFill>
              </a:rPr>
              <a:t>对数据的描述</a:t>
            </a:r>
          </a:p>
        </p:txBody>
      </p:sp>
      <p:sp>
        <p:nvSpPr>
          <p:cNvPr id="482314" name="Text Box 10"/>
          <p:cNvSpPr txBox="1">
            <a:spLocks noChangeArrowheads="1"/>
          </p:cNvSpPr>
          <p:nvPr/>
        </p:nvSpPr>
        <p:spPr bwMode="auto">
          <a:xfrm>
            <a:off x="1446211" y="3429000"/>
            <a:ext cx="36928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0000"/>
                </a:solidFill>
              </a:rPr>
              <a:t>算法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r>
              <a:rPr lang="zh-CN" altLang="en-US" sz="2800" dirty="0">
                <a:solidFill>
                  <a:srgbClr val="000000"/>
                </a:solidFill>
              </a:rPr>
              <a:t>对操作的描述</a:t>
            </a:r>
          </a:p>
        </p:txBody>
      </p:sp>
      <p:sp>
        <p:nvSpPr>
          <p:cNvPr id="482318" name="Rectangle 14"/>
          <p:cNvSpPr>
            <a:spLocks noChangeArrowheads="1"/>
          </p:cNvSpPr>
          <p:nvPr/>
        </p:nvSpPr>
        <p:spPr bwMode="auto">
          <a:xfrm>
            <a:off x="6226177" y="1686405"/>
            <a:ext cx="4814888" cy="4398897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dirty="0"/>
              <a:t>#include </a:t>
            </a:r>
            <a:r>
              <a:rPr lang="en-US" altLang="en-US" sz="3200" dirty="0"/>
              <a:t>“math.h”</a:t>
            </a:r>
            <a:endParaRPr lang="en-US" altLang="zh-CN" sz="3200" dirty="0"/>
          </a:p>
          <a:p>
            <a:pPr>
              <a:lnSpc>
                <a:spcPct val="80000"/>
              </a:lnSpc>
            </a:pPr>
            <a:r>
              <a:rPr lang="zh-CN" altLang="en-US" sz="3200" dirty="0"/>
              <a:t> </a:t>
            </a:r>
            <a:r>
              <a:rPr lang="en-US" altLang="en-US" sz="3200" dirty="0"/>
              <a:t>main( )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{ 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  float </a:t>
            </a:r>
            <a:r>
              <a:rPr lang="en-US" altLang="zh-CN" sz="3200" dirty="0"/>
              <a:t>x</a:t>
            </a:r>
            <a:r>
              <a:rPr lang="en-US" altLang="en-US" sz="3200" dirty="0"/>
              <a:t>, </a:t>
            </a:r>
            <a:r>
              <a:rPr lang="en-US" altLang="zh-CN" sz="3200" dirty="0"/>
              <a:t>y</a:t>
            </a:r>
            <a:r>
              <a:rPr lang="en-US" altLang="en-US" sz="3200" dirty="0"/>
              <a:t>;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   </a:t>
            </a:r>
            <a:r>
              <a:rPr lang="en-US" altLang="zh-CN" sz="3200" dirty="0"/>
              <a:t>x=45</a:t>
            </a:r>
            <a:r>
              <a:rPr lang="en-US" altLang="en-US" sz="3200" dirty="0"/>
              <a:t>;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   </a:t>
            </a:r>
            <a:r>
              <a:rPr lang="en-US" altLang="zh-CN" sz="3200" dirty="0"/>
              <a:t>y</a:t>
            </a:r>
            <a:r>
              <a:rPr lang="en-US" altLang="en-US" sz="3200" dirty="0"/>
              <a:t>=2</a:t>
            </a:r>
            <a:r>
              <a:rPr lang="en-US" altLang="zh-CN" sz="3200" dirty="0"/>
              <a:t>*sin(x*3.14/180)</a:t>
            </a:r>
            <a:r>
              <a:rPr lang="en-US" altLang="en-US" sz="3200" dirty="0"/>
              <a:t>;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   printf(“</a:t>
            </a:r>
            <a:r>
              <a:rPr lang="en-US" altLang="zh-CN" sz="3200" dirty="0"/>
              <a:t>Y</a:t>
            </a:r>
            <a:r>
              <a:rPr lang="en-US" altLang="en-US" sz="3200" dirty="0"/>
              <a:t>=%f </a:t>
            </a:r>
            <a:r>
              <a:rPr lang="en-US" altLang="zh-CN" sz="3200" dirty="0"/>
              <a:t>\n</a:t>
            </a:r>
            <a:r>
              <a:rPr lang="en-US" altLang="en-US" sz="3200" dirty="0"/>
              <a:t>”, </a:t>
            </a:r>
            <a:r>
              <a:rPr lang="en-US" altLang="zh-CN" sz="3200" dirty="0"/>
              <a:t>y</a:t>
            </a:r>
            <a:r>
              <a:rPr lang="en-US" altLang="en-US" sz="3200" dirty="0"/>
              <a:t>);</a:t>
            </a:r>
          </a:p>
          <a:p>
            <a:pPr>
              <a:lnSpc>
                <a:spcPct val="60000"/>
              </a:lnSpc>
            </a:pPr>
            <a:r>
              <a:rPr lang="en-US" altLang="en-US" sz="3200" dirty="0"/>
              <a:t>} 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0155108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1" grpId="0"/>
      <p:bldP spid="482313" grpId="0"/>
      <p:bldP spid="482314" grpId="0"/>
      <p:bldP spid="4823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F4DD-C846-4D49-8F0C-BE46D3EC5F93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496643" name="Text Box 3"/>
          <p:cNvSpPr txBox="1">
            <a:spLocks noChangeArrowheads="1"/>
          </p:cNvSpPr>
          <p:nvPr/>
        </p:nvSpPr>
        <p:spPr bwMode="auto">
          <a:xfrm>
            <a:off x="2044701" y="2178050"/>
            <a:ext cx="8355013" cy="27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例如：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993300"/>
                </a:solidFill>
              </a:rPr>
              <a:t>1+2+3+……+100=5050        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993300"/>
                </a:solidFill>
              </a:rPr>
              <a:t>或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993300"/>
                </a:solidFill>
              </a:rPr>
              <a:t>100+1+99+2+98+……+49+51+50=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993300"/>
                </a:solidFill>
              </a:rPr>
              <a:t>101*50=5050</a:t>
            </a:r>
          </a:p>
        </p:txBody>
      </p:sp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1030289" y="648759"/>
            <a:ext cx="4581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dirty="0">
                <a:solidFill>
                  <a:srgbClr val="0000CC"/>
                </a:solidFill>
              </a:rPr>
              <a:t>1  </a:t>
            </a:r>
            <a:r>
              <a:rPr lang="zh-CN" altLang="en-US" dirty="0">
                <a:solidFill>
                  <a:srgbClr val="0000CC"/>
                </a:solidFill>
              </a:rPr>
              <a:t>算法的概念</a:t>
            </a: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2008189" y="1504950"/>
            <a:ext cx="83327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算法</a:t>
            </a:r>
            <a:r>
              <a:rPr lang="en-US" altLang="zh-CN" sz="3200" dirty="0">
                <a:solidFill>
                  <a:srgbClr val="000000"/>
                </a:solidFill>
              </a:rPr>
              <a:t>:</a:t>
            </a:r>
            <a:r>
              <a:rPr lang="zh-CN" altLang="en-US" sz="3200" dirty="0">
                <a:solidFill>
                  <a:srgbClr val="000000"/>
                </a:solidFill>
              </a:rPr>
              <a:t>为解决一个问题而采取的</a:t>
            </a:r>
            <a:r>
              <a:rPr lang="zh-CN" altLang="en-US" sz="3200" dirty="0">
                <a:solidFill>
                  <a:srgbClr val="FF0000"/>
                </a:solidFill>
              </a:rPr>
              <a:t>方法</a:t>
            </a:r>
            <a:r>
              <a:rPr lang="zh-CN" altLang="en-US" sz="3200" dirty="0">
                <a:solidFill>
                  <a:srgbClr val="000000"/>
                </a:solidFill>
              </a:rPr>
              <a:t>和</a:t>
            </a:r>
            <a:r>
              <a:rPr lang="zh-CN" altLang="en-US" sz="3200" dirty="0">
                <a:solidFill>
                  <a:srgbClr val="FF0000"/>
                </a:solidFill>
              </a:rPr>
              <a:t>步骤</a:t>
            </a:r>
            <a:r>
              <a:rPr lang="zh-CN" altLang="en-US" sz="3200" dirty="0">
                <a:solidFill>
                  <a:srgbClr val="00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2905731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F4DD-C846-4D49-8F0C-BE46D3EC5F93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1411289" y="657225"/>
            <a:ext cx="4581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3  </a:t>
            </a:r>
            <a:r>
              <a:rPr lang="zh-CN" altLang="en-US" dirty="0">
                <a:solidFill>
                  <a:srgbClr val="0000CC"/>
                </a:solidFill>
              </a:rPr>
              <a:t>算法的特征</a:t>
            </a: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851060" y="1569086"/>
            <a:ext cx="996934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3200" dirty="0">
                <a:solidFill>
                  <a:srgbClr val="000000"/>
                </a:solidFill>
              </a:rPr>
              <a:t>1) </a:t>
            </a:r>
            <a:r>
              <a:rPr lang="zh-CN" altLang="en-US" sz="3200" dirty="0">
                <a:solidFill>
                  <a:srgbClr val="FF0000"/>
                </a:solidFill>
              </a:rPr>
              <a:t>确定性</a:t>
            </a:r>
          </a:p>
          <a:p>
            <a:pPr>
              <a:spcBef>
                <a:spcPct val="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   算法的描述必须无歧义</a:t>
            </a:r>
            <a:r>
              <a:rPr lang="en-US" altLang="zh-CN" sz="3200" dirty="0">
                <a:solidFill>
                  <a:srgbClr val="000000"/>
                </a:solidFill>
              </a:rPr>
              <a:t>,</a:t>
            </a:r>
            <a:r>
              <a:rPr lang="zh-CN" altLang="en-US" sz="3200" dirty="0">
                <a:solidFill>
                  <a:srgbClr val="000000"/>
                </a:solidFill>
              </a:rPr>
              <a:t>以保证算法的执行结果是确定的。 </a:t>
            </a:r>
          </a:p>
          <a:p>
            <a:pPr>
              <a:spcBef>
                <a:spcPct val="0"/>
              </a:spcBef>
            </a:pPr>
            <a:r>
              <a:rPr lang="en-US" altLang="zh-CN" sz="3200" dirty="0">
                <a:solidFill>
                  <a:srgbClr val="000000"/>
                </a:solidFill>
              </a:rPr>
              <a:t>2)</a:t>
            </a:r>
            <a:r>
              <a:rPr lang="zh-CN" altLang="en-US" sz="3200" dirty="0">
                <a:solidFill>
                  <a:srgbClr val="FF0000"/>
                </a:solidFill>
              </a:rPr>
              <a:t>可行性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zh-CN" altLang="en-US" sz="3200" dirty="0">
                <a:solidFill>
                  <a:srgbClr val="FF0000"/>
                </a:solidFill>
              </a:rPr>
              <a:t>有效性）</a:t>
            </a:r>
          </a:p>
          <a:p>
            <a:pPr>
              <a:spcBef>
                <a:spcPct val="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    算法中的每一步操作都必须是可执行的，也就是说算法中每一步能够实现。 </a:t>
            </a:r>
          </a:p>
          <a:p>
            <a:pPr>
              <a:spcBef>
                <a:spcPct val="0"/>
              </a:spcBef>
            </a:pPr>
            <a:r>
              <a:rPr lang="en-US" altLang="zh-CN" sz="3200" dirty="0">
                <a:solidFill>
                  <a:srgbClr val="000000"/>
                </a:solidFill>
              </a:rPr>
              <a:t>3)</a:t>
            </a:r>
            <a:r>
              <a:rPr lang="zh-CN" altLang="en-US" sz="3200" dirty="0">
                <a:solidFill>
                  <a:srgbClr val="FF0000"/>
                </a:solidFill>
              </a:rPr>
              <a:t>输入</a:t>
            </a:r>
          </a:p>
          <a:p>
            <a:pPr>
              <a:spcBef>
                <a:spcPct val="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     一个算法有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200" dirty="0">
                <a:solidFill>
                  <a:srgbClr val="FF0000"/>
                </a:solidFill>
              </a:rPr>
              <a:t>个或多个</a:t>
            </a:r>
            <a:r>
              <a:rPr lang="zh-CN" altLang="en-US" sz="3200" dirty="0">
                <a:solidFill>
                  <a:srgbClr val="000000"/>
                </a:solidFill>
              </a:rPr>
              <a:t>输入，在算法运算开始之前给出算法所需数据的初值，这些输入取自特定的对象集合。</a:t>
            </a:r>
          </a:p>
        </p:txBody>
      </p:sp>
    </p:spTree>
    <p:extLst>
      <p:ext uri="{BB962C8B-B14F-4D97-AF65-F5344CB8AC3E}">
        <p14:creationId xmlns:p14="http://schemas.microsoft.com/office/powerpoint/2010/main" val="30483407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F4DD-C846-4D49-8F0C-BE46D3EC5F93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1411289" y="657225"/>
            <a:ext cx="4581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3  </a:t>
            </a:r>
            <a:r>
              <a:rPr lang="zh-CN" altLang="en-US" dirty="0">
                <a:solidFill>
                  <a:srgbClr val="0000CC"/>
                </a:solidFill>
              </a:rPr>
              <a:t>算法的特征</a:t>
            </a: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1411289" y="1619886"/>
            <a:ext cx="90331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</a:rPr>
              <a:t>4)</a:t>
            </a:r>
            <a:r>
              <a:rPr lang="zh-CN" altLang="en-US" dirty="0">
                <a:solidFill>
                  <a:srgbClr val="FF0000"/>
                </a:solidFill>
              </a:rPr>
              <a:t>输出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</a:rPr>
              <a:t>     作为算法运算的结果，一个算法产生</a:t>
            </a:r>
            <a:r>
              <a:rPr lang="zh-CN" altLang="en-US" dirty="0">
                <a:solidFill>
                  <a:srgbClr val="FF0000"/>
                </a:solidFill>
              </a:rPr>
              <a:t>一个或多个</a:t>
            </a:r>
            <a:r>
              <a:rPr lang="zh-CN" altLang="en-US" dirty="0">
                <a:solidFill>
                  <a:srgbClr val="000000"/>
                </a:solidFill>
              </a:rPr>
              <a:t>输出，输出是同输入有某种特定关系的量。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</a:pPr>
            <a:endParaRPr lang="zh-CN" altLang="en-US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</a:rPr>
              <a:t>5)</a:t>
            </a:r>
            <a:r>
              <a:rPr lang="zh-CN" altLang="en-US" dirty="0">
                <a:solidFill>
                  <a:srgbClr val="FF0000"/>
                </a:solidFill>
              </a:rPr>
              <a:t>有穷性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</a:rPr>
              <a:t>     一个算法在有限穷步骤内结束（有限的时间），即该算法是可达的。 </a:t>
            </a:r>
          </a:p>
        </p:txBody>
      </p:sp>
    </p:spTree>
    <p:extLst>
      <p:ext uri="{BB962C8B-B14F-4D97-AF65-F5344CB8AC3E}">
        <p14:creationId xmlns:p14="http://schemas.microsoft.com/office/powerpoint/2010/main" val="32121279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2CD6-A0CA-4037-9D3B-29372E893788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483333" name="Text Box 5"/>
          <p:cNvSpPr txBox="1">
            <a:spLocks noChangeArrowheads="1"/>
          </p:cNvSpPr>
          <p:nvPr/>
        </p:nvSpPr>
        <p:spPr bwMode="auto">
          <a:xfrm>
            <a:off x="1463676" y="852489"/>
            <a:ext cx="8982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4 </a:t>
            </a:r>
            <a:r>
              <a:rPr lang="zh-CN" altLang="en-US" sz="4000" dirty="0">
                <a:solidFill>
                  <a:srgbClr val="0000CC"/>
                </a:solidFill>
              </a:rPr>
              <a:t>结构化程序设计方法</a:t>
            </a:r>
            <a:r>
              <a:rPr lang="en-US" altLang="zh-CN" sz="4000" dirty="0">
                <a:solidFill>
                  <a:srgbClr val="0000CC"/>
                </a:solidFill>
              </a:rPr>
              <a:t>(</a:t>
            </a:r>
            <a:r>
              <a:rPr lang="zh-CN" altLang="en-US" sz="4000" dirty="0">
                <a:solidFill>
                  <a:srgbClr val="0000CC"/>
                </a:solidFill>
              </a:rPr>
              <a:t>了解内容</a:t>
            </a:r>
            <a:r>
              <a:rPr lang="en-US" altLang="zh-CN" sz="4000" dirty="0">
                <a:solidFill>
                  <a:srgbClr val="0000CC"/>
                </a:solidFill>
              </a:rPr>
              <a:t>)</a:t>
            </a:r>
            <a:endParaRPr lang="en-US" altLang="zh-CN" sz="3200" dirty="0">
              <a:solidFill>
                <a:srgbClr val="0000CC"/>
              </a:solidFill>
            </a:endParaRPr>
          </a:p>
        </p:txBody>
      </p:sp>
      <p:sp>
        <p:nvSpPr>
          <p:cNvPr id="483334" name="Text Box 6"/>
          <p:cNvSpPr txBox="1">
            <a:spLocks noChangeArrowheads="1"/>
          </p:cNvSpPr>
          <p:nvPr/>
        </p:nvSpPr>
        <p:spPr bwMode="auto">
          <a:xfrm>
            <a:off x="1584960" y="1677989"/>
            <a:ext cx="854456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/>
              <a:t>        结构化程序便于编写、阅读、修改和维护。可以减少程序出错的机会，提高程序的可靠性，保证程序的质量。</a:t>
            </a:r>
            <a:endParaRPr lang="en-US" altLang="zh-CN" sz="3200" dirty="0"/>
          </a:p>
          <a:p>
            <a:r>
              <a:rPr lang="zh-CN" altLang="en-US" sz="3200" dirty="0"/>
              <a:t>结构化程序三种基本结构</a:t>
            </a:r>
            <a:r>
              <a:rPr lang="en-US" altLang="zh-CN" sz="3200" dirty="0"/>
              <a:t>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顺序结构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分支结构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选择结构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循环结构        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200" dirty="0"/>
              <a:t>由这三种基本结构可以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完成所有复杂的程序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0347334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1" name="Text Box 31"/>
          <p:cNvSpPr txBox="1">
            <a:spLocks noChangeArrowheads="1"/>
          </p:cNvSpPr>
          <p:nvPr/>
        </p:nvSpPr>
        <p:spPr bwMode="auto">
          <a:xfrm>
            <a:off x="1327945" y="98011"/>
            <a:ext cx="57586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2.</a:t>
            </a:r>
            <a:r>
              <a:rPr lang="zh-CN" altLang="en-US" sz="4000" dirty="0">
                <a:solidFill>
                  <a:srgbClr val="0000CC"/>
                </a:solidFill>
              </a:rPr>
              <a:t>算法的表示</a:t>
            </a:r>
            <a:endParaRPr lang="en-US" altLang="zh-CN" sz="3200" dirty="0">
              <a:solidFill>
                <a:srgbClr val="0000CC"/>
              </a:solidFill>
            </a:endParaRP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EC28D6FA-794D-440F-9C8C-3493ACE9E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944" y="1538606"/>
            <a:ext cx="898445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）自然语言              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）图示法（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传统流程图，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N-S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流程图）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）伪代码（自然语言、计算机语言、数学公式的综合） 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）计算机语言（程序）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3371791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F31D8-D556-4584-8957-DBC59C50B087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481311" name="Text Box 31"/>
          <p:cNvSpPr txBox="1">
            <a:spLocks noChangeArrowheads="1"/>
          </p:cNvSpPr>
          <p:nvPr/>
        </p:nvSpPr>
        <p:spPr bwMode="auto">
          <a:xfrm>
            <a:off x="1254372" y="487476"/>
            <a:ext cx="9487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2.</a:t>
            </a:r>
            <a:r>
              <a:rPr lang="zh-CN" altLang="en-US" sz="4000" dirty="0">
                <a:solidFill>
                  <a:srgbClr val="0000CC"/>
                </a:solidFill>
              </a:rPr>
              <a:t>算法的表示</a:t>
            </a:r>
            <a:r>
              <a:rPr lang="en-US" altLang="zh-CN" sz="4000" dirty="0">
                <a:solidFill>
                  <a:srgbClr val="0000CC"/>
                </a:solidFill>
              </a:rPr>
              <a:t>(</a:t>
            </a:r>
            <a:r>
              <a:rPr lang="zh-CN" altLang="en-US" sz="4000" dirty="0">
                <a:solidFill>
                  <a:srgbClr val="0000CC"/>
                </a:solidFill>
              </a:rPr>
              <a:t>用流程图表示算法</a:t>
            </a:r>
            <a:r>
              <a:rPr lang="en-US" altLang="zh-CN" sz="4000" dirty="0">
                <a:solidFill>
                  <a:srgbClr val="0000CC"/>
                </a:solidFill>
              </a:rPr>
              <a:t>)</a:t>
            </a:r>
            <a:endParaRPr lang="en-US" altLang="zh-CN" sz="3200" dirty="0">
              <a:solidFill>
                <a:srgbClr val="0000CC"/>
              </a:solidFill>
            </a:endParaRPr>
          </a:p>
        </p:txBody>
      </p:sp>
      <p:sp>
        <p:nvSpPr>
          <p:cNvPr id="481314" name="AutoShape 34"/>
          <p:cNvSpPr>
            <a:spLocks noChangeArrowheads="1"/>
          </p:cNvSpPr>
          <p:nvPr/>
        </p:nvSpPr>
        <p:spPr bwMode="auto">
          <a:xfrm>
            <a:off x="3209925" y="1825218"/>
            <a:ext cx="1397000" cy="908864"/>
          </a:xfrm>
          <a:prstGeom prst="flowChartTerminator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1315" name="Text Box 35"/>
          <p:cNvSpPr txBox="1">
            <a:spLocks noChangeArrowheads="1"/>
          </p:cNvSpPr>
          <p:nvPr/>
        </p:nvSpPr>
        <p:spPr bwMode="auto">
          <a:xfrm>
            <a:off x="4776789" y="1951039"/>
            <a:ext cx="1544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起止框</a:t>
            </a:r>
          </a:p>
        </p:txBody>
      </p:sp>
      <p:sp>
        <p:nvSpPr>
          <p:cNvPr id="481316" name="Rectangle 36"/>
          <p:cNvSpPr>
            <a:spLocks noChangeArrowheads="1"/>
          </p:cNvSpPr>
          <p:nvPr/>
        </p:nvSpPr>
        <p:spPr bwMode="auto">
          <a:xfrm>
            <a:off x="3300413" y="3093136"/>
            <a:ext cx="1300162" cy="646331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1317" name="Text Box 37"/>
          <p:cNvSpPr txBox="1">
            <a:spLocks noChangeArrowheads="1"/>
          </p:cNvSpPr>
          <p:nvPr/>
        </p:nvSpPr>
        <p:spPr bwMode="auto">
          <a:xfrm>
            <a:off x="4818064" y="3067050"/>
            <a:ext cx="15446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处理框</a:t>
            </a:r>
          </a:p>
        </p:txBody>
      </p:sp>
      <p:sp>
        <p:nvSpPr>
          <p:cNvPr id="481318" name="AutoShape 38"/>
          <p:cNvSpPr>
            <a:spLocks noChangeArrowheads="1"/>
          </p:cNvSpPr>
          <p:nvPr/>
        </p:nvSpPr>
        <p:spPr bwMode="auto">
          <a:xfrm>
            <a:off x="3332163" y="3926870"/>
            <a:ext cx="1397000" cy="1283910"/>
          </a:xfrm>
          <a:prstGeom prst="flowChartDecision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1319" name="Text Box 39"/>
          <p:cNvSpPr txBox="1">
            <a:spLocks noChangeArrowheads="1"/>
          </p:cNvSpPr>
          <p:nvPr/>
        </p:nvSpPr>
        <p:spPr bwMode="auto">
          <a:xfrm>
            <a:off x="4900614" y="4202114"/>
            <a:ext cx="1544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判断框</a:t>
            </a:r>
          </a:p>
        </p:txBody>
      </p:sp>
      <p:sp>
        <p:nvSpPr>
          <p:cNvPr id="481320" name="Text Box 40"/>
          <p:cNvSpPr txBox="1">
            <a:spLocks noChangeArrowheads="1"/>
          </p:cNvSpPr>
          <p:nvPr/>
        </p:nvSpPr>
        <p:spPr bwMode="auto">
          <a:xfrm>
            <a:off x="8529638" y="1906589"/>
            <a:ext cx="2036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输入</a:t>
            </a:r>
            <a:r>
              <a:rPr lang="en-US" altLang="zh-CN" sz="3200">
                <a:solidFill>
                  <a:srgbClr val="000000"/>
                </a:solidFill>
              </a:rPr>
              <a:t>/</a:t>
            </a:r>
            <a:r>
              <a:rPr lang="zh-CN" altLang="en-US" sz="3200">
                <a:solidFill>
                  <a:srgbClr val="000000"/>
                </a:solidFill>
              </a:rPr>
              <a:t>出框</a:t>
            </a:r>
          </a:p>
        </p:txBody>
      </p:sp>
      <p:sp>
        <p:nvSpPr>
          <p:cNvPr id="481321" name="AutoShape 41"/>
          <p:cNvSpPr>
            <a:spLocks noChangeArrowheads="1"/>
          </p:cNvSpPr>
          <p:nvPr/>
        </p:nvSpPr>
        <p:spPr bwMode="auto">
          <a:xfrm>
            <a:off x="6915150" y="1888224"/>
            <a:ext cx="1504950" cy="646331"/>
          </a:xfrm>
          <a:prstGeom prst="flowChartInputOutpu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1322" name="Line 42"/>
          <p:cNvSpPr>
            <a:spLocks noChangeShapeType="1"/>
          </p:cNvSpPr>
          <p:nvPr/>
        </p:nvSpPr>
        <p:spPr bwMode="auto">
          <a:xfrm>
            <a:off x="7348538" y="3690938"/>
            <a:ext cx="742950" cy="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1323" name="Line 43"/>
          <p:cNvSpPr>
            <a:spLocks noChangeShapeType="1"/>
          </p:cNvSpPr>
          <p:nvPr/>
        </p:nvSpPr>
        <p:spPr bwMode="auto">
          <a:xfrm>
            <a:off x="7667625" y="3100389"/>
            <a:ext cx="0" cy="47307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24" name="Text Box 44"/>
          <p:cNvSpPr txBox="1">
            <a:spLocks noChangeArrowheads="1"/>
          </p:cNvSpPr>
          <p:nvPr/>
        </p:nvSpPr>
        <p:spPr bwMode="auto">
          <a:xfrm>
            <a:off x="8610601" y="3070225"/>
            <a:ext cx="1546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流程线</a:t>
            </a:r>
          </a:p>
        </p:txBody>
      </p:sp>
      <p:sp>
        <p:nvSpPr>
          <p:cNvPr id="481325" name="AutoShape 45"/>
          <p:cNvSpPr>
            <a:spLocks noChangeArrowheads="1"/>
          </p:cNvSpPr>
          <p:nvPr/>
        </p:nvSpPr>
        <p:spPr bwMode="auto">
          <a:xfrm>
            <a:off x="7300119" y="4078675"/>
            <a:ext cx="839787" cy="908864"/>
          </a:xfrm>
          <a:prstGeom prst="flowChartConnector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81326" name="Text Box 46"/>
          <p:cNvSpPr txBox="1">
            <a:spLocks noChangeArrowheads="1"/>
          </p:cNvSpPr>
          <p:nvPr/>
        </p:nvSpPr>
        <p:spPr bwMode="auto">
          <a:xfrm>
            <a:off x="8634414" y="4183064"/>
            <a:ext cx="1544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连接点</a:t>
            </a:r>
          </a:p>
        </p:txBody>
      </p:sp>
      <p:grpSp>
        <p:nvGrpSpPr>
          <p:cNvPr id="481327" name="Group 47"/>
          <p:cNvGrpSpPr>
            <a:grpSpLocks/>
          </p:cNvGrpSpPr>
          <p:nvPr/>
        </p:nvGrpSpPr>
        <p:grpSpPr bwMode="auto">
          <a:xfrm>
            <a:off x="7208839" y="5375276"/>
            <a:ext cx="985837" cy="709613"/>
            <a:chOff x="858" y="3444"/>
            <a:chExt cx="576" cy="447"/>
          </a:xfrm>
        </p:grpSpPr>
        <p:sp>
          <p:nvSpPr>
            <p:cNvPr id="481328" name="Line 48"/>
            <p:cNvSpPr>
              <a:spLocks noChangeShapeType="1"/>
            </p:cNvSpPr>
            <p:nvPr/>
          </p:nvSpPr>
          <p:spPr bwMode="auto">
            <a:xfrm>
              <a:off x="858" y="3691"/>
              <a:ext cx="458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29" name="Line 49"/>
            <p:cNvSpPr>
              <a:spLocks noChangeShapeType="1"/>
            </p:cNvSpPr>
            <p:nvPr/>
          </p:nvSpPr>
          <p:spPr bwMode="auto">
            <a:xfrm flipH="1">
              <a:off x="1317" y="3444"/>
              <a:ext cx="117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30" name="Line 50"/>
            <p:cNvSpPr>
              <a:spLocks noChangeShapeType="1"/>
            </p:cNvSpPr>
            <p:nvPr/>
          </p:nvSpPr>
          <p:spPr bwMode="auto">
            <a:xfrm flipH="1">
              <a:off x="1317" y="3454"/>
              <a:ext cx="1" cy="423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31" name="Line 51"/>
            <p:cNvSpPr>
              <a:spLocks noChangeShapeType="1"/>
            </p:cNvSpPr>
            <p:nvPr/>
          </p:nvSpPr>
          <p:spPr bwMode="auto">
            <a:xfrm>
              <a:off x="1317" y="3891"/>
              <a:ext cx="117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81332" name="Text Box 52"/>
          <p:cNvSpPr txBox="1">
            <a:spLocks noChangeArrowheads="1"/>
          </p:cNvSpPr>
          <p:nvPr/>
        </p:nvSpPr>
        <p:spPr bwMode="auto">
          <a:xfrm>
            <a:off x="8669339" y="5364164"/>
            <a:ext cx="1544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注释框</a:t>
            </a:r>
          </a:p>
        </p:txBody>
      </p:sp>
    </p:spTree>
    <p:extLst>
      <p:ext uri="{BB962C8B-B14F-4D97-AF65-F5344CB8AC3E}">
        <p14:creationId xmlns:p14="http://schemas.microsoft.com/office/powerpoint/2010/main" val="165977165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1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1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1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8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8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1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1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1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8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1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4" grpId="0" animBg="1"/>
      <p:bldP spid="481315" grpId="0"/>
      <p:bldP spid="481316" grpId="0" animBg="1"/>
      <p:bldP spid="481317" grpId="0"/>
      <p:bldP spid="481318" grpId="0" animBg="1"/>
      <p:bldP spid="481319" grpId="0"/>
      <p:bldP spid="481320" grpId="0"/>
      <p:bldP spid="481321" grpId="0" animBg="1"/>
      <p:bldP spid="481322" grpId="0" animBg="1"/>
      <p:bldP spid="481323" grpId="0" animBg="1"/>
      <p:bldP spid="481324" grpId="0"/>
      <p:bldP spid="481325" grpId="0" animBg="1"/>
      <p:bldP spid="481326" grpId="0"/>
      <p:bldP spid="4813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4F09-B1D4-4A06-A0F4-5F5081B923B4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497694" name="Text Box 30"/>
          <p:cNvSpPr txBox="1">
            <a:spLocks noChangeArrowheads="1"/>
          </p:cNvSpPr>
          <p:nvPr/>
        </p:nvSpPr>
        <p:spPr bwMode="auto">
          <a:xfrm>
            <a:off x="1238250" y="403383"/>
            <a:ext cx="5956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000" dirty="0">
                <a:solidFill>
                  <a:srgbClr val="0000CC"/>
                </a:solidFill>
              </a:rPr>
              <a:t>计算</a:t>
            </a:r>
            <a:r>
              <a:rPr lang="en-US" altLang="zh-CN" sz="4000" dirty="0">
                <a:solidFill>
                  <a:srgbClr val="0000CC"/>
                </a:solidFill>
              </a:rPr>
              <a:t>265</a:t>
            </a:r>
            <a:r>
              <a:rPr lang="zh-CN" altLang="en-US" sz="4000" dirty="0">
                <a:solidFill>
                  <a:srgbClr val="0000CC"/>
                </a:solidFill>
              </a:rPr>
              <a:t>的平方根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497705" name="Text Box 41"/>
          <p:cNvSpPr txBox="1">
            <a:spLocks noChangeArrowheads="1"/>
          </p:cNvSpPr>
          <p:nvPr/>
        </p:nvSpPr>
        <p:spPr bwMode="auto">
          <a:xfrm>
            <a:off x="1885950" y="2476183"/>
            <a:ext cx="201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8080"/>
                </a:solidFill>
              </a:rPr>
              <a:t>顺序结构</a:t>
            </a:r>
          </a:p>
        </p:txBody>
      </p:sp>
      <p:graphicFrame>
        <p:nvGraphicFramePr>
          <p:cNvPr id="497786" name="Group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438170"/>
              </p:ext>
            </p:extLst>
          </p:nvPr>
        </p:nvGraphicFramePr>
        <p:xfrm>
          <a:off x="7783513" y="1997076"/>
          <a:ext cx="1549400" cy="4370389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1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开始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9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X=265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Y=√X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输出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结束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7780" name="Line 116"/>
          <p:cNvSpPr>
            <a:spLocks noChangeShapeType="1"/>
          </p:cNvSpPr>
          <p:nvPr/>
        </p:nvSpPr>
        <p:spPr bwMode="auto">
          <a:xfrm>
            <a:off x="8514080" y="3824923"/>
            <a:ext cx="41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7782" name="Text Box 118"/>
          <p:cNvSpPr txBox="1">
            <a:spLocks noChangeArrowheads="1"/>
          </p:cNvSpPr>
          <p:nvPr/>
        </p:nvSpPr>
        <p:spPr bwMode="auto">
          <a:xfrm>
            <a:off x="7758113" y="954089"/>
            <a:ext cx="16995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8080"/>
                </a:solidFill>
              </a:rPr>
              <a:t>N—S</a:t>
            </a:r>
            <a:r>
              <a:rPr lang="zh-CN" altLang="en-US">
                <a:solidFill>
                  <a:srgbClr val="008080"/>
                </a:solidFill>
              </a:rPr>
              <a:t>图</a:t>
            </a:r>
          </a:p>
        </p:txBody>
      </p:sp>
      <p:grpSp>
        <p:nvGrpSpPr>
          <p:cNvPr id="497788" name="Group 124"/>
          <p:cNvGrpSpPr>
            <a:grpSpLocks/>
          </p:cNvGrpSpPr>
          <p:nvPr/>
        </p:nvGrpSpPr>
        <p:grpSpPr bwMode="auto">
          <a:xfrm>
            <a:off x="4216400" y="1377633"/>
            <a:ext cx="1716088" cy="5383214"/>
            <a:chOff x="1936" y="791"/>
            <a:chExt cx="1081" cy="3391"/>
          </a:xfrm>
        </p:grpSpPr>
        <p:sp>
          <p:nvSpPr>
            <p:cNvPr id="497679" name="AutoShape 15"/>
            <p:cNvSpPr>
              <a:spLocks noChangeArrowheads="1"/>
            </p:cNvSpPr>
            <p:nvPr/>
          </p:nvSpPr>
          <p:spPr bwMode="auto">
            <a:xfrm>
              <a:off x="2033" y="3028"/>
              <a:ext cx="948" cy="407"/>
            </a:xfrm>
            <a:prstGeom prst="flowChartInputOutput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682" name="Line 18"/>
            <p:cNvSpPr>
              <a:spLocks noChangeShapeType="1"/>
            </p:cNvSpPr>
            <p:nvPr/>
          </p:nvSpPr>
          <p:spPr bwMode="auto">
            <a:xfrm>
              <a:off x="2466" y="2044"/>
              <a:ext cx="0" cy="29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695" name="Text Box 31"/>
            <p:cNvSpPr txBox="1">
              <a:spLocks noChangeArrowheads="1"/>
            </p:cNvSpPr>
            <p:nvPr/>
          </p:nvSpPr>
          <p:spPr bwMode="auto">
            <a:xfrm>
              <a:off x="2017" y="1602"/>
              <a:ext cx="944" cy="407"/>
            </a:xfrm>
            <a:prstGeom prst="rect">
              <a:avLst/>
            </a:prstGeom>
            <a:noFill/>
            <a:ln w="38100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X=265</a:t>
              </a:r>
            </a:p>
          </p:txBody>
        </p:sp>
        <p:sp>
          <p:nvSpPr>
            <p:cNvPr id="497696" name="Text Box 32"/>
            <p:cNvSpPr txBox="1">
              <a:spLocks noChangeArrowheads="1"/>
            </p:cNvSpPr>
            <p:nvPr/>
          </p:nvSpPr>
          <p:spPr bwMode="auto">
            <a:xfrm>
              <a:off x="1936" y="2319"/>
              <a:ext cx="1081" cy="407"/>
            </a:xfrm>
            <a:prstGeom prst="rect">
              <a:avLst/>
            </a:prstGeom>
            <a:noFill/>
            <a:ln w="38100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Y=√X</a:t>
              </a:r>
              <a:endParaRPr lang="en-US" altLang="zh-CN" b="0" baseline="60000"/>
            </a:p>
          </p:txBody>
        </p:sp>
        <p:sp>
          <p:nvSpPr>
            <p:cNvPr id="497697" name="Line 33"/>
            <p:cNvSpPr>
              <a:spLocks noChangeShapeType="1"/>
            </p:cNvSpPr>
            <p:nvPr/>
          </p:nvSpPr>
          <p:spPr bwMode="auto">
            <a:xfrm>
              <a:off x="2520" y="2361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7698" name="Text Box 34"/>
            <p:cNvSpPr txBox="1">
              <a:spLocks noChangeArrowheads="1"/>
            </p:cNvSpPr>
            <p:nvPr/>
          </p:nvSpPr>
          <p:spPr bwMode="auto">
            <a:xfrm>
              <a:off x="2310" y="3017"/>
              <a:ext cx="32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Y</a:t>
              </a:r>
            </a:p>
          </p:txBody>
        </p:sp>
        <p:sp>
          <p:nvSpPr>
            <p:cNvPr id="497699" name="Line 35"/>
            <p:cNvSpPr>
              <a:spLocks noChangeShapeType="1"/>
            </p:cNvSpPr>
            <p:nvPr/>
          </p:nvSpPr>
          <p:spPr bwMode="auto">
            <a:xfrm>
              <a:off x="2461" y="2756"/>
              <a:ext cx="0" cy="29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700" name="AutoShape 36"/>
            <p:cNvSpPr>
              <a:spLocks noChangeArrowheads="1"/>
            </p:cNvSpPr>
            <p:nvPr/>
          </p:nvSpPr>
          <p:spPr bwMode="auto">
            <a:xfrm>
              <a:off x="2043" y="791"/>
              <a:ext cx="844" cy="573"/>
            </a:xfrm>
            <a:prstGeom prst="flowChartTerminator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702" name="AutoShape 38"/>
            <p:cNvSpPr>
              <a:spLocks noChangeArrowheads="1"/>
            </p:cNvSpPr>
            <p:nvPr/>
          </p:nvSpPr>
          <p:spPr bwMode="auto">
            <a:xfrm>
              <a:off x="2007" y="3609"/>
              <a:ext cx="880" cy="573"/>
            </a:xfrm>
            <a:prstGeom prst="flowChartTerminator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703" name="Line 39"/>
            <p:cNvSpPr>
              <a:spLocks noChangeShapeType="1"/>
            </p:cNvSpPr>
            <p:nvPr/>
          </p:nvSpPr>
          <p:spPr bwMode="auto">
            <a:xfrm>
              <a:off x="2471" y="1311"/>
              <a:ext cx="0" cy="29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704" name="Line 40"/>
            <p:cNvSpPr>
              <a:spLocks noChangeShapeType="1"/>
            </p:cNvSpPr>
            <p:nvPr/>
          </p:nvSpPr>
          <p:spPr bwMode="auto">
            <a:xfrm>
              <a:off x="2461" y="3423"/>
              <a:ext cx="0" cy="29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7783" name="Text Box 119"/>
            <p:cNvSpPr txBox="1">
              <a:spLocks noChangeArrowheads="1"/>
            </p:cNvSpPr>
            <p:nvPr/>
          </p:nvSpPr>
          <p:spPr bwMode="auto">
            <a:xfrm>
              <a:off x="2194" y="967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/>
                <a:t>开始</a:t>
              </a:r>
            </a:p>
          </p:txBody>
        </p:sp>
        <p:sp>
          <p:nvSpPr>
            <p:cNvPr id="497784" name="Text Box 120"/>
            <p:cNvSpPr txBox="1">
              <a:spLocks noChangeArrowheads="1"/>
            </p:cNvSpPr>
            <p:nvPr/>
          </p:nvSpPr>
          <p:spPr bwMode="auto">
            <a:xfrm>
              <a:off x="2169" y="3711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/>
                <a:t>结束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9872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7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7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7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7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7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7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7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7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705" grpId="0"/>
      <p:bldP spid="497780" grpId="0" animBg="1"/>
      <p:bldP spid="49778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E8DA8-BE91-430B-A40F-06326FF47812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498718" name="Text Box 30"/>
          <p:cNvSpPr txBox="1">
            <a:spLocks noChangeArrowheads="1"/>
          </p:cNvSpPr>
          <p:nvPr/>
        </p:nvSpPr>
        <p:spPr bwMode="auto">
          <a:xfrm>
            <a:off x="1314450" y="164308"/>
            <a:ext cx="5441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000" dirty="0">
                <a:solidFill>
                  <a:srgbClr val="0000CC"/>
                </a:solidFill>
              </a:rPr>
              <a:t>打印</a:t>
            </a:r>
            <a:r>
              <a:rPr lang="en-US" altLang="zh-CN" sz="4000" dirty="0">
                <a:solidFill>
                  <a:srgbClr val="0000CC"/>
                </a:solidFill>
              </a:rPr>
              <a:t>X</a:t>
            </a:r>
            <a:r>
              <a:rPr lang="zh-CN" altLang="en-US" sz="4000" dirty="0">
                <a:solidFill>
                  <a:srgbClr val="0000CC"/>
                </a:solidFill>
              </a:rPr>
              <a:t>的绝对值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498719" name="Text Box 31"/>
          <p:cNvSpPr txBox="1">
            <a:spLocks noChangeArrowheads="1"/>
          </p:cNvSpPr>
          <p:nvPr/>
        </p:nvSpPr>
        <p:spPr bwMode="auto">
          <a:xfrm>
            <a:off x="1382713" y="1577181"/>
            <a:ext cx="201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8080"/>
                </a:solidFill>
              </a:rPr>
              <a:t>分支结构</a:t>
            </a:r>
          </a:p>
        </p:txBody>
      </p:sp>
      <p:sp>
        <p:nvSpPr>
          <p:cNvPr id="498750" name="Text Box 62"/>
          <p:cNvSpPr txBox="1">
            <a:spLocks noChangeArrowheads="1"/>
          </p:cNvSpPr>
          <p:nvPr/>
        </p:nvSpPr>
        <p:spPr bwMode="auto">
          <a:xfrm>
            <a:off x="7972425" y="1169988"/>
            <a:ext cx="1684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8080"/>
                </a:solidFill>
              </a:rPr>
              <a:t>N—S</a:t>
            </a:r>
            <a:r>
              <a:rPr lang="zh-CN" altLang="en-US">
                <a:solidFill>
                  <a:srgbClr val="008080"/>
                </a:solidFill>
              </a:rPr>
              <a:t>图</a:t>
            </a:r>
          </a:p>
        </p:txBody>
      </p:sp>
      <p:graphicFrame>
        <p:nvGraphicFramePr>
          <p:cNvPr id="498862" name="Group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62739"/>
              </p:ext>
            </p:extLst>
          </p:nvPr>
        </p:nvGraphicFramePr>
        <p:xfrm>
          <a:off x="7270750" y="2255838"/>
          <a:ext cx="3524250" cy="21082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41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8790" name="Line 102"/>
          <p:cNvSpPr>
            <a:spLocks noChangeShapeType="1"/>
          </p:cNvSpPr>
          <p:nvPr/>
        </p:nvSpPr>
        <p:spPr bwMode="auto">
          <a:xfrm>
            <a:off x="7270750" y="2262188"/>
            <a:ext cx="1766888" cy="105886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8791" name="Line 103"/>
          <p:cNvSpPr>
            <a:spLocks noChangeShapeType="1"/>
          </p:cNvSpPr>
          <p:nvPr/>
        </p:nvSpPr>
        <p:spPr bwMode="auto">
          <a:xfrm flipH="1">
            <a:off x="9037638" y="2262188"/>
            <a:ext cx="1746250" cy="105886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8792" name="Text Box 104"/>
          <p:cNvSpPr txBox="1">
            <a:spLocks noChangeArrowheads="1"/>
          </p:cNvSpPr>
          <p:nvPr/>
        </p:nvSpPr>
        <p:spPr bwMode="auto">
          <a:xfrm>
            <a:off x="8469314" y="2393950"/>
            <a:ext cx="903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X&gt;=0</a:t>
            </a:r>
          </a:p>
        </p:txBody>
      </p:sp>
      <p:sp>
        <p:nvSpPr>
          <p:cNvPr id="498793" name="Text Box 105"/>
          <p:cNvSpPr txBox="1">
            <a:spLocks noChangeArrowheads="1"/>
          </p:cNvSpPr>
          <p:nvPr/>
        </p:nvSpPr>
        <p:spPr bwMode="auto">
          <a:xfrm>
            <a:off x="7491413" y="2598738"/>
            <a:ext cx="3321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y                      n</a:t>
            </a:r>
          </a:p>
        </p:txBody>
      </p:sp>
      <p:sp>
        <p:nvSpPr>
          <p:cNvPr id="498794" name="Text Box 106"/>
          <p:cNvSpPr txBox="1">
            <a:spLocks noChangeArrowheads="1"/>
          </p:cNvSpPr>
          <p:nvPr/>
        </p:nvSpPr>
        <p:spPr bwMode="auto">
          <a:xfrm>
            <a:off x="7378700" y="3513138"/>
            <a:ext cx="3365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 </a:t>
            </a:r>
            <a:r>
              <a:rPr lang="zh-CN" altLang="en-US" sz="2800"/>
              <a:t>打印</a:t>
            </a:r>
            <a:r>
              <a:rPr lang="en-US" altLang="zh-CN"/>
              <a:t>x        </a:t>
            </a:r>
            <a:r>
              <a:rPr lang="zh-CN" altLang="en-US" sz="2800"/>
              <a:t>打印</a:t>
            </a:r>
            <a:r>
              <a:rPr lang="zh-CN" altLang="en-US"/>
              <a:t> </a:t>
            </a:r>
            <a:r>
              <a:rPr lang="en-US" altLang="zh-CN"/>
              <a:t>-x</a:t>
            </a:r>
          </a:p>
        </p:txBody>
      </p:sp>
      <p:grpSp>
        <p:nvGrpSpPr>
          <p:cNvPr id="498865" name="Group 177"/>
          <p:cNvGrpSpPr>
            <a:grpSpLocks/>
          </p:cNvGrpSpPr>
          <p:nvPr/>
        </p:nvGrpSpPr>
        <p:grpSpPr bwMode="auto">
          <a:xfrm>
            <a:off x="3149918" y="1090613"/>
            <a:ext cx="3279775" cy="5148264"/>
            <a:chOff x="1588" y="674"/>
            <a:chExt cx="2066" cy="3243"/>
          </a:xfrm>
        </p:grpSpPr>
        <p:sp>
          <p:nvSpPr>
            <p:cNvPr id="498845" name="AutoShape 157"/>
            <p:cNvSpPr>
              <a:spLocks noChangeArrowheads="1"/>
            </p:cNvSpPr>
            <p:nvPr/>
          </p:nvSpPr>
          <p:spPr bwMode="auto">
            <a:xfrm>
              <a:off x="1588" y="2367"/>
              <a:ext cx="948" cy="407"/>
            </a:xfrm>
            <a:prstGeom prst="flowChartInputOutput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8722" name="Line 34"/>
            <p:cNvSpPr>
              <a:spLocks noChangeShapeType="1"/>
            </p:cNvSpPr>
            <p:nvPr/>
          </p:nvSpPr>
          <p:spPr bwMode="auto">
            <a:xfrm>
              <a:off x="2647" y="1251"/>
              <a:ext cx="0" cy="273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2" name="Text Box 154"/>
            <p:cNvSpPr txBox="1">
              <a:spLocks noChangeArrowheads="1"/>
            </p:cNvSpPr>
            <p:nvPr/>
          </p:nvSpPr>
          <p:spPr bwMode="auto">
            <a:xfrm>
              <a:off x="2339" y="1737"/>
              <a:ext cx="6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/>
                <a:t>X&gt;=0?</a:t>
              </a:r>
            </a:p>
          </p:txBody>
        </p:sp>
        <p:sp>
          <p:nvSpPr>
            <p:cNvPr id="498843" name="AutoShape 155"/>
            <p:cNvSpPr>
              <a:spLocks noChangeArrowheads="1"/>
            </p:cNvSpPr>
            <p:nvPr/>
          </p:nvSpPr>
          <p:spPr bwMode="auto">
            <a:xfrm>
              <a:off x="2219" y="1502"/>
              <a:ext cx="880" cy="809"/>
            </a:xfrm>
            <a:prstGeom prst="flowChartDecision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4" name="AutoShape 156"/>
            <p:cNvSpPr>
              <a:spLocks noChangeArrowheads="1"/>
            </p:cNvSpPr>
            <p:nvPr/>
          </p:nvSpPr>
          <p:spPr bwMode="auto">
            <a:xfrm>
              <a:off x="2706" y="2352"/>
              <a:ext cx="948" cy="407"/>
            </a:xfrm>
            <a:prstGeom prst="flowChartInputOutput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6" name="Line 158"/>
            <p:cNvSpPr>
              <a:spLocks noChangeShapeType="1"/>
            </p:cNvSpPr>
            <p:nvPr/>
          </p:nvSpPr>
          <p:spPr bwMode="auto">
            <a:xfrm>
              <a:off x="2064" y="1901"/>
              <a:ext cx="0" cy="49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7" name="Line 159"/>
            <p:cNvSpPr>
              <a:spLocks noChangeShapeType="1"/>
            </p:cNvSpPr>
            <p:nvPr/>
          </p:nvSpPr>
          <p:spPr bwMode="auto">
            <a:xfrm>
              <a:off x="3287" y="1911"/>
              <a:ext cx="0" cy="46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8" name="Line 160"/>
            <p:cNvSpPr>
              <a:spLocks noChangeShapeType="1"/>
            </p:cNvSpPr>
            <p:nvPr/>
          </p:nvSpPr>
          <p:spPr bwMode="auto">
            <a:xfrm>
              <a:off x="2044" y="3023"/>
              <a:ext cx="586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49" name="Line 161"/>
            <p:cNvSpPr>
              <a:spLocks noChangeShapeType="1"/>
            </p:cNvSpPr>
            <p:nvPr/>
          </p:nvSpPr>
          <p:spPr bwMode="auto">
            <a:xfrm flipH="1">
              <a:off x="2620" y="3023"/>
              <a:ext cx="657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0" name="Line 162"/>
            <p:cNvSpPr>
              <a:spLocks noChangeShapeType="1"/>
            </p:cNvSpPr>
            <p:nvPr/>
          </p:nvSpPr>
          <p:spPr bwMode="auto">
            <a:xfrm>
              <a:off x="2620" y="3023"/>
              <a:ext cx="0" cy="313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1" name="Line 163"/>
            <p:cNvSpPr>
              <a:spLocks noChangeShapeType="1"/>
            </p:cNvSpPr>
            <p:nvPr/>
          </p:nvSpPr>
          <p:spPr bwMode="auto">
            <a:xfrm>
              <a:off x="2054" y="2740"/>
              <a:ext cx="0" cy="273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2" name="Line 164"/>
            <p:cNvSpPr>
              <a:spLocks noChangeShapeType="1"/>
            </p:cNvSpPr>
            <p:nvPr/>
          </p:nvSpPr>
          <p:spPr bwMode="auto">
            <a:xfrm>
              <a:off x="3287" y="2730"/>
              <a:ext cx="0" cy="283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4" name="Text Box 166"/>
            <p:cNvSpPr txBox="1">
              <a:spLocks noChangeArrowheads="1"/>
            </p:cNvSpPr>
            <p:nvPr/>
          </p:nvSpPr>
          <p:spPr bwMode="auto">
            <a:xfrm>
              <a:off x="1780" y="2353"/>
              <a:ext cx="15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 x              -x</a:t>
              </a:r>
            </a:p>
          </p:txBody>
        </p:sp>
        <p:sp>
          <p:nvSpPr>
            <p:cNvPr id="498855" name="AutoShape 167"/>
            <p:cNvSpPr>
              <a:spLocks noChangeArrowheads="1"/>
            </p:cNvSpPr>
            <p:nvPr/>
          </p:nvSpPr>
          <p:spPr bwMode="auto">
            <a:xfrm>
              <a:off x="2195" y="3344"/>
              <a:ext cx="880" cy="573"/>
            </a:xfrm>
            <a:prstGeom prst="flowChartTerminator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6" name="Text Box 168"/>
            <p:cNvSpPr txBox="1">
              <a:spLocks noChangeArrowheads="1"/>
            </p:cNvSpPr>
            <p:nvPr/>
          </p:nvSpPr>
          <p:spPr bwMode="auto">
            <a:xfrm>
              <a:off x="2349" y="3446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/>
                <a:t>结束</a:t>
              </a:r>
            </a:p>
          </p:txBody>
        </p:sp>
        <p:sp>
          <p:nvSpPr>
            <p:cNvPr id="498857" name="AutoShape 169"/>
            <p:cNvSpPr>
              <a:spLocks noChangeArrowheads="1"/>
            </p:cNvSpPr>
            <p:nvPr/>
          </p:nvSpPr>
          <p:spPr bwMode="auto">
            <a:xfrm>
              <a:off x="2195" y="674"/>
              <a:ext cx="880" cy="573"/>
            </a:xfrm>
            <a:prstGeom prst="flowChartTerminator">
              <a:avLst/>
            </a:prstGeom>
            <a:noFill/>
            <a:ln w="3810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58" name="Text Box 170"/>
            <p:cNvSpPr txBox="1">
              <a:spLocks noChangeArrowheads="1"/>
            </p:cNvSpPr>
            <p:nvPr/>
          </p:nvSpPr>
          <p:spPr bwMode="auto">
            <a:xfrm>
              <a:off x="2335" y="79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开始</a:t>
              </a:r>
            </a:p>
          </p:txBody>
        </p:sp>
        <p:sp>
          <p:nvSpPr>
            <p:cNvPr id="498859" name="Line 171"/>
            <p:cNvSpPr>
              <a:spLocks noChangeShapeType="1"/>
            </p:cNvSpPr>
            <p:nvPr/>
          </p:nvSpPr>
          <p:spPr bwMode="auto">
            <a:xfrm>
              <a:off x="2053" y="1899"/>
              <a:ext cx="156" cy="8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8860" name="Line 172"/>
            <p:cNvSpPr>
              <a:spLocks noChangeShapeType="1"/>
            </p:cNvSpPr>
            <p:nvPr/>
          </p:nvSpPr>
          <p:spPr bwMode="auto">
            <a:xfrm>
              <a:off x="3089" y="1899"/>
              <a:ext cx="195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0993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8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8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8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8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8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8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8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8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8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8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8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8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8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19" grpId="0"/>
      <p:bldP spid="498750" grpId="0"/>
      <p:bldP spid="498790" grpId="0" animBg="1"/>
      <p:bldP spid="498791" grpId="0" animBg="1"/>
      <p:bldP spid="498792" grpId="0"/>
      <p:bldP spid="498793" grpId="0"/>
      <p:bldP spid="49879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354A-0097-4F17-A3F2-1C077C6E484E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499742" name="Text Box 30"/>
          <p:cNvSpPr txBox="1">
            <a:spLocks noChangeArrowheads="1"/>
          </p:cNvSpPr>
          <p:nvPr/>
        </p:nvSpPr>
        <p:spPr bwMode="auto">
          <a:xfrm>
            <a:off x="1412876" y="733426"/>
            <a:ext cx="84756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000" dirty="0">
                <a:solidFill>
                  <a:srgbClr val="0000CC"/>
                </a:solidFill>
              </a:rPr>
              <a:t>计算</a:t>
            </a:r>
            <a:r>
              <a:rPr lang="en-US" altLang="zh-CN" sz="4000" dirty="0">
                <a:solidFill>
                  <a:srgbClr val="0000CC"/>
                </a:solidFill>
              </a:rPr>
              <a:t>1</a:t>
            </a:r>
            <a:r>
              <a:rPr lang="zh-CN" altLang="en-US" sz="4000" dirty="0">
                <a:solidFill>
                  <a:srgbClr val="0000CC"/>
                </a:solidFill>
              </a:rPr>
              <a:t>到</a:t>
            </a:r>
            <a:r>
              <a:rPr lang="en-US" altLang="zh-CN" sz="4000" dirty="0">
                <a:solidFill>
                  <a:srgbClr val="0000CC"/>
                </a:solidFill>
              </a:rPr>
              <a:t>100</a:t>
            </a:r>
            <a:r>
              <a:rPr lang="zh-CN" altLang="en-US" sz="4000" dirty="0">
                <a:solidFill>
                  <a:srgbClr val="0000CC"/>
                </a:solidFill>
              </a:rPr>
              <a:t>的和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499743" name="AutoShape 31"/>
          <p:cNvSpPr>
            <a:spLocks noChangeArrowheads="1"/>
          </p:cNvSpPr>
          <p:nvPr/>
        </p:nvSpPr>
        <p:spPr bwMode="auto">
          <a:xfrm>
            <a:off x="4626137" y="2348865"/>
            <a:ext cx="1618929" cy="1283910"/>
          </a:xfrm>
          <a:prstGeom prst="flowChartDecision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99745" name="Text Box 33"/>
          <p:cNvSpPr txBox="1">
            <a:spLocks noChangeArrowheads="1"/>
          </p:cNvSpPr>
          <p:nvPr/>
        </p:nvSpPr>
        <p:spPr bwMode="auto">
          <a:xfrm>
            <a:off x="1885950" y="2354263"/>
            <a:ext cx="201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8080"/>
                </a:solidFill>
              </a:rPr>
              <a:t>循环结构</a:t>
            </a:r>
          </a:p>
        </p:txBody>
      </p:sp>
      <p:sp>
        <p:nvSpPr>
          <p:cNvPr id="499746" name="AutoShape 34"/>
          <p:cNvSpPr>
            <a:spLocks noChangeArrowheads="1"/>
          </p:cNvSpPr>
          <p:nvPr/>
        </p:nvSpPr>
        <p:spPr bwMode="auto">
          <a:xfrm>
            <a:off x="4611876" y="5871489"/>
            <a:ext cx="1504950" cy="646331"/>
          </a:xfrm>
          <a:prstGeom prst="flowChartInputOutpu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9747" name="Text Box 35"/>
          <p:cNvSpPr txBox="1">
            <a:spLocks noChangeArrowheads="1"/>
          </p:cNvSpPr>
          <p:nvPr/>
        </p:nvSpPr>
        <p:spPr bwMode="auto">
          <a:xfrm>
            <a:off x="4860132" y="2878783"/>
            <a:ext cx="1071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err="1"/>
              <a:t>i</a:t>
            </a:r>
            <a:r>
              <a:rPr lang="en-US" altLang="zh-CN" sz="2400" dirty="0"/>
              <a:t>&lt;=100</a:t>
            </a:r>
          </a:p>
        </p:txBody>
      </p:sp>
      <p:sp>
        <p:nvSpPr>
          <p:cNvPr id="499748" name="Line 36"/>
          <p:cNvSpPr>
            <a:spLocks noChangeShapeType="1"/>
          </p:cNvSpPr>
          <p:nvPr/>
        </p:nvSpPr>
        <p:spPr bwMode="auto">
          <a:xfrm>
            <a:off x="5405438" y="882629"/>
            <a:ext cx="0" cy="433388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53" name="Line 41"/>
          <p:cNvSpPr>
            <a:spLocks noChangeShapeType="1"/>
          </p:cNvSpPr>
          <p:nvPr/>
        </p:nvSpPr>
        <p:spPr bwMode="auto">
          <a:xfrm>
            <a:off x="5416871" y="1805932"/>
            <a:ext cx="12700" cy="54610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58" name="Text Box 46"/>
          <p:cNvSpPr txBox="1">
            <a:spLocks noChangeArrowheads="1"/>
          </p:cNvSpPr>
          <p:nvPr/>
        </p:nvSpPr>
        <p:spPr bwMode="auto">
          <a:xfrm>
            <a:off x="6161089" y="2348864"/>
            <a:ext cx="382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/>
              <a:t>n</a:t>
            </a:r>
          </a:p>
        </p:txBody>
      </p:sp>
      <p:sp>
        <p:nvSpPr>
          <p:cNvPr id="499760" name="Text Box 48"/>
          <p:cNvSpPr txBox="1">
            <a:spLocks noChangeArrowheads="1"/>
          </p:cNvSpPr>
          <p:nvPr/>
        </p:nvSpPr>
        <p:spPr bwMode="auto">
          <a:xfrm>
            <a:off x="7972425" y="1169988"/>
            <a:ext cx="1684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8080"/>
                </a:solidFill>
              </a:rPr>
              <a:t>N—S</a:t>
            </a:r>
            <a:r>
              <a:rPr lang="zh-CN" altLang="en-US">
                <a:solidFill>
                  <a:srgbClr val="008080"/>
                </a:solidFill>
              </a:rPr>
              <a:t>图</a:t>
            </a:r>
          </a:p>
        </p:txBody>
      </p:sp>
      <p:sp>
        <p:nvSpPr>
          <p:cNvPr id="499779" name="Text Box 67"/>
          <p:cNvSpPr txBox="1">
            <a:spLocks noChangeArrowheads="1"/>
          </p:cNvSpPr>
          <p:nvPr/>
        </p:nvSpPr>
        <p:spPr bwMode="auto">
          <a:xfrm>
            <a:off x="4707569" y="1316018"/>
            <a:ext cx="1497012" cy="461665"/>
          </a:xfrm>
          <a:prstGeom prst="rect">
            <a:avLst/>
          </a:prstGeom>
          <a:noFill/>
          <a:ln w="3810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  i=1,s=0</a:t>
            </a:r>
          </a:p>
        </p:txBody>
      </p:sp>
      <p:sp>
        <p:nvSpPr>
          <p:cNvPr id="499780" name="Text Box 68"/>
          <p:cNvSpPr txBox="1">
            <a:spLocks noChangeArrowheads="1"/>
          </p:cNvSpPr>
          <p:nvPr/>
        </p:nvSpPr>
        <p:spPr bwMode="auto">
          <a:xfrm>
            <a:off x="4964560" y="3955070"/>
            <a:ext cx="859531" cy="461665"/>
          </a:xfrm>
          <a:prstGeom prst="rect">
            <a:avLst/>
          </a:prstGeom>
          <a:noFill/>
          <a:ln w="3810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s=s+i</a:t>
            </a:r>
          </a:p>
        </p:txBody>
      </p:sp>
      <p:sp>
        <p:nvSpPr>
          <p:cNvPr id="499781" name="Line 69"/>
          <p:cNvSpPr>
            <a:spLocks noChangeShapeType="1"/>
          </p:cNvSpPr>
          <p:nvPr/>
        </p:nvSpPr>
        <p:spPr bwMode="auto">
          <a:xfrm flipH="1">
            <a:off x="5420360" y="3631248"/>
            <a:ext cx="5398" cy="36163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99782" name="Text Box 70"/>
          <p:cNvSpPr txBox="1">
            <a:spLocks noChangeArrowheads="1"/>
          </p:cNvSpPr>
          <p:nvPr/>
        </p:nvSpPr>
        <p:spPr bwMode="auto">
          <a:xfrm>
            <a:off x="4962525" y="4687889"/>
            <a:ext cx="901700" cy="461665"/>
          </a:xfrm>
          <a:prstGeom prst="rect">
            <a:avLst/>
          </a:prstGeom>
          <a:noFill/>
          <a:ln w="3810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i=i+1</a:t>
            </a:r>
          </a:p>
        </p:txBody>
      </p:sp>
      <p:sp>
        <p:nvSpPr>
          <p:cNvPr id="499783" name="Line 71"/>
          <p:cNvSpPr>
            <a:spLocks noChangeShapeType="1"/>
          </p:cNvSpPr>
          <p:nvPr/>
        </p:nvSpPr>
        <p:spPr bwMode="auto">
          <a:xfrm>
            <a:off x="5400041" y="4429434"/>
            <a:ext cx="5397" cy="24734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99784" name="Line 72"/>
          <p:cNvSpPr>
            <a:spLocks noChangeShapeType="1"/>
          </p:cNvSpPr>
          <p:nvPr/>
        </p:nvSpPr>
        <p:spPr bwMode="auto">
          <a:xfrm>
            <a:off x="5405438" y="5195889"/>
            <a:ext cx="0" cy="173037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85" name="Line 73"/>
          <p:cNvSpPr>
            <a:spLocks noChangeShapeType="1"/>
          </p:cNvSpPr>
          <p:nvPr/>
        </p:nvSpPr>
        <p:spPr bwMode="auto">
          <a:xfrm flipH="1">
            <a:off x="4170364" y="5368925"/>
            <a:ext cx="1235075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86" name="Line 74"/>
          <p:cNvSpPr>
            <a:spLocks noChangeShapeType="1"/>
          </p:cNvSpPr>
          <p:nvPr/>
        </p:nvSpPr>
        <p:spPr bwMode="auto">
          <a:xfrm flipV="1">
            <a:off x="4170363" y="2068513"/>
            <a:ext cx="12700" cy="330041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99787" name="Line 75"/>
          <p:cNvSpPr>
            <a:spLocks noChangeShapeType="1"/>
          </p:cNvSpPr>
          <p:nvPr/>
        </p:nvSpPr>
        <p:spPr bwMode="auto">
          <a:xfrm>
            <a:off x="4196398" y="2068513"/>
            <a:ext cx="1223962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88" name="Line 76"/>
          <p:cNvSpPr>
            <a:spLocks noChangeShapeType="1"/>
          </p:cNvSpPr>
          <p:nvPr/>
        </p:nvSpPr>
        <p:spPr bwMode="auto">
          <a:xfrm>
            <a:off x="5400041" y="6524626"/>
            <a:ext cx="0" cy="3333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89" name="Line 77"/>
          <p:cNvSpPr>
            <a:spLocks noChangeShapeType="1"/>
          </p:cNvSpPr>
          <p:nvPr/>
        </p:nvSpPr>
        <p:spPr bwMode="auto">
          <a:xfrm>
            <a:off x="6245066" y="2990820"/>
            <a:ext cx="198598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99790" name="Line 78"/>
          <p:cNvSpPr>
            <a:spLocks noChangeShapeType="1"/>
          </p:cNvSpPr>
          <p:nvPr/>
        </p:nvSpPr>
        <p:spPr bwMode="auto">
          <a:xfrm>
            <a:off x="6438263" y="2990821"/>
            <a:ext cx="5399" cy="2563843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499791" name="Line 79"/>
          <p:cNvSpPr>
            <a:spLocks noChangeShapeType="1"/>
          </p:cNvSpPr>
          <p:nvPr/>
        </p:nvSpPr>
        <p:spPr bwMode="auto">
          <a:xfrm flipH="1">
            <a:off x="5405439" y="5567363"/>
            <a:ext cx="1038225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92" name="Line 80"/>
          <p:cNvSpPr>
            <a:spLocks noChangeShapeType="1"/>
          </p:cNvSpPr>
          <p:nvPr/>
        </p:nvSpPr>
        <p:spPr bwMode="auto">
          <a:xfrm>
            <a:off x="5405438" y="5567363"/>
            <a:ext cx="0" cy="284162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9793" name="Text Box 81"/>
          <p:cNvSpPr txBox="1">
            <a:spLocks noChangeArrowheads="1"/>
          </p:cNvSpPr>
          <p:nvPr/>
        </p:nvSpPr>
        <p:spPr bwMode="auto">
          <a:xfrm>
            <a:off x="4905376" y="5770564"/>
            <a:ext cx="955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打印</a:t>
            </a:r>
            <a:r>
              <a:rPr lang="en-US" altLang="zh-CN" sz="3200"/>
              <a:t>s</a:t>
            </a:r>
          </a:p>
        </p:txBody>
      </p:sp>
      <p:sp>
        <p:nvSpPr>
          <p:cNvPr id="499794" name="Text Box 82"/>
          <p:cNvSpPr txBox="1">
            <a:spLocks noChangeArrowheads="1"/>
          </p:cNvSpPr>
          <p:nvPr/>
        </p:nvSpPr>
        <p:spPr bwMode="auto">
          <a:xfrm>
            <a:off x="5640734" y="3422165"/>
            <a:ext cx="366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dirty="0"/>
              <a:t>y</a:t>
            </a:r>
          </a:p>
        </p:txBody>
      </p:sp>
      <p:graphicFrame>
        <p:nvGraphicFramePr>
          <p:cNvPr id="499870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2507"/>
              </p:ext>
            </p:extLst>
          </p:nvPr>
        </p:nvGraphicFramePr>
        <p:xfrm>
          <a:off x="7750175" y="2068514"/>
          <a:ext cx="2192338" cy="3709989"/>
        </p:xfrm>
        <a:graphic>
          <a:graphicData uri="http://schemas.openxmlformats.org/drawingml/2006/table">
            <a:tbl>
              <a:tblPr/>
              <a:tblGrid>
                <a:gridCol w="658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3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3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3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9864" name="Text Box 152"/>
          <p:cNvSpPr txBox="1">
            <a:spLocks noChangeArrowheads="1"/>
          </p:cNvSpPr>
          <p:nvPr/>
        </p:nvSpPr>
        <p:spPr bwMode="auto">
          <a:xfrm>
            <a:off x="8101013" y="2201863"/>
            <a:ext cx="1497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  i=1,s=0</a:t>
            </a:r>
          </a:p>
        </p:txBody>
      </p:sp>
      <p:sp>
        <p:nvSpPr>
          <p:cNvPr id="499865" name="Text Box 153"/>
          <p:cNvSpPr txBox="1">
            <a:spLocks noChangeArrowheads="1"/>
          </p:cNvSpPr>
          <p:nvPr/>
        </p:nvSpPr>
        <p:spPr bwMode="auto">
          <a:xfrm>
            <a:off x="8704264" y="3675063"/>
            <a:ext cx="852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s=s+i</a:t>
            </a:r>
          </a:p>
        </p:txBody>
      </p:sp>
      <p:sp>
        <p:nvSpPr>
          <p:cNvPr id="499866" name="Text Box 154"/>
          <p:cNvSpPr txBox="1">
            <a:spLocks noChangeArrowheads="1"/>
          </p:cNvSpPr>
          <p:nvPr/>
        </p:nvSpPr>
        <p:spPr bwMode="auto">
          <a:xfrm>
            <a:off x="8674100" y="4421188"/>
            <a:ext cx="94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i=i+1</a:t>
            </a:r>
          </a:p>
        </p:txBody>
      </p:sp>
      <p:sp>
        <p:nvSpPr>
          <p:cNvPr id="499867" name="Text Box 155"/>
          <p:cNvSpPr txBox="1">
            <a:spLocks noChangeArrowheads="1"/>
          </p:cNvSpPr>
          <p:nvPr/>
        </p:nvSpPr>
        <p:spPr bwMode="auto">
          <a:xfrm>
            <a:off x="8374064" y="5122864"/>
            <a:ext cx="955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打印</a:t>
            </a:r>
            <a:r>
              <a:rPr lang="en-US" altLang="zh-CN" sz="3200"/>
              <a:t>s</a:t>
            </a:r>
          </a:p>
        </p:txBody>
      </p:sp>
      <p:sp>
        <p:nvSpPr>
          <p:cNvPr id="499868" name="Text Box 156"/>
          <p:cNvSpPr txBox="1">
            <a:spLocks noChangeArrowheads="1"/>
          </p:cNvSpPr>
          <p:nvPr/>
        </p:nvSpPr>
        <p:spPr bwMode="auto">
          <a:xfrm>
            <a:off x="8002588" y="3005138"/>
            <a:ext cx="137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当</a:t>
            </a:r>
            <a:r>
              <a:rPr lang="en-US" altLang="zh-CN" sz="2400"/>
              <a:t>i&lt;=100</a:t>
            </a:r>
          </a:p>
        </p:txBody>
      </p:sp>
    </p:spTree>
    <p:extLst>
      <p:ext uri="{BB962C8B-B14F-4D97-AF65-F5344CB8AC3E}">
        <p14:creationId xmlns:p14="http://schemas.microsoft.com/office/powerpoint/2010/main" val="1300925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9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9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9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9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9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9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9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9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9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9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9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9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9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9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9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9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49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49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49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49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49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49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49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49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49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6" dur="500"/>
                                        <p:tgtEl>
                                          <p:spTgt spid="499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49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4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8" dur="500"/>
                                        <p:tgtEl>
                                          <p:spTgt spid="49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1" dur="500"/>
                                        <p:tgtEl>
                                          <p:spTgt spid="49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49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7" dur="500"/>
                                        <p:tgtEl>
                                          <p:spTgt spid="49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49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3" dur="500"/>
                                        <p:tgtEl>
                                          <p:spTgt spid="49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49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43" grpId="0" animBg="1"/>
      <p:bldP spid="499745" grpId="0"/>
      <p:bldP spid="499746" grpId="0" animBg="1"/>
      <p:bldP spid="499747" grpId="0"/>
      <p:bldP spid="499748" grpId="0" animBg="1"/>
      <p:bldP spid="499753" grpId="0" animBg="1"/>
      <p:bldP spid="499758" grpId="0"/>
      <p:bldP spid="499760" grpId="0"/>
      <p:bldP spid="499779" grpId="0" animBg="1"/>
      <p:bldP spid="499780" grpId="0" animBg="1"/>
      <p:bldP spid="499781" grpId="0" animBg="1"/>
      <p:bldP spid="499782" grpId="0" animBg="1"/>
      <p:bldP spid="499783" grpId="0" animBg="1"/>
      <p:bldP spid="499784" grpId="0" animBg="1"/>
      <p:bldP spid="499785" grpId="0" animBg="1"/>
      <p:bldP spid="499786" grpId="0" animBg="1"/>
      <p:bldP spid="499787" grpId="0" animBg="1"/>
      <p:bldP spid="499788" grpId="0" animBg="1"/>
      <p:bldP spid="499789" grpId="0" animBg="1"/>
      <p:bldP spid="499790" grpId="0" animBg="1"/>
      <p:bldP spid="499791" grpId="0" animBg="1"/>
      <p:bldP spid="499792" grpId="0" animBg="1"/>
      <p:bldP spid="499793" grpId="0"/>
      <p:bldP spid="499794" grpId="0"/>
      <p:bldP spid="499864" grpId="0"/>
      <p:bldP spid="499865" grpId="0"/>
      <p:bldP spid="499866" grpId="0"/>
      <p:bldP spid="499867" grpId="0"/>
      <p:bldP spid="49986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92E79-B577-4A9B-911E-4FB1AAC546BB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133600" y="635001"/>
            <a:ext cx="7924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在使用程序流程图来表示算法时，菱形用来表示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3124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输入与输出</a:t>
            </a: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3124200" y="34718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子程序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3124200" y="41576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判断分支</a:t>
            </a: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3124200" y="48434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特定功能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717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717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3717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3717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8001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3811905" cy="646331"/>
            <a:chOff x="-1143001" y="-1"/>
            <a:chExt cx="3811905" cy="646331"/>
          </a:xfrm>
        </p:grpSpPr>
        <p:sp>
          <p:nvSpPr>
            <p:cNvPr id="14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889001" y="-1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382904" y="109219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980986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92E79-B577-4A9B-911E-4FB1AAC546BB}" type="slidenum">
              <a:rPr lang="zh-CN" altLang="en-US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133600" y="635001"/>
            <a:ext cx="7924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以下叙述中正确的是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3124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算法必须要有输入和输出操作</a:t>
            </a: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3124200" y="3471863"/>
            <a:ext cx="7289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算法可以没有输出但必须要输入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3124200" y="4157663"/>
            <a:ext cx="749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算法可以没有输入但必须要有输出</a:t>
            </a: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3124200" y="4843463"/>
            <a:ext cx="7797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可以既没有输入也没有输出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717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717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3717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3717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8001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3811905" cy="646331"/>
            <a:chOff x="-1143001" y="-1"/>
            <a:chExt cx="3811905" cy="646331"/>
          </a:xfrm>
        </p:grpSpPr>
        <p:sp>
          <p:nvSpPr>
            <p:cNvPr id="14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889001" y="-1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382904" y="109219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843645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92E79-B577-4A9B-911E-4FB1AAC546BB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133600" y="635001"/>
            <a:ext cx="7924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结构化程序所要求的基本结构不包括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3124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顺序结构</a:t>
            </a: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3124200" y="34718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GOTO 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结构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3124200" y="41576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选择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分支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结构</a:t>
            </a: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3124200" y="48434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循环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重复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结构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717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717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3717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3717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8001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3811905" cy="646331"/>
            <a:chOff x="-1143001" y="-1"/>
            <a:chExt cx="3811905" cy="646331"/>
          </a:xfrm>
        </p:grpSpPr>
        <p:sp>
          <p:nvSpPr>
            <p:cNvPr id="14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-1143001" y="-1"/>
              <a:ext cx="184731" cy="646331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889001" y="-1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382904" y="109219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294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Soaring">
  <a:themeElements>
    <a:clrScheme name="1_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1_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第1章_引论</Template>
  <TotalTime>22936</TotalTime>
  <Words>1964</Words>
  <Application>Microsoft Office PowerPoint</Application>
  <PresentationFormat>宽屏</PresentationFormat>
  <Paragraphs>324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仿宋</vt:lpstr>
      <vt:lpstr>Microsoft Yahei</vt:lpstr>
      <vt:lpstr>Arial</vt:lpstr>
      <vt:lpstr>Tahoma</vt:lpstr>
      <vt:lpstr>Times New Roman</vt:lpstr>
      <vt:lpstr>Wingdings</vt:lpstr>
      <vt:lpstr>1_Soaring</vt:lpstr>
      <vt:lpstr>第1章 C语言概述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语言简介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Administrator</dc:creator>
  <cp:lastModifiedBy>Administrator</cp:lastModifiedBy>
  <cp:revision>507</cp:revision>
  <dcterms:created xsi:type="dcterms:W3CDTF">1999-07-06T15:28:21Z</dcterms:created>
  <dcterms:modified xsi:type="dcterms:W3CDTF">2025-07-31T01:24:00Z</dcterms:modified>
</cp:coreProperties>
</file>