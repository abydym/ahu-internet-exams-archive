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7" r:id="rId4"/>
    <p:sldMasterId id="2147483715" r:id="rId5"/>
    <p:sldMasterId id="2147483727" r:id="rId6"/>
    <p:sldMasterId id="2147483767" r:id="rId7"/>
    <p:sldMasterId id="2147483804" r:id="rId8"/>
  </p:sldMasterIdLst>
  <p:notesMasterIdLst>
    <p:notesMasterId r:id="rId65"/>
  </p:notesMasterIdLst>
  <p:sldIdLst>
    <p:sldId id="315" r:id="rId9"/>
    <p:sldId id="316" r:id="rId10"/>
    <p:sldId id="317" r:id="rId11"/>
    <p:sldId id="318" r:id="rId12"/>
    <p:sldId id="319" r:id="rId13"/>
    <p:sldId id="321" r:id="rId14"/>
    <p:sldId id="419" r:id="rId15"/>
    <p:sldId id="420" r:id="rId16"/>
    <p:sldId id="325" r:id="rId17"/>
    <p:sldId id="436" r:id="rId18"/>
    <p:sldId id="395" r:id="rId19"/>
    <p:sldId id="326" r:id="rId20"/>
    <p:sldId id="328" r:id="rId21"/>
    <p:sldId id="427" r:id="rId22"/>
    <p:sldId id="426" r:id="rId23"/>
    <p:sldId id="428" r:id="rId24"/>
    <p:sldId id="330" r:id="rId25"/>
    <p:sldId id="333" r:id="rId26"/>
    <p:sldId id="346" r:id="rId27"/>
    <p:sldId id="347" r:id="rId28"/>
    <p:sldId id="441" r:id="rId29"/>
    <p:sldId id="440" r:id="rId30"/>
    <p:sldId id="439" r:id="rId31"/>
    <p:sldId id="348" r:id="rId32"/>
    <p:sldId id="437" r:id="rId33"/>
    <p:sldId id="349" r:id="rId34"/>
    <p:sldId id="350" r:id="rId35"/>
    <p:sldId id="429" r:id="rId36"/>
    <p:sldId id="331" r:id="rId37"/>
    <p:sldId id="430" r:id="rId38"/>
    <p:sldId id="418" r:id="rId39"/>
    <p:sldId id="435" r:id="rId40"/>
    <p:sldId id="408" r:id="rId41"/>
    <p:sldId id="351" r:id="rId42"/>
    <p:sldId id="412" r:id="rId43"/>
    <p:sldId id="422" r:id="rId44"/>
    <p:sldId id="423" r:id="rId45"/>
    <p:sldId id="414" r:id="rId46"/>
    <p:sldId id="361" r:id="rId47"/>
    <p:sldId id="363" r:id="rId48"/>
    <p:sldId id="432" r:id="rId49"/>
    <p:sldId id="364" r:id="rId50"/>
    <p:sldId id="415" r:id="rId51"/>
    <p:sldId id="416" r:id="rId52"/>
    <p:sldId id="417" r:id="rId53"/>
    <p:sldId id="368" r:id="rId54"/>
    <p:sldId id="369" r:id="rId55"/>
    <p:sldId id="370" r:id="rId56"/>
    <p:sldId id="371" r:id="rId57"/>
    <p:sldId id="372" r:id="rId58"/>
    <p:sldId id="373" r:id="rId59"/>
    <p:sldId id="390" r:id="rId60"/>
    <p:sldId id="391" r:id="rId61"/>
    <p:sldId id="438" r:id="rId62"/>
    <p:sldId id="433" r:id="rId63"/>
    <p:sldId id="434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 autoAdjust="0"/>
    <p:restoredTop sz="94660"/>
  </p:normalViewPr>
  <p:slideViewPr>
    <p:cSldViewPr>
      <p:cViewPr varScale="1">
        <p:scale>
          <a:sx n="62" d="100"/>
          <a:sy n="62" d="100"/>
        </p:scale>
        <p:origin x="50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slide" Target="slides/slide55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61" Type="http://schemas.openxmlformats.org/officeDocument/2006/relationships/slide" Target="slides/slide53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viewProps" Target="view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F5704-CE21-4940-BD77-12546503253A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E0A61-4A3D-4B21-9CFF-8131ADA096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128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863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36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335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342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981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896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646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7E0A61-4A3D-4B21-9CFF-8131ADA0968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98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38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11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58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2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84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8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28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7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6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7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112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2051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369C40A-D725-49D5-BBA2-2FEE3202E886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106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7114B-BD72-410C-A3AE-9F1D8D2F5F7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17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E7D56-836B-40CF-A179-314EB9C98D4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622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CF3F5-AA6B-4F2D-BCD0-E0BBC58B0A6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262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621CB-B951-49E4-8419-F8E1AF1168C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384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92E05-E2ED-4D5A-879F-EEF636E93E3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146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8079E-3A25-4F2A-A22F-26316A5D659C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87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5DB71-42D8-42B5-839D-5920D7BB4B1F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412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C6135-5499-42FE-801E-1917DDA2D87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612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4927-FFE2-4D3D-8AD3-ADB67E5CDCA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177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9068A4-A869-494C-B668-D04932056F0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1456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1843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843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3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843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1844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1844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1844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65A20B0-183D-418D-8CFD-CD5C1DDF0DBE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4641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0845E-A8FE-4E6F-9C7B-9111CDF1F58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017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E353F-7240-4D40-8ADA-69BF754EEFB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36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012A9-3E45-4EDF-A414-B151B94E28E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599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B2A1A-3552-47EC-9577-9A7CBA58CC8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6153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A6476-21C3-4976-870F-4C8F39644D9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85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FD766A-EF95-4280-828B-444732E3B00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0770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624739-4508-4515-A476-46476D143858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13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005D1-6F3B-4129-B0E2-2D429C766BF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684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B1C9D-8418-47DD-A21F-CCDE6AD6649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088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455151" y="-211138"/>
            <a:ext cx="2688167" cy="5522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90651" y="-211138"/>
            <a:ext cx="7861300" cy="5522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CB7E8-41E8-4F84-B5D8-4F581120827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2129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906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73851" y="1196975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6CCD115-09BF-439C-B4AF-9BAC36E688A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2740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2600" y="-211138"/>
            <a:ext cx="10390717" cy="11414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390651" y="1196975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A4DC2AF-88E7-4E5E-B9FD-1592F34CDAE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187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390651" y="-211138"/>
            <a:ext cx="10752667" cy="55229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A2FC86B-AC34-4D3C-9DAC-E3616CFF19D5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155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0"/>
            <a:chExt cx="5675" cy="663"/>
          </a:xfrm>
        </p:grpSpPr>
        <p:grpSp>
          <p:nvGrpSpPr>
            <p:cNvPr id="8195" name="Group 3"/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8199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>
                  <a:solidFill>
                    <a:srgbClr val="000000"/>
                  </a:solidFill>
                  <a:ea typeface="Dotum" pitchFamily="34" charset="-127"/>
                </a:endParaRPr>
              </a:p>
            </p:txBody>
          </p:sp>
        </p:grp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>
              <a:solidFill>
                <a:srgbClr val="1C1C1C"/>
              </a:solidFill>
            </a:endParaRP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5FDA88C-0FB2-4C44-93DF-02E737A82263}" type="slidenum">
              <a:rPr lang="zh-CN" altLang="zh-CN">
                <a:solidFill>
                  <a:srgbClr val="1C1C1C"/>
                </a:solidFill>
              </a:rPr>
              <a:pPr/>
              <a:t>‹#›</a:t>
            </a:fld>
            <a:endParaRPr lang="zh-CN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7550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61DBED-811A-4D83-854A-49C7E4B08074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6729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1C6A2-8AA4-4140-B8B2-DDFC6AD7D50B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764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BE69CF-2F96-4896-AD72-DED0B76FF3E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8906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77B230-9F29-49B4-A43D-87C97DD4E4F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9046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08B0D-C021-4294-A210-3DF0D0B6106E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403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E9F3CB-C3AD-4DE9-82E0-EECD17B06730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2128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1EDB2F-0FBF-4EB4-B12D-E8C79E731D61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563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2819D-FF44-4D9D-BA87-E709F9F7B2AA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851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08185-854D-4E51-AD24-0B06D31370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787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06517" y="1"/>
            <a:ext cx="2743200" cy="6132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76917" y="1"/>
            <a:ext cx="8026400" cy="6132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82DB8-3B3C-4626-8D0C-D3D293BBE863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855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1CAB6879-C0E2-4333-825B-FD247CE283E7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0622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EC78F1AB-583E-4734-A46F-781C249C4DA9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07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9000" y="0"/>
            <a:ext cx="1039071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B08EBF7-6077-4620-935C-DADA17A8BABD}" type="slidenum">
              <a:rPr lang="zh-CN" altLang="zh-CN">
                <a:solidFill>
                  <a:srgbClr val="000000"/>
                </a:solidFill>
              </a:rPr>
              <a:pPr/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7002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Oval 2"/>
          <p:cNvSpPr>
            <a:spLocks noChangeArrowheads="1"/>
          </p:cNvSpPr>
          <p:nvPr/>
        </p:nvSpPr>
        <p:spPr bwMode="auto">
          <a:xfrm>
            <a:off x="203200" y="381000"/>
            <a:ext cx="2336800" cy="1752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25600" y="1524000"/>
            <a:ext cx="9448800" cy="76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2667000"/>
            <a:ext cx="8136467" cy="2667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SzTx/>
              <a:buFont typeface="Wingdings" pitchFamily="2" charset="2"/>
              <a:buBlip>
                <a:blip r:embed="rId3"/>
              </a:buBlip>
              <a:defRPr sz="2400"/>
            </a:lvl1pPr>
          </a:lstStyle>
          <a:p>
            <a:pPr lvl="0"/>
            <a:r>
              <a:rPr lang="zh-CN" altLang="zh-CN" noProof="0"/>
              <a:t> </a:t>
            </a:r>
            <a:r>
              <a:rPr lang="zh-CN" noProof="0"/>
              <a:t>单击此处编辑母版副标题样式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9304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52781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621782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61041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770654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648197"/>
            <a:ext cx="10972800" cy="76944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59330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18526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5347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154410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774433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05248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1538883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83312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369044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/>
          <p:cNvSpPr>
            <a:spLocks noChangeArrowheads="1"/>
          </p:cNvSpPr>
          <p:nvPr/>
        </p:nvSpPr>
        <p:spPr bwMode="auto">
          <a:xfrm>
            <a:off x="203200" y="381000"/>
            <a:ext cx="2336800" cy="17526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625600" y="1524000"/>
            <a:ext cx="9448800" cy="76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2667000"/>
            <a:ext cx="8136467" cy="2667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buSzTx/>
              <a:buFont typeface="Wingdings" pitchFamily="2" charset="2"/>
              <a:buBlip>
                <a:blip r:embed="rId3"/>
              </a:buBlip>
              <a:defRPr sz="2400"/>
            </a:lvl1pPr>
          </a:lstStyle>
          <a:p>
            <a:pPr lvl="0"/>
            <a:r>
              <a:rPr lang="zh-CN" altLang="zh-CN" noProof="0"/>
              <a:t> </a:t>
            </a:r>
            <a:r>
              <a:rPr lang="zh-CN" noProof="0"/>
              <a:t>单击此处编辑母版副标题样式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9304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126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16093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08258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0" y="1143000"/>
            <a:ext cx="5588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67656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648197"/>
            <a:ext cx="10972800" cy="76944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62649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587522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1830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1129280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935770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0196380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1538883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833120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989076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9611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8605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84035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8698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526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4523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82914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832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50223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706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5357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9623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37151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71722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5328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5016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33827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04722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5930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49644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5845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0187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90055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4154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3987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80407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492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2555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823570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4656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02798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6938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8862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80665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5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FEB0BF-119A-48CF-8AAF-5EF0F863922F}" type="datetime1">
              <a:rPr lang="zh-CN" altLang="en-US">
                <a:solidFill>
                  <a:srgbClr val="FFFFFF"/>
                </a:solidFill>
              </a:rPr>
              <a:pPr>
                <a:defRPr/>
              </a:pPr>
              <a:t>2025/7/26 Saturday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05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05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BA15E-ED3C-49C8-A81F-09A40B23A6C9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900880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theme" Target="../theme/theme8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99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4BEA91-F855-4F99-A194-4BC65B9337BB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3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4593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694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244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76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33351" y="731839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937684" y="5715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14351" y="94138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741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-211138"/>
            <a:ext cx="10390717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741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90651" y="1196975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741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C6600-8979-4FAF-92F1-67C0A55F2592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5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ea typeface="楷体_GB2312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SzPct val="45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520700" y="442913"/>
            <a:ext cx="58420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30818" y="442913"/>
            <a:ext cx="438149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5801" y="865188"/>
            <a:ext cx="563033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178984" y="865188"/>
            <a:ext cx="491067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133351" y="792164"/>
            <a:ext cx="747183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999067" y="179388"/>
            <a:ext cx="42333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554567" y="1125538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71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00" y="0"/>
            <a:ext cx="1039071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9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09E361-0565-4FD4-AEC1-C92946135371}" type="slidenum">
              <a:rPr lang="zh-CN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3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76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11379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endParaRPr lang="zh-CN" altLang="zh-CN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990600"/>
            <a:ext cx="10769600" cy="0"/>
          </a:xfrm>
          <a:prstGeom prst="line">
            <a:avLst/>
          </a:prstGeom>
          <a:noFill/>
          <a:ln w="57150" cmpd="thinThick">
            <a:solidFill>
              <a:srgbClr val="00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8288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60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SzPct val="9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6600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6600CC"/>
        </a:buClr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28600"/>
            <a:ext cx="1076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11379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endParaRPr lang="zh-CN" altLang="zh-CN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14400" y="990600"/>
            <a:ext cx="10769600" cy="0"/>
          </a:xfrm>
          <a:prstGeom prst="line">
            <a:avLst/>
          </a:prstGeom>
          <a:noFill/>
          <a:ln w="57150" cmpd="thinThick">
            <a:solidFill>
              <a:srgbClr val="00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828800" y="6400800"/>
            <a:ext cx="9347200" cy="457200"/>
          </a:xfrm>
          <a:prstGeom prst="rect">
            <a:avLst/>
          </a:prstGeom>
          <a:solidFill>
            <a:srgbClr val="CBD9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10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3399"/>
          </a:solidFill>
          <a:latin typeface="Arial" pitchFamily="34" charset="0"/>
          <a:ea typeface="隶书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SzPct val="9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6600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6600CC"/>
        </a:buClr>
        <a:buFont typeface="Wingdings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69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6D6FEB6-B3F8-47D5-AD9C-36BC93FF77EE}" type="datetimeFigureOut">
              <a:rPr lang="zh-CN" altLang="en-US" smtClean="0"/>
              <a:t>2025/7/26 Saturday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988956D-BC2C-454E-A464-56546475B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6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7.gif"/><Relationship Id="rId5" Type="http://schemas.openxmlformats.org/officeDocument/2006/relationships/slide" Target="slide1.xml"/><Relationship Id="rId4" Type="http://schemas.openxmlformats.org/officeDocument/2006/relationships/slide" Target="slide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4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43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8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43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slide" Target="slide1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8.tmp"/><Relationship Id="rId5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image" Target="../media/image8.tmp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10" Type="http://schemas.openxmlformats.org/officeDocument/2006/relationships/tags" Target="../tags/tag87.xml"/><Relationship Id="rId19" Type="http://schemas.openxmlformats.org/officeDocument/2006/relationships/image" Target="../media/image8.tmp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Layout" Target="../slideLayouts/slideLayout29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8.tmp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8.tmp"/><Relationship Id="rId5" Type="http://schemas.openxmlformats.org/officeDocument/2006/relationships/tags" Target="../tags/tag116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image" Target="../media/image8.tmp"/><Relationship Id="rId5" Type="http://schemas.openxmlformats.org/officeDocument/2006/relationships/tags" Target="../tags/tag125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24.xml"/><Relationship Id="rId9" Type="http://schemas.openxmlformats.org/officeDocument/2006/relationships/tags" Target="../tags/tag129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8.tmp"/><Relationship Id="rId5" Type="http://schemas.openxmlformats.org/officeDocument/2006/relationships/tags" Target="../tags/tag134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133.xml"/><Relationship Id="rId9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82888" y="265113"/>
            <a:ext cx="6769100" cy="641350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4 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指向字符串的指针变量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5914" y="1916113"/>
            <a:ext cx="7343775" cy="4017962"/>
          </a:xfrm>
        </p:spPr>
        <p:txBody>
          <a:bodyPr/>
          <a:lstStyle/>
          <a:p>
            <a:pPr lvl="1">
              <a:lnSpc>
                <a:spcPct val="120000"/>
              </a:lnSpc>
              <a:spcBef>
                <a:spcPct val="85000"/>
              </a:spcBef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7.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4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2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1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字符串指针变量的定义与引用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20000"/>
              </a:lnSpc>
              <a:spcBef>
                <a:spcPct val="85000"/>
              </a:spcBef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7.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4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3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2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字符串指针变量与字符数组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20000"/>
              </a:lnSpc>
              <a:spcBef>
                <a:spcPct val="85000"/>
              </a:spcBef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7.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4</a:t>
            </a:r>
            <a:r>
              <a:rPr lang="zh-CN" altLang="zh-CN" dirty="0">
                <a:latin typeface="Times New Roman" pitchFamily="18" charset="0"/>
                <a:ea typeface="黑体" pitchFamily="49" charset="-122"/>
                <a:hlinkClick r:id="rId4" action="ppaction://hlinksldjump"/>
              </a:rPr>
              <a:t>.</a:t>
            </a:r>
            <a:r>
              <a:rPr lang="zh-CN" alt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3 </a:t>
            </a:r>
            <a:r>
              <a:rPr lang="zh-CN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字符串指针变量作为函数参数</a:t>
            </a:r>
            <a:endParaRPr lang="zh-CN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20000"/>
              </a:lnSpc>
              <a:spcBef>
                <a:spcPct val="85000"/>
              </a:spcBef>
              <a:buFont typeface="Wingdings" pitchFamily="2" charset="2"/>
              <a:buNone/>
            </a:pPr>
            <a:endParaRPr lang="zh-CN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endParaRPr lang="zh-CN" altLang="zh-CN" sz="2400" b="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85732" name="Picture 4" descr="b14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788" y="6092825"/>
            <a:ext cx="182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06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906713" y="333375"/>
            <a:ext cx="7002462" cy="635000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4.1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字符串指针的定义与引用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8663" y="1503364"/>
            <a:ext cx="8197850" cy="3149773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Wingdings" pitchFamily="2" charset="2"/>
              <a:buChar char="&amp;"/>
            </a:pPr>
            <a:r>
              <a:rPr lang="zh-CN" altLang="zh-CN" sz="2800" b="1" dirty="0">
                <a:latin typeface="幼圆" pitchFamily="49" charset="-122"/>
                <a:ea typeface="幼圆" pitchFamily="49" charset="-122"/>
              </a:rPr>
              <a:t>C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语言中有两类字符串</a:t>
            </a:r>
            <a:endParaRPr lang="en-US" altLang="zh-CN" sz="2800" b="1" dirty="0">
              <a:latin typeface="Times New Roman" pitchFamily="18" charset="0"/>
              <a:ea typeface="黑体" pitchFamily="49" charset="-122"/>
            </a:endParaRPr>
          </a:p>
          <a:p>
            <a:pPr lvl="1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字符数组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黑体" pitchFamily="49" charset="-122"/>
            </a:endParaRPr>
          </a:p>
          <a:p>
            <a:pPr lvl="1">
              <a:lnSpc>
                <a:spcPct val="115000"/>
              </a:lnSpc>
              <a:spcBef>
                <a:spcPct val="60000"/>
              </a:spcBef>
              <a:buClr>
                <a:srgbClr val="0080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字符串常量。</a:t>
            </a:r>
          </a:p>
          <a:p>
            <a:pPr>
              <a:lnSpc>
                <a:spcPct val="115000"/>
              </a:lnSpc>
              <a:spcBef>
                <a:spcPct val="10000"/>
              </a:spcBef>
              <a:buClr>
                <a:srgbClr val="008000"/>
              </a:buClr>
              <a:buSzPct val="85000"/>
              <a:buFont typeface="Wingdings" pitchFamily="2" charset="2"/>
              <a:buNone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  如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:</a:t>
            </a:r>
          </a:p>
          <a:p>
            <a:pPr>
              <a:lnSpc>
                <a:spcPct val="11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 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char</a:t>
            </a:r>
            <a:r>
              <a:rPr lang="zh-CN" altLang="zh-CN" sz="2800" b="1" dirty="0">
                <a:ea typeface="黑体" pitchFamily="49" charset="-122"/>
              </a:rPr>
              <a:t>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a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[ ]</a:t>
            </a:r>
            <a:r>
              <a:rPr lang="zh-CN" altLang="zh-CN" sz="2800" b="1" dirty="0">
                <a:ea typeface="黑体" pitchFamily="49" charset="-122"/>
              </a:rPr>
              <a:t>=</a:t>
            </a:r>
            <a:r>
              <a:rPr lang="zh-CN" altLang="zh-CN" sz="2800" b="1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zh-CN" sz="2800" b="1">
                <a:latin typeface="Arial" pitchFamily="34" charset="0"/>
                <a:ea typeface="黑体" pitchFamily="49" charset="-122"/>
              </a:rPr>
              <a:t>hello</a:t>
            </a:r>
            <a:r>
              <a:rPr lang="zh-CN" altLang="zh-CN" sz="2800" b="1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zh-CN" sz="2800" b="1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;   </a:t>
            </a:r>
            <a:r>
              <a:rPr lang="zh-CN" altLang="zh-CN" sz="2800" b="1" dirty="0">
                <a:ea typeface="黑体" pitchFamily="49" charset="-122"/>
              </a:rPr>
              <a:t>  </a:t>
            </a:r>
            <a:r>
              <a:rPr lang="zh-CN" altLang="zh-CN" sz="2400" dirty="0">
                <a:solidFill>
                  <a:srgbClr val="0000B2"/>
                </a:solidFill>
                <a:ea typeface="黑体" pitchFamily="49" charset="-122"/>
              </a:rPr>
              <a:t>//</a:t>
            </a:r>
            <a:r>
              <a:rPr lang="zh-CN" altLang="en-US" sz="2400" b="1" dirty="0">
                <a:solidFill>
                  <a:srgbClr val="0000B2"/>
                </a:solidFill>
                <a:latin typeface="黑体" pitchFamily="49" charset="-122"/>
                <a:ea typeface="黑体" pitchFamily="49" charset="-122"/>
              </a:rPr>
              <a:t>字符数组</a:t>
            </a:r>
            <a:endParaRPr lang="zh-CN" altLang="en-US" sz="2400" dirty="0">
              <a:solidFill>
                <a:srgbClr val="0000B2"/>
              </a:solidFill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zh-CN" altLang="en-US" sz="2800" b="1">
                <a:ea typeface="黑体" pitchFamily="49" charset="-122"/>
              </a:rPr>
              <a:t>     </a:t>
            </a:r>
            <a:r>
              <a:rPr lang="zh-CN" altLang="en-US" sz="2400" b="1">
                <a:ea typeface="黑体" pitchFamily="49" charset="-122"/>
              </a:rPr>
              <a:t>      </a:t>
            </a:r>
            <a:r>
              <a:rPr lang="zh-CN" altLang="zh-CN" sz="2800" b="1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zh-CN" sz="2800" b="1">
                <a:latin typeface="Arial" pitchFamily="34" charset="0"/>
                <a:ea typeface="黑体" pitchFamily="49" charset="-122"/>
              </a:rPr>
              <a:t>good</a:t>
            </a:r>
            <a:r>
              <a:rPr lang="zh-CN" altLang="zh-CN" sz="2800" b="1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en-US" altLang="zh-CN" sz="2800" b="1">
                <a:latin typeface="Times New Roman" pitchFamily="18" charset="0"/>
                <a:ea typeface="楷体_GB2312" pitchFamily="49" charset="-122"/>
              </a:rPr>
              <a:t>                     </a:t>
            </a:r>
            <a:r>
              <a:rPr lang="zh-CN" altLang="zh-CN" sz="2800" b="1">
                <a:ea typeface="黑体" pitchFamily="49" charset="-122"/>
              </a:rPr>
              <a:t> </a:t>
            </a:r>
            <a:r>
              <a:rPr lang="zh-CN" altLang="zh-CN" sz="2400" dirty="0">
                <a:solidFill>
                  <a:srgbClr val="0000B2"/>
                </a:solidFill>
                <a:ea typeface="黑体" pitchFamily="49" charset="-122"/>
              </a:rPr>
              <a:t>//</a:t>
            </a:r>
            <a:r>
              <a:rPr lang="zh-CN" altLang="en-US" sz="2400" b="1" dirty="0">
                <a:solidFill>
                  <a:srgbClr val="0000B2"/>
                </a:solidFill>
                <a:latin typeface="黑体" pitchFamily="49" charset="-122"/>
                <a:ea typeface="黑体" pitchFamily="49" charset="-122"/>
              </a:rPr>
              <a:t>字符串常量</a:t>
            </a:r>
            <a:endParaRPr lang="zh-CN" altLang="en-US" sz="2400" dirty="0">
              <a:solidFill>
                <a:srgbClr val="0000B2"/>
              </a:solidFill>
              <a:ea typeface="黑体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68A208-9F1D-4A99-BF99-A3D5A5041552}"/>
              </a:ext>
            </a:extLst>
          </p:cNvPr>
          <p:cNvSpPr txBox="1"/>
          <p:nvPr/>
        </p:nvSpPr>
        <p:spPr>
          <a:xfrm flipH="1">
            <a:off x="2906713" y="5188125"/>
            <a:ext cx="6861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字符数组中字符串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可读可写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字符串常量用户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只能读不可写</a:t>
            </a:r>
          </a:p>
        </p:txBody>
      </p:sp>
    </p:spTree>
    <p:extLst>
      <p:ext uri="{BB962C8B-B14F-4D97-AF65-F5344CB8AC3E}">
        <p14:creationId xmlns:p14="http://schemas.microsoft.com/office/powerpoint/2010/main" val="288139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5913" y="188914"/>
            <a:ext cx="6959600" cy="746125"/>
          </a:xfrm>
        </p:spPr>
        <p:txBody>
          <a:bodyPr/>
          <a:lstStyle/>
          <a:p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4.1 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字符串指针的定义与引用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8364" y="1457326"/>
            <a:ext cx="8428037" cy="4054475"/>
          </a:xfrm>
        </p:spPr>
        <p:txBody>
          <a:bodyPr/>
          <a:lstStyle/>
          <a:p>
            <a:pPr marL="0" indent="0"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zh-CN" sz="2400" b="1" dirty="0">
                <a:ea typeface="黑体" pitchFamily="49" charset="-122"/>
              </a:rPr>
              <a:t> </a:t>
            </a:r>
            <a:r>
              <a:rPr lang="zh-CN" altLang="en-US" sz="2800" b="1" dirty="0">
                <a:ea typeface="黑体" pitchFamily="49" charset="-122"/>
              </a:rPr>
              <a:t>在</a:t>
            </a:r>
            <a:r>
              <a:rPr lang="zh-CN" altLang="zh-CN" sz="2800" dirty="0">
                <a:ea typeface="黑体" pitchFamily="49" charset="-122"/>
              </a:rPr>
              <a:t>C</a:t>
            </a:r>
            <a:r>
              <a:rPr lang="zh-CN" altLang="en-US" sz="2800" b="1" dirty="0">
                <a:ea typeface="黑体" pitchFamily="49" charset="-122"/>
              </a:rPr>
              <a:t>中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</a:t>
            </a:r>
            <a:r>
              <a:rPr lang="zh-CN" altLang="zh-CN" sz="2800" b="1" dirty="0">
                <a:ea typeface="黑体" pitchFamily="49" charset="-122"/>
              </a:rPr>
              <a:t> </a:t>
            </a:r>
            <a:r>
              <a:rPr lang="zh-CN" altLang="en-US" sz="2800" b="1" dirty="0">
                <a:ea typeface="黑体" pitchFamily="49" charset="-122"/>
              </a:rPr>
              <a:t>可以有两种方法实现对一个字符串的</a:t>
            </a:r>
            <a:r>
              <a:rPr lang="zh-CN" altLang="en-US" sz="2800" b="1">
                <a:ea typeface="黑体" pitchFamily="49" charset="-122"/>
              </a:rPr>
              <a:t>引用</a:t>
            </a:r>
            <a:r>
              <a:rPr lang="zh-CN" altLang="en-US" sz="2000" b="1">
                <a:ea typeface="黑体" pitchFamily="49" charset="-122"/>
              </a:rPr>
              <a:t>。</a:t>
            </a:r>
            <a:endParaRPr lang="en-US" altLang="zh-CN" sz="2000" b="1">
              <a:ea typeface="黑体" pitchFamily="49" charset="-122"/>
            </a:endParaRPr>
          </a:p>
          <a:p>
            <a:pPr marL="0" indent="0">
              <a:buClr>
                <a:srgbClr val="008000"/>
              </a:buClr>
              <a:buSzPct val="45000"/>
              <a:buFont typeface="Wingdings" pitchFamily="2" charset="2"/>
              <a:buChar char="l"/>
            </a:pPr>
            <a:endParaRPr lang="zh-CN" altLang="en-US" sz="2000" b="1" dirty="0">
              <a:ea typeface="黑体" pitchFamily="49" charset="-122"/>
            </a:endParaRPr>
          </a:p>
          <a:p>
            <a:pPr marL="779462" lvl="1" indent="-514350">
              <a:lnSpc>
                <a:spcPct val="110000"/>
              </a:lnSpc>
              <a:spcBef>
                <a:spcPct val="60000"/>
              </a:spcBef>
              <a:buClr>
                <a:srgbClr val="C00000"/>
              </a:buClr>
              <a:buSzPct val="101000"/>
              <a:buFont typeface="+mj-lt"/>
              <a:buAutoNum type="arabicPeriod"/>
            </a:pPr>
            <a:r>
              <a:rPr lang="zh-CN" b="1" dirty="0">
                <a:latin typeface="Arial" pitchFamily="34" charset="0"/>
                <a:ea typeface="黑体" pitchFamily="49" charset="-122"/>
              </a:rPr>
              <a:t>用</a:t>
            </a:r>
            <a:r>
              <a:rPr lang="zh-CN" b="1" dirty="0">
                <a:solidFill>
                  <a:srgbClr val="C00000"/>
                </a:solidFill>
                <a:latin typeface="Arial" pitchFamily="34" charset="0"/>
                <a:ea typeface="黑体" pitchFamily="49" charset="-122"/>
              </a:rPr>
              <a:t>字符数组</a:t>
            </a:r>
            <a:r>
              <a:rPr lang="zh-CN" b="1" dirty="0">
                <a:latin typeface="Arial" pitchFamily="34" charset="0"/>
                <a:ea typeface="黑体" pitchFamily="49" charset="-122"/>
              </a:rPr>
              <a:t>实现字符串操作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存储字符串</a:t>
            </a:r>
            <a:r>
              <a:rPr lang="en-US" altLang="zh-CN" b="1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)</a:t>
            </a:r>
            <a:r>
              <a:rPr lang="zh-CN" b="1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。</a:t>
            </a:r>
            <a:endParaRPr lang="en-US" altLang="zh-CN" b="1">
              <a:solidFill>
                <a:srgbClr val="FF0000"/>
              </a:solidFill>
              <a:latin typeface="Arial" pitchFamily="34" charset="0"/>
              <a:ea typeface="黑体" pitchFamily="49" charset="-122"/>
            </a:endParaRPr>
          </a:p>
          <a:p>
            <a:pPr marL="779462" lvl="1" indent="-514350">
              <a:lnSpc>
                <a:spcPct val="110000"/>
              </a:lnSpc>
              <a:spcBef>
                <a:spcPct val="60000"/>
              </a:spcBef>
              <a:buClr>
                <a:srgbClr val="C00000"/>
              </a:buClr>
              <a:buSzPct val="101000"/>
              <a:buFont typeface="+mj-lt"/>
              <a:buAutoNum type="arabicPeriod"/>
            </a:pPr>
            <a:endParaRPr lang="zh-CN" b="1" dirty="0">
              <a:solidFill>
                <a:srgbClr val="FF0000"/>
              </a:solidFill>
              <a:latin typeface="Arial" pitchFamily="34" charset="0"/>
              <a:ea typeface="黑体" pitchFamily="49" charset="-122"/>
            </a:endParaRPr>
          </a:p>
          <a:p>
            <a:pPr marL="779462" lvl="1" indent="-514350">
              <a:lnSpc>
                <a:spcPct val="110000"/>
              </a:lnSpc>
              <a:spcBef>
                <a:spcPct val="60000"/>
              </a:spcBef>
              <a:buClr>
                <a:srgbClr val="C00000"/>
              </a:buClr>
              <a:buSzPct val="101000"/>
              <a:buFont typeface="+mj-lt"/>
              <a:buAutoNum type="arabicPeriod"/>
            </a:pPr>
            <a:r>
              <a:rPr lang="zh-CN" altLang="en-US" b="1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字符</a:t>
            </a:r>
            <a:r>
              <a:rPr lang="zh-CN" b="1">
                <a:solidFill>
                  <a:srgbClr val="FF0000"/>
                </a:solidFill>
                <a:latin typeface="Arial" pitchFamily="34" charset="0"/>
                <a:ea typeface="黑体" pitchFamily="49" charset="-122"/>
              </a:rPr>
              <a:t>型指针</a:t>
            </a:r>
            <a:endParaRPr lang="en-US" altLang="zh-CN" b="1">
              <a:solidFill>
                <a:srgbClr val="FF0000"/>
              </a:solidFill>
              <a:latin typeface="Arial" pitchFamily="34" charset="0"/>
              <a:ea typeface="黑体" pitchFamily="49" charset="-122"/>
            </a:endParaRPr>
          </a:p>
          <a:p>
            <a:pPr marL="1122362" lvl="2" indent="-457200">
              <a:lnSpc>
                <a:spcPct val="110000"/>
              </a:lnSpc>
              <a:spcBef>
                <a:spcPct val="60000"/>
              </a:spcBef>
              <a:buClr>
                <a:srgbClr val="FF0000"/>
              </a:buClr>
              <a:buSzPct val="101000"/>
              <a:buFont typeface="+mj-ea"/>
              <a:buAutoNum type="circleNumDbPlain"/>
            </a:pPr>
            <a:r>
              <a:rPr lang="zh-CN" altLang="en-US" b="1">
                <a:latin typeface="Arial" pitchFamily="34" charset="0"/>
                <a:ea typeface="黑体" pitchFamily="49" charset="-122"/>
              </a:rPr>
              <a:t>间接引用</a:t>
            </a:r>
            <a:r>
              <a:rPr lang="zh-CN" altLang="en-US" b="1">
                <a:solidFill>
                  <a:srgbClr val="C00000"/>
                </a:solidFill>
                <a:latin typeface="Arial" pitchFamily="34" charset="0"/>
                <a:ea typeface="黑体" pitchFamily="49" charset="-122"/>
              </a:rPr>
              <a:t>字符数组</a:t>
            </a:r>
            <a:endParaRPr lang="en-US" altLang="zh-CN" b="1">
              <a:latin typeface="Arial" pitchFamily="34" charset="0"/>
              <a:ea typeface="黑体" pitchFamily="49" charset="-122"/>
            </a:endParaRPr>
          </a:p>
          <a:p>
            <a:pPr marL="1122362" lvl="2" indent="-457200">
              <a:lnSpc>
                <a:spcPct val="110000"/>
              </a:lnSpc>
              <a:spcBef>
                <a:spcPct val="60000"/>
              </a:spcBef>
              <a:buClr>
                <a:srgbClr val="FF0000"/>
              </a:buClr>
              <a:buSzPct val="101000"/>
              <a:buFont typeface="+mj-ea"/>
              <a:buAutoNum type="circleNumDbPlain"/>
            </a:pPr>
            <a:r>
              <a:rPr lang="zh-CN" altLang="en-US" b="1">
                <a:solidFill>
                  <a:srgbClr val="C00000"/>
                </a:solidFill>
                <a:latin typeface="Arial" pitchFamily="34" charset="0"/>
                <a:ea typeface="黑体" pitchFamily="49" charset="-122"/>
              </a:rPr>
              <a:t>字符串</a:t>
            </a:r>
            <a:r>
              <a:rPr lang="zh-CN" altLang="en-US" b="1" dirty="0">
                <a:solidFill>
                  <a:srgbClr val="C00000"/>
                </a:solidFill>
                <a:latin typeface="Arial" pitchFamily="34" charset="0"/>
                <a:ea typeface="黑体" pitchFamily="49" charset="-122"/>
              </a:rPr>
              <a:t>常量</a:t>
            </a:r>
            <a:endParaRPr lang="zh-CN" b="1" dirty="0">
              <a:solidFill>
                <a:srgbClr val="C00000"/>
              </a:solidFill>
              <a:latin typeface="Arial" pitchFamily="34" charset="0"/>
              <a:ea typeface="黑体" pitchFamily="49" charset="-122"/>
            </a:endParaRPr>
          </a:p>
          <a:p>
            <a:pPr marL="0" indent="0">
              <a:buClr>
                <a:srgbClr val="008000"/>
              </a:buClr>
              <a:buSzPct val="85000"/>
              <a:buNone/>
            </a:pPr>
            <a:endParaRPr lang="zh-CN" altLang="zh-CN" sz="2800" b="1" dirty="0"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6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8225" y="122239"/>
            <a:ext cx="7488238" cy="687387"/>
          </a:xfrm>
        </p:spPr>
        <p:txBody>
          <a:bodyPr/>
          <a:lstStyle/>
          <a:p>
            <a:r>
              <a:rPr lang="zh-CN" altLang="zh-CN" sz="280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1.  </a:t>
            </a:r>
            <a:r>
              <a:rPr lang="zh-CN" altLang="en-US" sz="2800">
                <a:solidFill>
                  <a:schemeClr val="tx1"/>
                </a:solidFill>
                <a:ea typeface="黑体" pitchFamily="49" charset="-122"/>
              </a:rPr>
              <a:t>用字符数组实现字符串操作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9325" y="1114425"/>
            <a:ext cx="8337550" cy="5054600"/>
          </a:xfrm>
        </p:spPr>
        <p:txBody>
          <a:bodyPr/>
          <a:lstStyle/>
          <a:p>
            <a:pPr marL="280988" indent="-280988">
              <a:buNone/>
            </a:pPr>
            <a:r>
              <a:rPr lang="zh-CN" altLang="zh-CN" sz="2800" b="1">
                <a:latin typeface="Arial" pitchFamily="34" charset="0"/>
              </a:rPr>
              <a:t>#include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&lt;stdio</a:t>
            </a:r>
            <a:r>
              <a:rPr lang="zh-CN" altLang="zh-CN" sz="2800" b="1">
                <a:latin typeface="Times New Roman" pitchFamily="18" charset="0"/>
              </a:rPr>
              <a:t>.</a:t>
            </a:r>
            <a:r>
              <a:rPr lang="zh-CN" altLang="zh-CN" sz="2800" b="1">
                <a:latin typeface="Arial" pitchFamily="34" charset="0"/>
              </a:rPr>
              <a:t>h&gt;</a:t>
            </a:r>
            <a:r>
              <a:rPr lang="zh-CN" altLang="zh-CN" sz="2800" b="1"/>
              <a:t>  </a:t>
            </a:r>
          </a:p>
          <a:p>
            <a:pPr marL="280988" indent="-280988">
              <a:buSzPct val="85000"/>
              <a:buNone/>
            </a:pPr>
            <a:r>
              <a:rPr lang="zh-CN" altLang="zh-CN" sz="2800" b="1">
                <a:latin typeface="Arial" pitchFamily="34" charset="0"/>
              </a:rPr>
              <a:t>void main</a:t>
            </a:r>
            <a:r>
              <a:rPr lang="zh-CN" altLang="zh-CN" sz="2800" b="1">
                <a:latin typeface="Times New Roman" pitchFamily="18" charset="0"/>
              </a:rPr>
              <a:t>( )</a:t>
            </a:r>
          </a:p>
          <a:p>
            <a:pPr marL="280988" indent="-280988">
              <a:lnSpc>
                <a:spcPct val="95000"/>
              </a:lnSpc>
              <a:buSzPct val="85000"/>
              <a:buNone/>
            </a:pPr>
            <a:r>
              <a:rPr lang="zh-CN" altLang="zh-CN" sz="2800" b="1"/>
              <a:t>{ </a:t>
            </a:r>
            <a:r>
              <a:rPr lang="zh-CN" altLang="zh-CN" sz="2800" b="1">
                <a:latin typeface="Arial" pitchFamily="34" charset="0"/>
              </a:rPr>
              <a:t>char</a:t>
            </a:r>
            <a:r>
              <a:rPr lang="zh-CN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str</a:t>
            </a:r>
            <a:r>
              <a:rPr lang="zh-CN" altLang="zh-CN" sz="2800" b="1">
                <a:latin typeface="黑体" pitchFamily="49" charset="-122"/>
              </a:rPr>
              <a:t>[ ]</a:t>
            </a:r>
            <a:r>
              <a:rPr lang="zh-CN" altLang="zh-CN" sz="2800" b="1"/>
              <a:t>=</a:t>
            </a:r>
            <a:r>
              <a:rPr lang="zh-CN" altLang="zh-CN" sz="2800" b="1">
                <a:latin typeface="Times New Roman"/>
              </a:rPr>
              <a:t>“</a:t>
            </a:r>
            <a:r>
              <a:rPr lang="zh-CN" altLang="zh-CN" sz="2800" b="1">
                <a:latin typeface="Arial" pitchFamily="34" charset="0"/>
              </a:rPr>
              <a:t>c program</a:t>
            </a:r>
            <a:r>
              <a:rPr lang="zh-CN" altLang="zh-CN" sz="2800" b="1">
                <a:latin typeface="Times New Roman"/>
              </a:rPr>
              <a:t>”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;   </a:t>
            </a:r>
          </a:p>
          <a:p>
            <a:pPr marL="280988" indent="-280988">
              <a:lnSpc>
                <a:spcPct val="110000"/>
              </a:lnSpc>
              <a:buNone/>
            </a:pPr>
            <a:r>
              <a:rPr lang="zh-CN" altLang="zh-CN" sz="2800" b="1"/>
              <a:t>   </a:t>
            </a:r>
            <a:r>
              <a:rPr lang="zh-CN" altLang="zh-CN" sz="2800" b="1">
                <a:latin typeface="Arial" pitchFamily="34" charset="0"/>
              </a:rPr>
              <a:t>int</a:t>
            </a:r>
            <a:r>
              <a:rPr lang="zh-CN" altLang="zh-CN" sz="2800" b="1"/>
              <a:t>  i</a:t>
            </a:r>
            <a:r>
              <a:rPr lang="zh-CN" altLang="zh-CN" sz="2800" b="1">
                <a:latin typeface="Times New Roman" pitchFamily="18" charset="0"/>
              </a:rPr>
              <a:t> ;</a:t>
            </a:r>
            <a:r>
              <a:rPr lang="zh-CN" altLang="zh-CN" sz="2800" b="1"/>
              <a:t> </a:t>
            </a:r>
          </a:p>
          <a:p>
            <a:pPr marL="280988" indent="-280988">
              <a:lnSpc>
                <a:spcPct val="110000"/>
              </a:lnSpc>
              <a:buNone/>
            </a:pPr>
            <a:r>
              <a:rPr lang="zh-CN" altLang="zh-CN" sz="2800" b="1"/>
              <a:t>   </a:t>
            </a:r>
            <a:r>
              <a:rPr lang="en-US" altLang="zh-CN" sz="2800" b="1"/>
              <a:t> </a:t>
            </a:r>
            <a:r>
              <a:rPr lang="zh-CN" altLang="zh-CN" sz="2800" b="1">
                <a:latin typeface="Arial" pitchFamily="34" charset="0"/>
              </a:rPr>
              <a:t>printf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>
                <a:latin typeface="Times New Roman"/>
              </a:rPr>
              <a:t>“</a:t>
            </a:r>
            <a:r>
              <a:rPr lang="zh-CN" altLang="zh-CN" sz="2800" b="1">
                <a:latin typeface="Arial" pitchFamily="34" charset="0"/>
              </a:rPr>
              <a:t>%s</a:t>
            </a:r>
            <a:r>
              <a:rPr lang="zh-CN" altLang="zh-CN" sz="2800"/>
              <a:t>\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>
                <a:latin typeface="Times New Roman"/>
              </a:rPr>
              <a:t>”</a:t>
            </a:r>
            <a:r>
              <a:rPr lang="zh-CN" altLang="zh-CN" sz="2800" b="1">
                <a:latin typeface="Times New Roman" pitchFamily="18" charset="0"/>
              </a:rPr>
              <a:t>,  </a:t>
            </a:r>
            <a:r>
              <a:rPr lang="zh-CN" altLang="zh-CN" sz="2800" b="1">
                <a:latin typeface="Arial" pitchFamily="34" charset="0"/>
              </a:rPr>
              <a:t>str</a:t>
            </a:r>
            <a:r>
              <a:rPr lang="zh-CN" altLang="zh-CN" sz="2800" b="1"/>
              <a:t> </a:t>
            </a:r>
            <a:r>
              <a:rPr lang="zh-CN" altLang="zh-CN" sz="2800" b="1">
                <a:latin typeface="Times New Roman" pitchFamily="18" charset="0"/>
              </a:rPr>
              <a:t>);</a:t>
            </a:r>
            <a:endParaRPr lang="en-US" altLang="zh-CN" sz="2800" b="1"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zh-CN" altLang="zh-CN" sz="2800" b="1">
                <a:latin typeface="Arial" pitchFamily="34" charset="0"/>
              </a:rPr>
              <a:t>printf</a:t>
            </a:r>
            <a:r>
              <a:rPr lang="zh-CN" altLang="zh-CN" sz="2800" b="1">
                <a:latin typeface="Times New Roman" pitchFamily="18" charset="0"/>
              </a:rPr>
              <a:t>(</a:t>
            </a:r>
            <a:r>
              <a:rPr lang="zh-CN" altLang="zh-CN" sz="2800" b="1">
                <a:latin typeface="Times New Roman"/>
              </a:rPr>
              <a:t>“</a:t>
            </a:r>
            <a:r>
              <a:rPr lang="zh-CN" altLang="zh-CN" sz="2800" b="1">
                <a:latin typeface="Arial" pitchFamily="34" charset="0"/>
              </a:rPr>
              <a:t>%s</a:t>
            </a:r>
            <a:r>
              <a:rPr lang="zh-CN" altLang="zh-CN" sz="2800"/>
              <a:t>\</a:t>
            </a:r>
            <a:r>
              <a:rPr lang="zh-CN" altLang="zh-CN" sz="2800" b="1">
                <a:latin typeface="Arial" pitchFamily="34" charset="0"/>
              </a:rPr>
              <a:t>n</a:t>
            </a:r>
            <a:r>
              <a:rPr lang="zh-CN" altLang="zh-CN" sz="2800" b="1">
                <a:latin typeface="Times New Roman"/>
              </a:rPr>
              <a:t>”</a:t>
            </a:r>
            <a:r>
              <a:rPr lang="zh-CN" altLang="zh-CN" sz="2800" b="1">
                <a:latin typeface="Times New Roman" pitchFamily="18" charset="0"/>
              </a:rPr>
              <a:t>,  </a:t>
            </a:r>
            <a:r>
              <a:rPr lang="en-US" altLang="zh-CN" sz="2800" b="1">
                <a:latin typeface="Arial" pitchFamily="34" charset="0"/>
              </a:rPr>
              <a:t>  p</a:t>
            </a:r>
            <a:r>
              <a:rPr lang="zh-CN" altLang="zh-CN" sz="2800" b="1">
                <a:latin typeface="Times New Roman" pitchFamily="18" charset="0"/>
              </a:rPr>
              <a:t>);</a:t>
            </a:r>
            <a:endParaRPr lang="en-US" altLang="zh-CN" sz="2800" b="1">
              <a:latin typeface="Times New Roman" pitchFamily="18" charset="0"/>
            </a:endParaRPr>
          </a:p>
          <a:p>
            <a:pPr marL="280988" indent="-280988">
              <a:lnSpc>
                <a:spcPct val="110000"/>
              </a:lnSpc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en-US" altLang="zh-CN" sz="2800" b="1">
                <a:latin typeface="Arial" pitchFamily="34" charset="0"/>
              </a:rPr>
              <a:t>printf(“%c,%c\n”,str[2],*(str+2));</a:t>
            </a:r>
          </a:p>
          <a:p>
            <a:pPr marL="280988" indent="-280988">
              <a:lnSpc>
                <a:spcPct val="110000"/>
              </a:lnSpc>
              <a:buNone/>
            </a:pPr>
            <a:r>
              <a:rPr lang="en-US" altLang="zh-CN" sz="2800" b="1">
                <a:latin typeface="Arial" pitchFamily="34" charset="0"/>
              </a:rPr>
              <a:t>    printf(“%c,%c\n”,p[2],*(p+2));  </a:t>
            </a:r>
          </a:p>
          <a:p>
            <a:pPr marL="280988" indent="-280988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zh-CN" sz="2800" b="1"/>
              <a:t>}</a:t>
            </a:r>
          </a:p>
          <a:p>
            <a:pPr marL="280988" indent="-280988">
              <a:lnSpc>
                <a:spcPct val="70000"/>
              </a:lnSpc>
              <a:spcBef>
                <a:spcPct val="45000"/>
              </a:spcBef>
              <a:buNone/>
            </a:pPr>
            <a:r>
              <a:rPr lang="zh-CN" altLang="zh-CN" sz="2800" b="1"/>
              <a:t>        </a:t>
            </a:r>
          </a:p>
        </p:txBody>
      </p:sp>
      <p:sp>
        <p:nvSpPr>
          <p:cNvPr id="588804" name="AutoShape 4"/>
          <p:cNvSpPr>
            <a:spLocks noChangeArrowheads="1"/>
          </p:cNvSpPr>
          <p:nvPr/>
        </p:nvSpPr>
        <p:spPr bwMode="auto">
          <a:xfrm>
            <a:off x="4354513" y="5421313"/>
            <a:ext cx="533400" cy="254000"/>
          </a:xfrm>
          <a:prstGeom prst="rightArrow">
            <a:avLst>
              <a:gd name="adj1" fmla="val 50000"/>
              <a:gd name="adj2" fmla="val 52500"/>
            </a:avLst>
          </a:prstGeom>
          <a:solidFill>
            <a:srgbClr val="0099FF">
              <a:alpha val="50000"/>
            </a:srgb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8805" name="AutoShape 5"/>
          <p:cNvSpPr>
            <a:spLocks noChangeArrowheads="1"/>
          </p:cNvSpPr>
          <p:nvPr/>
        </p:nvSpPr>
        <p:spPr bwMode="auto">
          <a:xfrm>
            <a:off x="6946900" y="5421313"/>
            <a:ext cx="533400" cy="254000"/>
          </a:xfrm>
          <a:prstGeom prst="rightArrow">
            <a:avLst>
              <a:gd name="adj1" fmla="val 50000"/>
              <a:gd name="adj2" fmla="val 52500"/>
            </a:avLst>
          </a:prstGeom>
          <a:solidFill>
            <a:srgbClr val="0099FF">
              <a:alpha val="50000"/>
            </a:srgb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88806" name="Rectangle 6"/>
          <p:cNvSpPr>
            <a:spLocks noChangeArrowheads="1"/>
          </p:cNvSpPr>
          <p:nvPr/>
        </p:nvSpPr>
        <p:spPr bwMode="auto">
          <a:xfrm>
            <a:off x="7276785" y="49298"/>
            <a:ext cx="2155825" cy="1575234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8A8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square" tIns="18000" bIns="180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2498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000" b="1">
                <a:solidFill>
                  <a:srgbClr val="002498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    c program</a:t>
            </a:r>
            <a:endParaRPr lang="en-US" altLang="zh-CN" sz="2000" b="1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c program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00"/>
                </a:solidFill>
                <a:ea typeface="宋体" pitchFamily="2" charset="-122"/>
              </a:rPr>
              <a:t>    </a:t>
            </a:r>
            <a:r>
              <a:rPr lang="en-US" altLang="zh-CN" sz="2000" b="1">
                <a:solidFill>
                  <a:srgbClr val="000000"/>
                </a:solidFill>
                <a:ea typeface="宋体" pitchFamily="2" charset="-122"/>
              </a:rPr>
              <a:t>p,p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0000"/>
                </a:solidFill>
                <a:ea typeface="宋体" pitchFamily="2" charset="-122"/>
              </a:rPr>
              <a:t>    p,p</a:t>
            </a:r>
            <a:endParaRPr lang="zh-CN" altLang="zh-CN" sz="20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88807" name="Text Box 7"/>
          <p:cNvSpPr txBox="1">
            <a:spLocks noChangeArrowheads="1"/>
          </p:cNvSpPr>
          <p:nvPr/>
        </p:nvSpPr>
        <p:spPr bwMode="auto">
          <a:xfrm>
            <a:off x="7104781" y="2128838"/>
            <a:ext cx="2087563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,</a:t>
            </a:r>
            <a:r>
              <a:rPr lang="zh-CN" altLang="zh-CN" sz="2800" b="1" dirty="0">
                <a:solidFill>
                  <a:srgbClr val="3333CC"/>
                </a:solidFill>
                <a:latin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3333CC"/>
                </a:solidFill>
                <a:ea typeface="Dotum" pitchFamily="34" charset="-127"/>
              </a:rPr>
              <a:t>p=str</a:t>
            </a:r>
            <a:r>
              <a:rPr lang="zh-CN" altLang="zh-CN" sz="2800" b="1" dirty="0">
                <a:solidFill>
                  <a:srgbClr val="000000"/>
                </a:solidFill>
                <a:ea typeface="Dotum" pitchFamily="34" charset="-127"/>
              </a:rPr>
              <a:t>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Dotum" pitchFamily="34" charset="-127"/>
              </a:rPr>
              <a:t>;</a:t>
            </a:r>
          </a:p>
        </p:txBody>
      </p:sp>
      <p:graphicFrame>
        <p:nvGraphicFramePr>
          <p:cNvPr id="588808" name="Group 8"/>
          <p:cNvGraphicFramePr>
            <a:graphicFrameLocks noGrp="1"/>
          </p:cNvGraphicFramePr>
          <p:nvPr/>
        </p:nvGraphicFramePr>
        <p:xfrm>
          <a:off x="9839326" y="1930400"/>
          <a:ext cx="434975" cy="3320258"/>
        </p:xfrm>
        <a:graphic>
          <a:graphicData uri="http://schemas.openxmlformats.org/drawingml/2006/table">
            <a:tbl>
              <a:tblPr/>
              <a:tblGrid>
                <a:gridCol w="43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︺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p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m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\0</a:t>
                      </a:r>
                    </a:p>
                  </a:txBody>
                  <a:tcPr marL="90000" marR="90000" marT="46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588834" name="Group 34"/>
          <p:cNvGrpSpPr>
            <a:grpSpLocks/>
          </p:cNvGrpSpPr>
          <p:nvPr/>
        </p:nvGrpSpPr>
        <p:grpSpPr bwMode="auto">
          <a:xfrm>
            <a:off x="8723314" y="1779589"/>
            <a:ext cx="1057275" cy="350837"/>
            <a:chOff x="0" y="0"/>
            <a:chExt cx="666" cy="221"/>
          </a:xfrm>
        </p:grpSpPr>
        <p:sp>
          <p:nvSpPr>
            <p:cNvPr id="588835" name="Line 35"/>
            <p:cNvSpPr>
              <a:spLocks noChangeShapeType="1"/>
            </p:cNvSpPr>
            <p:nvPr/>
          </p:nvSpPr>
          <p:spPr bwMode="auto">
            <a:xfrm>
              <a:off x="171" y="221"/>
              <a:ext cx="495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88836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430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b="1">
                  <a:solidFill>
                    <a:srgbClr val="000000"/>
                  </a:solidFill>
                  <a:ea typeface="宋体" pitchFamily="2" charset="-122"/>
                </a:rPr>
                <a:t>str</a:t>
              </a:r>
              <a:endParaRPr lang="zh-CN" altLang="zh-CN" sz="28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88837" name="Text Box 37"/>
          <p:cNvSpPr txBox="1">
            <a:spLocks noChangeArrowheads="1"/>
          </p:cNvSpPr>
          <p:nvPr/>
        </p:nvSpPr>
        <p:spPr bwMode="auto">
          <a:xfrm>
            <a:off x="8791575" y="1811338"/>
            <a:ext cx="965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  <p:grpSp>
        <p:nvGrpSpPr>
          <p:cNvPr id="588838" name="Group 38"/>
          <p:cNvGrpSpPr>
            <a:grpSpLocks/>
          </p:cNvGrpSpPr>
          <p:nvPr/>
        </p:nvGrpSpPr>
        <p:grpSpPr bwMode="auto">
          <a:xfrm>
            <a:off x="8745539" y="1800225"/>
            <a:ext cx="1057275" cy="350838"/>
            <a:chOff x="0" y="0"/>
            <a:chExt cx="666" cy="221"/>
          </a:xfrm>
        </p:grpSpPr>
        <p:sp>
          <p:nvSpPr>
            <p:cNvPr id="588839" name="Line 39"/>
            <p:cNvSpPr>
              <a:spLocks noChangeShapeType="1"/>
            </p:cNvSpPr>
            <p:nvPr/>
          </p:nvSpPr>
          <p:spPr bwMode="auto">
            <a:xfrm>
              <a:off x="171" y="221"/>
              <a:ext cx="495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588840" name="Rectangle 40"/>
            <p:cNvSpPr>
              <a:spLocks noChangeArrowheads="1"/>
            </p:cNvSpPr>
            <p:nvPr/>
          </p:nvSpPr>
          <p:spPr bwMode="auto">
            <a:xfrm>
              <a:off x="0" y="0"/>
              <a:ext cx="430" cy="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b="1">
                  <a:solidFill>
                    <a:srgbClr val="000000"/>
                  </a:solidFill>
                  <a:ea typeface="宋体" pitchFamily="2" charset="-122"/>
                </a:rPr>
                <a:t>str</a:t>
              </a:r>
              <a:r>
                <a:rPr lang="zh-CN" altLang="zh-CN" sz="2000" b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lang="zh-CN" altLang="zh-CN" sz="2000" b="1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endParaRPr lang="zh-CN" altLang="zh-CN" sz="20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588841" name="Text Box 41"/>
          <p:cNvSpPr txBox="1">
            <a:spLocks noChangeArrowheads="1"/>
          </p:cNvSpPr>
          <p:nvPr/>
        </p:nvSpPr>
        <p:spPr bwMode="auto">
          <a:xfrm>
            <a:off x="2800351" y="5319713"/>
            <a:ext cx="62642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zh-CN" altLang="zh-CN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07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8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8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8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6" grpId="0" build="p" animBg="1" autoUpdateAnimBg="0"/>
      <p:bldP spid="588807" grpId="0" animBg="1" autoUpdateAnimBg="0"/>
      <p:bldP spid="588837" grpId="0" animBg="1" autoUpdateAnimBg="0"/>
      <p:bldP spid="58884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32063" y="173038"/>
            <a:ext cx="7086600" cy="715962"/>
          </a:xfrm>
        </p:spPr>
        <p:txBody>
          <a:bodyPr/>
          <a:lstStyle/>
          <a:p>
            <a:r>
              <a:rPr lang="zh-CN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2.</a:t>
            </a:r>
            <a:r>
              <a:rPr lang="zh-CN" altLang="zh-CN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ea typeface="黑体" pitchFamily="49" charset="-122"/>
              </a:rPr>
              <a:t>用字符指针实现字符串操作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6301" y="1398588"/>
            <a:ext cx="8340725" cy="4697412"/>
          </a:xfrm>
        </p:spPr>
        <p:txBody>
          <a:bodyPr/>
          <a:lstStyle/>
          <a:p>
            <a:pPr marL="274638" indent="-274638">
              <a:lnSpc>
                <a:spcPct val="115000"/>
              </a:lnSpc>
              <a:buClr>
                <a:srgbClr val="008000"/>
              </a:buClr>
              <a:buSzPct val="45000"/>
              <a:buFont typeface="Wingdings" pitchFamily="2" charset="2"/>
              <a:buChar char="l"/>
            </a:pPr>
            <a:r>
              <a:rPr lang="zh-CN" altLang="en-US" sz="2800" b="1" dirty="0">
                <a:ea typeface="黑体" pitchFamily="49" charset="-122"/>
              </a:rPr>
              <a:t>在程序中定义一个字符指针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800" b="1" dirty="0">
                <a:ea typeface="黑体" pitchFamily="49" charset="-122"/>
              </a:rPr>
              <a:t>并将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字符串常量</a:t>
            </a:r>
            <a:r>
              <a:rPr lang="zh-CN" altLang="en-US" sz="2800" b="1" dirty="0">
                <a:ea typeface="黑体" pitchFamily="49" charset="-122"/>
              </a:rPr>
              <a:t>的首地址赋给它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  </a:t>
            </a:r>
            <a:r>
              <a:rPr lang="zh-CN" altLang="en-US" sz="2800" b="1" dirty="0">
                <a:ea typeface="黑体" pitchFamily="49" charset="-122"/>
              </a:rPr>
              <a:t>然后通过字符指针来访问这个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字符串常量</a:t>
            </a:r>
            <a:r>
              <a:rPr lang="zh-CN" altLang="en-US" sz="2000" b="1" dirty="0">
                <a:ea typeface="黑体" pitchFamily="49" charset="-122"/>
              </a:rPr>
              <a:t>。</a:t>
            </a:r>
          </a:p>
          <a:p>
            <a:pPr marL="274638" indent="-274638" algn="just">
              <a:lnSpc>
                <a:spcPct val="105000"/>
              </a:lnSpc>
              <a:spcBef>
                <a:spcPct val="30000"/>
              </a:spcBef>
              <a:buClr>
                <a:srgbClr val="008000"/>
              </a:buClr>
              <a:buSzPct val="85000"/>
              <a:buNone/>
            </a:pPr>
            <a:r>
              <a:rPr lang="zh-CN" altLang="en-US" sz="2000" b="1" dirty="0">
                <a:ea typeface="黑体" pitchFamily="49" charset="-122"/>
              </a:rPr>
              <a:t>    </a:t>
            </a:r>
            <a:r>
              <a:rPr lang="zh-CN" altLang="en-US" sz="2800" b="1" dirty="0">
                <a:ea typeface="黑体" pitchFamily="49" charset="-122"/>
              </a:rPr>
              <a:t>例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:</a:t>
            </a:r>
          </a:p>
          <a:p>
            <a:pPr marL="274638" indent="-274638" algn="just">
              <a:lnSpc>
                <a:spcPct val="105000"/>
              </a:lnSpc>
              <a:spcBef>
                <a:spcPct val="0"/>
              </a:spcBef>
              <a:buClr>
                <a:srgbClr val="008000"/>
              </a:buClr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  </a:t>
            </a:r>
            <a:r>
              <a:rPr lang="zh-CN" altLang="zh-CN" sz="2800" b="1" dirty="0">
                <a:latin typeface="Arial" pitchFamily="34" charset="0"/>
              </a:rPr>
              <a:t>main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 )</a:t>
            </a:r>
          </a:p>
          <a:p>
            <a:pPr marL="274638" indent="-274638">
              <a:spcBef>
                <a:spcPct val="25000"/>
              </a:spcBef>
              <a:buNone/>
            </a:pPr>
            <a:r>
              <a:rPr lang="zh-CN" altLang="zh-CN" b="1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zh-CN" altLang="zh-CN" sz="2800" b="1" dirty="0">
                <a:ea typeface="黑体" pitchFamily="49" charset="-122"/>
              </a:rPr>
              <a:t>{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  </a:t>
            </a:r>
            <a:r>
              <a:rPr lang="zh-CN" altLang="zh-CN" sz="2800" b="1" dirty="0">
                <a:solidFill>
                  <a:schemeClr val="hlink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en-US" altLang="zh-CN" sz="2800" b="1" dirty="0">
                <a:latin typeface="Arial" pitchFamily="34" charset="0"/>
              </a:rPr>
              <a:t>p</a:t>
            </a:r>
            <a:r>
              <a:rPr lang="zh-CN" altLang="zh-CN" sz="2800" b="1" dirty="0">
                <a:ea typeface="黑体" pitchFamily="49" charset="-122"/>
              </a:rPr>
              <a:t>=</a:t>
            </a:r>
            <a:r>
              <a:rPr lang="zh-CN" altLang="zh-CN" sz="28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 program</a:t>
            </a:r>
            <a:r>
              <a:rPr lang="zh-CN" altLang="zh-CN" sz="28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800" b="1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zh-CN" altLang="zh-CN" sz="2000" dirty="0">
                <a:solidFill>
                  <a:srgbClr val="0028A8"/>
                </a:solidFill>
                <a:latin typeface="Arial" pitchFamily="34" charset="0"/>
                <a:ea typeface="黑体" pitchFamily="49" charset="-122"/>
              </a:rPr>
              <a:t>//</a:t>
            </a:r>
            <a:r>
              <a:rPr lang="zh-CN" altLang="en-US" sz="2000" b="1" dirty="0">
                <a:solidFill>
                  <a:srgbClr val="0028A8"/>
                </a:solidFill>
                <a:latin typeface="黑体" pitchFamily="49" charset="-122"/>
                <a:ea typeface="黑体" pitchFamily="49" charset="-122"/>
              </a:rPr>
              <a:t>字符串首地址</a:t>
            </a:r>
            <a:endParaRPr lang="zh-CN" altLang="en-US" sz="2000" b="1" dirty="0">
              <a:solidFill>
                <a:schemeClr val="bg2"/>
              </a:solidFill>
              <a:ea typeface="黑体" pitchFamily="49" charset="-122"/>
            </a:endParaRPr>
          </a:p>
          <a:p>
            <a:pPr marL="274638" indent="-274638">
              <a:spcBef>
                <a:spcPct val="250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zh-CN" altLang="zh-CN" sz="2800" b="1" dirty="0">
                <a:latin typeface="Arial" pitchFamily="34" charset="0"/>
              </a:rPr>
              <a:t>printf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800" b="1" dirty="0">
                <a:latin typeface="Times New Roman"/>
                <a:ea typeface="黑体" pitchFamily="49" charset="-122"/>
              </a:rPr>
              <a:t>“</a:t>
            </a:r>
            <a:r>
              <a:rPr lang="zh-CN" altLang="zh-CN" sz="2800" b="1" dirty="0">
                <a:ea typeface="黑体" pitchFamily="49" charset="-122"/>
              </a:rPr>
              <a:t>%s</a:t>
            </a:r>
            <a:r>
              <a:rPr lang="zh-CN" altLang="zh-CN" sz="2800" dirty="0">
                <a:ea typeface="黑体" pitchFamily="49" charset="-122"/>
              </a:rPr>
              <a:t>\</a:t>
            </a:r>
            <a:r>
              <a:rPr lang="zh-CN" altLang="zh-CN" sz="2800" b="1" dirty="0">
                <a:ea typeface="黑体" pitchFamily="49" charset="-122"/>
              </a:rPr>
              <a:t>n</a:t>
            </a:r>
            <a:r>
              <a:rPr lang="zh-CN" altLang="zh-CN" sz="2800" b="1" dirty="0">
                <a:latin typeface="Times New Roman"/>
                <a:ea typeface="黑体" pitchFamily="49" charset="-122"/>
              </a:rPr>
              <a:t>”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,  </a:t>
            </a:r>
            <a:r>
              <a:rPr lang="en-US" altLang="zh-CN" sz="2800" b="1" dirty="0">
                <a:latin typeface="Arial" pitchFamily="34" charset="0"/>
              </a:rPr>
              <a:t>p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); </a:t>
            </a:r>
            <a:r>
              <a:rPr lang="zh-CN" altLang="zh-CN" b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000" dirty="0">
                <a:solidFill>
                  <a:srgbClr val="0028A8"/>
                </a:solidFill>
                <a:ea typeface="黑体" pitchFamily="49" charset="-122"/>
              </a:rPr>
              <a:t>//</a:t>
            </a:r>
            <a:r>
              <a:rPr lang="zh-CN" altLang="en-US" sz="2000" b="1" dirty="0">
                <a:solidFill>
                  <a:srgbClr val="002498"/>
                </a:solidFill>
                <a:ea typeface="黑体" pitchFamily="49" charset="-122"/>
              </a:rPr>
              <a:t>输出字符指针就是</a:t>
            </a:r>
            <a:r>
              <a:rPr lang="zh-CN" altLang="en-US" sz="2000" b="1">
                <a:solidFill>
                  <a:srgbClr val="002498"/>
                </a:solidFill>
                <a:ea typeface="黑体" pitchFamily="49" charset="-122"/>
              </a:rPr>
              <a:t>输出字符串</a:t>
            </a:r>
            <a:endParaRPr lang="en-US" altLang="zh-CN" sz="2000" b="1">
              <a:solidFill>
                <a:srgbClr val="002498"/>
              </a:solidFill>
              <a:ea typeface="黑体" pitchFamily="49" charset="-122"/>
            </a:endParaRPr>
          </a:p>
          <a:p>
            <a:pPr marL="274638" indent="-274638">
              <a:spcBef>
                <a:spcPct val="25000"/>
              </a:spcBef>
              <a:buNone/>
            </a:pPr>
            <a:r>
              <a:rPr lang="en-US" altLang="zh-CN" sz="2000" b="1">
                <a:solidFill>
                  <a:srgbClr val="002498"/>
                </a:solidFill>
                <a:ea typeface="黑体" pitchFamily="49" charset="-122"/>
              </a:rPr>
              <a:t>          </a:t>
            </a:r>
            <a:r>
              <a:rPr lang="zh-CN" altLang="zh-CN" sz="2800" b="1">
                <a:latin typeface="Arial" pitchFamily="34" charset="0"/>
              </a:rPr>
              <a:t>printf(“%</a:t>
            </a:r>
            <a:r>
              <a:rPr lang="en-US" altLang="zh-CN" sz="2800" b="1">
                <a:latin typeface="Arial" pitchFamily="34" charset="0"/>
              </a:rPr>
              <a:t>c,%c</a:t>
            </a:r>
            <a:r>
              <a:rPr lang="zh-CN" altLang="zh-CN" sz="2800" b="1">
                <a:latin typeface="Arial" pitchFamily="34" charset="0"/>
              </a:rPr>
              <a:t>\n”,  </a:t>
            </a:r>
            <a:r>
              <a:rPr lang="en-US" altLang="zh-CN" sz="2800" b="1">
                <a:latin typeface="Arial" pitchFamily="34" charset="0"/>
              </a:rPr>
              <a:t>*(p+3),p[3]</a:t>
            </a:r>
            <a:r>
              <a:rPr lang="zh-CN" altLang="zh-CN" sz="2800" b="1">
                <a:latin typeface="Arial" pitchFamily="34" charset="0"/>
              </a:rPr>
              <a:t>);</a:t>
            </a:r>
            <a:endParaRPr lang="zh-CN" altLang="en-US" sz="2800" b="1" dirty="0">
              <a:latin typeface="Arial" pitchFamily="34" charset="0"/>
            </a:endParaRPr>
          </a:p>
          <a:p>
            <a:pPr marL="274638" indent="-274638">
              <a:lnSpc>
                <a:spcPct val="110000"/>
              </a:lnSpc>
              <a:spcBef>
                <a:spcPct val="0"/>
              </a:spcBef>
              <a:buNone/>
            </a:pPr>
            <a:r>
              <a:rPr lang="zh-CN" b="1" dirty="0">
                <a:ea typeface="黑体" pitchFamily="49" charset="-122"/>
              </a:rPr>
              <a:t>   </a:t>
            </a:r>
            <a:r>
              <a:rPr lang="zh-CN" altLang="zh-CN" sz="2800" b="1" dirty="0">
                <a:ea typeface="黑体" pitchFamily="49" charset="-122"/>
              </a:rPr>
              <a:t>}</a:t>
            </a:r>
          </a:p>
        </p:txBody>
      </p:sp>
      <p:sp useBgFill="1">
        <p:nvSpPr>
          <p:cNvPr id="589828" name="Text Box 4"/>
          <p:cNvSpPr txBox="1">
            <a:spLocks noChangeArrowheads="1"/>
          </p:cNvSpPr>
          <p:nvPr/>
        </p:nvSpPr>
        <p:spPr bwMode="auto">
          <a:xfrm>
            <a:off x="2484438" y="84139"/>
            <a:ext cx="6934200" cy="1031875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char</a:t>
            </a:r>
            <a:r>
              <a:rPr lang="zh-CN" altLang="zh-CN" sz="2800" b="1" dirty="0">
                <a:solidFill>
                  <a:srgbClr val="000000"/>
                </a:solidFill>
              </a:rPr>
              <a:t>  </a:t>
            </a:r>
            <a:r>
              <a:rPr lang="zh-CN" altLang="zh-CN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en-US" altLang="zh-CN" sz="2800" b="1" dirty="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Arial" pitchFamily="34" charset="0"/>
              </a:rPr>
              <a:t>p</a:t>
            </a:r>
            <a:r>
              <a:rPr lang="zh-CN" altLang="zh-CN" sz="2800" b="1" dirty="0">
                <a:solidFill>
                  <a:srgbClr val="000000"/>
                </a:solidFill>
              </a:rPr>
              <a:t>=</a:t>
            </a:r>
            <a:r>
              <a:rPr lang="zh-CN" altLang="zh-CN" sz="2800" b="1" dirty="0">
                <a:solidFill>
                  <a:srgbClr val="000000"/>
                </a:solidFill>
                <a:latin typeface="Times New Roman"/>
                <a:ea typeface="黑体" pitchFamily="49" charset="-122"/>
              </a:rPr>
              <a:t>“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</a:rPr>
              <a:t>c program</a:t>
            </a:r>
            <a:r>
              <a:rPr lang="zh-CN" altLang="zh-CN" sz="2800" b="1" dirty="0">
                <a:solidFill>
                  <a:srgbClr val="000000"/>
                </a:solidFill>
                <a:latin typeface="Times New Roman"/>
                <a:ea typeface="黑体" pitchFamily="49" charset="-122"/>
              </a:rPr>
              <a:t>”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;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345967" y="2418281"/>
            <a:ext cx="2674566" cy="1329013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0028A8"/>
            </a:solidFill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square" tIns="18000" bIns="180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2498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800" b="1">
                <a:solidFill>
                  <a:srgbClr val="002498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   c program</a:t>
            </a:r>
            <a:endParaRPr lang="en-US" altLang="zh-CN" sz="2800" b="1">
              <a:solidFill>
                <a:srgbClr val="000000"/>
              </a:solidFill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宋体" pitchFamily="2" charset="-122"/>
              </a:rPr>
              <a:t>r,r</a:t>
            </a:r>
            <a:endParaRPr lang="zh-CN" altLang="zh-CN" sz="2800" b="1">
              <a:solidFill>
                <a:srgbClr val="0000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33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828" grpId="0" animBg="1" autoUpdateAnimBg="0"/>
      <p:bldP spid="5" grpId="0" build="p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0"/>
            <a:ext cx="8272462" cy="800100"/>
          </a:xfrm>
        </p:spPr>
        <p:txBody>
          <a:bodyPr/>
          <a:lstStyle/>
          <a:p>
            <a:pPr algn="ctr"/>
            <a:r>
              <a:rPr lang="en-US" altLang="zh-CN" sz="3200" dirty="0">
                <a:latin typeface="楷体_GB2312" pitchFamily="49" charset="-122"/>
              </a:rPr>
              <a:t>7.</a:t>
            </a:r>
            <a:r>
              <a:rPr lang="zh-CN" altLang="zh-CN" sz="3200" dirty="0">
                <a:latin typeface="楷体_GB2312" pitchFamily="49" charset="-122"/>
              </a:rPr>
              <a:t>4.2 </a:t>
            </a:r>
            <a:r>
              <a:rPr lang="zh-CN" altLang="en-US" sz="3200" dirty="0">
                <a:latin typeface="楷体_GB2312" pitchFamily="49" charset="-122"/>
              </a:rPr>
              <a:t>字符串指针变量与字符数组的区别</a:t>
            </a:r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1850" y="1198563"/>
            <a:ext cx="8097838" cy="4646612"/>
          </a:xfrm>
        </p:spPr>
        <p:txBody>
          <a:bodyPr/>
          <a:lstStyle/>
          <a:p>
            <a:pPr marL="274638" indent="-274638">
              <a:lnSpc>
                <a:spcPct val="120000"/>
              </a:lnSpc>
            </a:pPr>
            <a:r>
              <a:rPr lang="zh-CN" altLang="en-US" sz="2400" b="1" dirty="0">
                <a:latin typeface="Times New Roman" pitchFamily="18" charset="0"/>
              </a:rPr>
              <a:t>字符数组是由若干个元素组成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r>
              <a:rPr lang="zh-CN" altLang="en-US" sz="2400" b="1" dirty="0">
                <a:latin typeface="Times New Roman" pitchFamily="18" charset="0"/>
              </a:rPr>
              <a:t>每个元素存放一个字符</a:t>
            </a:r>
            <a:r>
              <a:rPr lang="zh-CN" altLang="zh-CN" sz="2400" b="1" dirty="0">
                <a:latin typeface="Times New Roman" pitchFamily="18" charset="0"/>
              </a:rPr>
              <a:t>;  </a:t>
            </a:r>
            <a:r>
              <a:rPr lang="zh-CN" altLang="en-US" sz="2400" b="1" dirty="0">
                <a:latin typeface="Times New Roman" pitchFamily="18" charset="0"/>
              </a:rPr>
              <a:t>而</a:t>
            </a:r>
            <a:r>
              <a:rPr lang="zh-CN" altLang="en-US" sz="2400" b="1" dirty="0">
                <a:solidFill>
                  <a:srgbClr val="CC00CC"/>
                </a:solidFill>
                <a:latin typeface="Times New Roman" pitchFamily="18" charset="0"/>
              </a:rPr>
              <a:t>字符指针</a:t>
            </a:r>
            <a:r>
              <a:rPr lang="zh-CN" altLang="en-US" sz="2400" b="1" dirty="0">
                <a:latin typeface="Times New Roman" pitchFamily="18" charset="0"/>
              </a:rPr>
              <a:t>变量存放的是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字符串中某一个字符的地址</a:t>
            </a:r>
            <a:r>
              <a:rPr lang="zh-CN" altLang="zh-CN" sz="2400" b="1" dirty="0">
                <a:latin typeface="Times New Roman" pitchFamily="18" charset="0"/>
              </a:rPr>
              <a:t>,  </a:t>
            </a:r>
            <a:endParaRPr lang="en-US" altLang="zh-CN" sz="2400" b="1" dirty="0">
              <a:latin typeface="Times New Roman" pitchFamily="18" charset="0"/>
            </a:endParaRPr>
          </a:p>
          <a:p>
            <a:pPr marL="274638" indent="-274638">
              <a:lnSpc>
                <a:spcPct val="120000"/>
              </a:lnSpc>
            </a:pPr>
            <a:r>
              <a:rPr lang="en-US" altLang="zh-CN" sz="2400" b="1" dirty="0">
                <a:latin typeface="Times New Roman" pitchFamily="18" charset="0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字符串是另外存放的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</a:p>
          <a:p>
            <a:pPr marL="274638" indent="-274638">
              <a:spcBef>
                <a:spcPct val="70000"/>
              </a:spcBef>
              <a:buNone/>
            </a:pPr>
            <a:r>
              <a:rPr lang="zh-CN" altLang="en-US" sz="2400" b="1" dirty="0">
                <a:latin typeface="幼圆" pitchFamily="49" charset="-122"/>
              </a:rPr>
              <a:t>  如</a:t>
            </a:r>
            <a:r>
              <a:rPr lang="zh-CN" altLang="zh-CN" sz="2400" b="1" dirty="0">
                <a:latin typeface="Times New Roman" pitchFamily="18" charset="0"/>
              </a:rPr>
              <a:t>:</a:t>
            </a:r>
            <a:r>
              <a:rPr lang="zh-CN" altLang="zh-CN" sz="2800" b="1" dirty="0">
                <a:latin typeface="幼圆" pitchFamily="49" charset="-122"/>
              </a:rPr>
              <a:t>    </a:t>
            </a:r>
            <a:r>
              <a:rPr lang="zh-CN" altLang="zh-CN" sz="1600" b="1" dirty="0">
                <a:latin typeface="幼圆" pitchFamily="49" charset="-122"/>
              </a:rPr>
              <a:t>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c</a:t>
            </a:r>
            <a:r>
              <a:rPr lang="en-US" altLang="zh-CN" sz="2800" b="1" dirty="0"/>
              <a:t>h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>
                <a:latin typeface="Arial" pitchFamily="34" charset="0"/>
              </a:rPr>
              <a:t>10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good</a:t>
            </a:r>
            <a:r>
              <a:rPr lang="zh-CN" altLang="zh-CN" sz="2800" b="1" dirty="0">
                <a:latin typeface="Times New Roman" pitchFamily="18" charset="0"/>
              </a:rPr>
              <a:t>”;</a:t>
            </a:r>
          </a:p>
          <a:p>
            <a:pPr marL="274638" indent="-274638">
              <a:spcBef>
                <a:spcPct val="40000"/>
              </a:spcBef>
              <a:buNone/>
            </a:pPr>
            <a:r>
              <a:rPr lang="zh-CN" altLang="zh-CN" sz="2800" b="1" dirty="0"/>
              <a:t>               </a:t>
            </a: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solidFill>
                  <a:srgbClr val="CC00CC"/>
                </a:solidFill>
                <a:latin typeface="黑体" pitchFamily="49" charset="-122"/>
              </a:rPr>
              <a:t>*</a:t>
            </a:r>
            <a:r>
              <a:rPr lang="en-US" altLang="zh-CN" sz="2800" b="1" dirty="0">
                <a:latin typeface="Arial" pitchFamily="34" charset="0"/>
              </a:rPr>
              <a:t>p</a:t>
            </a:r>
            <a:r>
              <a:rPr lang="zh-CN" altLang="zh-CN" sz="2800" b="1" dirty="0"/>
              <a:t>=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good</a:t>
            </a:r>
            <a:r>
              <a:rPr lang="zh-CN" altLang="zh-CN" sz="2800" b="1" dirty="0">
                <a:latin typeface="Times New Roman" pitchFamily="18" charset="0"/>
              </a:rPr>
              <a:t>”;</a:t>
            </a:r>
          </a:p>
          <a:p>
            <a:pPr marL="274638" indent="-274638">
              <a:spcBef>
                <a:spcPct val="40000"/>
              </a:spcBef>
              <a:buNone/>
            </a:pPr>
            <a:r>
              <a:rPr lang="zh-CN" altLang="zh-CN" sz="2800" b="1" dirty="0">
                <a:latin typeface="Times New Roman" pitchFamily="18" charset="0"/>
              </a:rPr>
              <a:t>      </a:t>
            </a:r>
          </a:p>
        </p:txBody>
      </p:sp>
      <p:graphicFrame>
        <p:nvGraphicFramePr>
          <p:cNvPr id="591876" name="Group 4"/>
          <p:cNvGraphicFramePr>
            <a:graphicFrameLocks noGrp="1"/>
          </p:cNvGraphicFramePr>
          <p:nvPr/>
        </p:nvGraphicFramePr>
        <p:xfrm>
          <a:off x="3662363" y="4375150"/>
          <a:ext cx="5237162" cy="496888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1900" name="Rectangle 28"/>
          <p:cNvSpPr>
            <a:spLocks noChangeArrowheads="1"/>
          </p:cNvSpPr>
          <p:nvPr/>
        </p:nvSpPr>
        <p:spPr bwMode="auto">
          <a:xfrm>
            <a:off x="3656014" y="5195889"/>
            <a:ext cx="711794" cy="454025"/>
          </a:xfrm>
          <a:prstGeom prst="rect">
            <a:avLst/>
          </a:prstGeom>
          <a:noFill/>
          <a:ln w="2857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100</a:t>
            </a:r>
            <a:endParaRPr lang="zh-CN" alt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Dotum" pitchFamily="34" charset="-127"/>
            </a:endParaRPr>
          </a:p>
        </p:txBody>
      </p:sp>
      <p:graphicFrame>
        <p:nvGraphicFramePr>
          <p:cNvPr id="5919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69140"/>
              </p:ext>
            </p:extLst>
          </p:nvPr>
        </p:nvGraphicFramePr>
        <p:xfrm>
          <a:off x="5665788" y="5205413"/>
          <a:ext cx="2489200" cy="457200"/>
        </p:xfrm>
        <a:graphic>
          <a:graphicData uri="http://schemas.openxmlformats.org/drawingml/2006/table">
            <a:tbl>
              <a:tblPr/>
              <a:tblGrid>
                <a:gridCol w="49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g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1915" name="Line 43"/>
          <p:cNvSpPr>
            <a:spLocks noChangeShapeType="1"/>
          </p:cNvSpPr>
          <p:nvPr/>
        </p:nvSpPr>
        <p:spPr bwMode="auto">
          <a:xfrm flipV="1">
            <a:off x="4354535" y="5434013"/>
            <a:ext cx="1311253" cy="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591916" name="Text Box 44"/>
          <p:cNvSpPr txBox="1">
            <a:spLocks noChangeArrowheads="1"/>
          </p:cNvSpPr>
          <p:nvPr/>
        </p:nvSpPr>
        <p:spPr bwMode="auto">
          <a:xfrm>
            <a:off x="2935288" y="4298951"/>
            <a:ext cx="6857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c</a:t>
            </a:r>
            <a:r>
              <a:rPr lang="en-US" altLang="zh-CN" sz="2800" b="1">
                <a:solidFill>
                  <a:srgbClr val="000000"/>
                </a:solidFill>
                <a:ea typeface="宋体" pitchFamily="2" charset="-122"/>
              </a:rPr>
              <a:t>h</a:t>
            </a:r>
            <a:endParaRPr lang="zh-CN" altLang="zh-CN" sz="28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91917" name="Text Box 45"/>
          <p:cNvSpPr txBox="1">
            <a:spLocks noChangeArrowheads="1"/>
          </p:cNvSpPr>
          <p:nvPr/>
        </p:nvSpPr>
        <p:spPr bwMode="auto">
          <a:xfrm>
            <a:off x="2935288" y="511333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ea typeface="宋体" pitchFamily="2" charset="-122"/>
              </a:rPr>
              <a:t>p</a:t>
            </a:r>
            <a:endParaRPr lang="zh-CN" altLang="zh-CN" sz="28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91918" name="AutoShape 4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983788" y="6381750"/>
            <a:ext cx="349250" cy="260350"/>
          </a:xfrm>
          <a:prstGeom prst="actionButtonForwardNext">
            <a:avLst/>
          </a:prstGeom>
          <a:noFill/>
          <a:ln w="0" cmpd="sng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18263" y="5649914"/>
            <a:ext cx="106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126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6301" y="1398588"/>
            <a:ext cx="8340725" cy="4697412"/>
          </a:xfrm>
        </p:spPr>
        <p:txBody>
          <a:bodyPr/>
          <a:lstStyle/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/>
            </a:pPr>
            <a:r>
              <a:rPr lang="en-US" altLang="zh-CN" sz="2800" b="1" dirty="0">
                <a:ea typeface="黑体" pitchFamily="49" charset="-122"/>
              </a:rPr>
              <a:t>char a[10]=“</a:t>
            </a:r>
            <a:r>
              <a:rPr lang="en-US" altLang="zh-CN" sz="2800" b="1" dirty="0" err="1">
                <a:ea typeface="黑体" pitchFamily="49" charset="-122"/>
              </a:rPr>
              <a:t>abc</a:t>
            </a:r>
            <a:r>
              <a:rPr lang="en-US" altLang="zh-CN" sz="2800" b="1" dirty="0">
                <a:ea typeface="黑体" pitchFamily="49" charset="-122"/>
              </a:rPr>
              <a:t>”;//</a:t>
            </a:r>
            <a:r>
              <a:rPr lang="zh-CN" altLang="en-US" sz="2800" b="1" dirty="0">
                <a:solidFill>
                  <a:srgbClr val="00B0F0"/>
                </a:solidFill>
                <a:ea typeface="黑体" pitchFamily="49" charset="-122"/>
              </a:rPr>
              <a:t>定义</a:t>
            </a:r>
            <a:r>
              <a:rPr lang="zh-CN" altLang="en-US" sz="2800" b="1">
                <a:solidFill>
                  <a:srgbClr val="00B0F0"/>
                </a:solidFill>
                <a:ea typeface="黑体" pitchFamily="49" charset="-122"/>
              </a:rPr>
              <a:t>数组</a:t>
            </a:r>
            <a:r>
              <a:rPr lang="en-US" altLang="zh-CN" sz="2800" b="1">
                <a:solidFill>
                  <a:srgbClr val="00B0F0"/>
                </a:solidFill>
                <a:ea typeface="黑体" pitchFamily="49" charset="-122"/>
              </a:rPr>
              <a:t>,</a:t>
            </a:r>
            <a:r>
              <a:rPr lang="zh-CN" altLang="en-US" sz="2800" b="1">
                <a:solidFill>
                  <a:srgbClr val="00B0F0"/>
                </a:solidFill>
                <a:ea typeface="黑体" pitchFamily="49" charset="-122"/>
              </a:rPr>
              <a:t>用字符串常量实现初始化</a:t>
            </a:r>
            <a:endParaRPr lang="en-US" altLang="zh-CN" sz="2800" b="1" dirty="0">
              <a:ea typeface="黑体" pitchFamily="49" charset="-122"/>
            </a:endParaRPr>
          </a:p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/>
            </a:pPr>
            <a:endParaRPr lang="en-US" altLang="zh-CN" sz="2800" b="1" dirty="0">
              <a:ea typeface="黑体" pitchFamily="49" charset="-122"/>
            </a:endParaRPr>
          </a:p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/>
            </a:pPr>
            <a:r>
              <a:rPr lang="en-US" altLang="zh-CN" sz="2800" b="1" dirty="0">
                <a:ea typeface="黑体" pitchFamily="49" charset="-122"/>
              </a:rPr>
              <a:t>char *p=“</a:t>
            </a:r>
            <a:r>
              <a:rPr lang="en-US" altLang="zh-CN" sz="2800" b="1" err="1">
                <a:ea typeface="黑体" pitchFamily="49" charset="-122"/>
              </a:rPr>
              <a:t>abc</a:t>
            </a:r>
            <a:r>
              <a:rPr lang="en-US" altLang="zh-CN" sz="2800" b="1">
                <a:ea typeface="黑体" pitchFamily="49" charset="-122"/>
              </a:rPr>
              <a:t>”;//</a:t>
            </a:r>
          </a:p>
          <a:p>
            <a:pPr marL="400050" lvl="1" indent="0">
              <a:lnSpc>
                <a:spcPct val="115000"/>
              </a:lnSpc>
              <a:buClrTx/>
              <a:buSzPct val="100000"/>
              <a:buNone/>
            </a:pPr>
            <a:r>
              <a:rPr lang="en-US" altLang="zh-CN" sz="2400" b="1">
                <a:solidFill>
                  <a:srgbClr val="FF0000"/>
                </a:solidFill>
                <a:ea typeface="黑体" pitchFamily="49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ea typeface="黑体" pitchFamily="49" charset="-122"/>
              </a:rPr>
              <a:t>）定义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一个字符</a:t>
            </a:r>
            <a:r>
              <a:rPr lang="zh-CN" altLang="en-US" sz="2400" b="1">
                <a:solidFill>
                  <a:srgbClr val="FF0000"/>
                </a:solidFill>
                <a:ea typeface="黑体" pitchFamily="49" charset="-122"/>
              </a:rPr>
              <a:t>指针变量</a:t>
            </a:r>
            <a:endParaRPr lang="en-US" altLang="zh-CN" sz="2400" b="1">
              <a:solidFill>
                <a:srgbClr val="FF0000"/>
              </a:solidFill>
              <a:ea typeface="黑体" pitchFamily="49" charset="-122"/>
            </a:endParaRPr>
          </a:p>
          <a:p>
            <a:pPr marL="400050" lvl="1" indent="0">
              <a:lnSpc>
                <a:spcPct val="115000"/>
              </a:lnSpc>
              <a:buClrTx/>
              <a:buSzPct val="100000"/>
              <a:buNone/>
            </a:pPr>
            <a:r>
              <a:rPr lang="en-US" altLang="zh-CN" sz="2400" b="1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ea typeface="黑体" pitchFamily="49" charset="-122"/>
              </a:rPr>
              <a:t>）在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内存中存放字符串常量</a:t>
            </a:r>
            <a:r>
              <a:rPr lang="en-US" altLang="zh-CN" sz="2400" b="1" dirty="0">
                <a:solidFill>
                  <a:srgbClr val="FF0000"/>
                </a:solidFill>
                <a:ea typeface="黑体" pitchFamily="49" charset="-122"/>
              </a:rPr>
              <a:t>”</a:t>
            </a:r>
            <a:r>
              <a:rPr lang="en-US" altLang="zh-CN" sz="2400" b="1" err="1">
                <a:solidFill>
                  <a:srgbClr val="FF0000"/>
                </a:solidFill>
                <a:ea typeface="黑体" pitchFamily="49" charset="-122"/>
              </a:rPr>
              <a:t>abc</a:t>
            </a:r>
            <a:r>
              <a:rPr lang="en-US" altLang="zh-CN" sz="2400" b="1">
                <a:solidFill>
                  <a:srgbClr val="FF0000"/>
                </a:solidFill>
                <a:ea typeface="黑体" pitchFamily="49" charset="-122"/>
              </a:rPr>
              <a:t>”</a:t>
            </a:r>
          </a:p>
          <a:p>
            <a:pPr marL="400050" lvl="1" indent="0">
              <a:lnSpc>
                <a:spcPct val="115000"/>
              </a:lnSpc>
              <a:buClrTx/>
              <a:buSzPct val="100000"/>
              <a:buNone/>
            </a:pPr>
            <a:r>
              <a:rPr lang="en-US" altLang="zh-CN" sz="2400" b="1">
                <a:solidFill>
                  <a:srgbClr val="FF0000"/>
                </a:solidFill>
                <a:ea typeface="黑体" pitchFamily="49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ea typeface="黑体" pitchFamily="49" charset="-122"/>
              </a:rPr>
              <a:t>）并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将该常量的首地址存放在</a:t>
            </a:r>
            <a:r>
              <a:rPr lang="en-US" altLang="zh-CN" sz="2400" b="1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中</a:t>
            </a:r>
            <a:r>
              <a:rPr lang="en-US" altLang="zh-CN" sz="2400" b="1" dirty="0">
                <a:solidFill>
                  <a:srgbClr val="FF0000"/>
                </a:solidFill>
                <a:ea typeface="黑体" pitchFamily="49" charset="-122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即</a:t>
            </a:r>
            <a:r>
              <a:rPr lang="en-US" altLang="zh-CN" sz="2400" b="1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ea typeface="黑体" pitchFamily="49" charset="-122"/>
              </a:rPr>
              <a:t>指向这个字符串</a:t>
            </a:r>
            <a:r>
              <a:rPr lang="en-US" altLang="zh-CN" sz="2400" b="1" dirty="0">
                <a:solidFill>
                  <a:srgbClr val="FF0000"/>
                </a:solidFill>
                <a:ea typeface="黑体" pitchFamily="49" charset="-122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0338C7-C931-4B5C-ADFC-5392D8BA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3656014" y="5195889"/>
            <a:ext cx="711794" cy="454025"/>
          </a:xfrm>
          <a:prstGeom prst="rect">
            <a:avLst/>
          </a:prstGeom>
          <a:noFill/>
          <a:ln w="28575" cmpd="sng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otum" pitchFamily="34" charset="-127"/>
              </a:rPr>
              <a:t>100</a:t>
            </a:r>
            <a:endParaRPr lang="zh-CN" altLang="en-US" sz="24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Dotum" pitchFamily="34" charset="-127"/>
            </a:endParaRPr>
          </a:p>
        </p:txBody>
      </p:sp>
      <p:graphicFrame>
        <p:nvGraphicFramePr>
          <p:cNvPr id="5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517602"/>
              </p:ext>
            </p:extLst>
          </p:nvPr>
        </p:nvGraphicFramePr>
        <p:xfrm>
          <a:off x="5665788" y="5205413"/>
          <a:ext cx="1990725" cy="457200"/>
        </p:xfrm>
        <a:graphic>
          <a:graphicData uri="http://schemas.openxmlformats.org/drawingml/2006/table">
            <a:tbl>
              <a:tblPr/>
              <a:tblGrid>
                <a:gridCol w="49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b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Line 43"/>
          <p:cNvSpPr>
            <a:spLocks noChangeShapeType="1"/>
          </p:cNvSpPr>
          <p:nvPr/>
        </p:nvSpPr>
        <p:spPr bwMode="auto">
          <a:xfrm flipV="1">
            <a:off x="4354535" y="5434013"/>
            <a:ext cx="1311253" cy="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7" name="Text Box 45"/>
          <p:cNvSpPr txBox="1">
            <a:spLocks noChangeArrowheads="1"/>
          </p:cNvSpPr>
          <p:nvPr/>
        </p:nvSpPr>
        <p:spPr bwMode="auto">
          <a:xfrm>
            <a:off x="2935288" y="511333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00"/>
                </a:solidFill>
                <a:ea typeface="宋体" pitchFamily="2" charset="-122"/>
              </a:rPr>
              <a:t>p</a:t>
            </a:r>
            <a:endParaRPr lang="zh-CN" altLang="zh-CN" sz="28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18263" y="5649914"/>
            <a:ext cx="1065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endParaRPr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1431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6301" y="1398588"/>
            <a:ext cx="8340725" cy="4697412"/>
          </a:xfrm>
        </p:spPr>
        <p:txBody>
          <a:bodyPr/>
          <a:lstStyle/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 startAt="3"/>
            </a:pPr>
            <a:r>
              <a:rPr lang="en-US" altLang="zh-CN" sz="2800" b="1" dirty="0">
                <a:ea typeface="黑体" pitchFamily="49" charset="-122"/>
              </a:rPr>
              <a:t>char *</a:t>
            </a:r>
            <a:r>
              <a:rPr lang="en-US" altLang="zh-CN" sz="2800" b="1">
                <a:ea typeface="黑体" pitchFamily="49" charset="-122"/>
              </a:rPr>
              <a:t>p;  //</a:t>
            </a:r>
            <a:r>
              <a:rPr lang="zh-CN" altLang="en-US" sz="2800" b="1">
                <a:ea typeface="黑体" pitchFamily="49" charset="-122"/>
              </a:rPr>
              <a:t>定义一个指针变量</a:t>
            </a:r>
            <a:br>
              <a:rPr lang="en-US" altLang="zh-CN" sz="2800" b="1" dirty="0">
                <a:ea typeface="黑体" pitchFamily="49" charset="-122"/>
              </a:rPr>
            </a:br>
            <a:r>
              <a:rPr lang="en-US" altLang="zh-CN" sz="2800" b="1" dirty="0">
                <a:ea typeface="黑体" pitchFamily="49" charset="-122"/>
              </a:rPr>
              <a:t>p=“</a:t>
            </a:r>
            <a:r>
              <a:rPr lang="en-US" altLang="zh-CN" sz="2800" b="1" err="1">
                <a:ea typeface="黑体" pitchFamily="49" charset="-122"/>
              </a:rPr>
              <a:t>abc</a:t>
            </a:r>
            <a:r>
              <a:rPr lang="en-US" altLang="zh-CN" sz="2800" b="1">
                <a:ea typeface="黑体" pitchFamily="49" charset="-122"/>
              </a:rPr>
              <a:t>”;//</a:t>
            </a:r>
            <a:r>
              <a:rPr lang="zh-CN" altLang="en-US" sz="2800" b="1">
                <a:ea typeface="黑体" pitchFamily="49" charset="-122"/>
              </a:rPr>
              <a:t>执行</a:t>
            </a:r>
            <a:r>
              <a:rPr lang="zh-CN" altLang="en-US" sz="2800" b="1" dirty="0">
                <a:ea typeface="黑体" pitchFamily="49" charset="-122"/>
              </a:rPr>
              <a:t>期间定义了个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字符串常量</a:t>
            </a:r>
            <a:r>
              <a:rPr lang="en-US" altLang="zh-CN" sz="2800" b="1" dirty="0">
                <a:ea typeface="黑体" pitchFamily="49" charset="-122"/>
              </a:rPr>
              <a:t>,</a:t>
            </a:r>
            <a:r>
              <a:rPr lang="zh-CN" altLang="en-US" sz="2800" b="1" dirty="0">
                <a:ea typeface="黑体" pitchFamily="49" charset="-122"/>
              </a:rPr>
              <a:t>将其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首地址赋给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p</a:t>
            </a:r>
            <a:r>
              <a:rPr lang="en-US" altLang="zh-CN" sz="2800" b="1" dirty="0">
                <a:ea typeface="黑体" pitchFamily="49" charset="-122"/>
              </a:rPr>
              <a:t>.</a:t>
            </a:r>
          </a:p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 startAt="3"/>
            </a:pPr>
            <a:endParaRPr lang="en-US" altLang="zh-CN" sz="2800" b="1" dirty="0">
              <a:ea typeface="黑体" pitchFamily="49" charset="-122"/>
            </a:endParaRPr>
          </a:p>
          <a:p>
            <a:pPr marL="514350" indent="-514350">
              <a:lnSpc>
                <a:spcPct val="115000"/>
              </a:lnSpc>
              <a:buClrTx/>
              <a:buSzPct val="100000"/>
              <a:buFont typeface="+mj-lt"/>
              <a:buAutoNum type="arabicPeriod" startAt="3"/>
            </a:pPr>
            <a:r>
              <a:rPr lang="pt-BR" altLang="zh-CN" sz="2800" b="1" dirty="0">
                <a:ea typeface="黑体" pitchFamily="49" charset="-122"/>
              </a:rPr>
              <a:t>char a[10];</a:t>
            </a:r>
            <a:r>
              <a:rPr lang="pt-BR" altLang="zh-CN" sz="2800" b="1">
                <a:ea typeface="黑体" pitchFamily="49" charset="-122"/>
              </a:rPr>
              <a:t>	</a:t>
            </a:r>
            <a:br>
              <a:rPr lang="pt-BR" altLang="zh-CN" sz="2800" b="1" dirty="0">
                <a:ea typeface="黑体" pitchFamily="49" charset="-122"/>
              </a:rPr>
            </a:br>
            <a:r>
              <a:rPr lang="pt-BR" altLang="zh-CN" sz="2800" b="1" dirty="0">
                <a:ea typeface="黑体" pitchFamily="49" charset="-122"/>
              </a:rPr>
              <a:t>a=“abc”;//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先定义一个字符数组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在执行期间定义了一个字符串常量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试图将字符串首地址赋给数组名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是错误的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0338C7-C931-4B5C-ADFC-5392D8BA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17B439-035F-6F15-53F8-1361E5F03FF1}"/>
              </a:ext>
            </a:extLst>
          </p:cNvPr>
          <p:cNvSpPr txBox="1"/>
          <p:nvPr/>
        </p:nvSpPr>
        <p:spPr>
          <a:xfrm>
            <a:off x="2567608" y="4077072"/>
            <a:ext cx="7848872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执行期间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给数组名赋值的语句都是错误的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包括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（如：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a++,b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688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03514" y="68264"/>
            <a:ext cx="7705725" cy="682625"/>
          </a:xfrm>
        </p:spPr>
        <p:txBody>
          <a:bodyPr/>
          <a:lstStyle/>
          <a:p>
            <a:r>
              <a:rPr lang="en-US" altLang="zh-CN" sz="3200" dirty="0">
                <a:latin typeface="楷体_GB2312" pitchFamily="49" charset="-122"/>
              </a:rPr>
              <a:t>7.</a:t>
            </a:r>
            <a:r>
              <a:rPr lang="zh-CN" altLang="zh-CN" sz="3200" dirty="0">
                <a:latin typeface="楷体_GB2312" pitchFamily="49" charset="-122"/>
              </a:rPr>
              <a:t>4.</a:t>
            </a:r>
            <a:r>
              <a:rPr lang="zh-CN" altLang="zh-CN" sz="3200">
                <a:latin typeface="楷体_GB2312" pitchFamily="49" charset="-122"/>
              </a:rPr>
              <a:t>3 </a:t>
            </a:r>
            <a:r>
              <a:rPr lang="zh-CN" altLang="en-US" sz="3200">
                <a:latin typeface="楷体_GB2312" pitchFamily="49" charset="-122"/>
              </a:rPr>
              <a:t>字符指针作为</a:t>
            </a:r>
            <a:r>
              <a:rPr lang="zh-CN" altLang="en-US" sz="3200" dirty="0">
                <a:latin typeface="楷体_GB2312" pitchFamily="49" charset="-122"/>
              </a:rPr>
              <a:t>函数参数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9626" y="1169988"/>
            <a:ext cx="8151813" cy="4779962"/>
          </a:xfrm>
        </p:spPr>
        <p:txBody>
          <a:bodyPr/>
          <a:lstStyle/>
          <a:p>
            <a:pPr marL="228600" indent="-271463" defTabSz="442913">
              <a:lnSpc>
                <a:spcPct val="125000"/>
              </a:lnSpc>
              <a:buSzPct val="85000"/>
              <a:buFont typeface="Tahoma" pitchFamily="34" charset="0"/>
              <a:buChar char="−"/>
            </a:pPr>
            <a:r>
              <a:rPr lang="zh-CN" altLang="en-US" sz="2800" b="1" dirty="0">
                <a:latin typeface="Times New Roman" pitchFamily="18" charset="0"/>
              </a:rPr>
              <a:t>可以将一个字符串的地址作参数传递给子函数中的形参</a:t>
            </a:r>
            <a:r>
              <a:rPr lang="en-US" altLang="zh-CN" sz="2800" b="1" dirty="0">
                <a:latin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</a:rPr>
              <a:t>形参是字符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指针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变量。</a:t>
            </a:r>
            <a:endParaRPr lang="en-US" altLang="zh-CN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228600" indent="-271463" defTabSz="442913">
              <a:lnSpc>
                <a:spcPct val="125000"/>
              </a:lnSpc>
              <a:buSzPct val="85000"/>
              <a:buFont typeface="Tahoma" pitchFamily="34" charset="0"/>
              <a:buChar char="−"/>
            </a:pP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marL="228600" indent="-271463" defTabSz="442913">
              <a:lnSpc>
                <a:spcPct val="125000"/>
              </a:lnSpc>
              <a:buSzPct val="85000"/>
              <a:buFont typeface="Tahoma" pitchFamily="34" charset="0"/>
              <a:buChar char="−"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在子函数中，通过指针变量的间接引用，实现对主调函数中字符串的操作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marL="228600" indent="-271463" defTabSz="442913">
              <a:lnSpc>
                <a:spcPct val="12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endParaRPr lang="zh-CN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33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03514" y="68264"/>
            <a:ext cx="7705725" cy="682625"/>
          </a:xfrm>
        </p:spPr>
        <p:txBody>
          <a:bodyPr/>
          <a:lstStyle/>
          <a:p>
            <a:r>
              <a:rPr lang="en-US" altLang="zh-CN" sz="3200" dirty="0">
                <a:latin typeface="楷体_GB2312" pitchFamily="49" charset="-122"/>
              </a:rPr>
              <a:t>7.</a:t>
            </a:r>
            <a:r>
              <a:rPr lang="zh-CN" altLang="zh-CN" sz="3200" dirty="0">
                <a:latin typeface="楷体_GB2312" pitchFamily="49" charset="-122"/>
              </a:rPr>
              <a:t>4.3 </a:t>
            </a:r>
            <a:r>
              <a:rPr lang="zh-CN" altLang="en-US" sz="3200" dirty="0">
                <a:latin typeface="楷体_GB2312" pitchFamily="49" charset="-122"/>
              </a:rPr>
              <a:t>字符串指针变量作为函数参数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9626" y="1169988"/>
            <a:ext cx="8151813" cy="4779962"/>
          </a:xfrm>
        </p:spPr>
        <p:txBody>
          <a:bodyPr/>
          <a:lstStyle/>
          <a:p>
            <a:pPr marL="228600" indent="-271463" defTabSz="442913">
              <a:lnSpc>
                <a:spcPct val="125000"/>
              </a:lnSpc>
              <a:spcBef>
                <a:spcPct val="50000"/>
              </a:spcBef>
              <a:buSzPct val="85000"/>
              <a:buFont typeface="Tahoma" pitchFamily="34" charset="0"/>
              <a:buChar char="−"/>
            </a:pPr>
            <a:r>
              <a:rPr lang="zh-CN" altLang="en-US" sz="2800" b="1"/>
              <a:t>形参</a:t>
            </a:r>
            <a:r>
              <a:rPr lang="zh-CN" altLang="en-US" sz="2800" b="1" dirty="0"/>
              <a:t>与前面介绍的形参指针变量一样有三</a:t>
            </a:r>
            <a:r>
              <a:rPr lang="zh-CN" altLang="en-US" sz="2800" b="1"/>
              <a:t>种形式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同其他指针</a:t>
            </a:r>
            <a:r>
              <a:rPr lang="en-US" altLang="zh-CN" sz="2800" b="1"/>
              <a:t>,</a:t>
            </a:r>
            <a:r>
              <a:rPr lang="zh-CN" altLang="en-US" sz="2800" b="1"/>
              <a:t>如下</a:t>
            </a:r>
            <a:r>
              <a:rPr lang="zh-CN" altLang="en-US" sz="2800" b="1" dirty="0"/>
              <a:t>），但本质上都是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字符指针变量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;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  <a:p>
            <a:pPr lvl="1" defTabSz="442913">
              <a:lnSpc>
                <a:spcPct val="125000"/>
              </a:lnSpc>
              <a:spcBef>
                <a:spcPct val="50000"/>
              </a:spcBef>
              <a:buSzPct val="85000"/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fun(char *p)  </a:t>
            </a:r>
          </a:p>
          <a:p>
            <a:pPr lvl="1" defTabSz="442913">
              <a:lnSpc>
                <a:spcPct val="125000"/>
              </a:lnSpc>
              <a:spcBef>
                <a:spcPct val="5000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fun(char p[])  </a:t>
            </a:r>
          </a:p>
          <a:p>
            <a:pPr lvl="1" defTabSz="442913">
              <a:lnSpc>
                <a:spcPct val="125000"/>
              </a:lnSpc>
              <a:spcBef>
                <a:spcPct val="50000"/>
              </a:spcBef>
              <a:buSzPct val="85000"/>
              <a:buFont typeface="Wingdings" panose="05000000000000000000" pitchFamily="2" charset="2"/>
              <a:buChar char="Ø"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fun(char p[10])</a:t>
            </a:r>
            <a:endParaRPr lang="zh-CN" altLang="zh-C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gradFill rotWithShape="0">
          <a:gsLst>
            <a:gs pos="0">
              <a:srgbClr val="E1ED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19079" y="3861048"/>
            <a:ext cx="8035925" cy="22225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main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 )</a:t>
            </a:r>
            <a:endParaRPr lang="zh-CN" altLang="zh-CN" sz="2400" b="1" dirty="0"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{ char  str1[50]=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“</a:t>
            </a:r>
            <a:r>
              <a:rPr lang="zh-CN" altLang="zh-CN" sz="2400" b="1" dirty="0">
                <a:cs typeface="Courier New" pitchFamily="49" charset="0"/>
              </a:rPr>
              <a:t>Hello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”, </a:t>
            </a:r>
            <a:r>
              <a:rPr lang="zh-CN" altLang="zh-CN" sz="2400" b="1" dirty="0">
                <a:cs typeface="Courier New" pitchFamily="49" charset="0"/>
              </a:rPr>
              <a:t>str2[ ]=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“</a:t>
            </a:r>
            <a:r>
              <a:rPr lang="zh-CN" altLang="zh-CN" sz="2400" b="1" dirty="0">
                <a:cs typeface="Courier New" pitchFamily="49" charset="0"/>
              </a:rPr>
              <a:t> World!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”;</a:t>
            </a:r>
            <a:br>
              <a:rPr lang="zh-CN" altLang="zh-CN" sz="2400" b="1" dirty="0">
                <a:latin typeface="Times New Roman" pitchFamily="18" charset="0"/>
                <a:cs typeface="Courier New" pitchFamily="49" charset="0"/>
              </a:rPr>
            </a:br>
            <a:r>
              <a:rPr lang="zh-CN" altLang="zh-CN" sz="2400" b="1" dirty="0"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BA00BA"/>
                </a:solidFill>
                <a:cs typeface="Courier New" pitchFamily="49" charset="0"/>
              </a:rPr>
              <a:t>my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strc</a:t>
            </a:r>
            <a:r>
              <a:rPr lang="en-US" altLang="zh-CN" sz="2400" b="1" dirty="0" err="1">
                <a:solidFill>
                  <a:srgbClr val="BA00BA"/>
                </a:solidFill>
                <a:cs typeface="Courier New" pitchFamily="49" charset="0"/>
              </a:rPr>
              <a:t>py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(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str2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) ;</a:t>
            </a:r>
            <a:b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</a:br>
            <a:r>
              <a:rPr lang="zh-CN" altLang="zh-CN" sz="2400" b="1" dirty="0">
                <a:cs typeface="Courier New" pitchFamily="49" charset="0"/>
              </a:rPr>
              <a:t>  puts 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400" b="1" dirty="0">
                <a:cs typeface="Courier New" pitchFamily="49" charset="0"/>
              </a:rPr>
              <a:t>str1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);  </a:t>
            </a:r>
          </a:p>
          <a:p>
            <a:pPr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  </a:t>
            </a:r>
            <a:r>
              <a:rPr lang="zh-CN" altLang="zh-CN" sz="2400" b="1" dirty="0">
                <a:cs typeface="Courier New" pitchFamily="49" charset="0"/>
              </a:rPr>
              <a:t>}</a:t>
            </a:r>
            <a:endParaRPr lang="zh-CN" altLang="en-US" sz="2400" b="1" dirty="0">
              <a:ea typeface="黑体" pitchFamily="49" charset="-122"/>
            </a:endParaRPr>
          </a:p>
        </p:txBody>
      </p:sp>
      <p:sp>
        <p:nvSpPr>
          <p:cNvPr id="598019" name="Rectangle 3"/>
          <p:cNvSpPr>
            <a:spLocks noChangeArrowheads="1"/>
          </p:cNvSpPr>
          <p:nvPr/>
        </p:nvSpPr>
        <p:spPr bwMode="auto">
          <a:xfrm>
            <a:off x="1912938" y="1179514"/>
            <a:ext cx="8755062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zh-CN" sz="3600" b="1" dirty="0"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#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include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 “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stdio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.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h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”;</a:t>
            </a:r>
          </a:p>
          <a:p>
            <a:pPr>
              <a:spcBef>
                <a:spcPct val="15000"/>
              </a:spcBef>
              <a:buFont typeface="Wingdings" pitchFamily="2" charset="2"/>
              <a:buNone/>
            </a:pPr>
            <a:r>
              <a:rPr lang="zh-CN" altLang="zh-CN" sz="2800" b="1" dirty="0">
                <a:solidFill>
                  <a:srgbClr val="BA00BA"/>
                </a:solidFill>
                <a:cs typeface="Courier New" pitchFamily="49" charset="0"/>
              </a:rPr>
              <a:t>   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void</a:t>
            </a:r>
            <a:r>
              <a:rPr lang="zh-CN" altLang="zh-CN" sz="2800" b="1" dirty="0">
                <a:solidFill>
                  <a:srgbClr val="BA00BA"/>
                </a:solidFill>
                <a:cs typeface="Courier New" pitchFamily="49" charset="0"/>
              </a:rPr>
              <a:t>  </a:t>
            </a:r>
            <a:r>
              <a:rPr lang="en-US" altLang="zh-CN" sz="2800" b="1" dirty="0">
                <a:solidFill>
                  <a:srgbClr val="BA00BA"/>
                </a:solidFill>
                <a:cs typeface="Courier New" pitchFamily="49" charset="0"/>
              </a:rPr>
              <a:t>my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strcpy</a:t>
            </a:r>
            <a:r>
              <a:rPr lang="zh-CN" altLang="zh-CN" sz="28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char</a:t>
            </a:r>
            <a:r>
              <a:rPr lang="zh-CN" altLang="zh-CN" sz="2800" b="1" dirty="0">
                <a:solidFill>
                  <a:srgbClr val="BA00BA"/>
                </a:solidFill>
                <a:cs typeface="Courier New" pitchFamily="49" charset="0"/>
              </a:rPr>
              <a:t> </a:t>
            </a:r>
            <a:r>
              <a:rPr lang="zh-CN" altLang="zh-CN" sz="2800" b="1" dirty="0">
                <a:solidFill>
                  <a:srgbClr val="BA00BA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char</a:t>
            </a:r>
            <a:r>
              <a:rPr lang="zh-CN" altLang="zh-CN" sz="2800" b="1" dirty="0">
                <a:solidFill>
                  <a:srgbClr val="BA00BA"/>
                </a:solidFill>
                <a:cs typeface="Courier New" pitchFamily="49" charset="0"/>
              </a:rPr>
              <a:t>  </a:t>
            </a:r>
            <a:r>
              <a:rPr lang="zh-CN" altLang="zh-CN" sz="2800" b="1" dirty="0">
                <a:solidFill>
                  <a:srgbClr val="BA00BA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BA00BA"/>
                </a:solidFill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zh-CN" sz="2800" b="1" dirty="0">
                <a:solidFill>
                  <a:srgbClr val="BA00BA"/>
                </a:solidFill>
                <a:cs typeface="Courier New" pitchFamily="49" charset="0"/>
              </a:rPr>
              <a:t> </a:t>
            </a:r>
            <a:r>
              <a:rPr lang="zh-CN" altLang="zh-CN" sz="28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)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cs typeface="Courier New" pitchFamily="49" charset="0"/>
              </a:rPr>
              <a:t> {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cs typeface="Courier New" pitchFamily="49" charset="0"/>
              </a:rPr>
              <a:t>    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for</a:t>
            </a:r>
            <a:r>
              <a:rPr lang="zh-CN" altLang="zh-CN" sz="2800" b="1" dirty="0">
                <a:latin typeface="Times New Roman" pitchFamily="18" charset="0"/>
                <a:ea typeface="黑体" pitchFamily="49" charset="-122"/>
              </a:rPr>
              <a:t>( ; 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str1</a:t>
            </a:r>
            <a:r>
              <a:rPr lang="zh-CN" altLang="zh-CN" sz="2800" b="1" dirty="0">
                <a:cs typeface="Courier New" pitchFamily="49" charset="0"/>
              </a:rPr>
              <a:t>=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str2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;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str1</a:t>
            </a:r>
            <a:r>
              <a:rPr lang="zh-CN" altLang="zh-CN" sz="2800" b="1" dirty="0">
                <a:cs typeface="Courier New" pitchFamily="49" charset="0"/>
              </a:rPr>
              <a:t>++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800" b="1" dirty="0">
                <a:latin typeface="Arial" pitchFamily="34" charset="0"/>
                <a:ea typeface="黑体" pitchFamily="49" charset="-122"/>
              </a:rPr>
              <a:t>str2</a:t>
            </a:r>
            <a:r>
              <a:rPr lang="zh-CN" altLang="zh-CN" sz="2800" b="1" dirty="0">
                <a:cs typeface="Courier New" pitchFamily="49" charset="0"/>
              </a:rPr>
              <a:t>++</a:t>
            </a: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);</a:t>
            </a:r>
          </a:p>
          <a:p>
            <a:pPr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  <a:cs typeface="Courier New" pitchFamily="49" charset="0"/>
              </a:rPr>
              <a:t>  </a:t>
            </a:r>
            <a:r>
              <a:rPr lang="zh-CN" altLang="zh-CN" sz="2800" b="1" dirty="0">
                <a:cs typeface="Courier New" pitchFamily="49" charset="0"/>
              </a:rPr>
              <a:t>}</a:t>
            </a:r>
            <a:endParaRPr lang="zh-CN" altLang="zh-CN" sz="2400" b="1" dirty="0">
              <a:solidFill>
                <a:srgbClr val="000000"/>
              </a:solidFill>
              <a:cs typeface="Courier New" pitchFamily="49" charset="0"/>
            </a:endParaRPr>
          </a:p>
        </p:txBody>
      </p:sp>
      <p:sp>
        <p:nvSpPr>
          <p:cNvPr id="598020" name="Rectangle 4"/>
          <p:cNvSpPr>
            <a:spLocks noChangeArrowheads="1"/>
          </p:cNvSpPr>
          <p:nvPr/>
        </p:nvSpPr>
        <p:spPr bwMode="auto">
          <a:xfrm>
            <a:off x="1884364" y="171450"/>
            <a:ext cx="8561387" cy="904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ea typeface="黑体" pitchFamily="49" charset="-122"/>
              </a:rPr>
              <a:t>6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.  程序 my.c利用函数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strcpy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)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 将字符串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拷贝到字符串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latin typeface="Times New Roman" pitchFamily="18" charset="0"/>
              </a:rPr>
              <a:t>, 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编写</a:t>
            </a:r>
            <a:r>
              <a:rPr lang="zh-CN" altLang="zh-CN" sz="2400" b="1" dirty="0">
                <a:latin typeface="Arial" pitchFamily="34" charset="0"/>
                <a:cs typeface="Courier New" pitchFamily="49" charset="0"/>
              </a:rPr>
              <a:t>strcpy</a:t>
            </a:r>
            <a:r>
              <a:rPr lang="zh-CN" altLang="zh-CN" sz="2400" b="1" dirty="0">
                <a:latin typeface="Times New Roman" pitchFamily="18" charset="0"/>
                <a:ea typeface="黑体" pitchFamily="49" charset="-122"/>
              </a:rPr>
              <a:t>( )函数</a:t>
            </a:r>
            <a:endParaRPr lang="zh-CN" altLang="en-US" sz="2400" b="1" dirty="0">
              <a:solidFill>
                <a:srgbClr val="000000"/>
              </a:solidFill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9802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912350" y="6308726"/>
            <a:ext cx="431800" cy="288925"/>
          </a:xfrm>
          <a:prstGeom prst="actionButtonForwardNext">
            <a:avLst/>
          </a:prstGeom>
          <a:noFill/>
          <a:ln w="0" cmpd="sng">
            <a:solidFill>
              <a:srgbClr val="C9E4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561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gradFill rotWithShape="0">
          <a:gsLst>
            <a:gs pos="0">
              <a:srgbClr val="E1ED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39939" y="4302844"/>
            <a:ext cx="8035925" cy="22225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void  main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 )</a:t>
            </a:r>
            <a:endParaRPr lang="zh-CN" altLang="zh-CN" sz="2400" b="1" dirty="0"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zh-CN" sz="2400" b="1" dirty="0">
                <a:cs typeface="Courier New" pitchFamily="49" charset="0"/>
              </a:rPr>
              <a:t>  { char  str1[50]=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“</a:t>
            </a:r>
            <a:r>
              <a:rPr lang="zh-CN" altLang="zh-CN" sz="2400" b="1" dirty="0">
                <a:cs typeface="Courier New" pitchFamily="49" charset="0"/>
              </a:rPr>
              <a:t>Hello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”, </a:t>
            </a:r>
            <a:r>
              <a:rPr lang="zh-CN" altLang="zh-CN" sz="2400" b="1" dirty="0">
                <a:cs typeface="Courier New" pitchFamily="49" charset="0"/>
              </a:rPr>
              <a:t>str2[ ]=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“</a:t>
            </a:r>
            <a:r>
              <a:rPr lang="zh-CN" altLang="zh-CN" sz="2400" b="1" dirty="0">
                <a:cs typeface="Courier New" pitchFamily="49" charset="0"/>
              </a:rPr>
              <a:t> World!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”;</a:t>
            </a:r>
            <a:br>
              <a:rPr lang="zh-CN" altLang="zh-CN" sz="2400" b="1" dirty="0">
                <a:latin typeface="Times New Roman" pitchFamily="18" charset="0"/>
                <a:cs typeface="Courier New" pitchFamily="49" charset="0"/>
              </a:rPr>
            </a:br>
            <a:r>
              <a:rPr lang="zh-CN" altLang="zh-CN" sz="2400" b="1" dirty="0">
                <a:cs typeface="Courier New" pitchFamily="49" charset="0"/>
              </a:rPr>
              <a:t> 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strcat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(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str2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) ;</a:t>
            </a:r>
            <a:b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</a:br>
            <a:r>
              <a:rPr lang="zh-CN" altLang="zh-CN" sz="2400" b="1" dirty="0">
                <a:cs typeface="Courier New" pitchFamily="49" charset="0"/>
              </a:rPr>
              <a:t>  puts 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400" b="1" dirty="0">
                <a:cs typeface="Courier New" pitchFamily="49" charset="0"/>
              </a:rPr>
              <a:t>str1</a:t>
            </a: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);  </a:t>
            </a:r>
          </a:p>
          <a:p>
            <a:pPr>
              <a:spcBef>
                <a:spcPct val="35000"/>
              </a:spcBef>
              <a:buFont typeface="Wingdings" pitchFamily="2" charset="2"/>
              <a:buNone/>
            </a:pPr>
            <a:r>
              <a:rPr lang="zh-CN" altLang="zh-CN" sz="2400" b="1" dirty="0">
                <a:latin typeface="Times New Roman" pitchFamily="18" charset="0"/>
                <a:cs typeface="Courier New" pitchFamily="49" charset="0"/>
              </a:rPr>
              <a:t>  </a:t>
            </a:r>
            <a:r>
              <a:rPr lang="zh-CN" altLang="zh-CN" sz="2400" b="1" dirty="0">
                <a:cs typeface="Courier New" pitchFamily="49" charset="0"/>
              </a:rPr>
              <a:t>}</a:t>
            </a:r>
            <a:endParaRPr lang="zh-CN" altLang="en-US" sz="2400" b="1" dirty="0">
              <a:ea typeface="黑体" pitchFamily="49" charset="-122"/>
            </a:endParaRPr>
          </a:p>
        </p:txBody>
      </p:sp>
      <p:sp>
        <p:nvSpPr>
          <p:cNvPr id="598019" name="Rectangle 3"/>
          <p:cNvSpPr>
            <a:spLocks noChangeArrowheads="1"/>
          </p:cNvSpPr>
          <p:nvPr/>
        </p:nvSpPr>
        <p:spPr bwMode="auto">
          <a:xfrm>
            <a:off x="1524000" y="1179514"/>
            <a:ext cx="9144000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#</a:t>
            </a:r>
            <a:r>
              <a:rPr lang="zh-CN" altLang="zh-CN" sz="2400" b="1" dirty="0">
                <a:solidFill>
                  <a:srgbClr val="000000"/>
                </a:solidFill>
                <a:ea typeface="黑体" pitchFamily="49" charset="-122"/>
              </a:rPr>
              <a:t>include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 “</a:t>
            </a:r>
            <a:r>
              <a:rPr lang="zh-CN" altLang="zh-CN" sz="2400" b="1" dirty="0">
                <a:solidFill>
                  <a:srgbClr val="000000"/>
                </a:solidFill>
                <a:ea typeface="黑体" pitchFamily="49" charset="-122"/>
              </a:rPr>
              <a:t>stdio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r>
              <a:rPr lang="zh-CN" altLang="zh-CN" sz="2400" b="1" dirty="0">
                <a:solidFill>
                  <a:srgbClr val="000000"/>
                </a:solidFill>
                <a:ea typeface="黑体" pitchFamily="49" charset="-122"/>
              </a:rPr>
              <a:t>h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”;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     </a:t>
            </a:r>
          </a:p>
          <a:p>
            <a:pPr marL="342900" indent="-342900" fontAlgn="base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   void  strcat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(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char  </a:t>
            </a:r>
            <a:r>
              <a:rPr lang="zh-CN" altLang="zh-CN" sz="2400" b="1" dirty="0">
                <a:solidFill>
                  <a:srgbClr val="BA00BA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str1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,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 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char  </a:t>
            </a:r>
            <a:r>
              <a:rPr lang="zh-CN" altLang="zh-CN" sz="2400" b="1" dirty="0">
                <a:solidFill>
                  <a:srgbClr val="BA00BA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BA00BA"/>
                </a:solidFill>
                <a:ea typeface="黑体" pitchFamily="49" charset="-122"/>
              </a:rPr>
              <a:t>s</a:t>
            </a:r>
            <a:r>
              <a:rPr lang="zh-CN" altLang="zh-CN" sz="2400" b="1" dirty="0">
                <a:solidFill>
                  <a:srgbClr val="BA00BA"/>
                </a:solidFill>
                <a:cs typeface="Courier New" pitchFamily="49" charset="0"/>
              </a:rPr>
              <a:t>tr2 </a:t>
            </a: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)</a:t>
            </a:r>
          </a:p>
          <a:p>
            <a:pPr marL="342900" indent="-342900" fontAlgn="base">
              <a:lnSpc>
                <a:spcPct val="115000"/>
              </a:lnSpc>
              <a:spcBef>
                <a:spcPct val="3000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zh-CN" altLang="zh-CN" sz="2400" b="1" dirty="0">
                <a:solidFill>
                  <a:srgbClr val="BA00BA"/>
                </a:solidFill>
                <a:latin typeface="Times New Roman" pitchFamily="18" charset="0"/>
                <a:cs typeface="Courier New" pitchFamily="49" charset="0"/>
              </a:rPr>
              <a:t>   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{  while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( 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str1!=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‘</a:t>
            </a:r>
            <a:r>
              <a:rPr lang="zh-CN" altLang="zh-CN" sz="2400" dirty="0">
                <a:solidFill>
                  <a:srgbClr val="000000"/>
                </a:solidFill>
                <a:cs typeface="Courier New" pitchFamily="49" charset="0"/>
              </a:rPr>
              <a:t>\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cs typeface="Courier New" pitchFamily="49" charset="0"/>
              </a:rPr>
              <a:t>0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</a:rPr>
              <a:t>’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) 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str1++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     </a:t>
            </a:r>
            <a:r>
              <a:rPr lang="zh-CN" altLang="zh-CN" sz="2000" dirty="0">
                <a:solidFill>
                  <a:srgbClr val="000000"/>
                </a:solidFill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使</a:t>
            </a:r>
            <a:r>
              <a:rPr lang="zh-CN" altLang="zh-CN" sz="2000" b="1" dirty="0">
                <a:solidFill>
                  <a:srgbClr val="000000"/>
                </a:solidFill>
                <a:ea typeface="黑体" pitchFamily="49" charset="-122"/>
              </a:rPr>
              <a:t>str1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指向字符串</a:t>
            </a:r>
            <a:r>
              <a:rPr lang="zh-CN" altLang="zh-CN" sz="2000" b="1" dirty="0">
                <a:solidFill>
                  <a:srgbClr val="000000"/>
                </a:solidFill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的末尾</a:t>
            </a:r>
            <a:endParaRPr lang="zh-CN" altLang="en-US" sz="2000" dirty="0">
              <a:solidFill>
                <a:srgbClr val="000000"/>
              </a:solidFill>
              <a:cs typeface="Courier New" pitchFamily="49" charset="0"/>
            </a:endParaRPr>
          </a:p>
          <a:p>
            <a:pPr marL="342900" indent="-342900" fontAlgn="base">
              <a:lnSpc>
                <a:spcPct val="115000"/>
              </a:lnSpc>
              <a:spcBef>
                <a:spcPct val="3000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zh-CN" altLang="en-US" sz="2400" b="1" dirty="0">
                <a:solidFill>
                  <a:srgbClr val="000000"/>
                </a:solidFill>
                <a:cs typeface="Courier New" pitchFamily="49" charset="0"/>
              </a:rPr>
              <a:t>      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while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cs typeface="Courier New" pitchFamily="49" charset="0"/>
              </a:rPr>
              <a:t>++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=</a:t>
            </a:r>
            <a:r>
              <a:rPr lang="zh-CN" altLang="zh-CN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str2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cs typeface="Courier New" pitchFamily="49" charset="0"/>
              </a:rPr>
              <a:t>++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Courier New" pitchFamily="49" charset="0"/>
              </a:rPr>
              <a:t>;</a:t>
            </a:r>
            <a:r>
              <a:rPr lang="zh-CN" altLang="zh-CN" sz="2000" dirty="0">
                <a:solidFill>
                  <a:srgbClr val="000000"/>
                </a:solidFill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字符串连接</a:t>
            </a:r>
          </a:p>
          <a:p>
            <a:pPr marL="342900" indent="-342900" fontAlgn="base">
              <a:lnSpc>
                <a:spcPct val="115000"/>
              </a:lnSpc>
              <a:spcBef>
                <a:spcPct val="3000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cs typeface="Courier New" pitchFamily="49" charset="0"/>
              </a:rPr>
              <a:t>                                                       </a:t>
            </a:r>
            <a:r>
              <a:rPr lang="zh-CN" altLang="zh-CN" sz="2000" dirty="0">
                <a:solidFill>
                  <a:srgbClr val="000000"/>
                </a:solidFill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在</a:t>
            </a:r>
            <a:r>
              <a:rPr lang="zh-CN" altLang="zh-CN" sz="2000" b="1" dirty="0">
                <a:solidFill>
                  <a:srgbClr val="000000"/>
                </a:solidFill>
                <a:ea typeface="黑体" pitchFamily="49" charset="-122"/>
              </a:rPr>
              <a:t>str1</a:t>
            </a:r>
            <a:r>
              <a:rPr lang="zh-CN" altLang="en-US" sz="20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后</a:t>
            </a:r>
            <a:r>
              <a:rPr lang="zh-CN" altLang="en-US" sz="2000" b="1" dirty="0">
                <a:solidFill>
                  <a:srgbClr val="000000"/>
                </a:solidFill>
                <a:ea typeface="黑体" pitchFamily="49" charset="-122"/>
              </a:rPr>
              <a:t>加上字符串结束符</a:t>
            </a:r>
            <a:endParaRPr lang="zh-CN" altLang="en-US" sz="2000" b="1" dirty="0">
              <a:solidFill>
                <a:srgbClr val="000000"/>
              </a:solidFill>
              <a:cs typeface="Courier New" pitchFamily="49" charset="0"/>
            </a:endParaRPr>
          </a:p>
          <a:p>
            <a:pPr marL="342900" indent="-3429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FFCC00"/>
              </a:buClr>
              <a:buSzPct val="60000"/>
            </a:pPr>
            <a:r>
              <a:rPr lang="zh-CN" altLang="en-US" sz="2000" b="1" dirty="0">
                <a:solidFill>
                  <a:srgbClr val="000000"/>
                </a:solidFill>
                <a:cs typeface="Courier New" pitchFamily="49" charset="0"/>
              </a:rPr>
              <a:t>    </a:t>
            </a:r>
            <a:r>
              <a:rPr lang="zh-CN" altLang="zh-CN" sz="2400" b="1" dirty="0">
                <a:solidFill>
                  <a:srgbClr val="000000"/>
                </a:solidFill>
                <a:cs typeface="Courier New" pitchFamily="49" charset="0"/>
              </a:rPr>
              <a:t>}</a:t>
            </a:r>
          </a:p>
        </p:txBody>
      </p:sp>
      <p:sp>
        <p:nvSpPr>
          <p:cNvPr id="598020" name="Rectangle 4"/>
          <p:cNvSpPr>
            <a:spLocks noChangeArrowheads="1"/>
          </p:cNvSpPr>
          <p:nvPr/>
        </p:nvSpPr>
        <p:spPr bwMode="auto">
          <a:xfrm>
            <a:off x="1884364" y="171450"/>
            <a:ext cx="8561387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60000"/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7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.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程序利用函数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strcat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str2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将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str1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两个字符串合并到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中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请编写</a:t>
            </a:r>
            <a:r>
              <a:rPr lang="zh-CN" altLang="zh-CN" sz="2400" b="1" dirty="0">
                <a:solidFill>
                  <a:srgbClr val="000000"/>
                </a:solidFill>
                <a:latin typeface="Arial" pitchFamily="34" charset="0"/>
                <a:ea typeface="黑体" pitchFamily="49" charset="-122"/>
              </a:rPr>
              <a:t>strcat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</a:rPr>
              <a:t>函数。</a:t>
            </a:r>
          </a:p>
        </p:txBody>
      </p:sp>
      <p:sp>
        <p:nvSpPr>
          <p:cNvPr id="59802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9912350" y="6308726"/>
            <a:ext cx="431800" cy="288925"/>
          </a:xfrm>
          <a:prstGeom prst="actionButtonForwardNext">
            <a:avLst/>
          </a:prstGeom>
          <a:noFill/>
          <a:ln w="0" cmpd="sng">
            <a:solidFill>
              <a:srgbClr val="C9E4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1943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gradFill rotWithShape="0">
          <a:gsLst>
            <a:gs pos="0">
              <a:srgbClr val="C9E4FF"/>
            </a:gs>
            <a:gs pos="100000">
              <a:srgbClr val="C9E4FF">
                <a:gamma/>
                <a:tint val="0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11126"/>
            <a:ext cx="8686800" cy="13128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7.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程序 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my.c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利用函数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strcmp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cs typeface="Courier New" pitchFamily="49" charset="0"/>
              </a:rPr>
              <a:t>(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cs typeface="Courier New" pitchFamily="49" charset="0"/>
              </a:rPr>
              <a:t>, 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cs typeface="Courier New" pitchFamily="49" charset="0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比较两个字符串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,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 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的大小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如果 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返回</a:t>
            </a:r>
            <a:r>
              <a:rPr lang="zh-CN" altLang="zh-CN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;</a:t>
            </a:r>
            <a:r>
              <a:rPr lang="zh-CN" altLang="zh-CN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str1==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s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tr2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返回</a:t>
            </a:r>
            <a:r>
              <a:rPr lang="zh-CN" altLang="zh-CN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; 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str2</a:t>
            </a:r>
            <a:r>
              <a:rPr lang="zh-CN" altLang="en-US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返回</a:t>
            </a:r>
            <a:r>
              <a:rPr lang="zh-CN" altLang="zh-CN" sz="2400" b="1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-1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编写</a:t>
            </a:r>
            <a:r>
              <a:rPr lang="zh-CN" altLang="zh-CN" sz="2400" b="1" dirty="0">
                <a:solidFill>
                  <a:schemeClr val="tx1"/>
                </a:solidFill>
                <a:latin typeface="Arial" pitchFamily="34" charset="0"/>
                <a:cs typeface="Courier New" pitchFamily="49" charset="0"/>
              </a:rPr>
              <a:t>strcmp</a:t>
            </a:r>
            <a:r>
              <a:rPr lang="zh-CN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( )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函数。</a:t>
            </a:r>
          </a:p>
        </p:txBody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6" y="1474789"/>
            <a:ext cx="8797925" cy="53101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/>
              <a:t>   </a:t>
            </a:r>
            <a:r>
              <a:rPr lang="zh-CN" altLang="zh-CN" sz="2400" b="1" dirty="0">
                <a:solidFill>
                  <a:srgbClr val="00009E"/>
                </a:solidFill>
              </a:rPr>
              <a:t>int  strcmp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zh-CN" sz="2400" b="1" dirty="0">
                <a:solidFill>
                  <a:srgbClr val="00009E"/>
                </a:solidFill>
              </a:rPr>
              <a:t>char  </a:t>
            </a:r>
            <a:r>
              <a:rPr lang="zh-CN" altLang="zh-CN" sz="2400" b="1" dirty="0">
                <a:solidFill>
                  <a:srgbClr val="00009E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9E"/>
                </a:solidFill>
              </a:rPr>
              <a:t>str1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, </a:t>
            </a:r>
            <a:r>
              <a:rPr lang="zh-CN" altLang="zh-CN" sz="2400" b="1" dirty="0">
                <a:solidFill>
                  <a:srgbClr val="00009E"/>
                </a:solidFill>
              </a:rPr>
              <a:t>char  </a:t>
            </a:r>
            <a:r>
              <a:rPr lang="zh-CN" altLang="zh-CN" sz="2400" b="1" dirty="0">
                <a:solidFill>
                  <a:srgbClr val="00009E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>
                <a:solidFill>
                  <a:srgbClr val="00009E"/>
                </a:solidFill>
              </a:rPr>
              <a:t>str2 </a:t>
            </a:r>
            <a:r>
              <a:rPr lang="zh-CN" altLang="zh-CN" sz="2400" b="1" dirty="0">
                <a:solidFill>
                  <a:srgbClr val="00009E"/>
                </a:solidFill>
                <a:latin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9E"/>
                </a:solidFill>
              </a:rPr>
              <a:t>{</a:t>
            </a:r>
            <a:r>
              <a:rPr lang="zh-CN" altLang="zh-CN" sz="2400" b="1" dirty="0"/>
              <a:t> 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zh-CN" sz="2400" b="1" dirty="0"/>
              <a:t>while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str1== 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str2 </a:t>
            </a:r>
            <a:r>
              <a:rPr lang="zh-CN" altLang="zh-CN" sz="2400" dirty="0"/>
              <a:t>&amp;&amp;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str1!=</a:t>
            </a:r>
            <a:r>
              <a:rPr lang="zh-CN" altLang="zh-CN" sz="2400" b="1" dirty="0">
                <a:latin typeface="Times New Roman"/>
              </a:rPr>
              <a:t>‘</a:t>
            </a:r>
            <a:r>
              <a:rPr lang="zh-CN" altLang="zh-CN" sz="2400" dirty="0"/>
              <a:t>\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>
                <a:latin typeface="Times New Roman"/>
              </a:rPr>
              <a:t>’</a:t>
            </a:r>
            <a:r>
              <a:rPr lang="zh-CN" altLang="zh-CN" sz="2400" b="1" dirty="0">
                <a:latin typeface="Times New Roman" pitchFamily="18" charset="0"/>
              </a:rPr>
              <a:t>)</a:t>
            </a:r>
            <a:endParaRPr lang="en-US" altLang="zh-CN" sz="24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</a:t>
            </a:r>
            <a:r>
              <a:rPr lang="zh-CN" altLang="zh-CN" sz="2400" b="1" dirty="0"/>
              <a:t>{ 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/>
              <a:t>        </a:t>
            </a:r>
            <a:r>
              <a:rPr lang="zh-CN" altLang="zh-CN" sz="2400" b="1" dirty="0"/>
              <a:t>str1</a:t>
            </a:r>
            <a:r>
              <a:rPr lang="zh-CN" altLang="zh-CN" sz="2400" b="1" dirty="0">
                <a:latin typeface="Arial" pitchFamily="34" charset="0"/>
              </a:rPr>
              <a:t>++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str2</a:t>
            </a:r>
            <a:r>
              <a:rPr lang="zh-CN" altLang="zh-CN" sz="2400" b="1" dirty="0">
                <a:latin typeface="Arial" pitchFamily="34" charset="0"/>
              </a:rPr>
              <a:t>++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endParaRPr lang="en-US" altLang="zh-CN" sz="2400" b="1" dirty="0">
              <a:latin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</a:t>
            </a:r>
            <a:r>
              <a:rPr lang="zh-CN" altLang="zh-CN" sz="2400" b="1" dirty="0"/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3232C6"/>
                </a:solidFill>
              </a:rPr>
              <a:t>   </a:t>
            </a:r>
            <a:r>
              <a:rPr lang="zh-CN" altLang="zh-CN" sz="2400" b="1" dirty="0"/>
              <a:t>if </a:t>
            </a:r>
            <a:r>
              <a:rPr lang="zh-CN" altLang="zh-CN" sz="2400" b="1" dirty="0">
                <a:latin typeface="Times New Roman" pitchFamily="18" charset="0"/>
              </a:rPr>
              <a:t>( 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str1-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str2 </a:t>
            </a:r>
            <a:r>
              <a:rPr lang="zh-CN" altLang="zh-CN" sz="2400" dirty="0"/>
              <a:t>&gt;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/>
              <a:t> </a:t>
            </a:r>
            <a:r>
              <a:rPr lang="zh-CN" altLang="zh-CN" sz="2400" b="1" dirty="0">
                <a:latin typeface="Times New Roman" pitchFamily="18" charset="0"/>
              </a:rPr>
              <a:t>) </a:t>
            </a:r>
            <a:r>
              <a:rPr lang="zh-CN" altLang="zh-CN" sz="2400" b="1" dirty="0"/>
              <a:t>return 1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B2"/>
                </a:solidFill>
              </a:rPr>
              <a:t>   </a:t>
            </a:r>
            <a:r>
              <a:rPr lang="zh-CN" altLang="zh-CN" sz="2400" b="1" dirty="0"/>
              <a:t>else  if </a:t>
            </a:r>
            <a:r>
              <a:rPr lang="zh-CN" altLang="zh-CN" sz="2400" b="1" dirty="0">
                <a:latin typeface="Times New Roman" pitchFamily="18" charset="0"/>
              </a:rPr>
              <a:t>(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str1-</a:t>
            </a:r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zh-CN" sz="2400" b="1" dirty="0"/>
              <a:t>str2==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>
                <a:latin typeface="Times New Roman" pitchFamily="18" charset="0"/>
              </a:rPr>
              <a:t>) </a:t>
            </a:r>
            <a:r>
              <a:rPr lang="zh-CN" altLang="zh-CN" sz="2400" b="1" dirty="0"/>
              <a:t>return </a:t>
            </a:r>
            <a:r>
              <a:rPr lang="zh-CN" altLang="zh-CN" sz="2400" b="1" dirty="0">
                <a:latin typeface="Arial" pitchFamily="34" charset="0"/>
              </a:rPr>
              <a:t>0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B2"/>
                </a:solidFill>
              </a:rPr>
              <a:t>   </a:t>
            </a:r>
            <a:r>
              <a:rPr lang="zh-CN" altLang="zh-CN" sz="2400" b="1" dirty="0"/>
              <a:t>else  return  -1</a:t>
            </a:r>
            <a:r>
              <a:rPr lang="zh-CN" altLang="zh-CN" sz="2400" b="1" dirty="0">
                <a:latin typeface="Times New Roman" pitchFamily="18" charset="0"/>
              </a:rPr>
              <a:t>;</a:t>
            </a:r>
            <a:r>
              <a:rPr lang="zh-CN" altLang="zh-CN" sz="2400" b="1" dirty="0"/>
              <a:t> </a:t>
            </a:r>
            <a:endParaRPr lang="en-US" altLang="zh-CN" sz="24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zh-CN" sz="2400" b="1" dirty="0">
                <a:solidFill>
                  <a:srgbClr val="00009E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7420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B08AF3E-70EE-3870-55A4-D498AF5C26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55700" y="601694"/>
            <a:ext cx="9753600" cy="304333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若有说明语句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a[]="It is mine";</a:t>
            </a:r>
          </a:p>
          <a:p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*p="It is mine";   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则以下错误的叙述是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87570E-679D-DF4A-0341-8C2B116C1F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114392" y="332184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a+1</a:t>
            </a:r>
            <a:r>
              <a:rPr lang="zh-CN" altLang="pt-BR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表示的是</a:t>
            </a:r>
            <a:r>
              <a:rPr lang="zh-CN" altLang="pt-BR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字符</a:t>
            </a:r>
            <a:r>
              <a:rPr lang="pt-BR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r>
              <a:rPr lang="zh-CN" altLang="pt-BR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的地址</a:t>
            </a:r>
            <a:endParaRPr lang="zh-CN" altLang="en-US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76EC56-BB3C-7700-60EF-02ACFD755E1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114392" y="417909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指向另外的字符串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该字符串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的长度不受限制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51C44D-A928-A1E7-D7B2-A4698450C06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114392" y="503634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变量中存放的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地址值可以改变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E03D7D-8402-F865-8A21-2D9F5EB5FC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114392" y="589359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数组的</a:t>
            </a:r>
            <a:r>
              <a:rPr lang="zh-CN" altLang="en-US" sz="2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长度为</a:t>
            </a:r>
            <a:r>
              <a:rPr lang="en-US" altLang="zh-CN" sz="26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31FDE33-9252-57CF-F2C7-2E218D59619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247617" y="338613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8AB2B9C-E7B6-25A9-4B14-8F84E8A11B1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247617" y="424338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55BFF5A-A6AC-19B8-CB86-5EAB69FE06D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247617" y="510063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0655B34-DD31-643C-A4E5-DE4F4873308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247617" y="5957887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C3F075E-C069-9AEB-A9E3-682DA72FEE2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52029A8-E114-BD11-6A4E-E7A644A2889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71E726F9-F22F-4319-7447-03228F6C09B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86DA2D31-A374-FCB0-FF76-AE8A1B63CE4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C15740F-F3BC-894D-288A-4F7750D302A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83A86A51-2DFF-9CB5-1BD6-ACF905A6F9F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1FD033B-3074-DE45-6D89-51D221D461E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066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B9F0A80-E881-5D6D-CD65-FF54934CAD2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09700" y="214565"/>
            <a:ext cx="9753600" cy="609475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有以下程序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char *p1="programming",*p2="language";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int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;</a:t>
            </a:r>
          </a:p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for(i=0;i&lt;4;i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++)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if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(*(p1+i)==*(p2+i))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        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("%c",*(p1+i));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ED5EC3-FFB9-6C3D-7A92-8226BCBD5D0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777367" y="560164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1EA9C8-A2AA-A0A5-129D-C7339D2FFC8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44919" y="5534716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40EDD1-85C3-AF96-5035-598FECB9C2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712471" y="5529765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rg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019F52-423B-05C2-7DDC-0D3D6DB54C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430485" y="5465472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710118-CA3F-A70E-BAE9-A7633825311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910592" y="566593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22B3232-C117-860A-5DEB-CB01930B5E8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378144" y="559900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8D5CF83-F6E0-4FAA-FFB6-96C6AF57537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845696" y="559405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9459859-6314-BB65-1935-35FA141C3B1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563710" y="552976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DC8AAB8-B36A-641B-7624-B172B4B2CDD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603A551-5519-4E35-6B04-36E77099AF1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A4CD5AF-64AB-A249-A6E4-9FBA69FD763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134816DC-8662-D22D-E6C2-4B158B62AC6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A9C0A44-8718-0AD6-8726-7958BC0A783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2299DC1-DCE6-0E8D-0745-95EA90C4E74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FC162F6-2470-7B74-7DFC-64F6B962773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257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B9F0A80-E881-5D6D-CD65-FF54934CAD2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409700" y="214565"/>
            <a:ext cx="9753600" cy="609475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下面程序的运行结果是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string.h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*s1="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abDeG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";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char *s2="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AbBdEg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";</a:t>
            </a:r>
          </a:p>
          <a:p>
            <a:pPr lvl="1"/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s1+=2;s2+=3;</a:t>
            </a:r>
          </a:p>
          <a:p>
            <a:pPr lvl="1"/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(”%d\n”,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strcmp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(s1,s2));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ED5EC3-FFB9-6C3D-7A92-8226BCBD5D0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777367" y="5601644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1EA9C8-A2AA-A0A5-129D-C7339D2FFC8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44919" y="5534716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负数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40EDD1-85C3-AF96-5035-598FECB9C2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712471" y="5529765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019F52-423B-05C2-7DDC-0D3D6DB54C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430485" y="5465472"/>
            <a:ext cx="84928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710118-CA3F-A70E-BAE9-A7633825311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910592" y="566593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22B3232-C117-860A-5DEB-CB01930B5E8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378144" y="5599009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8D5CF83-F6E0-4FAA-FFB6-96C6AF57537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845696" y="559405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9459859-6314-BB65-1935-35FA141C3B1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563710" y="5529765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DC8AAB8-B36A-641B-7624-B172B4B2CDD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603A551-5519-4E35-6B04-36E77099AF1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BA4CD5AF-64AB-A249-A6E4-9FBA69FD763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134816DC-8662-D22D-E6C2-4B158B62AC6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A9C0A44-8718-0AD6-8726-7958BC0A783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2299DC1-DCE6-0E8D-0745-95EA90C4E74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FC162F6-2470-7B74-7DFC-64F6B962773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0987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87713" y="260351"/>
            <a:ext cx="5638800" cy="701675"/>
          </a:xfrm>
        </p:spPr>
        <p:txBody>
          <a:bodyPr/>
          <a:lstStyle/>
          <a:p>
            <a:r>
              <a:rPr lang="en-US" altLang="zh-CN" sz="4000" b="1" dirty="0">
                <a:latin typeface="楷体_GB2312" pitchFamily="49" charset="-122"/>
                <a:ea typeface="楷体_GB2312" pitchFamily="49" charset="-122"/>
              </a:rPr>
              <a:t>7.</a:t>
            </a:r>
            <a:r>
              <a:rPr lang="zh-CN" altLang="zh-CN" sz="4000" b="1">
                <a:latin typeface="楷体_GB2312" pitchFamily="49" charset="-122"/>
                <a:ea typeface="楷体_GB2312" pitchFamily="49" charset="-122"/>
              </a:rPr>
              <a:t>6  </a:t>
            </a:r>
            <a:r>
              <a:rPr lang="zh-CN" altLang="en-US" sz="4000" b="1">
                <a:latin typeface="楷体_GB2312" pitchFamily="49" charset="-122"/>
                <a:ea typeface="楷体_GB2312" pitchFamily="49" charset="-122"/>
              </a:rPr>
              <a:t>指针</a:t>
            </a:r>
            <a:r>
              <a:rPr lang="en-US" altLang="zh-CN" sz="40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4000" b="1">
                <a:latin typeface="楷体_GB2312" pitchFamily="49" charset="-122"/>
                <a:ea typeface="楷体_GB2312" pitchFamily="49" charset="-122"/>
              </a:rPr>
              <a:t>变量</a:t>
            </a:r>
            <a:r>
              <a:rPr lang="en-US" altLang="zh-CN" sz="40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4000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指针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67608" y="2133601"/>
            <a:ext cx="7632848" cy="287972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5000"/>
              </a:spcBef>
              <a:buNone/>
            </a:pP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7.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zh-CN" dirty="0">
                <a:solidFill>
                  <a:srgbClr val="00008C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  指针的指针</a:t>
            </a:r>
          </a:p>
          <a:p>
            <a:pPr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7.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zh-CN" dirty="0">
                <a:solidFill>
                  <a:srgbClr val="00008C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指针数组</a:t>
            </a:r>
            <a:endParaRPr lang="en-US" altLang="zh-CN" dirty="0">
              <a:solidFill>
                <a:srgbClr val="00008C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10000"/>
              </a:lnSpc>
              <a:spcBef>
                <a:spcPct val="55000"/>
              </a:spcBef>
              <a:buNone/>
            </a:pP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7.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6</a:t>
            </a:r>
            <a:r>
              <a:rPr lang="zh-CN" altLang="zh-CN" dirty="0">
                <a:solidFill>
                  <a:srgbClr val="00008C"/>
                </a:solidFill>
                <a:latin typeface="Times New Roman" pitchFamily="18" charset="0"/>
                <a:ea typeface="黑体" pitchFamily="49" charset="-122"/>
              </a:rPr>
              <a:t>.</a:t>
            </a: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  数组</a:t>
            </a:r>
            <a:r>
              <a:rPr lang="zh-CN" altLang="en-US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指针</a:t>
            </a: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指向数组的指针或行指针</a:t>
            </a:r>
            <a:r>
              <a:rPr lang="en-US" altLang="zh-CN" dirty="0">
                <a:solidFill>
                  <a:srgbClr val="00008C"/>
                </a:solidFill>
                <a:latin typeface="黑体" pitchFamily="49" charset="-122"/>
                <a:ea typeface="黑体" pitchFamily="49" charset="-122"/>
              </a:rPr>
              <a:t>)</a:t>
            </a:r>
          </a:p>
          <a:p>
            <a:pPr>
              <a:lnSpc>
                <a:spcPct val="110000"/>
              </a:lnSpc>
              <a:spcBef>
                <a:spcPct val="55000"/>
              </a:spcBef>
              <a:buFont typeface="Wingdings" pitchFamily="2" charset="2"/>
              <a:buNone/>
            </a:pPr>
            <a:endParaRPr lang="zh-CN" dirty="0">
              <a:solidFill>
                <a:srgbClr val="00008C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602116" name="Picture 4" descr="b14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1" y="6019800"/>
            <a:ext cx="182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880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414713" y="-60325"/>
            <a:ext cx="6240462" cy="808038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6.</a:t>
            </a:r>
            <a:r>
              <a:rPr lang="en-US" altLang="zh-CN" sz="3600" dirty="0">
                <a:latin typeface="楷体_GB2312" pitchFamily="49" charset="-122"/>
              </a:rPr>
              <a:t>1</a:t>
            </a:r>
            <a:r>
              <a:rPr lang="zh-CN" altLang="zh-CN" sz="3600" dirty="0">
                <a:latin typeface="楷体_GB2312" pitchFamily="49" charset="-122"/>
              </a:rPr>
              <a:t>  </a:t>
            </a:r>
            <a:r>
              <a:rPr lang="zh-CN" altLang="en-US" sz="3600" dirty="0">
                <a:latin typeface="楷体_GB2312" pitchFamily="49" charset="-122"/>
              </a:rPr>
              <a:t>指针的指针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9463" y="1273176"/>
            <a:ext cx="8369300" cy="4346575"/>
          </a:xfrm>
        </p:spPr>
        <p:txBody>
          <a:bodyPr/>
          <a:lstStyle/>
          <a:p>
            <a:pPr marL="176213" indent="-176213"/>
            <a:r>
              <a:rPr lang="zh-CN" altLang="en-US" sz="2800" b="1"/>
              <a:t>格式</a:t>
            </a:r>
            <a:r>
              <a:rPr lang="zh-CN" altLang="zh-CN" sz="2800" b="1">
                <a:latin typeface="Times New Roman" pitchFamily="18" charset="0"/>
              </a:rPr>
              <a:t>:</a:t>
            </a:r>
            <a:r>
              <a:rPr lang="zh-CN" altLang="zh-CN" sz="2800" b="1"/>
              <a:t>         </a:t>
            </a:r>
            <a:r>
              <a:rPr lang="zh-CN" altLang="en-US" sz="2800" b="1"/>
              <a:t>类型说明符   </a:t>
            </a:r>
            <a:r>
              <a:rPr lang="zh-CN" altLang="en-US" sz="2800" b="1">
                <a:solidFill>
                  <a:schemeClr val="hlink"/>
                </a:solidFill>
                <a:latin typeface="黑体" pitchFamily="49" charset="-122"/>
              </a:rPr>
              <a:t>**指针变量名</a:t>
            </a:r>
          </a:p>
          <a:p>
            <a:pPr marL="176213" indent="-176213">
              <a:buSzPct val="85000"/>
              <a:buNone/>
            </a:pPr>
            <a:r>
              <a:rPr lang="zh-CN" altLang="en-US" sz="2800" b="1"/>
              <a:t>   </a:t>
            </a:r>
            <a:endParaRPr lang="zh-CN" altLang="en-US" sz="2800" b="1">
              <a:latin typeface="Times New Roman" pitchFamily="18" charset="0"/>
            </a:endParaRPr>
          </a:p>
          <a:p>
            <a:pPr marL="176213" indent="-176213">
              <a:spcBef>
                <a:spcPct val="40000"/>
              </a:spcBef>
              <a:buNone/>
            </a:pPr>
            <a:endParaRPr lang="zh-CN" altLang="en-US" sz="2400" b="1">
              <a:latin typeface="Times New Roman" pitchFamily="18" charset="0"/>
            </a:endParaRPr>
          </a:p>
          <a:p>
            <a:pPr marL="176213" indent="-176213">
              <a:buNone/>
            </a:pPr>
            <a:r>
              <a:rPr lang="zh-CN" b="1"/>
              <a:t>          </a:t>
            </a:r>
            <a:r>
              <a:rPr lang="zh-CN" altLang="en-US" sz="2400" b="1"/>
              <a:t>  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605188" name="Text Box 4"/>
          <p:cNvSpPr txBox="1">
            <a:spLocks noChangeArrowheads="1"/>
          </p:cNvSpPr>
          <p:nvPr/>
        </p:nvSpPr>
        <p:spPr bwMode="auto">
          <a:xfrm>
            <a:off x="1987550" y="2012950"/>
            <a:ext cx="4572000" cy="171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main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 )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{ 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int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 i=</a:t>
            </a:r>
            <a:r>
              <a:rPr lang="zh-CN" altLang="zh-CN" sz="2800" b="1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5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800" b="1" dirty="0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p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   p=</a:t>
            </a:r>
            <a:r>
              <a:rPr lang="zh-CN" altLang="zh-CN" sz="2800" dirty="0">
                <a:solidFill>
                  <a:srgbClr val="000000"/>
                </a:solidFill>
                <a:ea typeface="宋体" pitchFamily="2" charset="-122"/>
              </a:rPr>
              <a:t>&amp;</a:t>
            </a: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i </a:t>
            </a:r>
            <a:r>
              <a:rPr lang="zh-CN" altLang="zh-CN" sz="28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605189" name="Text Box 5"/>
          <p:cNvSpPr txBox="1">
            <a:spLocks noChangeArrowheads="1"/>
          </p:cNvSpPr>
          <p:nvPr/>
        </p:nvSpPr>
        <p:spPr bwMode="auto">
          <a:xfrm>
            <a:off x="1908175" y="4391026"/>
            <a:ext cx="8561388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  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printf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(“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i=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%d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**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q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%d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\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”, 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i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*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p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zh-CN" sz="2800" b="1">
                <a:solidFill>
                  <a:srgbClr val="000000"/>
                </a:solidFill>
                <a:latin typeface="黑体" pitchFamily="49" charset="-122"/>
              </a:rPr>
              <a:t>**</a:t>
            </a:r>
            <a:r>
              <a:rPr lang="zh-CN" altLang="zh-CN" sz="2800" b="1">
                <a:solidFill>
                  <a:srgbClr val="000000"/>
                </a:solidFill>
                <a:latin typeface="Arial" pitchFamily="34" charset="0"/>
                <a:ea typeface="宋体" pitchFamily="2" charset="-122"/>
              </a:rPr>
              <a:t>q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);</a:t>
            </a:r>
          </a:p>
          <a:p>
            <a:pPr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}</a:t>
            </a:r>
          </a:p>
        </p:txBody>
      </p:sp>
      <p:sp>
        <p:nvSpPr>
          <p:cNvPr id="605190" name="Text Box 6"/>
          <p:cNvSpPr txBox="1">
            <a:spLocks noChangeArrowheads="1"/>
          </p:cNvSpPr>
          <p:nvPr/>
        </p:nvSpPr>
        <p:spPr bwMode="auto">
          <a:xfrm>
            <a:off x="4337050" y="2547938"/>
            <a:ext cx="99060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zh-CN" sz="2800" b="1">
                <a:solidFill>
                  <a:srgbClr val="FF0000"/>
                </a:solidFill>
                <a:latin typeface="黑体" pitchFamily="49" charset="-122"/>
              </a:rPr>
              <a:t>**</a:t>
            </a:r>
            <a:r>
              <a:rPr lang="zh-CN" altLang="zh-CN" sz="2800" b="1">
                <a:solidFill>
                  <a:srgbClr val="FF0000"/>
                </a:solidFill>
                <a:ea typeface="宋体" pitchFamily="2" charset="-122"/>
              </a:rPr>
              <a:t>q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605191" name="Line 7"/>
          <p:cNvSpPr>
            <a:spLocks noChangeShapeType="1"/>
          </p:cNvSpPr>
          <p:nvPr/>
        </p:nvSpPr>
        <p:spPr bwMode="auto">
          <a:xfrm>
            <a:off x="7223125" y="3059113"/>
            <a:ext cx="490538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sp>
        <p:nvSpPr>
          <p:cNvPr id="605192" name="Line 8"/>
          <p:cNvSpPr>
            <a:spLocks noChangeShapeType="1"/>
          </p:cNvSpPr>
          <p:nvPr/>
        </p:nvSpPr>
        <p:spPr bwMode="auto">
          <a:xfrm>
            <a:off x="8429625" y="3046413"/>
            <a:ext cx="490538" cy="0"/>
          </a:xfrm>
          <a:prstGeom prst="line">
            <a:avLst/>
          </a:prstGeom>
          <a:noFill/>
          <a:ln w="19050" cmpd="sng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Dotum" pitchFamily="34" charset="-127"/>
            </a:endParaRPr>
          </a:p>
        </p:txBody>
      </p:sp>
      <p:grpSp>
        <p:nvGrpSpPr>
          <p:cNvPr id="605193" name="Group 9"/>
          <p:cNvGrpSpPr>
            <a:grpSpLocks/>
          </p:cNvGrpSpPr>
          <p:nvPr/>
        </p:nvGrpSpPr>
        <p:grpSpPr bwMode="auto">
          <a:xfrm>
            <a:off x="8694738" y="2411413"/>
            <a:ext cx="990600" cy="831850"/>
            <a:chOff x="0" y="0"/>
            <a:chExt cx="624" cy="524"/>
          </a:xfrm>
        </p:grpSpPr>
        <p:sp>
          <p:nvSpPr>
            <p:cNvPr id="605194" name="Text Box 10"/>
            <p:cNvSpPr txBox="1">
              <a:spLocks noChangeArrowheads="1"/>
            </p:cNvSpPr>
            <p:nvPr/>
          </p:nvSpPr>
          <p:spPr bwMode="auto">
            <a:xfrm>
              <a:off x="129" y="278"/>
              <a:ext cx="432" cy="246"/>
            </a:xfrm>
            <a:prstGeom prst="rect">
              <a:avLst/>
            </a:prstGeom>
            <a:noFill/>
            <a:ln w="222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tIns="10800" rIns="54000" bIns="1080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>
                  <a:solidFill>
                    <a:srgbClr val="00009E"/>
                  </a:solidFill>
                  <a:ea typeface="宋体" pitchFamily="2" charset="-122"/>
                </a:rPr>
                <a:t>5</a:t>
              </a:r>
            </a:p>
          </p:txBody>
        </p:sp>
        <p:sp>
          <p:nvSpPr>
            <p:cNvPr id="605195" name="Text Box 11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49" charset="-122"/>
                </a:rPr>
                <a:t>变量</a:t>
              </a:r>
              <a:r>
                <a:rPr lang="zh-CN" altLang="zh-CN" sz="2000" b="1">
                  <a:solidFill>
                    <a:srgbClr val="000000"/>
                  </a:solidFill>
                </a:rPr>
                <a:t>i</a:t>
              </a:r>
            </a:p>
          </p:txBody>
        </p:sp>
      </p:grpSp>
      <p:grpSp>
        <p:nvGrpSpPr>
          <p:cNvPr id="605196" name="Group 12"/>
          <p:cNvGrpSpPr>
            <a:grpSpLocks/>
          </p:cNvGrpSpPr>
          <p:nvPr/>
        </p:nvGrpSpPr>
        <p:grpSpPr bwMode="auto">
          <a:xfrm>
            <a:off x="7591425" y="2416176"/>
            <a:ext cx="990600" cy="841375"/>
            <a:chOff x="0" y="0"/>
            <a:chExt cx="624" cy="530"/>
          </a:xfrm>
        </p:grpSpPr>
        <p:sp>
          <p:nvSpPr>
            <p:cNvPr id="605197" name="Text Box 13"/>
            <p:cNvSpPr txBox="1">
              <a:spLocks noChangeArrowheads="1"/>
            </p:cNvSpPr>
            <p:nvPr/>
          </p:nvSpPr>
          <p:spPr bwMode="auto">
            <a:xfrm>
              <a:off x="91" y="284"/>
              <a:ext cx="432" cy="246"/>
            </a:xfrm>
            <a:prstGeom prst="rect">
              <a:avLst/>
            </a:prstGeom>
            <a:noFill/>
            <a:ln w="222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tIns="10800" rIns="54000" bIns="1080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>
                  <a:solidFill>
                    <a:srgbClr val="00009E"/>
                  </a:solidFill>
                  <a:ea typeface="宋体" pitchFamily="2" charset="-122"/>
                </a:rPr>
                <a:t>&amp;</a:t>
              </a:r>
              <a:r>
                <a:rPr lang="zh-CN" altLang="zh-CN" sz="2400" b="1">
                  <a:solidFill>
                    <a:srgbClr val="00009E"/>
                  </a:solidFill>
                  <a:ea typeface="宋体" pitchFamily="2" charset="-122"/>
                </a:rPr>
                <a:t>i</a:t>
              </a:r>
            </a:p>
          </p:txBody>
        </p:sp>
        <p:sp>
          <p:nvSpPr>
            <p:cNvPr id="605198" name="Text Box 14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49" charset="-122"/>
                </a:rPr>
                <a:t>指针</a:t>
              </a:r>
              <a:r>
                <a:rPr lang="zh-CN" altLang="zh-CN" sz="2000" b="1">
                  <a:solidFill>
                    <a:srgbClr val="000000"/>
                  </a:solidFill>
                </a:rPr>
                <a:t>p</a:t>
              </a:r>
            </a:p>
          </p:txBody>
        </p:sp>
      </p:grpSp>
      <p:grpSp>
        <p:nvGrpSpPr>
          <p:cNvPr id="605199" name="Group 15"/>
          <p:cNvGrpSpPr>
            <a:grpSpLocks/>
          </p:cNvGrpSpPr>
          <p:nvPr/>
        </p:nvGrpSpPr>
        <p:grpSpPr bwMode="auto">
          <a:xfrm>
            <a:off x="6372225" y="2436813"/>
            <a:ext cx="990600" cy="825500"/>
            <a:chOff x="0" y="0"/>
            <a:chExt cx="624" cy="520"/>
          </a:xfrm>
        </p:grpSpPr>
        <p:sp>
          <p:nvSpPr>
            <p:cNvPr id="605200" name="Text Box 16"/>
            <p:cNvSpPr txBox="1">
              <a:spLocks noChangeArrowheads="1"/>
            </p:cNvSpPr>
            <p:nvPr/>
          </p:nvSpPr>
          <p:spPr bwMode="auto">
            <a:xfrm>
              <a:off x="96" y="274"/>
              <a:ext cx="432" cy="246"/>
            </a:xfrm>
            <a:prstGeom prst="rect">
              <a:avLst/>
            </a:prstGeom>
            <a:noFill/>
            <a:ln w="22225" cmpd="sng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54000" tIns="10800" rIns="54000" bIns="10800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>
                  <a:solidFill>
                    <a:srgbClr val="00009E"/>
                  </a:solidFill>
                  <a:ea typeface="宋体" pitchFamily="2" charset="-122"/>
                </a:rPr>
                <a:t>&amp;</a:t>
              </a:r>
              <a:r>
                <a:rPr lang="zh-CN" altLang="zh-CN" sz="2400" b="1">
                  <a:solidFill>
                    <a:srgbClr val="00009E"/>
                  </a:solidFill>
                  <a:ea typeface="宋体" pitchFamily="2" charset="-122"/>
                </a:rPr>
                <a:t>p</a:t>
              </a:r>
            </a:p>
          </p:txBody>
        </p:sp>
        <p:sp>
          <p:nvSpPr>
            <p:cNvPr id="605201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49" charset="-122"/>
                </a:rPr>
                <a:t>指针</a:t>
              </a:r>
              <a:r>
                <a:rPr lang="zh-CN" altLang="zh-CN" sz="2000" b="1">
                  <a:solidFill>
                    <a:srgbClr val="000000"/>
                  </a:solidFill>
                </a:rPr>
                <a:t>q</a:t>
              </a:r>
            </a:p>
          </p:txBody>
        </p:sp>
      </p:grpSp>
      <p:sp>
        <p:nvSpPr>
          <p:cNvPr id="605202" name="Text Box 18"/>
          <p:cNvSpPr txBox="1">
            <a:spLocks noChangeArrowheads="1"/>
          </p:cNvSpPr>
          <p:nvPr/>
        </p:nvSpPr>
        <p:spPr bwMode="auto">
          <a:xfrm>
            <a:off x="8756650" y="3394076"/>
            <a:ext cx="990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9E"/>
                </a:solidFill>
                <a:latin typeface="黑体" pitchFamily="49" charset="-122"/>
              </a:rPr>
              <a:t>*</a:t>
            </a:r>
            <a:r>
              <a:rPr lang="zh-CN" altLang="zh-CN" sz="2000" b="1">
                <a:solidFill>
                  <a:srgbClr val="00009E"/>
                </a:solidFill>
              </a:rPr>
              <a:t>p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>
                <a:solidFill>
                  <a:srgbClr val="00009E"/>
                </a:solidFill>
                <a:latin typeface="黑体" pitchFamily="49" charset="-122"/>
              </a:rPr>
              <a:t>**</a:t>
            </a:r>
            <a:r>
              <a:rPr lang="zh-CN" altLang="zh-CN" sz="2000" b="1">
                <a:solidFill>
                  <a:srgbClr val="00009E"/>
                </a:solidFill>
              </a:rPr>
              <a:t>q</a:t>
            </a:r>
          </a:p>
        </p:txBody>
      </p:sp>
      <p:sp>
        <p:nvSpPr>
          <p:cNvPr id="605203" name="Rectangle 19"/>
          <p:cNvSpPr>
            <a:spLocks noChangeArrowheads="1"/>
          </p:cNvSpPr>
          <p:nvPr/>
        </p:nvSpPr>
        <p:spPr bwMode="auto">
          <a:xfrm>
            <a:off x="2287589" y="3757613"/>
            <a:ext cx="1385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q=</a:t>
            </a:r>
            <a:r>
              <a:rPr lang="zh-CN" altLang="zh-CN" sz="2800">
                <a:solidFill>
                  <a:srgbClr val="000000"/>
                </a:solidFill>
                <a:ea typeface="宋体" pitchFamily="2" charset="-122"/>
              </a:rPr>
              <a:t>&amp;</a:t>
            </a:r>
            <a:r>
              <a:rPr lang="zh-CN" altLang="zh-CN" sz="2800" b="1">
                <a:solidFill>
                  <a:srgbClr val="000000"/>
                </a:solidFill>
                <a:ea typeface="宋体" pitchFamily="2" charset="-122"/>
              </a:rPr>
              <a:t>p </a:t>
            </a:r>
            <a:r>
              <a:rPr lang="zh-CN" altLang="zh-CN" sz="28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;</a:t>
            </a:r>
          </a:p>
        </p:txBody>
      </p:sp>
      <p:sp>
        <p:nvSpPr>
          <p:cNvPr id="605204" name="Rectangle 20"/>
          <p:cNvSpPr>
            <a:spLocks noChangeArrowheads="1"/>
          </p:cNvSpPr>
          <p:nvPr/>
        </p:nvSpPr>
        <p:spPr bwMode="auto">
          <a:xfrm>
            <a:off x="2246314" y="5083176"/>
            <a:ext cx="7799387" cy="8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259C"/>
                </a:solidFill>
                <a:latin typeface="楷体_GB2312" pitchFamily="49" charset="-122"/>
                <a:ea typeface="楷体_GB2312" pitchFamily="49" charset="-122"/>
              </a:rPr>
              <a:t>输出结果</a:t>
            </a:r>
            <a:r>
              <a:rPr lang="zh-CN" altLang="zh-CN" sz="2400" b="1">
                <a:solidFill>
                  <a:srgbClr val="00259C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2400" b="1">
                <a:solidFill>
                  <a:srgbClr val="00259C"/>
                </a:solidFill>
                <a:ea typeface="宋体" pitchFamily="2" charset="-122"/>
              </a:rPr>
              <a:t>               i=5 </a:t>
            </a:r>
            <a:r>
              <a:rPr lang="zh-CN" altLang="zh-CN" sz="2400" b="1">
                <a:solidFill>
                  <a:srgbClr val="00259C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259C"/>
                </a:solidFill>
                <a:latin typeface="黑体" pitchFamily="49" charset="-122"/>
              </a:rPr>
              <a:t>*</a:t>
            </a:r>
            <a:r>
              <a:rPr lang="zh-CN" altLang="zh-CN" sz="2400" b="1">
                <a:solidFill>
                  <a:srgbClr val="00259C"/>
                </a:solidFill>
                <a:latin typeface="Arial" pitchFamily="34" charset="0"/>
                <a:ea typeface="宋体" pitchFamily="2" charset="-122"/>
              </a:rPr>
              <a:t>p</a:t>
            </a:r>
            <a:r>
              <a:rPr lang="zh-CN" altLang="zh-CN" sz="2400" b="1">
                <a:solidFill>
                  <a:srgbClr val="00259C"/>
                </a:solidFill>
                <a:ea typeface="宋体" pitchFamily="2" charset="-122"/>
              </a:rPr>
              <a:t>=5</a:t>
            </a:r>
            <a:r>
              <a:rPr lang="zh-CN" altLang="zh-CN" sz="2400" b="1">
                <a:solidFill>
                  <a:srgbClr val="00259C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zh-CN" altLang="zh-CN" sz="2400" b="1">
                <a:solidFill>
                  <a:srgbClr val="00259C"/>
                </a:solidFill>
                <a:latin typeface="黑体" pitchFamily="49" charset="-122"/>
              </a:rPr>
              <a:t>**</a:t>
            </a:r>
            <a:r>
              <a:rPr lang="zh-CN" altLang="zh-CN" sz="2400" b="1">
                <a:solidFill>
                  <a:srgbClr val="00259C"/>
                </a:solidFill>
                <a:latin typeface="Arial" pitchFamily="34" charset="0"/>
                <a:ea typeface="宋体" pitchFamily="2" charset="-122"/>
              </a:rPr>
              <a:t>q</a:t>
            </a:r>
            <a:r>
              <a:rPr lang="zh-CN" altLang="zh-CN" sz="2400" b="1">
                <a:solidFill>
                  <a:srgbClr val="00259C"/>
                </a:solidFill>
                <a:ea typeface="宋体" pitchFamily="2" charset="-122"/>
              </a:rPr>
              <a:t>=5</a:t>
            </a:r>
          </a:p>
        </p:txBody>
      </p:sp>
    </p:spTree>
    <p:extLst>
      <p:ext uri="{BB962C8B-B14F-4D97-AF65-F5344CB8AC3E}">
        <p14:creationId xmlns:p14="http://schemas.microsoft.com/office/powerpoint/2010/main" val="366131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88" grpId="0" build="p" autoUpdateAnimBg="0"/>
      <p:bldP spid="605189" grpId="0" build="p" autoUpdateAnimBg="0"/>
      <p:bldP spid="605190" grpId="0" animBg="1" autoUpdateAnimBg="0"/>
      <p:bldP spid="605191" grpId="0" animBg="1"/>
      <p:bldP spid="605192" grpId="0" animBg="1"/>
      <p:bldP spid="605202" grpId="0" build="p" autoUpdateAnimBg="0"/>
      <p:bldP spid="605203" grpId="0" build="p" autoUpdateAnimBg="0"/>
      <p:bldP spid="60520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1"/>
            <a:ext cx="7772400" cy="701675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   多级指针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40768"/>
            <a:ext cx="9793088" cy="4754562"/>
          </a:xfrm>
        </p:spPr>
        <p:txBody>
          <a:bodyPr/>
          <a:lstStyle/>
          <a:p>
            <a:pPr lvl="1">
              <a:spcAft>
                <a:spcPts val="3000"/>
              </a:spcAft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一级指针变量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存放</a:t>
            </a:r>
            <a:r>
              <a:rPr lang="zh-CN" altLang="en-US" sz="3600" b="1" dirty="0">
                <a:solidFill>
                  <a:srgbClr val="FF0000"/>
                </a:solidFill>
                <a:latin typeface="Palatino Linotype" pitchFamily="18" charset="0"/>
                <a:ea typeface="华文楷体" pitchFamily="2" charset="-122"/>
              </a:rPr>
              <a:t>一级指针</a:t>
            </a:r>
            <a:r>
              <a:rPr lang="en-US" altLang="zh-CN" sz="3600" b="1" dirty="0">
                <a:latin typeface="Palatino Linotype" pitchFamily="18" charset="0"/>
                <a:ea typeface="华文楷体" pitchFamily="2" charset="-122"/>
              </a:rPr>
              <a:t>(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地址</a:t>
            </a:r>
            <a:r>
              <a:rPr lang="en-US" altLang="zh-CN" sz="3600" b="1" dirty="0">
                <a:latin typeface="Palatino Linotype" pitchFamily="18" charset="0"/>
                <a:ea typeface="华文楷体" pitchFamily="2" charset="-122"/>
              </a:rPr>
              <a:t>),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普通变量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的地址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  <a:p>
            <a:pPr lvl="1">
              <a:spcAft>
                <a:spcPts val="3000"/>
              </a:spcAft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二级指针变量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存放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二级指针</a:t>
            </a:r>
            <a:r>
              <a:rPr lang="en-US" altLang="zh-CN" sz="3600" b="1" dirty="0">
                <a:latin typeface="Palatino Linotype" pitchFamily="18" charset="0"/>
                <a:ea typeface="华文楷体" pitchFamily="2" charset="-122"/>
              </a:rPr>
              <a:t>(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地址</a:t>
            </a:r>
            <a:r>
              <a:rPr lang="en-US" altLang="zh-CN" sz="3600" b="1" dirty="0">
                <a:latin typeface="Palatino Linotype" pitchFamily="18" charset="0"/>
                <a:ea typeface="华文楷体" pitchFamily="2" charset="-122"/>
              </a:rPr>
              <a:t>),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一级指针变量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的地址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  <a:p>
            <a:pPr lvl="1">
              <a:spcAft>
                <a:spcPts val="3000"/>
              </a:spcAft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级指针变量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存放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n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级指针</a:t>
            </a:r>
            <a:r>
              <a:rPr lang="en-US" altLang="zh-CN" sz="3600" b="1" dirty="0">
                <a:latin typeface="Palatino Linotype" pitchFamily="18" charset="0"/>
                <a:ea typeface="华文楷体" pitchFamily="2" charset="-122"/>
              </a:rPr>
              <a:t>(</a:t>
            </a:r>
            <a:r>
              <a:rPr lang="zh-CN" altLang="en-US" sz="3600" b="1" dirty="0">
                <a:latin typeface="Palatino Linotype" pitchFamily="18" charset="0"/>
                <a:ea typeface="华文楷体" pitchFamily="2" charset="-122"/>
              </a:rPr>
              <a:t>地址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),(n-1)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级指针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变量的地址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  <a:p>
            <a:pPr lvl="1">
              <a:spcAft>
                <a:spcPts val="3000"/>
              </a:spcAft>
            </a:pPr>
            <a:endParaRPr lang="en-US" altLang="zh-CN" sz="3600" b="1" dirty="0">
              <a:latin typeface="Palatino Linotype" pitchFamily="18" charset="0"/>
              <a:ea typeface="华文楷体" pitchFamily="2" charset="-122"/>
            </a:endParaRPr>
          </a:p>
          <a:p>
            <a:pPr marL="457200" lvl="1" indent="0">
              <a:spcAft>
                <a:spcPts val="3000"/>
              </a:spcAft>
              <a:buNone/>
            </a:pPr>
            <a:endParaRPr lang="zh-CN" altLang="en-US" sz="3600" b="1" dirty="0">
              <a:latin typeface="Palatino Linotype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64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28322"/>
            <a:ext cx="6741674" cy="5875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#include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&lt;</a:t>
            </a:r>
            <a:r>
              <a:rPr lang="en-US" altLang="zh-CN" sz="2800" dirty="0" err="1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stdio.h</a:t>
            </a:r>
            <a:r>
              <a:rPr lang="en-US" altLang="zh-CN" sz="2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&gt;</a:t>
            </a:r>
            <a:endParaRPr lang="en-US" altLang="zh-CN" sz="28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fun(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**);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a=10,b=20;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main()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marL="400050" lvl="1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*p=&amp;a;</a:t>
            </a:r>
          </a:p>
          <a:p>
            <a:pPr marL="400050" lvl="1" indent="0">
              <a:buNone/>
            </a:pPr>
            <a:r>
              <a:rPr lang="pt-BR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24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"1:%d\n"</a:t>
            </a:r>
            <a:r>
              <a:rPr lang="pt-BR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,*p);</a:t>
            </a:r>
          </a:p>
          <a:p>
            <a:pPr marL="400050" lvl="1" indent="0">
              <a:buNone/>
            </a:pPr>
            <a:r>
              <a:rPr lang="en-US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fun(&amp;p);</a:t>
            </a:r>
          </a:p>
          <a:p>
            <a:pPr marL="400050" lvl="1" indent="0">
              <a:buNone/>
            </a:pPr>
            <a:r>
              <a:rPr lang="pt-BR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printf(</a:t>
            </a:r>
            <a:r>
              <a:rPr lang="pt-BR" altLang="zh-CN" sz="24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"2:%d\n"</a:t>
            </a:r>
            <a:r>
              <a:rPr lang="pt-BR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,*p);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void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fun(</a:t>
            </a:r>
            <a:r>
              <a:rPr lang="en-US" altLang="zh-CN" sz="2800" dirty="0">
                <a:solidFill>
                  <a:srgbClr val="0000FF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int</a:t>
            </a: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**pp)</a:t>
            </a:r>
            <a:r>
              <a:rPr lang="en-US" altLang="zh-CN" sz="28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//pp-&gt;p</a:t>
            </a:r>
            <a:endParaRPr lang="en-US" altLang="zh-CN" sz="28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{</a:t>
            </a:r>
          </a:p>
          <a:p>
            <a:pPr marL="400050" lvl="1" indent="0">
              <a:buNone/>
            </a:pPr>
            <a:r>
              <a:rPr lang="en-US" altLang="zh-CN" sz="24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*pp=&amp;b;</a:t>
            </a:r>
            <a:r>
              <a:rPr lang="en-US" altLang="zh-CN" sz="24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等价于</a:t>
            </a:r>
            <a:r>
              <a:rPr lang="en-US" altLang="zh-CN" sz="2400" dirty="0">
                <a:solidFill>
                  <a:srgbClr val="008000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:p=&amp;b;</a:t>
            </a:r>
            <a:endParaRPr lang="en-US" altLang="zh-CN" sz="24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prstClr val="black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}</a:t>
            </a:r>
          </a:p>
          <a:p>
            <a:endParaRPr lang="zh-CN" altLang="en-US" sz="2800" dirty="0">
              <a:solidFill>
                <a:prstClr val="black"/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0" indent="0">
              <a:buNone/>
            </a:pPr>
            <a:endParaRPr lang="zh-CN" altLang="en-US" sz="36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B2682F0-9E80-4895-A464-148CC48C8425}"/>
              </a:ext>
            </a:extLst>
          </p:cNvPr>
          <p:cNvSpPr txBox="1"/>
          <p:nvPr/>
        </p:nvSpPr>
        <p:spPr>
          <a:xfrm>
            <a:off x="7923188" y="1988840"/>
            <a:ext cx="35686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1:10</a:t>
            </a:r>
          </a:p>
          <a:p>
            <a:r>
              <a:rPr lang="en-US" altLang="zh-CN" sz="4400" b="1" dirty="0">
                <a:solidFill>
                  <a:srgbClr val="FF0000"/>
                </a:solidFill>
              </a:rPr>
              <a:t>2:20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19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8463" y="289832"/>
            <a:ext cx="5374940" cy="3861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/>
              <a:t>#include&lt;stdio.h&gt;</a:t>
            </a:r>
          </a:p>
          <a:p>
            <a:pPr marL="0" indent="0">
              <a:buNone/>
            </a:pPr>
            <a:r>
              <a:rPr lang="en-US" altLang="zh-CN" sz="2400" b="1"/>
              <a:t>void fun(int *,int *);</a:t>
            </a:r>
          </a:p>
          <a:p>
            <a:pPr marL="0" indent="0">
              <a:buNone/>
            </a:pPr>
            <a:r>
              <a:rPr lang="en-US" altLang="zh-CN" sz="2400" b="1"/>
              <a:t>main()</a:t>
            </a:r>
          </a:p>
          <a:p>
            <a:pPr marL="0" indent="0">
              <a:buNone/>
            </a:pPr>
            <a:r>
              <a:rPr lang="en-US" altLang="zh-CN" sz="2400" b="1"/>
              <a:t>{</a:t>
            </a:r>
          </a:p>
          <a:p>
            <a:pPr marL="0" indent="0">
              <a:buNone/>
            </a:pPr>
            <a:r>
              <a:rPr lang="en-US" altLang="zh-CN" sz="2400" b="1"/>
              <a:t>	int a=5,b=10;</a:t>
            </a:r>
          </a:p>
          <a:p>
            <a:pPr marL="0" indent="0">
              <a:buNone/>
            </a:pPr>
            <a:r>
              <a:rPr lang="en-US" altLang="zh-CN" sz="2400" b="1"/>
              <a:t>	int *p=&amp;a,*q=&amp;b;</a:t>
            </a:r>
          </a:p>
          <a:p>
            <a:pPr marL="0" indent="0">
              <a:buNone/>
            </a:pPr>
            <a:r>
              <a:rPr lang="en-US" altLang="zh-CN" sz="2400" b="1"/>
              <a:t>	printf("1.*p=%d,*q=%d\n",*p,*q);</a:t>
            </a:r>
          </a:p>
          <a:p>
            <a:pPr marL="0" indent="0">
              <a:buNone/>
            </a:pPr>
            <a:r>
              <a:rPr lang="en-US" altLang="zh-CN" sz="2400" b="1"/>
              <a:t>	fun(p,q);</a:t>
            </a:r>
          </a:p>
          <a:p>
            <a:pPr marL="0" indent="0">
              <a:buNone/>
            </a:pPr>
            <a:r>
              <a:rPr lang="en-US" altLang="zh-CN" sz="2400" b="1"/>
              <a:t>	printf("2.*p=%d,*q=%d\n",*p,*q);</a:t>
            </a:r>
          </a:p>
          <a:p>
            <a:pPr marL="0" indent="0">
              <a:buNone/>
            </a:pPr>
            <a:r>
              <a:rPr lang="en-US" altLang="zh-CN" sz="2400" b="1"/>
              <a:t>}</a:t>
            </a:r>
          </a:p>
          <a:p>
            <a:pPr marL="0" indent="0">
              <a:buNone/>
            </a:pPr>
            <a:endParaRPr lang="zh-CN" altLang="en-US" sz="2400" b="1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6605AD5-D926-477A-9746-E2168F9FA3E3}"/>
              </a:ext>
            </a:extLst>
          </p:cNvPr>
          <p:cNvGrpSpPr/>
          <p:nvPr/>
        </p:nvGrpSpPr>
        <p:grpSpPr>
          <a:xfrm>
            <a:off x="1796231" y="5327628"/>
            <a:ext cx="1160621" cy="369332"/>
            <a:chOff x="1796231" y="5327628"/>
            <a:chExt cx="1160621" cy="369332"/>
          </a:xfrm>
        </p:grpSpPr>
        <p:sp>
          <p:nvSpPr>
            <p:cNvPr id="6" name="矩形 5"/>
            <p:cNvSpPr/>
            <p:nvPr/>
          </p:nvSpPr>
          <p:spPr bwMode="auto">
            <a:xfrm>
              <a:off x="2020748" y="5336920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96231" y="532762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</a:t>
              </a:r>
              <a:endParaRPr lang="zh-CN" altLang="en-US" dirty="0"/>
            </a:p>
          </p:txBody>
        </p:sp>
      </p:grpSp>
      <p:cxnSp>
        <p:nvCxnSpPr>
          <p:cNvPr id="9" name="直接箭头连接符 8"/>
          <p:cNvCxnSpPr>
            <a:cxnSpLocks/>
          </p:cNvCxnSpPr>
          <p:nvPr/>
        </p:nvCxnSpPr>
        <p:spPr bwMode="auto">
          <a:xfrm flipV="1">
            <a:off x="2855640" y="4869160"/>
            <a:ext cx="936104" cy="43326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8CF7BD8-ABD1-41C6-B4F0-DD956EF8F300}"/>
              </a:ext>
            </a:extLst>
          </p:cNvPr>
          <p:cNvGrpSpPr/>
          <p:nvPr/>
        </p:nvGrpSpPr>
        <p:grpSpPr>
          <a:xfrm>
            <a:off x="7119399" y="5269611"/>
            <a:ext cx="1316862" cy="386104"/>
            <a:chOff x="7119399" y="5269611"/>
            <a:chExt cx="1316862" cy="386104"/>
          </a:xfrm>
        </p:grpSpPr>
        <p:sp>
          <p:nvSpPr>
            <p:cNvPr id="12" name="矩形 11"/>
            <p:cNvSpPr/>
            <p:nvPr/>
          </p:nvSpPr>
          <p:spPr bwMode="auto">
            <a:xfrm>
              <a:off x="7500157" y="5295675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19399" y="52696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endParaRPr lang="zh-CN" altLang="en-US" dirty="0"/>
            </a:p>
          </p:txBody>
        </p:sp>
      </p:grpSp>
      <p:cxnSp>
        <p:nvCxnSpPr>
          <p:cNvPr id="16" name="直接箭头连接符 15"/>
          <p:cNvCxnSpPr>
            <a:cxnSpLocks/>
          </p:cNvCxnSpPr>
          <p:nvPr/>
        </p:nvCxnSpPr>
        <p:spPr bwMode="auto">
          <a:xfrm flipH="1" flipV="1">
            <a:off x="6183295" y="4802197"/>
            <a:ext cx="1872208" cy="44613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B11EDF5-2A54-46F5-B492-885EB29C0307}"/>
              </a:ext>
            </a:extLst>
          </p:cNvPr>
          <p:cNvSpPr txBox="1"/>
          <p:nvPr/>
        </p:nvSpPr>
        <p:spPr>
          <a:xfrm>
            <a:off x="6960096" y="363404"/>
            <a:ext cx="37444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b="1"/>
              <a:t>void fun(int *x,int *y)</a:t>
            </a:r>
          </a:p>
          <a:p>
            <a:pPr marL="0" indent="0">
              <a:buNone/>
            </a:pPr>
            <a:r>
              <a:rPr lang="en-US" altLang="zh-CN" sz="2400" b="1"/>
              <a:t>{</a:t>
            </a:r>
          </a:p>
          <a:p>
            <a:pPr marL="0" indent="0">
              <a:buNone/>
            </a:pPr>
            <a:r>
              <a:rPr lang="en-US" altLang="zh-CN" sz="2400" b="1"/>
              <a:t>	int *t;</a:t>
            </a:r>
          </a:p>
          <a:p>
            <a:pPr marL="0" indent="0">
              <a:buNone/>
            </a:pPr>
            <a:r>
              <a:rPr lang="en-US" altLang="zh-CN" sz="2400" b="1"/>
              <a:t>	t=x;</a:t>
            </a:r>
          </a:p>
          <a:p>
            <a:pPr marL="0" indent="0">
              <a:buNone/>
            </a:pPr>
            <a:r>
              <a:rPr lang="en-US" altLang="zh-CN" sz="2400" b="1"/>
              <a:t>	x=y;</a:t>
            </a:r>
          </a:p>
          <a:p>
            <a:pPr marL="0" indent="0">
              <a:buNone/>
            </a:pPr>
            <a:r>
              <a:rPr lang="en-US" altLang="zh-CN" sz="2400" b="1"/>
              <a:t>	y=t;</a:t>
            </a:r>
          </a:p>
          <a:p>
            <a:pPr marL="0" indent="0">
              <a:buNone/>
            </a:pPr>
            <a:r>
              <a:rPr lang="en-US" altLang="zh-CN" sz="2400" b="1"/>
              <a:t>}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4F55B1-8D05-463A-B344-E906C67AA0D4}"/>
              </a:ext>
            </a:extLst>
          </p:cNvPr>
          <p:cNvSpPr/>
          <p:nvPr/>
        </p:nvSpPr>
        <p:spPr bwMode="auto">
          <a:xfrm>
            <a:off x="3464837" y="5923730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5C0E6D-9879-4AF9-81B0-5B303013FF31}"/>
              </a:ext>
            </a:extLst>
          </p:cNvPr>
          <p:cNvSpPr/>
          <p:nvPr/>
        </p:nvSpPr>
        <p:spPr bwMode="auto">
          <a:xfrm>
            <a:off x="5953403" y="596903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469F027-E645-4382-904B-1384360B53ED}"/>
              </a:ext>
            </a:extLst>
          </p:cNvPr>
          <p:cNvSpPr txBox="1"/>
          <p:nvPr/>
        </p:nvSpPr>
        <p:spPr>
          <a:xfrm>
            <a:off x="5664541" y="591406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y</a:t>
            </a:r>
            <a:endParaRPr lang="zh-CN" altLang="en-US" dirty="0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6A7E1602-3AFB-43FE-8A60-4D1ED6090102}"/>
              </a:ext>
            </a:extLst>
          </p:cNvPr>
          <p:cNvSpPr txBox="1"/>
          <p:nvPr/>
        </p:nvSpPr>
        <p:spPr>
          <a:xfrm>
            <a:off x="3155165" y="595974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x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4994CC-D487-42EB-AA63-AC2B2EFD6946}"/>
              </a:ext>
            </a:extLst>
          </p:cNvPr>
          <p:cNvSpPr/>
          <p:nvPr/>
        </p:nvSpPr>
        <p:spPr bwMode="auto">
          <a:xfrm>
            <a:off x="4622390" y="632907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65E9CA7C-25FA-4CA2-A2F6-B93E0DF702F0}"/>
              </a:ext>
            </a:extLst>
          </p:cNvPr>
          <p:cNvSpPr txBox="1"/>
          <p:nvPr/>
        </p:nvSpPr>
        <p:spPr>
          <a:xfrm>
            <a:off x="4227481" y="632839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F6DB9B7-C4B4-4676-906B-12709A469F01}"/>
              </a:ext>
            </a:extLst>
          </p:cNvPr>
          <p:cNvSpPr txBox="1"/>
          <p:nvPr/>
        </p:nvSpPr>
        <p:spPr>
          <a:xfrm>
            <a:off x="6004304" y="59475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ahoma" pitchFamily="34" charset="0"/>
                <a:ea typeface="Dotum" pitchFamily="34" charset="-127"/>
              </a:rPr>
              <a:t>&amp;b</a:t>
            </a:r>
            <a:endParaRPr lang="zh-CN" altLang="en-US" sz="1800" dirty="0"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0BF2274-1879-48C8-8F8B-6DB413F90402}"/>
              </a:ext>
            </a:extLst>
          </p:cNvPr>
          <p:cNvSpPr txBox="1"/>
          <p:nvPr/>
        </p:nvSpPr>
        <p:spPr>
          <a:xfrm>
            <a:off x="2097033" y="53369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3403D32-4F14-4DC5-8FBF-33DFA9B415A6}"/>
              </a:ext>
            </a:extLst>
          </p:cNvPr>
          <p:cNvSpPr txBox="1"/>
          <p:nvPr/>
        </p:nvSpPr>
        <p:spPr>
          <a:xfrm>
            <a:off x="7711880" y="52795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&amp;b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4A1F83-A465-4946-89AF-8453DF67C486}"/>
              </a:ext>
            </a:extLst>
          </p:cNvPr>
          <p:cNvSpPr txBox="1"/>
          <p:nvPr/>
        </p:nvSpPr>
        <p:spPr>
          <a:xfrm>
            <a:off x="4728852" y="63168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25AD7E0-728F-46F8-AE37-40547E96A81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210684" y="4852761"/>
            <a:ext cx="936104" cy="142776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E0FF3F0-BFB9-4E6B-8BF1-8CC3DE5DB06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358286" y="4895768"/>
            <a:ext cx="1701866" cy="94316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3DF9A6E-4149-4709-BC06-2B8DAD564737}"/>
              </a:ext>
            </a:extLst>
          </p:cNvPr>
          <p:cNvCxnSpPr>
            <a:cxnSpLocks/>
          </p:cNvCxnSpPr>
          <p:nvPr/>
        </p:nvCxnSpPr>
        <p:spPr bwMode="auto">
          <a:xfrm flipV="1">
            <a:off x="3969502" y="4841372"/>
            <a:ext cx="0" cy="9975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D5B9CF2-273D-428D-8783-550EBC6E5CA0}"/>
              </a:ext>
            </a:extLst>
          </p:cNvPr>
          <p:cNvGrpSpPr/>
          <p:nvPr/>
        </p:nvGrpSpPr>
        <p:grpSpPr>
          <a:xfrm>
            <a:off x="3087839" y="4318151"/>
            <a:ext cx="3398156" cy="568325"/>
            <a:chOff x="3087839" y="4318151"/>
            <a:chExt cx="3398156" cy="568325"/>
          </a:xfrm>
        </p:grpSpPr>
        <p:sp>
          <p:nvSpPr>
            <p:cNvPr id="19" name="TextBox 18"/>
            <p:cNvSpPr txBox="1"/>
            <p:nvPr/>
          </p:nvSpPr>
          <p:spPr>
            <a:xfrm>
              <a:off x="3087839" y="4318151"/>
              <a:ext cx="3561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a</a:t>
              </a:r>
              <a:endParaRPr lang="zh-CN" altLang="en-US" sz="28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C0CEF56-5D80-4E59-A2EB-C9FAC1065074}"/>
                </a:ext>
              </a:extLst>
            </p:cNvPr>
            <p:cNvSpPr/>
            <p:nvPr/>
          </p:nvSpPr>
          <p:spPr bwMode="auto">
            <a:xfrm>
              <a:off x="3473723" y="4444846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tx1"/>
                  </a:solidFill>
                  <a:latin typeface="Tahoma" pitchFamily="34" charset="0"/>
                  <a:ea typeface="Dotum" pitchFamily="34" charset="-127"/>
                </a:rPr>
                <a:t>5</a:t>
              </a: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E1DDE6E3-DAB7-402C-A361-D9212BBF38BA}"/>
                </a:ext>
              </a:extLst>
            </p:cNvPr>
            <p:cNvSpPr txBox="1"/>
            <p:nvPr/>
          </p:nvSpPr>
          <p:spPr>
            <a:xfrm>
              <a:off x="5176071" y="4363256"/>
              <a:ext cx="3738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/>
                <a:t>b</a:t>
              </a:r>
              <a:endParaRPr lang="zh-CN" altLang="en-US" sz="2800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93438D8-AC76-405A-B552-1124CED55280}"/>
                </a:ext>
              </a:extLst>
            </p:cNvPr>
            <p:cNvSpPr/>
            <p:nvPr/>
          </p:nvSpPr>
          <p:spPr bwMode="auto">
            <a:xfrm>
              <a:off x="5549891" y="4410907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tx1"/>
                  </a:solidFill>
                  <a:latin typeface="Tahoma" pitchFamily="34" charset="0"/>
                  <a:ea typeface="Dotum" pitchFamily="34" charset="-127"/>
                </a:rPr>
                <a:t>10</a:t>
              </a: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42AC588-C072-43B3-A84C-D544C485B2D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873277" y="4777773"/>
            <a:ext cx="368988" cy="107394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9480525-07D4-42A9-A092-DB87AC6753A1}"/>
              </a:ext>
            </a:extLst>
          </p:cNvPr>
          <p:cNvSpPr txBox="1"/>
          <p:nvPr/>
        </p:nvSpPr>
        <p:spPr>
          <a:xfrm>
            <a:off x="6004304" y="5970766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6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8F00B8B-7A6A-453C-86D4-B7CAB84E6670}"/>
              </a:ext>
            </a:extLst>
          </p:cNvPr>
          <p:cNvSpPr txBox="1"/>
          <p:nvPr/>
        </p:nvSpPr>
        <p:spPr>
          <a:xfrm>
            <a:off x="3520676" y="58615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6AC25B2-977F-4D79-BBEF-69CA16479522}"/>
              </a:ext>
            </a:extLst>
          </p:cNvPr>
          <p:cNvSpPr txBox="1"/>
          <p:nvPr/>
        </p:nvSpPr>
        <p:spPr>
          <a:xfrm>
            <a:off x="3474050" y="5949280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&amp;b</a:t>
            </a:r>
            <a:endParaRPr lang="zh-CN" altLang="en-US" sz="16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774E322-35AC-42D2-9B08-8C4C4962EE5D}"/>
              </a:ext>
            </a:extLst>
          </p:cNvPr>
          <p:cNvCxnSpPr>
            <a:cxnSpLocks/>
          </p:cNvCxnSpPr>
          <p:nvPr/>
        </p:nvCxnSpPr>
        <p:spPr bwMode="auto">
          <a:xfrm flipV="1">
            <a:off x="4053480" y="4816448"/>
            <a:ext cx="1724587" cy="10224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7B2682F0-9E80-4895-A464-148CC48C8425}"/>
              </a:ext>
            </a:extLst>
          </p:cNvPr>
          <p:cNvSpPr txBox="1"/>
          <p:nvPr/>
        </p:nvSpPr>
        <p:spPr>
          <a:xfrm>
            <a:off x="8030594" y="3367628"/>
            <a:ext cx="3568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1.*p=5,*q=10</a:t>
            </a:r>
          </a:p>
          <a:p>
            <a:r>
              <a:rPr lang="en-US" altLang="zh-CN" sz="4000" b="1" dirty="0">
                <a:solidFill>
                  <a:srgbClr val="FF0000"/>
                </a:solidFill>
              </a:rPr>
              <a:t>2.*p=5,*q=10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47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/>
      <p:bldP spid="28" grpId="0"/>
      <p:bldP spid="33" grpId="0" animBg="1"/>
      <p:bldP spid="34" grpId="0"/>
      <p:bldP spid="35" grpId="0" animBg="1"/>
      <p:bldP spid="42" grpId="0"/>
      <p:bldP spid="43" grpId="0"/>
      <p:bldP spid="46" grpId="0"/>
      <p:bldP spid="63" grpId="0" animBg="1"/>
      <p:bldP spid="59" grpId="0"/>
      <p:bldP spid="52" grpId="0" animBg="1"/>
      <p:bldP spid="6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8463" y="289832"/>
            <a:ext cx="5374940" cy="3861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/>
              <a:t>#include&lt;stdio.h&gt;</a:t>
            </a:r>
          </a:p>
          <a:p>
            <a:pPr marL="0" indent="0">
              <a:buNone/>
            </a:pPr>
            <a:r>
              <a:rPr lang="en-US" altLang="zh-CN" sz="2400" b="1"/>
              <a:t>void fun(int **,int **);</a:t>
            </a:r>
          </a:p>
          <a:p>
            <a:pPr marL="0" indent="0">
              <a:buNone/>
            </a:pPr>
            <a:r>
              <a:rPr lang="en-US" altLang="zh-CN" sz="2400" b="1"/>
              <a:t>main()</a:t>
            </a:r>
          </a:p>
          <a:p>
            <a:pPr marL="0" indent="0">
              <a:buNone/>
            </a:pPr>
            <a:r>
              <a:rPr lang="en-US" altLang="zh-CN" sz="2400" b="1"/>
              <a:t>{</a:t>
            </a:r>
          </a:p>
          <a:p>
            <a:pPr marL="0" indent="0">
              <a:buNone/>
            </a:pPr>
            <a:r>
              <a:rPr lang="en-US" altLang="zh-CN" sz="2400" b="1"/>
              <a:t>	int a=5,b=10;</a:t>
            </a:r>
          </a:p>
          <a:p>
            <a:pPr marL="0" indent="0">
              <a:buNone/>
            </a:pPr>
            <a:r>
              <a:rPr lang="en-US" altLang="zh-CN" sz="2400" b="1"/>
              <a:t>	int *p=&amp;a,*q=&amp;b;</a:t>
            </a:r>
          </a:p>
          <a:p>
            <a:pPr marL="0" indent="0">
              <a:buNone/>
            </a:pPr>
            <a:r>
              <a:rPr lang="en-US" altLang="zh-CN" sz="2400" b="1"/>
              <a:t>	printf("1.*p=%d,*q=%d\n",*p,*q);</a:t>
            </a:r>
          </a:p>
          <a:p>
            <a:pPr marL="0" indent="0">
              <a:buNone/>
            </a:pPr>
            <a:r>
              <a:rPr lang="en-US" altLang="zh-CN" sz="2400" b="1"/>
              <a:t>	fun(&amp;p,&amp;q);</a:t>
            </a:r>
          </a:p>
          <a:p>
            <a:pPr marL="0" indent="0">
              <a:buNone/>
            </a:pPr>
            <a:r>
              <a:rPr lang="en-US" altLang="zh-CN" sz="2400" b="1"/>
              <a:t>	printf("2.*p=%d,*q=%d\n",*p,*q);</a:t>
            </a:r>
          </a:p>
          <a:p>
            <a:pPr marL="0" indent="0">
              <a:buNone/>
            </a:pPr>
            <a:r>
              <a:rPr lang="en-US" altLang="zh-CN" sz="2400" b="1"/>
              <a:t>}</a:t>
            </a:r>
          </a:p>
          <a:p>
            <a:pPr marL="0" indent="0">
              <a:buNone/>
            </a:pPr>
            <a:endParaRPr lang="zh-CN" altLang="en-US" sz="2400" b="1" dirty="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6605AD5-D926-477A-9746-E2168F9FA3E3}"/>
              </a:ext>
            </a:extLst>
          </p:cNvPr>
          <p:cNvGrpSpPr/>
          <p:nvPr/>
        </p:nvGrpSpPr>
        <p:grpSpPr>
          <a:xfrm>
            <a:off x="1796231" y="5327628"/>
            <a:ext cx="1160621" cy="369332"/>
            <a:chOff x="1796231" y="5327628"/>
            <a:chExt cx="1160621" cy="369332"/>
          </a:xfrm>
        </p:grpSpPr>
        <p:sp>
          <p:nvSpPr>
            <p:cNvPr id="6" name="矩形 5"/>
            <p:cNvSpPr/>
            <p:nvPr/>
          </p:nvSpPr>
          <p:spPr bwMode="auto">
            <a:xfrm>
              <a:off x="2020748" y="5336920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96231" y="532762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</a:t>
              </a:r>
              <a:endParaRPr lang="zh-CN" altLang="en-US" dirty="0"/>
            </a:p>
          </p:txBody>
        </p:sp>
      </p:grpSp>
      <p:cxnSp>
        <p:nvCxnSpPr>
          <p:cNvPr id="9" name="直接箭头连接符 8"/>
          <p:cNvCxnSpPr>
            <a:cxnSpLocks/>
          </p:cNvCxnSpPr>
          <p:nvPr/>
        </p:nvCxnSpPr>
        <p:spPr bwMode="auto">
          <a:xfrm flipV="1">
            <a:off x="2855640" y="4869160"/>
            <a:ext cx="936104" cy="43326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8CF7BD8-ABD1-41C6-B4F0-DD956EF8F300}"/>
              </a:ext>
            </a:extLst>
          </p:cNvPr>
          <p:cNvGrpSpPr/>
          <p:nvPr/>
        </p:nvGrpSpPr>
        <p:grpSpPr>
          <a:xfrm>
            <a:off x="7119399" y="5269611"/>
            <a:ext cx="1316862" cy="386104"/>
            <a:chOff x="7119399" y="5269611"/>
            <a:chExt cx="1316862" cy="386104"/>
          </a:xfrm>
        </p:grpSpPr>
        <p:sp>
          <p:nvSpPr>
            <p:cNvPr id="12" name="矩形 11"/>
            <p:cNvSpPr/>
            <p:nvPr/>
          </p:nvSpPr>
          <p:spPr bwMode="auto">
            <a:xfrm>
              <a:off x="7500157" y="5295675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19399" y="52696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q</a:t>
              </a:r>
              <a:endParaRPr lang="zh-CN" altLang="en-US" dirty="0"/>
            </a:p>
          </p:txBody>
        </p:sp>
      </p:grpSp>
      <p:cxnSp>
        <p:nvCxnSpPr>
          <p:cNvPr id="16" name="直接箭头连接符 15"/>
          <p:cNvCxnSpPr>
            <a:cxnSpLocks/>
          </p:cNvCxnSpPr>
          <p:nvPr/>
        </p:nvCxnSpPr>
        <p:spPr bwMode="auto">
          <a:xfrm flipH="1" flipV="1">
            <a:off x="6183295" y="4802197"/>
            <a:ext cx="1872208" cy="44613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B11EDF5-2A54-46F5-B492-885EB29C0307}"/>
              </a:ext>
            </a:extLst>
          </p:cNvPr>
          <p:cNvSpPr txBox="1"/>
          <p:nvPr/>
        </p:nvSpPr>
        <p:spPr>
          <a:xfrm>
            <a:off x="6960096" y="363404"/>
            <a:ext cx="37444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b="1"/>
              <a:t>void fun(int **x,int **y)</a:t>
            </a:r>
          </a:p>
          <a:p>
            <a:pPr marL="0" indent="0">
              <a:buNone/>
            </a:pPr>
            <a:r>
              <a:rPr lang="en-US" altLang="zh-CN" sz="2400" b="1"/>
              <a:t>{</a:t>
            </a:r>
          </a:p>
          <a:p>
            <a:pPr marL="0" indent="0">
              <a:buNone/>
            </a:pPr>
            <a:r>
              <a:rPr lang="en-US" altLang="zh-CN" sz="2400" b="1"/>
              <a:t>	int *t;</a:t>
            </a:r>
          </a:p>
          <a:p>
            <a:pPr marL="0" indent="0">
              <a:buNone/>
            </a:pPr>
            <a:r>
              <a:rPr lang="en-US" altLang="zh-CN" sz="2400" b="1"/>
              <a:t>	t=*x;</a:t>
            </a:r>
          </a:p>
          <a:p>
            <a:pPr marL="0" indent="0">
              <a:buNone/>
            </a:pPr>
            <a:r>
              <a:rPr lang="en-US" altLang="zh-CN" sz="2400" b="1"/>
              <a:t>	*x=*y;</a:t>
            </a:r>
          </a:p>
          <a:p>
            <a:pPr marL="0" indent="0">
              <a:buNone/>
            </a:pPr>
            <a:r>
              <a:rPr lang="en-US" altLang="zh-CN" sz="2400" b="1"/>
              <a:t>	*y=t;</a:t>
            </a:r>
          </a:p>
          <a:p>
            <a:pPr marL="0" indent="0">
              <a:buNone/>
            </a:pPr>
            <a:r>
              <a:rPr lang="en-US" altLang="zh-CN" sz="2400" b="1"/>
              <a:t>}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4F55B1-8D05-463A-B344-E906C67AA0D4}"/>
              </a:ext>
            </a:extLst>
          </p:cNvPr>
          <p:cNvSpPr/>
          <p:nvPr/>
        </p:nvSpPr>
        <p:spPr bwMode="auto">
          <a:xfrm>
            <a:off x="3464837" y="5923730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85C0E6D-9879-4AF9-81B0-5B303013FF31}"/>
              </a:ext>
            </a:extLst>
          </p:cNvPr>
          <p:cNvSpPr/>
          <p:nvPr/>
        </p:nvSpPr>
        <p:spPr bwMode="auto">
          <a:xfrm>
            <a:off x="5953403" y="596903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469F027-E645-4382-904B-1384360B53ED}"/>
              </a:ext>
            </a:extLst>
          </p:cNvPr>
          <p:cNvSpPr txBox="1"/>
          <p:nvPr/>
        </p:nvSpPr>
        <p:spPr>
          <a:xfrm>
            <a:off x="5664541" y="591406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y</a:t>
            </a:r>
            <a:endParaRPr lang="zh-CN" altLang="en-US" dirty="0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6A7E1602-3AFB-43FE-8A60-4D1ED6090102}"/>
              </a:ext>
            </a:extLst>
          </p:cNvPr>
          <p:cNvSpPr txBox="1"/>
          <p:nvPr/>
        </p:nvSpPr>
        <p:spPr>
          <a:xfrm>
            <a:off x="3155165" y="595974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x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4994CC-D487-42EB-AA63-AC2B2EFD6946}"/>
              </a:ext>
            </a:extLst>
          </p:cNvPr>
          <p:cNvSpPr/>
          <p:nvPr/>
        </p:nvSpPr>
        <p:spPr bwMode="auto">
          <a:xfrm>
            <a:off x="4622390" y="632907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65E9CA7C-25FA-4CA2-A2F6-B93E0DF702F0}"/>
              </a:ext>
            </a:extLst>
          </p:cNvPr>
          <p:cNvSpPr txBox="1"/>
          <p:nvPr/>
        </p:nvSpPr>
        <p:spPr>
          <a:xfrm>
            <a:off x="4227481" y="632839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F6DB9B7-C4B4-4676-906B-12709A469F01}"/>
              </a:ext>
            </a:extLst>
          </p:cNvPr>
          <p:cNvSpPr txBox="1"/>
          <p:nvPr/>
        </p:nvSpPr>
        <p:spPr>
          <a:xfrm>
            <a:off x="6004304" y="59475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Dotum" pitchFamily="34" charset="-127"/>
              </a:rPr>
              <a:t>&amp;q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0BF2274-1879-48C8-8F8B-6DB413F90402}"/>
              </a:ext>
            </a:extLst>
          </p:cNvPr>
          <p:cNvSpPr txBox="1"/>
          <p:nvPr/>
        </p:nvSpPr>
        <p:spPr>
          <a:xfrm>
            <a:off x="2097033" y="53369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3403D32-4F14-4DC5-8FBF-33DFA9B415A6}"/>
              </a:ext>
            </a:extLst>
          </p:cNvPr>
          <p:cNvSpPr txBox="1"/>
          <p:nvPr/>
        </p:nvSpPr>
        <p:spPr>
          <a:xfrm>
            <a:off x="7711880" y="5279503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&amp;b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4A1F83-A465-4946-89AF-8453DF67C486}"/>
              </a:ext>
            </a:extLst>
          </p:cNvPr>
          <p:cNvSpPr txBox="1"/>
          <p:nvPr/>
        </p:nvSpPr>
        <p:spPr>
          <a:xfrm>
            <a:off x="4728852" y="6316835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8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25AD7E0-728F-46F8-AE37-40547E96A81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210684" y="4852761"/>
            <a:ext cx="936104" cy="142776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E0FF3F0-BFB9-4E6B-8BF1-8CC3DE5DB061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 flipH="1" flipV="1">
            <a:off x="4358287" y="4895769"/>
            <a:ext cx="3072416" cy="55850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3DF9A6E-4149-4709-BC06-2B8DAD56473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087839" y="5638943"/>
            <a:ext cx="881663" cy="19999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D5B9CF2-273D-428D-8783-550EBC6E5CA0}"/>
              </a:ext>
            </a:extLst>
          </p:cNvPr>
          <p:cNvGrpSpPr/>
          <p:nvPr/>
        </p:nvGrpSpPr>
        <p:grpSpPr>
          <a:xfrm>
            <a:off x="3087839" y="4318151"/>
            <a:ext cx="3398156" cy="568325"/>
            <a:chOff x="3087839" y="4318151"/>
            <a:chExt cx="3398156" cy="568325"/>
          </a:xfrm>
        </p:grpSpPr>
        <p:sp>
          <p:nvSpPr>
            <p:cNvPr id="19" name="TextBox 18"/>
            <p:cNvSpPr txBox="1"/>
            <p:nvPr/>
          </p:nvSpPr>
          <p:spPr>
            <a:xfrm>
              <a:off x="3087839" y="4318151"/>
              <a:ext cx="3561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/>
                <a:t>a</a:t>
              </a:r>
              <a:endParaRPr lang="zh-CN" altLang="en-US" sz="28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C0CEF56-5D80-4E59-A2EB-C9FAC1065074}"/>
                </a:ext>
              </a:extLst>
            </p:cNvPr>
            <p:cNvSpPr/>
            <p:nvPr/>
          </p:nvSpPr>
          <p:spPr bwMode="auto">
            <a:xfrm>
              <a:off x="3473723" y="4444846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tx1"/>
                  </a:solidFill>
                  <a:latin typeface="Tahoma" pitchFamily="34" charset="0"/>
                  <a:ea typeface="Dotum" pitchFamily="34" charset="-127"/>
                </a:rPr>
                <a:t>5</a:t>
              </a: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E1DDE6E3-DAB7-402C-A361-D9212BBF38BA}"/>
                </a:ext>
              </a:extLst>
            </p:cNvPr>
            <p:cNvSpPr txBox="1"/>
            <p:nvPr/>
          </p:nvSpPr>
          <p:spPr>
            <a:xfrm>
              <a:off x="5176071" y="4363256"/>
              <a:ext cx="3738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/>
                <a:t>b</a:t>
              </a:r>
              <a:endParaRPr lang="zh-CN" altLang="en-US" sz="2800" dirty="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293438D8-AC76-405A-B552-1124CED55280}"/>
                </a:ext>
              </a:extLst>
            </p:cNvPr>
            <p:cNvSpPr/>
            <p:nvPr/>
          </p:nvSpPr>
          <p:spPr bwMode="auto">
            <a:xfrm>
              <a:off x="5549891" y="4410907"/>
              <a:ext cx="936104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>
                  <a:solidFill>
                    <a:schemeClr val="tx1"/>
                  </a:solidFill>
                  <a:latin typeface="Tahoma" pitchFamily="34" charset="0"/>
                  <a:ea typeface="Dotum" pitchFamily="34" charset="-127"/>
                </a:rPr>
                <a:t>10</a:t>
              </a:r>
              <a:endParaRPr lang="zh-CN" altLang="en-US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endParaRPr>
            </a:p>
          </p:txBody>
        </p:sp>
      </p:grp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D42AC588-C072-43B3-A84C-D544C485B2DB}"/>
              </a:ext>
            </a:extLst>
          </p:cNvPr>
          <p:cNvCxnSpPr>
            <a:cxnSpLocks/>
          </p:cNvCxnSpPr>
          <p:nvPr/>
        </p:nvCxnSpPr>
        <p:spPr bwMode="auto">
          <a:xfrm flipV="1">
            <a:off x="6242265" y="5638943"/>
            <a:ext cx="1188438" cy="21277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B9480525-07D4-42A9-A092-DB87AC6753A1}"/>
              </a:ext>
            </a:extLst>
          </p:cNvPr>
          <p:cNvSpPr txBox="1"/>
          <p:nvPr/>
        </p:nvSpPr>
        <p:spPr>
          <a:xfrm>
            <a:off x="7587921" y="5285000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</a:t>
            </a:r>
            <a:endParaRPr lang="zh-CN" altLang="en-US" sz="16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8F00B8B-7A6A-453C-86D4-B7CAB84E6670}"/>
              </a:ext>
            </a:extLst>
          </p:cNvPr>
          <p:cNvSpPr txBox="1"/>
          <p:nvPr/>
        </p:nvSpPr>
        <p:spPr>
          <a:xfrm>
            <a:off x="3520676" y="58615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Dotum" pitchFamily="34" charset="-127"/>
              </a:rPr>
              <a:t>&amp;p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Dotum" pitchFamily="34" charset="-127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6AC25B2-977F-4D79-BBEF-69CA16479522}"/>
              </a:ext>
            </a:extLst>
          </p:cNvPr>
          <p:cNvSpPr txBox="1"/>
          <p:nvPr/>
        </p:nvSpPr>
        <p:spPr>
          <a:xfrm>
            <a:off x="2052633" y="5336920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&amp;b</a:t>
            </a:r>
            <a:endParaRPr lang="zh-CN" altLang="en-US" sz="16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774E322-35AC-42D2-9B08-8C4C4962EE5D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7839" y="4816448"/>
            <a:ext cx="2690228" cy="62877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7B2682F0-9E80-4895-A464-148CC48C8425}"/>
              </a:ext>
            </a:extLst>
          </p:cNvPr>
          <p:cNvSpPr txBox="1"/>
          <p:nvPr/>
        </p:nvSpPr>
        <p:spPr>
          <a:xfrm>
            <a:off x="8629566" y="3452370"/>
            <a:ext cx="3568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1.*p=5,*q=10</a:t>
            </a:r>
          </a:p>
          <a:p>
            <a:r>
              <a:rPr lang="en-US" altLang="zh-CN" sz="4000" b="1" dirty="0">
                <a:solidFill>
                  <a:srgbClr val="FF0000"/>
                </a:solidFill>
              </a:rPr>
              <a:t>2.*p=10,*q=5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09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/>
      <p:bldP spid="28" grpId="0"/>
      <p:bldP spid="33" grpId="0" animBg="1"/>
      <p:bldP spid="34" grpId="0"/>
      <p:bldP spid="35" grpId="0"/>
      <p:bldP spid="42" grpId="0"/>
      <p:bldP spid="43" grpId="0"/>
      <p:bldP spid="46" grpId="0"/>
      <p:bldP spid="63" grpId="0" animBg="1"/>
      <p:bldP spid="59" grpId="0"/>
      <p:bldP spid="52" grpId="0" animBg="1"/>
      <p:bldP spid="6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954" y="243422"/>
            <a:ext cx="8543292" cy="57475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/>
              <a:t>#include &lt;stdio.h&gt;</a:t>
            </a:r>
          </a:p>
          <a:p>
            <a:pPr marL="0" indent="0">
              <a:buNone/>
            </a:pPr>
            <a:r>
              <a:rPr lang="en-US" altLang="zh-CN" sz="2400" b="1" dirty="0"/>
              <a:t>void test(int *);</a:t>
            </a:r>
          </a:p>
          <a:p>
            <a:pPr marL="0" indent="0">
              <a:buNone/>
            </a:pPr>
            <a:r>
              <a:rPr lang="en-US" altLang="zh-CN" sz="2400" b="1" dirty="0"/>
              <a:t>main()</a:t>
            </a:r>
          </a:p>
          <a:p>
            <a:pPr marL="0" indent="0"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buNone/>
            </a:pPr>
            <a:r>
              <a:rPr lang="en-US" altLang="zh-CN" sz="2400" b="1" dirty="0"/>
              <a:t>	int a[10]={10,20,30,40,50,60,70,80,90,100},*p=a;</a:t>
            </a:r>
          </a:p>
          <a:p>
            <a:pPr marL="0" indent="0">
              <a:buNone/>
            </a:pPr>
            <a:r>
              <a:rPr lang="en-US" altLang="zh-CN" sz="2400" b="1" dirty="0"/>
              <a:t>	test(p);</a:t>
            </a:r>
          </a:p>
          <a:p>
            <a:pPr marL="0" indent="0">
              <a:buNone/>
            </a:pPr>
            <a:r>
              <a:rPr lang="en-US" altLang="zh-CN" sz="2400" b="1" dirty="0"/>
              <a:t>	printf("%d\n",*p);</a:t>
            </a:r>
          </a:p>
          <a:p>
            <a:pPr marL="0" indent="0">
              <a:buNone/>
            </a:pPr>
            <a:r>
              <a:rPr lang="en-US" altLang="zh-CN" sz="2400" b="1" dirty="0"/>
              <a:t>}</a:t>
            </a:r>
          </a:p>
          <a:p>
            <a:pPr marL="0" indent="0">
              <a:buNone/>
            </a:pPr>
            <a:r>
              <a:rPr lang="en-US" altLang="zh-CN" sz="2400" b="1" dirty="0"/>
              <a:t>void test(int *q)</a:t>
            </a:r>
          </a:p>
          <a:p>
            <a:pPr marL="0" indent="0"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buNone/>
            </a:pPr>
            <a:r>
              <a:rPr lang="en-US" altLang="zh-CN" sz="2400" b="1" dirty="0"/>
              <a:t>	q+=2;</a:t>
            </a:r>
          </a:p>
          <a:p>
            <a:pPr marL="0" indent="0"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264205" y="5389765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</a:rPr>
              <a:t>10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503712" y="4437112"/>
          <a:ext cx="6264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3537162" y="580526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&amp;a[0]</a:t>
            </a: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25858" y="57753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3791744" y="4869160"/>
            <a:ext cx="72008" cy="906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5231904" y="580526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&amp;a[0]</a:t>
            </a: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20600" y="57753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 bwMode="auto">
          <a:xfrm flipH="1" flipV="1">
            <a:off x="4005214" y="4869160"/>
            <a:ext cx="1553280" cy="906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H="1" flipV="1">
            <a:off x="5076252" y="4841371"/>
            <a:ext cx="482242" cy="906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87839" y="4318151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1956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2" grpId="0" animBg="1"/>
      <p:bldP spid="12" grpId="1" animBg="1"/>
      <p:bldP spid="13" grpId="0"/>
      <p:bldP spid="13" grpId="1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5800" y="20918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/>
              <a:t>#include &lt;stdio.h&gt;</a:t>
            </a:r>
          </a:p>
          <a:p>
            <a:pPr marL="0" indent="0">
              <a:buNone/>
            </a:pPr>
            <a:r>
              <a:rPr lang="en-US" altLang="zh-CN" sz="2400" b="1" dirty="0"/>
              <a:t>void test(int **);</a:t>
            </a:r>
          </a:p>
          <a:p>
            <a:pPr marL="0" indent="0">
              <a:buNone/>
            </a:pPr>
            <a:r>
              <a:rPr lang="en-US" altLang="zh-CN" sz="2400" b="1" dirty="0"/>
              <a:t>main()</a:t>
            </a:r>
          </a:p>
          <a:p>
            <a:pPr marL="0" indent="0"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buNone/>
            </a:pPr>
            <a:r>
              <a:rPr lang="en-US" altLang="zh-CN" sz="2400" b="1" dirty="0"/>
              <a:t>	int a[10]={10,20,30,40,50,60,70,80,90,100},*p=a;</a:t>
            </a:r>
          </a:p>
          <a:p>
            <a:pPr marL="0" indent="0">
              <a:buNone/>
            </a:pPr>
            <a:r>
              <a:rPr lang="en-US" altLang="zh-CN" sz="2400" b="1" dirty="0"/>
              <a:t>	test(&amp;p);</a:t>
            </a:r>
          </a:p>
          <a:p>
            <a:pPr marL="0" indent="0">
              <a:buNone/>
            </a:pPr>
            <a:r>
              <a:rPr lang="en-US" altLang="zh-CN" sz="2400" b="1" dirty="0"/>
              <a:t>	printf("%d\n",*p);</a:t>
            </a:r>
          </a:p>
          <a:p>
            <a:pPr marL="0" indent="0">
              <a:buNone/>
            </a:pPr>
            <a:r>
              <a:rPr lang="en-US" altLang="zh-CN" sz="2400" b="1" dirty="0"/>
              <a:t>}</a:t>
            </a:r>
          </a:p>
          <a:p>
            <a:pPr marL="0" indent="0">
              <a:buNone/>
            </a:pPr>
            <a:r>
              <a:rPr lang="en-US" altLang="zh-CN" sz="2400" b="1" dirty="0"/>
              <a:t>void test(int **q)</a:t>
            </a:r>
          </a:p>
          <a:p>
            <a:pPr marL="0" indent="0">
              <a:buNone/>
            </a:pPr>
            <a:r>
              <a:rPr lang="en-US" altLang="zh-CN" sz="2400" b="1" dirty="0"/>
              <a:t>{</a:t>
            </a:r>
          </a:p>
          <a:p>
            <a:pPr marL="0" indent="0">
              <a:buNone/>
            </a:pPr>
            <a:r>
              <a:rPr lang="en-US" altLang="zh-CN" sz="2400" b="1" dirty="0"/>
              <a:t>	*q+=2;</a:t>
            </a:r>
          </a:p>
          <a:p>
            <a:pPr marL="0" indent="0">
              <a:buNone/>
            </a:pPr>
            <a:r>
              <a:rPr lang="en-US" altLang="zh-CN" sz="2400" b="1" dirty="0"/>
              <a:t>}</a:t>
            </a:r>
            <a:endParaRPr lang="zh-CN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752184" y="5544479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</a:rPr>
              <a:t>30</a:t>
            </a:r>
            <a:endParaRPr lang="zh-CN" altLang="en-US" sz="4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79235"/>
              </p:ext>
            </p:extLst>
          </p:nvPr>
        </p:nvGraphicFramePr>
        <p:xfrm>
          <a:off x="3503712" y="4437112"/>
          <a:ext cx="62647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4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3537162" y="580526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&amp;a[0]</a:t>
            </a: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25858" y="57753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3791744" y="4869160"/>
            <a:ext cx="72008" cy="906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5231904" y="5805264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&amp;p</a:t>
            </a: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20600" y="57753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stCxn id="13" idx="3"/>
            <a:endCxn id="6" idx="3"/>
          </p:cNvCxnSpPr>
          <p:nvPr/>
        </p:nvCxnSpPr>
        <p:spPr bwMode="auto">
          <a:xfrm flipH="1">
            <a:off x="4473266" y="5959978"/>
            <a:ext cx="758638" cy="2530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V="1">
            <a:off x="3863752" y="4841371"/>
            <a:ext cx="1056848" cy="90615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87839" y="4318151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</a:t>
            </a:r>
            <a:endParaRPr lang="zh-CN" altLang="en-US" sz="2800" dirty="0"/>
          </a:p>
        </p:txBody>
      </p:sp>
      <p:sp>
        <p:nvSpPr>
          <p:cNvPr id="18" name="矩形 17"/>
          <p:cNvSpPr/>
          <p:nvPr/>
        </p:nvSpPr>
        <p:spPr bwMode="auto">
          <a:xfrm>
            <a:off x="3537162" y="5800692"/>
            <a:ext cx="936104" cy="3600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Tahoma" pitchFamily="34" charset="0"/>
                <a:ea typeface="Dotum" pitchFamily="34" charset="-127"/>
              </a:rPr>
              <a:t>&amp;a[2]</a:t>
            </a:r>
            <a:endParaRPr lang="zh-CN" altLang="en-US" sz="2400" dirty="0">
              <a:solidFill>
                <a:schemeClr val="tx1"/>
              </a:solidFill>
              <a:latin typeface="Tahoma" pitchFamily="34" charset="0"/>
              <a:ea typeface="Dot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863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2" grpId="0" animBg="1"/>
      <p:bldP spid="12" grpId="1" animBg="1"/>
      <p:bldP spid="13" grpId="0"/>
      <p:bldP spid="13" grpId="1"/>
      <p:bldP spid="13" grpId="2"/>
      <p:bldP spid="19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EF1AAF3-0E37-4ED0-9A27-6C45D6E622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0C6A47-7166-4625-81FA-6845F4183A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 include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&lt;stdio.h&gt;</a:t>
            </a:r>
            <a:endParaRPr lang="en-US" altLang="zh-CN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void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fun(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**,</a:t>
            </a:r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*);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main( )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 </a:t>
            </a:r>
          </a:p>
          <a:p>
            <a:r>
              <a:rPr lang="en-US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int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a=3,b=5,*p=&amp;a;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fun(&amp;p,&amp;b);</a:t>
            </a:r>
          </a:p>
          <a:p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printf(</a:t>
            </a:r>
            <a:r>
              <a:rPr lang="pt-BR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“%d,%d\n”</a:t>
            </a:r>
            <a:r>
              <a:rPr lang="pt-BR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,a,b);//</a:t>
            </a:r>
            <a:r>
              <a:rPr lang="zh-CN" altLang="en-US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此处输出</a:t>
            </a:r>
            <a:r>
              <a:rPr lang="zh-CN" altLang="en-US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填空</a:t>
            </a:r>
            <a:r>
              <a:rPr lang="en-US" altLang="zh-CN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1]</a:t>
            </a:r>
            <a:r>
              <a:rPr lang="en-US" altLang="zh-CN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pt-BR" altLang="zh-CN" sz="2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printf(</a:t>
            </a:r>
            <a:r>
              <a:rPr lang="en-US" altLang="zh-CN" sz="2800">
                <a:solidFill>
                  <a:srgbClr val="A315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“%d\n”</a:t>
            </a:r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,*p);    //</a:t>
            </a:r>
            <a:r>
              <a:rPr lang="zh-CN" altLang="en-US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此处输出</a:t>
            </a:r>
            <a:r>
              <a:rPr lang="zh-CN" altLang="en-US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填空</a:t>
            </a:r>
            <a:r>
              <a:rPr lang="en-US" altLang="zh-CN" sz="2800">
                <a:solidFill>
                  <a:srgbClr val="639EF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2]</a:t>
            </a:r>
            <a:r>
              <a:rPr lang="en-US" altLang="zh-CN" sz="28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lang="sv-SE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void</a:t>
            </a:r>
            <a:r>
              <a:rPr lang="sv-SE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fun(</a:t>
            </a:r>
            <a:r>
              <a:rPr lang="sv-SE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sv-SE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**pp,</a:t>
            </a:r>
            <a:r>
              <a:rPr lang="sv-SE" altLang="zh-CN" sz="2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sv-SE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*pb)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*pb*=2;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*pp=pb;</a:t>
            </a:r>
          </a:p>
          <a:p>
            <a:r>
              <a:rPr lang="en-US" altLang="zh-CN" sz="280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EBBECE-4CAF-4128-9E1E-D2126C073A0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40498A2-E02A-4CE4-972D-0A3BF8ECBA7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ADB2A47-5702-4957-934B-E9B0BD509CD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64C6B34-A06F-44BF-AEA2-70E15375005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39D9AA0A-9905-42F9-848A-7AFF1BCDE61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4222D62-ED01-4542-ADFD-A8EBDE436B5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8285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260351"/>
            <a:ext cx="7772400" cy="701675"/>
          </a:xfrm>
        </p:spPr>
        <p:txBody>
          <a:bodyPr/>
          <a:lstStyle/>
          <a:p>
            <a:pPr eaLnBrk="1" hangingPunct="1"/>
            <a:r>
              <a:rPr lang="zh-CN" altLang="en-US" sz="4000"/>
              <a:t>指针数组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0" y="1268413"/>
            <a:ext cx="8064500" cy="4754562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zh-CN" altLang="en-US" dirty="0"/>
              <a:t>指针数组： 元素类型为指针的数组</a:t>
            </a:r>
          </a:p>
          <a:p>
            <a:pPr lvl="1">
              <a:spcAft>
                <a:spcPts val="3000"/>
              </a:spcAft>
            </a:pPr>
            <a:r>
              <a:rPr lang="zh-CN" altLang="en-US" dirty="0"/>
              <a:t>格式：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类型标识  * 数组名[整型常量表达式];</a:t>
            </a:r>
          </a:p>
          <a:p>
            <a:pPr lvl="1">
              <a:spcAft>
                <a:spcPts val="3000"/>
              </a:spcAft>
            </a:pPr>
            <a:r>
              <a:rPr lang="zh-CN" altLang="en-US" dirty="0"/>
              <a:t>例：</a:t>
            </a:r>
            <a:r>
              <a:rPr lang="en-US" altLang="zh-CN" dirty="0">
                <a:latin typeface="Palatino Linotype" pitchFamily="18" charset="0"/>
                <a:ea typeface="华文楷体" pitchFamily="2" charset="-122"/>
              </a:rPr>
              <a:t>int * </a:t>
            </a:r>
            <a:r>
              <a:rPr lang="en-US" altLang="zh-CN" i="1" dirty="0">
                <a:latin typeface="Palatino Linotype" pitchFamily="18" charset="0"/>
                <a:ea typeface="华文楷体" pitchFamily="2" charset="-122"/>
              </a:rPr>
              <a:t>p</a:t>
            </a:r>
            <a:r>
              <a:rPr lang="en-US" altLang="zh-CN" dirty="0">
                <a:latin typeface="Palatino Linotype" pitchFamily="18" charset="0"/>
                <a:ea typeface="华文楷体" pitchFamily="2" charset="-122"/>
              </a:rPr>
              <a:t>[8];   </a:t>
            </a:r>
          </a:p>
          <a:p>
            <a:pPr marL="457200" lvl="1" indent="0">
              <a:spcAft>
                <a:spcPts val="3000"/>
              </a:spcAft>
              <a:buNone/>
            </a:pPr>
            <a:r>
              <a:rPr lang="zh-CN" altLang="en-US" dirty="0">
                <a:solidFill>
                  <a:srgbClr val="FF0000"/>
                </a:solidFill>
                <a:latin typeface="Palatino Linotype" pitchFamily="18" charset="0"/>
                <a:ea typeface="华文楷体" pitchFamily="2" charset="-122"/>
              </a:rPr>
              <a:t>指针数组</a:t>
            </a:r>
            <a:r>
              <a:rPr lang="en-US" altLang="zh-CN" dirty="0">
                <a:solidFill>
                  <a:srgbClr val="FF0000"/>
                </a:solidFill>
                <a:latin typeface="Palatino Linotype" pitchFamily="18" charset="0"/>
                <a:ea typeface="华文楷体" pitchFamily="2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Palatino Linotype" pitchFamily="18" charset="0"/>
                <a:ea typeface="华文楷体" pitchFamily="2" charset="-122"/>
              </a:rPr>
              <a:t>该数组中每个数组元素都是指针变量</a:t>
            </a:r>
          </a:p>
          <a:p>
            <a:pPr lvl="2">
              <a:spcAft>
                <a:spcPts val="3000"/>
              </a:spcAft>
            </a:pPr>
            <a:r>
              <a:rPr lang="en-US" altLang="zh-CN" i="1" dirty="0">
                <a:latin typeface="Palatino Linotype" pitchFamily="18" charset="0"/>
              </a:rPr>
              <a:t>p</a:t>
            </a:r>
            <a:r>
              <a:rPr lang="zh-CN" altLang="en-US" dirty="0"/>
              <a:t>为数组，包含</a:t>
            </a:r>
            <a:r>
              <a:rPr lang="zh-CN" altLang="en-US" dirty="0">
                <a:latin typeface="Palatino Linotype" pitchFamily="18" charset="0"/>
              </a:rPr>
              <a:t>8</a:t>
            </a:r>
            <a:r>
              <a:rPr lang="zh-CN" altLang="en-US" dirty="0"/>
              <a:t>个元素，元素的数据类型为</a:t>
            </a:r>
            <a:r>
              <a:rPr lang="en-US" altLang="zh-CN" dirty="0">
                <a:latin typeface="Palatino Linotype" pitchFamily="18" charset="0"/>
              </a:rPr>
              <a:t>int*</a:t>
            </a:r>
          </a:p>
        </p:txBody>
      </p:sp>
    </p:spTree>
    <p:extLst>
      <p:ext uri="{BB962C8B-B14F-4D97-AF65-F5344CB8AC3E}">
        <p14:creationId xmlns:p14="http://schemas.microsoft.com/office/powerpoint/2010/main" val="1125597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7700" y="0"/>
            <a:ext cx="8950788" cy="18448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若有定义：</a:t>
            </a:r>
            <a:r>
              <a:rPr lang="en-US" altLang="zh-CN" dirty="0"/>
              <a:t>int a=10,b=20,c=30,*p[3]={&amp;</a:t>
            </a:r>
            <a:r>
              <a:rPr lang="en-US" altLang="zh-CN" dirty="0" err="1"/>
              <a:t>a,&amp;b,&amp;c</a:t>
            </a:r>
            <a:r>
              <a:rPr lang="en-US" altLang="zh-CN" dirty="0"/>
              <a:t>};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711624" y="1412776"/>
            <a:ext cx="4464496" cy="720080"/>
            <a:chOff x="200" y="629"/>
            <a:chExt cx="2584" cy="469"/>
          </a:xfrm>
          <a:solidFill>
            <a:schemeClr val="bg1"/>
          </a:solidFill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056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&amp;a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632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&amp;b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208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&amp;c</a:t>
              </a:r>
              <a:endParaRPr lang="zh-CN" altLang="en-US" sz="2000" b="1" dirty="0">
                <a:latin typeface="Palatino Linotype" pitchFamily="18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056" y="635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[0]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32" y="635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[1]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00" y="864"/>
              <a:ext cx="720" cy="233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 eaLnBrk="0" hangingPunct="0">
                <a:defRPr/>
              </a:pPr>
              <a:r>
                <a:rPr lang="en-US" altLang="zh-CN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华文楷体" pitchFamily="2" charset="-122"/>
                </a:rPr>
                <a:t>p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华文楷体" pitchFamily="2" charset="-122"/>
                </a:rPr>
                <a:t>[3]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208" y="629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[2]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C08A208-946C-D450-2703-EFCB236D5F14}"/>
              </a:ext>
            </a:extLst>
          </p:cNvPr>
          <p:cNvSpPr txBox="1"/>
          <p:nvPr/>
        </p:nvSpPr>
        <p:spPr>
          <a:xfrm>
            <a:off x="2032596" y="2666960"/>
            <a:ext cx="8095852" cy="341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p[0]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的地址，二级地址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 -&gt;*(p+0)-&gt;p[0]-&gt;&amp;a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一级地址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**p-&gt;*(*(p+0))-&gt;*p[0]-&gt;p[0][0] a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的值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如果需要存放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p,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对应的指针变量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**q=p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183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37700" y="0"/>
            <a:ext cx="8950788" cy="5836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main()</a:t>
            </a:r>
          </a:p>
          <a:p>
            <a:pPr marL="0" indent="0">
              <a:buNone/>
            </a:pPr>
            <a:r>
              <a:rPr lang="en-US" altLang="zh-CN" sz="2400" dirty="0"/>
              <a:t>{	int a=10,b=20,c=30,*p[3]={&amp;</a:t>
            </a:r>
            <a:r>
              <a:rPr lang="en-US" altLang="zh-CN" sz="2400" dirty="0" err="1"/>
              <a:t>a,&amp;b,&amp;c</a:t>
            </a:r>
            <a:r>
              <a:rPr lang="en-US" altLang="zh-CN" sz="2400" dirty="0"/>
              <a:t>};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printf("%</a:t>
            </a:r>
            <a:r>
              <a:rPr lang="en-US" altLang="zh-CN" sz="2400" dirty="0" err="1"/>
              <a:t>p,%p,%p</a:t>
            </a:r>
            <a:r>
              <a:rPr lang="en-US" altLang="zh-CN" sz="2400" dirty="0"/>
              <a:t>\n\n",p,p+1,p+2);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printf("%</a:t>
            </a:r>
            <a:r>
              <a:rPr lang="en-US" altLang="zh-CN" sz="2400" dirty="0" err="1"/>
              <a:t>p,%p,%p</a:t>
            </a:r>
            <a:r>
              <a:rPr lang="en-US" altLang="zh-CN" sz="2400" dirty="0"/>
              <a:t>\n",*p,*(p+1),*(p+2));</a:t>
            </a:r>
          </a:p>
          <a:p>
            <a:pPr marL="0" indent="0">
              <a:buNone/>
            </a:pPr>
            <a:r>
              <a:rPr lang="en-US" altLang="zh-CN" sz="2400" dirty="0"/>
              <a:t>	printf("%</a:t>
            </a:r>
            <a:r>
              <a:rPr lang="en-US" altLang="zh-CN" sz="2400" dirty="0" err="1"/>
              <a:t>p,%p,%p</a:t>
            </a:r>
            <a:r>
              <a:rPr lang="en-US" altLang="zh-CN" sz="2400" dirty="0"/>
              <a:t>\</a:t>
            </a:r>
            <a:r>
              <a:rPr lang="en-US" altLang="zh-CN" sz="2400" dirty="0" err="1"/>
              <a:t>n",p</a:t>
            </a:r>
            <a:r>
              <a:rPr lang="en-US" altLang="zh-CN" sz="2400" dirty="0"/>
              <a:t>[0],p[1],p[2]);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/>
              <a:t>printf(“%</a:t>
            </a:r>
            <a:r>
              <a:rPr lang="en-US" altLang="zh-CN" sz="2400" dirty="0" err="1"/>
              <a:t>p,%p</a:t>
            </a:r>
            <a:r>
              <a:rPr lang="en-US" altLang="zh-CN" sz="2400" err="1"/>
              <a:t>,%</a:t>
            </a:r>
            <a:r>
              <a:rPr lang="en-US" altLang="zh-CN" sz="2400"/>
              <a:t>p\n\n”,&amp;</a:t>
            </a:r>
            <a:r>
              <a:rPr lang="en-US" altLang="zh-CN" sz="2400" dirty="0" err="1"/>
              <a:t>a,&amp;b,&amp;</a:t>
            </a:r>
            <a:r>
              <a:rPr lang="en-US" altLang="zh-CN" sz="2400" err="1"/>
              <a:t>c</a:t>
            </a:r>
            <a:r>
              <a:rPr lang="en-US" altLang="zh-CN" sz="2400"/>
              <a:t>);  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地址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printf("%</a:t>
            </a:r>
            <a:r>
              <a:rPr lang="en-US" altLang="zh-CN" sz="2400" dirty="0" err="1"/>
              <a:t>d,%d,%d</a:t>
            </a:r>
            <a:r>
              <a:rPr lang="en-US" altLang="zh-CN" sz="2400" dirty="0"/>
              <a:t>\n",**p,**(p+1),**(p+2));</a:t>
            </a:r>
          </a:p>
          <a:p>
            <a:pPr marL="0" indent="0">
              <a:buNone/>
            </a:pPr>
            <a:r>
              <a:rPr lang="en-US" altLang="zh-CN" sz="2400" dirty="0"/>
              <a:t>	printf("%</a:t>
            </a:r>
            <a:r>
              <a:rPr lang="en-US" altLang="zh-CN" sz="2400" dirty="0" err="1"/>
              <a:t>d,%d,%d</a:t>
            </a:r>
            <a:r>
              <a:rPr lang="en-US" altLang="zh-CN" sz="2400" dirty="0"/>
              <a:t>\n",*p[0],*p[1],*p[2]);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/>
              <a:t>printf(“%</a:t>
            </a:r>
            <a:r>
              <a:rPr lang="en-US" altLang="zh-CN" sz="2400" dirty="0" err="1"/>
              <a:t>d,%d</a:t>
            </a:r>
            <a:r>
              <a:rPr lang="en-US" altLang="zh-CN" sz="2400" err="1"/>
              <a:t>,%</a:t>
            </a:r>
            <a:r>
              <a:rPr lang="en-US" altLang="zh-CN" sz="2400"/>
              <a:t>d\n”,</a:t>
            </a:r>
            <a:r>
              <a:rPr lang="en-US" altLang="zh-CN" sz="2400" dirty="0" err="1"/>
              <a:t>p</a:t>
            </a:r>
            <a:r>
              <a:rPr lang="en-US" altLang="zh-CN" sz="2400" dirty="0"/>
              <a:t>[0][0],p[1][0],p[2][</a:t>
            </a:r>
            <a:r>
              <a:rPr lang="en-US" altLang="zh-CN" sz="2400"/>
              <a:t>0]); </a:t>
            </a:r>
            <a:r>
              <a:rPr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4727848" y="5826625"/>
            <a:ext cx="4102100" cy="744538"/>
            <a:chOff x="200" y="629"/>
            <a:chExt cx="2584" cy="469"/>
          </a:xfrm>
          <a:solidFill>
            <a:schemeClr val="bg1"/>
          </a:solidFill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056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&amp;a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632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&amp;b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208" y="902"/>
              <a:ext cx="576" cy="196"/>
            </a:xfrm>
            <a:prstGeom prst="rect">
              <a:avLst/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Palatino Linotype" pitchFamily="18" charset="0"/>
                </a:rPr>
                <a:t>&amp;c</a:t>
              </a:r>
              <a:endParaRPr lang="zh-CN" altLang="en-US" sz="2000" b="1" dirty="0">
                <a:latin typeface="Palatino Linotype" pitchFamily="18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056" y="635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[0]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32" y="635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[1]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00" y="864"/>
              <a:ext cx="720" cy="233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 eaLnBrk="0" hangingPunct="0">
                <a:defRPr/>
              </a:pPr>
              <a:r>
                <a:rPr lang="en-US" altLang="zh-CN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华文楷体" pitchFamily="2" charset="-122"/>
                </a:rPr>
                <a:t>p</a:t>
              </a:r>
              <a:r>
                <a:rPr lang="en-US" altLang="zh-CN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华文楷体" pitchFamily="2" charset="-122"/>
                </a:rPr>
                <a:t>[3]</a:t>
              </a: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208" y="629"/>
              <a:ext cx="576" cy="25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0" hangingPunct="0">
                <a:defRPr/>
              </a:pPr>
              <a:r>
                <a:rPr lang="en-US" altLang="zh-CN" sz="2000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p</a:t>
              </a:r>
              <a:r>
                <a: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Palatino Linotype" pitchFamily="18" charset="0"/>
                  <a:ea typeface="宋体" pitchFamily="2" charset="-122"/>
                </a:rPr>
                <a:t>[2]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01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9338" y="52389"/>
            <a:ext cx="6011862" cy="776287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6.1  </a:t>
            </a:r>
            <a:r>
              <a:rPr lang="zh-CN" altLang="en-US" sz="3600" dirty="0">
                <a:latin typeface="楷体_GB2312" pitchFamily="49" charset="-122"/>
              </a:rPr>
              <a:t>指针数组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2800" y="1263650"/>
            <a:ext cx="8267700" cy="2165349"/>
          </a:xfrm>
        </p:spPr>
        <p:txBody>
          <a:bodyPr/>
          <a:lstStyle/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zh-CN" altLang="en-US" sz="2800" b="1" dirty="0">
                <a:latin typeface="Arial" pitchFamily="34" charset="0"/>
              </a:rPr>
              <a:t>指针数组最多的用途是用于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字符指针数组（用于处理多个字符串常量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每个数组元素指向一个字符串常量）</a:t>
            </a:r>
            <a:r>
              <a:rPr lang="en-US" altLang="zh-CN" sz="2800" b="1" dirty="0">
                <a:latin typeface="Arial" pitchFamily="34" charset="0"/>
              </a:rPr>
              <a:t>: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zh-CN" altLang="zh-CN" sz="2800" b="1" dirty="0">
                <a:latin typeface="Arial" pitchFamily="34" charset="0"/>
              </a:rPr>
              <a:t>char</a:t>
            </a:r>
            <a:r>
              <a:rPr lang="zh-CN" altLang="zh-CN" sz="2800" b="1" dirty="0"/>
              <a:t>  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</a:t>
            </a:r>
            <a:r>
              <a:rPr lang="zh-CN" altLang="zh-CN" sz="2800" b="1" dirty="0">
                <a:latin typeface="黑体" pitchFamily="49" charset="-122"/>
              </a:rPr>
              <a:t>[ ]</a:t>
            </a:r>
            <a:r>
              <a:rPr lang="zh-CN" altLang="zh-CN" sz="2800" b="1" dirty="0"/>
              <a:t>={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Fortran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b="1" dirty="0">
                <a:latin typeface="Times New Roman"/>
              </a:rPr>
              <a:t>“</a:t>
            </a:r>
            <a:r>
              <a:rPr lang="zh-CN" altLang="zh-CN" sz="2800" b="1" dirty="0">
                <a:latin typeface="Arial" pitchFamily="34" charset="0"/>
              </a:rPr>
              <a:t>c</a:t>
            </a:r>
            <a:r>
              <a:rPr lang="zh-CN" altLang="zh-CN" sz="2800" b="1" dirty="0"/>
              <a:t>++</a:t>
            </a:r>
            <a:r>
              <a:rPr lang="zh-CN" altLang="zh-CN" sz="2800" b="1" dirty="0">
                <a:latin typeface="Times New Roman" pitchFamily="18" charset="0"/>
              </a:rPr>
              <a:t>” </a:t>
            </a:r>
            <a:r>
              <a:rPr lang="zh-CN" altLang="zh-CN" sz="2800" b="1" dirty="0"/>
              <a:t>}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  <p:graphicFrame>
        <p:nvGraphicFramePr>
          <p:cNvPr id="60314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868442"/>
              </p:ext>
            </p:extLst>
          </p:nvPr>
        </p:nvGraphicFramePr>
        <p:xfrm>
          <a:off x="3911873" y="3493071"/>
          <a:ext cx="403225" cy="1533525"/>
        </p:xfrm>
        <a:graphic>
          <a:graphicData uri="http://schemas.openxmlformats.org/drawingml/2006/table">
            <a:tbl>
              <a:tblPr/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315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791123"/>
              </p:ext>
            </p:extLst>
          </p:nvPr>
        </p:nvGraphicFramePr>
        <p:xfrm>
          <a:off x="4727848" y="3501008"/>
          <a:ext cx="4537075" cy="431800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F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t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170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791462"/>
              </p:ext>
            </p:extLst>
          </p:nvPr>
        </p:nvGraphicFramePr>
        <p:xfrm>
          <a:off x="4738961" y="4085208"/>
          <a:ext cx="1112837" cy="381000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marL="38100" marR="3810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38100" marR="3810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178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16598"/>
              </p:ext>
            </p:extLst>
          </p:nvPr>
        </p:nvGraphicFramePr>
        <p:xfrm>
          <a:off x="4716736" y="4618608"/>
          <a:ext cx="2268537" cy="395288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03190" name="Group 54"/>
          <p:cNvGrpSpPr>
            <a:grpSpLocks/>
          </p:cNvGrpSpPr>
          <p:nvPr/>
        </p:nvGrpSpPr>
        <p:grpSpPr bwMode="auto">
          <a:xfrm>
            <a:off x="2849836" y="3459733"/>
            <a:ext cx="1889125" cy="1570038"/>
            <a:chOff x="0" y="0"/>
            <a:chExt cx="1190" cy="989"/>
          </a:xfrm>
        </p:grpSpPr>
        <p:sp>
          <p:nvSpPr>
            <p:cNvPr id="603191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720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0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</p:txBody>
        </p:sp>
        <p:sp>
          <p:nvSpPr>
            <p:cNvPr id="603192" name="Line 56"/>
            <p:cNvSpPr>
              <a:spLocks noChangeShapeType="1"/>
            </p:cNvSpPr>
            <p:nvPr/>
          </p:nvSpPr>
          <p:spPr bwMode="auto">
            <a:xfrm>
              <a:off x="806" y="162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03193" name="Line 57"/>
            <p:cNvSpPr>
              <a:spLocks noChangeShapeType="1"/>
            </p:cNvSpPr>
            <p:nvPr/>
          </p:nvSpPr>
          <p:spPr bwMode="auto">
            <a:xfrm>
              <a:off x="806" y="498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03194" name="Line 58"/>
            <p:cNvSpPr>
              <a:spLocks noChangeShapeType="1"/>
            </p:cNvSpPr>
            <p:nvPr/>
          </p:nvSpPr>
          <p:spPr bwMode="auto">
            <a:xfrm>
              <a:off x="806" y="834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sp>
        <p:nvSpPr>
          <p:cNvPr id="603195" name="Text Box 59"/>
          <p:cNvSpPr txBox="1">
            <a:spLocks noChangeArrowheads="1"/>
          </p:cNvSpPr>
          <p:nvPr/>
        </p:nvSpPr>
        <p:spPr bwMode="auto">
          <a:xfrm>
            <a:off x="3589338" y="2636912"/>
            <a:ext cx="30678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99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2400" b="1" dirty="0">
                <a:solidFill>
                  <a:srgbClr val="FF0000"/>
                </a:solidFill>
                <a:ea typeface="宋体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8664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9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9338" y="52389"/>
            <a:ext cx="6011862" cy="776287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6.1  </a:t>
            </a:r>
            <a:r>
              <a:rPr lang="zh-CN" altLang="en-US" sz="3600" dirty="0">
                <a:latin typeface="楷体_GB2312" pitchFamily="49" charset="-122"/>
              </a:rPr>
              <a:t>指针数组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2800" y="1263650"/>
            <a:ext cx="8267700" cy="2165349"/>
          </a:xfrm>
        </p:spPr>
        <p:txBody>
          <a:bodyPr/>
          <a:lstStyle/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#include &lt;</a:t>
            </a:r>
            <a:r>
              <a:rPr lang="en-US" altLang="zh-CN" sz="2800" b="1" dirty="0" err="1">
                <a:latin typeface="Arial" pitchFamily="34" charset="0"/>
              </a:rPr>
              <a:t>stdio.h</a:t>
            </a:r>
            <a:r>
              <a:rPr lang="en-US" altLang="zh-CN" sz="2800" b="1" dirty="0">
                <a:latin typeface="Arial" pitchFamily="34" charset="0"/>
              </a:rPr>
              <a:t>&gt;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main()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{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char *p[]={"</a:t>
            </a:r>
            <a:r>
              <a:rPr lang="en-US" altLang="zh-CN" sz="2800" b="1" dirty="0" err="1">
                <a:latin typeface="Arial" pitchFamily="34" charset="0"/>
              </a:rPr>
              <a:t>Fortran","c","c</a:t>
            </a:r>
            <a:r>
              <a:rPr lang="en-US" altLang="zh-CN" sz="2800" b="1" dirty="0">
                <a:latin typeface="Arial" pitchFamily="34" charset="0"/>
              </a:rPr>
              <a:t>++"};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char **q=p;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int </a:t>
            </a:r>
            <a:r>
              <a:rPr lang="en-US" altLang="zh-CN" sz="2800" b="1" dirty="0" err="1">
                <a:latin typeface="Arial" pitchFamily="34" charset="0"/>
              </a:rPr>
              <a:t>i</a:t>
            </a:r>
            <a:r>
              <a:rPr lang="en-US" altLang="zh-CN" sz="2800" b="1" dirty="0">
                <a:latin typeface="Arial" pitchFamily="34" charset="0"/>
              </a:rPr>
              <a:t>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for(</a:t>
            </a:r>
            <a:r>
              <a:rPr lang="en-US" altLang="zh-CN" sz="2800" b="1" dirty="0" err="1">
                <a:latin typeface="Arial" pitchFamily="34" charset="0"/>
              </a:rPr>
              <a:t>i</a:t>
            </a:r>
            <a:r>
              <a:rPr lang="en-US" altLang="zh-CN" sz="2800" b="1" dirty="0">
                <a:latin typeface="Arial" pitchFamily="34" charset="0"/>
              </a:rPr>
              <a:t>=0;i&lt;3;i++)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	puts(p[</a:t>
            </a:r>
            <a:r>
              <a:rPr lang="en-US" altLang="zh-CN" sz="2800" b="1" dirty="0" err="1">
                <a:latin typeface="Arial" pitchFamily="34" charset="0"/>
              </a:rPr>
              <a:t>i</a:t>
            </a:r>
            <a:r>
              <a:rPr lang="en-US" altLang="zh-CN" sz="2800" b="1" dirty="0">
                <a:latin typeface="Arial" pitchFamily="34" charset="0"/>
              </a:rPr>
              <a:t>]);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for(</a:t>
            </a:r>
            <a:r>
              <a:rPr lang="en-US" altLang="zh-CN" sz="2800" b="1" dirty="0" err="1">
                <a:latin typeface="Arial" pitchFamily="34" charset="0"/>
              </a:rPr>
              <a:t>i</a:t>
            </a:r>
            <a:r>
              <a:rPr lang="en-US" altLang="zh-CN" sz="2800" b="1" dirty="0">
                <a:latin typeface="Arial" pitchFamily="34" charset="0"/>
              </a:rPr>
              <a:t>=0;i&lt;3;i++)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	puts(*(</a:t>
            </a:r>
            <a:r>
              <a:rPr lang="en-US" altLang="zh-CN" sz="2800" b="1" dirty="0" err="1">
                <a:latin typeface="Arial" pitchFamily="34" charset="0"/>
              </a:rPr>
              <a:t>q+i</a:t>
            </a:r>
            <a:r>
              <a:rPr lang="en-US" altLang="zh-CN" sz="2800" b="1" dirty="0">
                <a:latin typeface="Arial" pitchFamily="34" charset="0"/>
              </a:rPr>
              <a:t>));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endParaRPr lang="en-US" altLang="zh-CN" sz="2800" b="1" dirty="0">
              <a:latin typeface="Arial" pitchFamily="34" charset="0"/>
            </a:endParaRP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}</a:t>
            </a:r>
            <a:endParaRPr lang="zh-CN" altLang="zh-CN" sz="2800" b="1" dirty="0">
              <a:latin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5FC7E2-99D8-BBB1-687B-760422E1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3140968"/>
            <a:ext cx="5088434" cy="318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89338" y="52389"/>
            <a:ext cx="6011862" cy="776287"/>
          </a:xfrm>
        </p:spPr>
        <p:txBody>
          <a:bodyPr/>
          <a:lstStyle/>
          <a:p>
            <a:r>
              <a:rPr lang="en-US" altLang="zh-CN" sz="3600" dirty="0">
                <a:latin typeface="楷体_GB2312" pitchFamily="49" charset="-122"/>
              </a:rPr>
              <a:t>7.</a:t>
            </a:r>
            <a:r>
              <a:rPr lang="zh-CN" altLang="zh-CN" sz="3600" dirty="0">
                <a:latin typeface="楷体_GB2312" pitchFamily="49" charset="-122"/>
              </a:rPr>
              <a:t>6.1  </a:t>
            </a:r>
            <a:r>
              <a:rPr lang="zh-CN" altLang="en-US" sz="3600" dirty="0">
                <a:latin typeface="楷体_GB2312" pitchFamily="49" charset="-122"/>
              </a:rPr>
              <a:t>指针数组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4856" y="2710180"/>
            <a:ext cx="8267700" cy="4135438"/>
          </a:xfrm>
        </p:spPr>
        <p:txBody>
          <a:bodyPr/>
          <a:lstStyle/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# include  &lt;</a:t>
            </a:r>
            <a:r>
              <a:rPr lang="en-US" altLang="zh-CN" sz="2800" b="1" dirty="0" err="1">
                <a:latin typeface="Arial" pitchFamily="34" charset="0"/>
              </a:rPr>
              <a:t>stdio.h</a:t>
            </a:r>
            <a:r>
              <a:rPr lang="en-US" altLang="zh-CN" sz="2800" b="1" dirty="0">
                <a:latin typeface="Arial" pitchFamily="34" charset="0"/>
              </a:rPr>
              <a:t>&gt;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main( )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{ 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char  *p[]={"</a:t>
            </a:r>
            <a:r>
              <a:rPr lang="en-US" altLang="zh-CN" sz="2800" b="1" dirty="0" err="1">
                <a:latin typeface="Arial" pitchFamily="34" charset="0"/>
              </a:rPr>
              <a:t>Fortran","c","c</a:t>
            </a:r>
            <a:r>
              <a:rPr lang="en-US" altLang="zh-CN" sz="2800" b="1" dirty="0">
                <a:latin typeface="Arial" pitchFamily="34" charset="0"/>
              </a:rPr>
              <a:t>++"};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endParaRPr lang="en-US" altLang="zh-CN" sz="2800" b="1" dirty="0">
              <a:latin typeface="Arial" pitchFamily="34" charset="0"/>
            </a:endParaRP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</a:t>
            </a:r>
            <a:r>
              <a:rPr lang="en-US" altLang="zh-CN" sz="2800" b="1" dirty="0" err="1">
                <a:latin typeface="Arial" pitchFamily="34" charset="0"/>
              </a:rPr>
              <a:t>printf</a:t>
            </a:r>
            <a:r>
              <a:rPr lang="en-US" altLang="zh-CN" sz="2800" b="1" dirty="0">
                <a:latin typeface="Arial" pitchFamily="34" charset="0"/>
              </a:rPr>
              <a:t>("%</a:t>
            </a:r>
            <a:r>
              <a:rPr lang="en-US" altLang="zh-CN" sz="2800" b="1" dirty="0" err="1">
                <a:latin typeface="Arial" pitchFamily="34" charset="0"/>
              </a:rPr>
              <a:t>c,%c</a:t>
            </a:r>
            <a:r>
              <a:rPr lang="en-US" altLang="zh-CN" sz="2800" b="1" dirty="0">
                <a:latin typeface="Arial" pitchFamily="34" charset="0"/>
              </a:rPr>
              <a:t>\n",*p[0],*(p[2]+1));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endParaRPr lang="en-US" altLang="zh-CN" sz="2800" b="1" dirty="0">
              <a:latin typeface="Arial" pitchFamily="34" charset="0"/>
            </a:endParaRP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	</a:t>
            </a:r>
            <a:r>
              <a:rPr lang="en-US" altLang="zh-CN" sz="2800" b="1" dirty="0" err="1">
                <a:latin typeface="Arial" pitchFamily="34" charset="0"/>
              </a:rPr>
              <a:t>printf</a:t>
            </a:r>
            <a:r>
              <a:rPr lang="en-US" altLang="zh-CN" sz="2800" b="1" dirty="0">
                <a:latin typeface="Arial" pitchFamily="34" charset="0"/>
              </a:rPr>
              <a:t>("%</a:t>
            </a:r>
            <a:r>
              <a:rPr lang="en-US" altLang="zh-CN" sz="2800" b="1" dirty="0" err="1">
                <a:latin typeface="Arial" pitchFamily="34" charset="0"/>
              </a:rPr>
              <a:t>c,%c</a:t>
            </a:r>
            <a:r>
              <a:rPr lang="en-US" altLang="zh-CN" sz="2800" b="1" dirty="0">
                <a:latin typeface="Arial" pitchFamily="34" charset="0"/>
              </a:rPr>
              <a:t>\</a:t>
            </a:r>
            <a:r>
              <a:rPr lang="en-US" altLang="zh-CN" sz="2800" b="1" dirty="0" err="1">
                <a:latin typeface="Arial" pitchFamily="34" charset="0"/>
              </a:rPr>
              <a:t>n",p</a:t>
            </a:r>
            <a:r>
              <a:rPr lang="en-US" altLang="zh-CN" sz="2800" b="1" dirty="0">
                <a:latin typeface="Arial" pitchFamily="34" charset="0"/>
              </a:rPr>
              <a:t>[0][0],p[2][1]);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r>
              <a:rPr lang="en-US" altLang="zh-CN" sz="2800" b="1" dirty="0">
                <a:latin typeface="Arial" pitchFamily="34" charset="0"/>
              </a:rPr>
              <a:t>}</a:t>
            </a:r>
          </a:p>
          <a:p>
            <a:pPr marL="265113" indent="-265113">
              <a:spcBef>
                <a:spcPct val="0"/>
              </a:spcBef>
              <a:buSzPct val="85000"/>
              <a:buNone/>
            </a:pPr>
            <a:endParaRPr lang="en-US" altLang="zh-CN" sz="2800" b="1" dirty="0">
              <a:latin typeface="Arial" pitchFamily="34" charset="0"/>
            </a:endParaRPr>
          </a:p>
          <a:p>
            <a:pPr marL="265113" indent="-265113">
              <a:spcBef>
                <a:spcPct val="0"/>
              </a:spcBef>
              <a:buSzPct val="85000"/>
              <a:buNone/>
            </a:pPr>
            <a:endParaRPr lang="en-US" altLang="zh-CN" sz="2800" b="1" dirty="0">
              <a:latin typeface="Arial" pitchFamily="34" charset="0"/>
            </a:endParaRPr>
          </a:p>
        </p:txBody>
      </p:sp>
      <p:graphicFrame>
        <p:nvGraphicFramePr>
          <p:cNvPr id="60314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209381"/>
              </p:ext>
            </p:extLst>
          </p:nvPr>
        </p:nvGraphicFramePr>
        <p:xfrm>
          <a:off x="4219576" y="1014066"/>
          <a:ext cx="403225" cy="1533525"/>
        </p:xfrm>
        <a:graphic>
          <a:graphicData uri="http://schemas.openxmlformats.org/drawingml/2006/table">
            <a:tbl>
              <a:tblPr/>
              <a:tblGrid>
                <a:gridCol w="40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黑体" pitchFamily="49" charset="-122"/>
                      </a:endParaRPr>
                    </a:p>
                  </a:txBody>
                  <a:tcPr marT="7620" marB="7620" horzOverflow="overflow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0315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40129"/>
              </p:ext>
            </p:extLst>
          </p:nvPr>
        </p:nvGraphicFramePr>
        <p:xfrm>
          <a:off x="5035551" y="1022003"/>
          <a:ext cx="4537075" cy="431800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F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o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t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r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a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n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170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227381"/>
              </p:ext>
            </p:extLst>
          </p:nvPr>
        </p:nvGraphicFramePr>
        <p:xfrm>
          <a:off x="5046664" y="1606203"/>
          <a:ext cx="1112837" cy="381000"/>
        </p:xfrm>
        <a:graphic>
          <a:graphicData uri="http://schemas.openxmlformats.org/drawingml/2006/table">
            <a:tbl>
              <a:tblPr/>
              <a:tblGrid>
                <a:gridCol w="560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marL="38100" marR="3810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38100" marR="3810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3178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0879"/>
              </p:ext>
            </p:extLst>
          </p:nvPr>
        </p:nvGraphicFramePr>
        <p:xfrm>
          <a:off x="5024439" y="2139603"/>
          <a:ext cx="2268537" cy="395288"/>
        </p:xfrm>
        <a:graphic>
          <a:graphicData uri="http://schemas.openxmlformats.org/drawingml/2006/table">
            <a:tbl>
              <a:tblPr/>
              <a:tblGrid>
                <a:gridCol w="566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c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+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8000"/>
                        </a:buClr>
                        <a:buSzPct val="4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\</a:t>
                      </a:r>
                      <a:r>
                        <a:rPr kumimoji="0" lang="zh-CN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49" charset="-122"/>
                        </a:rPr>
                        <a:t>0</a:t>
                      </a:r>
                    </a:p>
                  </a:txBody>
                  <a:tcPr marL="53340" marR="53340" marT="7620" marB="7620" anchor="ctr" anchorCtr="1" horzOverflow="overflow">
                    <a:lnL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03190" name="Group 54"/>
          <p:cNvGrpSpPr>
            <a:grpSpLocks/>
          </p:cNvGrpSpPr>
          <p:nvPr/>
        </p:nvGrpSpPr>
        <p:grpSpPr bwMode="auto">
          <a:xfrm>
            <a:off x="3157539" y="980728"/>
            <a:ext cx="1889125" cy="1570038"/>
            <a:chOff x="0" y="0"/>
            <a:chExt cx="1190" cy="989"/>
          </a:xfrm>
        </p:grpSpPr>
        <p:sp>
          <p:nvSpPr>
            <p:cNvPr id="603191" name="Text Box 55"/>
            <p:cNvSpPr txBox="1">
              <a:spLocks noChangeArrowheads="1"/>
            </p:cNvSpPr>
            <p:nvPr/>
          </p:nvSpPr>
          <p:spPr bwMode="auto">
            <a:xfrm>
              <a:off x="0" y="0"/>
              <a:ext cx="720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99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0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P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[</a:t>
              </a:r>
              <a:r>
                <a:rPr lang="zh-CN" altLang="zh-CN" sz="2400" b="1" dirty="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r>
                <a:rPr lang="zh-CN" altLang="zh-CN" sz="2400" b="1" dirty="0">
                  <a:solidFill>
                    <a:srgbClr val="000000"/>
                  </a:solidFill>
                  <a:latin typeface="黑体" pitchFamily="49" charset="-122"/>
                </a:rPr>
                <a:t>]</a:t>
              </a:r>
            </a:p>
          </p:txBody>
        </p:sp>
        <p:sp>
          <p:nvSpPr>
            <p:cNvPr id="603192" name="Line 56"/>
            <p:cNvSpPr>
              <a:spLocks noChangeShapeType="1"/>
            </p:cNvSpPr>
            <p:nvPr/>
          </p:nvSpPr>
          <p:spPr bwMode="auto">
            <a:xfrm>
              <a:off x="806" y="162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03193" name="Line 57"/>
            <p:cNvSpPr>
              <a:spLocks noChangeShapeType="1"/>
            </p:cNvSpPr>
            <p:nvPr/>
          </p:nvSpPr>
          <p:spPr bwMode="auto">
            <a:xfrm>
              <a:off x="806" y="498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  <p:sp>
          <p:nvSpPr>
            <p:cNvPr id="603194" name="Line 58"/>
            <p:cNvSpPr>
              <a:spLocks noChangeShapeType="1"/>
            </p:cNvSpPr>
            <p:nvPr/>
          </p:nvSpPr>
          <p:spPr bwMode="auto">
            <a:xfrm>
              <a:off x="806" y="834"/>
              <a:ext cx="384" cy="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srgbClr val="000000"/>
                </a:solidFill>
                <a:ea typeface="Dotum" pitchFamily="34" charset="-127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1AE5D80-6EFB-4DE2-85B2-880CE8C5B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6" y="4653137"/>
            <a:ext cx="23526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1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EE58EEC-0A47-A46B-28B0-6AC9013E12DB}"/>
              </a:ext>
            </a:extLst>
          </p:cNvPr>
          <p:cNvSpPr txBox="1"/>
          <p:nvPr/>
        </p:nvSpPr>
        <p:spPr>
          <a:xfrm>
            <a:off x="1775520" y="908720"/>
            <a:ext cx="92170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/>
              <a:t>#include &lt;stdio.h&gt;</a:t>
            </a:r>
          </a:p>
          <a:p>
            <a:r>
              <a:rPr lang="zh-CN" altLang="en-US" sz="2400"/>
              <a:t>void fun(char **);</a:t>
            </a:r>
          </a:p>
          <a:p>
            <a:r>
              <a:rPr lang="zh-CN" altLang="en-US" sz="2400"/>
              <a:t>main() </a:t>
            </a:r>
          </a:p>
          <a:p>
            <a:r>
              <a:rPr lang="zh-CN" altLang="en-US" sz="2400"/>
              <a:t>{ </a:t>
            </a:r>
          </a:p>
          <a:p>
            <a:r>
              <a:rPr lang="zh-CN" altLang="en-US" sz="2400"/>
              <a:t>	char *p[3]={"Hello","world!","zhang"};</a:t>
            </a:r>
          </a:p>
          <a:p>
            <a:r>
              <a:rPr lang="zh-CN" altLang="en-US" sz="2400"/>
              <a:t>	fun(p);</a:t>
            </a:r>
          </a:p>
          <a:p>
            <a:r>
              <a:rPr lang="zh-CN" altLang="en-US" sz="2400"/>
              <a:t>} </a:t>
            </a:r>
          </a:p>
          <a:p>
            <a:r>
              <a:rPr lang="zh-CN" altLang="en-US" sz="2400"/>
              <a:t>void fun(char **q)//char *q[]||char *q[3]</a:t>
            </a:r>
          </a:p>
          <a:p>
            <a:r>
              <a:rPr lang="zh-CN" altLang="en-US" sz="2400"/>
              <a:t>{</a:t>
            </a:r>
          </a:p>
          <a:p>
            <a:r>
              <a:rPr lang="zh-CN" altLang="en-US" sz="2400"/>
              <a:t>	puts(*q);</a:t>
            </a:r>
          </a:p>
          <a:p>
            <a:r>
              <a:rPr lang="zh-CN" altLang="en-US" sz="2400"/>
              <a:t>	puts(*(q+1));</a:t>
            </a:r>
          </a:p>
          <a:p>
            <a:r>
              <a:rPr lang="zh-CN" altLang="en-US" sz="2400"/>
              <a:t>	puts(q[2]);</a:t>
            </a:r>
          </a:p>
          <a:p>
            <a:r>
              <a:rPr lang="zh-CN" altLang="en-US" sz="2400"/>
              <a:t>	printf("%c,%c,%c\n",*(*q+1),*(*(q+1)+2),*(q[2]+2));</a:t>
            </a:r>
          </a:p>
          <a:p>
            <a:r>
              <a:rPr lang="zh-CN" altLang="en-US" sz="2400"/>
              <a:t>	printf("%c,%c,%c\n",q[0][1],q[1][2],q[2][2]);</a:t>
            </a:r>
            <a:endParaRPr lang="en-US" altLang="zh-CN" sz="2400"/>
          </a:p>
          <a:p>
            <a:r>
              <a:rPr lang="zh-CN" altLang="en-US" sz="2400"/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354D01-C105-CB16-93CB-F8B671FE4D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563"/>
          <a:stretch/>
        </p:blipFill>
        <p:spPr>
          <a:xfrm>
            <a:off x="8477547" y="1097523"/>
            <a:ext cx="1938933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9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392985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buFont typeface="Wingdings" pitchFamily="2" charset="2"/>
              <a:buNone/>
            </a:pPr>
            <a:r>
              <a:rPr lang="zh-CN" altLang="zh-CN" sz="2800" b="1" dirty="0"/>
              <a:t>若有说明</a:t>
            </a:r>
            <a:r>
              <a:rPr lang="zh-CN" altLang="zh-CN" sz="2800" b="1" dirty="0">
                <a:latin typeface="Times New Roman" pitchFamily="18" charset="0"/>
              </a:rPr>
              <a:t> </a:t>
            </a:r>
            <a:r>
              <a:rPr lang="zh-CN" altLang="zh-CN" sz="2800" b="1" dirty="0">
                <a:latin typeface="Arial" pitchFamily="34" charset="0"/>
              </a:rPr>
              <a:t>int</a:t>
            </a:r>
            <a:r>
              <a:rPr lang="zh-CN" altLang="zh-CN" sz="2800" b="1" dirty="0"/>
              <a:t>  i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/>
              <a:t>j=</a:t>
            </a:r>
            <a:r>
              <a:rPr lang="zh-CN" altLang="zh-CN" sz="2800" b="1" dirty="0">
                <a:latin typeface="Arial" pitchFamily="34" charset="0"/>
              </a:rPr>
              <a:t>7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p=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i</a:t>
            </a:r>
            <a:r>
              <a:rPr lang="zh-CN" altLang="zh-CN" sz="2800" b="1" dirty="0">
                <a:latin typeface="Times New Roman" pitchFamily="18" charset="0"/>
              </a:rPr>
              <a:t>; </a:t>
            </a:r>
            <a:r>
              <a:rPr lang="zh-CN" altLang="zh-CN" sz="2800" b="1" dirty="0"/>
              <a:t>则与</a:t>
            </a:r>
            <a:r>
              <a:rPr lang="zh-CN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i=j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r>
              <a:rPr lang="zh-CN" altLang="zh-CN" sz="2800" b="1" dirty="0"/>
              <a:t>等价的语句是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175223" y="3493293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i=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175223" y="4350543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/>
              <a:t>i=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j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7455743" y="3512988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p=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dirty="0"/>
              <a:t>&amp;</a:t>
            </a:r>
            <a:r>
              <a:rPr lang="zh-CN" altLang="zh-CN" sz="2800" b="1" dirty="0"/>
              <a:t>j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  <a:endParaRPr lang="zh-CN" altLang="en-US" sz="2600" dirty="0"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7455743" y="4370238"/>
            <a:ext cx="2959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ct val="45000"/>
              </a:spcBef>
              <a:buFont typeface="Wingdings" pitchFamily="2" charset="2"/>
              <a:buNone/>
            </a:pPr>
            <a:r>
              <a:rPr lang="zh-CN" altLang="zh-CN" sz="2800" b="1" dirty="0"/>
              <a:t>i=</a:t>
            </a:r>
            <a:r>
              <a:rPr lang="zh-CN" altLang="zh-CN" sz="2800" b="1" dirty="0">
                <a:latin typeface="黑体" pitchFamily="49" charset="-122"/>
              </a:rPr>
              <a:t>**</a:t>
            </a:r>
            <a:r>
              <a:rPr lang="zh-CN" altLang="zh-CN" sz="2800" b="1" dirty="0"/>
              <a:t>P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60848" y="355758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41368" y="3512988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60848" y="448299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41368" y="443453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311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686052" y="620688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4000" b="1" dirty="0"/>
              <a:t>指针与二维数组</a:t>
            </a:r>
            <a:endParaRPr lang="en-US" altLang="zh-CN" sz="4000" b="1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576917" y="2017712"/>
            <a:ext cx="10363200" cy="4507631"/>
          </a:xfrm>
        </p:spPr>
        <p:txBody>
          <a:bodyPr/>
          <a:lstStyle/>
          <a:p>
            <a:pPr>
              <a:spcAft>
                <a:spcPts val="3000"/>
              </a:spcAft>
            </a:pPr>
            <a:r>
              <a:rPr lang="zh-CN" altLang="en-US" dirty="0">
                <a:solidFill>
                  <a:schemeClr val="tx2"/>
                </a:solidFill>
                <a:ea typeface="黑体" pitchFamily="2" charset="-122"/>
              </a:rPr>
              <a:t>数组指针</a:t>
            </a:r>
            <a:r>
              <a:rPr lang="zh-CN" altLang="en-US"/>
              <a:t>：指向数组的</a:t>
            </a:r>
            <a:r>
              <a:rPr lang="zh-CN" altLang="en-US" dirty="0"/>
              <a:t>指针</a:t>
            </a:r>
          </a:p>
          <a:p>
            <a:pPr lvl="1">
              <a:spcAft>
                <a:spcPts val="3000"/>
              </a:spcAft>
            </a:pPr>
            <a:r>
              <a:rPr lang="zh-CN" altLang="en-US" dirty="0"/>
              <a:t>格式：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类型标识 (*数组名)[整型常量表达式];</a:t>
            </a:r>
          </a:p>
          <a:p>
            <a:pPr lvl="1">
              <a:spcAft>
                <a:spcPts val="3000"/>
              </a:spcAft>
            </a:pPr>
            <a:r>
              <a:rPr lang="zh-CN" altLang="en-US" dirty="0"/>
              <a:t>例：</a:t>
            </a:r>
            <a:r>
              <a:rPr lang="en-US" altLang="zh-CN" dirty="0">
                <a:latin typeface="Palatino Linotype" pitchFamily="18" charset="0"/>
                <a:ea typeface="华文楷体" pitchFamily="2" charset="-122"/>
              </a:rPr>
              <a:t>int (*</a:t>
            </a:r>
            <a:r>
              <a:rPr lang="en-US" altLang="zh-CN" i="1">
                <a:latin typeface="Palatino Linotype" pitchFamily="18" charset="0"/>
                <a:ea typeface="华文楷体" pitchFamily="2" charset="-122"/>
              </a:rPr>
              <a:t>p</a:t>
            </a:r>
            <a:r>
              <a:rPr lang="en-US" altLang="zh-CN">
                <a:latin typeface="Palatino Linotype" pitchFamily="18" charset="0"/>
                <a:ea typeface="华文楷体" pitchFamily="2" charset="-122"/>
              </a:rPr>
              <a:t>)[5];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指针变量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指向数组的指针或行指针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)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  <a:p>
            <a:pPr lvl="2">
              <a:spcAft>
                <a:spcPts val="3000"/>
              </a:spcAft>
            </a:pPr>
            <a:r>
              <a:rPr lang="en-US" altLang="zh-CN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为指针变量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指向包含一行有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</a:rPr>
              <a:t>5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整数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元素的二维数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Aft>
                <a:spcPts val="30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二级指针变量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其基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类型为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整型数组元素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即加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则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跳过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数组元素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942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二维数组</a:t>
            </a:r>
            <a:endParaRPr lang="en-US" altLang="zh-CN" dirty="0"/>
          </a:p>
        </p:txBody>
      </p:sp>
      <p:sp>
        <p:nvSpPr>
          <p:cNvPr id="788486" name="Text Box 6"/>
          <p:cNvSpPr txBox="1">
            <a:spLocks noChangeArrowheads="1"/>
          </p:cNvSpPr>
          <p:nvPr/>
        </p:nvSpPr>
        <p:spPr bwMode="auto">
          <a:xfrm>
            <a:off x="2133600" y="1484784"/>
            <a:ext cx="79248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int </a:t>
            </a:r>
            <a:r>
              <a:rPr kumimoji="1" lang="en-US" altLang="zh-CN" sz="3200" b="1" i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</a:t>
            </a:r>
            <a:r>
              <a:rPr kumimoji="1" lang="en-US" altLang="zh-CN" sz="3200" b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[4][5];  </a:t>
            </a: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数组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a,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二级地址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,</a:t>
            </a: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基类型</a:t>
            </a:r>
            <a:r>
              <a:rPr kumimoji="1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5</a:t>
            </a:r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个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int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变量</a:t>
            </a:r>
            <a:endParaRPr kumimoji="1"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i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*a,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一级地址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,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基类型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1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个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int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变量</a:t>
            </a:r>
            <a:r>
              <a:rPr kumimoji="1" lang="en-US" altLang="zh-CN" sz="3200" b="1" i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,</a:t>
            </a:r>
            <a:r>
              <a:rPr kumimoji="1" lang="zh-CN" altLang="en-US" sz="3200" b="1" i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等价于</a:t>
            </a:r>
            <a:r>
              <a:rPr kumimoji="1" lang="en-US" altLang="zh-C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a[0]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373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6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二维数组</a:t>
            </a:r>
            <a:endParaRPr lang="en-US" altLang="zh-CN" dirty="0"/>
          </a:p>
        </p:txBody>
      </p:sp>
      <p:sp>
        <p:nvSpPr>
          <p:cNvPr id="788486" name="Text Box 6"/>
          <p:cNvSpPr txBox="1">
            <a:spLocks noChangeArrowheads="1"/>
          </p:cNvSpPr>
          <p:nvPr/>
        </p:nvSpPr>
        <p:spPr bwMode="auto">
          <a:xfrm>
            <a:off x="1919536" y="1340768"/>
            <a:ext cx="8496944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int </a:t>
            </a:r>
            <a:r>
              <a:rPr kumimoji="1" lang="en-US" altLang="zh-CN" sz="3200" b="1" i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</a:t>
            </a:r>
            <a:r>
              <a:rPr kumimoji="1" lang="en-US" altLang="zh-CN" sz="3200" b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[4][5];  </a:t>
            </a: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3200" b="1" i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a+1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：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移动一行，指向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a[1][0],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基类型还是二级地址</a:t>
            </a:r>
            <a:endParaRPr kumimoji="1" lang="en-US" altLang="zh-CN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*(a+1):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降一级，一级地址，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+1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只能移动一个元素，还是指向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a[1][0]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*(a+1)+2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：移动两个元素，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指向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a[1][2],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还是一级地址。</a:t>
            </a:r>
            <a:endParaRPr kumimoji="1" lang="en-US" altLang="zh-CN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*(*(a+1)+2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）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: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a[1][2]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的值</a:t>
            </a:r>
            <a:endParaRPr kumimoji="1" lang="en-US" altLang="zh-CN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432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二维数组</a:t>
            </a:r>
            <a:endParaRPr lang="en-US" altLang="zh-CN" dirty="0"/>
          </a:p>
        </p:txBody>
      </p:sp>
      <p:sp>
        <p:nvSpPr>
          <p:cNvPr id="788486" name="Text Box 6"/>
          <p:cNvSpPr txBox="1">
            <a:spLocks noChangeArrowheads="1"/>
          </p:cNvSpPr>
          <p:nvPr/>
        </p:nvSpPr>
        <p:spPr bwMode="auto">
          <a:xfrm>
            <a:off x="1752600" y="2397948"/>
            <a:ext cx="8496944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*(*(a+1)+2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）、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*(a[1]+2)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、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a[1][2]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是等价写法</a:t>
            </a:r>
            <a:endParaRPr kumimoji="1" lang="en-US" altLang="zh-CN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3200" b="1" dirty="0">
              <a:solidFill>
                <a:schemeClr val="bg2"/>
              </a:solidFill>
              <a:latin typeface="Palatino Linotype" pitchFamily="18" charset="0"/>
              <a:ea typeface="华文楷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是数组名，其</a:t>
            </a:r>
            <a:r>
              <a:rPr kumimoji="1" lang="zh-CN" altLang="en-US" sz="3200" b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一行有</a:t>
            </a:r>
            <a:r>
              <a:rPr kumimoji="1" lang="en-US" altLang="zh-CN" sz="3200" b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5</a:t>
            </a:r>
            <a:r>
              <a:rPr kumimoji="1" lang="zh-CN" altLang="en-US" sz="3200" b="1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个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元素，若要存放</a:t>
            </a:r>
            <a:r>
              <a:rPr kumimoji="1" lang="en-US" altLang="zh-CN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a,</a:t>
            </a:r>
            <a:r>
              <a:rPr kumimoji="1" lang="zh-CN" altLang="en-US" sz="3200" b="1" dirty="0">
                <a:solidFill>
                  <a:schemeClr val="bg2"/>
                </a:solidFill>
                <a:latin typeface="Palatino Linotype" pitchFamily="18" charset="0"/>
                <a:ea typeface="华文楷体" pitchFamily="2" charset="-122"/>
              </a:rPr>
              <a:t>则定义：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int (*</a:t>
            </a:r>
            <a:r>
              <a:rPr kumimoji="1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itchFamily="18" charset="0"/>
                <a:ea typeface="华文楷体" pitchFamily="2" charset="-122"/>
              </a:rPr>
              <a:t>p)[5]</a:t>
            </a:r>
            <a:endParaRPr kumimoji="1"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itchFamily="18" charset="0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60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48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行指针的理解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BEC95A-481E-448A-A6F8-8C3F19B84F09}"/>
              </a:ext>
            </a:extLst>
          </p:cNvPr>
          <p:cNvSpPr txBox="1"/>
          <p:nvPr/>
        </p:nvSpPr>
        <p:spPr>
          <a:xfrm>
            <a:off x="1524000" y="1268760"/>
            <a:ext cx="910748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/>
              <a:t>#include &lt;stdio.h&gt;</a:t>
            </a:r>
          </a:p>
          <a:p>
            <a:r>
              <a:rPr lang="zh-CN" altLang="en-US" sz="2200" b="1" dirty="0"/>
              <a:t>main( )</a:t>
            </a:r>
          </a:p>
          <a:p>
            <a:r>
              <a:rPr lang="zh-CN" altLang="en-US" sz="2200" b="1" dirty="0"/>
              <a:t>{</a:t>
            </a:r>
          </a:p>
          <a:p>
            <a:r>
              <a:rPr lang="zh-CN" altLang="en-US" sz="2200" b="1" dirty="0"/>
              <a:t>	int a[3][4]={{0,1,2,3},{4,5,6,7},{8,9,10,11}};</a:t>
            </a:r>
          </a:p>
          <a:p>
            <a:r>
              <a:rPr lang="zh-CN" altLang="en-US" sz="2200" b="1" dirty="0"/>
              <a:t>	int (*p)[4];</a:t>
            </a:r>
          </a:p>
          <a:p>
            <a:r>
              <a:rPr lang="zh-CN" altLang="en-US" sz="2200" b="1" dirty="0"/>
              <a:t>	printf("%d,%d\n",a,a+1);</a:t>
            </a:r>
          </a:p>
          <a:p>
            <a:r>
              <a:rPr lang="zh-CN" altLang="en-US" sz="2200" b="1" dirty="0"/>
              <a:t>	printf("%d,%d\n",*a,*a+1);</a:t>
            </a:r>
          </a:p>
          <a:p>
            <a:r>
              <a:rPr lang="zh-CN" altLang="en-US" sz="2200" b="1" dirty="0"/>
              <a:t>	printf("%d,%d,%d\n",*(*(a+1)+2),*(a[1]+2),a[1][2]);</a:t>
            </a:r>
          </a:p>
          <a:p>
            <a:r>
              <a:rPr lang="zh-CN" altLang="en-US" sz="2200" b="1" dirty="0"/>
              <a:t>	p=a;</a:t>
            </a:r>
          </a:p>
          <a:p>
            <a:r>
              <a:rPr lang="zh-CN" altLang="en-US" sz="2200" b="1" dirty="0"/>
              <a:t>	printf("%d,%d\n",p,p+1);</a:t>
            </a:r>
          </a:p>
          <a:p>
            <a:r>
              <a:rPr lang="zh-CN" altLang="en-US" sz="2200" b="1" dirty="0"/>
              <a:t>	printf("%d,%d\n",*p,*p+1);</a:t>
            </a:r>
          </a:p>
          <a:p>
            <a:r>
              <a:rPr lang="zh-CN" altLang="en-US" sz="2200" b="1" dirty="0"/>
              <a:t>	printf("%d,%d,%d\n",*(*(p+1)+2),*(p[1]+2),p[1][2]);</a:t>
            </a:r>
          </a:p>
          <a:p>
            <a:r>
              <a:rPr lang="zh-CN" altLang="en-US" sz="2200" b="1" dirty="0"/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056E32-BBAC-4B2B-B29D-5437BEE1B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300"/>
          <a:stretch/>
        </p:blipFill>
        <p:spPr>
          <a:xfrm>
            <a:off x="6456040" y="-99392"/>
            <a:ext cx="3995936" cy="329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5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itchFamily="18" charset="0"/>
              </a:rPr>
              <a:t>7.4</a:t>
            </a:r>
            <a:r>
              <a:rPr lang="en-US" altLang="zh-CN" dirty="0"/>
              <a:t>  </a:t>
            </a:r>
            <a:r>
              <a:rPr lang="zh-CN" altLang="en-US" dirty="0">
                <a:ea typeface="黑体" pitchFamily="2" charset="-122"/>
              </a:rPr>
              <a:t>指针与函数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调用函数时</a:t>
            </a:r>
            <a:r>
              <a:rPr lang="en-US" altLang="zh-CN" dirty="0"/>
              <a:t>,</a:t>
            </a:r>
            <a:r>
              <a:rPr lang="zh-CN" altLang="en-US" dirty="0"/>
              <a:t>指针可作为函数的参数传递。函数返回值类型也可为指针类型。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FF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用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指针做函数参数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C</a:t>
            </a:r>
            <a:r>
              <a:rPr lang="zh-CN" altLang="en-US" dirty="0"/>
              <a:t>语言中，函数的实参与形参总是单向传递，若希望通过形参来修改实参的值，则只能通过传递指针。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注意，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当形参是一个指针变量时，实参必须是一个地址值</a:t>
            </a:r>
            <a:r>
              <a:rPr lang="zh-CN" altLang="en-US" dirty="0"/>
              <a:t>，可以是已经赋值的指针变量，也可是变量的地址或数组名。 </a:t>
            </a:r>
            <a:endParaRPr lang="zh-CN" altLang="en-US" dirty="0">
              <a:solidFill>
                <a:srgbClr val="FFFF00"/>
              </a:solidFill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431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487488" y="836712"/>
            <a:ext cx="9086800" cy="4525963"/>
          </a:xfrm>
        </p:spPr>
        <p:txBody>
          <a:bodyPr>
            <a:normAutofit fontScale="92500" lnSpcReduction="20000"/>
          </a:bodyPr>
          <a:lstStyle/>
          <a:p>
            <a:pPr marL="0" indent="0" algn="ctr" eaLnBrk="1" hangingPunct="1">
              <a:buNone/>
            </a:pPr>
            <a:r>
              <a:rPr lang="zh-CN" altLang="en-US" b="1" dirty="0">
                <a:solidFill>
                  <a:srgbClr val="002060"/>
                </a:solidFill>
              </a:rPr>
              <a:t>一维数组作实参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0" indent="0" algn="ctr" eaLnBrk="1" hangingPunct="1">
              <a:buNone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r>
              <a:rPr lang="zh-CN" altLang="en-US" dirty="0"/>
              <a:t>如有： </a:t>
            </a:r>
            <a:r>
              <a:rPr lang="en-US" altLang="zh-CN" dirty="0"/>
              <a:t>int a[10];</a:t>
            </a:r>
          </a:p>
          <a:p>
            <a:pPr eaLnBrk="1" hangingPunct="1">
              <a:buFontTx/>
              <a:buNone/>
            </a:pPr>
            <a:r>
              <a:rPr lang="en-US" altLang="zh-CN" dirty="0"/>
              <a:t>                  test(a)</a:t>
            </a:r>
            <a:r>
              <a:rPr lang="zh-CN" altLang="en-US" dirty="0"/>
              <a:t>；</a:t>
            </a:r>
            <a:r>
              <a:rPr lang="en-US" altLang="zh-CN" dirty="0"/>
              <a:t>//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数组名作实参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Tx/>
              <a:buNone/>
            </a:pPr>
            <a:r>
              <a:rPr lang="zh-CN" altLang="en-US" dirty="0"/>
              <a:t>   对应的函数形参有以下几种形式</a:t>
            </a:r>
            <a:r>
              <a:rPr lang="en-US" altLang="zh-CN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test(int *p)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test(int p[ ])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test(int p[10])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此外的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被忽略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/>
              <a:t>无论是哪种形式</a:t>
            </a:r>
            <a:r>
              <a:rPr lang="en-US" altLang="zh-CN" dirty="0"/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都只是一个指针变量</a:t>
            </a:r>
          </a:p>
        </p:txBody>
      </p:sp>
    </p:spTree>
    <p:extLst>
      <p:ext uri="{BB962C8B-B14F-4D97-AF65-F5344CB8AC3E}">
        <p14:creationId xmlns:p14="http://schemas.microsoft.com/office/powerpoint/2010/main" val="3247181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487488" y="836712"/>
            <a:ext cx="9086800" cy="4525963"/>
          </a:xfrm>
        </p:spPr>
        <p:txBody>
          <a:bodyPr>
            <a:normAutofit fontScale="92500" lnSpcReduction="20000"/>
          </a:bodyPr>
          <a:lstStyle/>
          <a:p>
            <a:pPr marL="0" indent="0" algn="ctr" eaLnBrk="1" hangingPunct="1">
              <a:buNone/>
            </a:pPr>
            <a:r>
              <a:rPr lang="zh-CN" altLang="en-US" b="1" dirty="0">
                <a:solidFill>
                  <a:srgbClr val="002060"/>
                </a:solidFill>
              </a:rPr>
              <a:t>指针数组作实参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0" indent="0" algn="ctr" eaLnBrk="1" hangingPunct="1">
              <a:buNone/>
            </a:pP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r>
              <a:rPr lang="zh-CN" altLang="en-US" dirty="0"/>
              <a:t>如有： </a:t>
            </a:r>
            <a:r>
              <a:rPr lang="en-US" altLang="zh-CN" dirty="0"/>
              <a:t>char *p[10];</a:t>
            </a:r>
          </a:p>
          <a:p>
            <a:pPr eaLnBrk="1" hangingPunct="1">
              <a:buFontTx/>
              <a:buNone/>
            </a:pPr>
            <a:r>
              <a:rPr lang="en-US" altLang="zh-CN" dirty="0"/>
              <a:t>                  test(p)</a:t>
            </a:r>
            <a:r>
              <a:rPr lang="zh-CN" altLang="en-US" dirty="0"/>
              <a:t>；</a:t>
            </a:r>
            <a:r>
              <a:rPr lang="en-US" altLang="zh-CN" dirty="0"/>
              <a:t>//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数组名作实参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Tx/>
              <a:buNone/>
            </a:pPr>
            <a:r>
              <a:rPr lang="zh-CN" altLang="en-US" dirty="0"/>
              <a:t>   对应的函数形参有以下几种形式</a:t>
            </a:r>
            <a:r>
              <a:rPr lang="en-US" altLang="zh-CN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test(int **q)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test(int *q[ ])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test(int *q[10])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此外的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被忽略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/>
              <a:t>无论是哪种形式</a:t>
            </a:r>
            <a:r>
              <a:rPr lang="en-US" altLang="zh-CN" dirty="0"/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都只是一个指针变量</a:t>
            </a:r>
          </a:p>
        </p:txBody>
      </p:sp>
    </p:spTree>
    <p:extLst>
      <p:ext uri="{BB962C8B-B14F-4D97-AF65-F5344CB8AC3E}">
        <p14:creationId xmlns:p14="http://schemas.microsoft.com/office/powerpoint/2010/main" val="2790615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476673"/>
            <a:ext cx="8208912" cy="5649492"/>
          </a:xfrm>
        </p:spPr>
        <p:txBody>
          <a:bodyPr>
            <a:normAutofit fontScale="92500" lnSpcReduction="20000"/>
          </a:bodyPr>
          <a:lstStyle/>
          <a:p>
            <a:pPr marL="0" indent="0" algn="ctr" eaLnBrk="1" hangingPunct="1">
              <a:buNone/>
            </a:pPr>
            <a:r>
              <a:rPr lang="zh-CN" altLang="en-US" b="1" dirty="0">
                <a:solidFill>
                  <a:srgbClr val="002060"/>
                </a:solidFill>
              </a:rPr>
              <a:t>二维数组名作实参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0" indent="0" eaLnBrk="1" hangingPunct="1">
              <a:buNone/>
            </a:pPr>
            <a:r>
              <a:rPr lang="zh-CN" altLang="en-US" dirty="0"/>
              <a:t>如有：</a:t>
            </a:r>
            <a:endParaRPr lang="en-US" altLang="zh-CN" dirty="0"/>
          </a:p>
          <a:p>
            <a:pPr marL="400050" lvl="1" indent="0">
              <a:buNone/>
            </a:pPr>
            <a:r>
              <a:rPr lang="en-US" altLang="zh-CN" dirty="0"/>
              <a:t>int a[3][5];</a:t>
            </a:r>
          </a:p>
          <a:p>
            <a:pPr marL="400050" lvl="1" indent="0">
              <a:buNone/>
            </a:pPr>
            <a:r>
              <a:rPr lang="en-US" altLang="zh-CN" dirty="0"/>
              <a:t>test(a)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其对应</a:t>
            </a:r>
            <a:r>
              <a:rPr lang="zh-CN" altLang="en-US"/>
              <a:t>的形参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必须是一个行指针</a:t>
            </a:r>
            <a:r>
              <a:rPr lang="zh-CN" altLang="en-US"/>
              <a:t>，有</a:t>
            </a:r>
            <a:r>
              <a:rPr lang="zh-CN" altLang="en-US" dirty="0"/>
              <a:t>以下几种形式</a:t>
            </a:r>
            <a:r>
              <a:rPr lang="en-US" altLang="zh-CN" dirty="0"/>
              <a:t>: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test(int (*p)[5]) 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test(int p[ ][5])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void 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test(int p[3][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5]) </a:t>
            </a: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/>
              <a:t>无论是哪种形式</a:t>
            </a:r>
            <a:r>
              <a:rPr lang="en-US" altLang="zh-CN" dirty="0"/>
              <a:t>,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都只是一个指针变量</a:t>
            </a:r>
          </a:p>
        </p:txBody>
      </p:sp>
    </p:spTree>
    <p:extLst>
      <p:ext uri="{BB962C8B-B14F-4D97-AF65-F5344CB8AC3E}">
        <p14:creationId xmlns:p14="http://schemas.microsoft.com/office/powerpoint/2010/main" val="378351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>
          <a:xfrm>
            <a:off x="1703512" y="130175"/>
            <a:ext cx="9001125" cy="6597650"/>
          </a:xfrm>
          <a:noFill/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80000"/>
              </a:lnSpc>
              <a:buNone/>
            </a:pPr>
            <a:r>
              <a:rPr lang="zh-CN" altLang="en-US" sz="1800" b="1" cap="none" dirty="0">
                <a:solidFill>
                  <a:srgbClr val="000000"/>
                </a:solidFill>
                <a:latin typeface="+mn-ea"/>
              </a:rPr>
              <a:t>用函数处理二维数组</a:t>
            </a:r>
            <a:r>
              <a:rPr lang="en-US" altLang="zh-CN" sz="1800" b="1" cap="none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stdlib.h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time.h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#define N 5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void 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init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(int (*)[N],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int,int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void prn(int [][N]);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>
                <a:solidFill>
                  <a:srgbClr val="000000"/>
                </a:solidFill>
                <a:latin typeface="+mn-ea"/>
              </a:rPr>
              <a:t>int sum(int 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a[N][N]);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>
                <a:solidFill>
                  <a:srgbClr val="000000"/>
                </a:solidFill>
                <a:latin typeface="+mn-ea"/>
              </a:rPr>
              <a:t>main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()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	int a[N][N];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init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(a,10,99);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	prn(a);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zh-CN" sz="2000" b="1" cap="none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("</a:t>
            </a:r>
            <a:r>
              <a:rPr lang="zh-CN" altLang="en-US" sz="2000" b="1" cap="none" dirty="0">
                <a:solidFill>
                  <a:srgbClr val="000000"/>
                </a:solidFill>
                <a:latin typeface="+mn-ea"/>
              </a:rPr>
              <a:t>对角线的和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=%d\n</a:t>
            </a:r>
            <a:r>
              <a:rPr lang="en-US" altLang="zh-CN" sz="2000" b="1" cap="none">
                <a:solidFill>
                  <a:srgbClr val="000000"/>
                </a:solidFill>
                <a:latin typeface="+mn-ea"/>
              </a:rPr>
              <a:t>",sum(a</a:t>
            </a:r>
            <a:r>
              <a:rPr lang="en-US" altLang="zh-CN" sz="2000" b="1" cap="none" dirty="0">
                <a:solidFill>
                  <a:srgbClr val="000000"/>
                </a:solidFill>
                <a:latin typeface="+mn-ea"/>
              </a:rPr>
              <a:t>));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000" b="1" cap="none">
                <a:solidFill>
                  <a:srgbClr val="000000"/>
                </a:solidFill>
                <a:latin typeface="+mn-ea"/>
              </a:rPr>
              <a:t>	}</a:t>
            </a:r>
            <a:endParaRPr lang="en-US" altLang="zh-CN" sz="2000" b="1" cap="none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2671906"/>
      </p:ext>
    </p:extLst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202406"/>
            <a:ext cx="8856984" cy="6453187"/>
          </a:xfrm>
          <a:noFill/>
        </p:spPr>
        <p:txBody>
          <a:bodyPr>
            <a:normAutofit fontScale="92500" lnSpcReduction="20000"/>
          </a:bodyPr>
          <a:lstStyle/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void 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init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(int a[N][N],int 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x,int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 y)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int 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i,j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srand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(time(null));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for(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=0;i&lt;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N;i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	for(j=0;j&lt;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n;j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		*(*(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a+i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)+j)=rand()%(y-x+1)+x;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void prn(int (*p)[N])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int 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i,j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for(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=0;i&lt;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N;i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{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	for(j=0;j&lt;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N;j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("%5d",*(p[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]+j));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zh-CN" sz="2400" b="1" cap="none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("\n");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	}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2400" b="1" cap="none" dirty="0">
                <a:solidFill>
                  <a:srgbClr val="000000"/>
                </a:solidFill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6734996"/>
      </p:ext>
    </p:extLst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1919536" y="260648"/>
            <a:ext cx="7488238" cy="6337300"/>
          </a:xfrm>
          <a:noFill/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>
                <a:solidFill>
                  <a:srgbClr val="000000"/>
                </a:solidFill>
                <a:latin typeface="+mn-ea"/>
              </a:rPr>
              <a:t>int sum(int 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a[][N])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	int </a:t>
            </a:r>
            <a:r>
              <a:rPr lang="en-US" altLang="zh-CN" sz="4000" b="1" cap="none" dirty="0" err="1">
                <a:solidFill>
                  <a:srgbClr val="000000"/>
                </a:solidFill>
                <a:latin typeface="+mn-ea"/>
              </a:rPr>
              <a:t>i,s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=0;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	for(</a:t>
            </a:r>
            <a:r>
              <a:rPr lang="en-US" altLang="zh-CN" sz="40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=0;i&lt;</a:t>
            </a:r>
            <a:r>
              <a:rPr lang="en-US" altLang="zh-CN" sz="4000" b="1" cap="none" dirty="0" err="1">
                <a:solidFill>
                  <a:srgbClr val="000000"/>
                </a:solidFill>
                <a:latin typeface="+mn-ea"/>
              </a:rPr>
              <a:t>N;i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		s+=a[</a:t>
            </a:r>
            <a:r>
              <a:rPr lang="en-US" altLang="zh-CN" sz="40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][</a:t>
            </a:r>
            <a:r>
              <a:rPr lang="en-US" altLang="zh-CN" sz="4000" b="1" cap="none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];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 dirty="0">
                <a:solidFill>
                  <a:srgbClr val="000000"/>
                </a:solidFill>
                <a:latin typeface="+mn-ea"/>
              </a:rPr>
              <a:t>	return s;</a:t>
            </a:r>
          </a:p>
          <a:p>
            <a:pPr marL="533400" indent="-533400" eaLnBrk="1" hangingPunct="1">
              <a:lnSpc>
                <a:spcPct val="80000"/>
              </a:lnSpc>
              <a:buNone/>
            </a:pPr>
            <a:r>
              <a:rPr lang="en-US" altLang="zh-CN" sz="4000" b="1" cap="none">
                <a:solidFill>
                  <a:srgbClr val="000000"/>
                </a:solidFill>
                <a:latin typeface="+mn-ea"/>
              </a:rPr>
              <a:t>}</a:t>
            </a:r>
            <a:endParaRPr lang="en-US" altLang="zh-CN" sz="4000" b="1" cap="none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1435958"/>
      </p:ext>
    </p:extLst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063552" y="836712"/>
            <a:ext cx="8064896" cy="45259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返回指针值的函数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函数的类型是指其返回值的类型，函数也可返回一个指针型的数据。</a:t>
            </a:r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返回指针值的函数的定义形式为：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        </a:t>
            </a:r>
            <a:r>
              <a:rPr lang="zh-CN" altLang="en-US" sz="3600" dirty="0">
                <a:solidFill>
                  <a:srgbClr val="FF0000"/>
                </a:solidFill>
              </a:rPr>
              <a:t>数据类型符  *函数名</a:t>
            </a:r>
            <a:r>
              <a:rPr lang="en-US" altLang="zh-CN" sz="3600" dirty="0">
                <a:solidFill>
                  <a:srgbClr val="FF0000"/>
                </a:solidFill>
              </a:rPr>
              <a:t>(</a:t>
            </a:r>
            <a:r>
              <a:rPr lang="zh-CN" altLang="en-US" sz="3600" dirty="0">
                <a:solidFill>
                  <a:srgbClr val="FF0000"/>
                </a:solidFill>
              </a:rPr>
              <a:t>形参表</a:t>
            </a:r>
            <a:r>
              <a:rPr lang="en-US" altLang="zh-CN" sz="3600" dirty="0">
                <a:solidFill>
                  <a:srgbClr val="FF0000"/>
                </a:solidFill>
              </a:rPr>
              <a:t>)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17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207568" y="1042179"/>
            <a:ext cx="7920880" cy="5815821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int *</a:t>
            </a:r>
            <a:r>
              <a:rPr lang="en-US" altLang="zh-CN" sz="2800" dirty="0" err="1">
                <a:solidFill>
                  <a:srgbClr val="000000"/>
                </a:solidFill>
              </a:rPr>
              <a:t>findmax</a:t>
            </a:r>
            <a:r>
              <a:rPr lang="en-US" altLang="zh-CN" sz="2800" dirty="0">
                <a:solidFill>
                  <a:srgbClr val="000000"/>
                </a:solidFill>
              </a:rPr>
              <a:t>(int *p)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{  int </a:t>
            </a:r>
            <a:r>
              <a:rPr lang="en-US" altLang="zh-CN" sz="2800" dirty="0" err="1">
                <a:solidFill>
                  <a:srgbClr val="000000"/>
                </a:solidFill>
              </a:rPr>
              <a:t>i,max,m_i</a:t>
            </a:r>
            <a:r>
              <a:rPr lang="en-US" altLang="zh-CN" sz="2800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max=p[0],</a:t>
            </a:r>
            <a:r>
              <a:rPr lang="en-US" altLang="zh-CN" sz="2800" dirty="0" err="1">
                <a:solidFill>
                  <a:srgbClr val="000000"/>
                </a:solidFill>
              </a:rPr>
              <a:t>m_i</a:t>
            </a:r>
            <a:r>
              <a:rPr lang="en-US" altLang="zh-CN" sz="2800" dirty="0">
                <a:solidFill>
                  <a:srgbClr val="000000"/>
                </a:solidFill>
              </a:rPr>
              <a:t>=0;    </a:t>
            </a:r>
            <a:r>
              <a:rPr lang="en-US" altLang="zh-CN" sz="2400" dirty="0">
                <a:solidFill>
                  <a:srgbClr val="000000"/>
                </a:solidFill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</a:rPr>
              <a:t>用下标法来表示数组元素的值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</a:rPr>
              <a:t>for(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=1;i&lt;10;i++)      </a:t>
            </a:r>
            <a:r>
              <a:rPr lang="en-US" altLang="zh-CN" sz="2400" dirty="0">
                <a:solidFill>
                  <a:srgbClr val="000000"/>
                </a:solidFill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</a:rPr>
              <a:t>从第二元素开始循环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  </a:t>
            </a:r>
            <a:r>
              <a:rPr lang="en-US" altLang="zh-CN" sz="2800" dirty="0">
                <a:solidFill>
                  <a:srgbClr val="000000"/>
                </a:solidFill>
              </a:rPr>
              <a:t>if(p[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]&gt;max)  max=p[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], </a:t>
            </a:r>
            <a:r>
              <a:rPr lang="en-US" altLang="zh-CN" sz="2800" dirty="0" err="1">
                <a:solidFill>
                  <a:srgbClr val="000000"/>
                </a:solidFill>
              </a:rPr>
              <a:t>m_i</a:t>
            </a:r>
            <a:r>
              <a:rPr lang="en-US" altLang="zh-CN" sz="2800" dirty="0">
                <a:solidFill>
                  <a:srgbClr val="000000"/>
                </a:solidFill>
              </a:rPr>
              <a:t>=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; </a:t>
            </a:r>
            <a:r>
              <a:rPr lang="en-US" altLang="zh-CN" sz="2400" dirty="0">
                <a:solidFill>
                  <a:srgbClr val="000000"/>
                </a:solidFill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</a:rPr>
              <a:t>存最大值及其下标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</a:rPr>
              <a:t>return </a:t>
            </a:r>
            <a:r>
              <a:rPr lang="en-US" altLang="zh-CN" sz="2800" dirty="0" err="1">
                <a:solidFill>
                  <a:srgbClr val="000000"/>
                </a:solidFill>
              </a:rPr>
              <a:t>p+m_i</a:t>
            </a:r>
            <a:r>
              <a:rPr lang="en-US" altLang="zh-CN" sz="2800" dirty="0">
                <a:solidFill>
                  <a:srgbClr val="000000"/>
                </a:solidFill>
              </a:rPr>
              <a:t>;     //</a:t>
            </a:r>
            <a:r>
              <a:rPr lang="zh-CN" altLang="en-US" sz="2400" dirty="0">
                <a:solidFill>
                  <a:srgbClr val="000000"/>
                </a:solidFill>
              </a:rPr>
              <a:t>返回下标为</a:t>
            </a:r>
            <a:r>
              <a:rPr lang="en-US" altLang="zh-CN" sz="2400" dirty="0" err="1">
                <a:solidFill>
                  <a:srgbClr val="000000"/>
                </a:solidFill>
              </a:rPr>
              <a:t>m_i</a:t>
            </a:r>
            <a:r>
              <a:rPr lang="zh-CN" altLang="en-US" sz="2400" dirty="0">
                <a:solidFill>
                  <a:srgbClr val="000000"/>
                </a:solidFill>
              </a:rPr>
              <a:t>的数据元素的地址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{  int a[10],*</a:t>
            </a:r>
            <a:r>
              <a:rPr lang="en-US" altLang="zh-CN" sz="2800" dirty="0" err="1">
                <a:solidFill>
                  <a:srgbClr val="000000"/>
                </a:solidFill>
              </a:rPr>
              <a:t>q,i</a:t>
            </a:r>
            <a:r>
              <a:rPr lang="en-US" altLang="zh-CN" sz="2800" dirty="0">
                <a:solidFill>
                  <a:srgbClr val="000000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</a:t>
            </a:r>
            <a:r>
              <a:rPr lang="en-US" altLang="zh-CN" sz="2800" dirty="0" err="1">
                <a:solidFill>
                  <a:srgbClr val="000000"/>
                </a:solidFill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</a:rPr>
              <a:t>("\n input data:");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for(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=0;i&lt;10;i++) </a:t>
            </a:r>
            <a:r>
              <a:rPr lang="en-US" altLang="zh-CN" sz="2800" dirty="0" err="1">
                <a:solidFill>
                  <a:srgbClr val="000000"/>
                </a:solidFill>
              </a:rPr>
              <a:t>scanf</a:t>
            </a:r>
            <a:r>
              <a:rPr lang="en-US" altLang="zh-CN" sz="2800" dirty="0">
                <a:solidFill>
                  <a:srgbClr val="000000"/>
                </a:solidFill>
              </a:rPr>
              <a:t>("%d",</a:t>
            </a:r>
            <a:r>
              <a:rPr lang="en-US" altLang="zh-CN" sz="2800" dirty="0" err="1">
                <a:solidFill>
                  <a:srgbClr val="000000"/>
                </a:solidFill>
              </a:rPr>
              <a:t>a+i</a:t>
            </a:r>
            <a:r>
              <a:rPr lang="en-US" altLang="zh-CN" sz="2800" dirty="0">
                <a:solidFill>
                  <a:srgbClr val="000000"/>
                </a:solidFill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for(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=0;i&lt;10;i++) </a:t>
            </a:r>
            <a:r>
              <a:rPr lang="en-US" altLang="zh-CN" sz="2800" dirty="0" err="1">
                <a:solidFill>
                  <a:srgbClr val="000000"/>
                </a:solidFill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</a:rPr>
              <a:t>("%4d",a[</a:t>
            </a:r>
            <a:r>
              <a:rPr lang="en-US" altLang="zh-CN" sz="2800" dirty="0" err="1">
                <a:solidFill>
                  <a:srgbClr val="000000"/>
                </a:solidFill>
              </a:rPr>
              <a:t>i</a:t>
            </a:r>
            <a:r>
              <a:rPr lang="en-US" altLang="zh-CN" sz="2800" dirty="0">
                <a:solidFill>
                  <a:srgbClr val="000000"/>
                </a:solidFill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</a:rPr>
              <a:t>   q=</a:t>
            </a:r>
            <a:r>
              <a:rPr lang="en-US" altLang="zh-CN" sz="2800" dirty="0" err="1">
                <a:solidFill>
                  <a:srgbClr val="000000"/>
                </a:solidFill>
              </a:rPr>
              <a:t>findmax</a:t>
            </a:r>
            <a:r>
              <a:rPr lang="en-US" altLang="zh-CN" sz="2800" dirty="0">
                <a:solidFill>
                  <a:srgbClr val="000000"/>
                </a:solidFill>
              </a:rPr>
              <a:t>(a);  </a:t>
            </a:r>
            <a:r>
              <a:rPr lang="en-US" altLang="zh-CN" sz="2400" dirty="0">
                <a:solidFill>
                  <a:srgbClr val="000000"/>
                </a:solidFill>
              </a:rPr>
              <a:t>//</a:t>
            </a:r>
            <a:r>
              <a:rPr lang="en-US" altLang="zh-CN" sz="2400" dirty="0" err="1">
                <a:solidFill>
                  <a:srgbClr val="000000"/>
                </a:solidFill>
              </a:rPr>
              <a:t>findmax</a:t>
            </a:r>
            <a:r>
              <a:rPr lang="zh-CN" altLang="en-US" sz="2400" dirty="0">
                <a:solidFill>
                  <a:srgbClr val="000000"/>
                </a:solidFill>
              </a:rPr>
              <a:t>返回的是一个整型指针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</a:rPr>
              <a:t>   </a:t>
            </a:r>
            <a:r>
              <a:rPr lang="en-US" altLang="zh-CN" sz="2800" dirty="0" err="1">
                <a:solidFill>
                  <a:srgbClr val="000000"/>
                </a:solidFill>
              </a:rPr>
              <a:t>printf</a:t>
            </a:r>
            <a:r>
              <a:rPr lang="en-US" altLang="zh-CN" sz="2800" dirty="0">
                <a:solidFill>
                  <a:srgbClr val="000000"/>
                </a:solidFill>
              </a:rPr>
              <a:t>("\n max=%d",*q);   </a:t>
            </a:r>
            <a:r>
              <a:rPr lang="en-US" altLang="zh-CN" sz="2400" dirty="0">
                <a:solidFill>
                  <a:srgbClr val="000000"/>
                </a:solidFill>
              </a:rPr>
              <a:t>//</a:t>
            </a:r>
            <a:r>
              <a:rPr lang="zh-CN" altLang="en-US" sz="2400" dirty="0">
                <a:solidFill>
                  <a:srgbClr val="000000"/>
                </a:solidFill>
              </a:rPr>
              <a:t>显示最大的那个元素值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2351584" y="421492"/>
            <a:ext cx="7056438" cy="6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SzPct val="85000"/>
            </a:pPr>
            <a:r>
              <a:rPr kumimoji="1" lang="zh-CN" altLang="en-US" sz="2400" b="1" dirty="0"/>
              <a:t>写函数返回一个数组中最大值的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地址</a:t>
            </a:r>
            <a:r>
              <a:rPr kumimoji="1" lang="zh-CN" altLang="en-US" sz="24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4814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3552" y="1051719"/>
            <a:ext cx="8748712" cy="47545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函数指针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/>
              <a:t>如果在程序中定义了一个函数，那么在编译时系统就会为这个函数代码分配一段存储空间，</a:t>
            </a:r>
            <a:endParaRPr lang="en-US" altLang="zh-CN" sz="28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/>
              <a:t>这段存储空间的首地址称为这个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函数的地址</a:t>
            </a:r>
            <a:r>
              <a:rPr lang="zh-CN" altLang="en-US" sz="2800" dirty="0"/>
              <a:t>。而且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函数名就是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这个地址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/>
              <a:t>既然是地址我们就可以定义一个指针变量来存放，这个指针变量就叫作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函数指针变量</a:t>
            </a:r>
            <a:r>
              <a:rPr lang="zh-CN" altLang="en-US" sz="2800" dirty="0"/>
              <a:t>，简称</a:t>
            </a:r>
            <a:r>
              <a:rPr lang="zh-CN" altLang="en-US" sz="2800" dirty="0">
                <a:solidFill>
                  <a:srgbClr val="FF0000"/>
                </a:solidFill>
              </a:rPr>
              <a:t>函数指针</a:t>
            </a:r>
            <a:r>
              <a:rPr lang="zh-CN" altLang="en-US" sz="2800" dirty="0"/>
              <a:t>。</a:t>
            </a:r>
            <a:endParaRPr lang="zh-CN" alt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1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/>
              <a:t>指针与函数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79576" y="1051719"/>
            <a:ext cx="8280400" cy="4754562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函数指针</a:t>
            </a:r>
          </a:p>
          <a:p>
            <a:pPr eaLnBrk="1" hangingPunct="1">
              <a:buFontTx/>
              <a:buNone/>
            </a:pPr>
            <a:r>
              <a:rPr lang="zh-CN" altLang="en-US" sz="3600" dirty="0"/>
              <a:t>   函数指针的定义形式为：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FF00"/>
                </a:solidFill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数据类型符 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*函数名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形参表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en-US" alt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形参表可以省略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/>
              <a:t>如</a:t>
            </a:r>
            <a:r>
              <a:rPr lang="en-US" altLang="zh-CN" sz="2800" dirty="0"/>
              <a:t>:</a:t>
            </a:r>
            <a:r>
              <a:rPr lang="en-US" altLang="zh-CN" sz="2800" cap="none" dirty="0"/>
              <a:t>int (*p)(</a:t>
            </a:r>
            <a:r>
              <a:rPr lang="en-US" altLang="zh-CN" sz="2800" cap="none" dirty="0" err="1"/>
              <a:t>int,int</a:t>
            </a:r>
            <a:r>
              <a:rPr lang="en-US" altLang="zh-CN" sz="2800" cap="none" dirty="0"/>
              <a:t>);  </a:t>
            </a:r>
            <a:r>
              <a:rPr lang="zh-CN" altLang="en-US" sz="2800" cap="none" dirty="0"/>
              <a:t>或 </a:t>
            </a:r>
            <a:r>
              <a:rPr lang="en-US" altLang="zh-CN" sz="2800" cap="none" dirty="0"/>
              <a:t>int (*p)();</a:t>
            </a:r>
            <a:endParaRPr lang="en-US" altLang="zh-CN" sz="28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cap="none" dirty="0"/>
              <a:t>赋值</a:t>
            </a:r>
            <a:r>
              <a:rPr lang="en-US" altLang="zh-CN" sz="2800" cap="none" dirty="0"/>
              <a:t>:p=</a:t>
            </a:r>
            <a:r>
              <a:rPr lang="zh-CN" altLang="en-US" sz="2800" cap="none" dirty="0"/>
              <a:t>函数名</a:t>
            </a:r>
            <a:r>
              <a:rPr lang="en-US" altLang="zh-CN" sz="2800" cap="none" dirty="0"/>
              <a:t>,</a:t>
            </a:r>
            <a:r>
              <a:rPr lang="zh-CN" altLang="en-US" sz="28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en-US" altLang="zh-CN" sz="28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p=&amp;</a:t>
            </a:r>
            <a:r>
              <a:rPr lang="zh-CN" altLang="en-US" sz="2800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函数名</a:t>
            </a:r>
            <a:endParaRPr lang="en-US" altLang="zh-CN" sz="2800" cap="non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调用：</a:t>
            </a:r>
            <a:r>
              <a:rPr lang="en-US" altLang="zh-CN" sz="2800" cap="none" dirty="0"/>
              <a:t>p(</a:t>
            </a:r>
            <a:r>
              <a:rPr lang="zh-CN" altLang="en-US" sz="2800" cap="none" dirty="0"/>
              <a:t>实参表</a:t>
            </a:r>
            <a:r>
              <a:rPr lang="en-US" altLang="zh-CN" sz="2800" cap="none" dirty="0"/>
              <a:t>)</a:t>
            </a:r>
            <a:endParaRPr lang="zh-CN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271403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3"/>
          <p:cNvSpPr txBox="1">
            <a:spLocks noChangeArrowheads="1"/>
          </p:cNvSpPr>
          <p:nvPr/>
        </p:nvSpPr>
        <p:spPr bwMode="auto">
          <a:xfrm>
            <a:off x="2279650" y="476251"/>
            <a:ext cx="7200900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#include &lt;stdio.h&gt;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int main()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{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int test1(</a:t>
            </a:r>
            <a:r>
              <a:rPr lang="en-US" altLang="zh-CN" sz="2800" dirty="0" err="1"/>
              <a:t>int,int,int</a:t>
            </a:r>
            <a:r>
              <a:rPr lang="en-US" altLang="zh-CN" sz="2800" dirty="0"/>
              <a:t>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int test2(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int (*p)(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),m;    //p</a:t>
            </a:r>
            <a:r>
              <a:rPr lang="zh-CN" altLang="en-US" sz="2800" dirty="0"/>
              <a:t>为函数指针</a:t>
            </a:r>
            <a:endParaRPr lang="en-US" altLang="zh-CN" sz="2800" dirty="0"/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p=test1;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m=p(3,8,5);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printf("m=%d\</a:t>
            </a:r>
            <a:r>
              <a:rPr lang="en-US" altLang="zh-CN" sz="2800" dirty="0" err="1"/>
              <a:t>n",m</a:t>
            </a:r>
            <a:r>
              <a:rPr lang="en-US" altLang="zh-CN" sz="2800" dirty="0"/>
              <a:t>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p=&amp;test2;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m=p(3,4);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  printf("m=%d\</a:t>
            </a:r>
            <a:r>
              <a:rPr lang="en-US" altLang="zh-CN" sz="2800" dirty="0" err="1"/>
              <a:t>n",m</a:t>
            </a:r>
            <a:r>
              <a:rPr lang="en-US" altLang="zh-CN" sz="2800" dirty="0"/>
              <a:t>);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4153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Box 3"/>
          <p:cNvSpPr txBox="1">
            <a:spLocks noChangeArrowheads="1"/>
          </p:cNvSpPr>
          <p:nvPr/>
        </p:nvSpPr>
        <p:spPr bwMode="auto">
          <a:xfrm>
            <a:off x="2279650" y="476251"/>
            <a:ext cx="7200900" cy="551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int test1(int a,int </a:t>
            </a:r>
            <a:r>
              <a:rPr lang="en-US" altLang="zh-CN" sz="3200" dirty="0" err="1"/>
              <a:t>b,int</a:t>
            </a:r>
            <a:r>
              <a:rPr lang="en-US" altLang="zh-CN" sz="3200" dirty="0"/>
              <a:t> c)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	int m;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	m=(a&gt;=b)?</a:t>
            </a:r>
            <a:r>
              <a:rPr lang="en-US" altLang="zh-CN" sz="3200" dirty="0" err="1"/>
              <a:t>a:b</a:t>
            </a:r>
            <a:r>
              <a:rPr lang="en-US" altLang="zh-CN" sz="3200" dirty="0"/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	m=(m&gt;=c)?</a:t>
            </a:r>
            <a:r>
              <a:rPr lang="en-US" altLang="zh-CN" sz="3200" dirty="0" err="1"/>
              <a:t>m:c</a:t>
            </a:r>
            <a:r>
              <a:rPr lang="en-US" altLang="zh-CN" sz="3200" dirty="0"/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	return m;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int test2(int x,int y)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	return x+y;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09775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28572" y="1052737"/>
            <a:ext cx="7051805" cy="24482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</a:rPr>
              <a:t>若有以下定义和语句</a:t>
            </a:r>
            <a:r>
              <a:rPr lang="zh-CN" altLang="zh-CN" sz="2800" b="1" dirty="0">
                <a:latin typeface="Times New Roman" pitchFamily="18" charset="0"/>
              </a:rPr>
              <a:t>, </a:t>
            </a:r>
            <a:r>
              <a:rPr lang="zh-CN" altLang="zh-CN" sz="2800" b="1" dirty="0">
                <a:latin typeface="黑体" pitchFamily="49" charset="-122"/>
              </a:rPr>
              <a:t>则能正确表示</a:t>
            </a:r>
            <a:r>
              <a:rPr lang="zh-CN" altLang="zh-CN" sz="2800" b="1" dirty="0">
                <a:solidFill>
                  <a:srgbClr val="C00000"/>
                </a:solidFill>
                <a:latin typeface="Arial" pitchFamily="34" charset="0"/>
              </a:rPr>
              <a:t>a</a:t>
            </a:r>
            <a:r>
              <a:rPr lang="zh-CN" altLang="zh-CN" sz="2800" b="1" dirty="0">
                <a:solidFill>
                  <a:srgbClr val="C00000"/>
                </a:solidFill>
                <a:latin typeface="黑体" pitchFamily="49" charset="-122"/>
              </a:rPr>
              <a:t>数组元素地址</a:t>
            </a:r>
            <a:r>
              <a:rPr lang="zh-CN" altLang="zh-CN" sz="2800" b="1" dirty="0">
                <a:latin typeface="黑体" pitchFamily="49" charset="-122"/>
              </a:rPr>
              <a:t>的表达式是</a:t>
            </a:r>
            <a:r>
              <a:rPr lang="zh-CN" altLang="zh-CN" sz="2800" b="1" dirty="0">
                <a:latin typeface="Times New Roman" pitchFamily="18" charset="0"/>
              </a:rPr>
              <a:t>:</a:t>
            </a:r>
          </a:p>
          <a:p>
            <a:pPr algn="just">
              <a:buFont typeface="Wingdings" pitchFamily="2" charset="2"/>
              <a:buNone/>
            </a:pPr>
            <a:r>
              <a:rPr lang="zh-CN" altLang="zh-CN" sz="2800" b="1" dirty="0">
                <a:latin typeface="宋体" pitchFamily="2" charset="-122"/>
              </a:rPr>
              <a:t>   </a:t>
            </a:r>
            <a:r>
              <a:rPr lang="zh-CN" altLang="zh-CN" sz="2800" b="1" dirty="0"/>
              <a:t>double  a</a:t>
            </a:r>
            <a:r>
              <a:rPr lang="zh-CN" altLang="zh-CN" sz="2800" b="1" dirty="0">
                <a:latin typeface="黑体" pitchFamily="49" charset="-122"/>
              </a:rPr>
              <a:t>[</a:t>
            </a:r>
            <a:r>
              <a:rPr lang="zh-CN" altLang="zh-CN" sz="2800" b="1" dirty="0"/>
              <a:t>5</a:t>
            </a:r>
            <a:r>
              <a:rPr lang="zh-CN" altLang="zh-CN" sz="2800" b="1" dirty="0">
                <a:latin typeface="黑体" pitchFamily="49" charset="-122"/>
              </a:rPr>
              <a:t>]</a:t>
            </a:r>
            <a:r>
              <a:rPr lang="zh-CN" altLang="zh-CN" sz="2800" b="1" dirty="0">
                <a:latin typeface="Times New Roman" pitchFamily="18" charset="0"/>
              </a:rPr>
              <a:t>,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p1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  <a:p>
            <a:pPr algn="just">
              <a:buFont typeface="Wingdings" pitchFamily="2" charset="2"/>
              <a:buNone/>
            </a:pPr>
            <a:r>
              <a:rPr lang="zh-CN" altLang="zh-CN" sz="2800" b="1" dirty="0"/>
              <a:t>      p1=a</a:t>
            </a:r>
            <a:r>
              <a:rPr lang="zh-CN" altLang="zh-CN" sz="2800" b="1" dirty="0">
                <a:latin typeface="Times New Roman" pitchFamily="18" charset="0"/>
              </a:rPr>
              <a:t>;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777927" y="3586084"/>
            <a:ext cx="26511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a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157244" y="3501008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latin typeface="黑体" pitchFamily="49" charset="-122"/>
              </a:rPr>
              <a:t>p1+5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777927" y="4692945"/>
            <a:ext cx="293915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黑体" pitchFamily="49" charset="-122"/>
                <a:sym typeface="Microsoft Yahei"/>
              </a:rPr>
              <a:t>*p1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157244" y="4564355"/>
            <a:ext cx="28438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sz="2800" b="1" dirty="0"/>
              <a:t>&amp;a[5]</a:t>
            </a:r>
            <a:endParaRPr lang="zh-CN" altLang="zh-CN" sz="2800" b="1" dirty="0">
              <a:latin typeface="Times New Roman" pitchFamily="18" charset="0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63552" y="3650377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442869" y="3565301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063552" y="475723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442869" y="462864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778000" y="-90872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778000" y="-90872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778000" y="-90872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524000" y="-90872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-252095" y="-799500"/>
              <a:ext cx="525815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8269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428572" y="1052737"/>
            <a:ext cx="7051805" cy="24482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15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黑体" pitchFamily="49" charset="-122"/>
              </a:rPr>
              <a:t>设</a:t>
            </a:r>
            <a:r>
              <a:rPr lang="zh-CN" altLang="zh-CN" sz="2800" b="1" dirty="0"/>
              <a:t>char </a:t>
            </a:r>
            <a:r>
              <a:rPr lang="zh-CN" altLang="zh-CN" sz="2800" b="1" dirty="0">
                <a:latin typeface="黑体" pitchFamily="49" charset="-122"/>
              </a:rPr>
              <a:t>*</a:t>
            </a:r>
            <a:r>
              <a:rPr lang="zh-CN" altLang="zh-CN" sz="2800" b="1" dirty="0"/>
              <a:t>p=</a:t>
            </a:r>
            <a:r>
              <a:rPr lang="zh-CN" altLang="zh-CN" sz="2800" b="1" dirty="0">
                <a:latin typeface="Times New Roman" pitchFamily="18" charset="0"/>
              </a:rPr>
              <a:t>“</a:t>
            </a:r>
            <a:r>
              <a:rPr lang="zh-CN" altLang="zh-CN" sz="2800" b="1" dirty="0"/>
              <a:t>pascal</a:t>
            </a:r>
            <a:r>
              <a:rPr lang="zh-CN" altLang="zh-CN" sz="2800" b="1" dirty="0">
                <a:latin typeface="Times New Roman" pitchFamily="18" charset="0"/>
              </a:rPr>
              <a:t>”, </a:t>
            </a:r>
            <a:r>
              <a:rPr lang="zh-CN" altLang="zh-CN" sz="2800" b="1" dirty="0">
                <a:latin typeface="黑体" pitchFamily="49" charset="-122"/>
              </a:rPr>
              <a:t>则表达式 </a:t>
            </a:r>
            <a:r>
              <a:rPr lang="zh-CN" altLang="zh-CN" sz="2800" b="1" dirty="0">
                <a:solidFill>
                  <a:srgbClr val="00009E"/>
                </a:solidFill>
                <a:latin typeface="黑体" pitchFamily="49" charset="-122"/>
              </a:rPr>
              <a:t>*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(</a:t>
            </a:r>
            <a:r>
              <a:rPr lang="zh-CN" altLang="zh-CN" sz="2800" b="1" dirty="0">
                <a:solidFill>
                  <a:srgbClr val="00009E"/>
                </a:solidFill>
              </a:rPr>
              <a:t>++p+1</a:t>
            </a:r>
            <a:r>
              <a:rPr lang="zh-CN" altLang="zh-CN" sz="2800" b="1" dirty="0">
                <a:solidFill>
                  <a:srgbClr val="00009E"/>
                </a:solidFill>
                <a:latin typeface="Times New Roman" pitchFamily="18" charset="0"/>
              </a:rPr>
              <a:t>)</a:t>
            </a:r>
            <a:r>
              <a:rPr lang="zh-CN" altLang="zh-CN" sz="2800" b="1" dirty="0">
                <a:solidFill>
                  <a:srgbClr val="00009E"/>
                </a:solidFill>
              </a:rPr>
              <a:t>+1</a:t>
            </a:r>
          </a:p>
          <a:p>
            <a:pPr>
              <a:lnSpc>
                <a:spcPct val="11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zh-CN" altLang="zh-CN" sz="2800" b="1" dirty="0"/>
              <a:t>     的值是下列哪个字符的</a:t>
            </a:r>
            <a:r>
              <a:rPr lang="zh-CN" altLang="zh-CN" sz="2800" dirty="0"/>
              <a:t>ASC</a:t>
            </a:r>
            <a:r>
              <a:rPr lang="zh-CN" altLang="zh-CN" sz="2800" b="1" dirty="0"/>
              <a:t>Ⅱ码？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2777926" y="3586084"/>
            <a:ext cx="25979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Times New Roman" pitchFamily="18" charset="0"/>
              </a:rPr>
              <a:t>‘</a:t>
            </a:r>
            <a:r>
              <a:rPr lang="zh-CN" altLang="zh-CN" sz="2800" b="1" dirty="0"/>
              <a:t>b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7157244" y="3501008"/>
            <a:ext cx="216713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b="1" dirty="0">
                <a:latin typeface="Times New Roman" pitchFamily="18" charset="0"/>
              </a:rPr>
              <a:t>‘</a:t>
            </a:r>
            <a:r>
              <a:rPr lang="zh-CN" altLang="zh-CN" sz="2800" b="1" dirty="0"/>
              <a:t>t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2777927" y="4692945"/>
            <a:ext cx="293915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latin typeface="Times New Roman" pitchFamily="18" charset="0"/>
              </a:rPr>
              <a:t>‘</a:t>
            </a:r>
            <a:r>
              <a:rPr lang="zh-CN" altLang="zh-CN" sz="2400" b="1" dirty="0"/>
              <a:t>c</a:t>
            </a:r>
            <a:r>
              <a:rPr lang="zh-CN" altLang="zh-CN" sz="2400" b="1" dirty="0">
                <a:latin typeface="Times New Roman" pitchFamily="18" charset="0"/>
              </a:rPr>
              <a:t>’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7157244" y="4564355"/>
            <a:ext cx="284380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spcBef>
                <a:spcPct val="45000"/>
              </a:spcBef>
              <a:buFont typeface="Wingdings" pitchFamily="2" charset="2"/>
              <a:buNone/>
            </a:pPr>
            <a:r>
              <a:rPr lang="zh-CN" altLang="zh-CN" sz="2800" b="1" dirty="0">
                <a:latin typeface="Times New Roman" pitchFamily="18" charset="0"/>
              </a:rPr>
              <a:t>‘</a:t>
            </a:r>
            <a:r>
              <a:rPr lang="zh-CN" altLang="zh-CN" sz="2800" b="1" dirty="0"/>
              <a:t>s</a:t>
            </a:r>
            <a:r>
              <a:rPr lang="zh-CN" altLang="zh-CN" sz="2800" b="1" dirty="0">
                <a:latin typeface="Times New Roman" pitchFamily="18" charset="0"/>
              </a:rPr>
              <a:t>’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63552" y="3650377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442869" y="3565301"/>
            <a:ext cx="514350" cy="514350"/>
          </a:xfrm>
          <a:prstGeom prst="ellipse">
            <a:avLst/>
          </a:prstGeom>
          <a:solidFill>
            <a:srgbClr val="00FF00">
              <a:alpha val="50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063552" y="475723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442869" y="4628648"/>
            <a:ext cx="514350" cy="514350"/>
          </a:xfrm>
          <a:prstGeom prst="ellipse">
            <a:avLst/>
          </a:prstGeom>
          <a:solidFill>
            <a:srgbClr val="808080">
              <a:alpha val="50000"/>
            </a:srgb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778000" y="-90872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778000" y="-908720"/>
              <a:ext cx="9144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778000" y="-90872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524000" y="-90872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-252095" y="-799500"/>
              <a:ext cx="525815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45201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C46B3B-FF80-696F-5968-4E0C167020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void fun(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)   //</a:t>
            </a:r>
            <a:r>
              <a:rPr lang="zh-CN" altLang="en-US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请填写对应的形参定义</a:t>
            </a:r>
            <a:r>
              <a:rPr lang="en-US" altLang="zh-CN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设形参名为</a:t>
            </a:r>
            <a:r>
              <a:rPr lang="en-US" altLang="zh-CN" sz="260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en-US" altLang="zh-CN" sz="26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 a[10];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fun(a);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2EE821-9276-C902-F411-B3E4518A4A6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600A44-5954-3386-BAC6-A527A9793D2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34FE4339-45B5-1554-F4C7-7D1E9E081B4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DF18EDC5-CF74-BE03-92AF-DA128A63D45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F858D49-2F30-B479-842D-6C5A6CB9BCC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C96EA10-BA25-A660-7929-7D3A85CE27B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B3F9AEB-66F9-2A67-03BA-1F98DB808A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93852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C46B3B-FF80-696F-5968-4E0C167020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void fun(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)   //</a:t>
            </a:r>
            <a:r>
              <a:rPr lang="zh-CN" altLang="en-US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请填写对应的形参定义</a:t>
            </a:r>
            <a:r>
              <a:rPr lang="en-US" altLang="zh-CN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设形参名为</a:t>
            </a:r>
            <a:r>
              <a:rPr lang="en-US" altLang="zh-CN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q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*p[3];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fun(p);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2EE821-9276-C902-F411-B3E4518A4A6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600A44-5954-3386-BAC6-A527A9793D2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34FE4339-45B5-1554-F4C7-7D1E9E081B4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DF18EDC5-CF74-BE03-92AF-DA128A63D45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F858D49-2F30-B479-842D-6C5A6CB9BCC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C96EA10-BA25-A660-7929-7D3A85CE27B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B3F9AEB-66F9-2A67-03BA-1F98DB808A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65415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C46B3B-FF80-696F-5968-4E0C167020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9154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#include 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void fun(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)   //</a:t>
            </a:r>
            <a:r>
              <a:rPr lang="zh-CN" altLang="en-US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请填写对应的形参定义</a:t>
            </a:r>
            <a:r>
              <a:rPr lang="en-US" altLang="zh-CN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设形参名为</a:t>
            </a:r>
            <a:r>
              <a:rPr lang="en-US" altLang="zh-CN" sz="26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main()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int a[3][5];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fun(a);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2EE821-9276-C902-F411-B3E4518A4A6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>
              <a:alpha val="50000"/>
            </a:srgbClr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600A44-5954-3386-BAC6-A527A9793D2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34FE4339-45B5-1554-F4C7-7D1E9E081B4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DF18EDC5-CF74-BE03-92AF-DA128A63D45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>
                <a:alpha val="50000"/>
              </a:srgbClr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0" cap="flat" cmpd="sng" algn="ctr">
                  <a:solidFill>
                    <a:srgbClr val="002BB4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Dotum" pitchFamily="34" charset="-127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F858D49-2F30-B479-842D-6C5A6CB9BCC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3C96EA10-BA25-A660-7929-7D3A85CE27B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B3F9AEB-66F9-2A67-03BA-1F98DB808A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3531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3,10&quot;,&quot;3，10&quot;]},{&quot;num&quot;:2,&quot;caseSensitive&quot;:false,&quot;fuzzyMatch&quot;:false,&quot;Score&quot;:1.0,&quot;answers&quot;:[&quot;10&quot;]}]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int *a&quot;,&quot;int a[]&quot;,&quot;int a[10]&quot;]}]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int **q&quot;,&quot;int *q[]&quot;,&quot;int *q[3]&quot;]}]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true,&quot;fuzzyMatch&quot;:false,&quot;Score&quot;:1.0,&quot;answers&quot;:[&quot;int (*a)[5]&quot;,&quot;int a[][5]&quot;,&quot;int a[3][5]&quot;]}]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9900"/>
      </a:hlink>
      <a:folHlink>
        <a:srgbClr val="FFCC00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99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CC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99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A8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3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BD5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DBB5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4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D08B"/>
        </a:accent1>
        <a:accent2>
          <a:srgbClr val="FFB7DB"/>
        </a:accent2>
        <a:accent3>
          <a:srgbClr val="FFFFFF"/>
        </a:accent3>
        <a:accent4>
          <a:srgbClr val="000000"/>
        </a:accent4>
        <a:accent5>
          <a:srgbClr val="FFE4C4"/>
        </a:accent5>
        <a:accent6>
          <a:srgbClr val="E7A6C6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5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16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whu8">
  <a:themeElements>
    <a:clrScheme name="3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whu8">
      <a:majorFont>
        <a:latin typeface="Tahoma"/>
        <a:ea typeface="楷体_GB2312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3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8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9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whu8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whu8">
  <a:themeElements>
    <a:clrScheme name="1_whu8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whu8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whu8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hu8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hu8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0">
  <a:themeElements>
    <a:clrScheme name="1_0 9">
      <a:dk1>
        <a:srgbClr val="000000"/>
      </a:dk1>
      <a:lt1>
        <a:srgbClr val="FFFFFF"/>
      </a:lt1>
      <a:dk2>
        <a:srgbClr val="FFCC00"/>
      </a:dk2>
      <a:lt2>
        <a:srgbClr val="000000"/>
      </a:lt2>
      <a:accent1>
        <a:srgbClr val="8080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C0C0AA"/>
      </a:accent5>
      <a:accent6>
        <a:srgbClr val="B98A00"/>
      </a:accent6>
      <a:hlink>
        <a:srgbClr val="B85C00"/>
      </a:hlink>
      <a:folHlink>
        <a:srgbClr val="7D7D7D"/>
      </a:folHlink>
    </a:clrScheme>
    <a:fontScheme name="1_0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1_0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8080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C0C0AA"/>
        </a:accent5>
        <a:accent6>
          <a:srgbClr val="B98A00"/>
        </a:accent6>
        <a:hlink>
          <a:srgbClr val="CC66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2">
        <a:dk1>
          <a:srgbClr val="660033"/>
        </a:dk1>
        <a:lt1>
          <a:srgbClr val="FFFFFF"/>
        </a:lt1>
        <a:dk2>
          <a:srgbClr val="B60009"/>
        </a:dk2>
        <a:lt2>
          <a:srgbClr val="B2B2B2"/>
        </a:lt2>
        <a:accent1>
          <a:srgbClr val="CCCC00"/>
        </a:accent1>
        <a:accent2>
          <a:srgbClr val="DE9ABC"/>
        </a:accent2>
        <a:accent3>
          <a:srgbClr val="FFFFFF"/>
        </a:accent3>
        <a:accent4>
          <a:srgbClr val="56002A"/>
        </a:accent4>
        <a:accent5>
          <a:srgbClr val="E2E2AA"/>
        </a:accent5>
        <a:accent6>
          <a:srgbClr val="C98BAA"/>
        </a:accent6>
        <a:hlink>
          <a:srgbClr val="FFAFA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4">
        <a:dk1>
          <a:srgbClr val="2C2C42"/>
        </a:dk1>
        <a:lt1>
          <a:srgbClr val="FFFFCC"/>
        </a:lt1>
        <a:dk2>
          <a:srgbClr val="666699"/>
        </a:dk2>
        <a:lt2>
          <a:srgbClr val="FFCC00"/>
        </a:lt2>
        <a:accent1>
          <a:srgbClr val="FF9933"/>
        </a:accent1>
        <a:accent2>
          <a:srgbClr val="808000"/>
        </a:accent2>
        <a:accent3>
          <a:srgbClr val="B8B8CA"/>
        </a:accent3>
        <a:accent4>
          <a:srgbClr val="DADAAE"/>
        </a:accent4>
        <a:accent5>
          <a:srgbClr val="FFCAAD"/>
        </a:accent5>
        <a:accent6>
          <a:srgbClr val="737300"/>
        </a:accent6>
        <a:hlink>
          <a:srgbClr val="CC6600"/>
        </a:hlink>
        <a:folHlink>
          <a:srgbClr val="33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5">
        <a:dk1>
          <a:srgbClr val="50000F"/>
        </a:dk1>
        <a:lt1>
          <a:srgbClr val="FFCC00"/>
        </a:lt1>
        <a:dk2>
          <a:srgbClr val="800000"/>
        </a:dk2>
        <a:lt2>
          <a:srgbClr val="FFFFCC"/>
        </a:lt2>
        <a:accent1>
          <a:srgbClr val="808000"/>
        </a:accent1>
        <a:accent2>
          <a:srgbClr val="993366"/>
        </a:accent2>
        <a:accent3>
          <a:srgbClr val="C0AAAA"/>
        </a:accent3>
        <a:accent4>
          <a:srgbClr val="DAAE00"/>
        </a:accent4>
        <a:accent5>
          <a:srgbClr val="C0C0AA"/>
        </a:accent5>
        <a:accent6>
          <a:srgbClr val="8A2D5C"/>
        </a:accent6>
        <a:hlink>
          <a:srgbClr val="FF505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6">
        <a:dk1>
          <a:srgbClr val="333300"/>
        </a:dk1>
        <a:lt1>
          <a:srgbClr val="FFCC00"/>
        </a:lt1>
        <a:dk2>
          <a:srgbClr val="666633"/>
        </a:dk2>
        <a:lt2>
          <a:srgbClr val="FFFFCC"/>
        </a:lt2>
        <a:accent1>
          <a:srgbClr val="8F7401"/>
        </a:accent1>
        <a:accent2>
          <a:srgbClr val="CC6600"/>
        </a:accent2>
        <a:accent3>
          <a:srgbClr val="B8B8AD"/>
        </a:accent3>
        <a:accent4>
          <a:srgbClr val="DAAE00"/>
        </a:accent4>
        <a:accent5>
          <a:srgbClr val="C6BCAA"/>
        </a:accent5>
        <a:accent6>
          <a:srgbClr val="B95C00"/>
        </a:accent6>
        <a:hlink>
          <a:srgbClr val="666699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7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8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0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1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0">
  <a:themeElements>
    <a:clrScheme name="0 9">
      <a:dk1>
        <a:srgbClr val="000000"/>
      </a:dk1>
      <a:lt1>
        <a:srgbClr val="FFFFFF"/>
      </a:lt1>
      <a:dk2>
        <a:srgbClr val="FFCC00"/>
      </a:dk2>
      <a:lt2>
        <a:srgbClr val="000000"/>
      </a:lt2>
      <a:accent1>
        <a:srgbClr val="8080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C0C0AA"/>
      </a:accent5>
      <a:accent6>
        <a:srgbClr val="B98A00"/>
      </a:accent6>
      <a:hlink>
        <a:srgbClr val="B85C00"/>
      </a:hlink>
      <a:folHlink>
        <a:srgbClr val="008000"/>
      </a:folHlink>
    </a:clrScheme>
    <a:fontScheme name="0">
      <a:majorFont>
        <a:latin typeface="Arial"/>
        <a:ea typeface="隶书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0" cap="flat" cmpd="sng" algn="ctr">
          <a:solidFill>
            <a:srgbClr val="002BB4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  <a:extLst>
          <a:ext uri="{909E8E84-426E-40DD-AFC4-6F175D3DCCD1}">
            <a14:hiddenFill xmlns:a14="http://schemas.microsoft.com/office/drawing/2010/main">
              <a:solidFill>
                <a:srgbClr val="CC99FF">
                  <a:alpha val="50000"/>
                </a:srgbClr>
              </a:solidFill>
            </a14:hiddenFill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Dotum" pitchFamily="34" charset="-127"/>
          </a:defRPr>
        </a:defPPr>
      </a:lstStyle>
    </a:lnDef>
  </a:objectDefaults>
  <a:extraClrSchemeLst>
    <a:extraClrScheme>
      <a:clrScheme name="0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8080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C0C0AA"/>
        </a:accent5>
        <a:accent6>
          <a:srgbClr val="B98A00"/>
        </a:accent6>
        <a:hlink>
          <a:srgbClr val="CC66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2">
        <a:dk1>
          <a:srgbClr val="660033"/>
        </a:dk1>
        <a:lt1>
          <a:srgbClr val="FFFFFF"/>
        </a:lt1>
        <a:dk2>
          <a:srgbClr val="B60009"/>
        </a:dk2>
        <a:lt2>
          <a:srgbClr val="B2B2B2"/>
        </a:lt2>
        <a:accent1>
          <a:srgbClr val="CCCC00"/>
        </a:accent1>
        <a:accent2>
          <a:srgbClr val="DE9ABC"/>
        </a:accent2>
        <a:accent3>
          <a:srgbClr val="FFFFFF"/>
        </a:accent3>
        <a:accent4>
          <a:srgbClr val="56002A"/>
        </a:accent4>
        <a:accent5>
          <a:srgbClr val="E2E2AA"/>
        </a:accent5>
        <a:accent6>
          <a:srgbClr val="C98BAA"/>
        </a:accent6>
        <a:hlink>
          <a:srgbClr val="FFAFA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8080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4">
        <a:dk1>
          <a:srgbClr val="2C2C42"/>
        </a:dk1>
        <a:lt1>
          <a:srgbClr val="FFFFCC"/>
        </a:lt1>
        <a:dk2>
          <a:srgbClr val="666699"/>
        </a:dk2>
        <a:lt2>
          <a:srgbClr val="FFCC00"/>
        </a:lt2>
        <a:accent1>
          <a:srgbClr val="FF9933"/>
        </a:accent1>
        <a:accent2>
          <a:srgbClr val="808000"/>
        </a:accent2>
        <a:accent3>
          <a:srgbClr val="B8B8CA"/>
        </a:accent3>
        <a:accent4>
          <a:srgbClr val="DADAAE"/>
        </a:accent4>
        <a:accent5>
          <a:srgbClr val="FFCAAD"/>
        </a:accent5>
        <a:accent6>
          <a:srgbClr val="737300"/>
        </a:accent6>
        <a:hlink>
          <a:srgbClr val="CC6600"/>
        </a:hlink>
        <a:folHlink>
          <a:srgbClr val="33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5">
        <a:dk1>
          <a:srgbClr val="50000F"/>
        </a:dk1>
        <a:lt1>
          <a:srgbClr val="FFCC00"/>
        </a:lt1>
        <a:dk2>
          <a:srgbClr val="800000"/>
        </a:dk2>
        <a:lt2>
          <a:srgbClr val="FFFFCC"/>
        </a:lt2>
        <a:accent1>
          <a:srgbClr val="808000"/>
        </a:accent1>
        <a:accent2>
          <a:srgbClr val="993366"/>
        </a:accent2>
        <a:accent3>
          <a:srgbClr val="C0AAAA"/>
        </a:accent3>
        <a:accent4>
          <a:srgbClr val="DAAE00"/>
        </a:accent4>
        <a:accent5>
          <a:srgbClr val="C0C0AA"/>
        </a:accent5>
        <a:accent6>
          <a:srgbClr val="8A2D5C"/>
        </a:accent6>
        <a:hlink>
          <a:srgbClr val="FF505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6">
        <a:dk1>
          <a:srgbClr val="333300"/>
        </a:dk1>
        <a:lt1>
          <a:srgbClr val="FFCC00"/>
        </a:lt1>
        <a:dk2>
          <a:srgbClr val="666633"/>
        </a:dk2>
        <a:lt2>
          <a:srgbClr val="FFFFCC"/>
        </a:lt2>
        <a:accent1>
          <a:srgbClr val="8F7401"/>
        </a:accent1>
        <a:accent2>
          <a:srgbClr val="CC6600"/>
        </a:accent2>
        <a:accent3>
          <a:srgbClr val="B8B8AD"/>
        </a:accent3>
        <a:accent4>
          <a:srgbClr val="DAAE00"/>
        </a:accent4>
        <a:accent5>
          <a:srgbClr val="C6BCAA"/>
        </a:accent5>
        <a:accent6>
          <a:srgbClr val="B95C00"/>
        </a:accent6>
        <a:hlink>
          <a:srgbClr val="666699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7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8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9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0">
        <a:dk1>
          <a:srgbClr val="000000"/>
        </a:dk1>
        <a:lt1>
          <a:srgbClr val="FFFFFF"/>
        </a:lt1>
        <a:dk2>
          <a:srgbClr val="000099"/>
        </a:dk2>
        <a:lt2>
          <a:srgbClr val="969696"/>
        </a:lt2>
        <a:accent1>
          <a:srgbClr val="FFFF99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005C5C"/>
        </a:accent6>
        <a:hlink>
          <a:srgbClr val="00000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1">
        <a:dk1>
          <a:srgbClr val="C0C0C0"/>
        </a:dk1>
        <a:lt1>
          <a:srgbClr val="FFFFFF"/>
        </a:lt1>
        <a:dk2>
          <a:srgbClr val="7979A5"/>
        </a:dk2>
        <a:lt2>
          <a:srgbClr val="FFFF00"/>
        </a:lt2>
        <a:accent1>
          <a:srgbClr val="7499D0"/>
        </a:accent1>
        <a:accent2>
          <a:srgbClr val="CCCCFF"/>
        </a:accent2>
        <a:accent3>
          <a:srgbClr val="BEBECF"/>
        </a:accent3>
        <a:accent4>
          <a:srgbClr val="DADADA"/>
        </a:accent4>
        <a:accent5>
          <a:srgbClr val="BCCAE4"/>
        </a:accent5>
        <a:accent6>
          <a:srgbClr val="B9B9E7"/>
        </a:accent6>
        <a:hlink>
          <a:srgbClr val="FFFF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 12">
        <a:dk1>
          <a:srgbClr val="000000"/>
        </a:dk1>
        <a:lt1>
          <a:srgbClr val="FFFFFF"/>
        </a:lt1>
        <a:dk2>
          <a:srgbClr val="FFCC00"/>
        </a:dk2>
        <a:lt2>
          <a:srgbClr val="000000"/>
        </a:lt2>
        <a:accent1>
          <a:srgbClr val="8080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B98A00"/>
        </a:accent6>
        <a:hlink>
          <a:srgbClr val="B85C00"/>
        </a:hlink>
        <a:folHlink>
          <a:srgbClr val="7D7D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4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5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FF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 16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99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8.xml><?xml version="1.0" encoding="utf-8"?>
<a:theme xmlns:a="http://schemas.openxmlformats.org/drawingml/2006/main" name="2_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5046</TotalTime>
  <Words>4935</Words>
  <Application>Microsoft Office PowerPoint</Application>
  <PresentationFormat>宽屏</PresentationFormat>
  <Paragraphs>767</Paragraphs>
  <Slides>56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56</vt:i4>
      </vt:variant>
    </vt:vector>
  </HeadingPairs>
  <TitlesOfParts>
    <vt:vector size="77" baseType="lpstr">
      <vt:lpstr>黑体</vt:lpstr>
      <vt:lpstr>楷体_GB2312</vt:lpstr>
      <vt:lpstr>宋体</vt:lpstr>
      <vt:lpstr>Microsoft Yahei</vt:lpstr>
      <vt:lpstr>新宋体</vt:lpstr>
      <vt:lpstr>幼圆</vt:lpstr>
      <vt:lpstr>Arial</vt:lpstr>
      <vt:lpstr>Calibri</vt:lpstr>
      <vt:lpstr>Palatino Linotype</vt:lpstr>
      <vt:lpstr>Tahoma</vt:lpstr>
      <vt:lpstr>Times New Roman</vt:lpstr>
      <vt:lpstr>Tw Cen MT</vt:lpstr>
      <vt:lpstr>Wingdings</vt:lpstr>
      <vt:lpstr>Office 主题​​</vt:lpstr>
      <vt:lpstr>Blends</vt:lpstr>
      <vt:lpstr>3_whu8</vt:lpstr>
      <vt:lpstr>1_whu8</vt:lpstr>
      <vt:lpstr>1_0</vt:lpstr>
      <vt:lpstr>0</vt:lpstr>
      <vt:lpstr>水滴</vt:lpstr>
      <vt:lpstr>2_水滴</vt:lpstr>
      <vt:lpstr>7.4  指向字符串的指针变量</vt:lpstr>
      <vt:lpstr>7.4.1 字符串指针的定义与引用</vt:lpstr>
      <vt:lpstr>7.4.1 字符串指针的定义与引用</vt:lpstr>
      <vt:lpstr>1.  用字符数组实现字符串操作</vt:lpstr>
      <vt:lpstr>2. 用字符指针实现字符串操作</vt:lpstr>
      <vt:lpstr>7.4.2 字符串指针变量与字符数组的区别</vt:lpstr>
      <vt:lpstr> </vt:lpstr>
      <vt:lpstr> </vt:lpstr>
      <vt:lpstr>7.4.3 字符指针作为函数参数</vt:lpstr>
      <vt:lpstr>7.4.3 字符串指针变量作为函数参数</vt:lpstr>
      <vt:lpstr>PowerPoint 演示文稿</vt:lpstr>
      <vt:lpstr>PowerPoint 演示文稿</vt:lpstr>
      <vt:lpstr>7.  程序 my.c利用函数strcmp(str1, str2)比较两个字符串str1, str2的大小, 如果 str1&gt;str2 返回1; str1==str2 返回0; str1&lt;str2返回-1, 编写strcmp( )函数。</vt:lpstr>
      <vt:lpstr>PowerPoint 演示文稿</vt:lpstr>
      <vt:lpstr>PowerPoint 演示文稿</vt:lpstr>
      <vt:lpstr>PowerPoint 演示文稿</vt:lpstr>
      <vt:lpstr>7.6  指针(变量)的指针</vt:lpstr>
      <vt:lpstr>7.6.1  指针的指针</vt:lpstr>
      <vt:lpstr>   多级指针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指针数组</vt:lpstr>
      <vt:lpstr>PowerPoint 演示文稿</vt:lpstr>
      <vt:lpstr>PowerPoint 演示文稿</vt:lpstr>
      <vt:lpstr>7.6.1  指针数组</vt:lpstr>
      <vt:lpstr>7.6.1  指针数组</vt:lpstr>
      <vt:lpstr>7.6.1  指针数组</vt:lpstr>
      <vt:lpstr>PowerPoint 演示文稿</vt:lpstr>
      <vt:lpstr>PowerPoint 演示文稿</vt:lpstr>
      <vt:lpstr>指针与二维数组</vt:lpstr>
      <vt:lpstr>二维数组</vt:lpstr>
      <vt:lpstr>二维数组</vt:lpstr>
      <vt:lpstr>二维数组</vt:lpstr>
      <vt:lpstr>行指针的理解</vt:lpstr>
      <vt:lpstr>7.4  指针与函数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指针与函数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第八章   指针</dc:title>
  <dc:creator>wwb</dc:creator>
  <cp:lastModifiedBy>Administrator</cp:lastModifiedBy>
  <cp:revision>118</cp:revision>
  <dcterms:created xsi:type="dcterms:W3CDTF">2020-01-14T21:53:17Z</dcterms:created>
  <dcterms:modified xsi:type="dcterms:W3CDTF">2025-07-26T03:48:05Z</dcterms:modified>
</cp:coreProperties>
</file>