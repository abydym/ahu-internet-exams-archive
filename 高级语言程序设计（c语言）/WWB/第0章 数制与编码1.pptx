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notesSlides/notesSlide2.xml" ContentType="application/vnd.openxmlformats-officedocument.presentationml.notesSlide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7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321" r:id="rId11"/>
    <p:sldId id="266" r:id="rId12"/>
    <p:sldId id="267" r:id="rId13"/>
    <p:sldId id="312" r:id="rId14"/>
    <p:sldId id="313" r:id="rId15"/>
    <p:sldId id="268" r:id="rId16"/>
    <p:sldId id="269" r:id="rId17"/>
    <p:sldId id="270" r:id="rId18"/>
    <p:sldId id="271" r:id="rId19"/>
    <p:sldId id="314" r:id="rId20"/>
    <p:sldId id="315" r:id="rId21"/>
    <p:sldId id="319" r:id="rId22"/>
    <p:sldId id="320" r:id="rId23"/>
    <p:sldId id="280" r:id="rId24"/>
    <p:sldId id="281" r:id="rId25"/>
    <p:sldId id="282" r:id="rId26"/>
    <p:sldId id="283" r:id="rId27"/>
    <p:sldId id="284" r:id="rId28"/>
    <p:sldId id="316" r:id="rId29"/>
    <p:sldId id="322" r:id="rId30"/>
    <p:sldId id="295" r:id="rId31"/>
    <p:sldId id="296" r:id="rId32"/>
    <p:sldId id="297" r:id="rId33"/>
    <p:sldId id="323" r:id="rId34"/>
    <p:sldId id="317" r:id="rId3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804" y="5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F19DEE-D113-4941-A10F-E66D1F5E3375}" type="datetimeFigureOut">
              <a:rPr lang="zh-CN" altLang="en-US" smtClean="0"/>
              <a:t>2025/7/30 Wednesday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FE0F79-9586-4F39-8E31-52F22392F7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7605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F1A61A5-1D85-4568-A43B-203F990DDA9F}" type="slidenum">
              <a:rPr lang="en-US" altLang="zh-CN"/>
              <a:pPr/>
              <a:t>4</a:t>
            </a:fld>
            <a:endParaRPr lang="en-US" altLang="zh-CN"/>
          </a:p>
        </p:txBody>
      </p:sp>
      <p:sp>
        <p:nvSpPr>
          <p:cNvPr id="15362" name="Rectangle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C2D6CC5-E105-4BB3-96F1-47E218DDA686}" type="slidenum">
              <a:rPr lang="en-US" altLang="zh-CN"/>
              <a:pPr/>
              <a:t>25</a:t>
            </a:fld>
            <a:endParaRPr lang="en-US" altLang="zh-CN"/>
          </a:p>
        </p:txBody>
      </p:sp>
      <p:sp>
        <p:nvSpPr>
          <p:cNvPr id="655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55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2025/7/30 Wednesday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8737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2025/7/30 Wednesday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0959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2025/7/30 Wednesday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4676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2025/7/30 Wednesday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46068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2025/7/30 Wednesday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83428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2025/7/30 Wednesday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9294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2025/7/30 Wednesday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65889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2025/7/30 Wednesday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1262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2025/7/30 Wednesday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4656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2025/7/30 Wednesday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93577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2025/7/30 Wednesday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25610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2025/7/30 Wednesday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902207" y="2679192"/>
            <a:ext cx="5096256" cy="3447288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6193536" y="2679192"/>
            <a:ext cx="5096256" cy="3447288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57679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数制转换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fld id="{8206E7CA-82DC-4CF9-9F7A-D728B5B0857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771570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6400" y="304800"/>
            <a:ext cx="11277600" cy="838200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06400" y="1371600"/>
            <a:ext cx="11277600" cy="4876800"/>
          </a:xfrm>
        </p:spPr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17027152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2025/7/30 Wednesday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9954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8" r:id="rId1"/>
    <p:sldLayoutId id="2147483799" r:id="rId2"/>
    <p:sldLayoutId id="2147483800" r:id="rId3"/>
    <p:sldLayoutId id="2147483801" r:id="rId4"/>
    <p:sldLayoutId id="2147483802" r:id="rId5"/>
    <p:sldLayoutId id="2147483803" r:id="rId6"/>
    <p:sldLayoutId id="2147483804" r:id="rId7"/>
    <p:sldLayoutId id="2147483805" r:id="rId8"/>
    <p:sldLayoutId id="2147483806" r:id="rId9"/>
    <p:sldLayoutId id="2147483807" r:id="rId10"/>
    <p:sldLayoutId id="2147483808" r:id="rId11"/>
    <p:sldLayoutId id="2147483809" r:id="rId12"/>
    <p:sldLayoutId id="2147483810" r:id="rId13"/>
    <p:sldLayoutId id="2147483811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3.wmf"/><Relationship Id="rId4" Type="http://schemas.openxmlformats.org/officeDocument/2006/relationships/oleObject" Target="../embeddings/oleObject3.bin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image" Target="../media/image4.tmp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slideLayout" Target="../slideLayouts/slideLayout7.xml"/><Relationship Id="rId5" Type="http://schemas.openxmlformats.org/officeDocument/2006/relationships/tags" Target="../tags/tag5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3" Type="http://schemas.openxmlformats.org/officeDocument/2006/relationships/tags" Target="../tags/tag13.xml"/><Relationship Id="rId7" Type="http://schemas.openxmlformats.org/officeDocument/2006/relationships/tags" Target="../tags/tag17.xml"/><Relationship Id="rId12" Type="http://schemas.openxmlformats.org/officeDocument/2006/relationships/image" Target="../media/image4.tmp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slideLayout" Target="../slideLayouts/slideLayout7.xml"/><Relationship Id="rId5" Type="http://schemas.openxmlformats.org/officeDocument/2006/relationships/tags" Target="../tags/tag15.xml"/><Relationship Id="rId10" Type="http://schemas.openxmlformats.org/officeDocument/2006/relationships/tags" Target="../tags/tag20.xml"/><Relationship Id="rId4" Type="http://schemas.openxmlformats.org/officeDocument/2006/relationships/tags" Target="../tags/tag14.xml"/><Relationship Id="rId9" Type="http://schemas.openxmlformats.org/officeDocument/2006/relationships/tags" Target="../tags/tag19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28.xml"/><Relationship Id="rId3" Type="http://schemas.openxmlformats.org/officeDocument/2006/relationships/tags" Target="../tags/tag23.xml"/><Relationship Id="rId7" Type="http://schemas.openxmlformats.org/officeDocument/2006/relationships/tags" Target="../tags/tag27.xml"/><Relationship Id="rId12" Type="http://schemas.openxmlformats.org/officeDocument/2006/relationships/image" Target="../media/image4.tmp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tags" Target="../tags/tag26.xml"/><Relationship Id="rId11" Type="http://schemas.openxmlformats.org/officeDocument/2006/relationships/slideLayout" Target="../slideLayouts/slideLayout7.xml"/><Relationship Id="rId5" Type="http://schemas.openxmlformats.org/officeDocument/2006/relationships/tags" Target="../tags/tag25.xml"/><Relationship Id="rId10" Type="http://schemas.openxmlformats.org/officeDocument/2006/relationships/tags" Target="../tags/tag30.xml"/><Relationship Id="rId4" Type="http://schemas.openxmlformats.org/officeDocument/2006/relationships/tags" Target="../tags/tag24.xml"/><Relationship Id="rId9" Type="http://schemas.openxmlformats.org/officeDocument/2006/relationships/tags" Target="../tags/tag2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tags" Target="../tags/tag38.xml"/><Relationship Id="rId3" Type="http://schemas.openxmlformats.org/officeDocument/2006/relationships/tags" Target="../tags/tag33.xml"/><Relationship Id="rId7" Type="http://schemas.openxmlformats.org/officeDocument/2006/relationships/tags" Target="../tags/tag37.xml"/><Relationship Id="rId12" Type="http://schemas.openxmlformats.org/officeDocument/2006/relationships/image" Target="../media/image4.tmp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tags" Target="../tags/tag36.xml"/><Relationship Id="rId11" Type="http://schemas.openxmlformats.org/officeDocument/2006/relationships/slideLayout" Target="../slideLayouts/slideLayout7.xml"/><Relationship Id="rId5" Type="http://schemas.openxmlformats.org/officeDocument/2006/relationships/tags" Target="../tags/tag35.xml"/><Relationship Id="rId10" Type="http://schemas.openxmlformats.org/officeDocument/2006/relationships/tags" Target="../tags/tag40.xml"/><Relationship Id="rId4" Type="http://schemas.openxmlformats.org/officeDocument/2006/relationships/tags" Target="../tags/tag34.xml"/><Relationship Id="rId9" Type="http://schemas.openxmlformats.org/officeDocument/2006/relationships/tags" Target="../tags/tag39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tags" Target="../tags/tag48.xml"/><Relationship Id="rId3" Type="http://schemas.openxmlformats.org/officeDocument/2006/relationships/tags" Target="../tags/tag43.xml"/><Relationship Id="rId7" Type="http://schemas.openxmlformats.org/officeDocument/2006/relationships/tags" Target="../tags/tag47.xml"/><Relationship Id="rId12" Type="http://schemas.openxmlformats.org/officeDocument/2006/relationships/image" Target="../media/image4.tmp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6" Type="http://schemas.openxmlformats.org/officeDocument/2006/relationships/tags" Target="../tags/tag46.xml"/><Relationship Id="rId11" Type="http://schemas.openxmlformats.org/officeDocument/2006/relationships/slideLayout" Target="../slideLayouts/slideLayout7.xml"/><Relationship Id="rId5" Type="http://schemas.openxmlformats.org/officeDocument/2006/relationships/tags" Target="../tags/tag45.xml"/><Relationship Id="rId10" Type="http://schemas.openxmlformats.org/officeDocument/2006/relationships/tags" Target="../tags/tag50.xml"/><Relationship Id="rId4" Type="http://schemas.openxmlformats.org/officeDocument/2006/relationships/tags" Target="../tags/tag44.xml"/><Relationship Id="rId9" Type="http://schemas.openxmlformats.org/officeDocument/2006/relationships/tags" Target="../tags/tag4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7" Type="http://schemas.openxmlformats.org/officeDocument/2006/relationships/image" Target="../media/image8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7.png"/><Relationship Id="rId5" Type="http://schemas.openxmlformats.org/officeDocument/2006/relationships/oleObject" Target="../embeddings/oleObject5.bin"/><Relationship Id="rId4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tags" Target="../tags/tag58.xml"/><Relationship Id="rId3" Type="http://schemas.openxmlformats.org/officeDocument/2006/relationships/tags" Target="../tags/tag53.xml"/><Relationship Id="rId7" Type="http://schemas.openxmlformats.org/officeDocument/2006/relationships/tags" Target="../tags/tag57.xml"/><Relationship Id="rId12" Type="http://schemas.openxmlformats.org/officeDocument/2006/relationships/image" Target="../media/image4.tmp"/><Relationship Id="rId2" Type="http://schemas.openxmlformats.org/officeDocument/2006/relationships/tags" Target="../tags/tag52.xml"/><Relationship Id="rId1" Type="http://schemas.openxmlformats.org/officeDocument/2006/relationships/tags" Target="../tags/tag51.xml"/><Relationship Id="rId6" Type="http://schemas.openxmlformats.org/officeDocument/2006/relationships/tags" Target="../tags/tag56.xml"/><Relationship Id="rId11" Type="http://schemas.openxmlformats.org/officeDocument/2006/relationships/slideLayout" Target="../slideLayouts/slideLayout7.xml"/><Relationship Id="rId5" Type="http://schemas.openxmlformats.org/officeDocument/2006/relationships/tags" Target="../tags/tag55.xml"/><Relationship Id="rId10" Type="http://schemas.openxmlformats.org/officeDocument/2006/relationships/tags" Target="../tags/tag60.xml"/><Relationship Id="rId4" Type="http://schemas.openxmlformats.org/officeDocument/2006/relationships/tags" Target="../tags/tag54.xml"/><Relationship Id="rId9" Type="http://schemas.openxmlformats.org/officeDocument/2006/relationships/tags" Target="../tags/tag59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tags" Target="../tags/tag68.xml"/><Relationship Id="rId3" Type="http://schemas.openxmlformats.org/officeDocument/2006/relationships/tags" Target="../tags/tag63.xml"/><Relationship Id="rId7" Type="http://schemas.openxmlformats.org/officeDocument/2006/relationships/tags" Target="../tags/tag67.xml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6" Type="http://schemas.openxmlformats.org/officeDocument/2006/relationships/tags" Target="../tags/tag66.xml"/><Relationship Id="rId11" Type="http://schemas.openxmlformats.org/officeDocument/2006/relationships/image" Target="../media/image4.tmp"/><Relationship Id="rId5" Type="http://schemas.openxmlformats.org/officeDocument/2006/relationships/tags" Target="../tags/tag65.xml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64.xml"/><Relationship Id="rId9" Type="http://schemas.openxmlformats.org/officeDocument/2006/relationships/tags" Target="../tags/tag6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tags" Target="../tags/tag77.xml"/><Relationship Id="rId3" Type="http://schemas.openxmlformats.org/officeDocument/2006/relationships/tags" Target="../tags/tag72.xml"/><Relationship Id="rId7" Type="http://schemas.openxmlformats.org/officeDocument/2006/relationships/tags" Target="../tags/tag76.xml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6" Type="http://schemas.openxmlformats.org/officeDocument/2006/relationships/tags" Target="../tags/tag75.xml"/><Relationship Id="rId11" Type="http://schemas.openxmlformats.org/officeDocument/2006/relationships/image" Target="../media/image4.tmp"/><Relationship Id="rId5" Type="http://schemas.openxmlformats.org/officeDocument/2006/relationships/tags" Target="../tags/tag74.xml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73.xml"/><Relationship Id="rId9" Type="http://schemas.openxmlformats.org/officeDocument/2006/relationships/tags" Target="../tags/tag78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tags" Target="../tags/tag86.xml"/><Relationship Id="rId3" Type="http://schemas.openxmlformats.org/officeDocument/2006/relationships/tags" Target="../tags/tag81.xml"/><Relationship Id="rId7" Type="http://schemas.openxmlformats.org/officeDocument/2006/relationships/tags" Target="../tags/tag85.xml"/><Relationship Id="rId12" Type="http://schemas.openxmlformats.org/officeDocument/2006/relationships/image" Target="../media/image4.tmp"/><Relationship Id="rId2" Type="http://schemas.openxmlformats.org/officeDocument/2006/relationships/tags" Target="../tags/tag80.xml"/><Relationship Id="rId1" Type="http://schemas.openxmlformats.org/officeDocument/2006/relationships/tags" Target="../tags/tag79.xml"/><Relationship Id="rId6" Type="http://schemas.openxmlformats.org/officeDocument/2006/relationships/tags" Target="../tags/tag84.xml"/><Relationship Id="rId11" Type="http://schemas.openxmlformats.org/officeDocument/2006/relationships/slideLayout" Target="../slideLayouts/slideLayout7.xml"/><Relationship Id="rId5" Type="http://schemas.openxmlformats.org/officeDocument/2006/relationships/tags" Target="../tags/tag83.xml"/><Relationship Id="rId10" Type="http://schemas.openxmlformats.org/officeDocument/2006/relationships/tags" Target="../tags/tag88.xml"/><Relationship Id="rId4" Type="http://schemas.openxmlformats.org/officeDocument/2006/relationships/tags" Target="../tags/tag82.xml"/><Relationship Id="rId9" Type="http://schemas.openxmlformats.org/officeDocument/2006/relationships/tags" Target="../tags/tag8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91544" y="404664"/>
            <a:ext cx="8229600" cy="1252728"/>
          </a:xfrm>
        </p:spPr>
        <p:txBody>
          <a:bodyPr>
            <a:normAutofit fontScale="90000"/>
          </a:bodyPr>
          <a:lstStyle/>
          <a:p>
            <a:r>
              <a:rPr lang="zh-CN" altLang="zh-CN" b="1" dirty="0">
                <a:solidFill>
                  <a:srgbClr val="000000"/>
                </a:solidFill>
              </a:rPr>
              <a:t>计算机中的数制和码制</a:t>
            </a:r>
            <a:br>
              <a:rPr lang="zh-CN" altLang="zh-CN" dirty="0">
                <a:solidFill>
                  <a:srgbClr val="000000"/>
                </a:solidFill>
              </a:rPr>
            </a:br>
            <a:endParaRPr lang="zh-CN" altLang="en-US" dirty="0">
              <a:solidFill>
                <a:srgbClr val="000000"/>
              </a:solidFill>
            </a:endParaRPr>
          </a:p>
        </p:txBody>
      </p:sp>
      <p:sp>
        <p:nvSpPr>
          <p:cNvPr id="3" name="副标题 2"/>
          <p:cNvSpPr>
            <a:spLocks noGrp="1"/>
          </p:cNvSpPr>
          <p:nvPr>
            <p:ph idx="1"/>
          </p:nvPr>
        </p:nvSpPr>
        <p:spPr>
          <a:xfrm>
            <a:off x="838200" y="1825625"/>
            <a:ext cx="10298360" cy="4351338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800" dirty="0">
                <a:solidFill>
                  <a:schemeClr val="tx1"/>
                </a:solidFill>
              </a:rPr>
              <a:t>由于物理器件的原因，计算机内部使用二进制，二进制有许多优点。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</a:pP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二进制数冗长，难记难写，写错了难改，与十进制的转换又不方便，所以编程时人们又引入了八进制和十六进制数。</a:t>
            </a:r>
          </a:p>
        </p:txBody>
      </p:sp>
    </p:spTree>
    <p:extLst>
      <p:ext uri="{BB962C8B-B14F-4D97-AF65-F5344CB8AC3E}">
        <p14:creationId xmlns:p14="http://schemas.microsoft.com/office/powerpoint/2010/main" val="1308323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22" name="Rectangle 2"/>
          <p:cNvSpPr>
            <a:spLocks noChangeArrowheads="1"/>
          </p:cNvSpPr>
          <p:nvPr/>
        </p:nvSpPr>
        <p:spPr bwMode="auto">
          <a:xfrm>
            <a:off x="2286000" y="533400"/>
            <a:ext cx="77724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l" eaLnBrk="1" hangingPunct="1"/>
            <a:endParaRPr lang="zh-CN" altLang="zh-CN" sz="3600" b="1">
              <a:solidFill>
                <a:schemeClr val="accent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645124" name="Text Box 4"/>
          <p:cNvSpPr txBox="1">
            <a:spLocks noChangeArrowheads="1"/>
          </p:cNvSpPr>
          <p:nvPr/>
        </p:nvSpPr>
        <p:spPr bwMode="auto">
          <a:xfrm>
            <a:off x="2286000" y="1235075"/>
            <a:ext cx="55626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1" hangingPunct="1">
              <a:spcBef>
                <a:spcPct val="50000"/>
              </a:spcBef>
            </a:pPr>
            <a:r>
              <a:rPr lang="zh-CN" altLang="en-US" sz="3200" b="1" dirty="0"/>
              <a:t>数制的概念</a:t>
            </a:r>
          </a:p>
        </p:txBody>
      </p:sp>
      <p:sp>
        <p:nvSpPr>
          <p:cNvPr id="645125" name="Text Box 5"/>
          <p:cNvSpPr txBox="1">
            <a:spLocks noChangeArrowheads="1"/>
          </p:cNvSpPr>
          <p:nvPr/>
        </p:nvSpPr>
        <p:spPr bwMode="auto">
          <a:xfrm>
            <a:off x="2369592" y="1922676"/>
            <a:ext cx="7467600" cy="14910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1" hangingPunct="1">
              <a:lnSpc>
                <a:spcPct val="150000"/>
              </a:lnSpc>
              <a:spcBef>
                <a:spcPct val="50000"/>
              </a:spcBef>
            </a:pP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数制是用一组固定的数字符号和一套统一的规则来表示数字的方法。</a:t>
            </a:r>
          </a:p>
        </p:txBody>
      </p:sp>
      <p:sp>
        <p:nvSpPr>
          <p:cNvPr id="645126" name="Text Box 6"/>
          <p:cNvSpPr txBox="1">
            <a:spLocks noChangeArrowheads="1"/>
          </p:cNvSpPr>
          <p:nvPr/>
        </p:nvSpPr>
        <p:spPr bwMode="auto">
          <a:xfrm>
            <a:off x="2476500" y="3717032"/>
            <a:ext cx="7239000" cy="2043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1" hangingPunct="1">
              <a:spcBef>
                <a:spcPct val="50000"/>
              </a:spcBef>
            </a:pPr>
            <a:r>
              <a:rPr lang="zh-CN" altLang="en-US" sz="3200" b="1" dirty="0">
                <a:latin typeface="楷体_GB2312" pitchFamily="49" charset="-122"/>
                <a:ea typeface="楷体_GB2312" pitchFamily="49" charset="-122"/>
              </a:rPr>
              <a:t>特点：</a:t>
            </a:r>
          </a:p>
          <a:p>
            <a:pPr algn="l" eaLnBrk="1" hangingPunct="1">
              <a:spcBef>
                <a:spcPct val="50000"/>
              </a:spcBef>
            </a:pPr>
            <a:r>
              <a:rPr lang="en-US" altLang="zh-CN" sz="3200" b="1" dirty="0"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3200" b="1" dirty="0">
                <a:latin typeface="楷体_GB2312" pitchFamily="49" charset="-122"/>
                <a:ea typeface="楷体_GB2312" pitchFamily="49" charset="-122"/>
              </a:rPr>
              <a:t>）采用进位计数制</a:t>
            </a:r>
            <a:r>
              <a:rPr lang="zh-CN" altLang="en-US" sz="3200" b="1" dirty="0"/>
              <a:t>。</a:t>
            </a:r>
          </a:p>
          <a:p>
            <a:pPr algn="l" eaLnBrk="1" hangingPunct="1">
              <a:spcBef>
                <a:spcPct val="50000"/>
              </a:spcBef>
            </a:pPr>
            <a:r>
              <a:rPr lang="en-US" altLang="zh-CN" sz="3200" b="1" dirty="0"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3200" b="1" dirty="0">
                <a:latin typeface="楷体_GB2312" pitchFamily="49" charset="-122"/>
                <a:ea typeface="楷体_GB2312" pitchFamily="49" charset="-122"/>
              </a:rPr>
              <a:t>）使用位置表示法。</a:t>
            </a:r>
          </a:p>
        </p:txBody>
      </p:sp>
      <p:sp>
        <p:nvSpPr>
          <p:cNvPr id="645128" name="Text Box 8"/>
          <p:cNvSpPr txBox="1">
            <a:spLocks noChangeArrowheads="1"/>
          </p:cNvSpPr>
          <p:nvPr/>
        </p:nvSpPr>
        <p:spPr bwMode="auto">
          <a:xfrm>
            <a:off x="2208213" y="260353"/>
            <a:ext cx="2971800" cy="701675"/>
          </a:xfrm>
          <a:prstGeom prst="rect">
            <a:avLst/>
          </a:prstGeom>
          <a:gradFill rotWithShape="0">
            <a:gsLst>
              <a:gs pos="0">
                <a:srgbClr val="FFFFFF">
                  <a:gamma/>
                  <a:shade val="46275"/>
                  <a:invGamma/>
                </a:srgbClr>
              </a:gs>
              <a:gs pos="50000">
                <a:srgbClr val="FFFFFF"/>
              </a:gs>
              <a:gs pos="100000">
                <a:srgbClr val="FFFFFF">
                  <a:gamma/>
                  <a:shade val="46275"/>
                  <a:invGamma/>
                </a:srgbClr>
              </a:gs>
            </a:gsLst>
            <a:lin ang="5400000" scaled="1"/>
          </a:gradFill>
          <a:ln>
            <a:noFill/>
          </a:ln>
          <a:effectLst>
            <a:outerShdw sy="50000" kx="2453608" rotWithShape="0">
              <a:srgbClr val="808080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4000" b="1">
                <a:solidFill>
                  <a:srgbClr val="990033"/>
                </a:solidFill>
                <a:ea typeface="隶书" pitchFamily="49" charset="-122"/>
              </a:rPr>
              <a:t>进位计数制</a:t>
            </a:r>
          </a:p>
        </p:txBody>
      </p:sp>
    </p:spTree>
    <p:extLst>
      <p:ext uri="{BB962C8B-B14F-4D97-AF65-F5344CB8AC3E}">
        <p14:creationId xmlns:p14="http://schemas.microsoft.com/office/powerpoint/2010/main" val="3618607428"/>
      </p:ext>
    </p:extLst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4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2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/>
          <p:cNvSpPr txBox="1">
            <a:spLocks noChangeArrowheads="1"/>
          </p:cNvSpPr>
          <p:nvPr/>
        </p:nvSpPr>
        <p:spPr bwMode="auto">
          <a:xfrm>
            <a:off x="2208213" y="260353"/>
            <a:ext cx="2971800" cy="701675"/>
          </a:xfrm>
          <a:prstGeom prst="rect">
            <a:avLst/>
          </a:prstGeom>
          <a:gradFill rotWithShape="0">
            <a:gsLst>
              <a:gs pos="0">
                <a:srgbClr val="FFFFFF">
                  <a:gamma/>
                  <a:shade val="46275"/>
                  <a:invGamma/>
                </a:srgbClr>
              </a:gs>
              <a:gs pos="50000">
                <a:srgbClr val="FFFFFF"/>
              </a:gs>
              <a:gs pos="100000">
                <a:srgbClr val="FFFFFF">
                  <a:gamma/>
                  <a:shade val="46275"/>
                  <a:invGamma/>
                </a:srgbClr>
              </a:gs>
            </a:gsLst>
            <a:lin ang="5400000" scaled="1"/>
          </a:gradFill>
          <a:ln>
            <a:noFill/>
          </a:ln>
          <a:effectLst>
            <a:outerShdw sy="50000" kx="2453608" rotWithShape="0">
              <a:srgbClr val="808080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4000" b="1">
                <a:solidFill>
                  <a:srgbClr val="990033"/>
                </a:solidFill>
                <a:ea typeface="隶书" pitchFamily="49" charset="-122"/>
              </a:rPr>
              <a:t>进位计数制</a:t>
            </a:r>
          </a:p>
        </p:txBody>
      </p:sp>
      <p:sp>
        <p:nvSpPr>
          <p:cNvPr id="12291" name="Text Box 3"/>
          <p:cNvSpPr txBox="1">
            <a:spLocks noChangeArrowheads="1"/>
          </p:cNvSpPr>
          <p:nvPr/>
        </p:nvSpPr>
        <p:spPr bwMode="auto">
          <a:xfrm>
            <a:off x="1703512" y="1360731"/>
            <a:ext cx="82296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1" hangingPunct="1">
              <a:spcBef>
                <a:spcPct val="50000"/>
              </a:spcBef>
            </a:pPr>
            <a:r>
              <a:rPr lang="en-US" altLang="zh-CN" b="1"/>
              <a:t>1</a:t>
            </a:r>
            <a:r>
              <a:rPr lang="zh-CN" altLang="en-US" b="1"/>
              <a:t>、十进制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12332" name="Text Box 44"/>
          <p:cNvSpPr txBox="1">
            <a:spLocks noChangeArrowheads="1"/>
          </p:cNvSpPr>
          <p:nvPr/>
        </p:nvSpPr>
        <p:spPr bwMode="auto">
          <a:xfrm>
            <a:off x="3002253" y="1702239"/>
            <a:ext cx="713722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eaLnBrk="1" hangingPunct="1"/>
            <a:r>
              <a:rPr lang="en-US" altLang="zh-CN" sz="2800" b="1" dirty="0"/>
              <a:t>=3</a:t>
            </a:r>
            <a:r>
              <a:rPr lang="en-US" altLang="zh-CN" sz="2800" b="1" dirty="0">
                <a:sym typeface="Symbol" pitchFamily="18" charset="2"/>
              </a:rPr>
              <a:t></a:t>
            </a:r>
            <a:r>
              <a:rPr lang="en-US" altLang="zh-CN" sz="2800" b="1" dirty="0">
                <a:solidFill>
                  <a:schemeClr val="accent2"/>
                </a:solidFill>
                <a:sym typeface="Symbol" pitchFamily="18" charset="2"/>
              </a:rPr>
              <a:t> </a:t>
            </a:r>
            <a:r>
              <a:rPr lang="en-US" altLang="zh-CN" sz="2800" b="1" dirty="0">
                <a:solidFill>
                  <a:srgbClr val="FF00FF"/>
                </a:solidFill>
                <a:sym typeface="Symbol" pitchFamily="18" charset="2"/>
              </a:rPr>
              <a:t>10</a:t>
            </a:r>
            <a:r>
              <a:rPr lang="en-US" altLang="zh-CN" sz="2800" b="1" baseline="30000" dirty="0">
                <a:solidFill>
                  <a:srgbClr val="FF00FF"/>
                </a:solidFill>
                <a:sym typeface="Symbol" pitchFamily="18" charset="2"/>
              </a:rPr>
              <a:t>2</a:t>
            </a:r>
            <a:r>
              <a:rPr lang="en-US" altLang="zh-CN" sz="2800" b="1" baseline="30000" dirty="0">
                <a:solidFill>
                  <a:srgbClr val="FF0000"/>
                </a:solidFill>
                <a:sym typeface="Symbol" pitchFamily="18" charset="2"/>
              </a:rPr>
              <a:t> </a:t>
            </a:r>
            <a:r>
              <a:rPr lang="en-US" altLang="zh-CN" sz="2800" b="1" dirty="0">
                <a:sym typeface="Symbol" pitchFamily="18" charset="2"/>
              </a:rPr>
              <a:t>+</a:t>
            </a:r>
            <a:r>
              <a:rPr lang="en-US" altLang="zh-CN" sz="2800" b="1" dirty="0">
                <a:solidFill>
                  <a:srgbClr val="FF0000"/>
                </a:solidFill>
                <a:sym typeface="Symbol" pitchFamily="18" charset="2"/>
              </a:rPr>
              <a:t> </a:t>
            </a:r>
            <a:r>
              <a:rPr lang="en-US" altLang="zh-CN" sz="2800" b="1" dirty="0"/>
              <a:t>3</a:t>
            </a:r>
            <a:r>
              <a:rPr lang="en-US" altLang="zh-CN" sz="2800" b="1" dirty="0">
                <a:sym typeface="Symbol" pitchFamily="18" charset="2"/>
              </a:rPr>
              <a:t> </a:t>
            </a:r>
            <a:r>
              <a:rPr lang="en-US" altLang="zh-CN" sz="2800" b="1" dirty="0">
                <a:solidFill>
                  <a:srgbClr val="FF00FF"/>
                </a:solidFill>
                <a:sym typeface="Symbol" pitchFamily="18" charset="2"/>
              </a:rPr>
              <a:t>10</a:t>
            </a:r>
            <a:r>
              <a:rPr lang="en-US" altLang="zh-CN" sz="2800" b="1" baseline="30000" dirty="0">
                <a:solidFill>
                  <a:srgbClr val="FF00FF"/>
                </a:solidFill>
                <a:sym typeface="Symbol" pitchFamily="18" charset="2"/>
              </a:rPr>
              <a:t>1</a:t>
            </a:r>
            <a:r>
              <a:rPr lang="en-US" altLang="zh-CN" sz="2800" b="1" dirty="0">
                <a:sym typeface="Symbol" pitchFamily="18" charset="2"/>
              </a:rPr>
              <a:t>+</a:t>
            </a:r>
            <a:r>
              <a:rPr lang="en-US" altLang="zh-CN" sz="2800" b="1" baseline="30000" dirty="0">
                <a:sym typeface="Symbol" pitchFamily="18" charset="2"/>
              </a:rPr>
              <a:t> </a:t>
            </a:r>
            <a:r>
              <a:rPr lang="en-US" altLang="zh-CN" sz="2800" b="1" dirty="0"/>
              <a:t>3</a:t>
            </a:r>
            <a:r>
              <a:rPr lang="en-US" altLang="zh-CN" sz="2800" b="1" dirty="0">
                <a:sym typeface="Symbol" pitchFamily="18" charset="2"/>
              </a:rPr>
              <a:t> </a:t>
            </a:r>
            <a:r>
              <a:rPr lang="en-US" altLang="zh-CN" sz="2800" b="1" dirty="0">
                <a:solidFill>
                  <a:srgbClr val="FF00FF"/>
                </a:solidFill>
                <a:sym typeface="Symbol" pitchFamily="18" charset="2"/>
              </a:rPr>
              <a:t>10</a:t>
            </a:r>
            <a:r>
              <a:rPr lang="en-US" altLang="zh-CN" sz="2800" b="1" baseline="30000" dirty="0">
                <a:solidFill>
                  <a:srgbClr val="FF00FF"/>
                </a:solidFill>
                <a:sym typeface="Symbol" pitchFamily="18" charset="2"/>
              </a:rPr>
              <a:t>0</a:t>
            </a:r>
            <a:r>
              <a:rPr lang="en-US" altLang="zh-CN" sz="2800" b="1" dirty="0">
                <a:sym typeface="Symbol" pitchFamily="18" charset="2"/>
              </a:rPr>
              <a:t>+ </a:t>
            </a:r>
            <a:r>
              <a:rPr lang="en-US" altLang="zh-CN" sz="2800" b="1" dirty="0"/>
              <a:t>3</a:t>
            </a:r>
            <a:r>
              <a:rPr lang="en-US" altLang="zh-CN" sz="2800" b="1" dirty="0">
                <a:sym typeface="Symbol" pitchFamily="18" charset="2"/>
              </a:rPr>
              <a:t> </a:t>
            </a:r>
            <a:r>
              <a:rPr lang="en-US" altLang="zh-CN" sz="2800" b="1" dirty="0">
                <a:solidFill>
                  <a:srgbClr val="FF00FF"/>
                </a:solidFill>
                <a:sym typeface="Symbol" pitchFamily="18" charset="2"/>
              </a:rPr>
              <a:t>10</a:t>
            </a:r>
            <a:r>
              <a:rPr lang="en-US" altLang="zh-CN" sz="2800" b="1" baseline="30000" dirty="0">
                <a:solidFill>
                  <a:srgbClr val="FF00FF"/>
                </a:solidFill>
                <a:sym typeface="Symbol" pitchFamily="18" charset="2"/>
              </a:rPr>
              <a:t>-1</a:t>
            </a:r>
            <a:r>
              <a:rPr lang="en-US" altLang="zh-CN" sz="2800" b="1" baseline="30000" dirty="0">
                <a:sym typeface="Symbol" pitchFamily="18" charset="2"/>
              </a:rPr>
              <a:t> </a:t>
            </a:r>
            <a:r>
              <a:rPr lang="en-US" altLang="zh-CN" sz="2800" b="1" dirty="0">
                <a:sym typeface="Symbol" pitchFamily="18" charset="2"/>
              </a:rPr>
              <a:t>+</a:t>
            </a:r>
            <a:r>
              <a:rPr lang="en-US" altLang="zh-CN" sz="2800" b="1" dirty="0"/>
              <a:t>3</a:t>
            </a:r>
            <a:r>
              <a:rPr lang="en-US" altLang="zh-CN" sz="2800" b="1" dirty="0">
                <a:sym typeface="Symbol" pitchFamily="18" charset="2"/>
              </a:rPr>
              <a:t> </a:t>
            </a:r>
            <a:r>
              <a:rPr lang="en-US" altLang="zh-CN" sz="2800" b="1" dirty="0">
                <a:solidFill>
                  <a:srgbClr val="FF00FF"/>
                </a:solidFill>
                <a:sym typeface="Symbol" pitchFamily="18" charset="2"/>
              </a:rPr>
              <a:t>10</a:t>
            </a:r>
            <a:r>
              <a:rPr lang="en-US" altLang="zh-CN" sz="2800" b="1" baseline="30000" dirty="0">
                <a:solidFill>
                  <a:srgbClr val="FF00FF"/>
                </a:solidFill>
                <a:sym typeface="Symbol" pitchFamily="18" charset="2"/>
              </a:rPr>
              <a:t>-2</a:t>
            </a:r>
            <a:endParaRPr lang="en-US" altLang="zh-CN" sz="2800" b="1" baseline="30000" dirty="0">
              <a:solidFill>
                <a:srgbClr val="FF0000"/>
              </a:solidFill>
              <a:sym typeface="Symbol" pitchFamily="18" charset="2"/>
            </a:endParaRPr>
          </a:p>
        </p:txBody>
      </p:sp>
      <p:grpSp>
        <p:nvGrpSpPr>
          <p:cNvPr id="12342" name="Group 54"/>
          <p:cNvGrpSpPr>
            <a:grpSpLocks/>
          </p:cNvGrpSpPr>
          <p:nvPr/>
        </p:nvGrpSpPr>
        <p:grpSpPr bwMode="auto">
          <a:xfrm>
            <a:off x="3794202" y="2124045"/>
            <a:ext cx="5543551" cy="830263"/>
            <a:chOff x="1427" y="1296"/>
            <a:chExt cx="3492" cy="523"/>
          </a:xfrm>
        </p:grpSpPr>
        <p:grpSp>
          <p:nvGrpSpPr>
            <p:cNvPr id="12333" name="Group 45"/>
            <p:cNvGrpSpPr>
              <a:grpSpLocks/>
            </p:cNvGrpSpPr>
            <p:nvPr/>
          </p:nvGrpSpPr>
          <p:grpSpPr bwMode="auto">
            <a:xfrm>
              <a:off x="1488" y="1296"/>
              <a:ext cx="3212" cy="209"/>
              <a:chOff x="1344" y="1344"/>
              <a:chExt cx="3234" cy="288"/>
            </a:xfrm>
          </p:grpSpPr>
          <p:sp>
            <p:nvSpPr>
              <p:cNvPr id="12305" name="AutoShape 17"/>
              <p:cNvSpPr>
                <a:spLocks noChangeArrowheads="1"/>
              </p:cNvSpPr>
              <p:nvPr/>
            </p:nvSpPr>
            <p:spPr bwMode="auto">
              <a:xfrm>
                <a:off x="1392" y="1344"/>
                <a:ext cx="144" cy="192"/>
              </a:xfrm>
              <a:prstGeom prst="downArrow">
                <a:avLst>
                  <a:gd name="adj1" fmla="val 50000"/>
                  <a:gd name="adj2" fmla="val 33333"/>
                </a:avLst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200"/>
              </a:p>
            </p:txBody>
          </p:sp>
          <p:sp>
            <p:nvSpPr>
              <p:cNvPr id="12318" name="AutoShape 30"/>
              <p:cNvSpPr>
                <a:spLocks noChangeArrowheads="1"/>
              </p:cNvSpPr>
              <p:nvPr/>
            </p:nvSpPr>
            <p:spPr bwMode="auto">
              <a:xfrm>
                <a:off x="1344" y="1392"/>
                <a:ext cx="192" cy="240"/>
              </a:xfrm>
              <a:prstGeom prst="downArrow">
                <a:avLst>
                  <a:gd name="adj1" fmla="val 50000"/>
                  <a:gd name="adj2" fmla="val 31250"/>
                </a:avLst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200"/>
              </a:p>
            </p:txBody>
          </p:sp>
          <p:sp>
            <p:nvSpPr>
              <p:cNvPr id="12319" name="AutoShape 31"/>
              <p:cNvSpPr>
                <a:spLocks noChangeArrowheads="1"/>
              </p:cNvSpPr>
              <p:nvPr/>
            </p:nvSpPr>
            <p:spPr bwMode="auto">
              <a:xfrm>
                <a:off x="2057" y="1392"/>
                <a:ext cx="192" cy="240"/>
              </a:xfrm>
              <a:prstGeom prst="downArrow">
                <a:avLst>
                  <a:gd name="adj1" fmla="val 50000"/>
                  <a:gd name="adj2" fmla="val 31250"/>
                </a:avLst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200"/>
              </a:p>
            </p:txBody>
          </p:sp>
          <p:sp>
            <p:nvSpPr>
              <p:cNvPr id="12320" name="AutoShape 32"/>
              <p:cNvSpPr>
                <a:spLocks noChangeArrowheads="1"/>
              </p:cNvSpPr>
              <p:nvPr/>
            </p:nvSpPr>
            <p:spPr bwMode="auto">
              <a:xfrm>
                <a:off x="2833" y="1392"/>
                <a:ext cx="192" cy="240"/>
              </a:xfrm>
              <a:prstGeom prst="downArrow">
                <a:avLst>
                  <a:gd name="adj1" fmla="val 50000"/>
                  <a:gd name="adj2" fmla="val 31250"/>
                </a:avLst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200"/>
              </a:p>
            </p:txBody>
          </p:sp>
          <p:sp>
            <p:nvSpPr>
              <p:cNvPr id="12321" name="AutoShape 33"/>
              <p:cNvSpPr>
                <a:spLocks noChangeArrowheads="1"/>
              </p:cNvSpPr>
              <p:nvPr/>
            </p:nvSpPr>
            <p:spPr bwMode="auto">
              <a:xfrm>
                <a:off x="3610" y="1392"/>
                <a:ext cx="192" cy="240"/>
              </a:xfrm>
              <a:prstGeom prst="downArrow">
                <a:avLst>
                  <a:gd name="adj1" fmla="val 50000"/>
                  <a:gd name="adj2" fmla="val 31250"/>
                </a:avLst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200"/>
              </a:p>
            </p:txBody>
          </p:sp>
          <p:sp>
            <p:nvSpPr>
              <p:cNvPr id="12322" name="AutoShape 34"/>
              <p:cNvSpPr>
                <a:spLocks noChangeArrowheads="1"/>
              </p:cNvSpPr>
              <p:nvPr/>
            </p:nvSpPr>
            <p:spPr bwMode="auto">
              <a:xfrm>
                <a:off x="4386" y="1392"/>
                <a:ext cx="192" cy="240"/>
              </a:xfrm>
              <a:prstGeom prst="downArrow">
                <a:avLst>
                  <a:gd name="adj1" fmla="val 50000"/>
                  <a:gd name="adj2" fmla="val 31250"/>
                </a:avLst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200"/>
              </a:p>
            </p:txBody>
          </p:sp>
        </p:grpSp>
        <p:sp>
          <p:nvSpPr>
            <p:cNvPr id="12335" name="Text Box 47"/>
            <p:cNvSpPr txBox="1">
              <a:spLocks noChangeArrowheads="1"/>
            </p:cNvSpPr>
            <p:nvPr/>
          </p:nvSpPr>
          <p:spPr bwMode="auto">
            <a:xfrm>
              <a:off x="1427" y="1567"/>
              <a:ext cx="3492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000" b="1" dirty="0">
                  <a:solidFill>
                    <a:srgbClr val="FF00FF"/>
                  </a:solidFill>
                </a:rPr>
                <a:t>权                权                 权                 权                 权</a:t>
              </a:r>
              <a:endParaRPr lang="zh-CN" altLang="en-US" sz="2000" b="1" dirty="0"/>
            </a:p>
          </p:txBody>
        </p:sp>
      </p:grpSp>
      <p:sp>
        <p:nvSpPr>
          <p:cNvPr id="12343" name="Text Box 55"/>
          <p:cNvSpPr txBox="1">
            <a:spLocks noChangeArrowheads="1"/>
          </p:cNvSpPr>
          <p:nvPr/>
        </p:nvSpPr>
        <p:spPr bwMode="auto">
          <a:xfrm>
            <a:off x="1442208" y="1694055"/>
            <a:ext cx="156004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sz="2400" b="1" dirty="0"/>
              <a:t>(333.33)</a:t>
            </a:r>
            <a:r>
              <a:rPr lang="en-US" altLang="zh-CN" sz="2400" b="1" baseline="-25000" dirty="0"/>
              <a:t>10</a:t>
            </a:r>
            <a:endParaRPr lang="en-US" altLang="zh-CN" sz="4000" b="1" dirty="0"/>
          </a:p>
        </p:txBody>
      </p:sp>
      <p:graphicFrame>
        <p:nvGraphicFramePr>
          <p:cNvPr id="12350" name="Object 6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6658274"/>
              </p:ext>
            </p:extLst>
          </p:nvPr>
        </p:nvGraphicFramePr>
        <p:xfrm>
          <a:off x="5508628" y="4246342"/>
          <a:ext cx="125184" cy="214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2" name="公式" r:id="rId3" imgW="114120" imgH="215640" progId="Equation.3">
                  <p:embed/>
                </p:oleObj>
              </mc:Choice>
              <mc:Fallback>
                <p:oleObj name="公式" r:id="rId3" imgW="11412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8628" y="4246342"/>
                        <a:ext cx="125184" cy="214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52" name="Text Box 64"/>
          <p:cNvSpPr txBox="1">
            <a:spLocks noChangeArrowheads="1"/>
          </p:cNvSpPr>
          <p:nvPr/>
        </p:nvSpPr>
        <p:spPr bwMode="auto">
          <a:xfrm>
            <a:off x="2114014" y="3451407"/>
            <a:ext cx="4781640" cy="8104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l" eaLnBrk="1" hangingPunct="1"/>
            <a:r>
              <a:rPr lang="en-US" altLang="zh-CN" sz="2800" b="1" dirty="0"/>
              <a:t>(N)</a:t>
            </a:r>
            <a:r>
              <a:rPr lang="en-US" altLang="zh-CN" sz="2800" b="1" baseline="-25000" dirty="0"/>
              <a:t>10</a:t>
            </a:r>
            <a:r>
              <a:rPr lang="en-US" altLang="zh-CN" sz="2800" b="1" dirty="0"/>
              <a:t>=(K</a:t>
            </a:r>
            <a:r>
              <a:rPr lang="en-US" altLang="zh-CN" sz="2800" b="1" baseline="-25000" dirty="0"/>
              <a:t>n-1 </a:t>
            </a:r>
            <a:r>
              <a:rPr lang="en-US" altLang="zh-CN" sz="2800" b="1" dirty="0">
                <a:sym typeface="Symbol" pitchFamily="18" charset="2"/>
              </a:rPr>
              <a:t> </a:t>
            </a:r>
            <a:r>
              <a:rPr lang="en-US" altLang="zh-CN" sz="2800" b="1" dirty="0"/>
              <a:t>K</a:t>
            </a:r>
            <a:r>
              <a:rPr lang="en-US" altLang="zh-CN" sz="2800" b="1" baseline="-25000" dirty="0"/>
              <a:t>1 </a:t>
            </a:r>
            <a:r>
              <a:rPr lang="en-US" altLang="zh-CN" sz="2800" b="1" dirty="0"/>
              <a:t>K</a:t>
            </a:r>
            <a:r>
              <a:rPr lang="en-US" altLang="zh-CN" sz="2800" b="1" baseline="-25000" dirty="0"/>
              <a:t>0. </a:t>
            </a:r>
            <a:r>
              <a:rPr lang="en-US" altLang="zh-CN" sz="2800" b="1" dirty="0"/>
              <a:t>K</a:t>
            </a:r>
            <a:r>
              <a:rPr lang="en-US" altLang="zh-CN" sz="2800" b="1" baseline="-25000" dirty="0"/>
              <a:t>-1 </a:t>
            </a:r>
            <a:r>
              <a:rPr lang="en-US" altLang="zh-CN" sz="2800" b="1" baseline="-25000" dirty="0">
                <a:sym typeface="Symbol" pitchFamily="18" charset="2"/>
              </a:rPr>
              <a:t></a:t>
            </a:r>
            <a:r>
              <a:rPr lang="en-US" altLang="zh-CN" sz="2800" b="1" dirty="0"/>
              <a:t>K</a:t>
            </a:r>
            <a:r>
              <a:rPr lang="en-US" altLang="zh-CN" sz="2800" b="1" baseline="-25000" dirty="0"/>
              <a:t>-m</a:t>
            </a:r>
            <a:r>
              <a:rPr lang="en-US" altLang="zh-CN" sz="2800" b="1" dirty="0"/>
              <a:t>)</a:t>
            </a:r>
            <a:r>
              <a:rPr lang="en-US" altLang="zh-CN" sz="2800" b="1" baseline="-25000" dirty="0"/>
              <a:t>10</a:t>
            </a:r>
          </a:p>
          <a:p>
            <a:pPr algn="l" eaLnBrk="1" hangingPunct="1"/>
            <a:endParaRPr lang="en-US" altLang="zh-CN" sz="2800" b="1" baseline="-25000" dirty="0">
              <a:sym typeface="Symbol" pitchFamily="18" charset="2"/>
            </a:endParaRPr>
          </a:p>
        </p:txBody>
      </p:sp>
      <p:sp>
        <p:nvSpPr>
          <p:cNvPr id="12353" name="Text Box 65"/>
          <p:cNvSpPr txBox="1">
            <a:spLocks noChangeArrowheads="1"/>
          </p:cNvSpPr>
          <p:nvPr/>
        </p:nvSpPr>
        <p:spPr bwMode="auto">
          <a:xfrm>
            <a:off x="2690813" y="4595759"/>
            <a:ext cx="20517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eaLnBrk="1" hangingPunct="1"/>
            <a:endParaRPr lang="zh-CN" altLang="zh-CN" sz="6000" b="1"/>
          </a:p>
        </p:txBody>
      </p:sp>
      <p:graphicFrame>
        <p:nvGraphicFramePr>
          <p:cNvPr id="12355" name="Object 6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0609151"/>
              </p:ext>
            </p:extLst>
          </p:nvPr>
        </p:nvGraphicFramePr>
        <p:xfrm>
          <a:off x="2225178" y="4942217"/>
          <a:ext cx="2182769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3" name="公式" r:id="rId5" imgW="965160" imgH="495000" progId="Equation.3">
                  <p:embed/>
                </p:oleObj>
              </mc:Choice>
              <mc:Fallback>
                <p:oleObj name="公式" r:id="rId5" imgW="965160" imgH="495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5178" y="4942217"/>
                        <a:ext cx="2182769" cy="1006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57" name="Text Box 69"/>
          <p:cNvSpPr txBox="1">
            <a:spLocks noChangeArrowheads="1"/>
          </p:cNvSpPr>
          <p:nvPr/>
        </p:nvSpPr>
        <p:spPr bwMode="auto">
          <a:xfrm>
            <a:off x="2079628" y="4164647"/>
            <a:ext cx="761677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eaLnBrk="1" hangingPunct="1"/>
            <a:r>
              <a:rPr lang="en-US" altLang="zh-CN" sz="2800" b="1" dirty="0"/>
              <a:t>=K</a:t>
            </a:r>
            <a:r>
              <a:rPr lang="en-US" altLang="zh-CN" sz="2800" b="1" baseline="-25000" dirty="0"/>
              <a:t>n-1 </a:t>
            </a:r>
            <a:r>
              <a:rPr lang="en-US" altLang="zh-CN" sz="2800" b="1" dirty="0">
                <a:solidFill>
                  <a:srgbClr val="FF00FF"/>
                </a:solidFill>
              </a:rPr>
              <a:t>10</a:t>
            </a:r>
            <a:r>
              <a:rPr lang="en-US" altLang="zh-CN" sz="2800" b="1" baseline="30000" dirty="0">
                <a:solidFill>
                  <a:srgbClr val="FF00FF"/>
                </a:solidFill>
              </a:rPr>
              <a:t>n-1</a:t>
            </a:r>
            <a:r>
              <a:rPr lang="en-US" altLang="zh-CN" sz="2800" b="1" dirty="0"/>
              <a:t>+</a:t>
            </a:r>
            <a:r>
              <a:rPr lang="en-US" altLang="zh-CN" sz="2800" b="1" dirty="0">
                <a:sym typeface="Symbol" pitchFamily="18" charset="2"/>
              </a:rPr>
              <a:t>+K</a:t>
            </a:r>
            <a:r>
              <a:rPr lang="en-US" altLang="zh-CN" sz="2800" b="1" baseline="-25000" dirty="0">
                <a:sym typeface="Symbol" pitchFamily="18" charset="2"/>
              </a:rPr>
              <a:t>1</a:t>
            </a:r>
            <a:r>
              <a:rPr lang="en-US" altLang="zh-CN" sz="2800" b="1" dirty="0">
                <a:solidFill>
                  <a:srgbClr val="FF00FF"/>
                </a:solidFill>
                <a:sym typeface="Symbol" pitchFamily="18" charset="2"/>
              </a:rPr>
              <a:t>10</a:t>
            </a:r>
            <a:r>
              <a:rPr lang="en-US" altLang="zh-CN" sz="2800" b="1" baseline="30000" dirty="0">
                <a:solidFill>
                  <a:srgbClr val="FF00FF"/>
                </a:solidFill>
                <a:sym typeface="Symbol" pitchFamily="18" charset="2"/>
              </a:rPr>
              <a:t>1</a:t>
            </a:r>
            <a:r>
              <a:rPr lang="en-US" altLang="zh-CN" sz="2800" b="1" dirty="0">
                <a:sym typeface="Symbol" pitchFamily="18" charset="2"/>
              </a:rPr>
              <a:t>+K</a:t>
            </a:r>
            <a:r>
              <a:rPr lang="en-US" altLang="zh-CN" sz="2800" b="1" baseline="-25000" dirty="0">
                <a:sym typeface="Symbol" pitchFamily="18" charset="2"/>
              </a:rPr>
              <a:t>0</a:t>
            </a:r>
            <a:r>
              <a:rPr lang="en-US" altLang="zh-CN" sz="2800" b="1" dirty="0">
                <a:solidFill>
                  <a:srgbClr val="FF00FF"/>
                </a:solidFill>
                <a:sym typeface="Symbol" pitchFamily="18" charset="2"/>
              </a:rPr>
              <a:t>10</a:t>
            </a:r>
            <a:r>
              <a:rPr lang="en-US" altLang="zh-CN" sz="2800" b="1" baseline="30000" dirty="0">
                <a:solidFill>
                  <a:srgbClr val="FF00FF"/>
                </a:solidFill>
                <a:sym typeface="Symbol" pitchFamily="18" charset="2"/>
              </a:rPr>
              <a:t>0</a:t>
            </a:r>
            <a:r>
              <a:rPr lang="en-US" altLang="zh-CN" sz="2800" b="1" dirty="0">
                <a:sym typeface="Symbol" pitchFamily="18" charset="2"/>
              </a:rPr>
              <a:t>+K</a:t>
            </a:r>
            <a:r>
              <a:rPr lang="en-US" altLang="zh-CN" sz="2800" b="1" baseline="-25000" dirty="0">
                <a:sym typeface="Symbol" pitchFamily="18" charset="2"/>
              </a:rPr>
              <a:t>-1 </a:t>
            </a:r>
            <a:r>
              <a:rPr lang="en-US" altLang="zh-CN" sz="2800" b="1" dirty="0">
                <a:solidFill>
                  <a:srgbClr val="FF00FF"/>
                </a:solidFill>
                <a:sym typeface="Symbol" pitchFamily="18" charset="2"/>
              </a:rPr>
              <a:t>10</a:t>
            </a:r>
            <a:r>
              <a:rPr lang="en-US" altLang="zh-CN" sz="2800" b="1" baseline="30000" dirty="0">
                <a:solidFill>
                  <a:srgbClr val="FF00FF"/>
                </a:solidFill>
                <a:sym typeface="Symbol" pitchFamily="18" charset="2"/>
              </a:rPr>
              <a:t>-1</a:t>
            </a:r>
            <a:r>
              <a:rPr lang="en-US" altLang="zh-CN" sz="2800" b="1" dirty="0">
                <a:sym typeface="Symbol" pitchFamily="18" charset="2"/>
              </a:rPr>
              <a:t>++K</a:t>
            </a:r>
            <a:r>
              <a:rPr lang="en-US" altLang="zh-CN" sz="2800" b="1" baseline="-25000" dirty="0">
                <a:sym typeface="Symbol" pitchFamily="18" charset="2"/>
              </a:rPr>
              <a:t>-m </a:t>
            </a:r>
            <a:r>
              <a:rPr lang="en-US" altLang="zh-CN" sz="2800" b="1" dirty="0">
                <a:solidFill>
                  <a:srgbClr val="FF00FF"/>
                </a:solidFill>
                <a:sym typeface="Symbol" pitchFamily="18" charset="2"/>
              </a:rPr>
              <a:t>10</a:t>
            </a:r>
            <a:r>
              <a:rPr lang="en-US" altLang="zh-CN" sz="2800" b="1" baseline="30000" dirty="0">
                <a:solidFill>
                  <a:srgbClr val="FF00FF"/>
                </a:solidFill>
                <a:sym typeface="Symbol" pitchFamily="18" charset="2"/>
              </a:rPr>
              <a:t>-m</a:t>
            </a:r>
          </a:p>
        </p:txBody>
      </p:sp>
    </p:spTree>
    <p:extLst>
      <p:ext uri="{BB962C8B-B14F-4D97-AF65-F5344CB8AC3E}">
        <p14:creationId xmlns:p14="http://schemas.microsoft.com/office/powerpoint/2010/main" val="1805659277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2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300"/>
                                        <p:tgtEl>
                                          <p:spTgt spid="12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2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2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300"/>
                                        <p:tgtEl>
                                          <p:spTgt spid="12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2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0" grpId="0" animBg="1" autoUpdateAnimBg="0"/>
      <p:bldP spid="12291" grpId="0" autoUpdateAnimBg="0"/>
      <p:bldP spid="12332" grpId="0" autoUpdateAnimBg="0"/>
      <p:bldP spid="12343" grpId="0" autoUpdateAnimBg="0"/>
      <p:bldP spid="12352" grpId="0" autoUpdateAnimBg="0"/>
      <p:bldP spid="12357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86" name="Group 150"/>
          <p:cNvGrpSpPr>
            <a:grpSpLocks/>
          </p:cNvGrpSpPr>
          <p:nvPr/>
        </p:nvGrpSpPr>
        <p:grpSpPr bwMode="auto">
          <a:xfrm>
            <a:off x="1919291" y="331790"/>
            <a:ext cx="4103909" cy="523875"/>
            <a:chOff x="288" y="623"/>
            <a:chExt cx="1585" cy="330"/>
          </a:xfrm>
        </p:grpSpPr>
        <p:sp>
          <p:nvSpPr>
            <p:cNvPr id="14450" name="Text Box 114"/>
            <p:cNvSpPr txBox="1">
              <a:spLocks noChangeArrowheads="1"/>
            </p:cNvSpPr>
            <p:nvPr/>
          </p:nvSpPr>
          <p:spPr bwMode="auto">
            <a:xfrm>
              <a:off x="577" y="623"/>
              <a:ext cx="1296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1" hangingPunct="1"/>
              <a:r>
                <a:rPr lang="zh-CN" altLang="en-US" sz="2800" b="1" dirty="0"/>
                <a:t>任意进制－</a:t>
              </a:r>
              <a:r>
                <a:rPr lang="en-US" altLang="zh-CN" sz="2800" b="1" dirty="0"/>
                <a:t>R</a:t>
              </a:r>
              <a:r>
                <a:rPr lang="zh-CN" altLang="en-US" sz="2800" b="1" dirty="0"/>
                <a:t>进制</a:t>
              </a:r>
              <a:endParaRPr lang="zh-CN" altLang="en-US" sz="4400" b="1" dirty="0"/>
            </a:p>
          </p:txBody>
        </p:sp>
        <p:sp>
          <p:nvSpPr>
            <p:cNvPr id="14484" name="Oval 148"/>
            <p:cNvSpPr>
              <a:spLocks noChangeArrowheads="1"/>
            </p:cNvSpPr>
            <p:nvPr/>
          </p:nvSpPr>
          <p:spPr bwMode="auto">
            <a:xfrm>
              <a:off x="288" y="720"/>
              <a:ext cx="192" cy="192"/>
            </a:xfrm>
            <a:prstGeom prst="ellipse">
              <a:avLst/>
            </a:prstGeom>
            <a:gradFill rotWithShape="0">
              <a:gsLst>
                <a:gs pos="0">
                  <a:srgbClr val="33CCCC">
                    <a:gamma/>
                    <a:shade val="46275"/>
                    <a:invGamma/>
                  </a:srgbClr>
                </a:gs>
                <a:gs pos="50000">
                  <a:srgbClr val="33CCCC"/>
                </a:gs>
                <a:gs pos="100000">
                  <a:srgbClr val="33CCCC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>
              <a:noFill/>
            </a:ln>
            <a:effectLst>
              <a:outerShdw sy="50000" kx="2453608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4470" name="AutoShape 134"/>
          <p:cNvSpPr>
            <a:spLocks noChangeArrowheads="1"/>
          </p:cNvSpPr>
          <p:nvPr/>
        </p:nvSpPr>
        <p:spPr bwMode="auto">
          <a:xfrm>
            <a:off x="1899631" y="1096962"/>
            <a:ext cx="8516851" cy="5644406"/>
          </a:xfrm>
          <a:prstGeom prst="wedgeRoundRectCallout">
            <a:avLst>
              <a:gd name="adj1" fmla="val -36269"/>
              <a:gd name="adj2" fmla="val -53306"/>
              <a:gd name="adj3" fmla="val 16667"/>
            </a:avLst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zh-CN" altLang="zh-CN" sz="6000" b="1"/>
          </a:p>
        </p:txBody>
      </p:sp>
      <p:sp>
        <p:nvSpPr>
          <p:cNvPr id="14472" name="Text Box 136"/>
          <p:cNvSpPr txBox="1">
            <a:spLocks noChangeArrowheads="1"/>
          </p:cNvSpPr>
          <p:nvPr/>
        </p:nvSpPr>
        <p:spPr bwMode="auto">
          <a:xfrm>
            <a:off x="1919288" y="1443417"/>
            <a:ext cx="777398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1" hangingPunct="1">
              <a:spcBef>
                <a:spcPct val="50000"/>
              </a:spcBef>
            </a:pPr>
            <a:r>
              <a:rPr lang="en-US" altLang="zh-CN" sz="2000" b="1" dirty="0"/>
              <a:t>                    1</a:t>
            </a:r>
            <a:r>
              <a:rPr lang="zh-CN" altLang="en-US" sz="2000" b="1" dirty="0"/>
              <a:t>）基数</a:t>
            </a:r>
            <a:r>
              <a:rPr lang="en-US" altLang="zh-CN" sz="2000" b="1" dirty="0"/>
              <a:t>R</a:t>
            </a:r>
            <a:r>
              <a:rPr lang="zh-CN" altLang="en-US" sz="2000" b="1" dirty="0"/>
              <a:t>，</a:t>
            </a:r>
            <a:r>
              <a:rPr lang="zh-CN" altLang="en-US" sz="2000" b="1" dirty="0">
                <a:solidFill>
                  <a:srgbClr val="FF00FF"/>
                </a:solidFill>
              </a:rPr>
              <a:t>逢</a:t>
            </a:r>
            <a:r>
              <a:rPr lang="en-US" altLang="zh-CN" sz="2000" b="1" dirty="0">
                <a:solidFill>
                  <a:srgbClr val="FF00FF"/>
                </a:solidFill>
              </a:rPr>
              <a:t>R</a:t>
            </a:r>
            <a:r>
              <a:rPr lang="zh-CN" altLang="en-US" sz="2000" b="1" dirty="0">
                <a:solidFill>
                  <a:srgbClr val="FF00FF"/>
                </a:solidFill>
              </a:rPr>
              <a:t>进一</a:t>
            </a:r>
            <a:r>
              <a:rPr lang="zh-CN" altLang="en-US" sz="2000" b="1" dirty="0"/>
              <a:t>，</a:t>
            </a:r>
          </a:p>
        </p:txBody>
      </p:sp>
      <p:sp>
        <p:nvSpPr>
          <p:cNvPr id="14473" name="Text Box 137"/>
          <p:cNvSpPr txBox="1">
            <a:spLocks noChangeArrowheads="1"/>
          </p:cNvSpPr>
          <p:nvPr/>
        </p:nvSpPr>
        <p:spPr bwMode="auto">
          <a:xfrm>
            <a:off x="3100388" y="2348880"/>
            <a:ext cx="466506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eaLnBrk="1" hangingPunct="1">
              <a:spcBef>
                <a:spcPct val="50000"/>
              </a:spcBef>
            </a:pPr>
            <a:r>
              <a:rPr lang="en-US" altLang="zh-CN" sz="2000" b="1" dirty="0"/>
              <a:t>3</a:t>
            </a:r>
            <a:r>
              <a:rPr lang="zh-CN" altLang="en-US" sz="2000" b="1" dirty="0"/>
              <a:t>）不同数位上的数具有不同的权值</a:t>
            </a:r>
            <a:r>
              <a:rPr lang="en-US" altLang="zh-CN" sz="2000" b="1" dirty="0" err="1"/>
              <a:t>R</a:t>
            </a:r>
            <a:r>
              <a:rPr lang="en-US" altLang="zh-CN" sz="2000" b="1" baseline="30000" dirty="0" err="1"/>
              <a:t>i</a:t>
            </a:r>
            <a:r>
              <a:rPr lang="zh-CN" altLang="en-US" sz="2000" b="1" dirty="0"/>
              <a:t>。</a:t>
            </a:r>
          </a:p>
        </p:txBody>
      </p:sp>
      <p:sp>
        <p:nvSpPr>
          <p:cNvPr id="14474" name="Text Box 138"/>
          <p:cNvSpPr txBox="1">
            <a:spLocks noChangeArrowheads="1"/>
          </p:cNvSpPr>
          <p:nvPr/>
        </p:nvSpPr>
        <p:spPr bwMode="auto">
          <a:xfrm>
            <a:off x="3140640" y="2980501"/>
            <a:ext cx="711993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1" hangingPunct="1"/>
            <a:r>
              <a:rPr lang="en-US" altLang="zh-CN" sz="2000" b="1"/>
              <a:t>4</a:t>
            </a:r>
            <a:r>
              <a:rPr lang="zh-CN" altLang="en-US" sz="2000" b="1"/>
              <a:t>） 任意一个</a:t>
            </a:r>
            <a:r>
              <a:rPr lang="en-US" altLang="zh-CN" sz="2000" b="1"/>
              <a:t>R</a:t>
            </a:r>
            <a:r>
              <a:rPr lang="zh-CN" altLang="en-US" sz="2000" b="1"/>
              <a:t>进制数，都可按其权位展成多项式的形式</a:t>
            </a:r>
          </a:p>
        </p:txBody>
      </p:sp>
      <p:sp>
        <p:nvSpPr>
          <p:cNvPr id="14475" name="Text Box 139"/>
          <p:cNvSpPr txBox="1">
            <a:spLocks noChangeArrowheads="1"/>
          </p:cNvSpPr>
          <p:nvPr/>
        </p:nvSpPr>
        <p:spPr bwMode="auto">
          <a:xfrm>
            <a:off x="3562918" y="3803028"/>
            <a:ext cx="5211683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eaLnBrk="1" hangingPunct="1"/>
            <a:r>
              <a:rPr lang="en-US" altLang="zh-CN" sz="2000" b="1"/>
              <a:t>(N)</a:t>
            </a:r>
            <a:r>
              <a:rPr lang="en-US" altLang="zh-CN" sz="2000" b="1" baseline="-25000"/>
              <a:t>R</a:t>
            </a:r>
            <a:r>
              <a:rPr lang="en-US" altLang="zh-CN" sz="2000" b="1"/>
              <a:t>=(K</a:t>
            </a:r>
            <a:r>
              <a:rPr lang="en-US" altLang="zh-CN" sz="2000" b="1" baseline="-25000"/>
              <a:t>n-1 </a:t>
            </a:r>
            <a:r>
              <a:rPr lang="en-US" altLang="zh-CN" sz="2000" b="1">
                <a:sym typeface="Symbol" pitchFamily="18" charset="2"/>
              </a:rPr>
              <a:t> </a:t>
            </a:r>
            <a:r>
              <a:rPr lang="en-US" altLang="zh-CN" sz="2000" b="1"/>
              <a:t>K</a:t>
            </a:r>
            <a:r>
              <a:rPr lang="en-US" altLang="zh-CN" sz="2000" b="1" baseline="-25000"/>
              <a:t>1 </a:t>
            </a:r>
            <a:r>
              <a:rPr lang="en-US" altLang="zh-CN" sz="2000" b="1"/>
              <a:t>K</a:t>
            </a:r>
            <a:r>
              <a:rPr lang="en-US" altLang="zh-CN" sz="2000" b="1" baseline="-25000"/>
              <a:t>0. </a:t>
            </a:r>
            <a:r>
              <a:rPr lang="en-US" altLang="zh-CN" sz="2000" b="1"/>
              <a:t>K</a:t>
            </a:r>
            <a:r>
              <a:rPr lang="en-US" altLang="zh-CN" sz="2000" b="1" baseline="-25000"/>
              <a:t>-1 </a:t>
            </a:r>
            <a:r>
              <a:rPr lang="en-US" altLang="zh-CN" sz="2000" b="1" baseline="-25000">
                <a:sym typeface="Symbol" pitchFamily="18" charset="2"/>
              </a:rPr>
              <a:t></a:t>
            </a:r>
            <a:r>
              <a:rPr lang="en-US" altLang="zh-CN" sz="2000" b="1"/>
              <a:t>K</a:t>
            </a:r>
            <a:r>
              <a:rPr lang="en-US" altLang="zh-CN" sz="2000" b="1" baseline="-25000"/>
              <a:t>-m</a:t>
            </a:r>
            <a:r>
              <a:rPr lang="en-US" altLang="zh-CN" sz="2000" b="1"/>
              <a:t>)</a:t>
            </a:r>
            <a:r>
              <a:rPr lang="en-US" altLang="zh-CN" sz="2000" b="1" baseline="-25000"/>
              <a:t>2</a:t>
            </a:r>
          </a:p>
          <a:p>
            <a:pPr algn="l" eaLnBrk="1" hangingPunct="1"/>
            <a:endParaRPr lang="en-US" altLang="zh-CN" sz="2000" b="1"/>
          </a:p>
          <a:p>
            <a:pPr algn="l" eaLnBrk="1" hangingPunct="1"/>
            <a:r>
              <a:rPr lang="en-US" altLang="zh-CN" sz="2000" b="1"/>
              <a:t>=K</a:t>
            </a:r>
            <a:r>
              <a:rPr lang="en-US" altLang="zh-CN" sz="2000" b="1" baseline="-25000"/>
              <a:t>n-1 </a:t>
            </a:r>
            <a:r>
              <a:rPr lang="en-US" altLang="zh-CN" sz="2000" b="1">
                <a:solidFill>
                  <a:srgbClr val="FF00FF"/>
                </a:solidFill>
              </a:rPr>
              <a:t>R</a:t>
            </a:r>
            <a:r>
              <a:rPr lang="en-US" altLang="zh-CN" sz="2000" b="1" baseline="30000">
                <a:solidFill>
                  <a:srgbClr val="FF00FF"/>
                </a:solidFill>
              </a:rPr>
              <a:t>n-1</a:t>
            </a:r>
            <a:r>
              <a:rPr lang="en-US" altLang="zh-CN" sz="2000" b="1"/>
              <a:t>+</a:t>
            </a:r>
            <a:r>
              <a:rPr lang="en-US" altLang="zh-CN" sz="2000" b="1">
                <a:sym typeface="Symbol" pitchFamily="18" charset="2"/>
              </a:rPr>
              <a:t>+K</a:t>
            </a:r>
            <a:r>
              <a:rPr lang="en-US" altLang="zh-CN" sz="2000" b="1" baseline="-25000">
                <a:sym typeface="Symbol" pitchFamily="18" charset="2"/>
              </a:rPr>
              <a:t>1</a:t>
            </a:r>
            <a:r>
              <a:rPr lang="en-US" altLang="zh-CN" sz="2000" b="1">
                <a:solidFill>
                  <a:srgbClr val="FF00FF"/>
                </a:solidFill>
                <a:sym typeface="Symbol" pitchFamily="18" charset="2"/>
              </a:rPr>
              <a:t>R</a:t>
            </a:r>
            <a:r>
              <a:rPr lang="en-US" altLang="zh-CN" sz="2000" b="1" baseline="30000">
                <a:solidFill>
                  <a:srgbClr val="FF00FF"/>
                </a:solidFill>
                <a:sym typeface="Symbol" pitchFamily="18" charset="2"/>
              </a:rPr>
              <a:t>1</a:t>
            </a:r>
            <a:r>
              <a:rPr lang="en-US" altLang="zh-CN" sz="2000" b="1">
                <a:sym typeface="Symbol" pitchFamily="18" charset="2"/>
              </a:rPr>
              <a:t>+K</a:t>
            </a:r>
            <a:r>
              <a:rPr lang="en-US" altLang="zh-CN" sz="2000" b="1" baseline="-25000">
                <a:sym typeface="Symbol" pitchFamily="18" charset="2"/>
              </a:rPr>
              <a:t>0</a:t>
            </a:r>
            <a:r>
              <a:rPr lang="en-US" altLang="zh-CN" sz="2000" b="1">
                <a:solidFill>
                  <a:srgbClr val="FF00FF"/>
                </a:solidFill>
                <a:sym typeface="Symbol" pitchFamily="18" charset="2"/>
              </a:rPr>
              <a:t>R</a:t>
            </a:r>
            <a:r>
              <a:rPr lang="en-US" altLang="zh-CN" sz="2000" b="1" baseline="30000">
                <a:solidFill>
                  <a:srgbClr val="FF00FF"/>
                </a:solidFill>
                <a:sym typeface="Symbol" pitchFamily="18" charset="2"/>
              </a:rPr>
              <a:t>0</a:t>
            </a:r>
            <a:r>
              <a:rPr lang="en-US" altLang="zh-CN" sz="2000" b="1">
                <a:sym typeface="Symbol" pitchFamily="18" charset="2"/>
              </a:rPr>
              <a:t>+K</a:t>
            </a:r>
            <a:r>
              <a:rPr lang="en-US" altLang="zh-CN" sz="2000" b="1" baseline="-25000">
                <a:sym typeface="Symbol" pitchFamily="18" charset="2"/>
              </a:rPr>
              <a:t>-1 </a:t>
            </a:r>
            <a:r>
              <a:rPr lang="en-US" altLang="zh-CN" sz="2000" b="1">
                <a:solidFill>
                  <a:srgbClr val="FF00FF"/>
                </a:solidFill>
                <a:sym typeface="Symbol" pitchFamily="18" charset="2"/>
              </a:rPr>
              <a:t>R</a:t>
            </a:r>
            <a:r>
              <a:rPr lang="en-US" altLang="zh-CN" sz="2000" b="1" baseline="30000">
                <a:solidFill>
                  <a:srgbClr val="FF00FF"/>
                </a:solidFill>
                <a:sym typeface="Symbol" pitchFamily="18" charset="2"/>
              </a:rPr>
              <a:t>-1</a:t>
            </a:r>
            <a:r>
              <a:rPr lang="en-US" altLang="zh-CN" sz="2000" b="1">
                <a:sym typeface="Symbol" pitchFamily="18" charset="2"/>
              </a:rPr>
              <a:t>+K</a:t>
            </a:r>
            <a:r>
              <a:rPr lang="en-US" altLang="zh-CN" sz="2000" b="1" baseline="-25000">
                <a:sym typeface="Symbol" pitchFamily="18" charset="2"/>
              </a:rPr>
              <a:t>-m </a:t>
            </a:r>
            <a:r>
              <a:rPr lang="en-US" altLang="zh-CN" sz="2000" b="1">
                <a:solidFill>
                  <a:srgbClr val="FF00FF"/>
                </a:solidFill>
                <a:sym typeface="Symbol" pitchFamily="18" charset="2"/>
              </a:rPr>
              <a:t>R</a:t>
            </a:r>
            <a:r>
              <a:rPr lang="en-US" altLang="zh-CN" sz="2000" b="1" baseline="30000">
                <a:solidFill>
                  <a:srgbClr val="FF00FF"/>
                </a:solidFill>
                <a:sym typeface="Symbol" pitchFamily="18" charset="2"/>
              </a:rPr>
              <a:t>-m</a:t>
            </a:r>
            <a:endParaRPr lang="en-US" altLang="zh-CN" sz="2000" b="1" baseline="-25000">
              <a:sym typeface="Symbol" pitchFamily="18" charset="2"/>
            </a:endParaRPr>
          </a:p>
        </p:txBody>
      </p:sp>
      <p:graphicFrame>
        <p:nvGraphicFramePr>
          <p:cNvPr id="14476" name="Object 1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4587665"/>
              </p:ext>
            </p:extLst>
          </p:nvPr>
        </p:nvGraphicFramePr>
        <p:xfrm>
          <a:off x="3635940" y="4941888"/>
          <a:ext cx="1887538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3" name="公式" r:id="rId4" imgW="927000" imgH="495000" progId="Equation.3">
                  <p:embed/>
                </p:oleObj>
              </mc:Choice>
              <mc:Fallback>
                <p:oleObj name="公式" r:id="rId4" imgW="927000" imgH="495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940" y="4941888"/>
                        <a:ext cx="1887538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477" name="Text Box 141"/>
          <p:cNvSpPr txBox="1">
            <a:spLocks noChangeArrowheads="1"/>
          </p:cNvSpPr>
          <p:nvPr/>
        </p:nvSpPr>
        <p:spPr bwMode="auto">
          <a:xfrm>
            <a:off x="3035865" y="1873220"/>
            <a:ext cx="708818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1" hangingPunct="1"/>
            <a:r>
              <a:rPr lang="en-US" altLang="zh-CN" sz="2000" b="1"/>
              <a:t> 2</a:t>
            </a:r>
            <a:r>
              <a:rPr lang="zh-CN" altLang="en-US" sz="2000" b="1"/>
              <a:t>）有</a:t>
            </a:r>
            <a:r>
              <a:rPr lang="en-US" altLang="zh-CN" sz="2000" b="1"/>
              <a:t>R</a:t>
            </a:r>
            <a:r>
              <a:rPr lang="zh-CN" altLang="en-US" sz="2000" b="1"/>
              <a:t>个数字符号，数码（符）</a:t>
            </a:r>
            <a:r>
              <a:rPr lang="en-US" altLang="zh-CN" sz="2000" b="1"/>
              <a:t>K </a:t>
            </a:r>
            <a:r>
              <a:rPr lang="en-US" altLang="zh-CN" sz="2000" b="1" baseline="-25000"/>
              <a:t>i</a:t>
            </a:r>
            <a:r>
              <a:rPr lang="zh-CN" altLang="en-US" sz="2000" b="1"/>
              <a:t>从</a:t>
            </a:r>
            <a:r>
              <a:rPr lang="en-US" altLang="zh-CN" sz="2000" b="1"/>
              <a:t>0~(R-1)</a:t>
            </a:r>
          </a:p>
        </p:txBody>
      </p:sp>
    </p:spTree>
    <p:extLst>
      <p:ext uri="{BB962C8B-B14F-4D97-AF65-F5344CB8AC3E}">
        <p14:creationId xmlns:p14="http://schemas.microsoft.com/office/powerpoint/2010/main" val="2739199704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14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4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14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14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14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14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4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70" grpId="0" animBg="1"/>
      <p:bldP spid="14472" grpId="0"/>
      <p:bldP spid="14473" grpId="0"/>
      <p:bldP spid="14474" grpId="0"/>
      <p:bldP spid="14475" grpId="0"/>
      <p:bldP spid="1447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172" name="Rectangle 4"/>
          <p:cNvSpPr>
            <a:spLocks noChangeArrowheads="1"/>
          </p:cNvSpPr>
          <p:nvPr/>
        </p:nvSpPr>
        <p:spPr bwMode="auto">
          <a:xfrm>
            <a:off x="2495550" y="1196975"/>
            <a:ext cx="6096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1" hangingPunct="1">
              <a:spcBef>
                <a:spcPct val="50000"/>
              </a:spcBef>
            </a:pPr>
            <a:r>
              <a:rPr lang="zh-CN" altLang="en-US" sz="3200" b="1"/>
              <a:t>进位计数制的三个相关概念：</a:t>
            </a:r>
          </a:p>
        </p:txBody>
      </p:sp>
      <p:sp>
        <p:nvSpPr>
          <p:cNvPr id="647173" name="Rectangle 5"/>
          <p:cNvSpPr>
            <a:spLocks noGrp="1" noChangeArrowheads="1"/>
          </p:cNvSpPr>
          <p:nvPr>
            <p:ph idx="1"/>
          </p:nvPr>
        </p:nvSpPr>
        <p:spPr>
          <a:xfrm>
            <a:off x="2279579" y="2276872"/>
            <a:ext cx="7880225" cy="2931666"/>
          </a:xfrm>
          <a:noFill/>
          <a:ln/>
        </p:spPr>
        <p:txBody>
          <a:bodyPr/>
          <a:lstStyle/>
          <a:p>
            <a:pPr>
              <a:lnSpc>
                <a:spcPct val="100000"/>
              </a:lnSpc>
              <a:spcBef>
                <a:spcPct val="45000"/>
              </a:spcBef>
              <a:spcAft>
                <a:spcPct val="45000"/>
              </a:spcAft>
            </a:pPr>
            <a:r>
              <a:rPr lang="zh-CN" altLang="en-US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数码：用不同的数字符号来表示一种数制的数值，这些数字符号称为</a:t>
            </a:r>
            <a:r>
              <a:rPr lang="zh-CN" altLang="en-US" sz="2800" b="1" dirty="0">
                <a:solidFill>
                  <a:schemeClr val="tx1"/>
                </a:solidFill>
                <a:latin typeface="Times New Roman"/>
                <a:ea typeface="楷体_GB2312" pitchFamily="49" charset="-122"/>
              </a:rPr>
              <a:t>“</a:t>
            </a:r>
            <a:r>
              <a:rPr lang="zh-CN" altLang="en-US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数码（符）</a:t>
            </a:r>
            <a:r>
              <a:rPr lang="zh-CN" altLang="en-US" sz="2800" b="1" dirty="0">
                <a:solidFill>
                  <a:schemeClr val="tx1"/>
                </a:solidFill>
                <a:latin typeface="Times New Roman"/>
                <a:ea typeface="楷体_GB2312" pitchFamily="49" charset="-122"/>
              </a:rPr>
              <a:t>”</a:t>
            </a:r>
            <a:r>
              <a:rPr lang="zh-CN" altLang="en-US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。如在</a:t>
            </a:r>
            <a:r>
              <a:rPr lang="en-US" altLang="zh-CN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R</a:t>
            </a:r>
            <a:r>
              <a:rPr lang="zh-CN" altLang="en-US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进制中，数码为</a:t>
            </a:r>
            <a:r>
              <a:rPr lang="en-US" altLang="zh-CN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0</a:t>
            </a:r>
            <a:r>
              <a:rPr lang="zh-CN" altLang="en-US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 sz="2800" b="1" dirty="0">
                <a:solidFill>
                  <a:schemeClr val="tx1"/>
                </a:solidFill>
                <a:latin typeface="Times New Roman"/>
                <a:ea typeface="楷体_GB2312" pitchFamily="49" charset="-122"/>
              </a:rPr>
              <a:t>…</a:t>
            </a:r>
            <a:r>
              <a:rPr lang="en-US" altLang="zh-CN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R</a:t>
            </a:r>
            <a:r>
              <a:rPr lang="zh-CN" altLang="en-US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－</a:t>
            </a:r>
            <a:r>
              <a:rPr lang="en-US" altLang="zh-CN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共</a:t>
            </a:r>
            <a:r>
              <a:rPr lang="en-US" altLang="zh-CN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R</a:t>
            </a:r>
            <a:r>
              <a:rPr lang="zh-CN" altLang="en-US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个。</a:t>
            </a:r>
          </a:p>
          <a:p>
            <a:pPr>
              <a:lnSpc>
                <a:spcPct val="100000"/>
              </a:lnSpc>
              <a:spcBef>
                <a:spcPct val="45000"/>
              </a:spcBef>
              <a:spcAft>
                <a:spcPct val="45000"/>
              </a:spcAft>
            </a:pPr>
            <a:r>
              <a:rPr lang="zh-CN" altLang="en-US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基数：数制所使用的数码个数称为</a:t>
            </a:r>
            <a:r>
              <a:rPr lang="zh-CN" altLang="en-US" sz="2800" b="1" dirty="0">
                <a:solidFill>
                  <a:schemeClr val="tx1"/>
                </a:solidFill>
                <a:latin typeface="Times New Roman"/>
                <a:ea typeface="楷体_GB2312" pitchFamily="49" charset="-122"/>
              </a:rPr>
              <a:t>“</a:t>
            </a:r>
            <a:r>
              <a:rPr lang="zh-CN" altLang="en-US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基数</a:t>
            </a:r>
            <a:r>
              <a:rPr lang="zh-CN" altLang="en-US" sz="2800" b="1" dirty="0">
                <a:solidFill>
                  <a:schemeClr val="tx1"/>
                </a:solidFill>
                <a:latin typeface="Times New Roman"/>
                <a:ea typeface="楷体_GB2312" pitchFamily="49" charset="-122"/>
              </a:rPr>
              <a:t>”</a:t>
            </a:r>
            <a:r>
              <a:rPr lang="zh-CN" altLang="en-US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。如在</a:t>
            </a:r>
            <a:r>
              <a:rPr lang="en-US" altLang="zh-CN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R</a:t>
            </a:r>
            <a:r>
              <a:rPr lang="zh-CN" altLang="en-US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进制中，基数为</a:t>
            </a:r>
            <a:r>
              <a:rPr lang="en-US" altLang="zh-CN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R</a:t>
            </a:r>
          </a:p>
          <a:p>
            <a:pPr>
              <a:lnSpc>
                <a:spcPct val="100000"/>
              </a:lnSpc>
              <a:spcBef>
                <a:spcPct val="45000"/>
              </a:spcBef>
              <a:spcAft>
                <a:spcPct val="45000"/>
              </a:spcAft>
            </a:pPr>
            <a:endParaRPr lang="en-US" altLang="zh-CN" sz="2800" b="1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45000"/>
              </a:spcBef>
              <a:spcAft>
                <a:spcPct val="45000"/>
              </a:spcAft>
            </a:pPr>
            <a:endParaRPr lang="en-US" altLang="zh-CN" sz="2400" b="1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45000"/>
              </a:spcBef>
              <a:spcAft>
                <a:spcPct val="45000"/>
              </a:spcAft>
            </a:pPr>
            <a:endParaRPr lang="en-US" altLang="zh-CN" sz="2400" b="1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3499992"/>
      </p:ext>
    </p:extLst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47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47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1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471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471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1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471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471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7172" grpId="0" autoUpdateAnimBg="0"/>
      <p:bldP spid="647173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194" name="Rectangle 2"/>
          <p:cNvSpPr>
            <a:spLocks noGrp="1" noChangeArrowheads="1"/>
          </p:cNvSpPr>
          <p:nvPr>
            <p:ph idx="1"/>
          </p:nvPr>
        </p:nvSpPr>
        <p:spPr>
          <a:xfrm>
            <a:off x="1919536" y="548680"/>
            <a:ext cx="7848872" cy="17526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位权：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某种数制的每一位所具有的固定系数称为</a:t>
            </a:r>
            <a:r>
              <a:rPr lang="zh-CN" altLang="en-US" sz="2400" b="1" dirty="0">
                <a:latin typeface="Times New Roman"/>
                <a:ea typeface="楷体_GB2312" pitchFamily="49" charset="-122"/>
              </a:rPr>
              <a:t>“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位权</a:t>
            </a:r>
            <a:r>
              <a:rPr lang="zh-CN" altLang="en-US" sz="2400" b="1" dirty="0">
                <a:latin typeface="Times New Roman"/>
                <a:ea typeface="楷体_GB2312" pitchFamily="49" charset="-122"/>
              </a:rPr>
              <a:t>”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。如在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R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进制中，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_GB2312" pitchFamily="49" charset="-122"/>
                <a:ea typeface="楷体_GB2312" pitchFamily="49" charset="-122"/>
              </a:rPr>
              <a:t>小数点左边第</a:t>
            </a:r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_GB2312" pitchFamily="49" charset="-122"/>
                <a:ea typeface="楷体_GB2312" pitchFamily="49" charset="-122"/>
              </a:rPr>
              <a:t>n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_GB2312" pitchFamily="49" charset="-122"/>
                <a:ea typeface="楷体_GB2312" pitchFamily="49" charset="-122"/>
              </a:rPr>
              <a:t>位数的位权为</a:t>
            </a:r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_GB2312" pitchFamily="49" charset="-122"/>
                <a:ea typeface="楷体_GB2312" pitchFamily="49" charset="-122"/>
              </a:rPr>
              <a:t>R</a:t>
            </a:r>
            <a:r>
              <a:rPr lang="en-US" altLang="zh-CN" sz="2400" b="1" baseline="30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_GB2312" pitchFamily="49" charset="-122"/>
                <a:ea typeface="楷体_GB2312" pitchFamily="49" charset="-122"/>
              </a:rPr>
              <a:t>n-1</a:t>
            </a:r>
          </a:p>
        </p:txBody>
      </p:sp>
      <p:sp>
        <p:nvSpPr>
          <p:cNvPr id="648195" name="Text Box 3"/>
          <p:cNvSpPr txBox="1">
            <a:spLocks noChangeArrowheads="1"/>
          </p:cNvSpPr>
          <p:nvPr/>
        </p:nvSpPr>
        <p:spPr bwMode="auto">
          <a:xfrm>
            <a:off x="2247900" y="2321352"/>
            <a:ext cx="769620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CC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1" hangingPunct="1">
              <a:spcBef>
                <a:spcPct val="50000"/>
              </a:spcBef>
            </a:pPr>
            <a:r>
              <a:rPr lang="zh-CN" altLang="en-US" sz="2400" b="1" dirty="0"/>
              <a:t>例：</a:t>
            </a:r>
            <a:r>
              <a:rPr lang="en-US" altLang="zh-CN" sz="2400" b="1" dirty="0"/>
              <a:t>(824)</a:t>
            </a:r>
            <a:r>
              <a:rPr lang="en-US" altLang="zh-CN" sz="2400" b="1" baseline="-25000" dirty="0"/>
              <a:t>10   </a:t>
            </a:r>
            <a:r>
              <a:rPr lang="en-US" altLang="zh-CN" sz="2400" b="1" dirty="0"/>
              <a:t>=   8×10</a:t>
            </a:r>
            <a:r>
              <a:rPr lang="en-US" altLang="zh-CN" sz="2400" b="1" baseline="30000" dirty="0"/>
              <a:t>2  </a:t>
            </a:r>
            <a:r>
              <a:rPr lang="en-US" altLang="zh-CN" sz="2400" b="1" dirty="0"/>
              <a:t>+  2 ×10</a:t>
            </a:r>
            <a:r>
              <a:rPr lang="en-US" altLang="zh-CN" sz="2400" b="1" baseline="30000" dirty="0"/>
              <a:t>1  </a:t>
            </a:r>
            <a:r>
              <a:rPr lang="en-US" altLang="zh-CN" sz="2400" b="1" dirty="0"/>
              <a:t>+ 4 ×10</a:t>
            </a:r>
            <a:r>
              <a:rPr lang="en-US" altLang="zh-CN" sz="2400" b="1" baseline="30000" dirty="0"/>
              <a:t>0 </a:t>
            </a:r>
          </a:p>
          <a:p>
            <a:pPr algn="l" eaLnBrk="1" hangingPunct="1">
              <a:spcBef>
                <a:spcPct val="50000"/>
              </a:spcBef>
            </a:pPr>
            <a:endParaRPr lang="en-US" altLang="zh-CN" sz="2400" b="1" baseline="30000" dirty="0"/>
          </a:p>
          <a:p>
            <a:pPr algn="l" eaLnBrk="1" hangingPunct="1">
              <a:spcBef>
                <a:spcPct val="50000"/>
              </a:spcBef>
            </a:pPr>
            <a:r>
              <a:rPr lang="zh-CN" altLang="en-US" sz="2400" b="1" dirty="0"/>
              <a:t>　　</a:t>
            </a:r>
            <a:r>
              <a:rPr lang="en-US" altLang="zh-CN" sz="2400" b="1" dirty="0"/>
              <a:t>(110)</a:t>
            </a:r>
            <a:r>
              <a:rPr lang="en-US" altLang="zh-CN" sz="2400" b="1" baseline="-25000" dirty="0"/>
              <a:t>2   </a:t>
            </a:r>
            <a:r>
              <a:rPr lang="en-US" altLang="zh-CN" sz="2400" b="1" dirty="0"/>
              <a:t>=   1×2</a:t>
            </a:r>
            <a:r>
              <a:rPr lang="en-US" altLang="zh-CN" sz="2400" b="1" baseline="30000" dirty="0"/>
              <a:t>2  </a:t>
            </a:r>
            <a:r>
              <a:rPr lang="en-US" altLang="zh-CN" sz="2400" b="1" dirty="0"/>
              <a:t>+  1 ×2</a:t>
            </a:r>
            <a:r>
              <a:rPr lang="en-US" altLang="zh-CN" sz="2400" b="1" baseline="30000" dirty="0"/>
              <a:t>1  </a:t>
            </a:r>
            <a:r>
              <a:rPr lang="en-US" altLang="zh-CN" sz="2400" b="1" dirty="0"/>
              <a:t>+ 0 ×2</a:t>
            </a:r>
            <a:r>
              <a:rPr lang="en-US" altLang="zh-CN" sz="2400" b="1" baseline="30000" dirty="0"/>
              <a:t>0 </a:t>
            </a:r>
          </a:p>
          <a:p>
            <a:pPr algn="l" eaLnBrk="1" hangingPunct="1">
              <a:spcBef>
                <a:spcPct val="50000"/>
              </a:spcBef>
            </a:pPr>
            <a:endParaRPr lang="en-US" altLang="zh-CN" sz="2400" b="1" baseline="30000" dirty="0"/>
          </a:p>
          <a:p>
            <a:pPr algn="l" eaLnBrk="1" hangingPunct="1">
              <a:spcBef>
                <a:spcPct val="50000"/>
              </a:spcBef>
            </a:pPr>
            <a:r>
              <a:rPr lang="en-US" altLang="zh-CN" sz="2400" b="1" dirty="0"/>
              <a:t>        (307)</a:t>
            </a:r>
            <a:r>
              <a:rPr lang="en-US" altLang="zh-CN" sz="2400" b="1" baseline="-25000" dirty="0"/>
              <a:t>8</a:t>
            </a:r>
            <a:r>
              <a:rPr lang="en-US" altLang="zh-CN" sz="2400" b="1" dirty="0"/>
              <a:t>   =  3×8</a:t>
            </a:r>
            <a:r>
              <a:rPr lang="en-US" altLang="zh-CN" sz="2400" b="1" baseline="30000" dirty="0"/>
              <a:t>2</a:t>
            </a:r>
            <a:r>
              <a:rPr lang="en-US" altLang="zh-CN" sz="2400" b="1" dirty="0"/>
              <a:t>  +  0 ×8</a:t>
            </a:r>
            <a:r>
              <a:rPr lang="en-US" altLang="zh-CN" sz="2400" b="1" baseline="30000" dirty="0"/>
              <a:t>1</a:t>
            </a:r>
            <a:r>
              <a:rPr lang="en-US" altLang="zh-CN" sz="2400" b="1" dirty="0"/>
              <a:t>  + 7 ×8</a:t>
            </a:r>
            <a:r>
              <a:rPr lang="en-US" altLang="zh-CN" sz="2400" b="1" baseline="30000" dirty="0"/>
              <a:t>0</a:t>
            </a:r>
          </a:p>
          <a:p>
            <a:pPr algn="l" eaLnBrk="1" hangingPunct="1">
              <a:spcBef>
                <a:spcPct val="50000"/>
              </a:spcBef>
            </a:pPr>
            <a:endParaRPr lang="en-US" altLang="zh-CN" sz="2400" b="1" dirty="0"/>
          </a:p>
          <a:p>
            <a:pPr algn="l" eaLnBrk="1" hangingPunct="1">
              <a:spcBef>
                <a:spcPct val="50000"/>
              </a:spcBef>
            </a:pPr>
            <a:r>
              <a:rPr lang="en-US" altLang="zh-CN" sz="2400" b="1" dirty="0"/>
              <a:t>        (8ED)</a:t>
            </a:r>
            <a:r>
              <a:rPr lang="en-US" altLang="zh-CN" sz="2400" b="1" baseline="-25000" dirty="0"/>
              <a:t>16</a:t>
            </a:r>
            <a:r>
              <a:rPr lang="en-US" altLang="zh-CN" sz="2400" b="1" dirty="0"/>
              <a:t>   =   8×16</a:t>
            </a:r>
            <a:r>
              <a:rPr lang="en-US" altLang="zh-CN" sz="2400" b="1" baseline="30000" dirty="0"/>
              <a:t>2</a:t>
            </a:r>
            <a:r>
              <a:rPr lang="en-US" altLang="zh-CN" sz="2400" b="1" dirty="0"/>
              <a:t>  +  E ×16</a:t>
            </a:r>
            <a:r>
              <a:rPr lang="en-US" altLang="zh-CN" sz="2400" b="1" baseline="30000" dirty="0"/>
              <a:t>1</a:t>
            </a:r>
            <a:r>
              <a:rPr lang="en-US" altLang="zh-CN" sz="2400" b="1" dirty="0"/>
              <a:t>  + D ×16</a:t>
            </a:r>
            <a:r>
              <a:rPr lang="en-US" altLang="zh-CN" sz="2400" b="1" baseline="30000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290067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4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4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4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4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4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4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4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4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8195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146" name="Rectangle 2"/>
          <p:cNvSpPr>
            <a:spLocks noChangeArrowheads="1"/>
          </p:cNvSpPr>
          <p:nvPr/>
        </p:nvSpPr>
        <p:spPr bwMode="auto">
          <a:xfrm>
            <a:off x="2209800" y="457200"/>
            <a:ext cx="7772400" cy="563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 eaLnBrk="1" hangingPunct="1"/>
            <a:endParaRPr lang="zh-CN" altLang="zh-CN"/>
          </a:p>
        </p:txBody>
      </p:sp>
      <p:sp>
        <p:nvSpPr>
          <p:cNvPr id="646147" name="Line 3"/>
          <p:cNvSpPr>
            <a:spLocks noChangeShapeType="1"/>
          </p:cNvSpPr>
          <p:nvPr/>
        </p:nvSpPr>
        <p:spPr bwMode="auto">
          <a:xfrm>
            <a:off x="1905000" y="1427192"/>
            <a:ext cx="792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 b="1"/>
          </a:p>
        </p:txBody>
      </p:sp>
      <p:sp>
        <p:nvSpPr>
          <p:cNvPr id="646148" name="Text Box 4"/>
          <p:cNvSpPr txBox="1">
            <a:spLocks noChangeArrowheads="1"/>
          </p:cNvSpPr>
          <p:nvPr/>
        </p:nvSpPr>
        <p:spPr bwMode="auto">
          <a:xfrm>
            <a:off x="1949453" y="1450444"/>
            <a:ext cx="843121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 eaLnBrk="1" hangingPunct="1"/>
            <a:r>
              <a:rPr lang="zh-CN" altLang="en-US" sz="2000" b="1" dirty="0"/>
              <a:t>进位制        二进制</a:t>
            </a:r>
            <a:r>
              <a:rPr lang="en-US" altLang="zh-CN" sz="2000" b="1" dirty="0"/>
              <a:t>	</a:t>
            </a:r>
            <a:r>
              <a:rPr lang="zh-CN" altLang="en-US" sz="2000" b="1" dirty="0"/>
              <a:t>八进制 </a:t>
            </a:r>
            <a:r>
              <a:rPr lang="en-US" altLang="zh-CN" sz="2000" b="1" dirty="0"/>
              <a:t>		</a:t>
            </a:r>
            <a:r>
              <a:rPr lang="zh-CN" altLang="en-US" sz="2000" b="1" dirty="0"/>
              <a:t>十进制</a:t>
            </a:r>
            <a:r>
              <a:rPr lang="en-US" altLang="zh-CN" sz="2000" b="1" dirty="0"/>
              <a:t>		</a:t>
            </a:r>
            <a:r>
              <a:rPr lang="zh-CN" altLang="en-US" sz="2000" b="1" dirty="0"/>
              <a:t>十六进制</a:t>
            </a:r>
          </a:p>
        </p:txBody>
      </p:sp>
      <p:sp>
        <p:nvSpPr>
          <p:cNvPr id="646149" name="Line 5"/>
          <p:cNvSpPr>
            <a:spLocks noChangeShapeType="1"/>
          </p:cNvSpPr>
          <p:nvPr/>
        </p:nvSpPr>
        <p:spPr bwMode="auto">
          <a:xfrm>
            <a:off x="1949450" y="2060848"/>
            <a:ext cx="792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 b="1"/>
          </a:p>
        </p:txBody>
      </p:sp>
      <p:sp>
        <p:nvSpPr>
          <p:cNvPr id="646150" name="Text Box 6"/>
          <p:cNvSpPr txBox="1">
            <a:spLocks noChangeArrowheads="1"/>
          </p:cNvSpPr>
          <p:nvPr/>
        </p:nvSpPr>
        <p:spPr bwMode="auto">
          <a:xfrm>
            <a:off x="2063552" y="2367544"/>
            <a:ext cx="9289032" cy="2708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 eaLnBrk="1" hangingPunct="1">
              <a:spcBef>
                <a:spcPct val="50000"/>
              </a:spcBef>
            </a:pPr>
            <a:r>
              <a:rPr lang="zh-CN" altLang="en-US" sz="2000" b="1" dirty="0"/>
              <a:t>规则         逢二进一</a:t>
            </a:r>
            <a:r>
              <a:rPr lang="en-US" altLang="zh-CN" sz="2000" b="1" dirty="0"/>
              <a:t>	</a:t>
            </a:r>
            <a:r>
              <a:rPr lang="zh-CN" altLang="en-US" sz="2000" b="1" dirty="0"/>
              <a:t>逢八进一  </a:t>
            </a:r>
            <a:r>
              <a:rPr lang="en-US" altLang="zh-CN" sz="2000" b="1" dirty="0"/>
              <a:t>	</a:t>
            </a:r>
            <a:r>
              <a:rPr lang="zh-CN" altLang="en-US" sz="2000" b="1" dirty="0"/>
              <a:t>逢十进一  </a:t>
            </a:r>
            <a:r>
              <a:rPr lang="en-US" altLang="zh-CN" sz="2000" b="1" dirty="0"/>
              <a:t>	</a:t>
            </a:r>
            <a:r>
              <a:rPr lang="zh-CN" altLang="en-US" sz="2000" b="1" dirty="0"/>
              <a:t>逢十六进一</a:t>
            </a:r>
          </a:p>
          <a:p>
            <a:pPr algn="l" eaLnBrk="1" hangingPunct="1">
              <a:spcBef>
                <a:spcPct val="50000"/>
              </a:spcBef>
            </a:pPr>
            <a:r>
              <a:rPr lang="zh-CN" altLang="en-US" sz="2000" b="1" dirty="0"/>
              <a:t>基数         </a:t>
            </a:r>
            <a:r>
              <a:rPr lang="en-US" altLang="zh-CN" sz="2000" b="1" dirty="0"/>
              <a:t>r = 2	        	r = 8            	r = 10           	r = 16</a:t>
            </a:r>
          </a:p>
          <a:p>
            <a:pPr algn="l" eaLnBrk="1" hangingPunct="1">
              <a:spcBef>
                <a:spcPct val="50000"/>
              </a:spcBef>
            </a:pPr>
            <a:r>
              <a:rPr lang="zh-CN" altLang="en-US" sz="2000" b="1" dirty="0"/>
              <a:t>数符         </a:t>
            </a:r>
            <a:r>
              <a:rPr lang="en-US" altLang="zh-CN" sz="2000" b="1" dirty="0"/>
              <a:t>0</a:t>
            </a:r>
            <a:r>
              <a:rPr lang="zh-CN" altLang="en-US" sz="2000" b="1" dirty="0"/>
              <a:t>，</a:t>
            </a:r>
            <a:r>
              <a:rPr lang="en-US" altLang="zh-CN" sz="2000" b="1" dirty="0"/>
              <a:t>1              0,1,…,7          0,1,…,9           0,1,…,9,A,B,C,D,E,F</a:t>
            </a:r>
          </a:p>
          <a:p>
            <a:pPr algn="l" eaLnBrk="1" hangingPunct="1">
              <a:spcBef>
                <a:spcPct val="50000"/>
              </a:spcBef>
            </a:pPr>
            <a:r>
              <a:rPr lang="zh-CN" altLang="en-US" sz="2000" b="1" dirty="0"/>
              <a:t>位权         </a:t>
            </a:r>
            <a:r>
              <a:rPr lang="en-US" altLang="zh-CN" sz="2000" b="1" dirty="0"/>
              <a:t>2</a:t>
            </a:r>
            <a:r>
              <a:rPr lang="en-US" altLang="zh-CN" sz="2000" b="1" baseline="30000" dirty="0"/>
              <a:t>i</a:t>
            </a:r>
            <a:r>
              <a:rPr lang="en-US" altLang="zh-CN" sz="2000" b="1" dirty="0"/>
              <a:t>                     8</a:t>
            </a:r>
            <a:r>
              <a:rPr lang="en-US" altLang="zh-CN" sz="2000" b="1" baseline="30000" dirty="0"/>
              <a:t>i</a:t>
            </a:r>
            <a:r>
              <a:rPr lang="en-US" altLang="zh-CN" sz="2000" b="1" dirty="0"/>
              <a:t>                 	10</a:t>
            </a:r>
            <a:r>
              <a:rPr lang="en-US" altLang="zh-CN" sz="2000" b="1" baseline="30000" dirty="0"/>
              <a:t>i</a:t>
            </a:r>
            <a:r>
              <a:rPr lang="en-US" altLang="zh-CN" sz="2000" b="1" dirty="0"/>
              <a:t>                	16</a:t>
            </a:r>
            <a:r>
              <a:rPr lang="en-US" altLang="zh-CN" sz="2000" b="1" baseline="30000" dirty="0"/>
              <a:t>i</a:t>
            </a:r>
            <a:endParaRPr lang="en-US" altLang="zh-CN" sz="2000" b="1" dirty="0"/>
          </a:p>
          <a:p>
            <a:pPr>
              <a:spcBef>
                <a:spcPct val="50000"/>
              </a:spcBef>
            </a:pPr>
            <a:r>
              <a:rPr lang="zh-CN" altLang="en-US" sz="2000" b="1" dirty="0"/>
              <a:t>下标        </a:t>
            </a:r>
            <a:r>
              <a:rPr lang="en-US" altLang="zh-CN" sz="2000" b="1" dirty="0"/>
              <a:t>B (Binary)     O(Octal)    	D(Decimal) 	H(Hexadecimal)</a:t>
            </a:r>
          </a:p>
          <a:p>
            <a:pPr>
              <a:spcBef>
                <a:spcPct val="50000"/>
              </a:spcBef>
            </a:pPr>
            <a:r>
              <a:rPr lang="en-US" altLang="zh-CN" sz="2000" b="1"/>
              <a:t>                                          </a:t>
            </a:r>
            <a:endParaRPr lang="en-US" altLang="zh-CN" sz="2000" b="1" dirty="0"/>
          </a:p>
        </p:txBody>
      </p:sp>
      <p:sp>
        <p:nvSpPr>
          <p:cNvPr id="646151" name="Line 7"/>
          <p:cNvSpPr>
            <a:spLocks noChangeShapeType="1"/>
          </p:cNvSpPr>
          <p:nvPr/>
        </p:nvSpPr>
        <p:spPr bwMode="auto">
          <a:xfrm>
            <a:off x="1905000" y="6093296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 b="1"/>
          </a:p>
        </p:txBody>
      </p:sp>
      <p:sp>
        <p:nvSpPr>
          <p:cNvPr id="646152" name="Rectangle 8"/>
          <p:cNvSpPr>
            <a:spLocks noGrp="1" noChangeArrowheads="1"/>
          </p:cNvSpPr>
          <p:nvPr>
            <p:ph type="title"/>
          </p:nvPr>
        </p:nvSpPr>
        <p:spPr>
          <a:xfrm>
            <a:off x="1709750" y="217723"/>
            <a:ext cx="7772400" cy="1143000"/>
          </a:xfrm>
        </p:spPr>
        <p:txBody>
          <a:bodyPr>
            <a:normAutofit/>
          </a:bodyPr>
          <a:lstStyle/>
          <a:p>
            <a:r>
              <a:rPr lang="en-US" altLang="zh-CN" sz="24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lang="zh-CN" altLang="en-US" sz="24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表：  计算机中常用进制数的表示</a:t>
            </a:r>
          </a:p>
        </p:txBody>
      </p:sp>
    </p:spTree>
    <p:extLst>
      <p:ext uri="{BB962C8B-B14F-4D97-AF65-F5344CB8AC3E}">
        <p14:creationId xmlns:p14="http://schemas.microsoft.com/office/powerpoint/2010/main" val="2704199538"/>
      </p:ext>
    </p:extLst>
  </p:cSld>
  <p:clrMapOvr>
    <a:masterClrMapping/>
  </p:clrMapOvr>
  <p:transition spd="med">
    <p:blinds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1638300" y="68263"/>
            <a:ext cx="4381500" cy="798512"/>
          </a:xfrm>
          <a:gradFill rotWithShape="0">
            <a:gsLst>
              <a:gs pos="0">
                <a:srgbClr val="FFFFFF">
                  <a:gamma/>
                  <a:shade val="46275"/>
                  <a:invGamma/>
                </a:srgbClr>
              </a:gs>
              <a:gs pos="50000">
                <a:srgbClr val="FFFFFF"/>
              </a:gs>
              <a:gs pos="100000">
                <a:srgbClr val="FFFFFF">
                  <a:gamma/>
                  <a:shade val="46275"/>
                  <a:invGamma/>
                </a:srgbClr>
              </a:gs>
            </a:gsLst>
            <a:lin ang="5400000" scaled="1"/>
          </a:gradFill>
          <a:scene3d>
            <a:camera prst="legacyPerspectiveBottom"/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FFFFFF"/>
            </a:extrusion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normAutofit fontScale="90000"/>
            <a:flatTx/>
          </a:bodyPr>
          <a:lstStyle/>
          <a:p>
            <a:r>
              <a:rPr lang="zh-CN" altLang="en-US" sz="6000" dirty="0">
                <a:solidFill>
                  <a:srgbClr val="990033"/>
                </a:solidFill>
                <a:ea typeface="隶书" pitchFamily="49" charset="-122"/>
              </a:rPr>
              <a:t>数 制 转 换</a:t>
            </a:r>
            <a:endParaRPr lang="zh-CN" altLang="en-US" dirty="0"/>
          </a:p>
        </p:txBody>
      </p:sp>
      <p:sp>
        <p:nvSpPr>
          <p:cNvPr id="22534" name="Text Box 6"/>
          <p:cNvSpPr txBox="1">
            <a:spLocks noChangeArrowheads="1"/>
          </p:cNvSpPr>
          <p:nvPr/>
        </p:nvSpPr>
        <p:spPr bwMode="auto">
          <a:xfrm>
            <a:off x="3467103" y="2909890"/>
            <a:ext cx="156527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zh-CN" altLang="en-US" sz="3600" b="1" dirty="0">
                <a:ea typeface="隶书" pitchFamily="49" charset="-122"/>
              </a:rPr>
              <a:t>十进制</a:t>
            </a:r>
            <a:endParaRPr lang="zh-CN" altLang="en-US" sz="4400" dirty="0"/>
          </a:p>
        </p:txBody>
      </p:sp>
      <p:sp>
        <p:nvSpPr>
          <p:cNvPr id="22535" name="Text Box 7"/>
          <p:cNvSpPr txBox="1">
            <a:spLocks noChangeArrowheads="1"/>
          </p:cNvSpPr>
          <p:nvPr/>
        </p:nvSpPr>
        <p:spPr bwMode="auto">
          <a:xfrm>
            <a:off x="5969206" y="2928942"/>
            <a:ext cx="20574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1" hangingPunct="1"/>
            <a:r>
              <a:rPr lang="zh-CN" altLang="en-US" sz="3600" b="1" dirty="0">
                <a:ea typeface="隶书" pitchFamily="49" charset="-122"/>
              </a:rPr>
              <a:t>非十进制</a:t>
            </a:r>
            <a:endParaRPr lang="zh-CN" altLang="en-US" sz="3600" dirty="0">
              <a:ea typeface="隶书" pitchFamily="49" charset="-122"/>
            </a:endParaRPr>
          </a:p>
        </p:txBody>
      </p:sp>
      <p:sp>
        <p:nvSpPr>
          <p:cNvPr id="22546" name="Text Box 18"/>
          <p:cNvSpPr txBox="1">
            <a:spLocks noChangeArrowheads="1"/>
          </p:cNvSpPr>
          <p:nvPr/>
        </p:nvSpPr>
        <p:spPr bwMode="auto">
          <a:xfrm>
            <a:off x="3502023" y="5167316"/>
            <a:ext cx="156527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zh-CN" altLang="en-US" sz="3600" b="1" dirty="0">
                <a:ea typeface="隶书" pitchFamily="49" charset="-122"/>
              </a:rPr>
              <a:t>二进制</a:t>
            </a:r>
            <a:endParaRPr lang="zh-CN" altLang="en-US" sz="2800" b="1"/>
          </a:p>
        </p:txBody>
      </p:sp>
      <p:sp>
        <p:nvSpPr>
          <p:cNvPr id="22547" name="Text Box 19"/>
          <p:cNvSpPr txBox="1">
            <a:spLocks noChangeArrowheads="1"/>
          </p:cNvSpPr>
          <p:nvPr/>
        </p:nvSpPr>
        <p:spPr bwMode="auto">
          <a:xfrm>
            <a:off x="6125696" y="5151909"/>
            <a:ext cx="29718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1" hangingPunct="1"/>
            <a:r>
              <a:rPr lang="zh-CN" altLang="en-US" sz="3600" b="1" dirty="0">
                <a:ea typeface="隶书" pitchFamily="49" charset="-122"/>
              </a:rPr>
              <a:t>八、十六进制</a:t>
            </a:r>
            <a:endParaRPr lang="zh-CN" altLang="en-US" sz="4400" dirty="0"/>
          </a:p>
        </p:txBody>
      </p:sp>
      <p:sp>
        <p:nvSpPr>
          <p:cNvPr id="22563" name="Text Box 35" descr="75%"/>
          <p:cNvSpPr txBox="1">
            <a:spLocks noChangeArrowheads="1"/>
          </p:cNvSpPr>
          <p:nvPr/>
        </p:nvSpPr>
        <p:spPr bwMode="auto">
          <a:xfrm>
            <a:off x="3035300" y="1812928"/>
            <a:ext cx="63373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pattFill prst="pct75">
                  <a:fgClr>
                    <a:srgbClr val="33CCCC"/>
                  </a:fgClr>
                  <a:bgClr>
                    <a:srgbClr val="175E5E"/>
                  </a:bgClr>
                </a:patt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4000" b="1">
                <a:ea typeface="隶书" pitchFamily="49" charset="-122"/>
              </a:rPr>
              <a:t>十进制与非十进制间的转换</a:t>
            </a:r>
          </a:p>
        </p:txBody>
      </p:sp>
      <p:sp>
        <p:nvSpPr>
          <p:cNvPr id="22569" name="Text Box 41" descr="75%"/>
          <p:cNvSpPr txBox="1">
            <a:spLocks noChangeArrowheads="1"/>
          </p:cNvSpPr>
          <p:nvPr/>
        </p:nvSpPr>
        <p:spPr bwMode="auto">
          <a:xfrm>
            <a:off x="3048000" y="3946528"/>
            <a:ext cx="42862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pattFill prst="pct75">
                  <a:fgClr>
                    <a:srgbClr val="33CCCC"/>
                  </a:fgClr>
                  <a:bgClr>
                    <a:srgbClr val="175E5E"/>
                  </a:bgClr>
                </a:patt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4000" b="1" dirty="0">
                <a:ea typeface="隶书" pitchFamily="49" charset="-122"/>
              </a:rPr>
              <a:t>非十进制间的转换</a:t>
            </a:r>
            <a:endParaRPr lang="zh-CN" altLang="en-US" sz="2800" b="1"/>
          </a:p>
        </p:txBody>
      </p:sp>
      <p:sp>
        <p:nvSpPr>
          <p:cNvPr id="22579" name="Oval 51"/>
          <p:cNvSpPr>
            <a:spLocks noChangeArrowheads="1"/>
          </p:cNvSpPr>
          <p:nvPr/>
        </p:nvSpPr>
        <p:spPr bwMode="auto">
          <a:xfrm>
            <a:off x="2362200" y="1981200"/>
            <a:ext cx="457200" cy="457200"/>
          </a:xfrm>
          <a:prstGeom prst="ellipse">
            <a:avLst/>
          </a:prstGeom>
          <a:gradFill rotWithShape="0">
            <a:gsLst>
              <a:gs pos="0">
                <a:srgbClr val="FFFF99">
                  <a:gamma/>
                  <a:shade val="46275"/>
                  <a:invGamma/>
                </a:srgbClr>
              </a:gs>
              <a:gs pos="50000">
                <a:srgbClr val="FFFF99"/>
              </a:gs>
              <a:gs pos="100000">
                <a:srgbClr val="FFFF99">
                  <a:gamma/>
                  <a:shade val="46275"/>
                  <a:invGamma/>
                </a:srgbClr>
              </a:gs>
            </a:gsLst>
            <a:lin ang="5400000" scaled="1"/>
          </a:gradFill>
          <a:ln>
            <a:noFill/>
          </a:ln>
          <a:effectLst>
            <a:outerShdw sy="50000" kx="2453608" rotWithShape="0">
              <a:srgbClr val="808080"/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80" name="Oval 52"/>
          <p:cNvSpPr>
            <a:spLocks noChangeArrowheads="1"/>
          </p:cNvSpPr>
          <p:nvPr/>
        </p:nvSpPr>
        <p:spPr bwMode="auto">
          <a:xfrm>
            <a:off x="2362200" y="4098925"/>
            <a:ext cx="457200" cy="457200"/>
          </a:xfrm>
          <a:prstGeom prst="ellipse">
            <a:avLst/>
          </a:prstGeom>
          <a:gradFill rotWithShape="0">
            <a:gsLst>
              <a:gs pos="0">
                <a:srgbClr val="FFFF99">
                  <a:gamma/>
                  <a:shade val="46275"/>
                  <a:invGamma/>
                </a:srgbClr>
              </a:gs>
              <a:gs pos="50000">
                <a:srgbClr val="FFFF99"/>
              </a:gs>
              <a:gs pos="100000">
                <a:srgbClr val="FFFF99">
                  <a:gamma/>
                  <a:shade val="46275"/>
                  <a:invGamma/>
                </a:srgbClr>
              </a:gs>
            </a:gsLst>
            <a:lin ang="5400000" scaled="1"/>
          </a:gradFill>
          <a:ln>
            <a:noFill/>
          </a:ln>
          <a:effectLst>
            <a:outerShdw sy="50000" kx="2453608" rotWithShape="0">
              <a:srgbClr val="808080"/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箭头: 左右 1">
            <a:extLst>
              <a:ext uri="{FF2B5EF4-FFF2-40B4-BE49-F238E27FC236}">
                <a16:creationId xmlns:a16="http://schemas.microsoft.com/office/drawing/2014/main" id="{6A4598B7-6D7E-41FE-9E2D-F86FF3382A83}"/>
              </a:ext>
            </a:extLst>
          </p:cNvPr>
          <p:cNvSpPr/>
          <p:nvPr/>
        </p:nvSpPr>
        <p:spPr>
          <a:xfrm>
            <a:off x="5096363" y="3085319"/>
            <a:ext cx="877706" cy="357503"/>
          </a:xfrm>
          <a:prstGeom prst="leftRight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箭头: 左右 19">
            <a:extLst>
              <a:ext uri="{FF2B5EF4-FFF2-40B4-BE49-F238E27FC236}">
                <a16:creationId xmlns:a16="http://schemas.microsoft.com/office/drawing/2014/main" id="{BC11DBDB-66DF-41FB-AB1A-799266411162}"/>
              </a:ext>
            </a:extLst>
          </p:cNvPr>
          <p:cNvSpPr/>
          <p:nvPr/>
        </p:nvSpPr>
        <p:spPr>
          <a:xfrm>
            <a:off x="5157644" y="5293832"/>
            <a:ext cx="877706" cy="357503"/>
          </a:xfrm>
          <a:prstGeom prst="leftRight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8008126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5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5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5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25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25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25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5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25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2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2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2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2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0" grpId="0" animBg="1" autoUpdateAnimBg="0"/>
      <p:bldP spid="22534" grpId="0" autoUpdateAnimBg="0"/>
      <p:bldP spid="22535" grpId="0" autoUpdateAnimBg="0"/>
      <p:bldP spid="22546" grpId="0" autoUpdateAnimBg="0"/>
      <p:bldP spid="22547" grpId="0" autoUpdateAnimBg="0"/>
      <p:bldP spid="22563" grpId="0" autoUpdateAnimBg="0"/>
      <p:bldP spid="22569" grpId="0" autoUpdateAnimBg="0"/>
      <p:bldP spid="22579" grpId="0" animBg="1"/>
      <p:bldP spid="22580" grpId="0" animBg="1"/>
      <p:bldP spid="2" grpId="0" animBg="1"/>
      <p:bldP spid="2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1555714" y="182563"/>
            <a:ext cx="4900326" cy="685800"/>
          </a:xfrm>
          <a:gradFill rotWithShape="0">
            <a:gsLst>
              <a:gs pos="0">
                <a:srgbClr val="FFFFFF">
                  <a:gamma/>
                  <a:shade val="46275"/>
                  <a:invGamma/>
                </a:srgbClr>
              </a:gs>
              <a:gs pos="50000">
                <a:srgbClr val="FFFFFF"/>
              </a:gs>
              <a:gs pos="100000">
                <a:srgbClr val="FFFFFF">
                  <a:gamma/>
                  <a:shade val="46275"/>
                  <a:invGamma/>
                </a:srgbClr>
              </a:gs>
            </a:gsLst>
            <a:lin ang="5400000" scaled="1"/>
          </a:gradFill>
          <a:scene3d>
            <a:camera prst="legacyPerspectiveBottom"/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FFFFFF"/>
            </a:extrusion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normAutofit fontScale="90000"/>
            <a:flatTx/>
          </a:bodyPr>
          <a:lstStyle/>
          <a:p>
            <a:r>
              <a:rPr lang="zh-CN" altLang="en-US" b="1">
                <a:solidFill>
                  <a:srgbClr val="990033"/>
                </a:solidFill>
                <a:ea typeface="隶书" pitchFamily="49" charset="-122"/>
              </a:rPr>
              <a:t>非十进制转成十进制</a:t>
            </a:r>
          </a:p>
        </p:txBody>
      </p:sp>
      <p:sp>
        <p:nvSpPr>
          <p:cNvPr id="28682" name="Text Box 10"/>
          <p:cNvSpPr txBox="1">
            <a:spLocks noChangeArrowheads="1"/>
          </p:cNvSpPr>
          <p:nvPr/>
        </p:nvSpPr>
        <p:spPr bwMode="auto">
          <a:xfrm>
            <a:off x="2433641" y="1431925"/>
            <a:ext cx="156527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zh-CN" altLang="en-US" sz="3600" b="1" dirty="0">
                <a:ea typeface="幼圆" pitchFamily="49" charset="-122"/>
              </a:rPr>
              <a:t>方法</a:t>
            </a:r>
            <a:r>
              <a:rPr lang="zh-CN" altLang="en-US" sz="3600" b="1"/>
              <a:t>：</a:t>
            </a:r>
            <a:endParaRPr lang="zh-CN" altLang="en-US" sz="4400"/>
          </a:p>
        </p:txBody>
      </p:sp>
      <p:grpSp>
        <p:nvGrpSpPr>
          <p:cNvPr id="28695" name="Group 23"/>
          <p:cNvGrpSpPr>
            <a:grpSpLocks/>
          </p:cNvGrpSpPr>
          <p:nvPr/>
        </p:nvGrpSpPr>
        <p:grpSpPr bwMode="auto">
          <a:xfrm>
            <a:off x="4271962" y="1425209"/>
            <a:ext cx="5486400" cy="1143000"/>
            <a:chOff x="1584" y="1008"/>
            <a:chExt cx="3600" cy="720"/>
          </a:xfrm>
        </p:grpSpPr>
        <p:sp>
          <p:nvSpPr>
            <p:cNvPr id="28684" name="AutoShape 12"/>
            <p:cNvSpPr>
              <a:spLocks noChangeArrowheads="1"/>
            </p:cNvSpPr>
            <p:nvPr/>
          </p:nvSpPr>
          <p:spPr bwMode="auto">
            <a:xfrm>
              <a:off x="1584" y="1008"/>
              <a:ext cx="3600" cy="720"/>
            </a:xfrm>
            <a:prstGeom prst="wedgeRectCallout">
              <a:avLst>
                <a:gd name="adj1" fmla="val -57083"/>
                <a:gd name="adj2" fmla="val -27639"/>
              </a:avLst>
            </a:prstGeom>
            <a:solidFill>
              <a:srgbClr val="FF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/>
              <a:endParaRPr lang="zh-CN" altLang="zh-CN" sz="4400"/>
            </a:p>
          </p:txBody>
        </p:sp>
        <p:sp>
          <p:nvSpPr>
            <p:cNvPr id="28685" name="Rectangle 13"/>
            <p:cNvSpPr>
              <a:spLocks noChangeArrowheads="1"/>
            </p:cNvSpPr>
            <p:nvPr/>
          </p:nvSpPr>
          <p:spPr bwMode="auto">
            <a:xfrm>
              <a:off x="1680" y="1018"/>
              <a:ext cx="3408" cy="672"/>
            </a:xfrm>
            <a:prstGeom prst="rect">
              <a:avLst/>
            </a:prstGeom>
            <a:solidFill>
              <a:srgbClr val="FFCC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just" eaLnBrk="1" hangingPunct="1">
                <a:spcBef>
                  <a:spcPct val="50000"/>
                </a:spcBef>
              </a:pPr>
              <a:r>
                <a:rPr lang="zh-CN" altLang="en-US" sz="3200" b="1">
                  <a:latin typeface="幼圆" pitchFamily="49" charset="-122"/>
                  <a:ea typeface="幼圆" pitchFamily="49" charset="-122"/>
                </a:rPr>
                <a:t>将相应进制的数按权展成多项式，按十进制求和</a:t>
              </a:r>
            </a:p>
          </p:txBody>
        </p:sp>
      </p:grpSp>
      <p:grpSp>
        <p:nvGrpSpPr>
          <p:cNvPr id="28697" name="Group 25"/>
          <p:cNvGrpSpPr>
            <a:grpSpLocks/>
          </p:cNvGrpSpPr>
          <p:nvPr/>
        </p:nvGrpSpPr>
        <p:grpSpPr bwMode="auto">
          <a:xfrm>
            <a:off x="4271962" y="3125055"/>
            <a:ext cx="5715000" cy="2362200"/>
            <a:chOff x="1440" y="1920"/>
            <a:chExt cx="3600" cy="1488"/>
          </a:xfrm>
        </p:grpSpPr>
        <p:sp>
          <p:nvSpPr>
            <p:cNvPr id="28692" name="AutoShape 20"/>
            <p:cNvSpPr>
              <a:spLocks noChangeArrowheads="1"/>
            </p:cNvSpPr>
            <p:nvPr/>
          </p:nvSpPr>
          <p:spPr bwMode="auto">
            <a:xfrm>
              <a:off x="1440" y="1920"/>
              <a:ext cx="3600" cy="1488"/>
            </a:xfrm>
            <a:prstGeom prst="wedgeRectCallout">
              <a:avLst>
                <a:gd name="adj1" fmla="val -59833"/>
                <a:gd name="adj2" fmla="val -19421"/>
              </a:avLst>
            </a:prstGeom>
            <a:solidFill>
              <a:srgbClr val="FF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/>
              <a:endParaRPr lang="zh-CN" altLang="zh-CN" sz="4400"/>
            </a:p>
          </p:txBody>
        </p:sp>
        <p:sp>
          <p:nvSpPr>
            <p:cNvPr id="28693" name="Rectangle 21"/>
            <p:cNvSpPr>
              <a:spLocks noChangeArrowheads="1"/>
            </p:cNvSpPr>
            <p:nvPr/>
          </p:nvSpPr>
          <p:spPr bwMode="auto">
            <a:xfrm>
              <a:off x="1494" y="1973"/>
              <a:ext cx="3450" cy="1134"/>
            </a:xfrm>
            <a:prstGeom prst="rect">
              <a:avLst/>
            </a:prstGeom>
            <a:solidFill>
              <a:srgbClr val="FFCC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l"/>
              <a:r>
                <a:rPr lang="en-US" altLang="zh-CN" sz="2800" b="1">
                  <a:latin typeface="幼圆" pitchFamily="49" charset="-122"/>
                  <a:ea typeface="幼圆" pitchFamily="49" charset="-122"/>
                </a:rPr>
                <a:t>(F8C.B)</a:t>
              </a:r>
              <a:r>
                <a:rPr lang="en-US" altLang="zh-CN" sz="2800" b="1" baseline="-25000">
                  <a:latin typeface="幼圆" pitchFamily="49" charset="-122"/>
                  <a:ea typeface="幼圆" pitchFamily="49" charset="-122"/>
                </a:rPr>
                <a:t>16 </a:t>
              </a:r>
            </a:p>
            <a:p>
              <a:pPr algn="l"/>
              <a:r>
                <a:rPr lang="en-US" altLang="zh-CN" sz="2800" b="1">
                  <a:latin typeface="幼圆" pitchFamily="49" charset="-122"/>
                  <a:ea typeface="幼圆" pitchFamily="49" charset="-122"/>
                </a:rPr>
                <a:t>=</a:t>
              </a:r>
              <a:r>
                <a:rPr lang="en-US" altLang="zh-CN" sz="2800" b="1" baseline="-25000">
                  <a:latin typeface="幼圆" pitchFamily="49" charset="-122"/>
                  <a:ea typeface="幼圆" pitchFamily="49" charset="-122"/>
                </a:rPr>
                <a:t> </a:t>
              </a:r>
              <a:r>
                <a:rPr lang="en-US" altLang="zh-CN" sz="2800" b="1">
                  <a:latin typeface="幼圆" pitchFamily="49" charset="-122"/>
                  <a:ea typeface="幼圆" pitchFamily="49" charset="-122"/>
                </a:rPr>
                <a:t>F×16</a:t>
              </a:r>
              <a:r>
                <a:rPr lang="en-US" altLang="zh-CN" sz="2800" b="1" baseline="30000">
                  <a:latin typeface="幼圆" pitchFamily="49" charset="-122"/>
                  <a:ea typeface="幼圆" pitchFamily="49" charset="-122"/>
                </a:rPr>
                <a:t>2</a:t>
              </a:r>
              <a:r>
                <a:rPr lang="en-US" altLang="zh-CN" sz="2800" b="1">
                  <a:latin typeface="幼圆" pitchFamily="49" charset="-122"/>
                  <a:ea typeface="幼圆" pitchFamily="49" charset="-122"/>
                </a:rPr>
                <a:t>+8×16</a:t>
              </a:r>
              <a:r>
                <a:rPr lang="en-US" altLang="zh-CN" sz="2800" b="1" baseline="30000">
                  <a:latin typeface="幼圆" pitchFamily="49" charset="-122"/>
                  <a:ea typeface="幼圆" pitchFamily="49" charset="-122"/>
                </a:rPr>
                <a:t>1</a:t>
              </a:r>
              <a:r>
                <a:rPr lang="en-US" altLang="zh-CN" sz="2800" b="1">
                  <a:latin typeface="幼圆" pitchFamily="49" charset="-122"/>
                  <a:ea typeface="幼圆" pitchFamily="49" charset="-122"/>
                </a:rPr>
                <a:t>+C×16</a:t>
              </a:r>
              <a:r>
                <a:rPr lang="en-US" altLang="zh-CN" sz="2800" b="1" baseline="30000">
                  <a:latin typeface="幼圆" pitchFamily="49" charset="-122"/>
                  <a:ea typeface="幼圆" pitchFamily="49" charset="-122"/>
                </a:rPr>
                <a:t>0</a:t>
              </a:r>
              <a:r>
                <a:rPr lang="en-US" altLang="zh-CN" sz="2800" b="1">
                  <a:latin typeface="幼圆" pitchFamily="49" charset="-122"/>
                  <a:ea typeface="幼圆" pitchFamily="49" charset="-122"/>
                </a:rPr>
                <a:t>+B×16</a:t>
              </a:r>
              <a:r>
                <a:rPr lang="en-US" altLang="zh-CN" sz="2800" b="1" baseline="30000">
                  <a:latin typeface="幼圆" pitchFamily="49" charset="-122"/>
                  <a:ea typeface="幼圆" pitchFamily="49" charset="-122"/>
                </a:rPr>
                <a:t>-1</a:t>
              </a:r>
            </a:p>
            <a:p>
              <a:pPr algn="l"/>
              <a:r>
                <a:rPr lang="en-US" altLang="zh-CN" sz="2800" b="1">
                  <a:latin typeface="幼圆" pitchFamily="49" charset="-122"/>
                  <a:ea typeface="幼圆" pitchFamily="49" charset="-122"/>
                </a:rPr>
                <a:t>=</a:t>
              </a:r>
              <a:r>
                <a:rPr lang="en-US" altLang="zh-CN" sz="2800" b="1" baseline="30000">
                  <a:latin typeface="幼圆" pitchFamily="49" charset="-122"/>
                  <a:ea typeface="幼圆" pitchFamily="49" charset="-122"/>
                </a:rPr>
                <a:t> </a:t>
              </a:r>
              <a:r>
                <a:rPr lang="en-US" altLang="zh-CN" sz="2800" b="1">
                  <a:latin typeface="幼圆" pitchFamily="49" charset="-122"/>
                  <a:ea typeface="幼圆" pitchFamily="49" charset="-122"/>
                </a:rPr>
                <a:t>3840+128+12+0.6875</a:t>
              </a:r>
            </a:p>
            <a:p>
              <a:pPr algn="l"/>
              <a:r>
                <a:rPr lang="en-US" altLang="zh-CN" sz="2800" b="1">
                  <a:latin typeface="幼圆" pitchFamily="49" charset="-122"/>
                  <a:ea typeface="幼圆" pitchFamily="49" charset="-122"/>
                </a:rPr>
                <a:t>=3980.6875</a:t>
              </a:r>
              <a:endParaRPr lang="en-US" altLang="zh-CN" b="1">
                <a:latin typeface="幼圆" pitchFamily="49" charset="-122"/>
                <a:ea typeface="幼圆" pitchFamily="49" charset="-122"/>
              </a:endParaRPr>
            </a:p>
          </p:txBody>
        </p:sp>
      </p:grpSp>
      <p:sp>
        <p:nvSpPr>
          <p:cNvPr id="28696" name="Text Box 24"/>
          <p:cNvSpPr txBox="1">
            <a:spLocks noChangeArrowheads="1"/>
          </p:cNvSpPr>
          <p:nvPr/>
        </p:nvSpPr>
        <p:spPr bwMode="auto">
          <a:xfrm>
            <a:off x="2438400" y="3200400"/>
            <a:ext cx="130175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zh-CN" altLang="en-US" sz="4400"/>
              <a:t>例：</a:t>
            </a:r>
          </a:p>
        </p:txBody>
      </p:sp>
    </p:spTree>
    <p:extLst>
      <p:ext uri="{BB962C8B-B14F-4D97-AF65-F5344CB8AC3E}">
        <p14:creationId xmlns:p14="http://schemas.microsoft.com/office/powerpoint/2010/main" val="3362019056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8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86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86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4" grpId="0" animBg="1" autoUpdateAnimBg="0"/>
      <p:bldP spid="28682" grpId="0" autoUpdateAnimBg="0"/>
      <p:bldP spid="28696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80FABA0A-EE73-42DE-A406-C443B0381EA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279576" y="1064260"/>
            <a:ext cx="7992888" cy="3372852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二进制数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1100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，所对应的十进制数为：</a:t>
            </a:r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1]</a:t>
            </a:r>
          </a:p>
          <a:p>
            <a:endParaRPr lang="en-US" altLang="zh-CN" sz="2600" dirty="0">
              <a:solidFill>
                <a:srgbClr val="639EF4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r>
              <a:rPr lang="zh-CN" altLang="en-US" sz="2600" dirty="0"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八进制数</a:t>
            </a:r>
            <a:r>
              <a:rPr lang="en-US" altLang="zh-CN" sz="2600" dirty="0"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217 </a:t>
            </a:r>
            <a:r>
              <a:rPr lang="zh-CN" altLang="en-US" sz="2600" dirty="0"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所对应的十进制数为：</a:t>
            </a:r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2]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</a:p>
          <a:p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r>
              <a:rPr lang="zh-CN" altLang="en-US" sz="2600" dirty="0"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十六进制数</a:t>
            </a:r>
            <a:r>
              <a:rPr lang="en-US" altLang="zh-CN" sz="2600" dirty="0"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AF</a:t>
            </a:r>
            <a:r>
              <a:rPr lang="zh-CN" altLang="en-US" sz="2600" dirty="0"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所对应的十进制数为：</a:t>
            </a:r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3]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592552E7-10AF-496B-95AD-E3346FF1B0FC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F4B4A62-486B-4C16-8043-626FADE104AE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1524000" y="5849303"/>
            <a:ext cx="9144000" cy="36576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正常使用填空题需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2A3C7DFD-DC7B-4B53-BB3F-A3E1914F1B27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0" y="0"/>
            <a:ext cx="5508104" cy="635000"/>
            <a:chOff x="-2737052" y="-317500"/>
            <a:chExt cx="9144000" cy="635000"/>
          </a:xfrm>
        </p:grpSpPr>
        <p:sp>
          <p:nvSpPr>
            <p:cNvPr id="9" name="TitleBackground">
              <a:extLst>
                <a:ext uri="{FF2B5EF4-FFF2-40B4-BE49-F238E27FC236}">
                  <a16:creationId xmlns:a16="http://schemas.microsoft.com/office/drawing/2014/main" id="{EC1307F5-23CA-4447-86AF-4B5C0755EE45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-2737052" y="-31750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ColorBlock">
              <a:extLst>
                <a:ext uri="{FF2B5EF4-FFF2-40B4-BE49-F238E27FC236}">
                  <a16:creationId xmlns:a16="http://schemas.microsoft.com/office/drawing/2014/main" id="{0C671EB0-6234-4389-A544-5FFDAF07A450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-2737052" y="-31750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TypeText">
              <a:extLst>
                <a:ext uri="{FF2B5EF4-FFF2-40B4-BE49-F238E27FC236}">
                  <a16:creationId xmlns:a16="http://schemas.microsoft.com/office/drawing/2014/main" id="{DC64B82B-E2DE-4666-BBEC-5EB74670AF43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-2315387" y="-317500"/>
              <a:ext cx="1905001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</a:p>
          </p:txBody>
        </p:sp>
        <p:sp>
          <p:nvSpPr>
            <p:cNvPr id="12" name="TipText">
              <a:extLst>
                <a:ext uri="{FF2B5EF4-FFF2-40B4-BE49-F238E27FC236}">
                  <a16:creationId xmlns:a16="http://schemas.microsoft.com/office/drawing/2014/main" id="{155AFDC6-2703-41FD-839A-09854758029A}"/>
                </a:ext>
              </a:extLst>
            </p:cNvPr>
            <p:cNvSpPr txBox="1"/>
            <p:nvPr>
              <p:custDataLst>
                <p:tags r:id="rId10"/>
              </p:custDataLst>
            </p:nvPr>
          </p:nvSpPr>
          <p:spPr>
            <a:xfrm>
              <a:off x="-203898" y="-20828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dirty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3</a:t>
              </a:r>
              <a:r>
                <a:rPr lang="zh-CN" altLang="en-US" sz="2000" dirty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6" name="图片 5">
            <a:extLst>
              <a:ext uri="{FF2B5EF4-FFF2-40B4-BE49-F238E27FC236}">
                <a16:creationId xmlns:a16="http://schemas.microsoft.com/office/drawing/2014/main" id="{AB123BB5-474D-46D7-BFE9-D83F4DE1CEFE}"/>
              </a:ext>
            </a:extLst>
          </p:cNvPr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621260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0" name="Rectangle 4"/>
          <p:cNvSpPr>
            <a:spLocks noGrp="1" noChangeArrowheads="1"/>
          </p:cNvSpPr>
          <p:nvPr>
            <p:ph type="title"/>
          </p:nvPr>
        </p:nvSpPr>
        <p:spPr>
          <a:xfrm>
            <a:off x="1596371" y="311153"/>
            <a:ext cx="5255939" cy="587375"/>
          </a:xfrm>
          <a:gradFill rotWithShape="0">
            <a:gsLst>
              <a:gs pos="0">
                <a:srgbClr val="FFFFFF">
                  <a:gamma/>
                  <a:shade val="46275"/>
                  <a:invGamma/>
                </a:srgbClr>
              </a:gs>
              <a:gs pos="50000">
                <a:srgbClr val="FFFFFF"/>
              </a:gs>
              <a:gs pos="100000">
                <a:srgbClr val="FFFFFF">
                  <a:gamma/>
                  <a:shade val="46275"/>
                  <a:invGamma/>
                </a:srgbClr>
              </a:gs>
            </a:gsLst>
            <a:lin ang="5400000" scaled="1"/>
          </a:gradFill>
          <a:ln/>
          <a:scene3d>
            <a:camera prst="legacyPerspectiveTopRight"/>
            <a:lightRig rig="legacyFlat3" dir="b"/>
          </a:scene3d>
          <a:sp3d extrusionH="887400" prstMaterial="legacyMatte">
            <a:bevelT w="13500" h="13500" prst="angle"/>
            <a:bevelB w="13500" h="13500" prst="angle"/>
            <a:extrusionClr>
              <a:srgbClr val="FFFFFF"/>
            </a:extrusionClr>
          </a:sp3d>
          <a:extLst>
            <a:ext uri="{91240B29-F687-4F45-9708-019B960494DF}">
              <a14:hiddenLine xmlns:a14="http://schemas.microsoft.com/office/drawing/2010/main">
                <a:noFill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normAutofit fontScale="90000"/>
            <a:flatTx/>
          </a:bodyPr>
          <a:lstStyle/>
          <a:p>
            <a:r>
              <a:rPr lang="zh-CN" altLang="en-US" sz="4000" dirty="0">
                <a:solidFill>
                  <a:srgbClr val="990033"/>
                </a:solidFill>
                <a:ea typeface="隶书" pitchFamily="49" charset="-122"/>
              </a:rPr>
              <a:t>十进制转换成非十进制</a:t>
            </a:r>
            <a:endParaRPr lang="zh-CN" altLang="en-US" dirty="0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063750" y="1125538"/>
            <a:ext cx="3816350" cy="6477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sz="2800" b="1">
                <a:solidFill>
                  <a:srgbClr val="990033"/>
                </a:solidFill>
                <a:ea typeface="幼圆" pitchFamily="49" charset="-122"/>
                <a:sym typeface="Symbol" pitchFamily="18" charset="2"/>
              </a:rPr>
              <a:t> </a:t>
            </a:r>
            <a:r>
              <a:rPr lang="en-US" altLang="zh-CN" sz="2800" b="1">
                <a:ea typeface="幼圆" pitchFamily="49" charset="-122"/>
                <a:sym typeface="Symbol" pitchFamily="18" charset="2"/>
              </a:rPr>
              <a:t>  </a:t>
            </a:r>
            <a:r>
              <a:rPr lang="zh-CN" altLang="en-US" sz="2800" b="1">
                <a:ea typeface="幼圆" pitchFamily="49" charset="-122"/>
              </a:rPr>
              <a:t>整数部分的转换</a:t>
            </a:r>
          </a:p>
        </p:txBody>
      </p:sp>
      <p:pic>
        <p:nvPicPr>
          <p:cNvPr id="24672" name="Picture 96"/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02" t="14331" r="45841" b="8221"/>
          <a:stretch/>
        </p:blipFill>
        <p:spPr>
          <a:xfrm>
            <a:off x="6240464" y="1556792"/>
            <a:ext cx="3847172" cy="4320058"/>
          </a:xfrm>
          <a:noFill/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4671" name="Rectangle 95"/>
          <p:cNvSpPr>
            <a:spLocks noChangeArrowheads="1"/>
          </p:cNvSpPr>
          <p:nvPr/>
        </p:nvSpPr>
        <p:spPr bwMode="auto">
          <a:xfrm>
            <a:off x="551384" y="1844677"/>
            <a:ext cx="5400154" cy="46086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</a:pPr>
            <a:r>
              <a:rPr lang="en-US" altLang="zh-CN" sz="3200" b="1" dirty="0"/>
              <a:t>1.</a:t>
            </a:r>
            <a:r>
              <a:rPr lang="zh-CN" altLang="en-US" sz="3200" b="1" dirty="0"/>
              <a:t>除基取余法：</a:t>
            </a:r>
            <a:endParaRPr lang="zh-CN" altLang="en-US" sz="2000" b="1" dirty="0">
              <a:latin typeface="宋体" charset="-122"/>
            </a:endParaRPr>
          </a:p>
          <a:p>
            <a:pPr marL="342900" indent="-342900">
              <a:lnSpc>
                <a:spcPct val="150000"/>
              </a:lnSpc>
            </a:pPr>
            <a:r>
              <a:rPr lang="zh-CN" altLang="en-US" sz="2000" b="1" dirty="0">
                <a:latin typeface="宋体" charset="-122"/>
              </a:rPr>
              <a:t>  </a:t>
            </a:r>
            <a:r>
              <a:rPr lang="zh-CN" altLang="en-US" sz="2400" b="1" dirty="0">
                <a:latin typeface="宋体" charset="-122"/>
              </a:rPr>
              <a:t>即：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charset="-122"/>
              </a:rPr>
              <a:t>除以</a:t>
            </a:r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charset="-122"/>
              </a:rPr>
              <a:t>R 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charset="-122"/>
              </a:rPr>
              <a:t>取余数，用商再除以</a:t>
            </a:r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charset="-122"/>
              </a:rPr>
              <a:t>R</a:t>
            </a:r>
            <a:r>
              <a:rPr lang="zh-CN" altLang="en-US" sz="2400" b="1" dirty="0">
                <a:latin typeface="宋体" charset="-122"/>
              </a:rPr>
              <a:t>，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charset="-122"/>
              </a:rPr>
              <a:t>直到商为</a:t>
            </a:r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charset="-122"/>
              </a:rPr>
              <a:t>0</a:t>
            </a:r>
            <a:r>
              <a:rPr lang="en-US" altLang="zh-CN" sz="2400" b="1" dirty="0">
                <a:latin typeface="宋体" charset="-122"/>
              </a:rPr>
              <a:t>.</a:t>
            </a:r>
          </a:p>
          <a:p>
            <a:pPr marL="342900" indent="-342900">
              <a:lnSpc>
                <a:spcPct val="150000"/>
              </a:lnSpc>
            </a:pPr>
            <a:r>
              <a:rPr lang="zh-CN" altLang="en-US" sz="2400" b="1" dirty="0">
                <a:latin typeface="宋体" charset="-122"/>
              </a:rPr>
              <a:t>  得到的余数即为</a:t>
            </a:r>
            <a:r>
              <a:rPr lang="en-US" altLang="zh-CN" sz="2400" b="1" dirty="0">
                <a:latin typeface="宋体" charset="-122"/>
              </a:rPr>
              <a:t>R</a:t>
            </a:r>
            <a:r>
              <a:rPr lang="zh-CN" altLang="en-US" sz="2400" b="1" dirty="0">
                <a:latin typeface="宋体" charset="-122"/>
              </a:rPr>
              <a:t>进数各位的数码，余数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charset="-122"/>
              </a:rPr>
              <a:t>从下到上</a:t>
            </a:r>
            <a:r>
              <a:rPr lang="zh-CN" altLang="en-US" sz="2400" b="1" dirty="0">
                <a:latin typeface="宋体" charset="-122"/>
              </a:rPr>
              <a:t>排列。</a:t>
            </a:r>
          </a:p>
          <a:p>
            <a:pPr marL="342900" indent="-342900">
              <a:lnSpc>
                <a:spcPct val="150000"/>
              </a:lnSpc>
            </a:pPr>
            <a:r>
              <a:rPr lang="zh-CN" altLang="en-US" sz="2400" b="1" dirty="0">
                <a:latin typeface="宋体" charset="-122"/>
              </a:rPr>
              <a:t>（</a:t>
            </a:r>
            <a:r>
              <a:rPr lang="en-US" altLang="zh-CN" sz="2400" b="1" dirty="0">
                <a:latin typeface="宋体" charset="-122"/>
              </a:rPr>
              <a:t>78</a:t>
            </a:r>
            <a:r>
              <a:rPr lang="zh-CN" altLang="en-US" sz="2400" b="1" dirty="0">
                <a:latin typeface="宋体" charset="-122"/>
              </a:rPr>
              <a:t>）</a:t>
            </a:r>
            <a:r>
              <a:rPr lang="en-US" altLang="zh-CN" sz="2400" b="1" baseline="-25000" dirty="0">
                <a:latin typeface="宋体" charset="-122"/>
              </a:rPr>
              <a:t>10</a:t>
            </a:r>
            <a:r>
              <a:rPr lang="en-US" altLang="zh-CN" sz="2400" b="1" dirty="0">
                <a:latin typeface="宋体" charset="-122"/>
              </a:rPr>
              <a:t>=</a:t>
            </a:r>
            <a:r>
              <a:rPr lang="zh-CN" altLang="en-US" sz="2400" b="1" dirty="0">
                <a:latin typeface="宋体" charset="-122"/>
              </a:rPr>
              <a:t>（？）</a:t>
            </a:r>
            <a:r>
              <a:rPr lang="en-US" altLang="zh-CN" sz="2400" b="1" baseline="-25000" dirty="0">
                <a:latin typeface="宋体" charset="-122"/>
              </a:rPr>
              <a:t>2</a:t>
            </a:r>
          </a:p>
          <a:p>
            <a:pPr marL="342900" indent="-342900">
              <a:lnSpc>
                <a:spcPct val="150000"/>
              </a:lnSpc>
            </a:pPr>
            <a:endParaRPr lang="en-US" altLang="zh-CN" sz="2400" b="1" dirty="0">
              <a:latin typeface="宋体" charset="-122"/>
            </a:endParaRPr>
          </a:p>
          <a:p>
            <a:pPr marL="342900" indent="-342900">
              <a:lnSpc>
                <a:spcPct val="150000"/>
              </a:lnSpc>
            </a:pPr>
            <a:endParaRPr lang="en-US" altLang="zh-CN" sz="2400" b="1" dirty="0">
              <a:solidFill>
                <a:srgbClr val="FF0000"/>
              </a:solidFill>
              <a:latin typeface="宋体" charset="-122"/>
            </a:endParaRPr>
          </a:p>
          <a:p>
            <a:pPr marL="342900" indent="-342900">
              <a:lnSpc>
                <a:spcPct val="150000"/>
              </a:lnSpc>
            </a:pPr>
            <a:endParaRPr lang="en-US" altLang="zh-CN" sz="2000" b="1" dirty="0">
              <a:latin typeface="宋体" charset="-122"/>
            </a:endParaRPr>
          </a:p>
          <a:p>
            <a:pPr marL="342900" indent="-342900">
              <a:lnSpc>
                <a:spcPct val="150000"/>
              </a:lnSpc>
            </a:pPr>
            <a:endParaRPr lang="en-US" altLang="zh-CN" sz="2000" b="1" dirty="0">
              <a:latin typeface="宋体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7301256-25A9-4C30-B1B9-E46F2F25A591}"/>
              </a:ext>
            </a:extLst>
          </p:cNvPr>
          <p:cNvSpPr txBox="1"/>
          <p:nvPr/>
        </p:nvSpPr>
        <p:spPr>
          <a:xfrm>
            <a:off x="2063750" y="4869160"/>
            <a:ext cx="1440159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1001110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11287584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4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300"/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4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46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46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0" grpId="0" animBg="1" autoUpdateAnimBg="0"/>
      <p:bldP spid="24579" grpId="0" build="p" autoUpdateAnimBg="0"/>
      <p:bldP spid="24671" grpId="0"/>
      <p:bldP spid="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700" name="Rectangle 4"/>
          <p:cNvSpPr>
            <a:spLocks noChangeArrowheads="1"/>
          </p:cNvSpPr>
          <p:nvPr/>
        </p:nvSpPr>
        <p:spPr bwMode="auto">
          <a:xfrm>
            <a:off x="2351584" y="1700808"/>
            <a:ext cx="7416824" cy="4032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</a:pPr>
            <a:r>
              <a:rPr lang="en-US" altLang="zh-CN" sz="3200" b="1" dirty="0"/>
              <a:t>2.</a:t>
            </a:r>
            <a:r>
              <a:rPr lang="zh-CN" altLang="en-US" sz="3200" b="1" dirty="0"/>
              <a:t>降幂法</a:t>
            </a:r>
            <a:r>
              <a:rPr lang="en-US" altLang="zh-CN" sz="3200" b="1" dirty="0"/>
              <a:t>(</a:t>
            </a:r>
            <a:r>
              <a:rPr lang="zh-CN" altLang="en-US" sz="3200" b="1" dirty="0"/>
              <a:t>适合于转换为</a:t>
            </a:r>
            <a:r>
              <a:rPr lang="zh-CN" altLang="en-US" sz="4000" b="1" dirty="0">
                <a:solidFill>
                  <a:srgbClr val="FF0000"/>
                </a:solidFill>
              </a:rPr>
              <a:t>二</a:t>
            </a:r>
            <a:r>
              <a:rPr lang="zh-CN" altLang="en-US" sz="3200" b="1" dirty="0"/>
              <a:t>进制数</a:t>
            </a:r>
            <a:r>
              <a:rPr lang="zh-CN" altLang="en-US" sz="3200" b="1"/>
              <a:t>）：</a:t>
            </a:r>
            <a:endParaRPr lang="en-US" altLang="zh-CN" sz="3200" b="1"/>
          </a:p>
          <a:p>
            <a:pPr marL="342900" indent="-342900">
              <a:lnSpc>
                <a:spcPct val="150000"/>
              </a:lnSpc>
              <a:spcBef>
                <a:spcPct val="20000"/>
              </a:spcBef>
            </a:pPr>
            <a:r>
              <a:rPr lang="zh-CN" altLang="en-US" sz="3200" b="1">
                <a:latin typeface="宋体" charset="-122"/>
              </a:rPr>
              <a:t>将</a:t>
            </a:r>
            <a:r>
              <a:rPr lang="zh-CN" altLang="en-US" sz="3200" b="1" dirty="0">
                <a:latin typeface="宋体" charset="-122"/>
              </a:rPr>
              <a:t>十进制数表示成</a:t>
            </a:r>
            <a:r>
              <a:rPr lang="en-US" altLang="zh-CN" sz="3200" b="1" dirty="0">
                <a:solidFill>
                  <a:srgbClr val="FF0000"/>
                </a:solidFill>
                <a:latin typeface="宋体" charset="-122"/>
              </a:rPr>
              <a:t>2</a:t>
            </a:r>
            <a:r>
              <a:rPr lang="zh-CN" altLang="en-US" sz="3200" b="1" dirty="0">
                <a:solidFill>
                  <a:srgbClr val="FF0000"/>
                </a:solidFill>
                <a:latin typeface="宋体" charset="-122"/>
              </a:rPr>
              <a:t>的各次幂之和</a:t>
            </a:r>
            <a:r>
              <a:rPr lang="zh-CN" altLang="en-US" sz="3200" b="1" dirty="0">
                <a:latin typeface="宋体" charset="-122"/>
              </a:rPr>
              <a:t>，再按幂从高到低求各位数码。</a:t>
            </a:r>
            <a:endParaRPr lang="en-US" altLang="zh-CN" sz="3200" b="1" dirty="0">
              <a:latin typeface="宋体" charset="-122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</a:pPr>
            <a:r>
              <a:rPr lang="en-US" altLang="zh-CN" sz="3200" b="1" baseline="-25000" dirty="0">
                <a:latin typeface="宋体" charset="-122"/>
              </a:rPr>
              <a:t>   </a:t>
            </a:r>
            <a:r>
              <a:rPr lang="zh-CN" altLang="en-US" sz="3200" b="1" dirty="0">
                <a:solidFill>
                  <a:srgbClr val="FF0000"/>
                </a:solidFill>
                <a:latin typeface="宋体" charset="-122"/>
              </a:rPr>
              <a:t>就是按权求和法的逆运算。</a:t>
            </a:r>
          </a:p>
          <a:p>
            <a:pPr marL="342900" indent="-342900">
              <a:lnSpc>
                <a:spcPct val="150000"/>
              </a:lnSpc>
            </a:pPr>
            <a:endParaRPr lang="zh-CN" altLang="en-US" sz="3200" b="1" dirty="0">
              <a:solidFill>
                <a:srgbClr val="FF0000"/>
              </a:solidFill>
              <a:latin typeface="宋体" charset="-122"/>
            </a:endParaRPr>
          </a:p>
          <a:p>
            <a:pPr marL="342900" indent="-342900">
              <a:lnSpc>
                <a:spcPct val="150000"/>
              </a:lnSpc>
            </a:pPr>
            <a:endParaRPr lang="zh-CN" altLang="en-US" sz="3200" b="1" dirty="0">
              <a:solidFill>
                <a:srgbClr val="FF0000"/>
              </a:solidFill>
              <a:latin typeface="宋体" charset="-122"/>
            </a:endParaRPr>
          </a:p>
          <a:p>
            <a:pPr marL="342900" indent="-342900">
              <a:lnSpc>
                <a:spcPct val="150000"/>
              </a:lnSpc>
            </a:pPr>
            <a:endParaRPr lang="zh-CN" altLang="en-US" sz="3200" b="1" dirty="0">
              <a:latin typeface="宋体" charset="-122"/>
            </a:endParaRPr>
          </a:p>
          <a:p>
            <a:pPr marL="342900" indent="-342900">
              <a:lnSpc>
                <a:spcPct val="150000"/>
              </a:lnSpc>
            </a:pPr>
            <a:endParaRPr lang="en-US" altLang="zh-CN" sz="3200" b="1" dirty="0">
              <a:latin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50418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69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970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80FABA0A-EE73-42DE-A406-C443B0381EA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279576" y="1064260"/>
            <a:ext cx="7992888" cy="3372852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十进制数：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63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所对应的</a:t>
            </a:r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二进制数为：</a:t>
            </a:r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1]</a:t>
            </a:r>
          </a:p>
          <a:p>
            <a:endParaRPr lang="en-US" altLang="zh-CN" sz="2600" dirty="0">
              <a:solidFill>
                <a:srgbClr val="639EF4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r>
              <a:rPr lang="zh-CN" altLang="en-US" sz="2600" dirty="0"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八进制数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为：</a:t>
            </a:r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2]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</a:p>
          <a:p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r>
              <a:rPr lang="zh-CN" altLang="en-US" sz="2600" dirty="0"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十六进制数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为：</a:t>
            </a:r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3]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592552E7-10AF-496B-95AD-E3346FF1B0FC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F4B4A62-486B-4C16-8043-626FADE104AE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1524000" y="5849303"/>
            <a:ext cx="9144000" cy="36576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正常使用填空题需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2A3C7DFD-DC7B-4B53-BB3F-A3E1914F1B27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0" y="0"/>
            <a:ext cx="5508104" cy="635000"/>
            <a:chOff x="-2737052" y="-317500"/>
            <a:chExt cx="9144000" cy="635000"/>
          </a:xfrm>
        </p:grpSpPr>
        <p:sp>
          <p:nvSpPr>
            <p:cNvPr id="9" name="TitleBackground">
              <a:extLst>
                <a:ext uri="{FF2B5EF4-FFF2-40B4-BE49-F238E27FC236}">
                  <a16:creationId xmlns:a16="http://schemas.microsoft.com/office/drawing/2014/main" id="{EC1307F5-23CA-4447-86AF-4B5C0755EE45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-2737052" y="-31750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ColorBlock">
              <a:extLst>
                <a:ext uri="{FF2B5EF4-FFF2-40B4-BE49-F238E27FC236}">
                  <a16:creationId xmlns:a16="http://schemas.microsoft.com/office/drawing/2014/main" id="{0C671EB0-6234-4389-A544-5FFDAF07A450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-2737052" y="-31750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TypeText">
              <a:extLst>
                <a:ext uri="{FF2B5EF4-FFF2-40B4-BE49-F238E27FC236}">
                  <a16:creationId xmlns:a16="http://schemas.microsoft.com/office/drawing/2014/main" id="{DC64B82B-E2DE-4666-BBEC-5EB74670AF43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-2315387" y="-317500"/>
              <a:ext cx="1905001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</a:p>
          </p:txBody>
        </p:sp>
        <p:sp>
          <p:nvSpPr>
            <p:cNvPr id="12" name="TipText">
              <a:extLst>
                <a:ext uri="{FF2B5EF4-FFF2-40B4-BE49-F238E27FC236}">
                  <a16:creationId xmlns:a16="http://schemas.microsoft.com/office/drawing/2014/main" id="{155AFDC6-2703-41FD-839A-09854758029A}"/>
                </a:ext>
              </a:extLst>
            </p:cNvPr>
            <p:cNvSpPr txBox="1"/>
            <p:nvPr>
              <p:custDataLst>
                <p:tags r:id="rId10"/>
              </p:custDataLst>
            </p:nvPr>
          </p:nvSpPr>
          <p:spPr>
            <a:xfrm>
              <a:off x="-203898" y="-20828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dirty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3</a:t>
              </a:r>
              <a:r>
                <a:rPr lang="zh-CN" altLang="en-US" sz="2000" dirty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6" name="图片 5">
            <a:extLst>
              <a:ext uri="{FF2B5EF4-FFF2-40B4-BE49-F238E27FC236}">
                <a16:creationId xmlns:a16="http://schemas.microsoft.com/office/drawing/2014/main" id="{AB123BB5-474D-46D7-BFE9-D83F4DE1CEFE}"/>
              </a:ext>
            </a:extLst>
          </p:cNvPr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80571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80FABA0A-EE73-42DE-A406-C443B0381EA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279576" y="1064260"/>
            <a:ext cx="7992888" cy="3372852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十进制数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9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，所对应的二进制数为：</a:t>
            </a:r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1]</a:t>
            </a:r>
          </a:p>
          <a:p>
            <a:endParaRPr lang="en-US" altLang="zh-CN" sz="2600" dirty="0">
              <a:solidFill>
                <a:srgbClr val="639EF4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十进制数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13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，所对应的二进制数为：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2]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</a:p>
          <a:p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十进制数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50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，所对应的二进制数为：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3]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592552E7-10AF-496B-95AD-E3346FF1B0FC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F4B4A62-486B-4C16-8043-626FADE104AE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1524000" y="5849303"/>
            <a:ext cx="9144000" cy="36576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正常使用填空题需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2A3C7DFD-DC7B-4B53-BB3F-A3E1914F1B27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0" y="0"/>
            <a:ext cx="5508104" cy="635000"/>
            <a:chOff x="-2737052" y="-317500"/>
            <a:chExt cx="9144000" cy="635000"/>
          </a:xfrm>
        </p:grpSpPr>
        <p:sp>
          <p:nvSpPr>
            <p:cNvPr id="9" name="TitleBackground">
              <a:extLst>
                <a:ext uri="{FF2B5EF4-FFF2-40B4-BE49-F238E27FC236}">
                  <a16:creationId xmlns:a16="http://schemas.microsoft.com/office/drawing/2014/main" id="{EC1307F5-23CA-4447-86AF-4B5C0755EE45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-2737052" y="-31750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ColorBlock">
              <a:extLst>
                <a:ext uri="{FF2B5EF4-FFF2-40B4-BE49-F238E27FC236}">
                  <a16:creationId xmlns:a16="http://schemas.microsoft.com/office/drawing/2014/main" id="{0C671EB0-6234-4389-A544-5FFDAF07A450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-2737052" y="-31750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TypeText">
              <a:extLst>
                <a:ext uri="{FF2B5EF4-FFF2-40B4-BE49-F238E27FC236}">
                  <a16:creationId xmlns:a16="http://schemas.microsoft.com/office/drawing/2014/main" id="{DC64B82B-E2DE-4666-BBEC-5EB74670AF43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-2315387" y="-317500"/>
              <a:ext cx="1905001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</a:p>
          </p:txBody>
        </p:sp>
        <p:sp>
          <p:nvSpPr>
            <p:cNvPr id="12" name="TipText">
              <a:extLst>
                <a:ext uri="{FF2B5EF4-FFF2-40B4-BE49-F238E27FC236}">
                  <a16:creationId xmlns:a16="http://schemas.microsoft.com/office/drawing/2014/main" id="{155AFDC6-2703-41FD-839A-09854758029A}"/>
                </a:ext>
              </a:extLst>
            </p:cNvPr>
            <p:cNvSpPr txBox="1"/>
            <p:nvPr>
              <p:custDataLst>
                <p:tags r:id="rId10"/>
              </p:custDataLst>
            </p:nvPr>
          </p:nvSpPr>
          <p:spPr>
            <a:xfrm>
              <a:off x="-203898" y="-20828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dirty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3</a:t>
              </a:r>
              <a:r>
                <a:rPr lang="zh-CN" altLang="en-US" sz="2000" dirty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6" name="图片 5">
            <a:extLst>
              <a:ext uri="{FF2B5EF4-FFF2-40B4-BE49-F238E27FC236}">
                <a16:creationId xmlns:a16="http://schemas.microsoft.com/office/drawing/2014/main" id="{AB123BB5-474D-46D7-BFE9-D83F4DE1CEFE}"/>
              </a:ext>
            </a:extLst>
          </p:cNvPr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61040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08" name="Line 84"/>
          <p:cNvSpPr>
            <a:spLocks noChangeShapeType="1"/>
          </p:cNvSpPr>
          <p:nvPr/>
        </p:nvSpPr>
        <p:spPr bwMode="auto">
          <a:xfrm>
            <a:off x="2971800" y="3352800"/>
            <a:ext cx="5334000" cy="76200"/>
          </a:xfrm>
          <a:prstGeom prst="line">
            <a:avLst/>
          </a:prstGeom>
          <a:noFill/>
          <a:ln w="38100">
            <a:solidFill>
              <a:srgbClr val="990033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628" name="Rectangle 4"/>
          <p:cNvSpPr>
            <a:spLocks noGrp="1" noChangeArrowheads="1"/>
          </p:cNvSpPr>
          <p:nvPr>
            <p:ph type="title"/>
          </p:nvPr>
        </p:nvSpPr>
        <p:spPr>
          <a:xfrm>
            <a:off x="1790699" y="55477"/>
            <a:ext cx="5630864" cy="762000"/>
          </a:xfrm>
          <a:gradFill rotWithShape="0">
            <a:gsLst>
              <a:gs pos="0">
                <a:srgbClr val="FFFFFF">
                  <a:gamma/>
                  <a:shade val="46275"/>
                  <a:invGamma/>
                </a:srgbClr>
              </a:gs>
              <a:gs pos="50000">
                <a:srgbClr val="FFFFFF"/>
              </a:gs>
              <a:gs pos="100000">
                <a:srgbClr val="FFFFFF">
                  <a:gamma/>
                  <a:shade val="46275"/>
                  <a:invGamma/>
                </a:srgbClr>
              </a:gs>
            </a:gsLst>
            <a:lin ang="5400000" scaled="1"/>
          </a:gradFill>
          <a:ln/>
          <a:scene3d>
            <a:camera prst="legacyPerspectiveBottom"/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FFFFFF"/>
            </a:extrusionClr>
          </a:sp3d>
          <a:extLst>
            <a:ext uri="{91240B29-F687-4F45-9708-019B960494DF}">
              <a14:hiddenLine xmlns:a14="http://schemas.microsoft.com/office/drawing/2010/main">
                <a:noFill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normAutofit fontScale="90000"/>
            <a:flatTx/>
          </a:bodyPr>
          <a:lstStyle/>
          <a:p>
            <a:r>
              <a:rPr lang="zh-CN" altLang="en-US" b="1">
                <a:solidFill>
                  <a:srgbClr val="990033"/>
                </a:solidFill>
                <a:ea typeface="隶书" pitchFamily="49" charset="-122"/>
              </a:rPr>
              <a:t>十进制转换成非十进制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2362200" y="1295400"/>
            <a:ext cx="7772400" cy="5029200"/>
          </a:xfrm>
        </p:spPr>
        <p:txBody>
          <a:bodyPr/>
          <a:lstStyle/>
          <a:p>
            <a:r>
              <a:rPr lang="zh-CN" altLang="en-US" b="1"/>
              <a:t>小数部分的转换</a:t>
            </a:r>
          </a:p>
        </p:txBody>
      </p:sp>
      <p:sp>
        <p:nvSpPr>
          <p:cNvPr id="26629" name="Text Box 5"/>
          <p:cNvSpPr txBox="1">
            <a:spLocks noChangeArrowheads="1"/>
          </p:cNvSpPr>
          <p:nvPr/>
        </p:nvSpPr>
        <p:spPr bwMode="auto">
          <a:xfrm>
            <a:off x="2819400" y="2141501"/>
            <a:ext cx="7620000" cy="1354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/>
            <a:r>
              <a:rPr lang="zh-CN" altLang="en-US" sz="2800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乘基取整法</a:t>
            </a:r>
            <a:r>
              <a:rPr lang="zh-CN" altLang="en-US">
                <a:latin typeface="宋体" charset="-122"/>
              </a:rPr>
              <a:t>：</a:t>
            </a:r>
            <a:r>
              <a:rPr lang="zh-CN" altLang="en-US" b="1">
                <a:solidFill>
                  <a:srgbClr val="FF0000"/>
                </a:solidFill>
                <a:latin typeface="宋体" charset="-122"/>
              </a:rPr>
              <a:t>小数</a:t>
            </a:r>
            <a:r>
              <a:rPr lang="zh-CN" altLang="en-US" b="1">
                <a:latin typeface="宋体" charset="-122"/>
              </a:rPr>
              <a:t>乘以目标数制的</a:t>
            </a:r>
            <a:r>
              <a:rPr lang="zh-CN" altLang="en-US" b="1">
                <a:solidFill>
                  <a:srgbClr val="FF0000"/>
                </a:solidFill>
                <a:latin typeface="宋体" charset="-122"/>
              </a:rPr>
              <a:t>基数</a:t>
            </a:r>
            <a:r>
              <a:rPr lang="zh-CN" altLang="en-US" b="1">
                <a:latin typeface="宋体" charset="-122"/>
              </a:rPr>
              <a:t>，</a:t>
            </a:r>
            <a:r>
              <a:rPr lang="zh-CN" altLang="en-US" b="1">
                <a:solidFill>
                  <a:srgbClr val="FF0000"/>
                </a:solidFill>
                <a:latin typeface="宋体" charset="-122"/>
              </a:rPr>
              <a:t>第一次</a:t>
            </a:r>
            <a:r>
              <a:rPr lang="zh-CN" altLang="en-US" b="1">
                <a:latin typeface="宋体" charset="-122"/>
              </a:rPr>
              <a:t>相乘结果的</a:t>
            </a:r>
            <a:r>
              <a:rPr lang="zh-CN" altLang="en-US" b="1">
                <a:solidFill>
                  <a:srgbClr val="FF0000"/>
                </a:solidFill>
                <a:latin typeface="宋体" charset="-122"/>
              </a:rPr>
              <a:t>整数</a:t>
            </a:r>
            <a:r>
              <a:rPr lang="zh-CN" altLang="en-US" b="1">
                <a:latin typeface="宋体" charset="-122"/>
              </a:rPr>
              <a:t>部分为目的数的</a:t>
            </a:r>
            <a:r>
              <a:rPr lang="zh-CN" altLang="en-US" b="1">
                <a:solidFill>
                  <a:srgbClr val="FF0000"/>
                </a:solidFill>
                <a:latin typeface="宋体" charset="-122"/>
              </a:rPr>
              <a:t>最高位</a:t>
            </a:r>
            <a:r>
              <a:rPr lang="en-US" altLang="zh-CN" b="1">
                <a:solidFill>
                  <a:srgbClr val="FF0000"/>
                </a:solidFill>
                <a:latin typeface="宋体" charset="-122"/>
              </a:rPr>
              <a:t>K</a:t>
            </a:r>
            <a:r>
              <a:rPr lang="en-US" altLang="zh-CN" b="1" baseline="-25000">
                <a:solidFill>
                  <a:srgbClr val="FF0000"/>
                </a:solidFill>
                <a:latin typeface="宋体" charset="-122"/>
              </a:rPr>
              <a:t>-1</a:t>
            </a:r>
            <a:r>
              <a:rPr lang="zh-CN" altLang="en-US" b="1">
                <a:latin typeface="宋体" charset="-122"/>
              </a:rPr>
              <a:t>，将其小数部分再乘基数依次记下整数部分，反复进行下去，</a:t>
            </a:r>
            <a:r>
              <a:rPr lang="zh-CN" altLang="en-US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直到小数部分为</a:t>
            </a:r>
            <a:r>
              <a:rPr lang="zh-CN" altLang="en-US" b="1" dirty="0">
                <a:solidFill>
                  <a:srgbClr val="FF0000"/>
                </a:solidFill>
                <a:latin typeface="Times New Roman"/>
                <a:ea typeface="黑体" pitchFamily="2" charset="-122"/>
              </a:rPr>
              <a:t>“</a:t>
            </a:r>
            <a:r>
              <a:rPr lang="en-US" altLang="zh-CN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0</a:t>
            </a:r>
            <a:r>
              <a:rPr lang="en-US" altLang="zh-CN" b="1" dirty="0">
                <a:solidFill>
                  <a:srgbClr val="FF0000"/>
                </a:solidFill>
                <a:latin typeface="Times New Roman"/>
                <a:ea typeface="黑体" pitchFamily="2" charset="-122"/>
              </a:rPr>
              <a:t>”</a:t>
            </a:r>
            <a:r>
              <a:rPr lang="zh-CN" altLang="en-US" b="1">
                <a:solidFill>
                  <a:srgbClr val="FF0000"/>
                </a:solidFill>
                <a:latin typeface="宋体" charset="-122"/>
              </a:rPr>
              <a:t>，</a:t>
            </a:r>
            <a:r>
              <a:rPr lang="zh-CN" altLang="en-US" b="1">
                <a:latin typeface="宋体" charset="-122"/>
              </a:rPr>
              <a:t>或满足要求的</a:t>
            </a:r>
            <a:r>
              <a:rPr lang="zh-CN" altLang="en-US" b="1">
                <a:solidFill>
                  <a:srgbClr val="FF0000"/>
                </a:solidFill>
                <a:latin typeface="宋体" charset="-122"/>
              </a:rPr>
              <a:t>精度</a:t>
            </a:r>
            <a:r>
              <a:rPr lang="zh-CN" altLang="en-US" b="1">
                <a:latin typeface="宋体" charset="-122"/>
              </a:rPr>
              <a:t>为止（即根据设备字长限制，取有限位的近似值）。</a:t>
            </a:r>
            <a:endParaRPr lang="zh-CN" altLang="en-US">
              <a:latin typeface="宋体" charset="-122"/>
            </a:endParaRPr>
          </a:p>
        </p:txBody>
      </p:sp>
      <p:sp>
        <p:nvSpPr>
          <p:cNvPr id="26631" name="Text Box 7"/>
          <p:cNvSpPr txBox="1">
            <a:spLocks noChangeArrowheads="1"/>
          </p:cNvSpPr>
          <p:nvPr/>
        </p:nvSpPr>
        <p:spPr bwMode="auto">
          <a:xfrm>
            <a:off x="2286000" y="4158734"/>
            <a:ext cx="7239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1" hangingPunct="1"/>
            <a:r>
              <a:rPr lang="zh-CN" altLang="en-US" b="1" dirty="0">
                <a:latin typeface="黑体" pitchFamily="2" charset="-122"/>
                <a:ea typeface="黑体" pitchFamily="2" charset="-122"/>
              </a:rPr>
              <a:t>例：</a:t>
            </a:r>
            <a:r>
              <a:rPr lang="zh-CN" altLang="en-US">
                <a:latin typeface="宋体" charset="-122"/>
              </a:rPr>
              <a:t> </a:t>
            </a:r>
            <a:r>
              <a:rPr lang="zh-CN" altLang="en-US" b="1">
                <a:latin typeface="宋体" charset="-122"/>
              </a:rPr>
              <a:t>（</a:t>
            </a:r>
            <a:r>
              <a:rPr lang="en-US" altLang="zh-CN" b="1">
                <a:latin typeface="宋体" charset="-122"/>
              </a:rPr>
              <a:t>0.65</a:t>
            </a:r>
            <a:r>
              <a:rPr lang="zh-CN" altLang="en-US" b="1">
                <a:latin typeface="宋体" charset="-122"/>
              </a:rPr>
              <a:t>）</a:t>
            </a:r>
            <a:r>
              <a:rPr lang="en-US" altLang="zh-CN" b="1" baseline="-25000">
                <a:latin typeface="宋体" charset="-122"/>
              </a:rPr>
              <a:t>10</a:t>
            </a:r>
            <a:r>
              <a:rPr lang="en-US" altLang="zh-CN" b="1">
                <a:latin typeface="宋体" charset="-122"/>
              </a:rPr>
              <a:t> =(  ?  )</a:t>
            </a:r>
            <a:r>
              <a:rPr lang="en-US" altLang="zh-CN" b="1" baseline="-25000">
                <a:latin typeface="宋体" charset="-122"/>
              </a:rPr>
              <a:t>2</a:t>
            </a:r>
            <a:r>
              <a:rPr lang="en-US" altLang="zh-CN" b="1">
                <a:latin typeface="宋体" charset="-122"/>
              </a:rPr>
              <a:t> </a:t>
            </a:r>
            <a:r>
              <a:rPr lang="zh-CN" altLang="en-US" b="1">
                <a:latin typeface="宋体" charset="-122"/>
              </a:rPr>
              <a:t>要求精度为小数五位。</a:t>
            </a:r>
            <a:endParaRPr lang="zh-CN" altLang="en-US">
              <a:latin typeface="宋体" charset="-122"/>
            </a:endParaRPr>
          </a:p>
        </p:txBody>
      </p:sp>
      <p:sp>
        <p:nvSpPr>
          <p:cNvPr id="26632" name="AutoShape 8"/>
          <p:cNvSpPr>
            <a:spLocks noChangeArrowheads="1"/>
          </p:cNvSpPr>
          <p:nvPr/>
        </p:nvSpPr>
        <p:spPr bwMode="auto">
          <a:xfrm>
            <a:off x="1847850" y="765175"/>
            <a:ext cx="8534400" cy="2667000"/>
          </a:xfrm>
          <a:prstGeom prst="wedgeRoundRectCallout">
            <a:avLst>
              <a:gd name="adj1" fmla="val -37630"/>
              <a:gd name="adj2" fmla="val 80120"/>
              <a:gd name="adj3" fmla="val 16667"/>
            </a:avLst>
          </a:prstGeom>
          <a:solidFill>
            <a:srgbClr val="FFCC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zh-CN" altLang="zh-CN" sz="4400"/>
          </a:p>
        </p:txBody>
      </p:sp>
      <p:sp>
        <p:nvSpPr>
          <p:cNvPr id="26635" name="Text Box 11"/>
          <p:cNvSpPr txBox="1">
            <a:spLocks noChangeArrowheads="1"/>
          </p:cNvSpPr>
          <p:nvPr/>
        </p:nvSpPr>
        <p:spPr bwMode="auto">
          <a:xfrm>
            <a:off x="1912941" y="988547"/>
            <a:ext cx="885179" cy="523220"/>
          </a:xfrm>
          <a:prstGeom prst="rect">
            <a:avLst/>
          </a:prstGeom>
          <a:solidFill>
            <a:srgbClr val="FFCC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sz="2800" b="1"/>
              <a:t>0.65</a:t>
            </a:r>
            <a:endParaRPr lang="en-US" altLang="zh-CN" sz="4400"/>
          </a:p>
        </p:txBody>
      </p:sp>
      <p:grpSp>
        <p:nvGrpSpPr>
          <p:cNvPr id="26696" name="Group 72"/>
          <p:cNvGrpSpPr>
            <a:grpSpLocks/>
          </p:cNvGrpSpPr>
          <p:nvPr/>
        </p:nvGrpSpPr>
        <p:grpSpPr bwMode="auto">
          <a:xfrm>
            <a:off x="2651128" y="882650"/>
            <a:ext cx="646113" cy="412750"/>
            <a:chOff x="710" y="556"/>
            <a:chExt cx="407" cy="260"/>
          </a:xfrm>
        </p:grpSpPr>
        <p:sp>
          <p:nvSpPr>
            <p:cNvPr id="26637" name="Line 13"/>
            <p:cNvSpPr>
              <a:spLocks noChangeShapeType="1"/>
            </p:cNvSpPr>
            <p:nvPr/>
          </p:nvSpPr>
          <p:spPr bwMode="auto">
            <a:xfrm>
              <a:off x="710" y="816"/>
              <a:ext cx="407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38" name="Text Box 14"/>
            <p:cNvSpPr txBox="1">
              <a:spLocks noChangeArrowheads="1"/>
            </p:cNvSpPr>
            <p:nvPr/>
          </p:nvSpPr>
          <p:spPr bwMode="auto">
            <a:xfrm>
              <a:off x="710" y="556"/>
              <a:ext cx="371" cy="233"/>
            </a:xfrm>
            <a:prstGeom prst="rect">
              <a:avLst/>
            </a:prstGeom>
            <a:solidFill>
              <a:srgbClr val="FFCC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1" hangingPunct="1"/>
              <a:r>
                <a:rPr lang="en-US" altLang="zh-CN" b="1">
                  <a:sym typeface="Symbol" pitchFamily="18" charset="2"/>
                </a:rPr>
                <a:t>2</a:t>
              </a:r>
              <a:endParaRPr lang="en-US" altLang="zh-CN" sz="4400"/>
            </a:p>
          </p:txBody>
        </p:sp>
      </p:grpSp>
      <p:sp>
        <p:nvSpPr>
          <p:cNvPr id="26641" name="Text Box 17"/>
          <p:cNvSpPr txBox="1">
            <a:spLocks noChangeArrowheads="1"/>
          </p:cNvSpPr>
          <p:nvPr/>
        </p:nvSpPr>
        <p:spPr bwMode="auto">
          <a:xfrm>
            <a:off x="2514600" y="2667003"/>
            <a:ext cx="661988" cy="519113"/>
          </a:xfrm>
          <a:prstGeom prst="rect">
            <a:avLst/>
          </a:prstGeom>
          <a:solidFill>
            <a:srgbClr val="FFCC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sz="2800" b="1"/>
              <a:t>K</a:t>
            </a:r>
            <a:r>
              <a:rPr lang="en-US" altLang="zh-CN" sz="2800" b="1" baseline="-25000"/>
              <a:t>-1</a:t>
            </a:r>
            <a:endParaRPr lang="en-US" altLang="zh-CN" sz="4400"/>
          </a:p>
        </p:txBody>
      </p:sp>
      <p:grpSp>
        <p:nvGrpSpPr>
          <p:cNvPr id="26697" name="Group 73"/>
          <p:cNvGrpSpPr>
            <a:grpSpLocks/>
          </p:cNvGrpSpPr>
          <p:nvPr/>
        </p:nvGrpSpPr>
        <p:grpSpPr bwMode="auto">
          <a:xfrm>
            <a:off x="2667003" y="1524003"/>
            <a:ext cx="434975" cy="1204913"/>
            <a:chOff x="720" y="960"/>
            <a:chExt cx="274" cy="759"/>
          </a:xfrm>
        </p:grpSpPr>
        <p:sp>
          <p:nvSpPr>
            <p:cNvPr id="26640" name="Line 16"/>
            <p:cNvSpPr>
              <a:spLocks noChangeShapeType="1"/>
            </p:cNvSpPr>
            <p:nvPr/>
          </p:nvSpPr>
          <p:spPr bwMode="auto">
            <a:xfrm>
              <a:off x="863" y="960"/>
              <a:ext cx="0" cy="43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42" name="Text Box 18"/>
            <p:cNvSpPr txBox="1">
              <a:spLocks noChangeArrowheads="1"/>
            </p:cNvSpPr>
            <p:nvPr/>
          </p:nvSpPr>
          <p:spPr bwMode="auto">
            <a:xfrm>
              <a:off x="720" y="1392"/>
              <a:ext cx="274" cy="327"/>
            </a:xfrm>
            <a:prstGeom prst="rect">
              <a:avLst/>
            </a:prstGeom>
            <a:solidFill>
              <a:srgbClr val="FFCC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1" hangingPunct="1"/>
              <a:r>
                <a:rPr lang="en-US" altLang="zh-CN" sz="2800"/>
                <a:t>1</a:t>
              </a:r>
              <a:endParaRPr lang="en-US" altLang="zh-CN" sz="4400"/>
            </a:p>
          </p:txBody>
        </p:sp>
      </p:grpSp>
      <p:sp>
        <p:nvSpPr>
          <p:cNvPr id="26647" name="Text Box 23"/>
          <p:cNvSpPr txBox="1">
            <a:spLocks noChangeArrowheads="1"/>
          </p:cNvSpPr>
          <p:nvPr/>
        </p:nvSpPr>
        <p:spPr bwMode="auto">
          <a:xfrm>
            <a:off x="3355978" y="988547"/>
            <a:ext cx="684803" cy="523220"/>
          </a:xfrm>
          <a:prstGeom prst="rect">
            <a:avLst/>
          </a:prstGeom>
          <a:solidFill>
            <a:srgbClr val="FFCC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sz="2800" b="1"/>
              <a:t>0.3</a:t>
            </a:r>
            <a:endParaRPr lang="en-US" altLang="zh-CN" sz="4400"/>
          </a:p>
        </p:txBody>
      </p:sp>
      <p:grpSp>
        <p:nvGrpSpPr>
          <p:cNvPr id="26649" name="Group 25"/>
          <p:cNvGrpSpPr>
            <a:grpSpLocks/>
          </p:cNvGrpSpPr>
          <p:nvPr/>
        </p:nvGrpSpPr>
        <p:grpSpPr bwMode="auto">
          <a:xfrm>
            <a:off x="4157666" y="882650"/>
            <a:ext cx="642937" cy="412750"/>
            <a:chOff x="2352" y="4060"/>
            <a:chExt cx="384" cy="260"/>
          </a:xfrm>
        </p:grpSpPr>
        <p:sp>
          <p:nvSpPr>
            <p:cNvPr id="26650" name="Line 26"/>
            <p:cNvSpPr>
              <a:spLocks noChangeShapeType="1"/>
            </p:cNvSpPr>
            <p:nvPr/>
          </p:nvSpPr>
          <p:spPr bwMode="auto">
            <a:xfrm>
              <a:off x="2352" y="4320"/>
              <a:ext cx="384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51" name="Text Box 27"/>
            <p:cNvSpPr txBox="1">
              <a:spLocks noChangeArrowheads="1"/>
            </p:cNvSpPr>
            <p:nvPr/>
          </p:nvSpPr>
          <p:spPr bwMode="auto">
            <a:xfrm>
              <a:off x="2352" y="4060"/>
              <a:ext cx="350" cy="233"/>
            </a:xfrm>
            <a:prstGeom prst="rect">
              <a:avLst/>
            </a:prstGeom>
            <a:solidFill>
              <a:srgbClr val="FFCC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1" hangingPunct="1"/>
              <a:r>
                <a:rPr lang="en-US" altLang="zh-CN" b="1">
                  <a:sym typeface="Symbol" pitchFamily="18" charset="2"/>
                </a:rPr>
                <a:t>2</a:t>
              </a:r>
              <a:endParaRPr lang="en-US" altLang="zh-CN" sz="4400"/>
            </a:p>
          </p:txBody>
        </p:sp>
      </p:grpSp>
      <p:sp>
        <p:nvSpPr>
          <p:cNvPr id="26653" name="Text Box 29"/>
          <p:cNvSpPr txBox="1">
            <a:spLocks noChangeArrowheads="1"/>
          </p:cNvSpPr>
          <p:nvPr/>
        </p:nvSpPr>
        <p:spPr bwMode="auto">
          <a:xfrm>
            <a:off x="4114800" y="2667003"/>
            <a:ext cx="661988" cy="519113"/>
          </a:xfrm>
          <a:prstGeom prst="rect">
            <a:avLst/>
          </a:prstGeom>
          <a:solidFill>
            <a:srgbClr val="FFCC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sz="2800" b="1"/>
              <a:t>K</a:t>
            </a:r>
            <a:r>
              <a:rPr lang="en-US" altLang="zh-CN" sz="2800" b="1" baseline="-25000"/>
              <a:t>-2</a:t>
            </a:r>
            <a:endParaRPr lang="en-US" altLang="zh-CN" sz="4400"/>
          </a:p>
        </p:txBody>
      </p:sp>
      <p:grpSp>
        <p:nvGrpSpPr>
          <p:cNvPr id="26698" name="Group 74"/>
          <p:cNvGrpSpPr>
            <a:grpSpLocks/>
          </p:cNvGrpSpPr>
          <p:nvPr/>
        </p:nvGrpSpPr>
        <p:grpSpPr bwMode="auto">
          <a:xfrm>
            <a:off x="4191003" y="1524003"/>
            <a:ext cx="430213" cy="1204913"/>
            <a:chOff x="1680" y="960"/>
            <a:chExt cx="271" cy="759"/>
          </a:xfrm>
        </p:grpSpPr>
        <p:sp>
          <p:nvSpPr>
            <p:cNvPr id="26652" name="Line 28"/>
            <p:cNvSpPr>
              <a:spLocks noChangeShapeType="1"/>
            </p:cNvSpPr>
            <p:nvPr/>
          </p:nvSpPr>
          <p:spPr bwMode="auto">
            <a:xfrm>
              <a:off x="1809" y="960"/>
              <a:ext cx="1" cy="43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54" name="Text Box 30"/>
            <p:cNvSpPr txBox="1">
              <a:spLocks noChangeArrowheads="1"/>
            </p:cNvSpPr>
            <p:nvPr/>
          </p:nvSpPr>
          <p:spPr bwMode="auto">
            <a:xfrm>
              <a:off x="1680" y="1392"/>
              <a:ext cx="271" cy="327"/>
            </a:xfrm>
            <a:prstGeom prst="rect">
              <a:avLst/>
            </a:prstGeom>
            <a:solidFill>
              <a:srgbClr val="FFCC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1" hangingPunct="1"/>
              <a:r>
                <a:rPr lang="en-US" altLang="zh-CN" sz="2800"/>
                <a:t>0</a:t>
              </a:r>
              <a:endParaRPr lang="en-US" altLang="zh-CN" sz="4400"/>
            </a:p>
          </p:txBody>
        </p:sp>
      </p:grpSp>
      <p:sp>
        <p:nvSpPr>
          <p:cNvPr id="26656" name="Text Box 32"/>
          <p:cNvSpPr txBox="1">
            <a:spLocks noChangeArrowheads="1"/>
          </p:cNvSpPr>
          <p:nvPr/>
        </p:nvSpPr>
        <p:spPr bwMode="auto">
          <a:xfrm>
            <a:off x="4940303" y="988547"/>
            <a:ext cx="684803" cy="523220"/>
          </a:xfrm>
          <a:prstGeom prst="rect">
            <a:avLst/>
          </a:prstGeom>
          <a:solidFill>
            <a:srgbClr val="FFCC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sz="2800" b="1"/>
              <a:t>0.6</a:t>
            </a:r>
            <a:endParaRPr lang="en-US" altLang="zh-CN" sz="4400"/>
          </a:p>
        </p:txBody>
      </p:sp>
      <p:grpSp>
        <p:nvGrpSpPr>
          <p:cNvPr id="26658" name="Group 34"/>
          <p:cNvGrpSpPr>
            <a:grpSpLocks/>
          </p:cNvGrpSpPr>
          <p:nvPr/>
        </p:nvGrpSpPr>
        <p:grpSpPr bwMode="auto">
          <a:xfrm>
            <a:off x="5776916" y="882650"/>
            <a:ext cx="644525" cy="412750"/>
            <a:chOff x="2352" y="4060"/>
            <a:chExt cx="384" cy="260"/>
          </a:xfrm>
        </p:grpSpPr>
        <p:sp>
          <p:nvSpPr>
            <p:cNvPr id="26659" name="Line 35"/>
            <p:cNvSpPr>
              <a:spLocks noChangeShapeType="1"/>
            </p:cNvSpPr>
            <p:nvPr/>
          </p:nvSpPr>
          <p:spPr bwMode="auto">
            <a:xfrm>
              <a:off x="2352" y="4320"/>
              <a:ext cx="384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60" name="Text Box 36"/>
            <p:cNvSpPr txBox="1">
              <a:spLocks noChangeArrowheads="1"/>
            </p:cNvSpPr>
            <p:nvPr/>
          </p:nvSpPr>
          <p:spPr bwMode="auto">
            <a:xfrm>
              <a:off x="2352" y="4060"/>
              <a:ext cx="350" cy="233"/>
            </a:xfrm>
            <a:prstGeom prst="rect">
              <a:avLst/>
            </a:prstGeom>
            <a:solidFill>
              <a:srgbClr val="FFCC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1" hangingPunct="1"/>
              <a:r>
                <a:rPr lang="en-US" altLang="zh-CN" b="1">
                  <a:sym typeface="Symbol" pitchFamily="18" charset="2"/>
                </a:rPr>
                <a:t>2</a:t>
              </a:r>
              <a:endParaRPr lang="en-US" altLang="zh-CN" sz="4400"/>
            </a:p>
          </p:txBody>
        </p:sp>
      </p:grpSp>
      <p:sp>
        <p:nvSpPr>
          <p:cNvPr id="26662" name="Text Box 38"/>
          <p:cNvSpPr txBox="1">
            <a:spLocks noChangeArrowheads="1"/>
          </p:cNvSpPr>
          <p:nvPr/>
        </p:nvSpPr>
        <p:spPr bwMode="auto">
          <a:xfrm>
            <a:off x="5715000" y="2667003"/>
            <a:ext cx="661988" cy="519113"/>
          </a:xfrm>
          <a:prstGeom prst="rect">
            <a:avLst/>
          </a:prstGeom>
          <a:solidFill>
            <a:srgbClr val="FFCC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sz="2800" b="1"/>
              <a:t>K</a:t>
            </a:r>
            <a:r>
              <a:rPr lang="en-US" altLang="zh-CN" sz="2800" b="1" baseline="-25000"/>
              <a:t>-3</a:t>
            </a:r>
            <a:endParaRPr lang="en-US" altLang="zh-CN" sz="4400"/>
          </a:p>
        </p:txBody>
      </p:sp>
      <p:grpSp>
        <p:nvGrpSpPr>
          <p:cNvPr id="26699" name="Group 75"/>
          <p:cNvGrpSpPr>
            <a:grpSpLocks/>
          </p:cNvGrpSpPr>
          <p:nvPr/>
        </p:nvGrpSpPr>
        <p:grpSpPr bwMode="auto">
          <a:xfrm>
            <a:off x="5791200" y="1524003"/>
            <a:ext cx="433388" cy="1204913"/>
            <a:chOff x="2688" y="960"/>
            <a:chExt cx="273" cy="759"/>
          </a:xfrm>
        </p:grpSpPr>
        <p:sp>
          <p:nvSpPr>
            <p:cNvPr id="26661" name="Line 37"/>
            <p:cNvSpPr>
              <a:spLocks noChangeShapeType="1"/>
            </p:cNvSpPr>
            <p:nvPr/>
          </p:nvSpPr>
          <p:spPr bwMode="auto">
            <a:xfrm>
              <a:off x="2831" y="960"/>
              <a:ext cx="0" cy="43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63" name="Text Box 39"/>
            <p:cNvSpPr txBox="1">
              <a:spLocks noChangeArrowheads="1"/>
            </p:cNvSpPr>
            <p:nvPr/>
          </p:nvSpPr>
          <p:spPr bwMode="auto">
            <a:xfrm>
              <a:off x="2688" y="1392"/>
              <a:ext cx="273" cy="327"/>
            </a:xfrm>
            <a:prstGeom prst="rect">
              <a:avLst/>
            </a:prstGeom>
            <a:solidFill>
              <a:srgbClr val="FFCC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1" hangingPunct="1"/>
              <a:r>
                <a:rPr lang="en-US" altLang="zh-CN" sz="2800"/>
                <a:t>1</a:t>
              </a:r>
              <a:endParaRPr lang="en-US" altLang="zh-CN" sz="4400"/>
            </a:p>
          </p:txBody>
        </p:sp>
      </p:grpSp>
      <p:sp>
        <p:nvSpPr>
          <p:cNvPr id="26665" name="Text Box 41"/>
          <p:cNvSpPr txBox="1">
            <a:spLocks noChangeArrowheads="1"/>
          </p:cNvSpPr>
          <p:nvPr/>
        </p:nvSpPr>
        <p:spPr bwMode="auto">
          <a:xfrm>
            <a:off x="6373816" y="988547"/>
            <a:ext cx="684803" cy="523220"/>
          </a:xfrm>
          <a:prstGeom prst="rect">
            <a:avLst/>
          </a:prstGeom>
          <a:solidFill>
            <a:srgbClr val="FFCC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sz="2800" b="1"/>
              <a:t>0.2</a:t>
            </a:r>
            <a:endParaRPr lang="en-US" altLang="zh-CN" sz="4400"/>
          </a:p>
        </p:txBody>
      </p:sp>
      <p:grpSp>
        <p:nvGrpSpPr>
          <p:cNvPr id="26667" name="Group 43"/>
          <p:cNvGrpSpPr>
            <a:grpSpLocks/>
          </p:cNvGrpSpPr>
          <p:nvPr/>
        </p:nvGrpSpPr>
        <p:grpSpPr bwMode="auto">
          <a:xfrm>
            <a:off x="7178678" y="882650"/>
            <a:ext cx="646113" cy="412750"/>
            <a:chOff x="2352" y="4060"/>
            <a:chExt cx="384" cy="260"/>
          </a:xfrm>
        </p:grpSpPr>
        <p:sp>
          <p:nvSpPr>
            <p:cNvPr id="26668" name="Line 44"/>
            <p:cNvSpPr>
              <a:spLocks noChangeShapeType="1"/>
            </p:cNvSpPr>
            <p:nvPr/>
          </p:nvSpPr>
          <p:spPr bwMode="auto">
            <a:xfrm>
              <a:off x="2352" y="4320"/>
              <a:ext cx="384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69" name="Text Box 45"/>
            <p:cNvSpPr txBox="1">
              <a:spLocks noChangeArrowheads="1"/>
            </p:cNvSpPr>
            <p:nvPr/>
          </p:nvSpPr>
          <p:spPr bwMode="auto">
            <a:xfrm>
              <a:off x="2352" y="4060"/>
              <a:ext cx="350" cy="233"/>
            </a:xfrm>
            <a:prstGeom prst="rect">
              <a:avLst/>
            </a:prstGeom>
            <a:solidFill>
              <a:srgbClr val="FFCC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1" hangingPunct="1"/>
              <a:r>
                <a:rPr lang="en-US" altLang="zh-CN" b="1">
                  <a:sym typeface="Symbol" pitchFamily="18" charset="2"/>
                </a:rPr>
                <a:t>2</a:t>
              </a:r>
              <a:endParaRPr lang="en-US" altLang="zh-CN" sz="4400"/>
            </a:p>
          </p:txBody>
        </p:sp>
      </p:grpSp>
      <p:sp>
        <p:nvSpPr>
          <p:cNvPr id="26671" name="Text Box 47"/>
          <p:cNvSpPr txBox="1">
            <a:spLocks noChangeArrowheads="1"/>
          </p:cNvSpPr>
          <p:nvPr/>
        </p:nvSpPr>
        <p:spPr bwMode="auto">
          <a:xfrm>
            <a:off x="7162800" y="2667003"/>
            <a:ext cx="661988" cy="519113"/>
          </a:xfrm>
          <a:prstGeom prst="rect">
            <a:avLst/>
          </a:prstGeom>
          <a:solidFill>
            <a:srgbClr val="FFCC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sz="2800" b="1"/>
              <a:t>K</a:t>
            </a:r>
            <a:r>
              <a:rPr lang="en-US" altLang="zh-CN" sz="2800" b="1" baseline="-25000"/>
              <a:t>-4</a:t>
            </a:r>
            <a:endParaRPr lang="en-US" altLang="zh-CN" sz="4400"/>
          </a:p>
        </p:txBody>
      </p:sp>
      <p:grpSp>
        <p:nvGrpSpPr>
          <p:cNvPr id="26700" name="Group 76"/>
          <p:cNvGrpSpPr>
            <a:grpSpLocks/>
          </p:cNvGrpSpPr>
          <p:nvPr/>
        </p:nvGrpSpPr>
        <p:grpSpPr bwMode="auto">
          <a:xfrm>
            <a:off x="7239000" y="1524003"/>
            <a:ext cx="433388" cy="1281113"/>
            <a:chOff x="3600" y="960"/>
            <a:chExt cx="273" cy="807"/>
          </a:xfrm>
        </p:grpSpPr>
        <p:sp>
          <p:nvSpPr>
            <p:cNvPr id="26670" name="Line 46"/>
            <p:cNvSpPr>
              <a:spLocks noChangeShapeType="1"/>
            </p:cNvSpPr>
            <p:nvPr/>
          </p:nvSpPr>
          <p:spPr bwMode="auto">
            <a:xfrm>
              <a:off x="3715" y="960"/>
              <a:ext cx="0" cy="43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72" name="Text Box 48"/>
            <p:cNvSpPr txBox="1">
              <a:spLocks noChangeArrowheads="1"/>
            </p:cNvSpPr>
            <p:nvPr/>
          </p:nvSpPr>
          <p:spPr bwMode="auto">
            <a:xfrm>
              <a:off x="3600" y="1440"/>
              <a:ext cx="273" cy="327"/>
            </a:xfrm>
            <a:prstGeom prst="rect">
              <a:avLst/>
            </a:prstGeom>
            <a:solidFill>
              <a:srgbClr val="FFCC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1" hangingPunct="1"/>
              <a:r>
                <a:rPr lang="en-US" altLang="zh-CN" sz="2800"/>
                <a:t>0</a:t>
              </a:r>
              <a:endParaRPr lang="en-US" altLang="zh-CN" sz="4400"/>
            </a:p>
          </p:txBody>
        </p:sp>
      </p:grpSp>
      <p:sp>
        <p:nvSpPr>
          <p:cNvPr id="26674" name="Text Box 50"/>
          <p:cNvSpPr txBox="1">
            <a:spLocks noChangeArrowheads="1"/>
          </p:cNvSpPr>
          <p:nvPr/>
        </p:nvSpPr>
        <p:spPr bwMode="auto">
          <a:xfrm>
            <a:off x="7883528" y="988547"/>
            <a:ext cx="684803" cy="523220"/>
          </a:xfrm>
          <a:prstGeom prst="rect">
            <a:avLst/>
          </a:prstGeom>
          <a:solidFill>
            <a:srgbClr val="FFCC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sz="2800" b="1"/>
              <a:t>0.4</a:t>
            </a:r>
            <a:endParaRPr lang="en-US" altLang="zh-CN" sz="4400"/>
          </a:p>
        </p:txBody>
      </p:sp>
      <p:grpSp>
        <p:nvGrpSpPr>
          <p:cNvPr id="26676" name="Group 52"/>
          <p:cNvGrpSpPr>
            <a:grpSpLocks/>
          </p:cNvGrpSpPr>
          <p:nvPr/>
        </p:nvGrpSpPr>
        <p:grpSpPr bwMode="auto">
          <a:xfrm>
            <a:off x="8688391" y="882650"/>
            <a:ext cx="644525" cy="412750"/>
            <a:chOff x="2352" y="4060"/>
            <a:chExt cx="384" cy="260"/>
          </a:xfrm>
        </p:grpSpPr>
        <p:sp>
          <p:nvSpPr>
            <p:cNvPr id="26677" name="Line 53"/>
            <p:cNvSpPr>
              <a:spLocks noChangeShapeType="1"/>
            </p:cNvSpPr>
            <p:nvPr/>
          </p:nvSpPr>
          <p:spPr bwMode="auto">
            <a:xfrm>
              <a:off x="2352" y="4320"/>
              <a:ext cx="384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78" name="Text Box 54"/>
            <p:cNvSpPr txBox="1">
              <a:spLocks noChangeArrowheads="1"/>
            </p:cNvSpPr>
            <p:nvPr/>
          </p:nvSpPr>
          <p:spPr bwMode="auto">
            <a:xfrm>
              <a:off x="2352" y="4060"/>
              <a:ext cx="350" cy="233"/>
            </a:xfrm>
            <a:prstGeom prst="rect">
              <a:avLst/>
            </a:prstGeom>
            <a:solidFill>
              <a:srgbClr val="FFCC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1" hangingPunct="1"/>
              <a:r>
                <a:rPr lang="en-US" altLang="zh-CN" b="1">
                  <a:sym typeface="Symbol" pitchFamily="18" charset="2"/>
                </a:rPr>
                <a:t>2</a:t>
              </a:r>
              <a:endParaRPr lang="en-US" altLang="zh-CN" sz="4400"/>
            </a:p>
          </p:txBody>
        </p:sp>
      </p:grpSp>
      <p:sp>
        <p:nvSpPr>
          <p:cNvPr id="26680" name="Text Box 56"/>
          <p:cNvSpPr txBox="1">
            <a:spLocks noChangeArrowheads="1"/>
          </p:cNvSpPr>
          <p:nvPr/>
        </p:nvSpPr>
        <p:spPr bwMode="auto">
          <a:xfrm>
            <a:off x="8686800" y="2667003"/>
            <a:ext cx="661988" cy="519113"/>
          </a:xfrm>
          <a:prstGeom prst="rect">
            <a:avLst/>
          </a:prstGeom>
          <a:solidFill>
            <a:srgbClr val="FFCC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sz="2800" b="1"/>
              <a:t>K</a:t>
            </a:r>
            <a:r>
              <a:rPr lang="en-US" altLang="zh-CN" sz="2800" b="1" baseline="-25000"/>
              <a:t>-5</a:t>
            </a:r>
            <a:endParaRPr lang="en-US" altLang="zh-CN" sz="4400"/>
          </a:p>
        </p:txBody>
      </p:sp>
      <p:grpSp>
        <p:nvGrpSpPr>
          <p:cNvPr id="26701" name="Group 77"/>
          <p:cNvGrpSpPr>
            <a:grpSpLocks/>
          </p:cNvGrpSpPr>
          <p:nvPr/>
        </p:nvGrpSpPr>
        <p:grpSpPr bwMode="auto">
          <a:xfrm>
            <a:off x="8763000" y="1524003"/>
            <a:ext cx="433388" cy="1204913"/>
            <a:chOff x="4560" y="960"/>
            <a:chExt cx="273" cy="759"/>
          </a:xfrm>
        </p:grpSpPr>
        <p:sp>
          <p:nvSpPr>
            <p:cNvPr id="26679" name="Line 55"/>
            <p:cNvSpPr>
              <a:spLocks noChangeShapeType="1"/>
            </p:cNvSpPr>
            <p:nvPr/>
          </p:nvSpPr>
          <p:spPr bwMode="auto">
            <a:xfrm>
              <a:off x="4665" y="960"/>
              <a:ext cx="0" cy="43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81" name="Text Box 57"/>
            <p:cNvSpPr txBox="1">
              <a:spLocks noChangeArrowheads="1"/>
            </p:cNvSpPr>
            <p:nvPr/>
          </p:nvSpPr>
          <p:spPr bwMode="auto">
            <a:xfrm>
              <a:off x="4560" y="1392"/>
              <a:ext cx="273" cy="327"/>
            </a:xfrm>
            <a:prstGeom prst="rect">
              <a:avLst/>
            </a:prstGeom>
            <a:solidFill>
              <a:srgbClr val="FFCC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1" hangingPunct="1"/>
              <a:r>
                <a:rPr lang="en-US" altLang="zh-CN" sz="2800"/>
                <a:t>0</a:t>
              </a:r>
              <a:endParaRPr lang="en-US" altLang="zh-CN" sz="4400"/>
            </a:p>
          </p:txBody>
        </p:sp>
      </p:grpSp>
      <p:sp>
        <p:nvSpPr>
          <p:cNvPr id="26691" name="Text Box 67"/>
          <p:cNvSpPr txBox="1">
            <a:spLocks noChangeArrowheads="1"/>
          </p:cNvSpPr>
          <p:nvPr/>
        </p:nvSpPr>
        <p:spPr bwMode="auto">
          <a:xfrm>
            <a:off x="9371016" y="1032997"/>
            <a:ext cx="684803" cy="523220"/>
          </a:xfrm>
          <a:prstGeom prst="rect">
            <a:avLst/>
          </a:prstGeom>
          <a:solidFill>
            <a:srgbClr val="FFCC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sz="2800" b="1"/>
              <a:t>0.8</a:t>
            </a:r>
            <a:endParaRPr lang="en-US" altLang="zh-CN" sz="4400"/>
          </a:p>
        </p:txBody>
      </p:sp>
      <p:sp>
        <p:nvSpPr>
          <p:cNvPr id="26702" name="Text Box 78"/>
          <p:cNvSpPr txBox="1">
            <a:spLocks noChangeArrowheads="1"/>
          </p:cNvSpPr>
          <p:nvPr/>
        </p:nvSpPr>
        <p:spPr bwMode="auto">
          <a:xfrm>
            <a:off x="3429000" y="4722347"/>
            <a:ext cx="471315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zh-CN" altLang="en-US" sz="2800" b="1"/>
              <a:t>由此得：</a:t>
            </a:r>
            <a:r>
              <a:rPr lang="en-US" altLang="zh-CN" sz="2800" b="1"/>
              <a:t>(0.65)</a:t>
            </a:r>
            <a:r>
              <a:rPr lang="en-US" altLang="zh-CN" sz="2800" b="1" baseline="-25000"/>
              <a:t>10</a:t>
            </a:r>
            <a:r>
              <a:rPr lang="en-US" altLang="zh-CN" sz="2800" b="1"/>
              <a:t>=(0.10100)</a:t>
            </a:r>
            <a:r>
              <a:rPr lang="en-US" altLang="zh-CN" sz="2800" b="1" baseline="-25000"/>
              <a:t>2</a:t>
            </a:r>
            <a:endParaRPr lang="en-US" altLang="zh-CN" sz="4400"/>
          </a:p>
        </p:txBody>
      </p:sp>
      <p:sp>
        <p:nvSpPr>
          <p:cNvPr id="26703" name="Text Box 79"/>
          <p:cNvSpPr txBox="1">
            <a:spLocks noChangeArrowheads="1"/>
          </p:cNvSpPr>
          <p:nvPr/>
        </p:nvSpPr>
        <p:spPr bwMode="auto">
          <a:xfrm>
            <a:off x="3429003" y="5331947"/>
            <a:ext cx="611577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zh-CN" altLang="en-US" sz="2800" b="1"/>
              <a:t>综合得：</a:t>
            </a:r>
            <a:r>
              <a:rPr lang="en-US" altLang="zh-CN" sz="2800" b="1"/>
              <a:t>(81.65)</a:t>
            </a:r>
            <a:r>
              <a:rPr lang="en-US" altLang="zh-CN" sz="2800" b="1" baseline="-25000"/>
              <a:t>10</a:t>
            </a:r>
            <a:r>
              <a:rPr lang="en-US" altLang="zh-CN" sz="2800" b="1"/>
              <a:t>=(1010001.10100)</a:t>
            </a:r>
            <a:r>
              <a:rPr lang="en-US" altLang="zh-CN" sz="2800" b="1" baseline="-25000"/>
              <a:t>2</a:t>
            </a:r>
            <a:endParaRPr lang="en-US" altLang="zh-CN" sz="4400"/>
          </a:p>
        </p:txBody>
      </p:sp>
    </p:spTree>
    <p:extLst>
      <p:ext uri="{BB962C8B-B14F-4D97-AF65-F5344CB8AC3E}">
        <p14:creationId xmlns:p14="http://schemas.microsoft.com/office/powerpoint/2010/main" val="134679824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300"/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2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6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"/>
                                        <p:tgtEl>
                                          <p:spTgt spid="26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66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66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300"/>
                            </p:stCondLst>
                            <p:childTnLst>
                              <p:par>
                                <p:cTn id="3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1800"/>
                            </p:stCondLst>
                            <p:childTnLst>
                              <p:par>
                                <p:cTn id="3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2300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2800"/>
                            </p:stCondLst>
                            <p:childTnLst>
                              <p:par>
                                <p:cTn id="4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3300"/>
                            </p:stCondLst>
                            <p:childTnLst>
                              <p:par>
                                <p:cTn id="4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3800"/>
                            </p:stCondLst>
                            <p:childTnLst>
                              <p:par>
                                <p:cTn id="4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4300"/>
                            </p:stCondLst>
                            <p:childTnLst>
                              <p:par>
                                <p:cTn id="5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4800"/>
                            </p:stCondLst>
                            <p:childTnLst>
                              <p:par>
                                <p:cTn id="5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300"/>
                            </p:stCondLst>
                            <p:childTnLst>
                              <p:par>
                                <p:cTn id="5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5800"/>
                            </p:stCondLst>
                            <p:childTnLst>
                              <p:par>
                                <p:cTn id="6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6300"/>
                            </p:stCondLst>
                            <p:childTnLst>
                              <p:par>
                                <p:cTn id="6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6800"/>
                            </p:stCondLst>
                            <p:childTnLst>
                              <p:par>
                                <p:cTn id="6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7300"/>
                            </p:stCondLst>
                            <p:childTnLst>
                              <p:par>
                                <p:cTn id="6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780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8300"/>
                            </p:stCondLst>
                            <p:childTnLst>
                              <p:par>
                                <p:cTn id="7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8800"/>
                            </p:stCondLst>
                            <p:childTnLst>
                              <p:par>
                                <p:cTn id="7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9300"/>
                            </p:stCondLst>
                            <p:childTnLst>
                              <p:par>
                                <p:cTn id="8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9800"/>
                            </p:stCondLst>
                            <p:childTnLst>
                              <p:par>
                                <p:cTn id="8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10300"/>
                            </p:stCondLst>
                            <p:childTnLst>
                              <p:par>
                                <p:cTn id="8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10800"/>
                            </p:stCondLst>
                            <p:childTnLst>
                              <p:par>
                                <p:cTn id="9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300"/>
                                        <p:tgtEl>
                                          <p:spTgt spid="26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300"/>
                                        <p:tgtEl>
                                          <p:spTgt spid="26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708" grpId="0" animBg="1"/>
      <p:bldP spid="26627" grpId="0" build="p" autoUpdateAnimBg="0"/>
      <p:bldP spid="26629" grpId="0" autoUpdateAnimBg="0"/>
      <p:bldP spid="26631" grpId="0" autoUpdateAnimBg="0"/>
      <p:bldP spid="26632" grpId="0" animBg="1" autoUpdateAnimBg="0"/>
      <p:bldP spid="26635" grpId="0" animBg="1" autoUpdateAnimBg="0"/>
      <p:bldP spid="26641" grpId="0" animBg="1" autoUpdateAnimBg="0"/>
      <p:bldP spid="26647" grpId="0" animBg="1" autoUpdateAnimBg="0"/>
      <p:bldP spid="26653" grpId="0" animBg="1" autoUpdateAnimBg="0"/>
      <p:bldP spid="26656" grpId="0" animBg="1" autoUpdateAnimBg="0"/>
      <p:bldP spid="26662" grpId="0" animBg="1" autoUpdateAnimBg="0"/>
      <p:bldP spid="26665" grpId="0" animBg="1" autoUpdateAnimBg="0"/>
      <p:bldP spid="26671" grpId="0" animBg="1" autoUpdateAnimBg="0"/>
      <p:bldP spid="26674" grpId="0" animBg="1" autoUpdateAnimBg="0"/>
      <p:bldP spid="26680" grpId="0" animBg="1" autoUpdateAnimBg="0"/>
      <p:bldP spid="26691" grpId="0" animBg="1" autoUpdateAnimBg="0"/>
      <p:bldP spid="26702" grpId="0" autoUpdateAnimBg="0"/>
      <p:bldP spid="26703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ChangeArrowheads="1"/>
          </p:cNvSpPr>
          <p:nvPr/>
        </p:nvSpPr>
        <p:spPr bwMode="auto">
          <a:xfrm>
            <a:off x="1674614" y="167816"/>
            <a:ext cx="4726186" cy="762000"/>
          </a:xfrm>
          <a:prstGeom prst="rect">
            <a:avLst/>
          </a:prstGeom>
          <a:gradFill rotWithShape="0">
            <a:gsLst>
              <a:gs pos="0">
                <a:srgbClr val="FFFFFF">
                  <a:gamma/>
                  <a:shade val="46275"/>
                  <a:invGamma/>
                </a:srgbClr>
              </a:gs>
              <a:gs pos="50000">
                <a:srgbClr val="FFFFFF"/>
              </a:gs>
              <a:gs pos="100000">
                <a:srgbClr val="FFFFFF">
                  <a:gamma/>
                  <a:shade val="46275"/>
                  <a:invGamma/>
                </a:srgbClr>
              </a:gs>
            </a:gsLst>
            <a:lin ang="5400000" scaled="1"/>
          </a:gradFill>
          <a:ln>
            <a:noFill/>
          </a:ln>
          <a:effectLst/>
          <a:scene3d>
            <a:camera prst="legacyPerspectiveBottom"/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FFFFFF"/>
            </a:extrusionClr>
          </a:sp3d>
          <a:extLst>
            <a:ext uri="{91240B29-F687-4F45-9708-019B960494DF}">
              <a14:hiddenLine xmlns:a14="http://schemas.microsoft.com/office/drawing/2010/main" w="9525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flatTx/>
          </a:bodyPr>
          <a:lstStyle/>
          <a:p>
            <a:pPr eaLnBrk="1" hangingPunct="1"/>
            <a:r>
              <a:rPr lang="zh-CN" altLang="en-US" sz="4000" b="1">
                <a:solidFill>
                  <a:srgbClr val="990033"/>
                </a:solidFill>
                <a:latin typeface="隶书" pitchFamily="49" charset="-122"/>
                <a:ea typeface="隶书" pitchFamily="49" charset="-122"/>
              </a:rPr>
              <a:t>非十进制间的转换</a:t>
            </a:r>
          </a:p>
        </p:txBody>
      </p:sp>
      <p:sp>
        <p:nvSpPr>
          <p:cNvPr id="31747" name="Rectangle 3"/>
          <p:cNvSpPr>
            <a:spLocks noChangeArrowheads="1"/>
          </p:cNvSpPr>
          <p:nvPr/>
        </p:nvSpPr>
        <p:spPr bwMode="auto">
          <a:xfrm>
            <a:off x="2209800" y="15240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altLang="zh-CN" sz="3200" b="1" dirty="0">
                <a:solidFill>
                  <a:srgbClr val="990033"/>
                </a:solidFill>
                <a:ea typeface="幼圆" pitchFamily="49" charset="-122"/>
                <a:sym typeface="Symbol" pitchFamily="18" charset="2"/>
              </a:rPr>
              <a:t>  </a:t>
            </a:r>
            <a:r>
              <a:rPr lang="zh-CN" altLang="en-US" sz="3200" b="1" dirty="0">
                <a:ea typeface="幼圆" pitchFamily="49" charset="-122"/>
              </a:rPr>
              <a:t>二进制→十六进制（</a:t>
            </a:r>
            <a:r>
              <a:rPr lang="en-US" altLang="zh-CN" sz="3200" b="1" dirty="0">
                <a:ea typeface="幼圆" pitchFamily="49" charset="-122"/>
              </a:rPr>
              <a:t>4</a:t>
            </a:r>
            <a:r>
              <a:rPr lang="zh-CN" altLang="en-US" sz="3200" b="1" dirty="0">
                <a:ea typeface="幼圆" pitchFamily="49" charset="-122"/>
              </a:rPr>
              <a:t>换</a:t>
            </a:r>
            <a:r>
              <a:rPr lang="en-US" altLang="zh-CN" sz="3200" b="1" dirty="0">
                <a:ea typeface="幼圆" pitchFamily="49" charset="-122"/>
              </a:rPr>
              <a:t>1</a:t>
            </a:r>
            <a:r>
              <a:rPr lang="zh-CN" altLang="en-US" sz="3200" b="1" dirty="0">
                <a:ea typeface="幼圆" pitchFamily="49" charset="-122"/>
              </a:rPr>
              <a:t>）</a:t>
            </a:r>
          </a:p>
        </p:txBody>
      </p:sp>
      <p:sp>
        <p:nvSpPr>
          <p:cNvPr id="31748" name="Text Box 4"/>
          <p:cNvSpPr txBox="1">
            <a:spLocks noChangeArrowheads="1"/>
          </p:cNvSpPr>
          <p:nvPr/>
        </p:nvSpPr>
        <p:spPr bwMode="auto">
          <a:xfrm>
            <a:off x="2362200" y="2209803"/>
            <a:ext cx="7981950" cy="180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/>
            <a:r>
              <a:rPr lang="zh-CN" altLang="en-US" sz="2800" b="1" dirty="0">
                <a:latin typeface="幼圆" pitchFamily="49" charset="-122"/>
                <a:ea typeface="幼圆" pitchFamily="49" charset="-122"/>
              </a:rPr>
              <a:t>从</a:t>
            </a:r>
            <a:r>
              <a:rPr lang="zh-CN" altLang="en-US" sz="2800" b="1" dirty="0">
                <a:solidFill>
                  <a:srgbClr val="FF0000"/>
                </a:solidFill>
                <a:latin typeface="幼圆" pitchFamily="49" charset="-122"/>
                <a:ea typeface="幼圆" pitchFamily="49" charset="-122"/>
              </a:rPr>
              <a:t>小数点</a:t>
            </a:r>
            <a:r>
              <a:rPr lang="zh-CN" altLang="en-US" sz="2800" b="1" dirty="0">
                <a:latin typeface="幼圆" pitchFamily="49" charset="-122"/>
                <a:ea typeface="幼圆" pitchFamily="49" charset="-122"/>
              </a:rPr>
              <a:t>开始，将二进制数的整数和小数部分</a:t>
            </a:r>
            <a:r>
              <a:rPr lang="zh-CN" altLang="en-US" sz="2800" b="1" dirty="0">
                <a:solidFill>
                  <a:srgbClr val="FF0000"/>
                </a:solidFill>
                <a:latin typeface="幼圆" pitchFamily="49" charset="-122"/>
                <a:ea typeface="幼圆" pitchFamily="49" charset="-122"/>
              </a:rPr>
              <a:t>每四位</a:t>
            </a:r>
            <a:r>
              <a:rPr lang="zh-CN" altLang="en-US" sz="2800" b="1" dirty="0">
                <a:latin typeface="幼圆" pitchFamily="49" charset="-122"/>
                <a:ea typeface="幼圆" pitchFamily="49" charset="-122"/>
              </a:rPr>
              <a:t>分为</a:t>
            </a:r>
            <a:r>
              <a:rPr lang="zh-CN" altLang="en-US" sz="2800" b="1" dirty="0">
                <a:solidFill>
                  <a:srgbClr val="FF0000"/>
                </a:solidFill>
                <a:latin typeface="幼圆" pitchFamily="49" charset="-122"/>
                <a:ea typeface="幼圆" pitchFamily="49" charset="-122"/>
              </a:rPr>
              <a:t>一组</a:t>
            </a:r>
            <a:r>
              <a:rPr lang="zh-CN" altLang="en-US" sz="2800" b="1" dirty="0">
                <a:latin typeface="幼圆" pitchFamily="49" charset="-122"/>
                <a:ea typeface="幼圆" pitchFamily="49" charset="-122"/>
              </a:rPr>
              <a:t>，</a:t>
            </a:r>
            <a:r>
              <a:rPr lang="zh-CN" altLang="en-US" sz="2800" b="1" dirty="0">
                <a:solidFill>
                  <a:srgbClr val="FF0000"/>
                </a:solidFill>
                <a:latin typeface="幼圆" pitchFamily="49" charset="-122"/>
                <a:ea typeface="幼圆" pitchFamily="49" charset="-122"/>
              </a:rPr>
              <a:t>不足</a:t>
            </a:r>
            <a:r>
              <a:rPr lang="zh-CN" altLang="en-US" sz="2800" b="1" dirty="0">
                <a:latin typeface="幼圆" pitchFamily="49" charset="-122"/>
                <a:ea typeface="幼圆" pitchFamily="49" charset="-122"/>
              </a:rPr>
              <a:t>四位的分别在整数的最高位前和小数的最低位后</a:t>
            </a:r>
            <a:r>
              <a:rPr lang="zh-CN" altLang="en-US" sz="2800" b="1" dirty="0">
                <a:solidFill>
                  <a:srgbClr val="FF0000"/>
                </a:solidFill>
                <a:latin typeface="幼圆" pitchFamily="49" charset="-122"/>
                <a:ea typeface="幼圆" pitchFamily="49" charset="-122"/>
              </a:rPr>
              <a:t>加</a:t>
            </a:r>
            <a:r>
              <a:rPr lang="zh-CN" altLang="en-US" sz="2800" b="1" dirty="0">
                <a:solidFill>
                  <a:srgbClr val="FF0000"/>
                </a:solidFill>
                <a:latin typeface="Times New Roman"/>
                <a:ea typeface="幼圆" pitchFamily="49" charset="-122"/>
              </a:rPr>
              <a:t>“</a:t>
            </a:r>
            <a:r>
              <a:rPr lang="en-US" altLang="zh-CN" sz="2800" b="1" dirty="0">
                <a:solidFill>
                  <a:srgbClr val="FF0000"/>
                </a:solidFill>
                <a:latin typeface="幼圆" pitchFamily="49" charset="-122"/>
                <a:ea typeface="幼圆" pitchFamily="49" charset="-122"/>
              </a:rPr>
              <a:t>0</a:t>
            </a:r>
            <a:r>
              <a:rPr lang="en-US" altLang="zh-CN" sz="2800" b="1" dirty="0">
                <a:solidFill>
                  <a:srgbClr val="FF0000"/>
                </a:solidFill>
                <a:latin typeface="Times New Roman"/>
                <a:ea typeface="幼圆" pitchFamily="49" charset="-122"/>
              </a:rPr>
              <a:t>”</a:t>
            </a:r>
            <a:r>
              <a:rPr lang="zh-CN" altLang="en-US" sz="2800" b="1" dirty="0">
                <a:latin typeface="幼圆" pitchFamily="49" charset="-122"/>
                <a:ea typeface="幼圆" pitchFamily="49" charset="-122"/>
              </a:rPr>
              <a:t>补足，然后每组用等值的十六进制码替代，即得目的数，即</a:t>
            </a:r>
            <a:r>
              <a:rPr lang="en-US" altLang="zh-CN" sz="2800" b="1" dirty="0">
                <a:latin typeface="幼圆" pitchFamily="49" charset="-122"/>
                <a:ea typeface="幼圆" pitchFamily="49" charset="-122"/>
              </a:rPr>
              <a:t>4</a:t>
            </a:r>
            <a:r>
              <a:rPr lang="zh-CN" altLang="en-US" sz="2800" b="1" dirty="0">
                <a:latin typeface="幼圆" pitchFamily="49" charset="-122"/>
                <a:ea typeface="幼圆" pitchFamily="49" charset="-122"/>
              </a:rPr>
              <a:t>位换一位</a:t>
            </a:r>
            <a:r>
              <a:rPr lang="zh-CN" altLang="en-US" b="1">
                <a:latin typeface="宋体" charset="-122"/>
              </a:rPr>
              <a:t>。</a:t>
            </a:r>
          </a:p>
        </p:txBody>
      </p:sp>
      <p:sp>
        <p:nvSpPr>
          <p:cNvPr id="31755" name="Text Box 11"/>
          <p:cNvSpPr txBox="1">
            <a:spLocks noChangeArrowheads="1"/>
          </p:cNvSpPr>
          <p:nvPr/>
        </p:nvSpPr>
        <p:spPr bwMode="auto">
          <a:xfrm>
            <a:off x="2541588" y="4114803"/>
            <a:ext cx="49657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2800" b="1" dirty="0">
                <a:latin typeface="幼圆" pitchFamily="49" charset="-122"/>
                <a:ea typeface="幼圆" pitchFamily="49" charset="-122"/>
              </a:rPr>
              <a:t>例</a:t>
            </a:r>
            <a:r>
              <a:rPr lang="en-US" altLang="zh-CN" sz="2800" b="1" dirty="0">
                <a:latin typeface="幼圆" pitchFamily="49" charset="-122"/>
                <a:ea typeface="幼圆" pitchFamily="49" charset="-122"/>
              </a:rPr>
              <a:t>9</a:t>
            </a:r>
            <a:r>
              <a:rPr lang="zh-CN" altLang="en-US" sz="2800" b="1" dirty="0">
                <a:latin typeface="幼圆" pitchFamily="49" charset="-122"/>
                <a:ea typeface="幼圆" pitchFamily="49" charset="-122"/>
              </a:rPr>
              <a:t>： </a:t>
            </a:r>
            <a:r>
              <a:rPr lang="zh-CN" altLang="en-US">
                <a:latin typeface="宋体" charset="-122"/>
              </a:rPr>
              <a:t> </a:t>
            </a:r>
            <a:r>
              <a:rPr lang="en-US" altLang="zh-CN" sz="2800" b="1">
                <a:latin typeface="宋体" charset="-122"/>
              </a:rPr>
              <a:t>111011.10101 B = ? H</a:t>
            </a:r>
            <a:endParaRPr lang="en-US" altLang="zh-CN" sz="4400"/>
          </a:p>
        </p:txBody>
      </p:sp>
      <p:sp>
        <p:nvSpPr>
          <p:cNvPr id="31756" name="Text Box 12"/>
          <p:cNvSpPr txBox="1">
            <a:spLocks noChangeArrowheads="1"/>
          </p:cNvSpPr>
          <p:nvPr/>
        </p:nvSpPr>
        <p:spPr bwMode="auto">
          <a:xfrm>
            <a:off x="3619500" y="4191003"/>
            <a:ext cx="4603750" cy="519113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>
                <a:latin typeface="宋体" charset="-122"/>
              </a:rPr>
              <a:t> </a:t>
            </a:r>
            <a:r>
              <a:rPr lang="en-US" altLang="zh-CN" sz="2800" b="1">
                <a:latin typeface="宋体" charset="-122"/>
              </a:rPr>
              <a:t>111011.10101 B = 3B.A8 H</a:t>
            </a:r>
            <a:endParaRPr lang="en-US" altLang="zh-CN">
              <a:latin typeface="宋体" charset="-122"/>
            </a:endParaRPr>
          </a:p>
        </p:txBody>
      </p:sp>
      <p:sp>
        <p:nvSpPr>
          <p:cNvPr id="31758" name="Text Box 14" descr="75%"/>
          <p:cNvSpPr txBox="1">
            <a:spLocks noChangeArrowheads="1"/>
          </p:cNvSpPr>
          <p:nvPr/>
        </p:nvSpPr>
        <p:spPr bwMode="auto">
          <a:xfrm>
            <a:off x="4818732" y="4937794"/>
            <a:ext cx="33655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1" hangingPunct="1"/>
            <a:r>
              <a:rPr lang="en-US" altLang="zh-CN" sz="3200" b="1" dirty="0"/>
              <a:t>111011</a:t>
            </a:r>
            <a:r>
              <a:rPr lang="en-US" altLang="zh-CN" sz="3200" b="1" dirty="0">
                <a:solidFill>
                  <a:srgbClr val="990033"/>
                </a:solidFill>
              </a:rPr>
              <a:t>.</a:t>
            </a:r>
            <a:r>
              <a:rPr lang="en-US" altLang="zh-CN" sz="3200" b="1" dirty="0"/>
              <a:t>10101</a:t>
            </a:r>
          </a:p>
        </p:txBody>
      </p:sp>
      <p:sp>
        <p:nvSpPr>
          <p:cNvPr id="31759" name="AutoShape 15"/>
          <p:cNvSpPr>
            <a:spLocks noChangeArrowheads="1"/>
          </p:cNvSpPr>
          <p:nvPr/>
        </p:nvSpPr>
        <p:spPr bwMode="auto">
          <a:xfrm>
            <a:off x="5574052" y="5667427"/>
            <a:ext cx="1828800" cy="609600"/>
          </a:xfrm>
          <a:prstGeom prst="wedgeRoundRectCallout">
            <a:avLst>
              <a:gd name="adj1" fmla="val -15884"/>
              <a:gd name="adj2" fmla="val -93750"/>
              <a:gd name="adj3" fmla="val 16667"/>
            </a:avLst>
          </a:prstGeom>
          <a:solidFill>
            <a:srgbClr val="FFCC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just" eaLnBrk="1" hangingPunct="1"/>
            <a:r>
              <a:rPr lang="zh-CN" altLang="en-US" b="1" dirty="0"/>
              <a:t>小数点为界</a:t>
            </a:r>
          </a:p>
        </p:txBody>
      </p:sp>
      <p:sp>
        <p:nvSpPr>
          <p:cNvPr id="31760" name="Line 16"/>
          <p:cNvSpPr>
            <a:spLocks noChangeShapeType="1"/>
          </p:cNvSpPr>
          <p:nvPr/>
        </p:nvSpPr>
        <p:spPr bwMode="auto">
          <a:xfrm>
            <a:off x="5419725" y="5410200"/>
            <a:ext cx="626368" cy="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761" name="Line 17"/>
          <p:cNvSpPr>
            <a:spLocks noChangeShapeType="1"/>
          </p:cNvSpPr>
          <p:nvPr/>
        </p:nvSpPr>
        <p:spPr bwMode="auto">
          <a:xfrm>
            <a:off x="4511824" y="5416550"/>
            <a:ext cx="762000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762" name="Text Box 18" descr="75%"/>
          <p:cNvSpPr txBox="1">
            <a:spLocks noChangeArrowheads="1"/>
          </p:cNvSpPr>
          <p:nvPr/>
        </p:nvSpPr>
        <p:spPr bwMode="auto">
          <a:xfrm>
            <a:off x="4352928" y="4945458"/>
            <a:ext cx="63991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sz="3200" b="1" dirty="0"/>
              <a:t>00</a:t>
            </a:r>
          </a:p>
        </p:txBody>
      </p:sp>
      <p:sp>
        <p:nvSpPr>
          <p:cNvPr id="31764" name="Line 20"/>
          <p:cNvSpPr>
            <a:spLocks noChangeShapeType="1"/>
          </p:cNvSpPr>
          <p:nvPr/>
        </p:nvSpPr>
        <p:spPr bwMode="auto">
          <a:xfrm>
            <a:off x="6322938" y="5410200"/>
            <a:ext cx="762000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765" name="Line 21"/>
          <p:cNvSpPr>
            <a:spLocks noChangeShapeType="1"/>
          </p:cNvSpPr>
          <p:nvPr/>
        </p:nvSpPr>
        <p:spPr bwMode="auto">
          <a:xfrm>
            <a:off x="7094234" y="5410200"/>
            <a:ext cx="8382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766" name="Text Box 22" descr="75%"/>
          <p:cNvSpPr txBox="1">
            <a:spLocks noChangeArrowheads="1"/>
          </p:cNvSpPr>
          <p:nvPr/>
        </p:nvSpPr>
        <p:spPr bwMode="auto">
          <a:xfrm>
            <a:off x="7199155" y="4930252"/>
            <a:ext cx="86754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sz="3200" b="1" dirty="0"/>
              <a:t>000</a:t>
            </a:r>
          </a:p>
        </p:txBody>
      </p:sp>
      <p:sp>
        <p:nvSpPr>
          <p:cNvPr id="31769" name="Line 25"/>
          <p:cNvSpPr>
            <a:spLocks noChangeShapeType="1"/>
          </p:cNvSpPr>
          <p:nvPr/>
        </p:nvSpPr>
        <p:spPr bwMode="auto">
          <a:xfrm>
            <a:off x="5087888" y="5530233"/>
            <a:ext cx="0" cy="457200"/>
          </a:xfrm>
          <a:prstGeom prst="line">
            <a:avLst/>
          </a:prstGeom>
          <a:noFill/>
          <a:ln w="57150">
            <a:solidFill>
              <a:srgbClr val="008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770" name="Line 26"/>
          <p:cNvSpPr>
            <a:spLocks noChangeShapeType="1"/>
          </p:cNvSpPr>
          <p:nvPr/>
        </p:nvSpPr>
        <p:spPr bwMode="auto">
          <a:xfrm>
            <a:off x="5725418" y="5515027"/>
            <a:ext cx="0" cy="457200"/>
          </a:xfrm>
          <a:prstGeom prst="line">
            <a:avLst/>
          </a:prstGeom>
          <a:noFill/>
          <a:ln w="57150">
            <a:solidFill>
              <a:srgbClr val="A5002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771" name="Line 27"/>
          <p:cNvSpPr>
            <a:spLocks noChangeShapeType="1"/>
          </p:cNvSpPr>
          <p:nvPr/>
        </p:nvSpPr>
        <p:spPr bwMode="auto">
          <a:xfrm>
            <a:off x="6710288" y="5515027"/>
            <a:ext cx="0" cy="457200"/>
          </a:xfrm>
          <a:prstGeom prst="line">
            <a:avLst/>
          </a:prstGeom>
          <a:noFill/>
          <a:ln w="57150">
            <a:solidFill>
              <a:srgbClr val="008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772" name="Line 28"/>
          <p:cNvSpPr>
            <a:spLocks noChangeShapeType="1"/>
          </p:cNvSpPr>
          <p:nvPr/>
        </p:nvSpPr>
        <p:spPr bwMode="auto">
          <a:xfrm>
            <a:off x="7464152" y="5515027"/>
            <a:ext cx="0" cy="4572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774" name="Text Box 30" descr="75%"/>
          <p:cNvSpPr txBox="1">
            <a:spLocks noChangeArrowheads="1"/>
          </p:cNvSpPr>
          <p:nvPr/>
        </p:nvSpPr>
        <p:spPr bwMode="auto">
          <a:xfrm>
            <a:off x="5517688" y="5921284"/>
            <a:ext cx="48122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sz="3200" b="1" dirty="0"/>
              <a:t>B</a:t>
            </a:r>
          </a:p>
        </p:txBody>
      </p:sp>
      <p:sp>
        <p:nvSpPr>
          <p:cNvPr id="31775" name="Text Box 31" descr="75%"/>
          <p:cNvSpPr txBox="1">
            <a:spLocks noChangeArrowheads="1"/>
          </p:cNvSpPr>
          <p:nvPr/>
        </p:nvSpPr>
        <p:spPr bwMode="auto">
          <a:xfrm>
            <a:off x="4861544" y="5919322"/>
            <a:ext cx="41229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sz="3200" b="1" dirty="0"/>
              <a:t>3</a:t>
            </a:r>
          </a:p>
        </p:txBody>
      </p:sp>
      <p:sp>
        <p:nvSpPr>
          <p:cNvPr id="31777" name="Text Box 33" descr="75%"/>
          <p:cNvSpPr txBox="1">
            <a:spLocks noChangeArrowheads="1"/>
          </p:cNvSpPr>
          <p:nvPr/>
        </p:nvSpPr>
        <p:spPr bwMode="auto">
          <a:xfrm>
            <a:off x="6488452" y="5937008"/>
            <a:ext cx="47783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sz="3200" b="1" dirty="0"/>
              <a:t>A</a:t>
            </a:r>
          </a:p>
        </p:txBody>
      </p:sp>
      <p:sp>
        <p:nvSpPr>
          <p:cNvPr id="31778" name="Text Box 34" descr="75%"/>
          <p:cNvSpPr txBox="1">
            <a:spLocks noChangeArrowheads="1"/>
          </p:cNvSpPr>
          <p:nvPr/>
        </p:nvSpPr>
        <p:spPr bwMode="auto">
          <a:xfrm>
            <a:off x="7273701" y="5949879"/>
            <a:ext cx="41229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sz="3200" b="1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417241718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31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31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17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17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17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17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1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31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17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17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31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31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7" grpId="0" autoUpdateAnimBg="0"/>
      <p:bldP spid="31748" grpId="0" autoUpdateAnimBg="0"/>
      <p:bldP spid="31755" grpId="0" autoUpdateAnimBg="0"/>
      <p:bldP spid="31756" grpId="0" animBg="1" autoUpdateAnimBg="0"/>
      <p:bldP spid="31758" grpId="0" autoUpdateAnimBg="0"/>
      <p:bldP spid="31759" grpId="0" animBg="1" autoUpdateAnimBg="0"/>
      <p:bldP spid="31760" grpId="0" animBg="1"/>
      <p:bldP spid="31761" grpId="0" animBg="1"/>
      <p:bldP spid="31762" grpId="0" autoUpdateAnimBg="0"/>
      <p:bldP spid="31764" grpId="0" animBg="1"/>
      <p:bldP spid="31765" grpId="0" animBg="1"/>
      <p:bldP spid="31766" grpId="0" autoUpdateAnimBg="0"/>
      <p:bldP spid="31769" grpId="0" animBg="1"/>
      <p:bldP spid="31770" grpId="0" animBg="1"/>
      <p:bldP spid="31771" grpId="0" animBg="1"/>
      <p:bldP spid="31772" grpId="0" animBg="1"/>
      <p:bldP spid="31774" grpId="0" autoUpdateAnimBg="0"/>
      <p:bldP spid="31775" grpId="0" autoUpdateAnimBg="0"/>
      <p:bldP spid="31777" grpId="0" autoUpdateAnimBg="0"/>
      <p:bldP spid="31778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266" name="Text Box 2"/>
          <p:cNvSpPr txBox="1">
            <a:spLocks noChangeArrowheads="1"/>
          </p:cNvSpPr>
          <p:nvPr/>
        </p:nvSpPr>
        <p:spPr bwMode="auto">
          <a:xfrm>
            <a:off x="2362200" y="3393301"/>
            <a:ext cx="7239000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CC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1" hangingPunct="1"/>
            <a:endParaRPr lang="en-US" altLang="zh-CN"/>
          </a:p>
          <a:p>
            <a:pPr algn="l" eaLnBrk="1" hangingPunct="1"/>
            <a:endParaRPr lang="en-US" altLang="zh-CN" baseline="-25000">
              <a:effectLst>
                <a:outerShdw blurRad="38100" dist="38100" dir="2700000" algn="tl">
                  <a:srgbClr val="FFFFFF"/>
                </a:outerShdw>
              </a:effectLst>
              <a:latin typeface="Tahoma" pitchFamily="34" charset="0"/>
            </a:endParaRPr>
          </a:p>
        </p:txBody>
      </p:sp>
      <p:sp>
        <p:nvSpPr>
          <p:cNvPr id="651267" name="Rectangle 3"/>
          <p:cNvSpPr>
            <a:spLocks noGrp="1" noChangeArrowheads="1"/>
          </p:cNvSpPr>
          <p:nvPr>
            <p:ph idx="1"/>
          </p:nvPr>
        </p:nvSpPr>
        <p:spPr>
          <a:xfrm>
            <a:off x="1532407" y="1196752"/>
            <a:ext cx="7772400" cy="2952750"/>
          </a:xfrm>
        </p:spPr>
        <p:txBody>
          <a:bodyPr>
            <a:norm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十六进制数转换成二进制数方法，正好与二进制数转换成十六进制数的方法相逆，即</a:t>
            </a:r>
            <a:r>
              <a:rPr lang="zh-CN" altLang="en-US" sz="2800" b="1" dirty="0">
                <a:latin typeface="Times New Roman"/>
                <a:ea typeface="楷体_GB2312" pitchFamily="49" charset="-122"/>
              </a:rPr>
              <a:t>“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一位扩展四位</a:t>
            </a:r>
            <a:r>
              <a:rPr lang="zh-CN" altLang="en-US" sz="2800" b="1" dirty="0">
                <a:latin typeface="Times New Roman"/>
                <a:ea typeface="楷体_GB2312" pitchFamily="49" charset="-122"/>
              </a:rPr>
              <a:t>”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法：一位变四位，不足前补零，最后截去首尾空零。将每位十六进制数化成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4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位二进制数书写，便可得到转换结果。 </a:t>
            </a:r>
          </a:p>
          <a:p>
            <a:pPr algn="just">
              <a:spcBef>
                <a:spcPct val="50000"/>
              </a:spcBef>
              <a:buFontTx/>
              <a:buNone/>
            </a:pPr>
            <a:r>
              <a:rPr lang="zh-CN" altLang="en-US" sz="2800" baseline="-25000" dirty="0">
                <a:latin typeface="楷体_GB2312" pitchFamily="49" charset="-122"/>
                <a:ea typeface="楷体_GB2312" pitchFamily="49" charset="-122"/>
              </a:rPr>
              <a:t>  </a:t>
            </a:r>
            <a:endParaRPr lang="zh-CN" altLang="en-US" sz="2800" dirty="0">
              <a:latin typeface="楷体_GB2312" pitchFamily="49" charset="-122"/>
              <a:ea typeface="楷体_GB2312" pitchFamily="49" charset="-122"/>
            </a:endParaRPr>
          </a:p>
          <a:p>
            <a:pPr>
              <a:buFontTx/>
              <a:buNone/>
            </a:pPr>
            <a:endParaRPr lang="en-US" altLang="zh-CN" sz="2800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651269" name="Text Box 5" descr="75%"/>
          <p:cNvSpPr txBox="1">
            <a:spLocks noChangeArrowheads="1"/>
          </p:cNvSpPr>
          <p:nvPr/>
        </p:nvSpPr>
        <p:spPr bwMode="auto">
          <a:xfrm>
            <a:off x="2063753" y="3429000"/>
            <a:ext cx="8208963" cy="2654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zh-CN" sz="2800" dirty="0"/>
              <a:t>【</a:t>
            </a:r>
            <a:r>
              <a:rPr lang="zh-CN" altLang="en-US" sz="2800" dirty="0"/>
              <a:t>例</a:t>
            </a:r>
            <a:r>
              <a:rPr lang="en-US" altLang="zh-CN" sz="2800" dirty="0"/>
              <a:t>】</a:t>
            </a:r>
            <a:r>
              <a:rPr lang="zh-CN" altLang="en-US" sz="2800" dirty="0"/>
              <a:t>：将</a:t>
            </a:r>
            <a:r>
              <a:rPr lang="en-US" altLang="zh-CN" sz="2800" dirty="0"/>
              <a:t>3A6.C5H</a:t>
            </a:r>
            <a:r>
              <a:rPr lang="zh-CN" altLang="en-US" sz="2800" dirty="0"/>
              <a:t>转换成二进制数。</a:t>
            </a:r>
          </a:p>
          <a:p>
            <a:pPr algn="l"/>
            <a:r>
              <a:rPr lang="zh-CN" altLang="en-US" sz="2800" dirty="0"/>
              <a:t>          </a:t>
            </a:r>
            <a:r>
              <a:rPr lang="en-US" altLang="zh-CN" sz="2800" dirty="0"/>
              <a:t>3       A       6  .   C         5</a:t>
            </a:r>
          </a:p>
          <a:p>
            <a:pPr algn="l"/>
            <a:r>
              <a:rPr lang="en-US" altLang="zh-CN" sz="2800" dirty="0"/>
              <a:t>         ↓      ↓     ↓     ↓       ↓</a:t>
            </a:r>
          </a:p>
          <a:p>
            <a:pPr algn="l"/>
            <a:r>
              <a:rPr lang="en-US" altLang="zh-CN" sz="2800" dirty="0"/>
              <a:t>       0011 1010 0110 . 1100 0101</a:t>
            </a:r>
          </a:p>
          <a:p>
            <a:pPr algn="l"/>
            <a:endParaRPr lang="en-US" altLang="zh-CN" sz="2800" dirty="0"/>
          </a:p>
          <a:p>
            <a:r>
              <a:rPr lang="zh-CN" altLang="en-US" sz="2800" dirty="0"/>
              <a:t>转换结果为</a:t>
            </a:r>
            <a:r>
              <a:rPr lang="en-US" altLang="zh-CN" sz="2800" dirty="0"/>
              <a:t>3A6.C5H = 1110100110.11000101B</a:t>
            </a:r>
            <a:r>
              <a:rPr lang="zh-CN" altLang="en-US" sz="2800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535172192"/>
      </p:ext>
    </p:extLst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51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126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1606698" y="104882"/>
            <a:ext cx="4921350" cy="762000"/>
          </a:xfrm>
          <a:gradFill rotWithShape="0">
            <a:gsLst>
              <a:gs pos="0">
                <a:srgbClr val="FFFFFF">
                  <a:gamma/>
                  <a:shade val="46275"/>
                  <a:invGamma/>
                </a:srgbClr>
              </a:gs>
              <a:gs pos="50000">
                <a:srgbClr val="FFFFFF"/>
              </a:gs>
              <a:gs pos="100000">
                <a:srgbClr val="FFFFFF">
                  <a:gamma/>
                  <a:shade val="46275"/>
                  <a:invGamma/>
                </a:srgbClr>
              </a:gs>
            </a:gsLst>
            <a:lin ang="5400000" scaled="1"/>
          </a:gradFill>
          <a:scene3d>
            <a:camera prst="legacyPerspectiveBottom"/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FFFFFF"/>
            </a:extrusion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normAutofit/>
            <a:flatTx/>
          </a:bodyPr>
          <a:lstStyle/>
          <a:p>
            <a:r>
              <a:rPr lang="zh-CN" altLang="en-US" b="1">
                <a:solidFill>
                  <a:srgbClr val="990033"/>
                </a:solidFill>
                <a:latin typeface="隶书" pitchFamily="49" charset="-122"/>
                <a:ea typeface="隶书" pitchFamily="49" charset="-122"/>
              </a:rPr>
              <a:t>非十进制间的转换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>
          <a:xfrm>
            <a:off x="2209800" y="1524003"/>
            <a:ext cx="7846640" cy="2925763"/>
          </a:xfrm>
        </p:spPr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altLang="zh-CN" sz="3200" b="1" dirty="0">
                <a:solidFill>
                  <a:srgbClr val="990033"/>
                </a:solidFill>
                <a:ea typeface="幼圆" pitchFamily="49" charset="-122"/>
                <a:sym typeface="Symbol" pitchFamily="18" charset="2"/>
              </a:rPr>
              <a:t>  </a:t>
            </a:r>
            <a:r>
              <a:rPr lang="en-US" altLang="zh-CN" sz="3200" b="1" dirty="0">
                <a:ea typeface="幼圆" pitchFamily="49" charset="-122"/>
                <a:sym typeface="Symbol" pitchFamily="18" charset="2"/>
              </a:rPr>
              <a:t> </a:t>
            </a:r>
            <a:r>
              <a:rPr lang="zh-CN" altLang="en-US" sz="3200" b="1" dirty="0">
                <a:ea typeface="幼圆" pitchFamily="49" charset="-122"/>
              </a:rPr>
              <a:t>二进制与八进制间的转换</a:t>
            </a:r>
          </a:p>
        </p:txBody>
      </p:sp>
      <p:sp>
        <p:nvSpPr>
          <p:cNvPr id="30724" name="Text Box 4"/>
          <p:cNvSpPr txBox="1">
            <a:spLocks noChangeArrowheads="1"/>
          </p:cNvSpPr>
          <p:nvPr/>
        </p:nvSpPr>
        <p:spPr bwMode="auto">
          <a:xfrm>
            <a:off x="2222119" y="3357878"/>
            <a:ext cx="77724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/>
            <a:r>
              <a:rPr lang="zh-CN" altLang="en-US" sz="2800" b="1" dirty="0">
                <a:latin typeface="幼圆" pitchFamily="49" charset="-122"/>
                <a:ea typeface="幼圆" pitchFamily="49" charset="-122"/>
              </a:rPr>
              <a:t>即 </a:t>
            </a:r>
            <a:r>
              <a:rPr lang="en-US" altLang="zh-CN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幼圆" pitchFamily="49" charset="-122"/>
                <a:ea typeface="幼圆" pitchFamily="49" charset="-122"/>
              </a:rPr>
              <a:t>3</a:t>
            </a:r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幼圆" pitchFamily="49" charset="-122"/>
                <a:ea typeface="幼圆" pitchFamily="49" charset="-122"/>
              </a:rPr>
              <a:t>换</a:t>
            </a:r>
            <a:r>
              <a:rPr lang="en-US" altLang="zh-CN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幼圆" pitchFamily="49" charset="-122"/>
                <a:ea typeface="幼圆" pitchFamily="49" charset="-122"/>
              </a:rPr>
              <a:t>1  </a:t>
            </a:r>
            <a:r>
              <a:rPr lang="zh-CN" altLang="en-US" sz="2800" b="1" dirty="0">
                <a:latin typeface="幼圆" pitchFamily="49" charset="-122"/>
                <a:ea typeface="幼圆" pitchFamily="49" charset="-122"/>
              </a:rPr>
              <a:t>和   </a:t>
            </a:r>
            <a:r>
              <a:rPr lang="en-US" altLang="zh-CN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幼圆" pitchFamily="49" charset="-122"/>
                <a:ea typeface="幼圆" pitchFamily="49" charset="-122"/>
              </a:rPr>
              <a:t>1 </a:t>
            </a:r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幼圆" pitchFamily="49" charset="-122"/>
                <a:ea typeface="幼圆" pitchFamily="49" charset="-122"/>
              </a:rPr>
              <a:t>换 </a:t>
            </a:r>
            <a:r>
              <a:rPr lang="en-US" altLang="zh-CN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幼圆" pitchFamily="49" charset="-122"/>
                <a:ea typeface="幼圆" pitchFamily="49" charset="-122"/>
              </a:rPr>
              <a:t>3</a:t>
            </a:r>
            <a:endParaRPr lang="zh-CN" altLang="en-US" sz="3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幼圆" pitchFamily="49" charset="-122"/>
              <a:ea typeface="幼圆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47705661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0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0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2" grpId="0" animBg="1" autoUpdateAnimBg="0"/>
      <p:bldP spid="30723" grpId="0" build="p" autoUpdateAnimBg="0"/>
      <p:bldP spid="30724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09120B8F-E1C3-4B9F-9D63-F794612601D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405648" y="2443603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二进制数： 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11101.10</a:t>
            </a:r>
          </a:p>
          <a:p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所对应的十六进制数为：</a:t>
            </a:r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1]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</a:p>
          <a:p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所对应的八进制数为：</a:t>
            </a:r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2]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</a:p>
          <a:p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D02C95A7-3384-42FE-9AE5-94D6D81E0551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44C1173-1303-461B-9D30-0BCC7A42E94E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1524000" y="5849303"/>
            <a:ext cx="9144000" cy="36576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正常使用填空题需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05236CB6-FA23-45E9-B48A-81ABB5A6BDFC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0" y="0"/>
            <a:ext cx="5436096" cy="635000"/>
            <a:chOff x="-2563504" y="0"/>
            <a:chExt cx="9144000" cy="635000"/>
          </a:xfrm>
        </p:grpSpPr>
        <p:sp>
          <p:nvSpPr>
            <p:cNvPr id="8" name="TitleBackground">
              <a:extLst>
                <a:ext uri="{FF2B5EF4-FFF2-40B4-BE49-F238E27FC236}">
                  <a16:creationId xmlns:a16="http://schemas.microsoft.com/office/drawing/2014/main" id="{389E44D9-6DAA-413C-84A6-31950B2EE542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-2563504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ColorBlock">
              <a:extLst>
                <a:ext uri="{FF2B5EF4-FFF2-40B4-BE49-F238E27FC236}">
                  <a16:creationId xmlns:a16="http://schemas.microsoft.com/office/drawing/2014/main" id="{FD918C22-BE70-4889-8724-26B7C3F340BC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-2563504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TypeText">
              <a:extLst>
                <a:ext uri="{FF2B5EF4-FFF2-40B4-BE49-F238E27FC236}">
                  <a16:creationId xmlns:a16="http://schemas.microsoft.com/office/drawing/2014/main" id="{E92D38C3-4008-495F-8ED2-4F259BAF498C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-2136253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</a:p>
          </p:txBody>
        </p:sp>
        <p:sp>
          <p:nvSpPr>
            <p:cNvPr id="11" name="TipText">
              <a:extLst>
                <a:ext uri="{FF2B5EF4-FFF2-40B4-BE49-F238E27FC236}">
                  <a16:creationId xmlns:a16="http://schemas.microsoft.com/office/drawing/2014/main" id="{7BC690B2-ED6B-4731-B885-9F4F0C26E8A8}"/>
                </a:ext>
              </a:extLst>
            </p:cNvPr>
            <p:cNvSpPr txBox="1"/>
            <p:nvPr>
              <p:custDataLst>
                <p:tags r:id="rId10"/>
              </p:custDataLst>
            </p:nvPr>
          </p:nvSpPr>
          <p:spPr>
            <a:xfrm>
              <a:off x="32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 dirty="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D8E57C48-2E42-4126-B195-750E0E1D1824}"/>
              </a:ext>
            </a:extLst>
          </p:cNvPr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020388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09120B8F-E1C3-4B9F-9D63-F794612601D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405648" y="2443603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十六进制数： 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3D.E</a:t>
            </a:r>
          </a:p>
          <a:p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所对应的二进制数为：</a:t>
            </a:r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1]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</a:p>
          <a:p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所对应的八进制数为：</a:t>
            </a:r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2]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</a:p>
          <a:p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D02C95A7-3384-42FE-9AE5-94D6D81E0551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44C1173-1303-461B-9D30-0BCC7A42E94E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1524000" y="5849303"/>
            <a:ext cx="9144000" cy="36576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正常使用填空题需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05236CB6-FA23-45E9-B48A-81ABB5A6BDFC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0" y="0"/>
            <a:ext cx="5436096" cy="635000"/>
            <a:chOff x="-2563504" y="0"/>
            <a:chExt cx="9144000" cy="635000"/>
          </a:xfrm>
        </p:grpSpPr>
        <p:sp>
          <p:nvSpPr>
            <p:cNvPr id="8" name="TitleBackground">
              <a:extLst>
                <a:ext uri="{FF2B5EF4-FFF2-40B4-BE49-F238E27FC236}">
                  <a16:creationId xmlns:a16="http://schemas.microsoft.com/office/drawing/2014/main" id="{389E44D9-6DAA-413C-84A6-31950B2EE542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-2563504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ColorBlock">
              <a:extLst>
                <a:ext uri="{FF2B5EF4-FFF2-40B4-BE49-F238E27FC236}">
                  <a16:creationId xmlns:a16="http://schemas.microsoft.com/office/drawing/2014/main" id="{FD918C22-BE70-4889-8724-26B7C3F340BC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-2563504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TypeText">
              <a:extLst>
                <a:ext uri="{FF2B5EF4-FFF2-40B4-BE49-F238E27FC236}">
                  <a16:creationId xmlns:a16="http://schemas.microsoft.com/office/drawing/2014/main" id="{E92D38C3-4008-495F-8ED2-4F259BAF498C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-2136253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</a:p>
          </p:txBody>
        </p:sp>
        <p:sp>
          <p:nvSpPr>
            <p:cNvPr id="11" name="TipText">
              <a:extLst>
                <a:ext uri="{FF2B5EF4-FFF2-40B4-BE49-F238E27FC236}">
                  <a16:creationId xmlns:a16="http://schemas.microsoft.com/office/drawing/2014/main" id="{7BC690B2-ED6B-4731-B885-9F4F0C26E8A8}"/>
                </a:ext>
              </a:extLst>
            </p:cNvPr>
            <p:cNvSpPr txBox="1"/>
            <p:nvPr>
              <p:custDataLst>
                <p:tags r:id="rId10"/>
              </p:custDataLst>
            </p:nvPr>
          </p:nvSpPr>
          <p:spPr>
            <a:xfrm>
              <a:off x="32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 dirty="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D8E57C48-2E42-4126-B195-750E0E1D1824}"/>
              </a:ext>
            </a:extLst>
          </p:cNvPr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59957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1775523" y="214151"/>
            <a:ext cx="5112171" cy="762000"/>
          </a:xfrm>
          <a:gradFill rotWithShape="0">
            <a:gsLst>
              <a:gs pos="0">
                <a:srgbClr val="FFFFFF">
                  <a:gamma/>
                  <a:shade val="46275"/>
                  <a:invGamma/>
                </a:srgbClr>
              </a:gs>
              <a:gs pos="50000">
                <a:srgbClr val="FFFFFF"/>
              </a:gs>
              <a:gs pos="100000">
                <a:srgbClr val="FFFFFF">
                  <a:gamma/>
                  <a:shade val="46275"/>
                  <a:invGamma/>
                </a:srgbClr>
              </a:gs>
            </a:gsLst>
            <a:lin ang="5400000" scaled="1"/>
          </a:gradFill>
          <a:scene3d>
            <a:camera prst="legacyPerspectiveBottom"/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FFFFFF"/>
            </a:extrusion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normAutofit fontScale="90000"/>
            <a:flatTx/>
          </a:bodyPr>
          <a:lstStyle/>
          <a:p>
            <a:r>
              <a:rPr lang="zh-CN" altLang="en-US" sz="5400">
                <a:solidFill>
                  <a:srgbClr val="990033"/>
                </a:solidFill>
                <a:latin typeface="隶书" pitchFamily="49" charset="-122"/>
                <a:ea typeface="隶书" pitchFamily="49" charset="-122"/>
              </a:rPr>
              <a:t>数值数据的表示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>
          <a:xfrm>
            <a:off x="1991544" y="1484784"/>
            <a:ext cx="7772400" cy="6096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Tx/>
              <a:buNone/>
            </a:pPr>
            <a:r>
              <a:rPr lang="zh-CN" altLang="en-US" sz="2800" b="1" dirty="0">
                <a:solidFill>
                  <a:schemeClr val="tx1"/>
                </a:solidFill>
                <a:latin typeface="宋体" charset="-122"/>
              </a:rPr>
              <a:t>一、真值与机器数</a:t>
            </a:r>
          </a:p>
          <a:p>
            <a:pPr>
              <a:lnSpc>
                <a:spcPct val="150000"/>
              </a:lnSpc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charset="-122"/>
              </a:rPr>
              <a:t>机器数</a:t>
            </a:r>
            <a:r>
              <a:rPr lang="zh-CN" altLang="en-US" sz="2800" b="1" dirty="0">
                <a:solidFill>
                  <a:schemeClr val="tx1"/>
                </a:solidFill>
                <a:latin typeface="宋体" charset="-122"/>
              </a:rPr>
              <a:t>：数据在计算机存储器的存放形式</a:t>
            </a:r>
          </a:p>
          <a:p>
            <a:pPr>
              <a:lnSpc>
                <a:spcPct val="150000"/>
              </a:lnSpc>
              <a:buFontTx/>
              <a:buNone/>
            </a:pPr>
            <a:r>
              <a:rPr lang="zh-CN" altLang="en-US" sz="2800" b="1" dirty="0">
                <a:solidFill>
                  <a:schemeClr val="tx1"/>
                </a:solidFill>
                <a:latin typeface="宋体" charset="-122"/>
              </a:rPr>
              <a:t>  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charset="-122"/>
              </a:rPr>
              <a:t>真值</a:t>
            </a:r>
            <a:r>
              <a:rPr lang="zh-CN" altLang="en-US" sz="2800" b="1" dirty="0">
                <a:solidFill>
                  <a:schemeClr val="tx1"/>
                </a:solidFill>
                <a:latin typeface="宋体" charset="-122"/>
              </a:rPr>
              <a:t>：机器数所代表的实际数据。</a:t>
            </a:r>
          </a:p>
        </p:txBody>
      </p:sp>
    </p:spTree>
    <p:extLst>
      <p:ext uri="{BB962C8B-B14F-4D97-AF65-F5344CB8AC3E}">
        <p14:creationId xmlns:p14="http://schemas.microsoft.com/office/powerpoint/2010/main" val="4071514956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3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4" grpId="0" animBg="1" autoUpdateAnimBg="0"/>
      <p:bldP spid="33795" grpId="0" build="p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1775523" y="214151"/>
            <a:ext cx="5112171" cy="762000"/>
          </a:xfrm>
          <a:gradFill rotWithShape="0">
            <a:gsLst>
              <a:gs pos="0">
                <a:srgbClr val="FFFFFF">
                  <a:gamma/>
                  <a:shade val="46275"/>
                  <a:invGamma/>
                </a:srgbClr>
              </a:gs>
              <a:gs pos="50000">
                <a:srgbClr val="FFFFFF"/>
              </a:gs>
              <a:gs pos="100000">
                <a:srgbClr val="FFFFFF">
                  <a:gamma/>
                  <a:shade val="46275"/>
                  <a:invGamma/>
                </a:srgbClr>
              </a:gs>
            </a:gsLst>
            <a:lin ang="5400000" scaled="1"/>
          </a:gradFill>
          <a:scene3d>
            <a:camera prst="legacyPerspectiveBottom"/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FFFFFF"/>
            </a:extrusion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normAutofit fontScale="90000"/>
            <a:flatTx/>
          </a:bodyPr>
          <a:lstStyle/>
          <a:p>
            <a:r>
              <a:rPr lang="zh-CN" altLang="en-US" sz="5400">
                <a:solidFill>
                  <a:srgbClr val="990033"/>
                </a:solidFill>
                <a:latin typeface="隶书" pitchFamily="49" charset="-122"/>
                <a:ea typeface="隶书" pitchFamily="49" charset="-122"/>
              </a:rPr>
              <a:t>数值数据的表示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9A5F2E5-8166-49A6-BDAE-F2CFF87E78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800"/>
              </a:spcAft>
            </a:pP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比特：一个位，</a:t>
            </a: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bit    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简写：</a:t>
            </a: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</a:t>
            </a:r>
          </a:p>
          <a:p>
            <a:pPr>
              <a:spcAft>
                <a:spcPts val="1800"/>
              </a:spcAft>
            </a:pP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字节：八位，</a:t>
            </a: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Byte 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，一个存储单位   简写：</a:t>
            </a: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</a:t>
            </a:r>
          </a:p>
          <a:p>
            <a:pPr>
              <a:spcAft>
                <a:spcPts val="1800"/>
              </a:spcAft>
            </a:pP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字：连续若干个字节</a:t>
            </a:r>
            <a:endParaRPr lang="en-US" altLang="zh-CN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spcAft>
                <a:spcPts val="1800"/>
              </a:spcAft>
            </a:pP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字长：字的位数</a:t>
            </a:r>
            <a:endParaRPr lang="en-US" altLang="zh-CN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地址：每个字节的编号</a:t>
            </a: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,(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无符号数）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85570184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3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4" grpId="0" animBg="1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1775523" y="214151"/>
            <a:ext cx="5112171" cy="762000"/>
          </a:xfrm>
          <a:gradFill rotWithShape="0">
            <a:gsLst>
              <a:gs pos="0">
                <a:srgbClr val="FFFFFF">
                  <a:gamma/>
                  <a:shade val="46275"/>
                  <a:invGamma/>
                </a:srgbClr>
              </a:gs>
              <a:gs pos="50000">
                <a:srgbClr val="FFFFFF"/>
              </a:gs>
              <a:gs pos="100000">
                <a:srgbClr val="FFFFFF">
                  <a:gamma/>
                  <a:shade val="46275"/>
                  <a:invGamma/>
                </a:srgbClr>
              </a:gs>
            </a:gsLst>
            <a:lin ang="5400000" scaled="1"/>
          </a:gradFill>
          <a:scene3d>
            <a:camera prst="legacyPerspectiveBottom"/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FFFFFF"/>
            </a:extrusion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normAutofit fontScale="90000"/>
            <a:flatTx/>
          </a:bodyPr>
          <a:lstStyle/>
          <a:p>
            <a:r>
              <a:rPr lang="zh-CN" altLang="en-US" sz="5400">
                <a:solidFill>
                  <a:srgbClr val="990033"/>
                </a:solidFill>
                <a:latin typeface="隶书" pitchFamily="49" charset="-122"/>
                <a:ea typeface="隶书" pitchFamily="49" charset="-122"/>
              </a:rPr>
              <a:t>数值数据的表示</a:t>
            </a:r>
          </a:p>
        </p:txBody>
      </p:sp>
      <p:sp>
        <p:nvSpPr>
          <p:cNvPr id="628767" name="Text Box 1055"/>
          <p:cNvSpPr txBox="1">
            <a:spLocks noChangeArrowheads="1"/>
          </p:cNvSpPr>
          <p:nvPr/>
        </p:nvSpPr>
        <p:spPr bwMode="auto">
          <a:xfrm>
            <a:off x="2063552" y="1677736"/>
            <a:ext cx="9145016" cy="29636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eaLnBrk="1" hangingPunct="1">
              <a:lnSpc>
                <a:spcPct val="150000"/>
              </a:lnSpc>
            </a:pPr>
            <a:r>
              <a:rPr lang="zh-CN" altLang="en-US" sz="3200" b="1" dirty="0"/>
              <a:t>二、</a:t>
            </a:r>
            <a:r>
              <a:rPr lang="zh-CN" altLang="en-US" sz="3200" b="1" dirty="0">
                <a:latin typeface="宋体" charset="-122"/>
              </a:rPr>
              <a:t>无符号 不考虑数的正负，所有的位都表示数值的大小。</a:t>
            </a:r>
            <a:endParaRPr lang="en-US" altLang="zh-CN" sz="3200" b="1" dirty="0">
              <a:latin typeface="宋体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charset="-122"/>
              </a:rPr>
              <a:t>二进制数的字长为</a:t>
            </a:r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charset="-122"/>
              </a:rPr>
              <a:t>n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charset="-122"/>
              </a:rPr>
              <a:t>表示的数值范围：</a:t>
            </a:r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charset="-122"/>
              </a:rPr>
              <a:t>0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charset="-122"/>
              </a:rPr>
              <a:t>～</a:t>
            </a:r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charset="-122"/>
              </a:rPr>
              <a:t>2</a:t>
            </a:r>
            <a:r>
              <a:rPr lang="en-US" altLang="zh-CN" sz="3200" b="1" baseline="30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charset="-122"/>
              </a:rPr>
              <a:t>n</a:t>
            </a:r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charset="-122"/>
              </a:rPr>
              <a:t>-1</a:t>
            </a:r>
            <a:endParaRPr lang="en-US" altLang="zh-CN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98105553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3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628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4" grpId="0" animBg="1" autoUpdateAnimBg="0"/>
      <p:bldP spid="628767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8676" name="Group 4"/>
          <p:cNvGrpSpPr>
            <a:grpSpLocks/>
          </p:cNvGrpSpPr>
          <p:nvPr/>
        </p:nvGrpSpPr>
        <p:grpSpPr bwMode="auto">
          <a:xfrm>
            <a:off x="2063753" y="3933825"/>
            <a:ext cx="8208963" cy="2286000"/>
            <a:chOff x="637" y="1632"/>
            <a:chExt cx="5171" cy="1440"/>
          </a:xfrm>
        </p:grpSpPr>
        <p:graphicFrame>
          <p:nvGraphicFramePr>
            <p:cNvPr id="668677" name="Object 5"/>
            <p:cNvGraphicFramePr>
              <a:graphicFrameLocks noChangeAspect="1"/>
            </p:cNvGraphicFramePr>
            <p:nvPr/>
          </p:nvGraphicFramePr>
          <p:xfrm>
            <a:off x="864" y="2160"/>
            <a:ext cx="2208" cy="9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0" name="BMP 图象" r:id="rId3" imgW="2400635" imgH="552527" progId="Paint.Picture">
                    <p:embed/>
                  </p:oleObj>
                </mc:Choice>
                <mc:Fallback>
                  <p:oleObj name="BMP 图象" r:id="rId3" imgW="2400635" imgH="552527" progId="Paint.Picture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4" y="2160"/>
                          <a:ext cx="2208" cy="9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68678" name="Line 6"/>
            <p:cNvSpPr>
              <a:spLocks noChangeShapeType="1"/>
            </p:cNvSpPr>
            <p:nvPr/>
          </p:nvSpPr>
          <p:spPr bwMode="auto">
            <a:xfrm>
              <a:off x="1248" y="1968"/>
              <a:ext cx="0" cy="19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8679" name="Line 7"/>
            <p:cNvSpPr>
              <a:spLocks noChangeShapeType="1"/>
            </p:cNvSpPr>
            <p:nvPr/>
          </p:nvSpPr>
          <p:spPr bwMode="auto">
            <a:xfrm>
              <a:off x="3744" y="1920"/>
              <a:ext cx="0" cy="19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668680" name="Object 8"/>
            <p:cNvGraphicFramePr>
              <a:graphicFrameLocks noChangeAspect="1"/>
            </p:cNvGraphicFramePr>
            <p:nvPr/>
          </p:nvGraphicFramePr>
          <p:xfrm>
            <a:off x="3312" y="2208"/>
            <a:ext cx="2496" cy="8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1" name="BMP 图象" r:id="rId5" imgW="2161905" imgH="504762" progId="Paint.Picture">
                    <p:embed/>
                  </p:oleObj>
                </mc:Choice>
                <mc:Fallback>
                  <p:oleObj name="BMP 图象" r:id="rId5" imgW="2161905" imgH="504762" progId="Paint.Picture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12" y="2208"/>
                          <a:ext cx="2496" cy="8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68681" name="Text Box 9"/>
            <p:cNvSpPr txBox="1">
              <a:spLocks noChangeArrowheads="1"/>
            </p:cNvSpPr>
            <p:nvPr/>
          </p:nvSpPr>
          <p:spPr bwMode="auto">
            <a:xfrm>
              <a:off x="637" y="1689"/>
              <a:ext cx="162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2800" b="1">
                  <a:latin typeface="宋体" charset="-122"/>
                </a:rPr>
                <a:t>X</a:t>
              </a:r>
              <a:r>
                <a:rPr lang="en-US" altLang="zh-CN" sz="2800" b="1" baseline="-25000">
                  <a:latin typeface="宋体" charset="-122"/>
                </a:rPr>
                <a:t>1 </a:t>
              </a:r>
              <a:r>
                <a:rPr lang="en-US" altLang="zh-CN" sz="2800" b="1">
                  <a:latin typeface="宋体" charset="-122"/>
                </a:rPr>
                <a:t>= </a:t>
              </a:r>
              <a:r>
                <a:rPr lang="en-US" altLang="zh-CN" sz="2800" b="1">
                  <a:solidFill>
                    <a:srgbClr val="FF0000"/>
                  </a:solidFill>
                  <a:latin typeface="宋体" charset="-122"/>
                </a:rPr>
                <a:t>+</a:t>
              </a:r>
              <a:r>
                <a:rPr lang="en-US" altLang="zh-CN" sz="2800" b="1">
                  <a:latin typeface="宋体" charset="-122"/>
                </a:rPr>
                <a:t> 1101101</a:t>
              </a:r>
              <a:endParaRPr lang="en-US" altLang="zh-CN">
                <a:latin typeface="宋体" charset="-122"/>
              </a:endParaRPr>
            </a:p>
          </p:txBody>
        </p:sp>
        <p:sp>
          <p:nvSpPr>
            <p:cNvPr id="668682" name="Text Box 10"/>
            <p:cNvSpPr txBox="1">
              <a:spLocks noChangeArrowheads="1"/>
            </p:cNvSpPr>
            <p:nvPr/>
          </p:nvSpPr>
          <p:spPr bwMode="auto">
            <a:xfrm>
              <a:off x="3153" y="1632"/>
              <a:ext cx="162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2800" b="1">
                  <a:latin typeface="宋体" charset="-122"/>
                </a:rPr>
                <a:t>X</a:t>
              </a:r>
              <a:r>
                <a:rPr lang="en-US" altLang="zh-CN" sz="2800" b="1" baseline="-25000">
                  <a:latin typeface="宋体" charset="-122"/>
                </a:rPr>
                <a:t>2 </a:t>
              </a:r>
              <a:r>
                <a:rPr lang="en-US" altLang="zh-CN" sz="2800" b="1">
                  <a:latin typeface="宋体" charset="-122"/>
                </a:rPr>
                <a:t>= </a:t>
              </a:r>
              <a:r>
                <a:rPr lang="en-US" altLang="zh-CN" sz="2800" b="1">
                  <a:solidFill>
                    <a:srgbClr val="FF0000"/>
                  </a:solidFill>
                  <a:latin typeface="宋体" charset="-122"/>
                </a:rPr>
                <a:t>- </a:t>
              </a:r>
              <a:r>
                <a:rPr lang="en-US" altLang="zh-CN" sz="2800" b="1">
                  <a:latin typeface="宋体" charset="-122"/>
                </a:rPr>
                <a:t>1101101</a:t>
              </a:r>
              <a:endParaRPr lang="en-US" altLang="zh-CN">
                <a:latin typeface="宋体" charset="-122"/>
              </a:endParaRPr>
            </a:p>
          </p:txBody>
        </p:sp>
      </p:grpSp>
      <p:sp>
        <p:nvSpPr>
          <p:cNvPr id="668683" name="Text Box 11"/>
          <p:cNvSpPr txBox="1">
            <a:spLocks noChangeArrowheads="1"/>
          </p:cNvSpPr>
          <p:nvPr/>
        </p:nvSpPr>
        <p:spPr bwMode="auto">
          <a:xfrm>
            <a:off x="2197103" y="1412875"/>
            <a:ext cx="58959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zh-CN" altLang="en-US" sz="3200" b="1"/>
              <a:t>三、</a:t>
            </a:r>
            <a:r>
              <a:rPr lang="zh-CN" altLang="en-US" sz="3200" b="1">
                <a:latin typeface="宋体" charset="-122"/>
              </a:rPr>
              <a:t>带符号二进制数的代码表示</a:t>
            </a:r>
            <a:endParaRPr lang="zh-CN" altLang="en-US" b="1">
              <a:latin typeface="宋体" charset="-122"/>
            </a:endParaRPr>
          </a:p>
        </p:txBody>
      </p:sp>
      <p:grpSp>
        <p:nvGrpSpPr>
          <p:cNvPr id="668685" name="Group 13"/>
          <p:cNvGrpSpPr>
            <a:grpSpLocks/>
          </p:cNvGrpSpPr>
          <p:nvPr/>
        </p:nvGrpSpPr>
        <p:grpSpPr bwMode="auto">
          <a:xfrm>
            <a:off x="3897807" y="2341287"/>
            <a:ext cx="6716712" cy="2209800"/>
            <a:chOff x="-7" y="2640"/>
            <a:chExt cx="4231" cy="1392"/>
          </a:xfrm>
        </p:grpSpPr>
        <p:grpSp>
          <p:nvGrpSpPr>
            <p:cNvPr id="668686" name="Group 14"/>
            <p:cNvGrpSpPr>
              <a:grpSpLocks/>
            </p:cNvGrpSpPr>
            <p:nvPr/>
          </p:nvGrpSpPr>
          <p:grpSpPr bwMode="auto">
            <a:xfrm>
              <a:off x="2304" y="2640"/>
              <a:ext cx="1920" cy="1392"/>
              <a:chOff x="2160" y="2592"/>
              <a:chExt cx="1920" cy="1392"/>
            </a:xfrm>
          </p:grpSpPr>
          <p:sp>
            <p:nvSpPr>
              <p:cNvPr id="668687" name="AutoShape 15" descr="羊皮纸"/>
              <p:cNvSpPr>
                <a:spLocks noChangeArrowheads="1"/>
              </p:cNvSpPr>
              <p:nvPr/>
            </p:nvSpPr>
            <p:spPr bwMode="auto">
              <a:xfrm>
                <a:off x="2160" y="2592"/>
                <a:ext cx="1920" cy="1392"/>
              </a:xfrm>
              <a:prstGeom prst="leftArrowCallout">
                <a:avLst>
                  <a:gd name="adj1" fmla="val 25000"/>
                  <a:gd name="adj2" fmla="val 25000"/>
                  <a:gd name="adj3" fmla="val 22989"/>
                  <a:gd name="adj4" fmla="val 66667"/>
                </a:avLst>
              </a:prstGeom>
              <a:blipFill dpi="0" rotWithShape="0">
                <a:blip r:embed="rId7"/>
                <a:srcRect/>
                <a:tile tx="0" ty="0" sx="100000" sy="100000" flip="none" algn="tl"/>
              </a:blip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/>
              </a:p>
            </p:txBody>
          </p:sp>
          <p:sp>
            <p:nvSpPr>
              <p:cNvPr id="668688" name="Text Box 16"/>
              <p:cNvSpPr txBox="1">
                <a:spLocks noChangeArrowheads="1"/>
              </p:cNvSpPr>
              <p:nvPr/>
            </p:nvSpPr>
            <p:spPr bwMode="auto">
              <a:xfrm>
                <a:off x="2911" y="2925"/>
                <a:ext cx="504" cy="7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just" eaLnBrk="1" hangingPunct="1"/>
                <a:r>
                  <a:rPr lang="zh-CN" altLang="en-US" sz="2400" b="1"/>
                  <a:t>原码</a:t>
                </a:r>
              </a:p>
              <a:p>
                <a:pPr algn="just" eaLnBrk="1" hangingPunct="1"/>
                <a:r>
                  <a:rPr lang="zh-CN" altLang="en-US" sz="2400" b="1"/>
                  <a:t>反码</a:t>
                </a:r>
              </a:p>
              <a:p>
                <a:pPr algn="just" eaLnBrk="1" hangingPunct="1"/>
                <a:r>
                  <a:rPr lang="zh-CN" altLang="en-US" sz="2400" b="1"/>
                  <a:t>补码</a:t>
                </a:r>
                <a:endParaRPr lang="zh-CN" altLang="en-US" sz="4000"/>
              </a:p>
            </p:txBody>
          </p:sp>
        </p:grpSp>
        <p:sp>
          <p:nvSpPr>
            <p:cNvPr id="668689" name="Text Box 17"/>
            <p:cNvSpPr txBox="1">
              <a:spLocks noChangeArrowheads="1"/>
            </p:cNvSpPr>
            <p:nvPr/>
          </p:nvSpPr>
          <p:spPr bwMode="auto">
            <a:xfrm>
              <a:off x="-7" y="3186"/>
              <a:ext cx="2055" cy="291"/>
            </a:xfrm>
            <a:prstGeom prst="rect">
              <a:avLst/>
            </a:prstGeom>
            <a:solidFill>
              <a:srgbClr val="FFCC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zh-CN" altLang="en-US" sz="2400" b="1">
                  <a:latin typeface="宋体" charset="-122"/>
                </a:rPr>
                <a:t>尾数部分的表示形式：</a:t>
              </a:r>
              <a:endParaRPr lang="zh-CN" altLang="en-US" sz="1600">
                <a:latin typeface="宋体" charset="-122"/>
              </a:endParaRPr>
            </a:p>
          </p:txBody>
        </p:sp>
      </p:grpSp>
      <p:grpSp>
        <p:nvGrpSpPr>
          <p:cNvPr id="668690" name="Group 18"/>
          <p:cNvGrpSpPr>
            <a:grpSpLocks/>
          </p:cNvGrpSpPr>
          <p:nvPr/>
        </p:nvGrpSpPr>
        <p:grpSpPr bwMode="auto">
          <a:xfrm>
            <a:off x="1440632" y="3030540"/>
            <a:ext cx="3048000" cy="1501775"/>
            <a:chOff x="816" y="2496"/>
            <a:chExt cx="2208" cy="960"/>
          </a:xfrm>
        </p:grpSpPr>
        <p:sp>
          <p:nvSpPr>
            <p:cNvPr id="668691" name="AutoShape 19" descr="羊皮纸"/>
            <p:cNvSpPr>
              <a:spLocks noChangeArrowheads="1"/>
            </p:cNvSpPr>
            <p:nvPr/>
          </p:nvSpPr>
          <p:spPr bwMode="auto">
            <a:xfrm>
              <a:off x="816" y="2496"/>
              <a:ext cx="2208" cy="960"/>
            </a:xfrm>
            <a:prstGeom prst="wedgeRoundRectCallout">
              <a:avLst>
                <a:gd name="adj1" fmla="val 52718"/>
                <a:gd name="adj2" fmla="val -51042"/>
                <a:gd name="adj3" fmla="val 16667"/>
              </a:avLst>
            </a:prstGeom>
            <a:blipFill dpi="0" rotWithShape="0">
              <a:blip r:embed="rId7"/>
              <a:srcRect/>
              <a:tile tx="0" ty="0" sx="100000" sy="100000" flip="none" algn="tl"/>
            </a:blip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/>
              <a:endParaRPr lang="zh-CN" altLang="zh-CN" sz="3600"/>
            </a:p>
          </p:txBody>
        </p:sp>
        <p:grpSp>
          <p:nvGrpSpPr>
            <p:cNvPr id="668692" name="Group 20"/>
            <p:cNvGrpSpPr>
              <a:grpSpLocks/>
            </p:cNvGrpSpPr>
            <p:nvPr/>
          </p:nvGrpSpPr>
          <p:grpSpPr bwMode="auto">
            <a:xfrm>
              <a:off x="912" y="2759"/>
              <a:ext cx="1951" cy="453"/>
              <a:chOff x="1077" y="4055"/>
              <a:chExt cx="1951" cy="453"/>
            </a:xfrm>
          </p:grpSpPr>
          <p:sp>
            <p:nvSpPr>
              <p:cNvPr id="668693" name="Text Box 21"/>
              <p:cNvSpPr txBox="1">
                <a:spLocks noChangeArrowheads="1"/>
              </p:cNvSpPr>
              <p:nvPr/>
            </p:nvSpPr>
            <p:spPr bwMode="auto">
              <a:xfrm>
                <a:off x="1077" y="4192"/>
                <a:ext cx="795" cy="2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 eaLnBrk="1" hangingPunct="1"/>
                <a:r>
                  <a:rPr lang="zh-CN" altLang="en-US" sz="2000" b="1"/>
                  <a:t>最高位：</a:t>
                </a:r>
              </a:p>
            </p:txBody>
          </p:sp>
          <p:sp>
            <p:nvSpPr>
              <p:cNvPr id="668694" name="Text Box 22"/>
              <p:cNvSpPr txBox="1">
                <a:spLocks noChangeArrowheads="1"/>
              </p:cNvSpPr>
              <p:nvPr/>
            </p:nvSpPr>
            <p:spPr bwMode="auto">
              <a:xfrm>
                <a:off x="1870" y="4055"/>
                <a:ext cx="1158" cy="45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eaLnBrk="1" hangingPunct="1"/>
                <a:r>
                  <a:rPr lang="en-US" altLang="zh-CN" sz="2000" b="1">
                    <a:latin typeface="Times New Roman"/>
                  </a:rPr>
                  <a:t>“</a:t>
                </a:r>
                <a:r>
                  <a:rPr lang="en-US" altLang="zh-CN" sz="2000" b="1">
                    <a:latin typeface="宋体" charset="-122"/>
                  </a:rPr>
                  <a:t>0</a:t>
                </a:r>
                <a:r>
                  <a:rPr lang="en-US" altLang="zh-CN" sz="2000" b="1">
                    <a:latin typeface="Times New Roman"/>
                  </a:rPr>
                  <a:t>”</a:t>
                </a:r>
                <a:r>
                  <a:rPr lang="zh-CN" altLang="en-US" sz="2000" b="1">
                    <a:latin typeface="宋体" charset="-122"/>
                  </a:rPr>
                  <a:t>表示</a:t>
                </a:r>
                <a:r>
                  <a:rPr lang="zh-CN" altLang="en-US" sz="2000" b="1">
                    <a:latin typeface="Times New Roman"/>
                  </a:rPr>
                  <a:t>“</a:t>
                </a:r>
                <a:r>
                  <a:rPr lang="en-US" altLang="zh-CN" sz="2000" b="1">
                    <a:latin typeface="宋体" charset="-122"/>
                  </a:rPr>
                  <a:t>+</a:t>
                </a:r>
                <a:r>
                  <a:rPr lang="en-US" altLang="zh-CN" sz="2000" b="1">
                    <a:latin typeface="Times New Roman"/>
                  </a:rPr>
                  <a:t>”</a:t>
                </a:r>
                <a:endParaRPr lang="en-US" altLang="zh-CN" sz="2000" b="1">
                  <a:latin typeface="宋体" charset="-122"/>
                </a:endParaRPr>
              </a:p>
              <a:p>
                <a:pPr eaLnBrk="1" hangingPunct="1"/>
                <a:r>
                  <a:rPr lang="en-US" altLang="zh-CN" sz="2000" b="1">
                    <a:latin typeface="Times New Roman"/>
                  </a:rPr>
                  <a:t>“</a:t>
                </a:r>
                <a:r>
                  <a:rPr lang="en-US" altLang="zh-CN" sz="2000" b="1">
                    <a:latin typeface="宋体" charset="-122"/>
                  </a:rPr>
                  <a:t>1</a:t>
                </a:r>
                <a:r>
                  <a:rPr lang="en-US" altLang="zh-CN" sz="2000" b="1">
                    <a:latin typeface="Times New Roman"/>
                  </a:rPr>
                  <a:t>”</a:t>
                </a:r>
                <a:r>
                  <a:rPr lang="zh-CN" altLang="en-US" sz="2000" b="1">
                    <a:latin typeface="宋体" charset="-122"/>
                  </a:rPr>
                  <a:t>表示</a:t>
                </a:r>
                <a:r>
                  <a:rPr lang="zh-CN" altLang="en-US" sz="2000" b="1">
                    <a:latin typeface="Times New Roman"/>
                  </a:rPr>
                  <a:t>“</a:t>
                </a:r>
                <a:r>
                  <a:rPr lang="en-US" altLang="zh-CN" sz="2000" b="1">
                    <a:latin typeface="宋体" charset="-122"/>
                  </a:rPr>
                  <a:t>-</a:t>
                </a:r>
                <a:r>
                  <a:rPr lang="en-US" altLang="zh-CN" sz="2000" b="1">
                    <a:latin typeface="Times New Roman"/>
                  </a:rPr>
                  <a:t>”</a:t>
                </a:r>
                <a:endParaRPr lang="en-US" altLang="zh-CN" sz="2000" b="1">
                  <a:latin typeface="宋体" charset="-122"/>
                </a:endParaRPr>
              </a:p>
            </p:txBody>
          </p:sp>
        </p:grpSp>
      </p:grpSp>
      <p:grpSp>
        <p:nvGrpSpPr>
          <p:cNvPr id="668699" name="Group 27"/>
          <p:cNvGrpSpPr>
            <a:grpSpLocks/>
          </p:cNvGrpSpPr>
          <p:nvPr/>
        </p:nvGrpSpPr>
        <p:grpSpPr bwMode="auto">
          <a:xfrm>
            <a:off x="3917953" y="2265364"/>
            <a:ext cx="4151313" cy="769938"/>
            <a:chOff x="1508" y="1427"/>
            <a:chExt cx="2615" cy="485"/>
          </a:xfrm>
        </p:grpSpPr>
        <p:sp>
          <p:nvSpPr>
            <p:cNvPr id="668695" name="Text Box 23"/>
            <p:cNvSpPr txBox="1">
              <a:spLocks noChangeArrowheads="1"/>
            </p:cNvSpPr>
            <p:nvPr/>
          </p:nvSpPr>
          <p:spPr bwMode="auto">
            <a:xfrm>
              <a:off x="1508" y="1525"/>
              <a:ext cx="110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1" hangingPunct="1"/>
              <a:r>
                <a:rPr lang="zh-CN" altLang="en-US" sz="2800" b="1">
                  <a:solidFill>
                    <a:schemeClr val="accent2"/>
                  </a:solidFill>
                </a:rPr>
                <a:t>符号位</a:t>
              </a:r>
              <a:endParaRPr lang="zh-CN" altLang="en-US" sz="2800" b="1"/>
            </a:p>
          </p:txBody>
        </p:sp>
        <p:sp>
          <p:nvSpPr>
            <p:cNvPr id="668696" name="Text Box 24"/>
            <p:cNvSpPr txBox="1">
              <a:spLocks noChangeArrowheads="1"/>
            </p:cNvSpPr>
            <p:nvPr/>
          </p:nvSpPr>
          <p:spPr bwMode="auto">
            <a:xfrm>
              <a:off x="2420" y="1427"/>
              <a:ext cx="324" cy="4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4400"/>
                <a:t>+</a:t>
              </a:r>
            </a:p>
          </p:txBody>
        </p:sp>
        <p:sp>
          <p:nvSpPr>
            <p:cNvPr id="668697" name="Text Box 25"/>
            <p:cNvSpPr txBox="1">
              <a:spLocks noChangeArrowheads="1"/>
            </p:cNvSpPr>
            <p:nvPr/>
          </p:nvSpPr>
          <p:spPr bwMode="auto">
            <a:xfrm>
              <a:off x="3107" y="1525"/>
              <a:ext cx="101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zh-CN" altLang="en-US" sz="2800" b="1"/>
                <a:t>尾数部分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20219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668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686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686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68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686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686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6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686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686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338" name="Text Box 2"/>
          <p:cNvSpPr txBox="1">
            <a:spLocks noChangeArrowheads="1"/>
          </p:cNvSpPr>
          <p:nvPr/>
        </p:nvSpPr>
        <p:spPr bwMode="auto">
          <a:xfrm>
            <a:off x="2057400" y="1447800"/>
            <a:ext cx="81534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endParaRPr lang="zh-CN" altLang="zh-CN" sz="3600" b="1"/>
          </a:p>
        </p:txBody>
      </p:sp>
      <p:sp>
        <p:nvSpPr>
          <p:cNvPr id="654341" name="Text Box 5"/>
          <p:cNvSpPr txBox="1">
            <a:spLocks noChangeArrowheads="1"/>
          </p:cNvSpPr>
          <p:nvPr/>
        </p:nvSpPr>
        <p:spPr bwMode="auto">
          <a:xfrm>
            <a:off x="1847528" y="1196755"/>
            <a:ext cx="7992888" cy="53723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 eaLnBrk="1" hangingPunct="1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FF0000"/>
                </a:solidFill>
              </a:rPr>
              <a:t>原码</a:t>
            </a:r>
            <a:r>
              <a:rPr lang="zh-CN" altLang="en-US" sz="2800" b="1" dirty="0"/>
              <a:t>：用最高位表示数值的符号，其他各位表示该数的绝对值</a:t>
            </a:r>
          </a:p>
          <a:p>
            <a:pPr algn="l" eaLnBrk="1" hangingPunct="1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FF0000"/>
                </a:solidFill>
              </a:rPr>
              <a:t>反码</a:t>
            </a:r>
            <a:r>
              <a:rPr lang="zh-CN" altLang="en-US" sz="2800" b="1" dirty="0"/>
              <a:t>：正数反码与原码相同；负数为原码除符号位外各位“按位求反”</a:t>
            </a:r>
          </a:p>
          <a:p>
            <a:pPr algn="l" eaLnBrk="1" hangingPunct="1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FF0000"/>
                </a:solidFill>
              </a:rPr>
              <a:t>补码</a:t>
            </a:r>
            <a:r>
              <a:rPr lang="zh-CN" altLang="en-US" sz="2800" b="1" dirty="0"/>
              <a:t>：正数补码与原码相同；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反码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+1</a:t>
            </a:r>
            <a:r>
              <a:rPr lang="zh-CN" altLang="en-US" sz="2800" b="1" dirty="0"/>
              <a:t>。</a:t>
            </a:r>
            <a:endParaRPr lang="en-US" altLang="zh-CN" sz="2800" b="1" dirty="0"/>
          </a:p>
          <a:p>
            <a:pPr algn="l" eaLnBrk="1" hangingPunct="1">
              <a:lnSpc>
                <a:spcPct val="150000"/>
              </a:lnSpc>
              <a:buFont typeface="Wingdings" pitchFamily="2" charset="2"/>
              <a:buChar char="Ø"/>
            </a:pPr>
            <a:endParaRPr lang="en-US" altLang="zh-CN" sz="2800" b="1" dirty="0"/>
          </a:p>
          <a:p>
            <a:pPr algn="l" eaLnBrk="1" hangingPunct="1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800" b="1" dirty="0"/>
              <a:t>负数补码另一个计算方法：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其绝对值按位取反后加</a:t>
            </a:r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endParaRPr lang="en-US" altLang="zh-CN" sz="28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54342" name="Rectangle 6"/>
          <p:cNvSpPr>
            <a:spLocks noGrp="1" noChangeArrowheads="1"/>
          </p:cNvSpPr>
          <p:nvPr>
            <p:ph type="title"/>
          </p:nvPr>
        </p:nvSpPr>
        <p:spPr>
          <a:xfrm>
            <a:off x="1703515" y="116632"/>
            <a:ext cx="3912801" cy="762000"/>
          </a:xfrm>
          <a:gradFill rotWithShape="0">
            <a:gsLst>
              <a:gs pos="0">
                <a:srgbClr val="FFFFFF">
                  <a:gamma/>
                  <a:shade val="46275"/>
                  <a:invGamma/>
                </a:srgbClr>
              </a:gs>
              <a:gs pos="50000">
                <a:srgbClr val="FFFFFF"/>
              </a:gs>
              <a:gs pos="100000">
                <a:srgbClr val="FFFFFF">
                  <a:gamma/>
                  <a:shade val="46275"/>
                  <a:invGamma/>
                </a:srgbClr>
              </a:gs>
            </a:gsLst>
            <a:lin ang="5400000" scaled="1"/>
          </a:gradFill>
          <a:ln/>
          <a:scene3d>
            <a:camera prst="legacyPerspectiveBottom"/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FFFFFF"/>
            </a:extrusionClr>
          </a:sp3d>
          <a:extLst>
            <a:ext uri="{91240B29-F687-4F45-9708-019B960494DF}">
              <a14:hiddenLine xmlns:a14="http://schemas.microsoft.com/office/drawing/2010/main">
                <a:noFill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normAutofit fontScale="90000"/>
            <a:flatTx/>
          </a:bodyPr>
          <a:lstStyle/>
          <a:p>
            <a:r>
              <a:rPr lang="zh-CN" altLang="en-US" b="1">
                <a:solidFill>
                  <a:schemeClr val="tx1"/>
                </a:solidFill>
              </a:rPr>
              <a:t>数值数据的表示</a:t>
            </a:r>
          </a:p>
        </p:txBody>
      </p:sp>
    </p:spTree>
    <p:extLst>
      <p:ext uri="{BB962C8B-B14F-4D97-AF65-F5344CB8AC3E}">
        <p14:creationId xmlns:p14="http://schemas.microsoft.com/office/powerpoint/2010/main" val="1103454053"/>
      </p:ext>
    </p:extLst>
  </p:cSld>
  <p:clrMapOvr>
    <a:masterClrMapping/>
  </p:clrMapOvr>
  <p:transition spd="slow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654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12" dur="2000"/>
                                        <p:tgtEl>
                                          <p:spTgt spid="654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4341" grpId="0"/>
      <p:bldP spid="654342" grpId="0" animBg="1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410" name="Rectangle 2"/>
          <p:cNvSpPr>
            <a:spLocks noChangeArrowheads="1"/>
          </p:cNvSpPr>
          <p:nvPr/>
        </p:nvSpPr>
        <p:spPr bwMode="auto">
          <a:xfrm>
            <a:off x="1744666" y="5102228"/>
            <a:ext cx="1190625" cy="442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0" tIns="44446" rIns="90480" bIns="44446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200" b="1"/>
              <a:t>(3)</a:t>
            </a:r>
            <a:r>
              <a:rPr lang="zh-CN" altLang="en-US" sz="2200" b="1"/>
              <a:t>补码</a:t>
            </a:r>
          </a:p>
        </p:txBody>
      </p:sp>
      <p:grpSp>
        <p:nvGrpSpPr>
          <p:cNvPr id="657411" name="Group 3"/>
          <p:cNvGrpSpPr>
            <a:grpSpLocks/>
          </p:cNvGrpSpPr>
          <p:nvPr/>
        </p:nvGrpSpPr>
        <p:grpSpPr bwMode="auto">
          <a:xfrm>
            <a:off x="2108203" y="1974853"/>
            <a:ext cx="7974685" cy="1236663"/>
            <a:chOff x="537" y="1824"/>
            <a:chExt cx="7326" cy="1082"/>
          </a:xfrm>
        </p:grpSpPr>
        <p:sp>
          <p:nvSpPr>
            <p:cNvPr id="657412" name="Line 4"/>
            <p:cNvSpPr>
              <a:spLocks noChangeShapeType="1"/>
            </p:cNvSpPr>
            <p:nvPr/>
          </p:nvSpPr>
          <p:spPr bwMode="auto">
            <a:xfrm>
              <a:off x="1421" y="2051"/>
              <a:ext cx="47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7413" name="Line 5"/>
            <p:cNvSpPr>
              <a:spLocks noChangeShapeType="1"/>
            </p:cNvSpPr>
            <p:nvPr/>
          </p:nvSpPr>
          <p:spPr bwMode="auto">
            <a:xfrm>
              <a:off x="1416" y="2056"/>
              <a:ext cx="0" cy="65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7414" name="Line 6"/>
            <p:cNvSpPr>
              <a:spLocks noChangeShapeType="1"/>
            </p:cNvSpPr>
            <p:nvPr/>
          </p:nvSpPr>
          <p:spPr bwMode="auto">
            <a:xfrm>
              <a:off x="1421" y="2718"/>
              <a:ext cx="47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7415" name="Rectangle 7"/>
            <p:cNvSpPr>
              <a:spLocks noChangeArrowheads="1"/>
            </p:cNvSpPr>
            <p:nvPr/>
          </p:nvSpPr>
          <p:spPr bwMode="auto">
            <a:xfrm>
              <a:off x="1837" y="1853"/>
              <a:ext cx="1607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0" tIns="44446" rIns="90480" bIns="44446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100" b="1" dirty="0">
                  <a:solidFill>
                    <a:srgbClr val="FF0000"/>
                  </a:solidFill>
                </a:rPr>
                <a:t>0</a:t>
              </a:r>
              <a:r>
                <a:rPr lang="en-US" altLang="zh-CN" sz="2100" b="1" dirty="0"/>
                <a:t>X</a:t>
              </a:r>
            </a:p>
          </p:txBody>
        </p:sp>
        <p:sp>
          <p:nvSpPr>
            <p:cNvPr id="657416" name="Rectangle 8"/>
            <p:cNvSpPr>
              <a:spLocks noChangeArrowheads="1"/>
            </p:cNvSpPr>
            <p:nvPr/>
          </p:nvSpPr>
          <p:spPr bwMode="auto">
            <a:xfrm>
              <a:off x="1837" y="2519"/>
              <a:ext cx="1749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0" tIns="44446" rIns="90480" bIns="44446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100" b="1" dirty="0">
                  <a:solidFill>
                    <a:srgbClr val="FF0000"/>
                  </a:solidFill>
                </a:rPr>
                <a:t>1</a:t>
              </a:r>
              <a:r>
                <a:rPr lang="en-US" altLang="zh-CN" sz="2100" b="1" dirty="0"/>
                <a:t>|X|</a:t>
              </a:r>
            </a:p>
          </p:txBody>
        </p:sp>
        <p:sp>
          <p:nvSpPr>
            <p:cNvPr id="657417" name="Rectangle 9"/>
            <p:cNvSpPr>
              <a:spLocks noChangeArrowheads="1"/>
            </p:cNvSpPr>
            <p:nvPr/>
          </p:nvSpPr>
          <p:spPr bwMode="auto">
            <a:xfrm>
              <a:off x="2471" y="1853"/>
              <a:ext cx="4057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0" tIns="44446" rIns="90480" bIns="44446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100" b="1"/>
                <a:t>0&lt;=X</a:t>
              </a:r>
            </a:p>
          </p:txBody>
        </p:sp>
        <p:sp>
          <p:nvSpPr>
            <p:cNvPr id="657418" name="Rectangle 10"/>
            <p:cNvSpPr>
              <a:spLocks noChangeArrowheads="1"/>
            </p:cNvSpPr>
            <p:nvPr/>
          </p:nvSpPr>
          <p:spPr bwMode="auto">
            <a:xfrm>
              <a:off x="2471" y="2538"/>
              <a:ext cx="1115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0" tIns="44446" rIns="90480" bIns="44446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100" b="1"/>
                <a:t>X&lt;=0</a:t>
              </a:r>
            </a:p>
          </p:txBody>
        </p:sp>
        <p:sp>
          <p:nvSpPr>
            <p:cNvPr id="657419" name="Rectangle 11"/>
            <p:cNvSpPr>
              <a:spLocks noChangeArrowheads="1"/>
            </p:cNvSpPr>
            <p:nvPr/>
          </p:nvSpPr>
          <p:spPr bwMode="auto">
            <a:xfrm>
              <a:off x="3643" y="1824"/>
              <a:ext cx="4220" cy="3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0" tIns="44446" rIns="90480" bIns="44446">
              <a:spAutoFit/>
            </a:bodyPr>
            <a:lstStyle/>
            <a:p>
              <a:pPr algn="l"/>
              <a:r>
                <a:rPr lang="en-US" altLang="zh-CN" sz="2100" b="1"/>
                <a:t>+7</a:t>
              </a:r>
              <a:r>
                <a:rPr lang="zh-CN" altLang="en-US" sz="2100" b="1"/>
                <a:t>： </a:t>
              </a:r>
              <a:r>
                <a:rPr lang="en-US" altLang="zh-CN" sz="2100" b="1"/>
                <a:t>00000111        +0</a:t>
              </a:r>
              <a:r>
                <a:rPr lang="zh-CN" altLang="en-US" sz="2100" b="1"/>
                <a:t>：</a:t>
              </a:r>
              <a:r>
                <a:rPr lang="en-US" altLang="zh-CN" sz="2100" b="1"/>
                <a:t>00000000   </a:t>
              </a:r>
            </a:p>
          </p:txBody>
        </p:sp>
        <p:sp>
          <p:nvSpPr>
            <p:cNvPr id="657420" name="Rectangle 12"/>
            <p:cNvSpPr>
              <a:spLocks noChangeArrowheads="1"/>
            </p:cNvSpPr>
            <p:nvPr/>
          </p:nvSpPr>
          <p:spPr bwMode="auto">
            <a:xfrm>
              <a:off x="3504" y="2538"/>
              <a:ext cx="4336" cy="3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0" tIns="44446" rIns="90480" bIns="44446">
              <a:spAutoFit/>
            </a:bodyPr>
            <a:lstStyle/>
            <a:p>
              <a:pPr algn="l"/>
              <a:r>
                <a:rPr lang="en-US" altLang="zh-CN" sz="2100" b="1" dirty="0"/>
                <a:t> </a:t>
              </a:r>
              <a:r>
                <a:rPr lang="en-US" altLang="zh-CN" sz="2100" b="1" dirty="0">
                  <a:latin typeface="华文中宋" pitchFamily="2" charset="-122"/>
                  <a:ea typeface="华文中宋" pitchFamily="2" charset="-122"/>
                </a:rPr>
                <a:t>-</a:t>
              </a:r>
              <a:r>
                <a:rPr lang="en-US" altLang="zh-CN" sz="2100" b="1" dirty="0"/>
                <a:t> 7</a:t>
              </a:r>
              <a:r>
                <a:rPr lang="zh-CN" altLang="en-US" sz="2100" b="1" dirty="0"/>
                <a:t>： </a:t>
              </a:r>
              <a:r>
                <a:rPr lang="en-US" altLang="zh-CN" sz="2100" b="1" dirty="0"/>
                <a:t>10000111        </a:t>
              </a:r>
              <a:r>
                <a:rPr lang="en-US" altLang="zh-CN" sz="2100" b="1" dirty="0">
                  <a:latin typeface="华文中宋" pitchFamily="2" charset="-122"/>
                  <a:ea typeface="华文中宋" pitchFamily="2" charset="-122"/>
                </a:rPr>
                <a:t>-</a:t>
              </a:r>
              <a:r>
                <a:rPr lang="en-US" altLang="zh-CN" sz="2100" b="1" dirty="0"/>
                <a:t> 0</a:t>
              </a:r>
              <a:r>
                <a:rPr lang="zh-CN" altLang="en-US" sz="2100" b="1" dirty="0"/>
                <a:t>：</a:t>
              </a:r>
              <a:r>
                <a:rPr lang="en-US" altLang="zh-CN" sz="2100" b="1" dirty="0"/>
                <a:t>10000000   </a:t>
              </a:r>
            </a:p>
          </p:txBody>
        </p:sp>
        <p:sp>
          <p:nvSpPr>
            <p:cNvPr id="657421" name="Rectangle 13"/>
            <p:cNvSpPr>
              <a:spLocks noChangeArrowheads="1"/>
            </p:cNvSpPr>
            <p:nvPr/>
          </p:nvSpPr>
          <p:spPr bwMode="auto">
            <a:xfrm>
              <a:off x="537" y="2176"/>
              <a:ext cx="869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0" tIns="44446" rIns="90480" bIns="44446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100" b="1"/>
                <a:t>[X]</a:t>
              </a:r>
              <a:r>
                <a:rPr lang="zh-CN" altLang="en-US" sz="2100" b="1" baseline="-25000"/>
                <a:t>原</a:t>
              </a:r>
              <a:r>
                <a:rPr lang="en-US" altLang="zh-CN" sz="2100" b="1"/>
                <a:t>=</a:t>
              </a:r>
            </a:p>
          </p:txBody>
        </p:sp>
      </p:grpSp>
      <p:grpSp>
        <p:nvGrpSpPr>
          <p:cNvPr id="657422" name="Group 14"/>
          <p:cNvGrpSpPr>
            <a:grpSpLocks/>
          </p:cNvGrpSpPr>
          <p:nvPr/>
        </p:nvGrpSpPr>
        <p:grpSpPr bwMode="auto">
          <a:xfrm>
            <a:off x="1820863" y="3402013"/>
            <a:ext cx="8385090" cy="3059112"/>
            <a:chOff x="273" y="2976"/>
            <a:chExt cx="7702" cy="2677"/>
          </a:xfrm>
        </p:grpSpPr>
        <p:sp>
          <p:nvSpPr>
            <p:cNvPr id="657423" name="Rectangle 15"/>
            <p:cNvSpPr>
              <a:spLocks noChangeArrowheads="1"/>
            </p:cNvSpPr>
            <p:nvPr/>
          </p:nvSpPr>
          <p:spPr bwMode="auto">
            <a:xfrm>
              <a:off x="3618" y="4634"/>
              <a:ext cx="4288" cy="3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0" tIns="44446" rIns="90480" bIns="44446">
              <a:spAutoFit/>
            </a:bodyPr>
            <a:lstStyle/>
            <a:p>
              <a:pPr algn="l"/>
              <a:r>
                <a:rPr lang="en-US" altLang="zh-CN" sz="2100" b="1"/>
                <a:t>+7</a:t>
              </a:r>
              <a:r>
                <a:rPr lang="zh-CN" altLang="en-US" sz="2100" b="1"/>
                <a:t>： </a:t>
              </a:r>
              <a:r>
                <a:rPr lang="en-US" altLang="zh-CN" sz="2100" b="1"/>
                <a:t>00000111         +0</a:t>
              </a:r>
              <a:r>
                <a:rPr lang="zh-CN" altLang="en-US" sz="2100" b="1"/>
                <a:t>：</a:t>
              </a:r>
              <a:r>
                <a:rPr lang="en-US" altLang="zh-CN" sz="2100" b="1"/>
                <a:t>00000000   </a:t>
              </a:r>
            </a:p>
          </p:txBody>
        </p:sp>
        <p:grpSp>
          <p:nvGrpSpPr>
            <p:cNvPr id="657424" name="Group 16"/>
            <p:cNvGrpSpPr>
              <a:grpSpLocks/>
            </p:cNvGrpSpPr>
            <p:nvPr/>
          </p:nvGrpSpPr>
          <p:grpSpPr bwMode="auto">
            <a:xfrm>
              <a:off x="273" y="2976"/>
              <a:ext cx="7702" cy="2677"/>
              <a:chOff x="273" y="2976"/>
              <a:chExt cx="7702" cy="2677"/>
            </a:xfrm>
          </p:grpSpPr>
          <p:sp>
            <p:nvSpPr>
              <p:cNvPr id="657425" name="Line 17"/>
              <p:cNvSpPr>
                <a:spLocks noChangeShapeType="1"/>
              </p:cNvSpPr>
              <p:nvPr/>
            </p:nvSpPr>
            <p:spPr bwMode="auto">
              <a:xfrm>
                <a:off x="1395" y="3356"/>
                <a:ext cx="48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57426" name="Line 18"/>
              <p:cNvSpPr>
                <a:spLocks noChangeShapeType="1"/>
              </p:cNvSpPr>
              <p:nvPr/>
            </p:nvSpPr>
            <p:spPr bwMode="auto">
              <a:xfrm>
                <a:off x="1393" y="3361"/>
                <a:ext cx="0" cy="65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57427" name="Line 19"/>
              <p:cNvSpPr>
                <a:spLocks noChangeShapeType="1"/>
              </p:cNvSpPr>
              <p:nvPr/>
            </p:nvSpPr>
            <p:spPr bwMode="auto">
              <a:xfrm>
                <a:off x="1395" y="4023"/>
                <a:ext cx="48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57428" name="Rectangle 20"/>
              <p:cNvSpPr>
                <a:spLocks noChangeArrowheads="1"/>
              </p:cNvSpPr>
              <p:nvPr/>
            </p:nvSpPr>
            <p:spPr bwMode="auto">
              <a:xfrm>
                <a:off x="1813" y="3158"/>
                <a:ext cx="1607" cy="36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480" tIns="44446" rIns="90480" bIns="44446"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2100" b="1" dirty="0">
                    <a:solidFill>
                      <a:srgbClr val="FF0000"/>
                    </a:solidFill>
                  </a:rPr>
                  <a:t>0</a:t>
                </a:r>
                <a:r>
                  <a:rPr lang="en-US" altLang="zh-CN" sz="2100" b="1" dirty="0"/>
                  <a:t>X</a:t>
                </a:r>
              </a:p>
            </p:txBody>
          </p:sp>
          <p:sp>
            <p:nvSpPr>
              <p:cNvPr id="657429" name="Rectangle 21"/>
              <p:cNvSpPr>
                <a:spLocks noChangeArrowheads="1"/>
              </p:cNvSpPr>
              <p:nvPr/>
            </p:nvSpPr>
            <p:spPr bwMode="auto">
              <a:xfrm>
                <a:off x="1813" y="3824"/>
                <a:ext cx="1745" cy="36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480" tIns="44446" rIns="90480" bIns="44446"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2100" b="1" dirty="0">
                    <a:solidFill>
                      <a:srgbClr val="FF0000"/>
                    </a:solidFill>
                  </a:rPr>
                  <a:t>1</a:t>
                </a:r>
                <a:r>
                  <a:rPr lang="en-US" altLang="zh-CN" sz="2100" b="1" dirty="0"/>
                  <a:t>|X|</a:t>
                </a:r>
              </a:p>
            </p:txBody>
          </p:sp>
          <p:sp>
            <p:nvSpPr>
              <p:cNvPr id="657430" name="Rectangle 22"/>
              <p:cNvSpPr>
                <a:spLocks noChangeArrowheads="1"/>
              </p:cNvSpPr>
              <p:nvPr/>
            </p:nvSpPr>
            <p:spPr bwMode="auto">
              <a:xfrm>
                <a:off x="2513" y="3158"/>
                <a:ext cx="1045" cy="36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480" tIns="44446" rIns="90480" bIns="44446"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2100" b="1"/>
                  <a:t>0&lt;=X</a:t>
                </a:r>
              </a:p>
            </p:txBody>
          </p:sp>
          <p:sp>
            <p:nvSpPr>
              <p:cNvPr id="657431" name="Rectangle 23"/>
              <p:cNvSpPr>
                <a:spLocks noChangeArrowheads="1"/>
              </p:cNvSpPr>
              <p:nvPr/>
            </p:nvSpPr>
            <p:spPr bwMode="auto">
              <a:xfrm>
                <a:off x="2513" y="3758"/>
                <a:ext cx="1119" cy="36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480" tIns="44446" rIns="90480" bIns="44446"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2100" b="1"/>
                  <a:t>X&lt;=0</a:t>
                </a:r>
              </a:p>
            </p:txBody>
          </p:sp>
          <p:sp>
            <p:nvSpPr>
              <p:cNvPr id="657432" name="Line 24"/>
              <p:cNvSpPr>
                <a:spLocks noChangeShapeType="1"/>
              </p:cNvSpPr>
              <p:nvPr/>
            </p:nvSpPr>
            <p:spPr bwMode="auto">
              <a:xfrm>
                <a:off x="1395" y="4816"/>
                <a:ext cx="48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57433" name="Line 25"/>
              <p:cNvSpPr>
                <a:spLocks noChangeShapeType="1"/>
              </p:cNvSpPr>
              <p:nvPr/>
            </p:nvSpPr>
            <p:spPr bwMode="auto">
              <a:xfrm>
                <a:off x="1393" y="4823"/>
                <a:ext cx="0" cy="65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57434" name="Line 26"/>
              <p:cNvSpPr>
                <a:spLocks noChangeShapeType="1"/>
              </p:cNvSpPr>
              <p:nvPr/>
            </p:nvSpPr>
            <p:spPr bwMode="auto">
              <a:xfrm>
                <a:off x="1395" y="5484"/>
                <a:ext cx="48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57435" name="Rectangle 27"/>
              <p:cNvSpPr>
                <a:spLocks noChangeArrowheads="1"/>
              </p:cNvSpPr>
              <p:nvPr/>
            </p:nvSpPr>
            <p:spPr bwMode="auto">
              <a:xfrm>
                <a:off x="1813" y="4619"/>
                <a:ext cx="1607" cy="36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480" tIns="44446" rIns="90480" bIns="44446"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2100" b="1" dirty="0">
                    <a:solidFill>
                      <a:srgbClr val="FF0000"/>
                    </a:solidFill>
                  </a:rPr>
                  <a:t>0</a:t>
                </a:r>
                <a:r>
                  <a:rPr lang="en-US" altLang="zh-CN" sz="2100" b="1" dirty="0"/>
                  <a:t>X</a:t>
                </a:r>
              </a:p>
            </p:txBody>
          </p:sp>
          <p:sp>
            <p:nvSpPr>
              <p:cNvPr id="657436" name="Rectangle 28"/>
              <p:cNvSpPr>
                <a:spLocks noChangeArrowheads="1"/>
              </p:cNvSpPr>
              <p:nvPr/>
            </p:nvSpPr>
            <p:spPr bwMode="auto">
              <a:xfrm>
                <a:off x="1813" y="5285"/>
                <a:ext cx="1745" cy="36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480" tIns="44446" rIns="90480" bIns="44446"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2100" b="1" dirty="0">
                    <a:solidFill>
                      <a:srgbClr val="FF0000"/>
                    </a:solidFill>
                  </a:rPr>
                  <a:t>1</a:t>
                </a:r>
                <a:r>
                  <a:rPr lang="en-US" altLang="zh-CN" sz="2100" b="1" dirty="0"/>
                  <a:t>|X|+1</a:t>
                </a:r>
              </a:p>
            </p:txBody>
          </p:sp>
          <p:sp>
            <p:nvSpPr>
              <p:cNvPr id="657437" name="Rectangle 29"/>
              <p:cNvSpPr>
                <a:spLocks noChangeArrowheads="1"/>
              </p:cNvSpPr>
              <p:nvPr/>
            </p:nvSpPr>
            <p:spPr bwMode="auto">
              <a:xfrm>
                <a:off x="2513" y="4619"/>
                <a:ext cx="1045" cy="36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480" tIns="44446" rIns="90480" bIns="44446"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2100" b="1"/>
                  <a:t>0&lt;=X</a:t>
                </a:r>
              </a:p>
            </p:txBody>
          </p:sp>
          <p:sp>
            <p:nvSpPr>
              <p:cNvPr id="657438" name="Rectangle 30"/>
              <p:cNvSpPr>
                <a:spLocks noChangeArrowheads="1"/>
              </p:cNvSpPr>
              <p:nvPr/>
            </p:nvSpPr>
            <p:spPr bwMode="auto">
              <a:xfrm>
                <a:off x="2585" y="5285"/>
                <a:ext cx="1116" cy="36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480" tIns="44446" rIns="90480" bIns="44446"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2100" b="1"/>
                  <a:t>X&lt;=0</a:t>
                </a:r>
              </a:p>
            </p:txBody>
          </p:sp>
          <p:sp>
            <p:nvSpPr>
              <p:cNvPr id="657439" name="Rectangle 31"/>
              <p:cNvSpPr>
                <a:spLocks noChangeArrowheads="1"/>
              </p:cNvSpPr>
              <p:nvPr/>
            </p:nvSpPr>
            <p:spPr bwMode="auto">
              <a:xfrm>
                <a:off x="3548" y="3210"/>
                <a:ext cx="4427" cy="36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0" tIns="44446" rIns="90480" bIns="44446">
                <a:spAutoFit/>
              </a:bodyPr>
              <a:lstStyle/>
              <a:p>
                <a:pPr algn="l"/>
                <a:r>
                  <a:rPr lang="en-US" altLang="zh-CN" sz="2100" b="1"/>
                  <a:t> +7</a:t>
                </a:r>
                <a:r>
                  <a:rPr lang="zh-CN" altLang="en-US" sz="2100" b="1"/>
                  <a:t>： </a:t>
                </a:r>
                <a:r>
                  <a:rPr lang="en-US" altLang="zh-CN" sz="2100" b="1"/>
                  <a:t>00000111          +0</a:t>
                </a:r>
                <a:r>
                  <a:rPr lang="zh-CN" altLang="en-US" sz="2100" b="1"/>
                  <a:t>：</a:t>
                </a:r>
                <a:r>
                  <a:rPr lang="en-US" altLang="zh-CN" sz="2100" b="1"/>
                  <a:t>00000000   </a:t>
                </a:r>
              </a:p>
            </p:txBody>
          </p:sp>
          <p:sp>
            <p:nvSpPr>
              <p:cNvPr id="657440" name="Rectangle 32"/>
              <p:cNvSpPr>
                <a:spLocks noChangeArrowheads="1"/>
              </p:cNvSpPr>
              <p:nvPr/>
            </p:nvSpPr>
            <p:spPr bwMode="auto">
              <a:xfrm>
                <a:off x="3478" y="3876"/>
                <a:ext cx="4441" cy="36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0" tIns="44446" rIns="90480" bIns="44446">
                <a:spAutoFit/>
              </a:bodyPr>
              <a:lstStyle/>
              <a:p>
                <a:pPr algn="l"/>
                <a:r>
                  <a:rPr lang="en-US" altLang="zh-CN" sz="2100" b="1" dirty="0">
                    <a:latin typeface="华文中宋" pitchFamily="2" charset="-122"/>
                    <a:ea typeface="华文中宋" pitchFamily="2" charset="-122"/>
                  </a:rPr>
                  <a:t>  -</a:t>
                </a:r>
                <a:r>
                  <a:rPr lang="en-US" altLang="zh-CN" sz="2100" b="1" dirty="0"/>
                  <a:t>7</a:t>
                </a:r>
                <a:r>
                  <a:rPr lang="zh-CN" altLang="en-US" sz="2100" b="1" dirty="0"/>
                  <a:t>： </a:t>
                </a:r>
                <a:r>
                  <a:rPr lang="en-US" altLang="zh-CN" sz="2100" b="1" dirty="0"/>
                  <a:t>11111000           </a:t>
                </a:r>
                <a:r>
                  <a:rPr lang="en-US" altLang="zh-CN" sz="2100" b="1" dirty="0">
                    <a:latin typeface="华文中宋" pitchFamily="2" charset="-122"/>
                    <a:ea typeface="华文中宋" pitchFamily="2" charset="-122"/>
                  </a:rPr>
                  <a:t>-</a:t>
                </a:r>
                <a:r>
                  <a:rPr lang="en-US" altLang="zh-CN" sz="2100" b="1" dirty="0"/>
                  <a:t> 0</a:t>
                </a:r>
                <a:r>
                  <a:rPr lang="zh-CN" altLang="en-US" sz="2100" b="1" dirty="0"/>
                  <a:t>：</a:t>
                </a:r>
                <a:r>
                  <a:rPr lang="en-US" altLang="zh-CN" sz="2100" b="1" dirty="0"/>
                  <a:t>11111111   </a:t>
                </a:r>
              </a:p>
            </p:txBody>
          </p:sp>
          <p:sp>
            <p:nvSpPr>
              <p:cNvPr id="657441" name="Rectangle 33"/>
              <p:cNvSpPr>
                <a:spLocks noChangeArrowheads="1"/>
              </p:cNvSpPr>
              <p:nvPr/>
            </p:nvSpPr>
            <p:spPr bwMode="auto">
              <a:xfrm>
                <a:off x="3548" y="5285"/>
                <a:ext cx="4239" cy="36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0" tIns="44446" rIns="90480" bIns="44446">
                <a:spAutoFit/>
              </a:bodyPr>
              <a:lstStyle/>
              <a:p>
                <a:pPr algn="l"/>
                <a:r>
                  <a:rPr lang="en-US" altLang="zh-CN" sz="2100" b="1" dirty="0">
                    <a:latin typeface="华文中宋" pitchFamily="2" charset="-122"/>
                    <a:ea typeface="华文中宋" pitchFamily="2" charset="-122"/>
                  </a:rPr>
                  <a:t>-</a:t>
                </a:r>
                <a:r>
                  <a:rPr lang="en-US" altLang="zh-CN" sz="2100" b="1"/>
                  <a:t> 7</a:t>
                </a:r>
                <a:r>
                  <a:rPr lang="zh-CN" altLang="en-US" sz="2100" b="1"/>
                  <a:t>：</a:t>
                </a:r>
                <a:r>
                  <a:rPr lang="en-US" altLang="zh-CN" sz="2100" b="1"/>
                  <a:t>11111001         </a:t>
                </a:r>
                <a:r>
                  <a:rPr lang="en-US" altLang="zh-CN" sz="2100" b="1" dirty="0">
                    <a:latin typeface="华文中宋" pitchFamily="2" charset="-122"/>
                    <a:ea typeface="华文中宋" pitchFamily="2" charset="-122"/>
                  </a:rPr>
                  <a:t>-</a:t>
                </a:r>
                <a:r>
                  <a:rPr lang="en-US" altLang="zh-CN" sz="2100" b="1"/>
                  <a:t> 0</a:t>
                </a:r>
                <a:r>
                  <a:rPr lang="zh-CN" altLang="en-US" sz="2100" b="1"/>
                  <a:t>：</a:t>
                </a:r>
                <a:r>
                  <a:rPr lang="en-US" altLang="zh-CN" sz="2100" b="1"/>
                  <a:t>00000000   </a:t>
                </a:r>
              </a:p>
            </p:txBody>
          </p:sp>
          <p:sp>
            <p:nvSpPr>
              <p:cNvPr id="657442" name="Rectangle 34"/>
              <p:cNvSpPr>
                <a:spLocks noChangeArrowheads="1"/>
              </p:cNvSpPr>
              <p:nvPr/>
            </p:nvSpPr>
            <p:spPr bwMode="auto">
              <a:xfrm>
                <a:off x="273" y="2976"/>
                <a:ext cx="1071" cy="3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480" tIns="44446" rIns="90480" bIns="44446"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2200" b="1"/>
                  <a:t>(2)</a:t>
                </a:r>
                <a:r>
                  <a:rPr lang="zh-CN" altLang="en-US" sz="2200" b="1"/>
                  <a:t>反码</a:t>
                </a:r>
              </a:p>
            </p:txBody>
          </p:sp>
          <p:sp>
            <p:nvSpPr>
              <p:cNvPr id="657443" name="Rectangle 35"/>
              <p:cNvSpPr>
                <a:spLocks noChangeArrowheads="1"/>
              </p:cNvSpPr>
              <p:nvPr/>
            </p:nvSpPr>
            <p:spPr bwMode="auto">
              <a:xfrm>
                <a:off x="506" y="3486"/>
                <a:ext cx="870" cy="36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480" tIns="44446" rIns="90480" bIns="44446"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2100" b="1"/>
                  <a:t>[X]</a:t>
                </a:r>
                <a:r>
                  <a:rPr lang="zh-CN" altLang="en-US" sz="2100" b="1" baseline="-25000"/>
                  <a:t>反</a:t>
                </a:r>
                <a:r>
                  <a:rPr lang="en-US" altLang="zh-CN" sz="2100" b="1"/>
                  <a:t>=</a:t>
                </a:r>
              </a:p>
            </p:txBody>
          </p:sp>
          <p:sp>
            <p:nvSpPr>
              <p:cNvPr id="657444" name="Rectangle 36"/>
              <p:cNvSpPr>
                <a:spLocks noChangeArrowheads="1"/>
              </p:cNvSpPr>
              <p:nvPr/>
            </p:nvSpPr>
            <p:spPr bwMode="auto">
              <a:xfrm>
                <a:off x="506" y="4933"/>
                <a:ext cx="870" cy="36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480" tIns="44446" rIns="90480" bIns="44446"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2100" b="1"/>
                  <a:t>[X]</a:t>
                </a:r>
                <a:r>
                  <a:rPr lang="zh-CN" altLang="en-US" sz="2100" b="1" baseline="-25000"/>
                  <a:t>反</a:t>
                </a:r>
                <a:r>
                  <a:rPr lang="en-US" altLang="zh-CN" sz="2100" b="1"/>
                  <a:t>=</a:t>
                </a:r>
              </a:p>
            </p:txBody>
          </p:sp>
          <p:sp>
            <p:nvSpPr>
              <p:cNvPr id="657445" name="Line 37"/>
              <p:cNvSpPr>
                <a:spLocks noChangeShapeType="1"/>
              </p:cNvSpPr>
              <p:nvPr/>
            </p:nvSpPr>
            <p:spPr bwMode="auto">
              <a:xfrm>
                <a:off x="2065" y="3819"/>
                <a:ext cx="217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/>
              </a:p>
            </p:txBody>
          </p:sp>
          <p:sp>
            <p:nvSpPr>
              <p:cNvPr id="657446" name="Line 38"/>
              <p:cNvSpPr>
                <a:spLocks noChangeShapeType="1"/>
              </p:cNvSpPr>
              <p:nvPr/>
            </p:nvSpPr>
            <p:spPr bwMode="auto">
              <a:xfrm>
                <a:off x="2043" y="5339"/>
                <a:ext cx="217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657448" name="Rectangle 40"/>
          <p:cNvSpPr>
            <a:spLocks noChangeArrowheads="1"/>
          </p:cNvSpPr>
          <p:nvPr/>
        </p:nvSpPr>
        <p:spPr bwMode="auto">
          <a:xfrm>
            <a:off x="1744666" y="211755"/>
            <a:ext cx="7879726" cy="1418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64008" tIns="32004" rIns="64008" bIns="32004">
            <a:spAutoFit/>
          </a:bodyPr>
          <a:lstStyle/>
          <a:p>
            <a:pPr defTabSz="639763">
              <a:spcBef>
                <a:spcPct val="50000"/>
              </a:spcBef>
            </a:pPr>
            <a:r>
              <a:rPr lang="zh-CN" altLang="en-US" sz="2800" b="1" dirty="0"/>
              <a:t>假定一个数在机器中占用</a:t>
            </a:r>
            <a:r>
              <a:rPr lang="en-US" altLang="zh-CN" sz="2800" b="1" dirty="0"/>
              <a:t>8</a:t>
            </a:r>
            <a:r>
              <a:rPr lang="zh-CN" altLang="en-US" sz="2800" b="1" dirty="0"/>
              <a:t>位（</a:t>
            </a:r>
            <a:r>
              <a:rPr lang="en-US" altLang="zh-CN" sz="2800" b="1" dirty="0"/>
              <a:t>1</a:t>
            </a:r>
            <a:r>
              <a:rPr lang="zh-CN" altLang="en-US" sz="2800" b="1" dirty="0"/>
              <a:t>个字节）</a:t>
            </a:r>
            <a:endParaRPr lang="en-US" altLang="zh-CN" b="1" dirty="0"/>
          </a:p>
          <a:p>
            <a:pPr defTabSz="639763">
              <a:spcBef>
                <a:spcPct val="50000"/>
              </a:spcBef>
            </a:pPr>
            <a:endParaRPr lang="zh-CN" altLang="en-US" b="1" dirty="0"/>
          </a:p>
          <a:p>
            <a:pPr defTabSz="639763">
              <a:spcBef>
                <a:spcPct val="50000"/>
              </a:spcBef>
            </a:pPr>
            <a:r>
              <a:rPr lang="en-US" altLang="zh-CN" sz="2200" b="1" dirty="0"/>
              <a:t>(1) </a:t>
            </a:r>
            <a:r>
              <a:rPr lang="zh-CN" altLang="en-US" sz="2200" b="1" dirty="0"/>
              <a:t>原码</a:t>
            </a:r>
          </a:p>
        </p:txBody>
      </p:sp>
    </p:spTree>
    <p:extLst>
      <p:ext uri="{BB962C8B-B14F-4D97-AF65-F5344CB8AC3E}">
        <p14:creationId xmlns:p14="http://schemas.microsoft.com/office/powerpoint/2010/main" val="4168336315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436" name="Rectangle 4"/>
          <p:cNvSpPr>
            <a:spLocks noChangeArrowheads="1"/>
          </p:cNvSpPr>
          <p:nvPr/>
        </p:nvSpPr>
        <p:spPr bwMode="auto">
          <a:xfrm>
            <a:off x="1673002" y="332656"/>
            <a:ext cx="8845996" cy="60478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BD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FF00FF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1435" tIns="45718" rIns="91435" bIns="45718">
            <a:spAutoFit/>
          </a:bodyPr>
          <a:lstStyle/>
          <a:p>
            <a:pPr algn="l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/>
              <a:t>　</a:t>
            </a:r>
            <a:r>
              <a:rPr lang="zh-CN" altLang="en-US" sz="2800" b="1" dirty="0">
                <a:latin typeface="华文宋体" pitchFamily="2" charset="-122"/>
                <a:ea typeface="华文宋体" pitchFamily="2" charset="-122"/>
              </a:rPr>
              <a:t>采用补码表示正、负整数时，</a:t>
            </a:r>
            <a:r>
              <a:rPr lang="en-US" altLang="zh-CN" sz="2800" b="1" dirty="0">
                <a:latin typeface="华文宋体" pitchFamily="2" charset="-122"/>
                <a:ea typeface="华文宋体" pitchFamily="2" charset="-122"/>
              </a:rPr>
              <a:t>+0 </a:t>
            </a:r>
            <a:r>
              <a:rPr lang="zh-CN" altLang="en-US" sz="2800" b="1" dirty="0">
                <a:latin typeface="华文宋体" pitchFamily="2" charset="-122"/>
                <a:ea typeface="华文宋体" pitchFamily="2" charset="-122"/>
              </a:rPr>
              <a:t>和－ </a:t>
            </a:r>
            <a:r>
              <a:rPr lang="en-US" altLang="zh-CN" sz="2800" b="1" dirty="0">
                <a:latin typeface="华文宋体" pitchFamily="2" charset="-122"/>
                <a:ea typeface="华文宋体" pitchFamily="2" charset="-122"/>
              </a:rPr>
              <a:t>0 </a:t>
            </a:r>
            <a:r>
              <a:rPr lang="zh-CN" altLang="en-US" sz="2800" b="1" dirty="0">
                <a:latin typeface="华文宋体" pitchFamily="2" charset="-122"/>
                <a:ea typeface="华文宋体" pitchFamily="2" charset="-122"/>
              </a:rPr>
              <a:t>的取码是完全相同的</a:t>
            </a:r>
            <a:r>
              <a:rPr lang="en-US" altLang="zh-CN" sz="2800" b="1" dirty="0">
                <a:latin typeface="华文宋体" pitchFamily="2" charset="-122"/>
                <a:ea typeface="华文宋体" pitchFamily="2" charset="-122"/>
              </a:rPr>
              <a:t>,</a:t>
            </a:r>
            <a:r>
              <a:rPr lang="zh-CN" altLang="en-US" sz="2800" b="1" dirty="0">
                <a:latin typeface="华文宋体" pitchFamily="2" charset="-122"/>
                <a:ea typeface="华文宋体" pitchFamily="2" charset="-122"/>
              </a:rPr>
              <a:t>原码对</a:t>
            </a:r>
            <a:r>
              <a:rPr lang="en-US" altLang="zh-CN" sz="2800" b="1" dirty="0">
                <a:latin typeface="华文宋体" pitchFamily="2" charset="-122"/>
                <a:ea typeface="华文宋体" pitchFamily="2" charset="-122"/>
              </a:rPr>
              <a:t>+0</a:t>
            </a:r>
            <a:r>
              <a:rPr lang="zh-CN" altLang="en-US" sz="2800" b="1" dirty="0">
                <a:latin typeface="华文宋体" pitchFamily="2" charset="-122"/>
                <a:ea typeface="华文宋体" pitchFamily="2" charset="-122"/>
              </a:rPr>
              <a:t>和－ </a:t>
            </a:r>
            <a:r>
              <a:rPr lang="en-US" altLang="zh-CN" sz="2800" b="1" dirty="0">
                <a:latin typeface="华文宋体" pitchFamily="2" charset="-122"/>
                <a:ea typeface="华文宋体" pitchFamily="2" charset="-122"/>
              </a:rPr>
              <a:t>0 </a:t>
            </a:r>
            <a:r>
              <a:rPr lang="zh-CN" altLang="en-US" sz="2800" b="1" dirty="0">
                <a:latin typeface="华文宋体" pitchFamily="2" charset="-122"/>
                <a:ea typeface="华文宋体" pitchFamily="2" charset="-122"/>
              </a:rPr>
              <a:t>的取码是不相同的</a:t>
            </a:r>
            <a:r>
              <a:rPr lang="zh-CN" altLang="en-US" sz="2800" b="1">
                <a:latin typeface="华文宋体" pitchFamily="2" charset="-122"/>
                <a:ea typeface="华文宋体" pitchFamily="2" charset="-122"/>
              </a:rPr>
              <a:t>。 </a:t>
            </a:r>
            <a:endParaRPr lang="en-US" altLang="zh-CN" sz="2800" b="1">
              <a:latin typeface="华文宋体" pitchFamily="2" charset="-122"/>
              <a:ea typeface="华文宋体" pitchFamily="2" charset="-122"/>
            </a:endParaRPr>
          </a:p>
          <a:p>
            <a:pPr algn="l" eaLnBrk="1" hangingPunct="1">
              <a:spcBef>
                <a:spcPct val="50000"/>
              </a:spcBef>
              <a:buFont typeface="Wingdings" pitchFamily="2" charset="2"/>
              <a:buChar char="Ø"/>
            </a:pPr>
            <a:endParaRPr lang="en-US" altLang="zh-CN" sz="2800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宋体" pitchFamily="2" charset="-122"/>
              <a:ea typeface="华文宋体" pitchFamily="2" charset="-122"/>
            </a:endParaRPr>
          </a:p>
          <a:p>
            <a:pPr algn="l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itchFamily="2" charset="-122"/>
                <a:ea typeface="华文宋体" pitchFamily="2" charset="-122"/>
              </a:rPr>
              <a:t>在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itchFamily="2" charset="-122"/>
                <a:ea typeface="华文宋体" pitchFamily="2" charset="-122"/>
              </a:rPr>
              <a:t>补码中</a:t>
            </a:r>
            <a:r>
              <a:rPr lang="en-US" altLang="zh-CN" sz="28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itchFamily="2" charset="-122"/>
                <a:ea typeface="华文宋体" pitchFamily="2" charset="-122"/>
              </a:rPr>
              <a:t>10000000 </a:t>
            </a:r>
            <a:r>
              <a:rPr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itchFamily="2" charset="-122"/>
                <a:ea typeface="华文宋体" pitchFamily="2" charset="-122"/>
              </a:rPr>
              <a:t>表示－</a:t>
            </a:r>
            <a:r>
              <a:rPr lang="en-US" altLang="zh-CN" sz="28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itchFamily="2" charset="-122"/>
                <a:ea typeface="华文宋体" pitchFamily="2" charset="-122"/>
              </a:rPr>
              <a:t>2</a:t>
            </a:r>
            <a:r>
              <a:rPr lang="en-US" altLang="zh-CN" sz="2800" b="1" baseline="3000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itchFamily="2" charset="-122"/>
                <a:ea typeface="华文宋体" pitchFamily="2" charset="-122"/>
              </a:rPr>
              <a:t>7</a:t>
            </a:r>
            <a:r>
              <a:rPr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itchFamily="2" charset="-122"/>
                <a:ea typeface="华文宋体" pitchFamily="2" charset="-122"/>
              </a:rPr>
              <a:t>（</a:t>
            </a:r>
            <a:r>
              <a:rPr lang="en-US" altLang="zh-CN" sz="28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itchFamily="2" charset="-122"/>
                <a:ea typeface="华文宋体" pitchFamily="2" charset="-122"/>
              </a:rPr>
              <a:t>-128</a:t>
            </a:r>
            <a:r>
              <a:rPr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itchFamily="2" charset="-122"/>
                <a:ea typeface="华文宋体" pitchFamily="2" charset="-122"/>
              </a:rPr>
              <a:t>）</a:t>
            </a:r>
            <a:r>
              <a:rPr lang="zh-CN" altLang="en-US" sz="2800" b="1">
                <a:latin typeface="华文宋体" pitchFamily="2" charset="-122"/>
                <a:ea typeface="华文宋体" pitchFamily="2" charset="-122"/>
              </a:rPr>
              <a:t>，</a:t>
            </a:r>
            <a:r>
              <a:rPr lang="zh-CN" altLang="en-US" sz="2800" b="1" dirty="0">
                <a:latin typeface="华文宋体" pitchFamily="2" charset="-122"/>
                <a:ea typeface="华文宋体" pitchFamily="2" charset="-122"/>
              </a:rPr>
              <a:t>在用一个字节存放符号数时，其代表的数值范围是？</a:t>
            </a:r>
          </a:p>
          <a:p>
            <a:pPr algn="l" eaLnBrk="1" hangingPunct="1">
              <a:spcBef>
                <a:spcPct val="50000"/>
              </a:spcBef>
              <a:buFont typeface="Wingdings" pitchFamily="2" charset="2"/>
              <a:buNone/>
            </a:pPr>
            <a:r>
              <a:rPr lang="zh-CN" altLang="en-US" sz="2800" b="1" dirty="0">
                <a:latin typeface="华文宋体" pitchFamily="2" charset="-122"/>
                <a:ea typeface="华文宋体" pitchFamily="2" charset="-122"/>
              </a:rPr>
              <a:t>　　</a:t>
            </a:r>
            <a:r>
              <a:rPr lang="zh-CN" altLang="en-US" sz="4800" b="1" dirty="0">
                <a:solidFill>
                  <a:srgbClr val="CC0000"/>
                </a:solidFill>
                <a:latin typeface="华文宋体" pitchFamily="2" charset="-122"/>
                <a:ea typeface="华文宋体" pitchFamily="2" charset="-122"/>
              </a:rPr>
              <a:t>　</a:t>
            </a:r>
            <a:r>
              <a:rPr lang="zh-CN" altLang="en-US" sz="4400" b="1" dirty="0">
                <a:solidFill>
                  <a:srgbClr val="CC0000"/>
                </a:solidFill>
                <a:latin typeface="华文宋体" pitchFamily="2" charset="-122"/>
                <a:ea typeface="华文宋体" pitchFamily="2" charset="-122"/>
              </a:rPr>
              <a:t>－２</a:t>
            </a:r>
            <a:r>
              <a:rPr lang="zh-CN" altLang="en-US" sz="4400" b="1" baseline="46000" dirty="0">
                <a:solidFill>
                  <a:srgbClr val="CC0000"/>
                </a:solidFill>
                <a:latin typeface="华文宋体" pitchFamily="2" charset="-122"/>
                <a:ea typeface="华文宋体" pitchFamily="2" charset="-122"/>
              </a:rPr>
              <a:t>７</a:t>
            </a:r>
            <a:r>
              <a:rPr lang="zh-CN" altLang="en-US" sz="4400" b="1" dirty="0">
                <a:solidFill>
                  <a:srgbClr val="CC0000"/>
                </a:solidFill>
                <a:latin typeface="华文宋体" pitchFamily="2" charset="-122"/>
                <a:ea typeface="华文宋体" pitchFamily="2" charset="-122"/>
              </a:rPr>
              <a:t>～２</a:t>
            </a:r>
            <a:r>
              <a:rPr lang="zh-CN" altLang="en-US" sz="4400" b="1" baseline="42000" dirty="0">
                <a:solidFill>
                  <a:srgbClr val="CC0000"/>
                </a:solidFill>
                <a:latin typeface="华文宋体" pitchFamily="2" charset="-122"/>
                <a:ea typeface="华文宋体" pitchFamily="2" charset="-122"/>
              </a:rPr>
              <a:t>７</a:t>
            </a:r>
            <a:r>
              <a:rPr lang="zh-CN" altLang="en-US" sz="4400" b="1" dirty="0">
                <a:solidFill>
                  <a:srgbClr val="CC0000"/>
                </a:solidFill>
                <a:latin typeface="华文宋体" pitchFamily="2" charset="-122"/>
                <a:ea typeface="华文宋体" pitchFamily="2" charset="-122"/>
              </a:rPr>
              <a:t>－１（</a:t>
            </a:r>
            <a:r>
              <a:rPr lang="en-US" altLang="zh-CN" sz="4400" b="1" dirty="0">
                <a:solidFill>
                  <a:srgbClr val="CC0000"/>
                </a:solidFill>
                <a:latin typeface="华文宋体" pitchFamily="2" charset="-122"/>
                <a:ea typeface="华文宋体" pitchFamily="2" charset="-122"/>
              </a:rPr>
              <a:t>-128</a:t>
            </a:r>
            <a:r>
              <a:rPr lang="zh-CN" altLang="en-US" sz="4400" b="1" dirty="0">
                <a:solidFill>
                  <a:srgbClr val="CC0000"/>
                </a:solidFill>
                <a:latin typeface="华文宋体" pitchFamily="2" charset="-122"/>
                <a:ea typeface="华文宋体" pitchFamily="2" charset="-122"/>
              </a:rPr>
              <a:t>～</a:t>
            </a:r>
            <a:r>
              <a:rPr lang="en-US" altLang="zh-CN" sz="4400" b="1">
                <a:solidFill>
                  <a:srgbClr val="CC0000"/>
                </a:solidFill>
                <a:latin typeface="华文宋体" pitchFamily="2" charset="-122"/>
                <a:ea typeface="华文宋体" pitchFamily="2" charset="-122"/>
              </a:rPr>
              <a:t>127</a:t>
            </a:r>
            <a:r>
              <a:rPr lang="zh-CN" altLang="en-US" sz="4400" b="1">
                <a:solidFill>
                  <a:srgbClr val="CC0000"/>
                </a:solidFill>
                <a:latin typeface="华文宋体" pitchFamily="2" charset="-122"/>
                <a:ea typeface="华文宋体" pitchFamily="2" charset="-122"/>
              </a:rPr>
              <a:t>）</a:t>
            </a:r>
            <a:endParaRPr lang="en-US" altLang="zh-CN" sz="4400" b="1">
              <a:solidFill>
                <a:srgbClr val="CC0000"/>
              </a:solidFill>
              <a:latin typeface="华文宋体" pitchFamily="2" charset="-122"/>
              <a:ea typeface="华文宋体" pitchFamily="2" charset="-122"/>
            </a:endParaRPr>
          </a:p>
          <a:p>
            <a:pPr algn="l" eaLnBrk="1" hangingPunct="1">
              <a:spcBef>
                <a:spcPct val="50000"/>
              </a:spcBef>
              <a:buFont typeface="Wingdings" pitchFamily="2" charset="2"/>
              <a:buNone/>
            </a:pPr>
            <a:r>
              <a:rPr lang="zh-CN" altLang="en-US" sz="2800" b="1">
                <a:latin typeface="华文宋体" pitchFamily="2" charset="-122"/>
                <a:ea typeface="华文宋体" pitchFamily="2" charset="-122"/>
              </a:rPr>
              <a:t>若字长为</a:t>
            </a:r>
            <a:r>
              <a:rPr lang="en-US" altLang="zh-CN" sz="44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宋体" pitchFamily="2" charset="-122"/>
                <a:ea typeface="华文宋体" pitchFamily="2" charset="-122"/>
              </a:rPr>
              <a:t>n</a:t>
            </a:r>
            <a:r>
              <a:rPr lang="en-US" altLang="zh-CN" sz="2800" b="1">
                <a:latin typeface="华文宋体" pitchFamily="2" charset="-122"/>
                <a:ea typeface="华文宋体" pitchFamily="2" charset="-122"/>
              </a:rPr>
              <a:t>,</a:t>
            </a:r>
            <a:r>
              <a:rPr lang="zh-CN" altLang="en-US" sz="2800" b="1">
                <a:latin typeface="华文宋体" pitchFamily="2" charset="-122"/>
                <a:ea typeface="华文宋体" pitchFamily="2" charset="-122"/>
              </a:rPr>
              <a:t>则：</a:t>
            </a:r>
            <a:endParaRPr lang="en-US" altLang="zh-CN" sz="2800" b="1">
              <a:latin typeface="华文宋体" pitchFamily="2" charset="-122"/>
              <a:ea typeface="华文宋体" pitchFamily="2" charset="-122"/>
            </a:endParaRPr>
          </a:p>
          <a:p>
            <a:pPr eaLnBrk="1" hangingPunct="1">
              <a:spcBef>
                <a:spcPct val="50000"/>
              </a:spcBef>
              <a:buFont typeface="Wingdings" pitchFamily="2" charset="2"/>
              <a:buNone/>
            </a:pPr>
            <a:r>
              <a:rPr lang="en-US" altLang="zh-CN" sz="5400" b="1">
                <a:solidFill>
                  <a:srgbClr val="FF0000"/>
                </a:solidFill>
                <a:latin typeface="华文宋体" pitchFamily="2" charset="-122"/>
                <a:ea typeface="华文宋体" pitchFamily="2" charset="-122"/>
              </a:rPr>
              <a:t>        -2</a:t>
            </a:r>
            <a:r>
              <a:rPr lang="en-US" altLang="zh-CN" sz="5400" b="1" baseline="30000">
                <a:solidFill>
                  <a:srgbClr val="FF0000"/>
                </a:solidFill>
                <a:latin typeface="华文宋体" pitchFamily="2" charset="-122"/>
                <a:ea typeface="华文宋体" pitchFamily="2" charset="-122"/>
              </a:rPr>
              <a:t>n-1</a:t>
            </a:r>
            <a:r>
              <a:rPr lang="en-US" altLang="zh-CN" sz="5400" b="1">
                <a:solidFill>
                  <a:srgbClr val="FF0000"/>
                </a:solidFill>
                <a:latin typeface="华文宋体" pitchFamily="2" charset="-122"/>
                <a:ea typeface="华文宋体" pitchFamily="2" charset="-122"/>
              </a:rPr>
              <a:t>~2</a:t>
            </a:r>
            <a:r>
              <a:rPr lang="en-US" altLang="zh-CN" sz="5400" b="1" baseline="30000">
                <a:solidFill>
                  <a:srgbClr val="FF0000"/>
                </a:solidFill>
                <a:latin typeface="华文宋体" pitchFamily="2" charset="-122"/>
                <a:ea typeface="华文宋体" pitchFamily="2" charset="-122"/>
              </a:rPr>
              <a:t>n-1</a:t>
            </a:r>
            <a:r>
              <a:rPr lang="en-US" altLang="zh-CN" sz="5400" b="1">
                <a:solidFill>
                  <a:srgbClr val="FF0000"/>
                </a:solidFill>
                <a:latin typeface="华文宋体" pitchFamily="2" charset="-122"/>
                <a:ea typeface="华文宋体" pitchFamily="2" charset="-122"/>
              </a:rPr>
              <a:t>-1</a:t>
            </a:r>
            <a:endParaRPr lang="zh-CN" altLang="en-US" sz="5400" b="1" dirty="0">
              <a:latin typeface="华文宋体" pitchFamily="2" charset="-122"/>
              <a:ea typeface="华文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67811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584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584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6584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6584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6584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09120B8F-E1C3-4B9F-9D63-F794612601D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991544" y="1556792"/>
            <a:ext cx="8442880" cy="3649468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设数字的字长为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8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（即占一个字节），求－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二进制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)</a:t>
            </a:r>
          </a:p>
          <a:p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原码：</a:t>
            </a:r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1]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</a:p>
          <a:p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反码：</a:t>
            </a:r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2]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</a:p>
          <a:p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补码：</a:t>
            </a:r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3]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</a:p>
          <a:p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D02C95A7-3384-42FE-9AE5-94D6D81E0551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44C1173-1303-461B-9D30-0BCC7A42E94E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1524000" y="5849303"/>
            <a:ext cx="9144000" cy="36576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正常使用填空题需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05236CB6-FA23-45E9-B48A-81ABB5A6BDFC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0" y="0"/>
            <a:ext cx="5436096" cy="635000"/>
            <a:chOff x="-2563504" y="0"/>
            <a:chExt cx="9144000" cy="635000"/>
          </a:xfrm>
        </p:grpSpPr>
        <p:sp>
          <p:nvSpPr>
            <p:cNvPr id="8" name="TitleBackground">
              <a:extLst>
                <a:ext uri="{FF2B5EF4-FFF2-40B4-BE49-F238E27FC236}">
                  <a16:creationId xmlns:a16="http://schemas.microsoft.com/office/drawing/2014/main" id="{389E44D9-6DAA-413C-84A6-31950B2EE542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-2563504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ColorBlock">
              <a:extLst>
                <a:ext uri="{FF2B5EF4-FFF2-40B4-BE49-F238E27FC236}">
                  <a16:creationId xmlns:a16="http://schemas.microsoft.com/office/drawing/2014/main" id="{FD918C22-BE70-4889-8724-26B7C3F340BC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-2563504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TypeText">
              <a:extLst>
                <a:ext uri="{FF2B5EF4-FFF2-40B4-BE49-F238E27FC236}">
                  <a16:creationId xmlns:a16="http://schemas.microsoft.com/office/drawing/2014/main" id="{E92D38C3-4008-495F-8ED2-4F259BAF498C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-2136253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</a:p>
          </p:txBody>
        </p:sp>
        <p:sp>
          <p:nvSpPr>
            <p:cNvPr id="11" name="TipText">
              <a:extLst>
                <a:ext uri="{FF2B5EF4-FFF2-40B4-BE49-F238E27FC236}">
                  <a16:creationId xmlns:a16="http://schemas.microsoft.com/office/drawing/2014/main" id="{7BC690B2-ED6B-4731-B885-9F4F0C26E8A8}"/>
                </a:ext>
              </a:extLst>
            </p:cNvPr>
            <p:cNvSpPr txBox="1"/>
            <p:nvPr>
              <p:custDataLst>
                <p:tags r:id="rId10"/>
              </p:custDataLst>
            </p:nvPr>
          </p:nvSpPr>
          <p:spPr>
            <a:xfrm>
              <a:off x="32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3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 dirty="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D8E57C48-2E42-4126-B195-750E0E1D1824}"/>
              </a:ext>
            </a:extLst>
          </p:cNvPr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75167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CD12BB9D-82A4-FCFC-D350-E0B156CABAE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2132856"/>
            <a:ext cx="9753600" cy="3459957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若某符号数的机器数</a:t>
            </a: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为</a:t>
            </a: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:0000 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1111,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其真值为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:</a:t>
            </a:r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1]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</a:p>
          <a:p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endParaRPr lang="en-US" altLang="zh-CN" sz="26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endParaRPr lang="en-US" altLang="zh-CN" sz="26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若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某符号数的机器数为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:1111 1101,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其真值为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:</a:t>
            </a:r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2]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</a:p>
          <a:p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0BF35664-2DDA-E26B-FF2A-53D5EADF6206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63ACE1E0-7B45-276C-93CE-C54D30D20EF3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6" name="TitleBackground">
              <a:extLst>
                <a:ext uri="{FF2B5EF4-FFF2-40B4-BE49-F238E27FC236}">
                  <a16:creationId xmlns:a16="http://schemas.microsoft.com/office/drawing/2014/main" id="{8169D5D7-BEFD-1AAA-3AC3-C5F357312536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ColorBlock">
              <a:extLst>
                <a:ext uri="{FF2B5EF4-FFF2-40B4-BE49-F238E27FC236}">
                  <a16:creationId xmlns:a16="http://schemas.microsoft.com/office/drawing/2014/main" id="{9BE0DFDB-72A8-7CE9-67D0-6BF6912663C4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TypeText">
              <a:extLst>
                <a:ext uri="{FF2B5EF4-FFF2-40B4-BE49-F238E27FC236}">
                  <a16:creationId xmlns:a16="http://schemas.microsoft.com/office/drawing/2014/main" id="{7A27F537-71DC-CBD7-27AD-5560D2F78716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</a:p>
          </p:txBody>
        </p:sp>
        <p:sp>
          <p:nvSpPr>
            <p:cNvPr id="9" name="TipText">
              <a:extLst>
                <a:ext uri="{FF2B5EF4-FFF2-40B4-BE49-F238E27FC236}">
                  <a16:creationId xmlns:a16="http://schemas.microsoft.com/office/drawing/2014/main" id="{07CB7EC5-4B62-F6B1-E6EA-2C01658B3C39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C423005C-6B43-6F02-4333-561A2A44835E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11050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722" name="Rectangle 2"/>
          <p:cNvSpPr>
            <a:spLocks noChangeArrowheads="1"/>
          </p:cNvSpPr>
          <p:nvPr/>
        </p:nvSpPr>
        <p:spPr bwMode="auto">
          <a:xfrm>
            <a:off x="1654969" y="1340771"/>
            <a:ext cx="8882062" cy="50875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lIns="64008" tIns="32004" rIns="64008" bIns="32004">
            <a:spAutoFit/>
          </a:bodyPr>
          <a:lstStyle/>
          <a:p>
            <a:pPr defTabSz="639763">
              <a:spcBef>
                <a:spcPct val="50000"/>
              </a:spcBef>
            </a:pPr>
            <a:r>
              <a:rPr lang="en-US" altLang="zh-CN" sz="3200" b="1" dirty="0">
                <a:solidFill>
                  <a:srgbClr val="CC0000"/>
                </a:solidFill>
              </a:rPr>
              <a:t>1.</a:t>
            </a:r>
            <a:r>
              <a:rPr lang="zh-CN" altLang="en-US" sz="3200" b="1" dirty="0">
                <a:solidFill>
                  <a:srgbClr val="CC0000"/>
                </a:solidFill>
              </a:rPr>
              <a:t>西文字符</a:t>
            </a:r>
          </a:p>
          <a:p>
            <a:pPr defTabSz="639763">
              <a:spcBef>
                <a:spcPct val="50000"/>
              </a:spcBef>
            </a:pPr>
            <a:r>
              <a:rPr lang="zh-CN" altLang="en-US" sz="3200" b="1" dirty="0"/>
              <a:t> </a:t>
            </a:r>
            <a:r>
              <a:rPr lang="en-US" altLang="zh-CN" sz="3200" b="1" dirty="0"/>
              <a:t>ASCII</a:t>
            </a:r>
            <a:r>
              <a:rPr lang="zh-CN" altLang="en-US" sz="3200" b="1" dirty="0"/>
              <a:t>码</a:t>
            </a:r>
            <a:r>
              <a:rPr lang="en-US" altLang="zh-CN" sz="3200" b="1" dirty="0"/>
              <a:t>(</a:t>
            </a:r>
            <a:r>
              <a:rPr lang="en-US" altLang="zh-CN" sz="3200" b="1" dirty="0">
                <a:solidFill>
                  <a:srgbClr val="FF0000"/>
                </a:solidFill>
              </a:rPr>
              <a:t>A</a:t>
            </a:r>
            <a:r>
              <a:rPr lang="en-US" altLang="zh-CN" sz="3200" b="1" dirty="0"/>
              <a:t>merican </a:t>
            </a:r>
            <a:r>
              <a:rPr lang="en-US" altLang="zh-CN" sz="3200" b="1" dirty="0">
                <a:solidFill>
                  <a:srgbClr val="FF0000"/>
                </a:solidFill>
              </a:rPr>
              <a:t>S</a:t>
            </a:r>
            <a:r>
              <a:rPr lang="en-US" altLang="zh-CN" sz="3200" b="1" dirty="0"/>
              <a:t>tandard </a:t>
            </a:r>
            <a:r>
              <a:rPr lang="en-US" altLang="zh-CN" sz="3200" b="1" dirty="0">
                <a:solidFill>
                  <a:srgbClr val="FF0000"/>
                </a:solidFill>
              </a:rPr>
              <a:t>C</a:t>
            </a:r>
            <a:r>
              <a:rPr lang="en-US" altLang="zh-CN" sz="3200" b="1" dirty="0"/>
              <a:t>ode for </a:t>
            </a:r>
            <a:r>
              <a:rPr lang="en-US" altLang="zh-CN" sz="3200" b="1" dirty="0">
                <a:solidFill>
                  <a:srgbClr val="FF0000"/>
                </a:solidFill>
              </a:rPr>
              <a:t>I</a:t>
            </a:r>
            <a:r>
              <a:rPr lang="en-US" altLang="zh-CN" sz="3200" b="1" dirty="0"/>
              <a:t>nformation </a:t>
            </a:r>
            <a:r>
              <a:rPr lang="en-US" altLang="zh-CN" sz="3200" b="1" dirty="0">
                <a:solidFill>
                  <a:srgbClr val="FF0000"/>
                </a:solidFill>
              </a:rPr>
              <a:t>I</a:t>
            </a:r>
            <a:r>
              <a:rPr lang="en-US" altLang="zh-CN" sz="3200" b="1" dirty="0"/>
              <a:t>nterchange </a:t>
            </a:r>
            <a:r>
              <a:rPr lang="zh-CN" altLang="en-US" sz="3200" b="1" dirty="0"/>
              <a:t>美国信息交换用标准代码</a:t>
            </a:r>
            <a:r>
              <a:rPr lang="en-US" altLang="zh-CN" sz="3200" b="1" dirty="0"/>
              <a:t>)</a:t>
            </a:r>
          </a:p>
          <a:p>
            <a:pPr defTabSz="639763">
              <a:lnSpc>
                <a:spcPct val="90000"/>
              </a:lnSpc>
              <a:spcBef>
                <a:spcPct val="20000"/>
              </a:spcBef>
            </a:pPr>
            <a:r>
              <a:rPr lang="zh-CN" altLang="en-US" sz="3200" b="1" dirty="0"/>
              <a:t>共有</a:t>
            </a:r>
            <a:r>
              <a:rPr lang="en-US" altLang="zh-CN" sz="3200" b="1" dirty="0">
                <a:solidFill>
                  <a:srgbClr val="FF0000"/>
                </a:solidFill>
              </a:rPr>
              <a:t>128</a:t>
            </a:r>
            <a:r>
              <a:rPr lang="zh-CN" altLang="en-US" sz="3200" b="1" dirty="0"/>
              <a:t>个常用字符，需要</a:t>
            </a:r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128</a:t>
            </a:r>
            <a:r>
              <a:rPr lang="zh-CN" altLang="en-US" sz="3200" b="1" dirty="0"/>
              <a:t>编号</a:t>
            </a:r>
          </a:p>
          <a:p>
            <a:pPr defTabSz="639763">
              <a:lnSpc>
                <a:spcPct val="90000"/>
              </a:lnSpc>
              <a:spcBef>
                <a:spcPct val="20000"/>
              </a:spcBef>
            </a:pPr>
            <a:r>
              <a:rPr lang="zh-CN" altLang="en-US" sz="3200" b="1" dirty="0">
                <a:latin typeface="宋体" charset="-122"/>
              </a:rPr>
              <a:t>用</a:t>
            </a:r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</a:t>
            </a:r>
            <a:r>
              <a:rPr lang="zh-CN" altLang="en-US" sz="3200" b="1" dirty="0">
                <a:latin typeface="宋体" charset="-122"/>
              </a:rPr>
              <a:t>位二进制编码</a:t>
            </a:r>
            <a:r>
              <a:rPr lang="zh-CN" altLang="en-US" sz="3200" b="1" dirty="0"/>
              <a:t>，从（</a:t>
            </a:r>
            <a:r>
              <a:rPr lang="en-US" altLang="zh-CN" sz="3200" b="1" dirty="0"/>
              <a:t>0000000</a:t>
            </a:r>
            <a:r>
              <a:rPr lang="zh-CN" altLang="en-US" sz="3200" b="1" dirty="0"/>
              <a:t>）到（</a:t>
            </a:r>
            <a:r>
              <a:rPr lang="en-US" altLang="zh-CN" sz="3200" b="1" dirty="0"/>
              <a:t>1111111</a:t>
            </a:r>
            <a:r>
              <a:rPr lang="zh-CN" altLang="en-US" sz="3200" b="1" dirty="0"/>
              <a:t>）（</a:t>
            </a:r>
            <a:r>
              <a:rPr lang="en-US" altLang="zh-CN" sz="3200" b="1" dirty="0"/>
              <a:t>0</a:t>
            </a:r>
            <a:r>
              <a:rPr lang="zh-CN" altLang="en-US" sz="3200" b="1" dirty="0"/>
              <a:t>～</a:t>
            </a:r>
            <a:r>
              <a:rPr lang="en-US" altLang="zh-CN" sz="3200" b="1" dirty="0"/>
              <a:t>127)</a:t>
            </a:r>
          </a:p>
          <a:p>
            <a:pPr defTabSz="639763">
              <a:lnSpc>
                <a:spcPct val="90000"/>
              </a:lnSpc>
              <a:spcBef>
                <a:spcPct val="20000"/>
              </a:spcBef>
            </a:pPr>
            <a:endParaRPr lang="en-US" altLang="zh-CN" sz="3200" b="1" dirty="0"/>
          </a:p>
          <a:p>
            <a:pPr defTabSz="639763">
              <a:lnSpc>
                <a:spcPct val="90000"/>
              </a:lnSpc>
              <a:spcBef>
                <a:spcPct val="20000"/>
              </a:spcBef>
            </a:pPr>
            <a:r>
              <a:rPr lang="zh-CN" altLang="en-US" sz="3200" b="1" dirty="0"/>
              <a:t>存放在存储器中，占用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一个字节</a:t>
            </a:r>
            <a:r>
              <a:rPr lang="zh-CN" altLang="en-US" sz="3200" b="1" dirty="0"/>
              <a:t>，左端补</a:t>
            </a:r>
            <a:r>
              <a:rPr lang="en-US" altLang="zh-CN" sz="3200" b="1" dirty="0"/>
              <a:t>0</a:t>
            </a:r>
            <a:r>
              <a:rPr lang="zh-CN" altLang="en-US" sz="3200" b="1" dirty="0"/>
              <a:t>。</a:t>
            </a:r>
          </a:p>
          <a:p>
            <a:pPr defTabSz="639763">
              <a:lnSpc>
                <a:spcPct val="90000"/>
              </a:lnSpc>
              <a:spcBef>
                <a:spcPct val="50000"/>
              </a:spcBef>
            </a:pPr>
            <a:r>
              <a:rPr lang="zh-CN" altLang="en-US" sz="3200" b="1" dirty="0"/>
              <a:t>    </a:t>
            </a:r>
            <a:endParaRPr lang="zh-CN" altLang="en-US" sz="2800" b="1" dirty="0"/>
          </a:p>
        </p:txBody>
      </p:sp>
      <p:sp>
        <p:nvSpPr>
          <p:cNvPr id="670723" name="Rectangle 3"/>
          <p:cNvSpPr>
            <a:spLocks noGrp="1" noChangeArrowheads="1"/>
          </p:cNvSpPr>
          <p:nvPr>
            <p:ph type="title"/>
          </p:nvPr>
        </p:nvSpPr>
        <p:spPr>
          <a:xfrm>
            <a:off x="1533296" y="332656"/>
            <a:ext cx="5328592" cy="576262"/>
          </a:xfrm>
          <a:gradFill rotWithShape="0">
            <a:gsLst>
              <a:gs pos="0">
                <a:srgbClr val="FFFFFF">
                  <a:gamma/>
                  <a:shade val="46275"/>
                  <a:invGamma/>
                </a:srgbClr>
              </a:gs>
              <a:gs pos="50000">
                <a:srgbClr val="FFFFFF"/>
              </a:gs>
              <a:gs pos="100000">
                <a:srgbClr val="FFFFFF">
                  <a:gamma/>
                  <a:shade val="46275"/>
                  <a:invGamma/>
                </a:srgbClr>
              </a:gs>
            </a:gsLst>
            <a:lin ang="5400000" scaled="1"/>
          </a:gradFill>
          <a:ln/>
          <a:scene3d>
            <a:camera prst="legacyPerspectiveBottom"/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FFFFFF"/>
            </a:extrusionClr>
          </a:sp3d>
          <a:extLst>
            <a:ext uri="{91240B29-F687-4F45-9708-019B960494DF}">
              <a14:hiddenLine xmlns:a14="http://schemas.microsoft.com/office/drawing/2010/main">
                <a:noFill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normAutofit fontScale="90000"/>
            <a:flatTx/>
          </a:bodyPr>
          <a:lstStyle/>
          <a:p>
            <a:r>
              <a:rPr lang="zh-CN" altLang="en-US" sz="4000" dirty="0">
                <a:solidFill>
                  <a:srgbClr val="C00000"/>
                </a:solidFill>
              </a:rPr>
              <a:t>字符在计算机中的表示</a:t>
            </a:r>
          </a:p>
        </p:txBody>
      </p:sp>
    </p:spTree>
    <p:extLst>
      <p:ext uri="{BB962C8B-B14F-4D97-AF65-F5344CB8AC3E}">
        <p14:creationId xmlns:p14="http://schemas.microsoft.com/office/powerpoint/2010/main" val="20256238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7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707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707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7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707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707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7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707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707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66650" name="Group 1050"/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2049214829"/>
              </p:ext>
            </p:extLst>
          </p:nvPr>
        </p:nvGraphicFramePr>
        <p:xfrm>
          <a:off x="1847853" y="333375"/>
          <a:ext cx="8569325" cy="6217920"/>
        </p:xfrm>
        <a:graphic>
          <a:graphicData uri="http://schemas.openxmlformats.org/drawingml/2006/table">
            <a:tbl>
              <a:tblPr/>
              <a:tblGrid>
                <a:gridCol w="1081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50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50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3503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342900" marR="0" lvl="0" indent="-342900" algn="just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　</a:t>
                      </a:r>
                      <a:r>
                        <a:rPr lang="en-US" altLang="zh-CN" sz="135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</a:t>
                      </a:r>
                      <a:r>
                        <a:rPr lang="zh-CN" altLang="zh-CN" sz="135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（</a:t>
                      </a:r>
                      <a:r>
                        <a:rPr lang="en-US" altLang="zh-CN" sz="135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r>
                        <a:rPr lang="zh-CN" altLang="zh-CN" sz="135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）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0(000)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1(001)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2(010)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3(011)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4(100)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5(101)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6(110)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7(111)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342900" marR="0" lvl="0" indent="-342900" algn="just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0(0000)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NUL</a:t>
                      </a: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空</a:t>
                      </a:r>
                      <a:endParaRPr kumimoji="1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DLE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SP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@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`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342900" marR="0" lvl="0" indent="-342900" algn="just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1(0001)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SOH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DC1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!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342900" marR="0" lvl="0" indent="-342900" algn="just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2(0010)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STX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DC2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"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4488">
                <a:tc>
                  <a:txBody>
                    <a:bodyPr/>
                    <a:lstStyle/>
                    <a:p>
                      <a:pPr marL="342900" marR="0" lvl="0" indent="-342900" algn="just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3(0011)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ETX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DC3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#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342900" marR="0" lvl="0" indent="-342900" algn="just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4(0100)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EOT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DC4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$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342900" marR="0" lvl="0" indent="-342900" algn="just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5(0101)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ENQ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NAK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%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U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u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342900" marR="0" lvl="0" indent="-342900" algn="just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6(0110)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ACK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SYN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&amp;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V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v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342900" marR="0" lvl="0" indent="-342900" algn="just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7(0111)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BEL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ETB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'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W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w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342900" marR="0" lvl="0" indent="-342900" algn="just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8(1000)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BS</a:t>
                      </a: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退格</a:t>
                      </a:r>
                      <a:endParaRPr kumimoji="1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CAN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(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342900" marR="0" lvl="0" indent="-342900" algn="just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9(1001)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H</a:t>
                      </a: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制表</a:t>
                      </a:r>
                      <a:endParaRPr kumimoji="1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EM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)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i</a:t>
                      </a:r>
                      <a:endParaRPr kumimoji="1" lang="en-US" altLang="zh-CN" sz="18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ea typeface="宋体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342900" marR="0" lvl="0" indent="-342900" algn="just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A(1010)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L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换行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SUB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*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: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J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Z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j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z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4488">
                <a:tc>
                  <a:txBody>
                    <a:bodyPr/>
                    <a:lstStyle/>
                    <a:p>
                      <a:pPr marL="342900" marR="0" lvl="0" indent="-342900" algn="just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B(1011)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VT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ESC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+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;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[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{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342900" marR="0" lvl="0" indent="-342900" algn="just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C(1100)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FF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FS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,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&lt;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\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|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342900" marR="0" lvl="0" indent="-342900" algn="just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D(1101)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C</a:t>
                      </a:r>
                      <a:r>
                        <a:rPr kumimoji="1" lang="zh-CN" altLang="en-US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回车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GS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-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=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]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}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342900" marR="0" lvl="0" indent="-342900" algn="just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E(1110)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SO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RS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.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&gt;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^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~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342900" marR="0" lvl="0" indent="-342900" algn="just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F(1111)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SI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US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/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?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_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DEL 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5261674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459" name="Rectangle 3"/>
          <p:cNvSpPr>
            <a:spLocks noChangeArrowheads="1"/>
          </p:cNvSpPr>
          <p:nvPr/>
        </p:nvSpPr>
        <p:spPr bwMode="auto">
          <a:xfrm>
            <a:off x="1652737" y="1484787"/>
            <a:ext cx="8882062" cy="536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lIns="64008" tIns="32004" rIns="64008" bIns="32004">
            <a:spAutoFit/>
          </a:bodyPr>
          <a:lstStyle/>
          <a:p>
            <a:pPr defTabSz="639763">
              <a:lnSpc>
                <a:spcPct val="90000"/>
              </a:lnSpc>
              <a:spcBef>
                <a:spcPct val="20000"/>
              </a:spcBef>
            </a:pPr>
            <a:r>
              <a:rPr lang="zh-CN" altLang="en-US" sz="3200" b="1" dirty="0"/>
              <a:t>控制字符：</a:t>
            </a:r>
            <a:r>
              <a:rPr lang="en-US" altLang="zh-CN" sz="3200" b="1" dirty="0"/>
              <a:t>0</a:t>
            </a:r>
            <a:r>
              <a:rPr lang="zh-CN" altLang="en-US" sz="3200" b="1" dirty="0"/>
              <a:t>～</a:t>
            </a:r>
            <a:r>
              <a:rPr lang="en-US" altLang="zh-CN" sz="3200" b="1" dirty="0"/>
              <a:t>32</a:t>
            </a:r>
            <a:r>
              <a:rPr lang="zh-CN" altLang="en-US" sz="3200" b="1" dirty="0"/>
              <a:t>，</a:t>
            </a:r>
            <a:r>
              <a:rPr lang="en-US" altLang="zh-CN" sz="3200" b="1" dirty="0"/>
              <a:t>127</a:t>
            </a:r>
            <a:r>
              <a:rPr lang="zh-CN" altLang="en-US" sz="3200" b="1" dirty="0"/>
              <a:t>；共</a:t>
            </a:r>
            <a:r>
              <a:rPr lang="en-US" altLang="zh-CN" sz="3200" b="1" dirty="0"/>
              <a:t>34</a:t>
            </a:r>
            <a:r>
              <a:rPr lang="zh-CN" altLang="en-US" sz="3200" b="1" dirty="0"/>
              <a:t>个</a:t>
            </a:r>
            <a:endParaRPr lang="en-US" altLang="zh-CN" sz="3200" b="1" dirty="0"/>
          </a:p>
          <a:p>
            <a:pPr defTabSz="639763">
              <a:lnSpc>
                <a:spcPct val="90000"/>
              </a:lnSpc>
              <a:spcBef>
                <a:spcPct val="20000"/>
              </a:spcBef>
            </a:pPr>
            <a:r>
              <a:rPr lang="zh-CN" altLang="en-US" sz="3200" b="1" dirty="0"/>
              <a:t>普通字符（可打印字符、图形字符）：</a:t>
            </a:r>
            <a:r>
              <a:rPr lang="en-US" altLang="zh-CN" sz="3200" b="1" dirty="0"/>
              <a:t>94</a:t>
            </a:r>
            <a:r>
              <a:rPr lang="zh-CN" altLang="en-US" sz="3200" b="1" dirty="0"/>
              <a:t>个。</a:t>
            </a:r>
            <a:endParaRPr lang="en-US" altLang="zh-CN" sz="3200" b="1" dirty="0"/>
          </a:p>
          <a:p>
            <a:pPr defTabSz="639763">
              <a:lnSpc>
                <a:spcPct val="90000"/>
              </a:lnSpc>
              <a:spcBef>
                <a:spcPct val="20000"/>
              </a:spcBef>
            </a:pPr>
            <a:endParaRPr lang="en-US" altLang="zh-CN" sz="3200" b="1" dirty="0"/>
          </a:p>
          <a:p>
            <a:pPr defTabSz="639763">
              <a:lnSpc>
                <a:spcPct val="90000"/>
              </a:lnSpc>
              <a:spcBef>
                <a:spcPct val="20000"/>
              </a:spcBef>
            </a:pPr>
            <a:r>
              <a:rPr lang="en-US" altLang="zh-CN" sz="3200" b="1" dirty="0"/>
              <a:t>    </a:t>
            </a:r>
            <a:r>
              <a:rPr lang="zh-CN" altLang="en-US" sz="3200" b="1" dirty="0">
                <a:solidFill>
                  <a:srgbClr val="C00000"/>
                </a:solidFill>
              </a:rPr>
              <a:t>字符</a:t>
            </a:r>
            <a:r>
              <a:rPr lang="en-US" altLang="zh-CN" sz="3200" b="1" dirty="0">
                <a:solidFill>
                  <a:srgbClr val="C00000"/>
                </a:solidFill>
              </a:rPr>
              <a:t>				</a:t>
            </a:r>
            <a:r>
              <a:rPr lang="zh-CN" altLang="en-US" sz="3200" b="1" dirty="0">
                <a:solidFill>
                  <a:srgbClr val="C00000"/>
                </a:solidFill>
              </a:rPr>
              <a:t>十进制</a:t>
            </a:r>
          </a:p>
          <a:p>
            <a:pPr defTabSz="639763">
              <a:lnSpc>
                <a:spcPct val="90000"/>
              </a:lnSpc>
              <a:spcBef>
                <a:spcPct val="50000"/>
              </a:spcBef>
            </a:pPr>
            <a:r>
              <a:rPr lang="zh-CN" altLang="en-US" sz="2800" b="1" dirty="0"/>
              <a:t>     换行      </a:t>
            </a:r>
            <a:r>
              <a:rPr lang="en-US" altLang="zh-CN" sz="2800" b="1" dirty="0"/>
              <a:t>			</a:t>
            </a:r>
            <a:r>
              <a:rPr lang="en-US" altLang="zh-CN" sz="2800" b="1" dirty="0">
                <a:solidFill>
                  <a:srgbClr val="FF0000"/>
                </a:solidFill>
              </a:rPr>
              <a:t>10</a:t>
            </a:r>
          </a:p>
          <a:p>
            <a:pPr defTabSz="639763">
              <a:lnSpc>
                <a:spcPct val="90000"/>
              </a:lnSpc>
              <a:spcBef>
                <a:spcPct val="50000"/>
              </a:spcBef>
            </a:pPr>
            <a:r>
              <a:rPr lang="en-US" altLang="zh-CN" sz="2800" b="1" dirty="0"/>
              <a:t>     </a:t>
            </a:r>
            <a:r>
              <a:rPr lang="zh-CN" altLang="en-US" sz="2800" b="1" dirty="0"/>
              <a:t>回车                </a:t>
            </a:r>
            <a:r>
              <a:rPr lang="en-US" altLang="zh-CN" sz="2800" b="1" dirty="0"/>
              <a:t>		</a:t>
            </a:r>
            <a:r>
              <a:rPr lang="en-US" altLang="zh-CN" sz="2800" b="1" dirty="0">
                <a:solidFill>
                  <a:srgbClr val="FF0000"/>
                </a:solidFill>
              </a:rPr>
              <a:t>13</a:t>
            </a:r>
          </a:p>
          <a:p>
            <a:pPr defTabSz="639763">
              <a:lnSpc>
                <a:spcPct val="90000"/>
              </a:lnSpc>
              <a:spcBef>
                <a:spcPct val="50000"/>
              </a:spcBef>
            </a:pPr>
            <a:r>
              <a:rPr lang="en-US" altLang="zh-CN" sz="2800" b="1" dirty="0"/>
              <a:t>     </a:t>
            </a:r>
            <a:r>
              <a:rPr lang="zh-CN" altLang="en-US" sz="2800" b="1" dirty="0"/>
              <a:t>空格		     </a:t>
            </a:r>
            <a:r>
              <a:rPr lang="en-US" altLang="zh-CN" sz="2800" b="1" dirty="0"/>
              <a:t>		</a:t>
            </a:r>
            <a:r>
              <a:rPr lang="en-US" altLang="zh-CN" sz="2800" b="1" dirty="0">
                <a:solidFill>
                  <a:srgbClr val="FF0000"/>
                </a:solidFill>
              </a:rPr>
              <a:t>32</a:t>
            </a:r>
          </a:p>
          <a:p>
            <a:pPr defTabSz="639763">
              <a:lnSpc>
                <a:spcPct val="90000"/>
              </a:lnSpc>
              <a:spcBef>
                <a:spcPct val="20000"/>
              </a:spcBef>
            </a:pPr>
            <a:r>
              <a:rPr lang="en-US" altLang="zh-CN" sz="2800" b="1" dirty="0"/>
              <a:t>    ‘0’</a:t>
            </a:r>
            <a:r>
              <a:rPr lang="zh-CN" altLang="en-US" sz="2800" b="1" dirty="0"/>
              <a:t>～</a:t>
            </a:r>
            <a:r>
              <a:rPr lang="en-US" altLang="zh-CN" sz="2800" b="1" dirty="0"/>
              <a:t>9’        		</a:t>
            </a:r>
            <a:r>
              <a:rPr lang="en-US" altLang="zh-CN" sz="2800" b="1" dirty="0">
                <a:solidFill>
                  <a:srgbClr val="FF0000"/>
                </a:solidFill>
              </a:rPr>
              <a:t>48</a:t>
            </a:r>
            <a:r>
              <a:rPr lang="zh-CN" altLang="en-US" sz="2800" b="1" dirty="0">
                <a:solidFill>
                  <a:srgbClr val="FF0000"/>
                </a:solidFill>
              </a:rPr>
              <a:t>～</a:t>
            </a:r>
            <a:r>
              <a:rPr lang="en-US" altLang="zh-CN" sz="2800" b="1" dirty="0">
                <a:solidFill>
                  <a:srgbClr val="FF0000"/>
                </a:solidFill>
              </a:rPr>
              <a:t>57</a:t>
            </a:r>
          </a:p>
          <a:p>
            <a:pPr defTabSz="639763">
              <a:lnSpc>
                <a:spcPct val="90000"/>
              </a:lnSpc>
              <a:spcBef>
                <a:spcPct val="20000"/>
              </a:spcBef>
            </a:pPr>
            <a:r>
              <a:rPr lang="en-US" altLang="zh-CN" sz="2800" b="1" dirty="0"/>
              <a:t>    ‘A’</a:t>
            </a:r>
            <a:r>
              <a:rPr lang="zh-CN" altLang="en-US" sz="2800" b="1" dirty="0"/>
              <a:t>～‘</a:t>
            </a:r>
            <a:r>
              <a:rPr lang="en-US" altLang="zh-CN" sz="2800" b="1" dirty="0"/>
              <a:t>Z’      			</a:t>
            </a:r>
            <a:r>
              <a:rPr lang="en-US" altLang="zh-CN" sz="2800" b="1" dirty="0">
                <a:solidFill>
                  <a:srgbClr val="FF0000"/>
                </a:solidFill>
              </a:rPr>
              <a:t>65</a:t>
            </a:r>
            <a:r>
              <a:rPr lang="zh-CN" altLang="en-US" sz="2800" b="1" dirty="0">
                <a:solidFill>
                  <a:srgbClr val="FF0000"/>
                </a:solidFill>
              </a:rPr>
              <a:t>～</a:t>
            </a:r>
            <a:r>
              <a:rPr lang="en-US" altLang="zh-CN" sz="2800" b="1" dirty="0">
                <a:solidFill>
                  <a:srgbClr val="FF0000"/>
                </a:solidFill>
              </a:rPr>
              <a:t>90</a:t>
            </a:r>
          </a:p>
          <a:p>
            <a:pPr defTabSz="639763">
              <a:lnSpc>
                <a:spcPct val="90000"/>
              </a:lnSpc>
              <a:spcBef>
                <a:spcPct val="20000"/>
              </a:spcBef>
            </a:pPr>
            <a:r>
              <a:rPr lang="en-US" altLang="zh-CN" sz="2800" b="1" dirty="0"/>
              <a:t>    ‘a’</a:t>
            </a:r>
            <a:r>
              <a:rPr lang="zh-CN" altLang="en-US" sz="2800" b="1" dirty="0"/>
              <a:t>～‘</a:t>
            </a:r>
            <a:r>
              <a:rPr lang="en-US" altLang="zh-CN" sz="2800" b="1" dirty="0"/>
              <a:t>z’       		</a:t>
            </a:r>
            <a:r>
              <a:rPr lang="en-US" altLang="zh-CN" sz="2800" b="1" dirty="0">
                <a:solidFill>
                  <a:srgbClr val="FF0000"/>
                </a:solidFill>
              </a:rPr>
              <a:t>97</a:t>
            </a:r>
            <a:r>
              <a:rPr lang="zh-CN" altLang="en-US" sz="2800" b="1" dirty="0">
                <a:solidFill>
                  <a:srgbClr val="FF0000"/>
                </a:solidFill>
              </a:rPr>
              <a:t>～</a:t>
            </a:r>
            <a:r>
              <a:rPr lang="en-US" altLang="zh-CN" sz="2800" b="1" dirty="0">
                <a:solidFill>
                  <a:srgbClr val="FF0000"/>
                </a:solidFill>
              </a:rPr>
              <a:t>122</a:t>
            </a:r>
          </a:p>
        </p:txBody>
      </p:sp>
      <p:sp>
        <p:nvSpPr>
          <p:cNvPr id="659460" name="Rectangle 4"/>
          <p:cNvSpPr>
            <a:spLocks noGrp="1" noChangeArrowheads="1"/>
          </p:cNvSpPr>
          <p:nvPr>
            <p:ph type="title"/>
          </p:nvPr>
        </p:nvSpPr>
        <p:spPr>
          <a:xfrm>
            <a:off x="1661770" y="188640"/>
            <a:ext cx="5154313" cy="576262"/>
          </a:xfrm>
          <a:gradFill rotWithShape="0">
            <a:gsLst>
              <a:gs pos="0">
                <a:srgbClr val="FFFFFF">
                  <a:gamma/>
                  <a:shade val="46275"/>
                  <a:invGamma/>
                </a:srgbClr>
              </a:gs>
              <a:gs pos="50000">
                <a:srgbClr val="FFFFFF"/>
              </a:gs>
              <a:gs pos="100000">
                <a:srgbClr val="FFFFFF">
                  <a:gamma/>
                  <a:shade val="46275"/>
                  <a:invGamma/>
                </a:srgbClr>
              </a:gs>
            </a:gsLst>
            <a:lin ang="5400000" scaled="1"/>
          </a:gradFill>
          <a:ln/>
          <a:scene3d>
            <a:camera prst="legacyPerspectiveBottom"/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FFFFFF"/>
            </a:extrusionClr>
          </a:sp3d>
          <a:extLst>
            <a:ext uri="{91240B29-F687-4F45-9708-019B960494DF}">
              <a14:hiddenLine xmlns:a14="http://schemas.microsoft.com/office/drawing/2010/main">
                <a:noFill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normAutofit fontScale="90000"/>
            <a:flatTx/>
          </a:bodyPr>
          <a:lstStyle/>
          <a:p>
            <a:r>
              <a:rPr lang="zh-CN" altLang="en-US" sz="4000">
                <a:solidFill>
                  <a:srgbClr val="C00000"/>
                </a:solidFill>
              </a:rPr>
              <a:t>字符在计算机中的表示</a:t>
            </a:r>
          </a:p>
        </p:txBody>
      </p:sp>
    </p:spTree>
    <p:extLst>
      <p:ext uri="{BB962C8B-B14F-4D97-AF65-F5344CB8AC3E}">
        <p14:creationId xmlns:p14="http://schemas.microsoft.com/office/powerpoint/2010/main" val="269152583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59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9459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726B4672-EE4C-4197-8AA8-337ACA5DF010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4378176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endParaRPr lang="en-US" altLang="zh-CN" sz="26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endParaRPr lang="en-US" altLang="zh-CN" sz="26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换行符的</a:t>
            </a: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ASCII</a:t>
            </a: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码值为</a:t>
            </a: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</a:t>
            </a: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十进制</a:t>
            </a: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):</a:t>
            </a:r>
            <a:r>
              <a:rPr lang="zh-CN" altLang="en-US" sz="260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1]</a:t>
            </a: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</a:p>
          <a:p>
            <a:endParaRPr lang="en-US" altLang="zh-CN" sz="26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字符</a:t>
            </a: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’0’</a:t>
            </a: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</a:t>
            </a: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ASCII</a:t>
            </a: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码值为</a:t>
            </a: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</a:t>
            </a: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十进制</a:t>
            </a: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):</a:t>
            </a:r>
            <a:r>
              <a:rPr lang="zh-CN" altLang="en-US" sz="260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2]</a:t>
            </a: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</a:p>
          <a:p>
            <a:endParaRPr lang="en-US" altLang="zh-CN" sz="26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字符</a:t>
            </a: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’D’</a:t>
            </a: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</a:t>
            </a: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ASCII</a:t>
            </a: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码值为</a:t>
            </a: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</a:t>
            </a: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十进制</a:t>
            </a: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):</a:t>
            </a:r>
            <a:r>
              <a:rPr lang="zh-CN" altLang="en-US" sz="260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3]</a:t>
            </a: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</a:p>
          <a:p>
            <a:endParaRPr lang="en-US" altLang="zh-CN" sz="26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字符</a:t>
            </a: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’x’</a:t>
            </a: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</a:t>
            </a: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ASCII</a:t>
            </a: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码值为</a:t>
            </a: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</a:t>
            </a: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十进制</a:t>
            </a: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):</a:t>
            </a:r>
            <a:r>
              <a:rPr lang="zh-CN" altLang="en-US" sz="260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4]</a:t>
            </a: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endParaRPr lang="zh-CN" altLang="en-US" sz="26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B05C4552-CDA3-406B-A591-C5F6438CE3E8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B9EE3B37-FD6C-4BC5-B320-89336BF880B5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8" name="TitleBackground">
              <a:extLst>
                <a:ext uri="{FF2B5EF4-FFF2-40B4-BE49-F238E27FC236}">
                  <a16:creationId xmlns:a16="http://schemas.microsoft.com/office/drawing/2014/main" id="{32B291A6-0D17-4C87-B855-1E16BC96CFA5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ColorBlock">
              <a:extLst>
                <a:ext uri="{FF2B5EF4-FFF2-40B4-BE49-F238E27FC236}">
                  <a16:creationId xmlns:a16="http://schemas.microsoft.com/office/drawing/2014/main" id="{983A0FAF-463E-49CD-9986-C9DD67A792BE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TypeText">
              <a:extLst>
                <a:ext uri="{FF2B5EF4-FFF2-40B4-BE49-F238E27FC236}">
                  <a16:creationId xmlns:a16="http://schemas.microsoft.com/office/drawing/2014/main" id="{5E384FC1-42F4-4D04-8862-4C17401C715D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</a:p>
          </p:txBody>
        </p:sp>
        <p:sp>
          <p:nvSpPr>
            <p:cNvPr id="11" name="TipText">
              <a:extLst>
                <a:ext uri="{FF2B5EF4-FFF2-40B4-BE49-F238E27FC236}">
                  <a16:creationId xmlns:a16="http://schemas.microsoft.com/office/drawing/2014/main" id="{2A4A834E-DB60-427C-95AE-CD75F6AF9CEB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4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C3ED3EA3-8DC8-4001-AA17-B8843EA90903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151304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09120B8F-E1C3-4B9F-9D63-F794612601D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405648" y="2443603"/>
            <a:ext cx="7650792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设字符占</a:t>
            </a: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</a:t>
            </a: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个字节（</a:t>
            </a: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8</a:t>
            </a: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位），字符</a:t>
            </a: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5</a:t>
            </a: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所对应的</a:t>
            </a: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ASCII</a:t>
            </a: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码，</a:t>
            </a:r>
          </a:p>
          <a:p>
            <a:endParaRPr lang="zh-CN" altLang="en-US" sz="26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十进制数： </a:t>
            </a:r>
            <a:r>
              <a:rPr lang="en-US" altLang="zh-CN" sz="260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1]</a:t>
            </a: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</a:p>
          <a:p>
            <a:endParaRPr lang="zh-CN" altLang="en-US" sz="26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二进制数： </a:t>
            </a:r>
            <a:r>
              <a:rPr lang="en-US" altLang="zh-CN" sz="260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2]</a:t>
            </a: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</a:p>
          <a:p>
            <a:endParaRPr lang="zh-CN" altLang="en-US" sz="26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十六进制数： </a:t>
            </a:r>
            <a:r>
              <a:rPr lang="en-US" altLang="zh-CN" sz="260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3]</a:t>
            </a: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</a:p>
          <a:p>
            <a:endParaRPr lang="zh-CN" altLang="en-US" sz="26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八进制数： </a:t>
            </a:r>
            <a:r>
              <a:rPr lang="en-US" altLang="zh-CN" sz="260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4]</a:t>
            </a: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</a:p>
          <a:p>
            <a:endParaRPr lang="en-US" altLang="zh-CN" sz="26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endParaRPr lang="zh-CN" altLang="en-US" sz="2600" dirty="0">
              <a:solidFill>
                <a:srgbClr val="639EF4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D02C95A7-3384-42FE-9AE5-94D6D81E0551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44C1173-1303-461B-9D30-0BCC7A42E94E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1524000" y="5849303"/>
            <a:ext cx="9144000" cy="36576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正常使用填空题需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05236CB6-FA23-45E9-B48A-81ABB5A6BDFC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0" y="0"/>
            <a:ext cx="5436096" cy="635000"/>
            <a:chOff x="-2563504" y="0"/>
            <a:chExt cx="9144000" cy="635000"/>
          </a:xfrm>
        </p:grpSpPr>
        <p:sp>
          <p:nvSpPr>
            <p:cNvPr id="8" name="TitleBackground">
              <a:extLst>
                <a:ext uri="{FF2B5EF4-FFF2-40B4-BE49-F238E27FC236}">
                  <a16:creationId xmlns:a16="http://schemas.microsoft.com/office/drawing/2014/main" id="{389E44D9-6DAA-413C-84A6-31950B2EE542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-2563504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ColorBlock">
              <a:extLst>
                <a:ext uri="{FF2B5EF4-FFF2-40B4-BE49-F238E27FC236}">
                  <a16:creationId xmlns:a16="http://schemas.microsoft.com/office/drawing/2014/main" id="{FD918C22-BE70-4889-8724-26B7C3F340BC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-2563504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TypeText">
              <a:extLst>
                <a:ext uri="{FF2B5EF4-FFF2-40B4-BE49-F238E27FC236}">
                  <a16:creationId xmlns:a16="http://schemas.microsoft.com/office/drawing/2014/main" id="{E92D38C3-4008-495F-8ED2-4F259BAF498C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-2136253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</a:p>
          </p:txBody>
        </p:sp>
        <p:sp>
          <p:nvSpPr>
            <p:cNvPr id="11" name="TipText">
              <a:extLst>
                <a:ext uri="{FF2B5EF4-FFF2-40B4-BE49-F238E27FC236}">
                  <a16:creationId xmlns:a16="http://schemas.microsoft.com/office/drawing/2014/main" id="{7BC690B2-ED6B-4731-B885-9F4F0C26E8A8}"/>
                </a:ext>
              </a:extLst>
            </p:cNvPr>
            <p:cNvSpPr txBox="1"/>
            <p:nvPr>
              <p:custDataLst>
                <p:tags r:id="rId10"/>
              </p:custDataLst>
            </p:nvPr>
          </p:nvSpPr>
          <p:spPr>
            <a:xfrm>
              <a:off x="32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4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 dirty="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D8E57C48-2E42-4126-B195-750E0E1D1824}"/>
              </a:ext>
            </a:extLst>
          </p:cNvPr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46808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3.0"/>
  <p:tag name="PROBLEMBLANK" val="[{&quot;num&quot;:1,&quot;caseSensitive&quot;:false,&quot;fuzzyMatch&quot;:false,&quot;Score&quot;:1.0,&quot;answers&quot;:[&quot;12&quot;]},{&quot;num&quot;:2,&quot;caseSensitive&quot;:false,&quot;fuzzyMatch&quot;:false,&quot;Score&quot;:1.0,&quot;answers&quot;:[&quot;143&quot;]},{&quot;num&quot;:3,&quot;caseSensitive&quot;:false,&quot;fuzzyMatch&quot;:false,&quot;Score&quot;:1.0,&quot;answers&quot;:[&quot;175&quot;]}]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3" val="PRODUCTVERSIONTIP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3.0"/>
  <p:tag name="PROBLEMBLANK" val="[{&quot;num&quot;:1,&quot;caseSensitive&quot;:false,&quot;fuzzyMatch&quot;:false,&quot;Score&quot;:1.0,&quot;answers&quot;:[&quot;111111&quot;]},{&quot;num&quot;:2,&quot;caseSensitive&quot;:false,&quot;fuzzyMatch&quot;:false,&quot;Score&quot;:1.0,&quot;answers&quot;:[&quot;77&quot;]},{&quot;num&quot;:3,&quot;caseSensitive&quot;:false,&quot;fuzzyMatch&quot;:false,&quot;Score&quot;:1.0,&quot;answers&quot;:[&quot;3f&quot;]}]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3" val="PRODUCTVERSIONTIP3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3.0"/>
  <p:tag name="PROBLEMBLANK" val="[{&quot;num&quot;:1,&quot;caseSensitive&quot;:false,&quot;fuzzyMatch&quot;:false,&quot;Score&quot;:1.0,&quot;answers&quot;:[&quot;1001&quot;]},{&quot;num&quot;:2,&quot;caseSensitive&quot;:false,&quot;fuzzyMatch&quot;:false,&quot;Score&quot;:1.0,&quot;answers&quot;:[&quot;1101&quot;]},{&quot;num&quot;:3,&quot;caseSensitive&quot;:false,&quot;fuzzyMatch&quot;:false,&quot;Score&quot;:1.0,&quot;answers&quot;:[&quot;110010&quot;]}]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3" val="PRODUCTVERSIONTIP3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2.0"/>
  <p:tag name="PROBLEMBLANK" val="[{&quot;num&quot;:1,&quot;caseSensitive&quot;:false,&quot;fuzzyMatch&quot;:false,&quot;Score&quot;:1.0,&quot;answers&quot;:[&quot;1d.8&quot;]},{&quot;num&quot;:2,&quot;caseSensitive&quot;:false,&quot;fuzzyMatch&quot;:false,&quot;Score&quot;:1.0,&quot;answers&quot;:[&quot;35.4&quot;]}]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3" val="PRODUCTVERSIONTIP3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2.0"/>
  <p:tag name="PROBLEMBLANK" val="[{&quot;num&quot;:1,&quot;caseSensitive&quot;:false,&quot;fuzzyMatch&quot;:false,&quot;Score&quot;:1.0,&quot;answers&quot;:[&quot;00111101.1110&quot;,&quot;111101.111&quot;]},{&quot;num&quot;:2,&quot;caseSensitive&quot;:false,&quot;fuzzyMatch&quot;:false,&quot;Score&quot;:1.0,&quot;answers&quot;:[&quot;75.7&quot;]}]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3" val="PRODUCTVERSIONTIP3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3.0"/>
  <p:tag name="PROBLEMBLANK" val="[{&quot;num&quot;:1,&quot;caseSensitive&quot;:false,&quot;fuzzyMatch&quot;:false,&quot;Score&quot;:1.0,&quot;answers&quot;:[&quot;10000001&quot;]},{&quot;num&quot;:2,&quot;caseSensitive&quot;:false,&quot;fuzzyMatch&quot;:false,&quot;Score&quot;:1.0,&quot;answers&quot;:[&quot;11111110&quot;]},{&quot;num&quot;:3,&quot;caseSensitive&quot;:false,&quot;fuzzyMatch&quot;:false,&quot;Score&quot;:1.0,&quot;answers&quot;:[&quot;11111111&quot;]}]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3" val="PRODUCTVERSIONTIP3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2.0"/>
  <p:tag name="PROBLEMBLANK" val="[{&quot;num&quot;:1,&quot;caseSensitive&quot;:false,&quot;fuzzyMatch&quot;:false,&quot;Score&quot;:1.0,&quot;answers&quot;:[&quot;15&quot;]},{&quot;num&quot;:2,&quot;caseSensitive&quot;:false,&quot;fuzzyMatch&quot;:false,&quot;Score&quot;:1.0,&quot;answers&quot;:[&quot;-3&quot;]}]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4.0"/>
  <p:tag name="PROBLEMBLANK" val="[{&quot;num&quot;:1,&quot;caseSensitive&quot;:false,&quot;fuzzyMatch&quot;:false,&quot;Score&quot;:1.0,&quot;answers&quot;:[&quot;10&quot;]},{&quot;num&quot;:2,&quot;caseSensitive&quot;:false,&quot;fuzzyMatch&quot;:false,&quot;Score&quot;:1.0,&quot;answers&quot;:[&quot;48&quot;]},{&quot;num&quot;:3,&quot;caseSensitive&quot;:false,&quot;fuzzyMatch&quot;:false,&quot;Score&quot;:1.0,&quot;answers&quot;:[&quot;68&quot;]},{&quot;num&quot;:4,&quot;caseSensitive&quot;:false,&quot;fuzzyMatch&quot;:false,&quot;Score&quot;:1.0,&quot;answers&quot;:[&quot;120&quot;]}]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4.0"/>
  <p:tag name="PROBLEMBLANK" val="[{&quot;num&quot;:1,&quot;caseSensitive&quot;:false,&quot;fuzzyMatch&quot;:false,&quot;Score&quot;:1.0,&quot;answers&quot;:[&quot;53&quot;]},{&quot;num&quot;:2,&quot;caseSensitive&quot;:false,&quot;fuzzyMatch&quot;:false,&quot;Score&quot;:1.0,&quot;answers&quot;:[&quot;00110101&quot;,&quot;0110101&quot;,&quot;110101&quot;]},{&quot;num&quot;:3,&quot;caseSensitive&quot;:false,&quot;fuzzyMatch&quot;:false,&quot;Score&quot;:1.0,&quot;answers&quot;:[&quot;35&quot;]},{&quot;num&quot;:4,&quot;caseSensitive&quot;:false,&quot;fuzzyMatch&quot;:false,&quot;Score&quot;:1.0,&quot;answers&quot;:[&quot;65&quot;]}]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3" val="PRODUCTVERSIONTIP3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【2022】精英新启程上课模板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TM02900720[[fn=积分]]</Template>
  <TotalTime>6665</TotalTime>
  <Words>2339</Words>
  <Application>Microsoft Office PowerPoint</Application>
  <PresentationFormat>宽屏</PresentationFormat>
  <Paragraphs>456</Paragraphs>
  <Slides>34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34</vt:i4>
      </vt:variant>
    </vt:vector>
  </HeadingPairs>
  <TitlesOfParts>
    <vt:vector size="51" baseType="lpstr">
      <vt:lpstr>黑体</vt:lpstr>
      <vt:lpstr>华文宋体</vt:lpstr>
      <vt:lpstr>华文中宋</vt:lpstr>
      <vt:lpstr>楷体_GB2312</vt:lpstr>
      <vt:lpstr>隶书</vt:lpstr>
      <vt:lpstr>宋体</vt:lpstr>
      <vt:lpstr>Microsoft Yahei</vt:lpstr>
      <vt:lpstr>幼圆</vt:lpstr>
      <vt:lpstr>Arial</vt:lpstr>
      <vt:lpstr>Calibri</vt:lpstr>
      <vt:lpstr>Calibri Light</vt:lpstr>
      <vt:lpstr>Tahoma</vt:lpstr>
      <vt:lpstr>Times New Roman</vt:lpstr>
      <vt:lpstr>Wingdings</vt:lpstr>
      <vt:lpstr>【2022】精英新启程上课模板</vt:lpstr>
      <vt:lpstr>公式</vt:lpstr>
      <vt:lpstr>BMP 图象</vt:lpstr>
      <vt:lpstr>计算机中的数制和码制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表：  计算机中常用进制数的表示</vt:lpstr>
      <vt:lpstr>数 制 转 换</vt:lpstr>
      <vt:lpstr>非十进制转成十进制</vt:lpstr>
      <vt:lpstr>PowerPoint 演示文稿</vt:lpstr>
      <vt:lpstr>十进制转换成非十进制</vt:lpstr>
      <vt:lpstr>PowerPoint 演示文稿</vt:lpstr>
      <vt:lpstr>PowerPoint 演示文稿</vt:lpstr>
      <vt:lpstr>PowerPoint 演示文稿</vt:lpstr>
      <vt:lpstr>十进制转换成非十进制</vt:lpstr>
      <vt:lpstr>PowerPoint 演示文稿</vt:lpstr>
      <vt:lpstr>PowerPoint 演示文稿</vt:lpstr>
      <vt:lpstr>非十进制间的转换</vt:lpstr>
      <vt:lpstr>PowerPoint 演示文稿</vt:lpstr>
      <vt:lpstr>PowerPoint 演示文稿</vt:lpstr>
      <vt:lpstr>数值数据的表示</vt:lpstr>
      <vt:lpstr>数值数据的表示</vt:lpstr>
      <vt:lpstr>数值数据的表示</vt:lpstr>
      <vt:lpstr>PowerPoint 演示文稿</vt:lpstr>
      <vt:lpstr>数值数据的表示</vt:lpstr>
      <vt:lpstr>PowerPoint 演示文稿</vt:lpstr>
      <vt:lpstr>PowerPoint 演示文稿</vt:lpstr>
      <vt:lpstr>PowerPoint 演示文稿</vt:lpstr>
      <vt:lpstr>PowerPoint 演示文稿</vt:lpstr>
      <vt:lpstr>字符在计算机中的表示</vt:lpstr>
      <vt:lpstr>PowerPoint 演示文稿</vt:lpstr>
      <vt:lpstr>字符在计算机中的表示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第一章  计算机基础知识</dc:title>
  <dc:creator>Administrator</dc:creator>
  <cp:lastModifiedBy>Administrator</cp:lastModifiedBy>
  <cp:revision>115</cp:revision>
  <dcterms:created xsi:type="dcterms:W3CDTF">2017-07-06T06:56:54Z</dcterms:created>
  <dcterms:modified xsi:type="dcterms:W3CDTF">2025-07-30T04:58:39Z</dcterms:modified>
</cp:coreProperties>
</file>