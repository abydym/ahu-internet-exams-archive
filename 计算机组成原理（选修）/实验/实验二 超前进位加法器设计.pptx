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924" r:id="rId3"/>
    <p:sldId id="810" r:id="rId4"/>
    <p:sldId id="905" r:id="rId5"/>
    <p:sldId id="920" r:id="rId6"/>
    <p:sldId id="906" r:id="rId7"/>
    <p:sldId id="904" r:id="rId8"/>
    <p:sldId id="935" r:id="rId9"/>
    <p:sldId id="936" r:id="rId10"/>
    <p:sldId id="922" r:id="rId11"/>
    <p:sldId id="925" r:id="rId12"/>
    <p:sldId id="812" r:id="rId13"/>
    <p:sldId id="813" r:id="rId14"/>
    <p:sldId id="814" r:id="rId15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 userDrawn="1">
          <p15:clr>
            <a:srgbClr val="A4A3A4"/>
          </p15:clr>
        </p15:guide>
        <p15:guide id="2" pos="2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E7F5F9"/>
    <a:srgbClr val="FFFFF3"/>
    <a:srgbClr val="CCFFFF"/>
    <a:srgbClr val="0000FF"/>
    <a:srgbClr val="FF0000"/>
    <a:srgbClr val="00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269"/>
  </p:normalViewPr>
  <p:slideViewPr>
    <p:cSldViewPr showGuides="1">
      <p:cViewPr varScale="1">
        <p:scale>
          <a:sx n="112" d="100"/>
          <a:sy n="112" d="100"/>
        </p:scale>
        <p:origin x="1506" y="114"/>
      </p:cViewPr>
      <p:guideLst>
        <p:guide orient="horz" pos="2102"/>
        <p:guide pos="29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436" name="Rectangle 4"/>
          <p:cNvSpPr>
            <a:spLocks noGrp="1" noRo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68693C-A764-4149-AD40-3D383B0066D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Freeform 8"/>
          <p:cNvSpPr/>
          <p:nvPr/>
        </p:nvSpPr>
        <p:spPr>
          <a:xfrm>
            <a:off x="-31750" y="4321175"/>
            <a:ext cx="1395413" cy="78105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23863" y="4529138"/>
            <a:ext cx="58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427451-7F34-43FE-9A8B-A6F0F3D8E505}" type="slidenum"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42415" y="2133600"/>
            <a:ext cx="6591985" cy="377762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D99198-EDBA-4816-9413-F91CB378D711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ED3AE3-BB4A-4B5C-820D-D6048728213D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F825DD4-35E9-4E6B-A9A0-3875DEB22F41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6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562AFF4-EA75-4847-8FF2-0092C3A08659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5" name="Date Placeholder 2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4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66915-1BD1-4EE5-AD46-70B76692EE6C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Date Placeholder 1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3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6CA3F09-88B8-49AA-BFA9-CE4C338630AC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F6444C-2713-410B-84BA-24EEA190D499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B27955-DA43-4ABA-BCF6-7A0864A9B967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27E5B4-B415-428F-BB5B-E0C73A435194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TextBox 13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Box 14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7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B4C3D4-13F4-4FE3-8CF8-A4F6BF93B57D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CAA463-CFDD-43EF-8153-44CE39D70562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TextBox 10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Box 11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7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59DB8FA-4BB4-4F68-A0A1-8AB327CAF615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45DE7-47EF-44E4-A9AD-9074861F30FC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B92E843-AB4C-4A7F-874B-6654E6B6B6BF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839BC4-17F6-46DE-8A1F-21BC82E58B9F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3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Freeform 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Freeform 1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" name="Freeform 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15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Freeform 1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Freeform 17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9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2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2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27" name="Group 48"/>
          <p:cNvGrpSpPr/>
          <p:nvPr/>
        </p:nvGrpSpPr>
        <p:grpSpPr>
          <a:xfrm>
            <a:off x="20638" y="0"/>
            <a:ext cx="1952625" cy="6853238"/>
            <a:chOff x="6627813" y="196102"/>
            <a:chExt cx="1952625" cy="5677649"/>
          </a:xfrm>
        </p:grpSpPr>
        <p:sp>
          <p:nvSpPr>
            <p:cNvPr id="1034" name="Freeform 27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Freeform 2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Freeform 29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Freeform 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Freeform 3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Freeform 3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3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Freeform 3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Freeform 35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3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Freeform 37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0" y="2147483646"/>
                </a:cxn>
              </a:cxnLst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Freeform 3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DFCE5-4699-4DFE-885C-AA1BB4B6AAD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>
                <a:solidFill>
                  <a:srgbClr val="FEFFFF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3ED34B-A9E2-4FF3-B6D3-F6D34459021C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1581AA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5"/>
          <p:cNvSpPr>
            <a:spLocks noGrp="1"/>
          </p:cNvSpPr>
          <p:nvPr>
            <p:ph type="ctrTitle"/>
          </p:nvPr>
        </p:nvSpPr>
        <p:spPr>
          <a:xfrm>
            <a:off x="1692275" y="1484630"/>
            <a:ext cx="6599238" cy="2262188"/>
          </a:xfrm>
          <a:ln/>
        </p:spPr>
        <p:txBody>
          <a:bodyPr vert="horz" wrap="square" lIns="91440" tIns="45720" rIns="91440" bIns="45720" anchor="b" anchorCtr="0"/>
          <a:p>
            <a:pPr algn="ctr" defTabSz="457200" eaLnBrk="1" hangingPunct="1">
              <a:buClrTx/>
              <a:buSzTx/>
              <a:buFontTx/>
            </a:pPr>
            <a:r>
              <a:rPr lang="zh-CN" altLang="en-US" kern="1200" dirty="0">
                <a:latin typeface="+mj-lt"/>
                <a:ea typeface="幼圆" panose="02010509060101010101" pitchFamily="49" charset="-122"/>
                <a:cs typeface="+mj-cs"/>
              </a:rPr>
              <a:t>计算机组成原理</a:t>
            </a:r>
            <a:br>
              <a:rPr lang="en-US" altLang="zh-CN" kern="1200" dirty="0">
                <a:latin typeface="+mj-lt"/>
                <a:ea typeface="幼圆" panose="02010509060101010101" pitchFamily="49" charset="-122"/>
                <a:cs typeface="+mj-cs"/>
              </a:rPr>
            </a:br>
            <a:r>
              <a:rPr lang="zh-CN" altLang="en-US" kern="1200" dirty="0">
                <a:latin typeface="+mj-lt"/>
                <a:ea typeface="幼圆" panose="02010509060101010101" pitchFamily="49" charset="-122"/>
                <a:cs typeface="+mj-cs"/>
              </a:rPr>
              <a:t>课程设计</a:t>
            </a:r>
            <a:endParaRPr lang="zh-CN" altLang="en-US" kern="1200" dirty="0">
              <a:latin typeface="+mj-lt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835785" y="3932873"/>
            <a:ext cx="6599238" cy="11271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实验二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超前进位加法器设计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灯片编号占位符 4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ko-KR" altLang="en-US" sz="2000" kern="1200" dirty="0">
                <a:solidFill>
                  <a:srgbClr val="FEFFFF"/>
                </a:solidFill>
                <a:latin typeface="+mn-lt"/>
                <a:ea typeface="HY중고딕"/>
                <a:cs typeface="+mn-cs"/>
              </a:rPr>
            </a:fld>
            <a:endParaRPr lang="ko-KR" altLang="en-US" sz="2000" kern="1200" dirty="0">
              <a:solidFill>
                <a:srgbClr val="FEFFFF"/>
              </a:solidFill>
              <a:latin typeface="+mn-lt"/>
              <a:ea typeface="HY중고딕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 hasCustomPrompt="1"/>
          </p:nvPr>
        </p:nvSpPr>
        <p:spPr>
          <a:xfrm>
            <a:off x="1943100" y="2133600"/>
            <a:ext cx="6591300" cy="377825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1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、实验目的 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掌握运用Verilog HDL语言进行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数据流描述与建模的技巧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和方法；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掌握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模块调用与实例引用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的方法；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掌握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超前进位加法器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的原理与设计方法。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0484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 hasCustomPrompt="1"/>
          </p:nvPr>
        </p:nvSpPr>
        <p:spPr>
          <a:xfrm>
            <a:off x="1331913" y="2060575"/>
            <a:ext cx="7366000" cy="424815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2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、实验内容与原理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要求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基于实验一的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FA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模块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，设计一个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4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位的二进制加法器，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内部为超前进位逻辑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。</a:t>
            </a:r>
            <a:endParaRPr lang="en-US" altLang="zh-CN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>
              <a:buFont typeface="Wingdings" panose="05000000000000000000" pitchFamily="2" charset="2"/>
              <a:buNone/>
            </a:pP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1508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 hasCustomPrompt="1"/>
          </p:nvPr>
        </p:nvSpPr>
        <p:spPr>
          <a:xfrm>
            <a:off x="971550" y="1989138"/>
            <a:ext cx="4105275" cy="151130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2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、实验内容与原理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超前进位加法器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253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pic>
        <p:nvPicPr>
          <p:cNvPr id="50180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843213" y="3584575"/>
            <a:ext cx="3240087" cy="2232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096963" y="1517650"/>
            <a:ext cx="6588125" cy="1079500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533400" marR="0" lvl="0" indent="-533400" algn="l" defTabSz="4572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、实验内容与原理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4572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4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位二进制超前进位加法器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0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4581" name="Rectangle 62"/>
          <p:cNvSpPr/>
          <p:nvPr/>
        </p:nvSpPr>
        <p:spPr>
          <a:xfrm>
            <a:off x="0" y="2538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421" name="Object 61"/>
          <p:cNvGraphicFramePr>
            <a:graphicFrameLocks noChangeAspect="1"/>
          </p:cNvGraphicFramePr>
          <p:nvPr/>
        </p:nvGraphicFramePr>
        <p:xfrm>
          <a:off x="804863" y="2900363"/>
          <a:ext cx="7632700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083175" imgH="1848485" progId="Visio.Drawing.11">
                  <p:embed/>
                </p:oleObj>
              </mc:Choice>
              <mc:Fallback>
                <p:oleObj name="" r:id="rId1" imgW="5083175" imgH="1848485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4863" y="2900363"/>
                        <a:ext cx="7632700" cy="2765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971550" y="1341438"/>
            <a:ext cx="7726363" cy="12954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533400" marR="0" lvl="0" indent="-533400" algn="l" defTabSz="4572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、实验内容与原理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4572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超前进位加法器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引入了进位产生函数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和进位传递函数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6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graphicFrame>
        <p:nvGraphicFramePr>
          <p:cNvPr id="14353" name="Object 17"/>
          <p:cNvGraphicFramePr>
            <a:graphicFrameLocks noChangeAspect="1"/>
          </p:cNvGraphicFramePr>
          <p:nvPr/>
        </p:nvGraphicFramePr>
        <p:xfrm>
          <a:off x="971550" y="2708275"/>
          <a:ext cx="15113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660400" imgH="393700" progId="Equation.3">
                  <p:embed/>
                </p:oleObj>
              </mc:Choice>
              <mc:Fallback>
                <p:oleObj name="" r:id="rId1" imgW="660400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2708275"/>
                        <a:ext cx="1511300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5" name="Object 19"/>
          <p:cNvGraphicFramePr>
            <a:graphicFrameLocks noChangeAspect="1"/>
          </p:cNvGraphicFramePr>
          <p:nvPr/>
        </p:nvGraphicFramePr>
        <p:xfrm>
          <a:off x="3924300" y="2852738"/>
          <a:ext cx="30956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901065" imgH="190500" progId="Equation.3">
                  <p:embed/>
                </p:oleObj>
              </mc:Choice>
              <mc:Fallback>
                <p:oleObj name="" r:id="rId3" imgW="901065" imgH="1905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4300" y="2852738"/>
                        <a:ext cx="3095625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21"/>
          <p:cNvGraphicFramePr>
            <a:graphicFrameLocks noChangeAspect="1"/>
          </p:cNvGraphicFramePr>
          <p:nvPr/>
        </p:nvGraphicFramePr>
        <p:xfrm>
          <a:off x="971550" y="3730625"/>
          <a:ext cx="7343775" cy="265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3162300" imgH="1155700" progId="Equation.3">
                  <p:embed/>
                </p:oleObj>
              </mc:Choice>
              <mc:Fallback>
                <p:oleObj name="" r:id="rId5" imgW="3162300" imgH="1155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550" y="3730625"/>
                        <a:ext cx="7343775" cy="2651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5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187450" y="1268413"/>
            <a:ext cx="7726363" cy="12954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p>
            <a:pPr marL="533400" marR="0" lvl="0" indent="-533400" algn="l" defTabSz="4572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、实验内容与原理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4572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超前进位加法器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引入了进位产生函数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和进位传递函数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353" name="Object 17"/>
          <p:cNvGraphicFramePr>
            <a:graphicFrameLocks noChangeAspect="1"/>
          </p:cNvGraphicFramePr>
          <p:nvPr/>
        </p:nvGraphicFramePr>
        <p:xfrm>
          <a:off x="1187450" y="2635250"/>
          <a:ext cx="15113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660400" imgH="393700" progId="Equation.3">
                  <p:embed/>
                </p:oleObj>
              </mc:Choice>
              <mc:Fallback>
                <p:oleObj name="" r:id="rId1" imgW="660400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2635250"/>
                        <a:ext cx="1511300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" name="组合 113"/>
          <p:cNvGrpSpPr/>
          <p:nvPr/>
        </p:nvGrpSpPr>
        <p:grpSpPr>
          <a:xfrm>
            <a:off x="1468755" y="3789045"/>
            <a:ext cx="6280785" cy="2497455"/>
            <a:chOff x="2470200" y="1424940"/>
            <a:chExt cx="7162800" cy="3389282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2470200" y="2244839"/>
              <a:ext cx="7162800" cy="1916778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accent2"/>
              </a:solidFill>
              <a:miter lim="800000"/>
            </a:ln>
            <a:effectLst>
              <a:outerShdw blurRad="50800" dist="635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/>
              <a:endParaRPr lang="zh-CN" altLang="en-US" sz="3200" dirty="0">
                <a:latin typeface="Segoe UI Black" panose="020B0A02040204020203" pitchFamily="34" charset="0"/>
                <a:ea typeface="微软雅黑" panose="020B0503020204020204" charset="-122"/>
                <a:cs typeface="Segoe UI Black" panose="020B0A02040204020203" pitchFamily="34" charset="0"/>
              </a:endParaRPr>
            </a:p>
          </p:txBody>
        </p:sp>
        <p:sp>
          <p:nvSpPr>
            <p:cNvPr id="53" name="Rectangle 138"/>
            <p:cNvSpPr>
              <a:spLocks noChangeArrowheads="1"/>
            </p:cNvSpPr>
            <p:nvPr/>
          </p:nvSpPr>
          <p:spPr bwMode="auto">
            <a:xfrm>
              <a:off x="2908425" y="1424940"/>
              <a:ext cx="130807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G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3    </a:t>
              </a: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P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3</a:t>
              </a:r>
              <a:endParaRPr lang="en-US" altLang="zh-CN" sz="2000" b="1" baseline="-25000" dirty="0">
                <a:solidFill>
                  <a:srgbClr val="0000FF"/>
                </a:solidFill>
                <a:latin typeface="Courier New" panose="02070309020205020404" pitchFamily="49" charset="0"/>
                <a:ea typeface="Segoe UI Black" panose="020B0A02040204020203" pitchFamily="34" charset="0"/>
                <a:cs typeface="Courier New" panose="02070309020205020404" pitchFamily="49" charset="0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806604" y="1882140"/>
              <a:ext cx="1441596" cy="2898918"/>
              <a:chOff x="2806604" y="1882140"/>
              <a:chExt cx="1441596" cy="2898918"/>
            </a:xfrm>
          </p:grpSpPr>
          <p:sp>
            <p:nvSpPr>
              <p:cNvPr id="51" name="Rectangle 136"/>
              <p:cNvSpPr>
                <a:spLocks noChangeArrowheads="1"/>
              </p:cNvSpPr>
              <p:nvPr/>
            </p:nvSpPr>
            <p:spPr bwMode="auto">
              <a:xfrm>
                <a:off x="2806604" y="4400058"/>
                <a:ext cx="12192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69900" indent="-4699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buFont typeface="Wingdings" panose="05000000000000000000" pitchFamily="2" charset="2"/>
                  <a:buNone/>
                </a:pP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A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3</a:t>
                </a: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B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3</a:t>
                </a:r>
                <a:endParaRPr lang="en-US" altLang="zh-CN" sz="2000" b="1" baseline="-25000" dirty="0">
                  <a:solidFill>
                    <a:schemeClr val="folHlink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5" name="Rectangle 140"/>
              <p:cNvSpPr>
                <a:spLocks noChangeArrowheads="1"/>
              </p:cNvSpPr>
              <p:nvPr/>
            </p:nvSpPr>
            <p:spPr bwMode="auto">
              <a:xfrm>
                <a:off x="2876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1800" dirty="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&amp;</a:t>
                </a:r>
                <a:endPara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56" name="Line 141"/>
              <p:cNvSpPr>
                <a:spLocks noChangeShapeType="1"/>
              </p:cNvSpPr>
              <p:nvPr/>
            </p:nvSpPr>
            <p:spPr bwMode="auto">
              <a:xfrm>
                <a:off x="30290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57" name="Line 142"/>
              <p:cNvSpPr>
                <a:spLocks noChangeShapeType="1"/>
              </p:cNvSpPr>
              <p:nvPr/>
            </p:nvSpPr>
            <p:spPr bwMode="auto">
              <a:xfrm>
                <a:off x="33338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58" name="Line 143"/>
              <p:cNvSpPr>
                <a:spLocks noChangeShapeType="1"/>
              </p:cNvSpPr>
              <p:nvPr/>
            </p:nvSpPr>
            <p:spPr bwMode="auto">
              <a:xfrm>
                <a:off x="3029000" y="34748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59" name="Line 144"/>
              <p:cNvSpPr>
                <a:spLocks noChangeShapeType="1"/>
              </p:cNvSpPr>
              <p:nvPr/>
            </p:nvSpPr>
            <p:spPr bwMode="auto">
              <a:xfrm>
                <a:off x="3332897" y="37034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60" name="Line 145"/>
              <p:cNvSpPr>
                <a:spLocks noChangeShapeType="1"/>
              </p:cNvSpPr>
              <p:nvPr/>
            </p:nvSpPr>
            <p:spPr bwMode="auto">
              <a:xfrm>
                <a:off x="3791000" y="3170064"/>
                <a:ext cx="0" cy="3048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61" name="Line 146"/>
              <p:cNvSpPr>
                <a:spLocks noChangeShapeType="1"/>
              </p:cNvSpPr>
              <p:nvPr/>
            </p:nvSpPr>
            <p:spPr bwMode="auto">
              <a:xfrm>
                <a:off x="4095800" y="3170064"/>
                <a:ext cx="0" cy="5334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62" name="Line 147"/>
              <p:cNvSpPr>
                <a:spLocks noChangeShapeType="1"/>
              </p:cNvSpPr>
              <p:nvPr/>
            </p:nvSpPr>
            <p:spPr bwMode="auto">
              <a:xfrm flipV="1">
                <a:off x="318140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64" name="Oval 149"/>
              <p:cNvSpPr>
                <a:spLocks noChangeArrowheads="1"/>
              </p:cNvSpPr>
              <p:nvPr/>
            </p:nvSpPr>
            <p:spPr bwMode="auto">
              <a:xfrm>
                <a:off x="3303639" y="36729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66" name="Oval 149"/>
              <p:cNvSpPr>
                <a:spLocks noChangeArrowheads="1"/>
              </p:cNvSpPr>
              <p:nvPr/>
            </p:nvSpPr>
            <p:spPr bwMode="auto">
              <a:xfrm>
                <a:off x="2998839" y="34443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54" name="Rectangle 139"/>
              <p:cNvSpPr>
                <a:spLocks noChangeArrowheads="1"/>
              </p:cNvSpPr>
              <p:nvPr/>
            </p:nvSpPr>
            <p:spPr bwMode="auto">
              <a:xfrm>
                <a:off x="3638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chemeClr val="accent2"/>
                  </a:buClr>
                  <a:buSzTx/>
                </a:pPr>
                <a:r>
                  <a:rPr lang="en-US" altLang="zh-CN" sz="1800" b="0" u="none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=1</a:t>
                </a:r>
                <a:endParaRPr lang="en-US" altLang="zh-CN" sz="1800" b="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67" name="Line 147"/>
              <p:cNvSpPr>
                <a:spLocks noChangeShapeType="1"/>
              </p:cNvSpPr>
              <p:nvPr/>
            </p:nvSpPr>
            <p:spPr bwMode="auto">
              <a:xfrm flipV="1">
                <a:off x="392816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4499659" y="1915304"/>
              <a:ext cx="1424940" cy="2898918"/>
              <a:chOff x="2823260" y="1882140"/>
              <a:chExt cx="1424940" cy="2898918"/>
            </a:xfrm>
          </p:grpSpPr>
          <p:sp>
            <p:nvSpPr>
              <p:cNvPr id="69" name="Rectangle 136"/>
              <p:cNvSpPr>
                <a:spLocks noChangeArrowheads="1"/>
              </p:cNvSpPr>
              <p:nvPr/>
            </p:nvSpPr>
            <p:spPr bwMode="auto">
              <a:xfrm>
                <a:off x="2823260" y="4400058"/>
                <a:ext cx="12192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69900" indent="-4699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buFont typeface="Wingdings" panose="05000000000000000000" pitchFamily="2" charset="2"/>
                  <a:buNone/>
                </a:pP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A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2</a:t>
                </a: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B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2</a:t>
                </a:r>
                <a:endParaRPr lang="en-US" altLang="zh-CN" sz="2000" b="1" baseline="-25000" dirty="0">
                  <a:solidFill>
                    <a:schemeClr val="folHlink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0" name="Rectangle 140"/>
              <p:cNvSpPr>
                <a:spLocks noChangeArrowheads="1"/>
              </p:cNvSpPr>
              <p:nvPr/>
            </p:nvSpPr>
            <p:spPr bwMode="auto">
              <a:xfrm>
                <a:off x="2876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1800" dirty="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&amp;</a:t>
                </a:r>
                <a:endPara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1" name="Line 141"/>
              <p:cNvSpPr>
                <a:spLocks noChangeShapeType="1"/>
              </p:cNvSpPr>
              <p:nvPr/>
            </p:nvSpPr>
            <p:spPr bwMode="auto">
              <a:xfrm>
                <a:off x="30290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2" name="Line 142"/>
              <p:cNvSpPr>
                <a:spLocks noChangeShapeType="1"/>
              </p:cNvSpPr>
              <p:nvPr/>
            </p:nvSpPr>
            <p:spPr bwMode="auto">
              <a:xfrm>
                <a:off x="33338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3" name="Line 143"/>
              <p:cNvSpPr>
                <a:spLocks noChangeShapeType="1"/>
              </p:cNvSpPr>
              <p:nvPr/>
            </p:nvSpPr>
            <p:spPr bwMode="auto">
              <a:xfrm>
                <a:off x="3029000" y="34748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4" name="Line 144"/>
              <p:cNvSpPr>
                <a:spLocks noChangeShapeType="1"/>
              </p:cNvSpPr>
              <p:nvPr/>
            </p:nvSpPr>
            <p:spPr bwMode="auto">
              <a:xfrm>
                <a:off x="3332897" y="37034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5" name="Line 145"/>
              <p:cNvSpPr>
                <a:spLocks noChangeShapeType="1"/>
              </p:cNvSpPr>
              <p:nvPr/>
            </p:nvSpPr>
            <p:spPr bwMode="auto">
              <a:xfrm>
                <a:off x="3791000" y="3170064"/>
                <a:ext cx="0" cy="3048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6" name="Line 146"/>
              <p:cNvSpPr>
                <a:spLocks noChangeShapeType="1"/>
              </p:cNvSpPr>
              <p:nvPr/>
            </p:nvSpPr>
            <p:spPr bwMode="auto">
              <a:xfrm>
                <a:off x="4095800" y="3170064"/>
                <a:ext cx="0" cy="5334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7" name="Line 147"/>
              <p:cNvSpPr>
                <a:spLocks noChangeShapeType="1"/>
              </p:cNvSpPr>
              <p:nvPr/>
            </p:nvSpPr>
            <p:spPr bwMode="auto">
              <a:xfrm flipV="1">
                <a:off x="318140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8" name="Oval 149"/>
              <p:cNvSpPr>
                <a:spLocks noChangeArrowheads="1"/>
              </p:cNvSpPr>
              <p:nvPr/>
            </p:nvSpPr>
            <p:spPr bwMode="auto">
              <a:xfrm>
                <a:off x="3303639" y="36729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79" name="Oval 149"/>
              <p:cNvSpPr>
                <a:spLocks noChangeArrowheads="1"/>
              </p:cNvSpPr>
              <p:nvPr/>
            </p:nvSpPr>
            <p:spPr bwMode="auto">
              <a:xfrm>
                <a:off x="2998839" y="34443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80" name="Rectangle 139"/>
              <p:cNvSpPr>
                <a:spLocks noChangeArrowheads="1"/>
              </p:cNvSpPr>
              <p:nvPr/>
            </p:nvSpPr>
            <p:spPr bwMode="auto">
              <a:xfrm>
                <a:off x="3638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chemeClr val="accent2"/>
                  </a:buClr>
                  <a:buSzTx/>
                </a:pPr>
                <a:r>
                  <a:rPr lang="en-US" altLang="zh-CN" sz="1800" b="0" u="none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=1</a:t>
                </a:r>
                <a:endParaRPr lang="en-US" altLang="zh-CN" sz="1800" b="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81" name="Line 147"/>
              <p:cNvSpPr>
                <a:spLocks noChangeShapeType="1"/>
              </p:cNvSpPr>
              <p:nvPr/>
            </p:nvSpPr>
            <p:spPr bwMode="auto">
              <a:xfrm flipV="1">
                <a:off x="392816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6176057" y="1906169"/>
              <a:ext cx="1424940" cy="2898918"/>
              <a:chOff x="2823260" y="1882140"/>
              <a:chExt cx="1424940" cy="2898918"/>
            </a:xfrm>
          </p:grpSpPr>
          <p:sp>
            <p:nvSpPr>
              <p:cNvPr id="83" name="Rectangle 136"/>
              <p:cNvSpPr>
                <a:spLocks noChangeArrowheads="1"/>
              </p:cNvSpPr>
              <p:nvPr/>
            </p:nvSpPr>
            <p:spPr bwMode="auto">
              <a:xfrm>
                <a:off x="2823260" y="4400058"/>
                <a:ext cx="12192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69900" indent="-4699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buFont typeface="Wingdings" panose="05000000000000000000" pitchFamily="2" charset="2"/>
                  <a:buNone/>
                </a:pP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A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1</a:t>
                </a: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B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1</a:t>
                </a:r>
                <a:endParaRPr lang="en-US" altLang="zh-CN" sz="2000" b="1" baseline="-25000" dirty="0">
                  <a:solidFill>
                    <a:schemeClr val="folHlink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4" name="Rectangle 140"/>
              <p:cNvSpPr>
                <a:spLocks noChangeArrowheads="1"/>
              </p:cNvSpPr>
              <p:nvPr/>
            </p:nvSpPr>
            <p:spPr bwMode="auto">
              <a:xfrm>
                <a:off x="2876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1800" dirty="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&amp;</a:t>
                </a:r>
                <a:endPara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85" name="Line 141"/>
              <p:cNvSpPr>
                <a:spLocks noChangeShapeType="1"/>
              </p:cNvSpPr>
              <p:nvPr/>
            </p:nvSpPr>
            <p:spPr bwMode="auto">
              <a:xfrm>
                <a:off x="30290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86" name="Line 142"/>
              <p:cNvSpPr>
                <a:spLocks noChangeShapeType="1"/>
              </p:cNvSpPr>
              <p:nvPr/>
            </p:nvSpPr>
            <p:spPr bwMode="auto">
              <a:xfrm>
                <a:off x="33338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87" name="Line 143"/>
              <p:cNvSpPr>
                <a:spLocks noChangeShapeType="1"/>
              </p:cNvSpPr>
              <p:nvPr/>
            </p:nvSpPr>
            <p:spPr bwMode="auto">
              <a:xfrm>
                <a:off x="3029000" y="34748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88" name="Line 144"/>
              <p:cNvSpPr>
                <a:spLocks noChangeShapeType="1"/>
              </p:cNvSpPr>
              <p:nvPr/>
            </p:nvSpPr>
            <p:spPr bwMode="auto">
              <a:xfrm>
                <a:off x="3332897" y="37034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89" name="Line 145"/>
              <p:cNvSpPr>
                <a:spLocks noChangeShapeType="1"/>
              </p:cNvSpPr>
              <p:nvPr/>
            </p:nvSpPr>
            <p:spPr bwMode="auto">
              <a:xfrm>
                <a:off x="3791000" y="3170064"/>
                <a:ext cx="0" cy="3048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90" name="Line 146"/>
              <p:cNvSpPr>
                <a:spLocks noChangeShapeType="1"/>
              </p:cNvSpPr>
              <p:nvPr/>
            </p:nvSpPr>
            <p:spPr bwMode="auto">
              <a:xfrm>
                <a:off x="4095800" y="3170064"/>
                <a:ext cx="0" cy="5334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91" name="Line 147"/>
              <p:cNvSpPr>
                <a:spLocks noChangeShapeType="1"/>
              </p:cNvSpPr>
              <p:nvPr/>
            </p:nvSpPr>
            <p:spPr bwMode="auto">
              <a:xfrm flipV="1">
                <a:off x="318140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92" name="Oval 149"/>
              <p:cNvSpPr>
                <a:spLocks noChangeArrowheads="1"/>
              </p:cNvSpPr>
              <p:nvPr/>
            </p:nvSpPr>
            <p:spPr bwMode="auto">
              <a:xfrm>
                <a:off x="3303639" y="36729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93" name="Oval 149"/>
              <p:cNvSpPr>
                <a:spLocks noChangeArrowheads="1"/>
              </p:cNvSpPr>
              <p:nvPr/>
            </p:nvSpPr>
            <p:spPr bwMode="auto">
              <a:xfrm>
                <a:off x="2998839" y="34443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94" name="Rectangle 139"/>
              <p:cNvSpPr>
                <a:spLocks noChangeArrowheads="1"/>
              </p:cNvSpPr>
              <p:nvPr/>
            </p:nvSpPr>
            <p:spPr bwMode="auto">
              <a:xfrm>
                <a:off x="3638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chemeClr val="accent2"/>
                  </a:buClr>
                  <a:buSzTx/>
                </a:pPr>
                <a:r>
                  <a:rPr lang="en-US" altLang="zh-CN" sz="1800" b="0" u="none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=1</a:t>
                </a:r>
                <a:endParaRPr lang="en-US" altLang="zh-CN" sz="1800" b="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95" name="Line 147"/>
              <p:cNvSpPr>
                <a:spLocks noChangeShapeType="1"/>
              </p:cNvSpPr>
              <p:nvPr/>
            </p:nvSpPr>
            <p:spPr bwMode="auto">
              <a:xfrm flipV="1">
                <a:off x="392816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7852455" y="1909734"/>
              <a:ext cx="1424940" cy="2898918"/>
              <a:chOff x="2823260" y="1882140"/>
              <a:chExt cx="1424940" cy="2898918"/>
            </a:xfrm>
          </p:grpSpPr>
          <p:sp>
            <p:nvSpPr>
              <p:cNvPr id="97" name="Rectangle 136"/>
              <p:cNvSpPr>
                <a:spLocks noChangeArrowheads="1"/>
              </p:cNvSpPr>
              <p:nvPr/>
            </p:nvSpPr>
            <p:spPr bwMode="auto">
              <a:xfrm>
                <a:off x="2823260" y="4400058"/>
                <a:ext cx="12192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69900" indent="-4699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buFont typeface="Wingdings" panose="05000000000000000000" pitchFamily="2" charset="2"/>
                  <a:buNone/>
                </a:pP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A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0</a:t>
                </a:r>
                <a:r>
                  <a:rPr lang="en-US" altLang="zh-CN" sz="2000" b="1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B</a:t>
                </a:r>
                <a:r>
                  <a:rPr lang="en-US" altLang="zh-CN" sz="2000" b="1" baseline="-25000" dirty="0">
                    <a:latin typeface="Courier New" panose="02070309020205020404" pitchFamily="49" charset="0"/>
                    <a:ea typeface="Segoe UI Black" panose="020B0A02040204020203" pitchFamily="34" charset="0"/>
                    <a:cs typeface="Courier New" panose="02070309020205020404" pitchFamily="49" charset="0"/>
                  </a:rPr>
                  <a:t>0</a:t>
                </a:r>
                <a:endParaRPr lang="en-US" altLang="zh-CN" sz="2000" b="1" baseline="-25000" dirty="0">
                  <a:solidFill>
                    <a:schemeClr val="folHlink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8" name="Rectangle 140"/>
              <p:cNvSpPr>
                <a:spLocks noChangeArrowheads="1"/>
              </p:cNvSpPr>
              <p:nvPr/>
            </p:nvSpPr>
            <p:spPr bwMode="auto">
              <a:xfrm>
                <a:off x="2876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1800" dirty="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&amp;</a:t>
                </a:r>
                <a:endPara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99" name="Line 141"/>
              <p:cNvSpPr>
                <a:spLocks noChangeShapeType="1"/>
              </p:cNvSpPr>
              <p:nvPr/>
            </p:nvSpPr>
            <p:spPr bwMode="auto">
              <a:xfrm>
                <a:off x="30290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0" name="Line 142"/>
              <p:cNvSpPr>
                <a:spLocks noChangeShapeType="1"/>
              </p:cNvSpPr>
              <p:nvPr/>
            </p:nvSpPr>
            <p:spPr bwMode="auto">
              <a:xfrm>
                <a:off x="3333800" y="3170064"/>
                <a:ext cx="0" cy="12620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1" name="Line 143"/>
              <p:cNvSpPr>
                <a:spLocks noChangeShapeType="1"/>
              </p:cNvSpPr>
              <p:nvPr/>
            </p:nvSpPr>
            <p:spPr bwMode="auto">
              <a:xfrm>
                <a:off x="3029000" y="34748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2" name="Line 144"/>
              <p:cNvSpPr>
                <a:spLocks noChangeShapeType="1"/>
              </p:cNvSpPr>
              <p:nvPr/>
            </p:nvSpPr>
            <p:spPr bwMode="auto">
              <a:xfrm>
                <a:off x="3332897" y="3703464"/>
                <a:ext cx="76200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3" name="Line 145"/>
              <p:cNvSpPr>
                <a:spLocks noChangeShapeType="1"/>
              </p:cNvSpPr>
              <p:nvPr/>
            </p:nvSpPr>
            <p:spPr bwMode="auto">
              <a:xfrm>
                <a:off x="3791000" y="3170064"/>
                <a:ext cx="0" cy="3048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4" name="Line 146"/>
              <p:cNvSpPr>
                <a:spLocks noChangeShapeType="1"/>
              </p:cNvSpPr>
              <p:nvPr/>
            </p:nvSpPr>
            <p:spPr bwMode="auto">
              <a:xfrm>
                <a:off x="4095800" y="3170064"/>
                <a:ext cx="0" cy="53340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5" name="Line 147"/>
              <p:cNvSpPr>
                <a:spLocks noChangeShapeType="1"/>
              </p:cNvSpPr>
              <p:nvPr/>
            </p:nvSpPr>
            <p:spPr bwMode="auto">
              <a:xfrm flipV="1">
                <a:off x="318140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6" name="Oval 149"/>
              <p:cNvSpPr>
                <a:spLocks noChangeArrowheads="1"/>
              </p:cNvSpPr>
              <p:nvPr/>
            </p:nvSpPr>
            <p:spPr bwMode="auto">
              <a:xfrm>
                <a:off x="3303639" y="36729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07" name="Oval 149"/>
              <p:cNvSpPr>
                <a:spLocks noChangeArrowheads="1"/>
              </p:cNvSpPr>
              <p:nvPr/>
            </p:nvSpPr>
            <p:spPr bwMode="auto">
              <a:xfrm>
                <a:off x="2998839" y="3444383"/>
                <a:ext cx="67416" cy="6667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Clr>
                    <a:schemeClr val="hlink"/>
                  </a:buClr>
                  <a:buSzPct val="65000"/>
                  <a:buFont typeface="Wingdings" panose="05000000000000000000" pitchFamily="2" charset="2"/>
                  <a:buNone/>
                </a:pPr>
                <a:endParaRPr lang="zh-CN" altLang="en-US" sz="3200" dirty="0">
                  <a:solidFill>
                    <a:srgbClr val="FF3300"/>
                  </a:solidFill>
                  <a:latin typeface="Segoe UI Black" panose="020B0A02040204020203" pitchFamily="34" charset="0"/>
                  <a:ea typeface="微软雅黑" panose="020B050302020402020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08" name="Rectangle 139"/>
              <p:cNvSpPr>
                <a:spLocks noChangeArrowheads="1"/>
              </p:cNvSpPr>
              <p:nvPr/>
            </p:nvSpPr>
            <p:spPr bwMode="auto">
              <a:xfrm>
                <a:off x="3638600" y="2789064"/>
                <a:ext cx="609600" cy="381000"/>
              </a:xfrm>
              <a:prstGeom prst="rect">
                <a:avLst/>
              </a:prstGeom>
              <a:solidFill>
                <a:srgbClr val="FFCC00"/>
              </a:solidFill>
              <a:ln w="19050">
                <a:solidFill>
                  <a:schemeClr val="accent2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5000"/>
                  <a:buFont typeface="Wingdings" panose="05000000000000000000" pitchFamily="2" charset="2"/>
                  <a:defRPr sz="2400" b="1" u="sng">
                    <a:solidFill>
                      <a:srgbClr val="FF3300"/>
                    </a:solidFill>
                    <a:latin typeface="Arial" panose="020B0604020202020204" pitchFamily="34" charset="0"/>
                    <a:ea typeface="华文新魏" panose="0201080004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chemeClr val="accent2"/>
                  </a:buClr>
                  <a:buSzTx/>
                </a:pPr>
                <a:r>
                  <a:rPr lang="en-US" altLang="zh-CN" sz="1800" b="0" u="none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=1</a:t>
                </a:r>
                <a:endParaRPr lang="en-US" altLang="zh-CN" sz="1800" b="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09" name="Line 147"/>
              <p:cNvSpPr>
                <a:spLocks noChangeShapeType="1"/>
              </p:cNvSpPr>
              <p:nvPr/>
            </p:nvSpPr>
            <p:spPr bwMode="auto">
              <a:xfrm flipV="1">
                <a:off x="3928160" y="1882140"/>
                <a:ext cx="0" cy="906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 sz="2800"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</p:grpSp>
        <p:sp>
          <p:nvSpPr>
            <p:cNvPr id="111" name="Rectangle 138"/>
            <p:cNvSpPr>
              <a:spLocks noChangeArrowheads="1"/>
            </p:cNvSpPr>
            <p:nvPr/>
          </p:nvSpPr>
          <p:spPr bwMode="auto">
            <a:xfrm>
              <a:off x="4574664" y="1424940"/>
              <a:ext cx="130807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G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2    </a:t>
              </a: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P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2</a:t>
              </a:r>
              <a:endParaRPr lang="en-US" altLang="zh-CN" sz="2000" b="1" baseline="-25000" dirty="0">
                <a:solidFill>
                  <a:srgbClr val="0000FF"/>
                </a:solidFill>
                <a:latin typeface="Courier New" panose="02070309020205020404" pitchFamily="49" charset="0"/>
                <a:ea typeface="Segoe UI Black" panose="020B0A02040204020203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12" name="Rectangle 138"/>
            <p:cNvSpPr>
              <a:spLocks noChangeArrowheads="1"/>
            </p:cNvSpPr>
            <p:nvPr/>
          </p:nvSpPr>
          <p:spPr bwMode="auto">
            <a:xfrm>
              <a:off x="6252281" y="1424940"/>
              <a:ext cx="130807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G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1    </a:t>
              </a: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P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1</a:t>
              </a:r>
              <a:endParaRPr lang="en-US" altLang="zh-CN" sz="2000" b="1" baseline="-25000" dirty="0">
                <a:solidFill>
                  <a:srgbClr val="0000FF"/>
                </a:solidFill>
                <a:latin typeface="Courier New" panose="02070309020205020404" pitchFamily="49" charset="0"/>
                <a:ea typeface="Segoe UI Black" panose="020B0A02040204020203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13" name="Rectangle 138"/>
            <p:cNvSpPr>
              <a:spLocks noChangeArrowheads="1"/>
            </p:cNvSpPr>
            <p:nvPr/>
          </p:nvSpPr>
          <p:spPr bwMode="auto">
            <a:xfrm>
              <a:off x="7931220" y="1424940"/>
              <a:ext cx="130807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G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0    </a:t>
              </a:r>
              <a:r>
                <a:rPr lang="en-US" altLang="zh-CN" sz="2000" b="1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P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Courier New" panose="02070309020205020404" pitchFamily="49" charset="0"/>
                  <a:ea typeface="Segoe UI Black" panose="020B0A02040204020203" pitchFamily="34" charset="0"/>
                  <a:cs typeface="Courier New" panose="02070309020205020404" pitchFamily="49" charset="0"/>
                </a:rPr>
                <a:t>0</a:t>
              </a:r>
              <a:endParaRPr lang="en-US" altLang="zh-CN" sz="2000" b="1" baseline="-25000" dirty="0">
                <a:solidFill>
                  <a:srgbClr val="0000FF"/>
                </a:solidFill>
                <a:latin typeface="Courier New" panose="02070309020205020404" pitchFamily="49" charset="0"/>
                <a:ea typeface="Segoe UI Black" panose="020B0A02040204020203" pitchFamily="34" charset="0"/>
                <a:cs typeface="Courier New" panose="020703090202050204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Rectangle 260"/>
          <p:cNvSpPr>
            <a:spLocks noChangeArrowheads="1"/>
          </p:cNvSpPr>
          <p:nvPr/>
        </p:nvSpPr>
        <p:spPr bwMode="auto">
          <a:xfrm>
            <a:off x="609993" y="623187"/>
            <a:ext cx="7940988" cy="30362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sq">
            <a:solidFill>
              <a:schemeClr val="tx1"/>
            </a:solidFill>
            <a:prstDash val="solid"/>
            <a:miter lim="800000"/>
          </a:ln>
          <a:effectLst>
            <a:outerShdw blurRad="165100" dist="762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/>
            <a:endParaRPr lang="zh-CN" altLang="en-US" sz="1800" dirty="0">
              <a:latin typeface="Segoe UI Black" panose="020B0A02040204020203" pitchFamily="34" charset="0"/>
              <a:ea typeface="微软雅黑" panose="020B0503020204020204" charset="-122"/>
              <a:cs typeface="Segoe UI Black" panose="020B0A02040204020203" pitchFamily="34" charset="0"/>
            </a:endParaRPr>
          </a:p>
        </p:txBody>
      </p:sp>
      <p:sp>
        <p:nvSpPr>
          <p:cNvPr id="129" name="Rectangle 7"/>
          <p:cNvSpPr>
            <a:spLocks noChangeArrowheads="1"/>
          </p:cNvSpPr>
          <p:nvPr/>
        </p:nvSpPr>
        <p:spPr bwMode="auto">
          <a:xfrm>
            <a:off x="8530660" y="2346000"/>
            <a:ext cx="1366837" cy="56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ea typeface="微软雅黑" panose="020B0503020204020204" charset="-122"/>
              </a:rPr>
              <a:t>c</a:t>
            </a:r>
            <a:r>
              <a:rPr lang="en-US" altLang="zh-CN" sz="2400" b="1" baseline="-25000" dirty="0">
                <a:solidFill>
                  <a:srgbClr val="008000"/>
                </a:solidFill>
                <a:ea typeface="微软雅黑" panose="020B0503020204020204" charset="-122"/>
              </a:rPr>
              <a:t>0</a:t>
            </a:r>
            <a:r>
              <a:rPr lang="en-US" altLang="zh-CN" sz="2000" b="1" baseline="-25000" dirty="0">
                <a:ea typeface="微软雅黑" panose="020B0503020204020204" charset="-122"/>
              </a:rPr>
              <a:t> </a:t>
            </a:r>
            <a:endParaRPr lang="en-US" altLang="zh-CN" sz="2000" b="1" baseline="-25000" dirty="0">
              <a:solidFill>
                <a:schemeClr val="folHlink"/>
              </a:solidFill>
              <a:ea typeface="微软雅黑" panose="020B0503020204020204" charset="-122"/>
            </a:endParaRPr>
          </a:p>
        </p:txBody>
      </p:sp>
      <p:sp>
        <p:nvSpPr>
          <p:cNvPr id="130" name="Line 41"/>
          <p:cNvSpPr>
            <a:spLocks noChangeShapeType="1"/>
          </p:cNvSpPr>
          <p:nvPr/>
        </p:nvSpPr>
        <p:spPr bwMode="auto">
          <a:xfrm flipH="1">
            <a:off x="6256887" y="2043372"/>
            <a:ext cx="0" cy="182880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31" name="Line 50"/>
          <p:cNvSpPr>
            <a:spLocks noChangeShapeType="1"/>
          </p:cNvSpPr>
          <p:nvPr/>
        </p:nvSpPr>
        <p:spPr bwMode="auto">
          <a:xfrm>
            <a:off x="6409287" y="2043372"/>
            <a:ext cx="0" cy="38100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32" name="Line 85"/>
          <p:cNvSpPr>
            <a:spLocks noChangeShapeType="1"/>
          </p:cNvSpPr>
          <p:nvPr/>
        </p:nvSpPr>
        <p:spPr bwMode="auto">
          <a:xfrm flipV="1">
            <a:off x="8009487" y="2043372"/>
            <a:ext cx="0" cy="182880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grpSp>
        <p:nvGrpSpPr>
          <p:cNvPr id="133" name="Group 14"/>
          <p:cNvGrpSpPr/>
          <p:nvPr/>
        </p:nvGrpSpPr>
        <p:grpSpPr bwMode="auto">
          <a:xfrm>
            <a:off x="5113887" y="1205172"/>
            <a:ext cx="1308100" cy="2667000"/>
            <a:chOff x="0" y="0"/>
            <a:chExt cx="824" cy="1680"/>
          </a:xfrm>
        </p:grpSpPr>
        <p:sp>
          <p:nvSpPr>
            <p:cNvPr id="134" name="Line 108"/>
            <p:cNvSpPr>
              <a:spLocks noChangeShapeType="1"/>
            </p:cNvSpPr>
            <p:nvPr/>
          </p:nvSpPr>
          <p:spPr bwMode="auto">
            <a:xfrm>
              <a:off x="584" y="0"/>
              <a:ext cx="0" cy="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5" name="Line 104"/>
            <p:cNvSpPr>
              <a:spLocks noChangeShapeType="1"/>
            </p:cNvSpPr>
            <p:nvPr/>
          </p:nvSpPr>
          <p:spPr bwMode="auto">
            <a:xfrm>
              <a:off x="480" y="0"/>
              <a:ext cx="0" cy="33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grpSp>
          <p:nvGrpSpPr>
            <p:cNvPr id="136" name="Group 17"/>
            <p:cNvGrpSpPr/>
            <p:nvPr/>
          </p:nvGrpSpPr>
          <p:grpSpPr bwMode="auto">
            <a:xfrm>
              <a:off x="0" y="0"/>
              <a:ext cx="384" cy="1680"/>
              <a:chOff x="0" y="0"/>
              <a:chExt cx="384" cy="1680"/>
            </a:xfrm>
          </p:grpSpPr>
          <p:sp>
            <p:nvSpPr>
              <p:cNvPr id="137" name="Line 109"/>
              <p:cNvSpPr>
                <a:spLocks noChangeShapeType="1"/>
              </p:cNvSpPr>
              <p:nvPr/>
            </p:nvSpPr>
            <p:spPr bwMode="auto">
              <a:xfrm>
                <a:off x="384" y="0"/>
                <a:ext cx="0" cy="96"/>
              </a:xfrm>
              <a:prstGeom prst="line">
                <a:avLst/>
              </a:prstGeom>
              <a:noFill/>
              <a:ln w="19050" cap="sq">
                <a:solidFill>
                  <a:srgbClr val="0000C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Line 110"/>
              <p:cNvSpPr>
                <a:spLocks noChangeShapeType="1"/>
              </p:cNvSpPr>
              <p:nvPr/>
            </p:nvSpPr>
            <p:spPr bwMode="auto">
              <a:xfrm>
                <a:off x="0" y="96"/>
                <a:ext cx="384" cy="0"/>
              </a:xfrm>
              <a:prstGeom prst="line">
                <a:avLst/>
              </a:prstGeom>
              <a:noFill/>
              <a:ln w="19050" cap="sq">
                <a:solidFill>
                  <a:srgbClr val="0000C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Line 111"/>
              <p:cNvSpPr>
                <a:spLocks noChangeShapeType="1"/>
              </p:cNvSpPr>
              <p:nvPr/>
            </p:nvSpPr>
            <p:spPr bwMode="auto">
              <a:xfrm>
                <a:off x="0" y="96"/>
                <a:ext cx="0" cy="1584"/>
              </a:xfrm>
              <a:prstGeom prst="line">
                <a:avLst/>
              </a:prstGeom>
              <a:noFill/>
              <a:ln w="19050" cap="sq">
                <a:solidFill>
                  <a:srgbClr val="0000C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0" name="Line 112"/>
            <p:cNvSpPr>
              <a:spLocks noChangeShapeType="1"/>
            </p:cNvSpPr>
            <p:nvPr/>
          </p:nvSpPr>
          <p:spPr bwMode="auto">
            <a:xfrm>
              <a:off x="584" y="96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41" name="Line 113"/>
            <p:cNvSpPr>
              <a:spLocks noChangeShapeType="1"/>
            </p:cNvSpPr>
            <p:nvPr/>
          </p:nvSpPr>
          <p:spPr bwMode="auto">
            <a:xfrm>
              <a:off x="824" y="96"/>
              <a:ext cx="0" cy="24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</p:grpSp>
      <p:sp>
        <p:nvSpPr>
          <p:cNvPr id="142" name="Line 128"/>
          <p:cNvSpPr>
            <a:spLocks noChangeShapeType="1"/>
          </p:cNvSpPr>
          <p:nvPr/>
        </p:nvSpPr>
        <p:spPr bwMode="auto">
          <a:xfrm flipH="1">
            <a:off x="2980287" y="2271972"/>
            <a:ext cx="5791200" cy="0"/>
          </a:xfrm>
          <a:prstGeom prst="line">
            <a:avLst/>
          </a:prstGeom>
          <a:noFill/>
          <a:ln w="19050" cap="sq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3" name="Line 130"/>
          <p:cNvSpPr>
            <a:spLocks noChangeShapeType="1"/>
          </p:cNvSpPr>
          <p:nvPr/>
        </p:nvSpPr>
        <p:spPr bwMode="auto">
          <a:xfrm>
            <a:off x="8314287" y="2043372"/>
            <a:ext cx="0" cy="228600"/>
          </a:xfrm>
          <a:prstGeom prst="line">
            <a:avLst/>
          </a:prstGeom>
          <a:noFill/>
          <a:ln w="19050" cap="sq">
            <a:solidFill>
              <a:srgbClr val="008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4" name="Line 134"/>
          <p:cNvSpPr>
            <a:spLocks noChangeShapeType="1"/>
          </p:cNvSpPr>
          <p:nvPr/>
        </p:nvSpPr>
        <p:spPr bwMode="auto">
          <a:xfrm>
            <a:off x="6553750" y="2043372"/>
            <a:ext cx="0" cy="228600"/>
          </a:xfrm>
          <a:prstGeom prst="line">
            <a:avLst/>
          </a:prstGeom>
          <a:noFill/>
          <a:ln w="19050" cap="sq">
            <a:solidFill>
              <a:srgbClr val="008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5" name="Line 137"/>
          <p:cNvSpPr>
            <a:spLocks noChangeShapeType="1"/>
          </p:cNvSpPr>
          <p:nvPr/>
        </p:nvSpPr>
        <p:spPr bwMode="auto">
          <a:xfrm>
            <a:off x="4745587" y="2043372"/>
            <a:ext cx="0" cy="228600"/>
          </a:xfrm>
          <a:prstGeom prst="line">
            <a:avLst/>
          </a:prstGeom>
          <a:noFill/>
          <a:ln w="19050" cap="sq">
            <a:solidFill>
              <a:srgbClr val="008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6" name="Line 141"/>
          <p:cNvSpPr>
            <a:spLocks noChangeShapeType="1"/>
          </p:cNvSpPr>
          <p:nvPr/>
        </p:nvSpPr>
        <p:spPr bwMode="auto">
          <a:xfrm>
            <a:off x="2904087" y="2424372"/>
            <a:ext cx="5105400" cy="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7" name="Line 143"/>
          <p:cNvSpPr>
            <a:spLocks noChangeShapeType="1"/>
          </p:cNvSpPr>
          <p:nvPr/>
        </p:nvSpPr>
        <p:spPr bwMode="auto">
          <a:xfrm>
            <a:off x="4643987" y="2043372"/>
            <a:ext cx="0" cy="38100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8" name="Line 148"/>
          <p:cNvSpPr>
            <a:spLocks noChangeShapeType="1"/>
          </p:cNvSpPr>
          <p:nvPr/>
        </p:nvSpPr>
        <p:spPr bwMode="auto">
          <a:xfrm>
            <a:off x="2446887" y="2576772"/>
            <a:ext cx="4495800" cy="0"/>
          </a:xfrm>
          <a:prstGeom prst="line">
            <a:avLst/>
          </a:prstGeom>
          <a:noFill/>
          <a:ln w="19050" cap="sq">
            <a:solidFill>
              <a:srgbClr val="0000CC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9" name="Line 114"/>
          <p:cNvSpPr>
            <a:spLocks noChangeShapeType="1"/>
          </p:cNvSpPr>
          <p:nvPr/>
        </p:nvSpPr>
        <p:spPr bwMode="auto">
          <a:xfrm>
            <a:off x="6028287" y="2043372"/>
            <a:ext cx="0" cy="533400"/>
          </a:xfrm>
          <a:prstGeom prst="line">
            <a:avLst/>
          </a:prstGeom>
          <a:noFill/>
          <a:ln w="19050" cap="sq">
            <a:solidFill>
              <a:srgbClr val="0000CC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50" name="Line 160"/>
          <p:cNvSpPr>
            <a:spLocks noChangeShapeType="1"/>
          </p:cNvSpPr>
          <p:nvPr/>
        </p:nvSpPr>
        <p:spPr bwMode="auto">
          <a:xfrm>
            <a:off x="2370687" y="2729172"/>
            <a:ext cx="3886200" cy="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51" name="Line 90"/>
          <p:cNvSpPr>
            <a:spLocks noChangeShapeType="1"/>
          </p:cNvSpPr>
          <p:nvPr/>
        </p:nvSpPr>
        <p:spPr bwMode="auto">
          <a:xfrm>
            <a:off x="5723487" y="2043372"/>
            <a:ext cx="0" cy="68580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52" name="Line 166"/>
          <p:cNvSpPr>
            <a:spLocks noChangeShapeType="1"/>
          </p:cNvSpPr>
          <p:nvPr/>
        </p:nvSpPr>
        <p:spPr bwMode="auto">
          <a:xfrm>
            <a:off x="4534450" y="2043372"/>
            <a:ext cx="0" cy="68580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53" name="Line 169"/>
          <p:cNvSpPr>
            <a:spLocks noChangeShapeType="1"/>
          </p:cNvSpPr>
          <p:nvPr/>
        </p:nvSpPr>
        <p:spPr bwMode="auto">
          <a:xfrm>
            <a:off x="4415387" y="2043372"/>
            <a:ext cx="0" cy="182880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grpSp>
        <p:nvGrpSpPr>
          <p:cNvPr id="154" name="Group 35"/>
          <p:cNvGrpSpPr/>
          <p:nvPr/>
        </p:nvGrpSpPr>
        <p:grpSpPr bwMode="auto">
          <a:xfrm>
            <a:off x="3208887" y="1205172"/>
            <a:ext cx="1371600" cy="2667000"/>
            <a:chOff x="0" y="0"/>
            <a:chExt cx="864" cy="1680"/>
          </a:xfrm>
        </p:grpSpPr>
        <p:sp>
          <p:nvSpPr>
            <p:cNvPr id="155" name="Line 173"/>
            <p:cNvSpPr>
              <a:spLocks noChangeShapeType="1"/>
            </p:cNvSpPr>
            <p:nvPr/>
          </p:nvSpPr>
          <p:spPr bwMode="auto">
            <a:xfrm>
              <a:off x="192" y="192"/>
              <a:ext cx="0" cy="144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grpSp>
          <p:nvGrpSpPr>
            <p:cNvPr id="156" name="Group 37"/>
            <p:cNvGrpSpPr/>
            <p:nvPr/>
          </p:nvGrpSpPr>
          <p:grpSpPr bwMode="auto">
            <a:xfrm>
              <a:off x="0" y="0"/>
              <a:ext cx="864" cy="1680"/>
              <a:chOff x="0" y="0"/>
              <a:chExt cx="864" cy="1680"/>
            </a:xfrm>
          </p:grpSpPr>
          <p:sp>
            <p:nvSpPr>
              <p:cNvPr id="157" name="Line 170"/>
              <p:cNvSpPr>
                <a:spLocks noChangeShapeType="1"/>
              </p:cNvSpPr>
              <p:nvPr/>
            </p:nvSpPr>
            <p:spPr bwMode="auto">
              <a:xfrm>
                <a:off x="432" y="0"/>
                <a:ext cx="0" cy="96"/>
              </a:xfrm>
              <a:prstGeom prst="line">
                <a:avLst/>
              </a:prstGeom>
              <a:noFill/>
              <a:ln w="19050" cap="sq">
                <a:solidFill>
                  <a:srgbClr val="0000C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Line 171"/>
              <p:cNvSpPr>
                <a:spLocks noChangeShapeType="1"/>
              </p:cNvSpPr>
              <p:nvPr/>
            </p:nvSpPr>
            <p:spPr bwMode="auto">
              <a:xfrm>
                <a:off x="0" y="96"/>
                <a:ext cx="432" cy="0"/>
              </a:xfrm>
              <a:prstGeom prst="line">
                <a:avLst/>
              </a:prstGeom>
              <a:noFill/>
              <a:ln w="19050" cap="sq">
                <a:solidFill>
                  <a:srgbClr val="0000C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Line 172"/>
              <p:cNvSpPr>
                <a:spLocks noChangeShapeType="1"/>
              </p:cNvSpPr>
              <p:nvPr/>
            </p:nvSpPr>
            <p:spPr bwMode="auto">
              <a:xfrm>
                <a:off x="0" y="96"/>
                <a:ext cx="0" cy="1584"/>
              </a:xfrm>
              <a:prstGeom prst="line">
                <a:avLst/>
              </a:prstGeom>
              <a:noFill/>
              <a:ln w="19050" cap="sq">
                <a:solidFill>
                  <a:srgbClr val="0000C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Line 174"/>
              <p:cNvSpPr>
                <a:spLocks noChangeShapeType="1"/>
              </p:cNvSpPr>
              <p:nvPr/>
            </p:nvSpPr>
            <p:spPr bwMode="auto">
              <a:xfrm>
                <a:off x="192" y="192"/>
                <a:ext cx="288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Line 175"/>
              <p:cNvSpPr>
                <a:spLocks noChangeShapeType="1"/>
              </p:cNvSpPr>
              <p:nvPr/>
            </p:nvSpPr>
            <p:spPr bwMode="auto">
              <a:xfrm flipV="1">
                <a:off x="480" y="0"/>
                <a:ext cx="0" cy="19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Line 176"/>
              <p:cNvSpPr>
                <a:spLocks noChangeShapeType="1"/>
              </p:cNvSpPr>
              <p:nvPr/>
            </p:nvSpPr>
            <p:spPr bwMode="auto">
              <a:xfrm>
                <a:off x="528" y="0"/>
                <a:ext cx="0" cy="33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Line 177"/>
              <p:cNvSpPr>
                <a:spLocks noChangeShapeType="1"/>
              </p:cNvSpPr>
              <p:nvPr/>
            </p:nvSpPr>
            <p:spPr bwMode="auto">
              <a:xfrm>
                <a:off x="624" y="96"/>
                <a:ext cx="24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Line 178"/>
              <p:cNvSpPr>
                <a:spLocks noChangeShapeType="1"/>
              </p:cNvSpPr>
              <p:nvPr/>
            </p:nvSpPr>
            <p:spPr bwMode="auto">
              <a:xfrm flipV="1">
                <a:off x="624" y="0"/>
                <a:ext cx="0" cy="96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Line 179"/>
              <p:cNvSpPr>
                <a:spLocks noChangeShapeType="1"/>
              </p:cNvSpPr>
              <p:nvPr/>
            </p:nvSpPr>
            <p:spPr bwMode="auto">
              <a:xfrm>
                <a:off x="864" y="96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6" name="Group 47"/>
          <p:cNvGrpSpPr/>
          <p:nvPr/>
        </p:nvGrpSpPr>
        <p:grpSpPr bwMode="auto">
          <a:xfrm>
            <a:off x="7780887" y="1205172"/>
            <a:ext cx="381000" cy="533400"/>
            <a:chOff x="0" y="0"/>
            <a:chExt cx="240" cy="336"/>
          </a:xfrm>
        </p:grpSpPr>
        <p:sp>
          <p:nvSpPr>
            <p:cNvPr id="167" name="Line 183"/>
            <p:cNvSpPr>
              <a:spLocks noChangeShapeType="1"/>
            </p:cNvSpPr>
            <p:nvPr/>
          </p:nvSpPr>
          <p:spPr bwMode="auto">
            <a:xfrm>
              <a:off x="0" y="0"/>
              <a:ext cx="0" cy="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68" name="Line 184"/>
            <p:cNvSpPr>
              <a:spLocks noChangeShapeType="1"/>
            </p:cNvSpPr>
            <p:nvPr/>
          </p:nvSpPr>
          <p:spPr bwMode="auto">
            <a:xfrm>
              <a:off x="0" y="96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69" name="Line 185"/>
            <p:cNvSpPr>
              <a:spLocks noChangeShapeType="1"/>
            </p:cNvSpPr>
            <p:nvPr/>
          </p:nvSpPr>
          <p:spPr bwMode="auto">
            <a:xfrm>
              <a:off x="240" y="96"/>
              <a:ext cx="0" cy="24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170" name="Group 51"/>
          <p:cNvGrpSpPr/>
          <p:nvPr/>
        </p:nvGrpSpPr>
        <p:grpSpPr bwMode="auto">
          <a:xfrm>
            <a:off x="6942687" y="1205172"/>
            <a:ext cx="533400" cy="2667000"/>
            <a:chOff x="0" y="0"/>
            <a:chExt cx="336" cy="1680"/>
          </a:xfrm>
        </p:grpSpPr>
        <p:sp>
          <p:nvSpPr>
            <p:cNvPr id="171" name="Line 186"/>
            <p:cNvSpPr>
              <a:spLocks noChangeShapeType="1"/>
            </p:cNvSpPr>
            <p:nvPr/>
          </p:nvSpPr>
          <p:spPr bwMode="auto">
            <a:xfrm>
              <a:off x="336" y="0"/>
              <a:ext cx="0" cy="96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72" name="Line 187"/>
            <p:cNvSpPr>
              <a:spLocks noChangeShapeType="1"/>
            </p:cNvSpPr>
            <p:nvPr/>
          </p:nvSpPr>
          <p:spPr bwMode="auto">
            <a:xfrm>
              <a:off x="0" y="96"/>
              <a:ext cx="336" cy="0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73" name="Line 188"/>
            <p:cNvSpPr>
              <a:spLocks noChangeShapeType="1"/>
            </p:cNvSpPr>
            <p:nvPr/>
          </p:nvSpPr>
          <p:spPr bwMode="auto">
            <a:xfrm>
              <a:off x="0" y="96"/>
              <a:ext cx="0" cy="1584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</p:grpSp>
      <p:grpSp>
        <p:nvGrpSpPr>
          <p:cNvPr id="174" name="Group 55"/>
          <p:cNvGrpSpPr/>
          <p:nvPr/>
        </p:nvGrpSpPr>
        <p:grpSpPr bwMode="auto">
          <a:xfrm>
            <a:off x="603800" y="3865822"/>
            <a:ext cx="7699376" cy="460375"/>
            <a:chOff x="-105" y="92"/>
            <a:chExt cx="4850" cy="290"/>
          </a:xfrm>
        </p:grpSpPr>
        <p:sp>
          <p:nvSpPr>
            <p:cNvPr id="175" name="Rectangle 73"/>
            <p:cNvSpPr>
              <a:spLocks noChangeArrowheads="1"/>
            </p:cNvSpPr>
            <p:nvPr/>
          </p:nvSpPr>
          <p:spPr bwMode="auto">
            <a:xfrm>
              <a:off x="-105" y="92"/>
              <a:ext cx="145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1700" b="1" dirty="0">
                  <a:solidFill>
                    <a:srgbClr val="0000CC"/>
                  </a:solidFill>
                  <a:ea typeface="微软雅黑" panose="020B0503020204020204" charset="-122"/>
                </a:rPr>
                <a:t>  G</a:t>
              </a:r>
              <a:r>
                <a:rPr lang="en-US" altLang="zh-CN" sz="1700" b="1" baseline="-25000" dirty="0">
                  <a:solidFill>
                    <a:srgbClr val="0000CC"/>
                  </a:solidFill>
                  <a:ea typeface="微软雅黑" panose="020B0503020204020204" charset="-122"/>
                </a:rPr>
                <a:t>3</a:t>
              </a:r>
              <a:r>
                <a:rPr lang="en-US" altLang="zh-CN" sz="1700" b="1" baseline="-25000" dirty="0">
                  <a:ea typeface="微软雅黑" panose="020B0503020204020204" charset="-122"/>
                </a:rPr>
                <a:t>                             </a:t>
              </a:r>
              <a:r>
                <a:rPr lang="en-US" altLang="zh-CN" sz="1700" b="1" dirty="0">
                  <a:solidFill>
                    <a:srgbClr val="FF0000"/>
                  </a:solidFill>
                  <a:ea typeface="微软雅黑" panose="020B0503020204020204" charset="-122"/>
                </a:rPr>
                <a:t>P</a:t>
              </a:r>
              <a:r>
                <a:rPr lang="en-US" altLang="zh-CN" sz="1700" b="1" baseline="-25000" dirty="0">
                  <a:solidFill>
                    <a:srgbClr val="FF0000"/>
                  </a:solidFill>
                  <a:ea typeface="微软雅黑" panose="020B0503020204020204" charset="-122"/>
                </a:rPr>
                <a:t>3</a:t>
              </a:r>
              <a:endParaRPr lang="en-US" altLang="zh-CN" sz="1700" b="1" baseline="-25000" dirty="0">
                <a:solidFill>
                  <a:srgbClr val="FF0000"/>
                </a:solidFill>
                <a:ea typeface="微软雅黑" panose="020B0503020204020204" charset="-122"/>
              </a:endParaRPr>
            </a:p>
          </p:txBody>
        </p:sp>
        <p:sp>
          <p:nvSpPr>
            <p:cNvPr id="176" name="Rectangle 74"/>
            <p:cNvSpPr>
              <a:spLocks noChangeArrowheads="1"/>
            </p:cNvSpPr>
            <p:nvPr/>
          </p:nvSpPr>
          <p:spPr bwMode="auto">
            <a:xfrm>
              <a:off x="1338" y="92"/>
              <a:ext cx="1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1700" b="1" dirty="0">
                  <a:solidFill>
                    <a:srgbClr val="0000CC"/>
                  </a:solidFill>
                  <a:ea typeface="微软雅黑" panose="020B0503020204020204" charset="-122"/>
                </a:rPr>
                <a:t>  G</a:t>
              </a:r>
              <a:r>
                <a:rPr lang="en-US" altLang="zh-CN" sz="1700" b="1" baseline="-25000" dirty="0">
                  <a:solidFill>
                    <a:srgbClr val="0000CC"/>
                  </a:solidFill>
                  <a:ea typeface="微软雅黑" panose="020B0503020204020204" charset="-122"/>
                </a:rPr>
                <a:t>2</a:t>
              </a:r>
              <a:r>
                <a:rPr lang="en-US" altLang="zh-CN" sz="1700" b="1" baseline="-25000" dirty="0">
                  <a:ea typeface="微软雅黑" panose="020B0503020204020204" charset="-122"/>
                </a:rPr>
                <a:t>                  </a:t>
              </a:r>
              <a:r>
                <a:rPr lang="en-US" altLang="zh-CN" sz="1700" b="1" dirty="0">
                  <a:solidFill>
                    <a:srgbClr val="FF0000"/>
                  </a:solidFill>
                  <a:ea typeface="微软雅黑" panose="020B0503020204020204" charset="-122"/>
                </a:rPr>
                <a:t>P</a:t>
              </a:r>
              <a:r>
                <a:rPr lang="en-US" altLang="zh-CN" sz="1700" b="1" baseline="-25000" dirty="0">
                  <a:solidFill>
                    <a:srgbClr val="FF0000"/>
                  </a:solidFill>
                  <a:ea typeface="微软雅黑" panose="020B0503020204020204" charset="-122"/>
                </a:rPr>
                <a:t>2</a:t>
              </a:r>
              <a:endParaRPr lang="en-US" altLang="zh-CN" sz="1700" b="1" baseline="-25000" dirty="0">
                <a:solidFill>
                  <a:srgbClr val="FF0000"/>
                </a:solidFill>
                <a:ea typeface="微软雅黑" panose="020B0503020204020204" charset="-122"/>
              </a:endParaRPr>
            </a:p>
          </p:txBody>
        </p:sp>
        <p:sp>
          <p:nvSpPr>
            <p:cNvPr id="177" name="Rectangle 75"/>
            <p:cNvSpPr>
              <a:spLocks noChangeArrowheads="1"/>
            </p:cNvSpPr>
            <p:nvPr/>
          </p:nvSpPr>
          <p:spPr bwMode="auto">
            <a:xfrm>
              <a:off x="2541" y="92"/>
              <a:ext cx="112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1700" b="1" dirty="0">
                  <a:solidFill>
                    <a:srgbClr val="0000CC"/>
                  </a:solidFill>
                  <a:ea typeface="微软雅黑" panose="020B0503020204020204" charset="-122"/>
                </a:rPr>
                <a:t>  G</a:t>
              </a:r>
              <a:r>
                <a:rPr lang="en-US" altLang="zh-CN" sz="1700" b="1" baseline="-25000" dirty="0">
                  <a:solidFill>
                    <a:srgbClr val="0000CC"/>
                  </a:solidFill>
                  <a:ea typeface="微软雅黑" panose="020B0503020204020204" charset="-122"/>
                </a:rPr>
                <a:t>1 </a:t>
              </a:r>
              <a:r>
                <a:rPr lang="en-US" altLang="zh-CN" sz="1700" b="1" baseline="-25000" dirty="0">
                  <a:ea typeface="微软雅黑" panose="020B0503020204020204" charset="-122"/>
                </a:rPr>
                <a:t>                </a:t>
              </a:r>
              <a:r>
                <a:rPr lang="en-US" altLang="zh-CN" sz="1700" b="1" dirty="0">
                  <a:solidFill>
                    <a:srgbClr val="FF0000"/>
                  </a:solidFill>
                  <a:ea typeface="微软雅黑" panose="020B0503020204020204" charset="-122"/>
                </a:rPr>
                <a:t>P</a:t>
              </a:r>
              <a:r>
                <a:rPr lang="en-US" altLang="zh-CN" sz="1700" b="1" baseline="-25000" dirty="0">
                  <a:solidFill>
                    <a:srgbClr val="FF0000"/>
                  </a:solidFill>
                  <a:ea typeface="微软雅黑" panose="020B0503020204020204" charset="-122"/>
                </a:rPr>
                <a:t>1</a:t>
              </a:r>
              <a:endParaRPr lang="en-US" altLang="zh-CN" sz="1700" b="1" baseline="-25000" dirty="0">
                <a:solidFill>
                  <a:srgbClr val="FF0000"/>
                </a:solidFill>
                <a:ea typeface="微软雅黑" panose="020B0503020204020204" charset="-122"/>
              </a:endParaRPr>
            </a:p>
          </p:txBody>
        </p:sp>
        <p:sp>
          <p:nvSpPr>
            <p:cNvPr id="178" name="Rectangle 76"/>
            <p:cNvSpPr>
              <a:spLocks noChangeArrowheads="1"/>
            </p:cNvSpPr>
            <p:nvPr/>
          </p:nvSpPr>
          <p:spPr bwMode="auto">
            <a:xfrm>
              <a:off x="3783" y="94"/>
              <a:ext cx="9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l" eaLnBrk="1" hangingPunct="1">
                <a:buFont typeface="Wingdings" panose="05000000000000000000" pitchFamily="2" charset="2"/>
                <a:buNone/>
              </a:pPr>
              <a:r>
                <a:rPr lang="en-US" altLang="zh-CN" sz="1700" b="1" dirty="0">
                  <a:solidFill>
                    <a:srgbClr val="0000CC"/>
                  </a:solidFill>
                  <a:ea typeface="微软雅黑" panose="020B0503020204020204" charset="-122"/>
                </a:rPr>
                <a:t>G</a:t>
              </a:r>
              <a:r>
                <a:rPr lang="en-US" altLang="zh-CN" sz="1700" b="1" baseline="-25000" dirty="0">
                  <a:solidFill>
                    <a:srgbClr val="0000CC"/>
                  </a:solidFill>
                  <a:ea typeface="微软雅黑" panose="020B0503020204020204" charset="-122"/>
                </a:rPr>
                <a:t>0</a:t>
              </a:r>
              <a:r>
                <a:rPr lang="en-US" altLang="zh-CN" sz="1700" b="1" baseline="-25000" dirty="0">
                  <a:ea typeface="微软雅黑" panose="020B0503020204020204" charset="-122"/>
                </a:rPr>
                <a:t>                </a:t>
              </a:r>
              <a:r>
                <a:rPr lang="en-US" altLang="zh-CN" sz="1700" b="1" dirty="0">
                  <a:solidFill>
                    <a:srgbClr val="FF0000"/>
                  </a:solidFill>
                  <a:ea typeface="微软雅黑" panose="020B0503020204020204" charset="-122"/>
                </a:rPr>
                <a:t>P</a:t>
              </a:r>
              <a:r>
                <a:rPr lang="en-US" altLang="zh-CN" sz="1700" b="1" baseline="-25000" dirty="0">
                  <a:solidFill>
                    <a:srgbClr val="FF0000"/>
                  </a:solidFill>
                  <a:ea typeface="微软雅黑" panose="020B0503020204020204" charset="-122"/>
                </a:rPr>
                <a:t>0</a:t>
              </a:r>
              <a:endParaRPr lang="en-US" altLang="zh-CN" sz="1700" b="1" baseline="-25000" dirty="0">
                <a:solidFill>
                  <a:srgbClr val="FF0000"/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179" name="Line 190"/>
          <p:cNvSpPr>
            <a:spLocks noChangeShapeType="1"/>
          </p:cNvSpPr>
          <p:nvPr/>
        </p:nvSpPr>
        <p:spPr bwMode="auto">
          <a:xfrm>
            <a:off x="1761087" y="3033972"/>
            <a:ext cx="2667000" cy="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grpSp>
        <p:nvGrpSpPr>
          <p:cNvPr id="180" name="Group 61"/>
          <p:cNvGrpSpPr/>
          <p:nvPr/>
        </p:nvGrpSpPr>
        <p:grpSpPr bwMode="auto">
          <a:xfrm>
            <a:off x="3894687" y="2043372"/>
            <a:ext cx="304800" cy="990600"/>
            <a:chOff x="0" y="0"/>
            <a:chExt cx="192" cy="624"/>
          </a:xfrm>
        </p:grpSpPr>
        <p:sp>
          <p:nvSpPr>
            <p:cNvPr id="181" name="Line 154"/>
            <p:cNvSpPr>
              <a:spLocks noChangeShapeType="1"/>
            </p:cNvSpPr>
            <p:nvPr/>
          </p:nvSpPr>
          <p:spPr bwMode="auto">
            <a:xfrm>
              <a:off x="192" y="0"/>
              <a:ext cx="0" cy="336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82" name="Line 164"/>
            <p:cNvSpPr>
              <a:spLocks noChangeShapeType="1"/>
            </p:cNvSpPr>
            <p:nvPr/>
          </p:nvSpPr>
          <p:spPr bwMode="auto">
            <a:xfrm>
              <a:off x="101" y="0"/>
              <a:ext cx="0" cy="432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83" name="Line 191"/>
            <p:cNvSpPr>
              <a:spLocks noChangeShapeType="1"/>
            </p:cNvSpPr>
            <p:nvPr/>
          </p:nvSpPr>
          <p:spPr bwMode="auto">
            <a:xfrm>
              <a:off x="0" y="0"/>
              <a:ext cx="0" cy="624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sp>
        <p:nvSpPr>
          <p:cNvPr id="184" name="Line 194"/>
          <p:cNvSpPr>
            <a:spLocks noChangeShapeType="1"/>
          </p:cNvSpPr>
          <p:nvPr/>
        </p:nvSpPr>
        <p:spPr bwMode="auto">
          <a:xfrm>
            <a:off x="1913487" y="2881572"/>
            <a:ext cx="3200400" cy="0"/>
          </a:xfrm>
          <a:prstGeom prst="line">
            <a:avLst/>
          </a:prstGeom>
          <a:noFill/>
          <a:ln w="19050" cap="sq">
            <a:solidFill>
              <a:srgbClr val="0000CC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grpSp>
        <p:nvGrpSpPr>
          <p:cNvPr id="185" name="Group 66"/>
          <p:cNvGrpSpPr/>
          <p:nvPr/>
        </p:nvGrpSpPr>
        <p:grpSpPr bwMode="auto">
          <a:xfrm>
            <a:off x="3386687" y="2043372"/>
            <a:ext cx="241300" cy="990600"/>
            <a:chOff x="0" y="0"/>
            <a:chExt cx="152" cy="624"/>
          </a:xfrm>
        </p:grpSpPr>
        <p:sp>
          <p:nvSpPr>
            <p:cNvPr id="186" name="Line 192"/>
            <p:cNvSpPr>
              <a:spLocks noChangeShapeType="1"/>
            </p:cNvSpPr>
            <p:nvPr/>
          </p:nvSpPr>
          <p:spPr bwMode="auto">
            <a:xfrm>
              <a:off x="152" y="0"/>
              <a:ext cx="0" cy="528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87" name="Line 195"/>
            <p:cNvSpPr>
              <a:spLocks noChangeShapeType="1"/>
            </p:cNvSpPr>
            <p:nvPr/>
          </p:nvSpPr>
          <p:spPr bwMode="auto">
            <a:xfrm>
              <a:off x="0" y="0"/>
              <a:ext cx="0" cy="624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sp>
        <p:nvSpPr>
          <p:cNvPr id="188" name="Line 196"/>
          <p:cNvSpPr>
            <a:spLocks noChangeShapeType="1"/>
          </p:cNvSpPr>
          <p:nvPr/>
        </p:nvSpPr>
        <p:spPr bwMode="auto">
          <a:xfrm>
            <a:off x="1075287" y="3338772"/>
            <a:ext cx="1600200" cy="0"/>
          </a:xfrm>
          <a:prstGeom prst="line">
            <a:avLst/>
          </a:prstGeom>
          <a:noFill/>
          <a:ln w="19050" cap="sq">
            <a:solidFill>
              <a:srgbClr val="FF0000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l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89" name="Line 197"/>
          <p:cNvSpPr>
            <a:spLocks noChangeShapeType="1"/>
          </p:cNvSpPr>
          <p:nvPr/>
        </p:nvSpPr>
        <p:spPr bwMode="auto">
          <a:xfrm>
            <a:off x="1380087" y="3186372"/>
            <a:ext cx="1828800" cy="0"/>
          </a:xfrm>
          <a:prstGeom prst="line">
            <a:avLst/>
          </a:prstGeom>
          <a:noFill/>
          <a:ln w="19050" cap="sq">
            <a:solidFill>
              <a:srgbClr val="0000CC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grpSp>
        <p:nvGrpSpPr>
          <p:cNvPr id="190" name="Group 71"/>
          <p:cNvGrpSpPr/>
          <p:nvPr/>
        </p:nvGrpSpPr>
        <p:grpSpPr bwMode="auto">
          <a:xfrm>
            <a:off x="2675487" y="2043372"/>
            <a:ext cx="304800" cy="1828800"/>
            <a:chOff x="0" y="0"/>
            <a:chExt cx="192" cy="1152"/>
          </a:xfrm>
        </p:grpSpPr>
        <p:sp>
          <p:nvSpPr>
            <p:cNvPr id="191" name="Line 140"/>
            <p:cNvSpPr>
              <a:spLocks noChangeShapeType="1"/>
            </p:cNvSpPr>
            <p:nvPr/>
          </p:nvSpPr>
          <p:spPr bwMode="auto">
            <a:xfrm>
              <a:off x="192" y="0"/>
              <a:ext cx="0" cy="144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92" name="Line 145"/>
            <p:cNvSpPr>
              <a:spLocks noChangeShapeType="1"/>
            </p:cNvSpPr>
            <p:nvPr/>
          </p:nvSpPr>
          <p:spPr bwMode="auto">
            <a:xfrm>
              <a:off x="144" y="0"/>
              <a:ext cx="0" cy="24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93" name="Line 198"/>
            <p:cNvSpPr>
              <a:spLocks noChangeShapeType="1"/>
            </p:cNvSpPr>
            <p:nvPr/>
          </p:nvSpPr>
          <p:spPr bwMode="auto">
            <a:xfrm>
              <a:off x="0" y="0"/>
              <a:ext cx="0" cy="1152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94" name="Line 199"/>
            <p:cNvSpPr>
              <a:spLocks noChangeShapeType="1"/>
            </p:cNvSpPr>
            <p:nvPr/>
          </p:nvSpPr>
          <p:spPr bwMode="auto">
            <a:xfrm>
              <a:off x="48" y="0"/>
              <a:ext cx="0" cy="624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95" name="Line 200"/>
            <p:cNvSpPr>
              <a:spLocks noChangeShapeType="1"/>
            </p:cNvSpPr>
            <p:nvPr/>
          </p:nvSpPr>
          <p:spPr bwMode="auto">
            <a:xfrm>
              <a:off x="96" y="0"/>
              <a:ext cx="0" cy="432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</p:grpSp>
      <p:grpSp>
        <p:nvGrpSpPr>
          <p:cNvPr id="196" name="Group 77"/>
          <p:cNvGrpSpPr/>
          <p:nvPr/>
        </p:nvGrpSpPr>
        <p:grpSpPr bwMode="auto">
          <a:xfrm>
            <a:off x="2142087" y="2043372"/>
            <a:ext cx="304800" cy="1295400"/>
            <a:chOff x="0" y="0"/>
            <a:chExt cx="192" cy="816"/>
          </a:xfrm>
        </p:grpSpPr>
        <p:sp>
          <p:nvSpPr>
            <p:cNvPr id="197" name="Line 157"/>
            <p:cNvSpPr>
              <a:spLocks noChangeShapeType="1"/>
            </p:cNvSpPr>
            <p:nvPr/>
          </p:nvSpPr>
          <p:spPr bwMode="auto">
            <a:xfrm>
              <a:off x="192" y="0"/>
              <a:ext cx="0" cy="336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98" name="Line 202"/>
            <p:cNvSpPr>
              <a:spLocks noChangeShapeType="1"/>
            </p:cNvSpPr>
            <p:nvPr/>
          </p:nvSpPr>
          <p:spPr bwMode="auto">
            <a:xfrm>
              <a:off x="0" y="0"/>
              <a:ext cx="0" cy="816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99" name="Line 203"/>
            <p:cNvSpPr>
              <a:spLocks noChangeShapeType="1"/>
            </p:cNvSpPr>
            <p:nvPr/>
          </p:nvSpPr>
          <p:spPr bwMode="auto">
            <a:xfrm>
              <a:off x="48" y="0"/>
              <a:ext cx="0" cy="624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00" name="Line 204"/>
            <p:cNvSpPr>
              <a:spLocks noChangeShapeType="1"/>
            </p:cNvSpPr>
            <p:nvPr/>
          </p:nvSpPr>
          <p:spPr bwMode="auto">
            <a:xfrm>
              <a:off x="144" y="0"/>
              <a:ext cx="0" cy="432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201" name="Group 82"/>
          <p:cNvGrpSpPr/>
          <p:nvPr/>
        </p:nvGrpSpPr>
        <p:grpSpPr bwMode="auto">
          <a:xfrm>
            <a:off x="1608687" y="2043372"/>
            <a:ext cx="304800" cy="1295400"/>
            <a:chOff x="0" y="0"/>
            <a:chExt cx="192" cy="816"/>
          </a:xfrm>
        </p:grpSpPr>
        <p:sp>
          <p:nvSpPr>
            <p:cNvPr id="202" name="Line 206"/>
            <p:cNvSpPr>
              <a:spLocks noChangeShapeType="1"/>
            </p:cNvSpPr>
            <p:nvPr/>
          </p:nvSpPr>
          <p:spPr bwMode="auto">
            <a:xfrm>
              <a:off x="96" y="0"/>
              <a:ext cx="0" cy="624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03" name="Line 208"/>
            <p:cNvSpPr>
              <a:spLocks noChangeShapeType="1"/>
            </p:cNvSpPr>
            <p:nvPr/>
          </p:nvSpPr>
          <p:spPr bwMode="auto">
            <a:xfrm>
              <a:off x="192" y="0"/>
              <a:ext cx="0" cy="528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04" name="Line 210"/>
            <p:cNvSpPr>
              <a:spLocks noChangeShapeType="1"/>
            </p:cNvSpPr>
            <p:nvPr/>
          </p:nvSpPr>
          <p:spPr bwMode="auto">
            <a:xfrm>
              <a:off x="0" y="0"/>
              <a:ext cx="0" cy="816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205" name="Group 86"/>
          <p:cNvGrpSpPr/>
          <p:nvPr/>
        </p:nvGrpSpPr>
        <p:grpSpPr bwMode="auto">
          <a:xfrm>
            <a:off x="1075287" y="2043372"/>
            <a:ext cx="304800" cy="1295400"/>
            <a:chOff x="0" y="0"/>
            <a:chExt cx="192" cy="816"/>
          </a:xfrm>
        </p:grpSpPr>
        <p:sp>
          <p:nvSpPr>
            <p:cNvPr id="206" name="Line 211"/>
            <p:cNvSpPr>
              <a:spLocks noChangeShapeType="1"/>
            </p:cNvSpPr>
            <p:nvPr/>
          </p:nvSpPr>
          <p:spPr bwMode="auto">
            <a:xfrm>
              <a:off x="0" y="0"/>
              <a:ext cx="0" cy="816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07" name="Line 213"/>
            <p:cNvSpPr>
              <a:spLocks noChangeShapeType="1"/>
            </p:cNvSpPr>
            <p:nvPr/>
          </p:nvSpPr>
          <p:spPr bwMode="auto">
            <a:xfrm>
              <a:off x="192" y="0"/>
              <a:ext cx="0" cy="72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208" name="Group 89"/>
          <p:cNvGrpSpPr/>
          <p:nvPr/>
        </p:nvGrpSpPr>
        <p:grpSpPr bwMode="auto">
          <a:xfrm>
            <a:off x="922887" y="1205172"/>
            <a:ext cx="1905000" cy="2667000"/>
            <a:chOff x="0" y="0"/>
            <a:chExt cx="1200" cy="1680"/>
          </a:xfrm>
        </p:grpSpPr>
        <p:sp>
          <p:nvSpPr>
            <p:cNvPr id="209" name="Line 214"/>
            <p:cNvSpPr>
              <a:spLocks noChangeShapeType="1"/>
            </p:cNvSpPr>
            <p:nvPr/>
          </p:nvSpPr>
          <p:spPr bwMode="auto">
            <a:xfrm>
              <a:off x="672" y="0"/>
              <a:ext cx="0" cy="48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0" name="Line 215"/>
            <p:cNvSpPr>
              <a:spLocks noChangeShapeType="1"/>
            </p:cNvSpPr>
            <p:nvPr/>
          </p:nvSpPr>
          <p:spPr bwMode="auto">
            <a:xfrm>
              <a:off x="0" y="48"/>
              <a:ext cx="672" cy="0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1" name="Line 216"/>
            <p:cNvSpPr>
              <a:spLocks noChangeShapeType="1"/>
            </p:cNvSpPr>
            <p:nvPr/>
          </p:nvSpPr>
          <p:spPr bwMode="auto">
            <a:xfrm>
              <a:off x="0" y="48"/>
              <a:ext cx="0" cy="1632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2" name="Line 217"/>
            <p:cNvSpPr>
              <a:spLocks noChangeShapeType="1"/>
            </p:cNvSpPr>
            <p:nvPr/>
          </p:nvSpPr>
          <p:spPr bwMode="auto">
            <a:xfrm flipH="1">
              <a:off x="192" y="96"/>
              <a:ext cx="0" cy="24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3" name="Line 218"/>
            <p:cNvSpPr>
              <a:spLocks noChangeShapeType="1"/>
            </p:cNvSpPr>
            <p:nvPr/>
          </p:nvSpPr>
          <p:spPr bwMode="auto">
            <a:xfrm>
              <a:off x="192" y="96"/>
              <a:ext cx="528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4" name="Line 219"/>
            <p:cNvSpPr>
              <a:spLocks noChangeShapeType="1"/>
            </p:cNvSpPr>
            <p:nvPr/>
          </p:nvSpPr>
          <p:spPr bwMode="auto">
            <a:xfrm flipV="1">
              <a:off x="720" y="0"/>
              <a:ext cx="0" cy="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5" name="Line 220"/>
            <p:cNvSpPr>
              <a:spLocks noChangeShapeType="1"/>
            </p:cNvSpPr>
            <p:nvPr/>
          </p:nvSpPr>
          <p:spPr bwMode="auto">
            <a:xfrm>
              <a:off x="528" y="192"/>
              <a:ext cx="0" cy="144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6" name="Line 221"/>
            <p:cNvSpPr>
              <a:spLocks noChangeShapeType="1"/>
            </p:cNvSpPr>
            <p:nvPr/>
          </p:nvSpPr>
          <p:spPr bwMode="auto">
            <a:xfrm>
              <a:off x="528" y="192"/>
              <a:ext cx="24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7" name="Line 222"/>
            <p:cNvSpPr>
              <a:spLocks noChangeShapeType="1"/>
            </p:cNvSpPr>
            <p:nvPr/>
          </p:nvSpPr>
          <p:spPr bwMode="auto">
            <a:xfrm flipV="1">
              <a:off x="768" y="0"/>
              <a:ext cx="0" cy="19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8" name="Line 223"/>
            <p:cNvSpPr>
              <a:spLocks noChangeShapeType="1"/>
            </p:cNvSpPr>
            <p:nvPr/>
          </p:nvSpPr>
          <p:spPr bwMode="auto">
            <a:xfrm>
              <a:off x="864" y="192"/>
              <a:ext cx="0" cy="144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19" name="Line 224"/>
            <p:cNvSpPr>
              <a:spLocks noChangeShapeType="1"/>
            </p:cNvSpPr>
            <p:nvPr/>
          </p:nvSpPr>
          <p:spPr bwMode="auto">
            <a:xfrm>
              <a:off x="816" y="192"/>
              <a:ext cx="48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20" name="Line 225"/>
            <p:cNvSpPr>
              <a:spLocks noChangeShapeType="1"/>
            </p:cNvSpPr>
            <p:nvPr/>
          </p:nvSpPr>
          <p:spPr bwMode="auto">
            <a:xfrm flipV="1">
              <a:off x="816" y="0"/>
              <a:ext cx="0" cy="192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21" name="Line 226"/>
            <p:cNvSpPr>
              <a:spLocks noChangeShapeType="1"/>
            </p:cNvSpPr>
            <p:nvPr/>
          </p:nvSpPr>
          <p:spPr bwMode="auto">
            <a:xfrm>
              <a:off x="1200" y="96"/>
              <a:ext cx="0" cy="24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22" name="Line 227"/>
            <p:cNvSpPr>
              <a:spLocks noChangeShapeType="1"/>
            </p:cNvSpPr>
            <p:nvPr/>
          </p:nvSpPr>
          <p:spPr bwMode="auto">
            <a:xfrm>
              <a:off x="864" y="96"/>
              <a:ext cx="33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223" name="Line 228"/>
            <p:cNvSpPr>
              <a:spLocks noChangeShapeType="1"/>
            </p:cNvSpPr>
            <p:nvPr/>
          </p:nvSpPr>
          <p:spPr bwMode="auto">
            <a:xfrm flipV="1">
              <a:off x="864" y="0"/>
              <a:ext cx="0" cy="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/>
            </a:p>
          </p:txBody>
        </p:sp>
      </p:grpSp>
      <p:grpSp>
        <p:nvGrpSpPr>
          <p:cNvPr id="224" name="Group 105"/>
          <p:cNvGrpSpPr/>
          <p:nvPr/>
        </p:nvGrpSpPr>
        <p:grpSpPr bwMode="auto">
          <a:xfrm>
            <a:off x="1818238" y="-17203"/>
            <a:ext cx="646113" cy="917576"/>
            <a:chOff x="-204" y="-146"/>
            <a:chExt cx="407" cy="578"/>
          </a:xfrm>
        </p:grpSpPr>
        <p:sp>
          <p:nvSpPr>
            <p:cNvPr id="225" name="Line 230"/>
            <p:cNvSpPr>
              <a:spLocks noChangeShapeType="1"/>
            </p:cNvSpPr>
            <p:nvPr/>
          </p:nvSpPr>
          <p:spPr bwMode="auto">
            <a:xfrm>
              <a:off x="0" y="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26" name="Rectangle 231"/>
            <p:cNvSpPr>
              <a:spLocks noChangeArrowheads="1"/>
            </p:cNvSpPr>
            <p:nvPr/>
          </p:nvSpPr>
          <p:spPr bwMode="auto">
            <a:xfrm>
              <a:off x="-204" y="-146"/>
              <a:ext cx="407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ea typeface="微软雅黑" panose="020B0503020204020204" charset="-122"/>
                </a:rPr>
                <a:t>C</a:t>
              </a:r>
              <a:r>
                <a:rPr lang="en-US" altLang="zh-CN" sz="1900" b="1" baseline="-25000" dirty="0">
                  <a:solidFill>
                    <a:srgbClr val="0000FF"/>
                  </a:solidFill>
                  <a:ea typeface="微软雅黑" panose="020B0503020204020204" charset="-122"/>
                </a:rPr>
                <a:t>4</a:t>
              </a:r>
              <a:r>
                <a:rPr lang="en-US" altLang="zh-CN" sz="1700" b="1" baseline="-25000" dirty="0">
                  <a:solidFill>
                    <a:srgbClr val="0000FF"/>
                  </a:solidFill>
                  <a:ea typeface="微软雅黑" panose="020B0503020204020204" charset="-122"/>
                </a:rPr>
                <a:t> </a:t>
              </a:r>
              <a:endParaRPr lang="en-US" altLang="zh-CN" sz="1700" b="1" baseline="-25000" dirty="0">
                <a:solidFill>
                  <a:srgbClr val="0000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227" name="Group 108"/>
          <p:cNvGrpSpPr/>
          <p:nvPr/>
        </p:nvGrpSpPr>
        <p:grpSpPr bwMode="auto">
          <a:xfrm>
            <a:off x="3754987" y="-29903"/>
            <a:ext cx="646113" cy="930276"/>
            <a:chOff x="-184" y="-154"/>
            <a:chExt cx="407" cy="586"/>
          </a:xfrm>
        </p:grpSpPr>
        <p:sp>
          <p:nvSpPr>
            <p:cNvPr id="228" name="Rectangle 182"/>
            <p:cNvSpPr>
              <a:spLocks noChangeArrowheads="1"/>
            </p:cNvSpPr>
            <p:nvPr/>
          </p:nvSpPr>
          <p:spPr bwMode="auto">
            <a:xfrm>
              <a:off x="-184" y="-154"/>
              <a:ext cx="407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ea typeface="微软雅黑" panose="020B0503020204020204" charset="-122"/>
                </a:rPr>
                <a:t>C</a:t>
              </a:r>
              <a:r>
                <a:rPr lang="en-US" altLang="zh-CN" sz="1900" b="1" baseline="-25000" dirty="0">
                  <a:solidFill>
                    <a:srgbClr val="0000FF"/>
                  </a:solidFill>
                  <a:ea typeface="微软雅黑" panose="020B0503020204020204" charset="-122"/>
                </a:rPr>
                <a:t>3</a:t>
              </a:r>
              <a:endParaRPr lang="en-US" altLang="zh-CN" sz="1700" b="1" baseline="-25000" dirty="0">
                <a:solidFill>
                  <a:srgbClr val="0000FF"/>
                </a:solidFill>
                <a:ea typeface="微软雅黑" panose="020B0503020204020204" charset="-122"/>
              </a:endParaRPr>
            </a:p>
          </p:txBody>
        </p:sp>
        <p:sp>
          <p:nvSpPr>
            <p:cNvPr id="229" name="Line 233"/>
            <p:cNvSpPr>
              <a:spLocks noChangeShapeType="1"/>
            </p:cNvSpPr>
            <p:nvPr/>
          </p:nvSpPr>
          <p:spPr bwMode="auto">
            <a:xfrm>
              <a:off x="0" y="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 b="1">
                <a:solidFill>
                  <a:srgbClr val="0000FF"/>
                </a:solidFill>
              </a:endParaRPr>
            </a:p>
          </p:txBody>
        </p:sp>
      </p:grpSp>
      <p:grpSp>
        <p:nvGrpSpPr>
          <p:cNvPr id="230" name="Group 111"/>
          <p:cNvGrpSpPr/>
          <p:nvPr/>
        </p:nvGrpSpPr>
        <p:grpSpPr bwMode="auto">
          <a:xfrm>
            <a:off x="5564737" y="-45778"/>
            <a:ext cx="646113" cy="946151"/>
            <a:chOff x="-196" y="-164"/>
            <a:chExt cx="407" cy="596"/>
          </a:xfrm>
        </p:grpSpPr>
        <p:sp>
          <p:nvSpPr>
            <p:cNvPr id="231" name="Rectangle 54"/>
            <p:cNvSpPr>
              <a:spLocks noChangeArrowheads="1"/>
            </p:cNvSpPr>
            <p:nvPr/>
          </p:nvSpPr>
          <p:spPr bwMode="auto">
            <a:xfrm>
              <a:off x="-196" y="-164"/>
              <a:ext cx="407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ea typeface="微软雅黑" panose="020B0503020204020204" charset="-122"/>
                </a:rPr>
                <a:t>C</a:t>
              </a:r>
              <a:r>
                <a:rPr lang="en-US" altLang="zh-CN" sz="1900" b="1" baseline="-25000" dirty="0">
                  <a:solidFill>
                    <a:srgbClr val="0000FF"/>
                  </a:solidFill>
                  <a:ea typeface="微软雅黑" panose="020B0503020204020204" charset="-122"/>
                </a:rPr>
                <a:t>2</a:t>
              </a:r>
              <a:r>
                <a:rPr lang="en-US" altLang="zh-CN" sz="1700" b="1" baseline="-25000" dirty="0">
                  <a:solidFill>
                    <a:srgbClr val="0000FF"/>
                  </a:solidFill>
                  <a:ea typeface="微软雅黑" panose="020B0503020204020204" charset="-122"/>
                </a:rPr>
                <a:t> </a:t>
              </a:r>
              <a:endParaRPr lang="en-US" altLang="zh-CN" sz="1700" b="1" baseline="-25000" dirty="0">
                <a:solidFill>
                  <a:srgbClr val="0000FF"/>
                </a:solidFill>
                <a:ea typeface="微软雅黑" panose="020B0503020204020204" charset="-122"/>
              </a:endParaRPr>
            </a:p>
          </p:txBody>
        </p:sp>
        <p:sp>
          <p:nvSpPr>
            <p:cNvPr id="232" name="Line 235"/>
            <p:cNvSpPr>
              <a:spLocks noChangeShapeType="1"/>
            </p:cNvSpPr>
            <p:nvPr/>
          </p:nvSpPr>
          <p:spPr bwMode="auto">
            <a:xfrm>
              <a:off x="0" y="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 b="1">
                <a:solidFill>
                  <a:srgbClr val="0000FF"/>
                </a:solidFill>
              </a:endParaRPr>
            </a:p>
          </p:txBody>
        </p:sp>
      </p:grpSp>
      <p:grpSp>
        <p:nvGrpSpPr>
          <p:cNvPr id="233" name="Group 114"/>
          <p:cNvGrpSpPr/>
          <p:nvPr/>
        </p:nvGrpSpPr>
        <p:grpSpPr bwMode="auto">
          <a:xfrm>
            <a:off x="7304638" y="-44190"/>
            <a:ext cx="646112" cy="944563"/>
            <a:chOff x="-175" y="-163"/>
            <a:chExt cx="407" cy="595"/>
          </a:xfrm>
        </p:grpSpPr>
        <p:sp>
          <p:nvSpPr>
            <p:cNvPr id="234" name="Rectangle 18"/>
            <p:cNvSpPr>
              <a:spLocks noChangeArrowheads="1"/>
            </p:cNvSpPr>
            <p:nvPr/>
          </p:nvSpPr>
          <p:spPr bwMode="auto">
            <a:xfrm>
              <a:off x="-175" y="-163"/>
              <a:ext cx="407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69900" indent="-4699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ea typeface="微软雅黑" panose="020B0503020204020204" charset="-122"/>
                </a:rPr>
                <a:t>C</a:t>
              </a:r>
              <a:r>
                <a:rPr lang="en-US" altLang="zh-CN" sz="1900" b="1" baseline="-25000" dirty="0">
                  <a:solidFill>
                    <a:srgbClr val="0000FF"/>
                  </a:solidFill>
                  <a:ea typeface="微软雅黑" panose="020B0503020204020204" charset="-122"/>
                </a:rPr>
                <a:t>1</a:t>
              </a:r>
              <a:r>
                <a:rPr lang="en-US" altLang="zh-CN" sz="1700" b="1" baseline="-25000" dirty="0">
                  <a:solidFill>
                    <a:srgbClr val="0000FF"/>
                  </a:solidFill>
                  <a:ea typeface="微软雅黑" panose="020B0503020204020204" charset="-122"/>
                </a:rPr>
                <a:t> </a:t>
              </a:r>
              <a:endParaRPr lang="en-US" altLang="zh-CN" sz="1700" b="1" baseline="-25000" dirty="0">
                <a:solidFill>
                  <a:srgbClr val="0000FF"/>
                </a:solidFill>
                <a:ea typeface="微软雅黑" panose="020B0503020204020204" charset="-122"/>
              </a:endParaRPr>
            </a:p>
          </p:txBody>
        </p:sp>
        <p:sp>
          <p:nvSpPr>
            <p:cNvPr id="235" name="Line 236"/>
            <p:cNvSpPr>
              <a:spLocks noChangeShapeType="1"/>
            </p:cNvSpPr>
            <p:nvPr/>
          </p:nvSpPr>
          <p:spPr bwMode="auto">
            <a:xfrm>
              <a:off x="29" y="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 b="1">
                <a:solidFill>
                  <a:srgbClr val="0000FF"/>
                </a:solidFill>
              </a:endParaRPr>
            </a:p>
          </p:txBody>
        </p:sp>
      </p:grpSp>
      <p:sp>
        <p:nvSpPr>
          <p:cNvPr id="236" name="Rectangle 102"/>
          <p:cNvSpPr>
            <a:spLocks noChangeArrowheads="1"/>
          </p:cNvSpPr>
          <p:nvPr/>
        </p:nvSpPr>
        <p:spPr bwMode="auto">
          <a:xfrm>
            <a:off x="7399887" y="900372"/>
            <a:ext cx="457200" cy="304800"/>
          </a:xfrm>
          <a:prstGeom prst="rect">
            <a:avLst/>
          </a:prstGeom>
          <a:solidFill>
            <a:srgbClr val="99FFCC"/>
          </a:solidFill>
          <a:ln w="19050" cap="sq">
            <a:solidFill>
              <a:schemeClr val="accent2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1"/>
          <a:lstStyle>
            <a:lvl1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accent2"/>
              </a:buClr>
              <a:buSzTx/>
            </a:pPr>
            <a:r>
              <a:rPr lang="en-US" altLang="zh-CN" sz="1800" b="0" u="none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≥1</a:t>
            </a:r>
            <a:endParaRPr lang="en-US" altLang="zh-CN" sz="1800" b="0" u="none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237" name="Rectangle 103"/>
          <p:cNvSpPr>
            <a:spLocks noChangeArrowheads="1"/>
          </p:cNvSpPr>
          <p:nvPr/>
        </p:nvSpPr>
        <p:spPr bwMode="auto">
          <a:xfrm>
            <a:off x="5647287" y="900372"/>
            <a:ext cx="457200" cy="304800"/>
          </a:xfrm>
          <a:prstGeom prst="rect">
            <a:avLst/>
          </a:prstGeom>
          <a:solidFill>
            <a:srgbClr val="99FFCC"/>
          </a:solidFill>
          <a:ln w="19050" cap="sq">
            <a:solidFill>
              <a:schemeClr val="accent2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1"/>
          <a:lstStyle>
            <a:lvl1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 sz="2400" b="1" u="sng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accent2"/>
              </a:buClr>
              <a:buSzTx/>
            </a:pPr>
            <a:r>
              <a:rPr lang="en-US" altLang="zh-CN" sz="1800" b="0" u="none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≥1</a:t>
            </a:r>
            <a:endParaRPr lang="en-US" altLang="zh-CN" sz="1800" b="0" u="none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grpSp>
        <p:nvGrpSpPr>
          <p:cNvPr id="238" name="Group 119"/>
          <p:cNvGrpSpPr/>
          <p:nvPr/>
        </p:nvGrpSpPr>
        <p:grpSpPr bwMode="auto">
          <a:xfrm>
            <a:off x="3285087" y="900372"/>
            <a:ext cx="1524000" cy="1143000"/>
            <a:chOff x="0" y="0"/>
            <a:chExt cx="960" cy="720"/>
          </a:xfrm>
        </p:grpSpPr>
        <p:sp>
          <p:nvSpPr>
            <p:cNvPr id="239" name="Rectangle 91"/>
            <p:cNvSpPr>
              <a:spLocks noChangeArrowheads="1"/>
            </p:cNvSpPr>
            <p:nvPr/>
          </p:nvSpPr>
          <p:spPr bwMode="auto">
            <a:xfrm>
              <a:off x="672" y="528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0" name="Rectangle 92"/>
            <p:cNvSpPr>
              <a:spLocks noChangeArrowheads="1"/>
            </p:cNvSpPr>
            <p:nvPr/>
          </p:nvSpPr>
          <p:spPr bwMode="auto">
            <a:xfrm>
              <a:off x="336" y="528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1" name="Rectangle 93"/>
            <p:cNvSpPr>
              <a:spLocks noChangeArrowheads="1"/>
            </p:cNvSpPr>
            <p:nvPr/>
          </p:nvSpPr>
          <p:spPr bwMode="auto">
            <a:xfrm>
              <a:off x="0" y="528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2" name="Rectangle 126"/>
            <p:cNvSpPr>
              <a:spLocks noChangeArrowheads="1"/>
            </p:cNvSpPr>
            <p:nvPr/>
          </p:nvSpPr>
          <p:spPr bwMode="auto">
            <a:xfrm>
              <a:off x="336" y="0"/>
              <a:ext cx="288" cy="192"/>
            </a:xfrm>
            <a:prstGeom prst="rect">
              <a:avLst/>
            </a:prstGeom>
            <a:solidFill>
              <a:srgbClr val="99FFCC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1"/>
            <a:lstStyle>
              <a:lvl1pPr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Clr>
                  <a:schemeClr val="accent2"/>
                </a:buClr>
                <a:buSzTx/>
              </a:pPr>
              <a:r>
                <a:rPr lang="en-US" altLang="zh-CN" sz="1800" b="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≥1</a:t>
              </a:r>
              <a:endParaRPr lang="en-US" altLang="zh-CN" sz="1800" b="0" u="none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243" name="Group 124"/>
          <p:cNvGrpSpPr/>
          <p:nvPr/>
        </p:nvGrpSpPr>
        <p:grpSpPr bwMode="auto">
          <a:xfrm>
            <a:off x="999087" y="900372"/>
            <a:ext cx="2057400" cy="1143000"/>
            <a:chOff x="0" y="0"/>
            <a:chExt cx="1296" cy="720"/>
          </a:xfrm>
        </p:grpSpPr>
        <p:sp>
          <p:nvSpPr>
            <p:cNvPr id="244" name="Rectangle 95"/>
            <p:cNvSpPr>
              <a:spLocks noChangeArrowheads="1"/>
            </p:cNvSpPr>
            <p:nvPr/>
          </p:nvSpPr>
          <p:spPr bwMode="auto">
            <a:xfrm>
              <a:off x="1008" y="528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5" name="Rectangle 96"/>
            <p:cNvSpPr>
              <a:spLocks noChangeArrowheads="1"/>
            </p:cNvSpPr>
            <p:nvPr/>
          </p:nvSpPr>
          <p:spPr bwMode="auto">
            <a:xfrm>
              <a:off x="672" y="528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6" name="Rectangle 97"/>
            <p:cNvSpPr>
              <a:spLocks noChangeArrowheads="1"/>
            </p:cNvSpPr>
            <p:nvPr/>
          </p:nvSpPr>
          <p:spPr bwMode="auto">
            <a:xfrm>
              <a:off x="336" y="528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7" name="Rectangle 101"/>
            <p:cNvSpPr>
              <a:spLocks noChangeArrowheads="1"/>
            </p:cNvSpPr>
            <p:nvPr/>
          </p:nvSpPr>
          <p:spPr bwMode="auto">
            <a:xfrm>
              <a:off x="0" y="528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8" name="Rectangle 127"/>
            <p:cNvSpPr>
              <a:spLocks noChangeArrowheads="1"/>
            </p:cNvSpPr>
            <p:nvPr/>
          </p:nvSpPr>
          <p:spPr bwMode="auto">
            <a:xfrm>
              <a:off x="576" y="0"/>
              <a:ext cx="288" cy="192"/>
            </a:xfrm>
            <a:prstGeom prst="rect">
              <a:avLst/>
            </a:prstGeom>
            <a:solidFill>
              <a:srgbClr val="99FFCC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1"/>
            <a:lstStyle>
              <a:lvl1pPr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Clr>
                  <a:schemeClr val="accent2"/>
                </a:buClr>
                <a:buSzTx/>
              </a:pPr>
              <a:r>
                <a:rPr lang="en-US" altLang="zh-CN" sz="1800" b="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≥1</a:t>
              </a:r>
              <a:endParaRPr lang="en-US" altLang="zh-CN" sz="1800" b="0" u="none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sp>
        <p:nvSpPr>
          <p:cNvPr id="249" name="Rectangle 84"/>
          <p:cNvSpPr>
            <a:spLocks noChangeArrowheads="1"/>
          </p:cNvSpPr>
          <p:nvPr/>
        </p:nvSpPr>
        <p:spPr bwMode="auto">
          <a:xfrm>
            <a:off x="7933287" y="1738572"/>
            <a:ext cx="457200" cy="304800"/>
          </a:xfrm>
          <a:prstGeom prst="rect">
            <a:avLst/>
          </a:prstGeom>
          <a:solidFill>
            <a:srgbClr val="FFCC00"/>
          </a:solidFill>
          <a:ln w="19050" cap="sq">
            <a:solidFill>
              <a:schemeClr val="accent2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&amp;</a:t>
            </a:r>
            <a:endParaRPr lang="en-US" altLang="zh-CN" sz="1800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grpSp>
        <p:nvGrpSpPr>
          <p:cNvPr id="250" name="Group 11"/>
          <p:cNvGrpSpPr/>
          <p:nvPr/>
        </p:nvGrpSpPr>
        <p:grpSpPr bwMode="auto">
          <a:xfrm>
            <a:off x="5647287" y="1738572"/>
            <a:ext cx="990600" cy="304800"/>
            <a:chOff x="0" y="0"/>
            <a:chExt cx="624" cy="192"/>
          </a:xfrm>
        </p:grpSpPr>
        <p:sp>
          <p:nvSpPr>
            <p:cNvPr id="251" name="Rectangle 87"/>
            <p:cNvSpPr>
              <a:spLocks noChangeArrowheads="1"/>
            </p:cNvSpPr>
            <p:nvPr/>
          </p:nvSpPr>
          <p:spPr bwMode="auto">
            <a:xfrm>
              <a:off x="336" y="0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52" name="Rectangle 88"/>
            <p:cNvSpPr>
              <a:spLocks noChangeArrowheads="1"/>
            </p:cNvSpPr>
            <p:nvPr/>
          </p:nvSpPr>
          <p:spPr bwMode="auto">
            <a:xfrm>
              <a:off x="0" y="0"/>
              <a:ext cx="288" cy="192"/>
            </a:xfrm>
            <a:prstGeom prst="rect">
              <a:avLst/>
            </a:prstGeom>
            <a:solidFill>
              <a:srgbClr val="FFCC00"/>
            </a:solidFill>
            <a:ln w="19050" cap="sq">
              <a:solidFill>
                <a:schemeClr val="accent2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&amp;</a:t>
              </a:r>
              <a:endParaRPr lang="en-US" altLang="zh-CN" sz="18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aphicFrame>
        <p:nvGraphicFramePr>
          <p:cNvPr id="253" name="Object 21"/>
          <p:cNvGraphicFramePr>
            <a:graphicFrameLocks noChangeAspect="1"/>
          </p:cNvGraphicFramePr>
          <p:nvPr/>
        </p:nvGraphicFramePr>
        <p:xfrm>
          <a:off x="971550" y="4232910"/>
          <a:ext cx="7343775" cy="265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" name="" r:id="rId1" imgW="3162300" imgH="1155700" progId="Equation.3">
                  <p:embed/>
                </p:oleObj>
              </mc:Choice>
              <mc:Fallback>
                <p:oleObj name="" r:id="rId1" imgW="3162300" imgH="1155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4232910"/>
                        <a:ext cx="7343775" cy="2651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29" grpId="0" autoUpdateAnimBg="0"/>
      <p:bldP spid="130" grpId="0" bldLvl="0" animBg="1"/>
      <p:bldP spid="131" grpId="0" bldLvl="0" animBg="1"/>
      <p:bldP spid="132" grpId="0" bldLvl="0" animBg="1"/>
      <p:bldP spid="142" grpId="0" bldLvl="0" animBg="1"/>
      <p:bldP spid="143" grpId="0" bldLvl="0" animBg="1"/>
      <p:bldP spid="144" grpId="0" bldLvl="0" animBg="1"/>
      <p:bldP spid="145" grpId="0" bldLvl="0" animBg="1"/>
      <p:bldP spid="146" grpId="0" bldLvl="0" animBg="1"/>
      <p:bldP spid="147" grpId="0" bldLvl="0" animBg="1"/>
      <p:bldP spid="148" grpId="0" bldLvl="0" animBg="1"/>
      <p:bldP spid="149" grpId="0" bldLvl="0" animBg="1"/>
      <p:bldP spid="150" grpId="0" bldLvl="0" animBg="1"/>
      <p:bldP spid="151" grpId="0" bldLvl="0" animBg="1"/>
      <p:bldP spid="152" grpId="0" bldLvl="0" animBg="1"/>
      <p:bldP spid="153" grpId="0" bldLvl="0" animBg="1"/>
      <p:bldP spid="179" grpId="0" bldLvl="0" animBg="1"/>
      <p:bldP spid="184" grpId="0" bldLvl="0" animBg="1"/>
      <p:bldP spid="188" grpId="0" bldLvl="0" animBg="1"/>
      <p:bldP spid="189" grpId="0" bldLvl="0" animBg="1"/>
      <p:bldP spid="236" grpId="0" bldLvl="0" animBg="1" autoUpdateAnimBg="0"/>
      <p:bldP spid="237" grpId="0" bldLvl="0" animBg="1" autoUpdateAnimBg="0"/>
      <p:bldP spid="249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idx="1" hasCustomPrompt="1"/>
          </p:nvPr>
        </p:nvSpPr>
        <p:spPr>
          <a:xfrm>
            <a:off x="971550" y="1773238"/>
            <a:ext cx="7848600" cy="4608512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2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、实验内容与原理 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超前进位加法器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的Verilog实现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1371600" lvl="2" indent="-457200" defTabSz="457200" eaLnBrk="1" hangingPunct="1"/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基于实验一已经实现的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Times New Roman" panose="02020603050405020304" pitchFamily="18" charset="0"/>
              </a:rPr>
              <a:t>FA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模块，在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顶层模块调用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Times New Roman" panose="02020603050405020304" pitchFamily="18" charset="0"/>
              </a:rPr>
              <a:t>4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个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Times New Roman" panose="02020603050405020304" pitchFamily="18" charset="0"/>
              </a:rPr>
              <a:t>FA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模块实例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  <a:p>
            <a:pPr marL="1371600" lvl="2" indent="-457200" defTabSz="457200" eaLnBrk="1" hangingPunct="1"/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Times New Roman" panose="02020603050405020304" pitchFamily="18" charset="0"/>
              </a:rPr>
              <a:t>4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个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Times New Roman" panose="02020603050405020304" pitchFamily="18" charset="0"/>
              </a:rPr>
              <a:t>FA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实例的低位进位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Times New Roman" panose="02020603050405020304" pitchFamily="18" charset="0"/>
              </a:rPr>
              <a:t>Ci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则可采用数据流描述方式根据逻辑表达式产生。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5604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 hasCustomPrompt="1"/>
          </p:nvPr>
        </p:nvSpPr>
        <p:spPr>
          <a:xfrm>
            <a:off x="900113" y="1773238"/>
            <a:ext cx="7797800" cy="4176712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2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、实验内容与原理 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超前进位加法器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的Verilog实现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1371600" lvl="2" indent="-457200" defTabSz="457200" eaLnBrk="1" hangingPunct="1">
              <a:lnSpc>
                <a:spcPct val="120000"/>
              </a:lnSpc>
            </a:pP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模块调用时，要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注意：输入输出信号的传递方法和信号类型。</a:t>
            </a:r>
            <a:endParaRPr lang="zh-CN" altLang="en-US" kern="1200" dirty="0">
              <a:solidFill>
                <a:srgbClr val="FF0000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6628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763713" y="4284663"/>
          <a:ext cx="5256212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429510" imgH="824865" progId="Visio.Drawing.11">
                  <p:embed/>
                </p:oleObj>
              </mc:Choice>
              <mc:Fallback>
                <p:oleObj name="" r:id="rId1" imgW="2429510" imgH="82486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4284663"/>
                        <a:ext cx="5256212" cy="177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 hasCustomPrompt="1"/>
          </p:nvPr>
        </p:nvSpPr>
        <p:spPr>
          <a:xfrm>
            <a:off x="468313" y="1341438"/>
            <a:ext cx="8229600" cy="511175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3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、实验要求 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使用数据流描述来实现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4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位超前进位的二进制加法器；</a:t>
            </a:r>
            <a:r>
              <a:rPr lang="zh-CN" altLang="en-US" sz="2000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 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课前任务：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编程、仿真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、验证，确保逻辑正确性；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b="1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撰写实验报告</a:t>
            </a:r>
            <a:r>
              <a:rPr lang="zh-CN" altLang="en-US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</a:rPr>
              <a:t>。</a:t>
            </a:r>
            <a:endParaRPr lang="zh-CN" altLang="en-US" b="1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765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 hasCustomPrompt="1"/>
          </p:nvPr>
        </p:nvSpPr>
        <p:spPr>
          <a:xfrm>
            <a:off x="468313" y="1341438"/>
            <a:ext cx="8496300" cy="5111750"/>
          </a:xfrm>
          <a:ln/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4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、实验步骤 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在 ISE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/Vavido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中创建工程，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编码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，然后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编译、综合</a:t>
            </a:r>
            <a:endParaRPr lang="zh-CN" altLang="en-US" kern="1200" dirty="0">
              <a:solidFill>
                <a:srgbClr val="FF0000"/>
              </a:solidFill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编写激励代码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，观察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仿真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波形，直至正确</a:t>
            </a:r>
            <a:endParaRPr lang="en-US" altLang="zh-CN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8676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实验二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超前进位加法器设计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 hasCustomPrompt="1"/>
          </p:nvPr>
        </p:nvSpPr>
        <p:spPr>
          <a:xfrm>
            <a:off x="468313" y="1341438"/>
            <a:ext cx="8229600" cy="5111750"/>
          </a:xfrm>
          <a:ln/>
        </p:spPr>
        <p:txBody>
          <a:bodyPr vert="horz" wrap="square" lIns="91440" tIns="45720" rIns="91440" bIns="45720" anchor="t" anchorCtr="0"/>
          <a:p>
            <a:pPr marL="0" indent="0" defTabSz="457200" eaLnBrk="1" hangingPunct="1">
              <a:lnSpc>
                <a:spcPct val="120000"/>
              </a:lnSpc>
            </a:pP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5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、思考与探索 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450850" lvl="1" indent="-264795" defTabSz="457200" eaLnBrk="1" hangingPunct="1">
              <a:lnSpc>
                <a:spcPct val="120000"/>
              </a:lnSpc>
            </a:pP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（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1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）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观察综合得到的电路图，分析它和你想要设计的电路有何不同。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450850" lvl="1" indent="-264795" defTabSz="457200" eaLnBrk="1" hangingPunct="1">
              <a:lnSpc>
                <a:spcPct val="120000"/>
              </a:lnSpc>
            </a:pP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（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2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）尝试编程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实现采用超前进位的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8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位二进制加法器模块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。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450850" lvl="1" indent="-264795" defTabSz="457200" eaLnBrk="1" hangingPunct="1">
              <a:lnSpc>
                <a:spcPct val="120000"/>
              </a:lnSpc>
            </a:pP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（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</a:rPr>
              <a:t>3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）对于位数较长的超前进位加法器，各位的进位逻辑表达式将非常可观，这时，通常采用二级逻辑方法实现，查找有关资料，尝试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编程实现16位或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32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位的二级逻辑的超前进位加法器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。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450850" lvl="1" indent="-264795" defTabSz="457200" eaLnBrk="1" hangingPunct="1">
              <a:lnSpc>
                <a:spcPct val="120000"/>
              </a:lnSpc>
            </a:pP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（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4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）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谈谈你在实验中碰到了哪些问题？又是如何解决的？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9700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ViOWFiZGI3OGQ5MjQ2MjJiYzIyNjg5OTZiNDk5MGIifQ==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1031</Words>
  <Application>WPS 演示</Application>
  <PresentationFormat/>
  <Paragraphs>170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宋体</vt:lpstr>
      <vt:lpstr>Wingdings</vt:lpstr>
      <vt:lpstr>Century Gothic</vt:lpstr>
      <vt:lpstr>Wingdings 3</vt:lpstr>
      <vt:lpstr>幼圆</vt:lpstr>
      <vt:lpstr>HY중고딕</vt:lpstr>
      <vt:lpstr>Segoe Print</vt:lpstr>
      <vt:lpstr>Verdana</vt:lpstr>
      <vt:lpstr>Gulim</vt:lpstr>
      <vt:lpstr>Malgun Gothic</vt:lpstr>
      <vt:lpstr>Times New Roman</vt:lpstr>
      <vt:lpstr>微软雅黑</vt:lpstr>
      <vt:lpstr>Arial Unicode MS</vt:lpstr>
      <vt:lpstr>华文新魏</vt:lpstr>
      <vt:lpstr>Segoe UI Black</vt:lpstr>
      <vt:lpstr>Courier New</vt:lpstr>
      <vt:lpstr>丝状</vt:lpstr>
      <vt:lpstr>Visio.Drawing.11</vt:lpstr>
      <vt:lpstr>Equation.3</vt:lpstr>
      <vt:lpstr>Equation.3</vt:lpstr>
      <vt:lpstr>Equation.3</vt:lpstr>
      <vt:lpstr>Equation.3</vt:lpstr>
      <vt:lpstr>Equation.3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creator>冯建文</dc:creator>
  <dc:subject>第5章</dc:subject>
  <cp:lastModifiedBy>白丁</cp:lastModifiedBy>
  <cp:revision>385</cp:revision>
  <dcterms:created xsi:type="dcterms:W3CDTF">2001-12-07T16:07:47Z</dcterms:created>
  <dcterms:modified xsi:type="dcterms:W3CDTF">2024-04-22T06:56:55Z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859CF5B761E64686ABE927B81A830A95_12</vt:lpwstr>
  </property>
</Properties>
</file>