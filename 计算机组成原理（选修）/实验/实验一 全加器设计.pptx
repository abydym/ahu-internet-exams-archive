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9" r:id="rId1"/>
  </p:sldMasterIdLst>
  <p:notesMasterIdLst>
    <p:notesMasterId r:id="rId9"/>
  </p:notesMasterIdLst>
  <p:sldIdLst>
    <p:sldId id="922" r:id="rId2"/>
    <p:sldId id="379" r:id="rId3"/>
    <p:sldId id="806" r:id="rId4"/>
    <p:sldId id="902" r:id="rId5"/>
    <p:sldId id="923" r:id="rId6"/>
    <p:sldId id="924" r:id="rId7"/>
    <p:sldId id="80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3"/>
    <a:srgbClr val="CCFFFF"/>
    <a:srgbClr val="FFCCFF"/>
    <a:srgbClr val="E7F5F9"/>
    <a:srgbClr val="FF0000"/>
    <a:srgbClr val="00CC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0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xmlns="" id="{7157A32F-2B5E-4562-8711-539179EC5A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xmlns="" id="{36F53D87-5893-461B-832B-651FA3E0AF8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C7583A4C-7C7A-4B49-8C28-5165AF1DDC6F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xmlns="" id="{621BFB72-7C8A-4097-8961-D03512872536}"/>
              </a:ext>
            </a:extLst>
          </p:cNvPr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xmlns="" id="{DED18F9B-BE69-4A50-93F6-456EB1FD81F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xmlns="" id="{847193D2-EA0A-4240-81F9-745816E83F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b="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BF4969C-539E-434F-AEBE-9A82C92834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311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25C76-2158-4F6F-8BB2-8B336B86D179}" type="datetimeFigureOut">
              <a:rPr lang="zh-CN" altLang="en-US" smtClean="0"/>
              <a:t>2023/10/17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ECF39655-B055-47C6-8E6A-EEB0661EF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7093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400"/>
            </a:lvl4pPr>
            <a:lvl5pPr>
              <a:lnSpc>
                <a:spcPct val="150000"/>
              </a:lnSpc>
              <a:defRPr sz="24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9A02F-357D-AF42-B110-A7740AFDCA1B}" type="datetimeFigureOut">
              <a:rPr lang="en-US" dirty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4EA7D-8E65-455E-9AC2-D8566EFB78EC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98979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9B27-4D02-2940-AED5-BC8F2B3B1507}" type="datetimeFigureOut">
              <a:rPr lang="en-US" dirty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C2312407-85F0-4390-BFE4-EB11BA976868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953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7878-2C98-7449-BB8F-764A5EA8E558}" type="datetimeFigureOut">
              <a:rPr lang="en-US" dirty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fld id="{26A1CD6B-90B3-46C2-914A-984F929625DA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4932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2F403-9584-1749-B6AB-5E1C5F94527C}" type="datetimeFigureOut">
              <a:rPr lang="en-US" dirty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fld id="{84F441D4-FA81-4567-831E-D1CF67C984B9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4515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C0351-EB03-5444-BA93-B7E778374E24}" type="datetimeFigureOut">
              <a:rPr lang="en-US" dirty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AE3085-30C3-4EA7-BD64-9E71E02FEC66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1149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A0DFCE5-4699-4DFE-885C-AA1BB4B6AAD3}" type="datetime1">
              <a:rPr lang="zh-CN" altLang="en-US" smtClean="0"/>
              <a:pPr>
                <a:defRPr/>
              </a:pPr>
              <a:t>2023/10/17 Tuesday</a:t>
            </a:fld>
            <a:endParaRPr lang="en-US" altLang="zh-C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36569E-8E37-4E6A-94A6-72D7087393AA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5982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8CB6-48D8-4E47-B0D3-B56230F429D0}" type="datetimeFigureOut">
              <a:rPr lang="en-US" dirty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EDB09B-93F2-472F-A3F7-08EAF2E798B2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3656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16D3-DCE8-CC45-8106-AE5DFCD073F9}" type="datetimeFigureOut">
              <a:rPr lang="en-US" dirty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BFC6BD6C-BC1E-4AE7-BE2F-3C53F136C3B2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8399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F351F-53B1-3B4C-8CD4-15B0457E8E3F}" type="datetimeFigureOut">
              <a:rPr lang="en-US" dirty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E6C02F40-11A1-4C19-966B-229F0ABE0FE9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342845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E8F6-4F69-E448-82E4-3FF8C30628E4}" type="datetimeFigureOut">
              <a:rPr lang="en-US" dirty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E6C02F40-11A1-4C19-966B-229F0ABE0FE9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421392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BAD4-EC93-8B4C-97AE-9AB5F3271B19}" type="datetimeFigureOut">
              <a:rPr lang="en-US" dirty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E6C02F40-11A1-4C19-966B-229F0ABE0FE9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4596092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050E-E079-6441-81E7-806D30677343}" type="datetimeFigureOut">
              <a:rPr lang="en-US" dirty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E6C02F40-11A1-4C19-966B-229F0ABE0FE9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7785655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A0DFCE5-4699-4DFE-885C-AA1BB4B6AAD3}" type="datetime1">
              <a:rPr lang="zh-CN" altLang="en-US" smtClean="0"/>
              <a:pPr>
                <a:defRPr/>
              </a:pPr>
              <a:t>2023/10/17 Tuesday</a:t>
            </a:fld>
            <a:endParaRPr lang="en-US" altLang="zh-C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E6C02F40-11A1-4C19-966B-229F0ABE0FE9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6741254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A0DFCE5-4699-4DFE-885C-AA1BB4B6AAD3}" type="datetime1">
              <a:rPr lang="zh-CN" altLang="en-US" smtClean="0"/>
              <a:pPr>
                <a:defRPr/>
              </a:pPr>
              <a:t>2023/10/17 Tuesday</a:t>
            </a:fld>
            <a:endParaRPr lang="en-US" altLang="zh-C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ED8D2C-7D71-4181-9E0F-AAEDA0A13E08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0229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A0DFCE5-4699-4DFE-885C-AA1BB4B6AAD3}" type="datetime1">
              <a:rPr lang="zh-CN" altLang="en-US" smtClean="0"/>
              <a:pPr>
                <a:defRPr/>
              </a:pPr>
              <a:t>2023/10/17 Tuesday</a:t>
            </a:fld>
            <a:endParaRPr lang="en-US" altLang="zh-C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C02F40-11A1-4C19-966B-229F0ABE0FE9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8197729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333375"/>
            <a:ext cx="78486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341438"/>
            <a:ext cx="4038600" cy="50815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1341438"/>
            <a:ext cx="4038600" cy="50815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76350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A0DFCE5-4699-4DFE-885C-AA1BB4B6AAD3}" type="datetime1">
              <a:rPr lang="zh-CN" altLang="en-US" smtClean="0"/>
              <a:pPr>
                <a:defRPr/>
              </a:pPr>
              <a:t>2023/10/17 Tuesday</a:t>
            </a:fld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E6C02F40-11A1-4C19-966B-229F0ABE0FE9}" type="slidenum">
              <a:rPr lang="ko-KR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617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  <p:sldLayoutId id="2147484071" r:id="rId12"/>
    <p:sldLayoutId id="2147484072" r:id="rId13"/>
    <p:sldLayoutId id="2147484073" r:id="rId14"/>
    <p:sldLayoutId id="2147484074" r:id="rId15"/>
    <p:sldLayoutId id="2147484075" r:id="rId16"/>
    <p:sldLayoutId id="2147484076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xmlns="" id="{816933EE-D0BE-488F-BCB3-31080AA76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680" y="1484784"/>
            <a:ext cx="6600451" cy="2262781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计算机组成原理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课程设计</a:t>
            </a: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xmlns="" id="{D8CA8965-A95E-498E-9440-B2B4EB975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9712" y="3747565"/>
            <a:ext cx="6600451" cy="1126283"/>
          </a:xfrm>
        </p:spPr>
        <p:txBody>
          <a:bodyPr>
            <a:normAutofit/>
          </a:bodyPr>
          <a:lstStyle/>
          <a:p>
            <a:pPr algn="ctr"/>
            <a:endParaRPr lang="en-US" altLang="zh-CN" sz="2400" dirty="0"/>
          </a:p>
          <a:p>
            <a:pPr algn="ctr"/>
            <a:r>
              <a:rPr lang="zh-CN" altLang="en-US" sz="2400" dirty="0" smtClean="0"/>
              <a:t>实验</a:t>
            </a:r>
            <a:r>
              <a:rPr lang="zh-CN" altLang="en-US" sz="2400" dirty="0" smtClean="0"/>
              <a:t>一：串行</a:t>
            </a:r>
            <a:r>
              <a:rPr lang="zh-CN" altLang="en-US" sz="2400" dirty="0" smtClean="0"/>
              <a:t>全加器</a:t>
            </a:r>
            <a:r>
              <a:rPr lang="zh-CN" altLang="en-US" sz="2400" dirty="0"/>
              <a:t>设计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BBD0829E-532F-4420-A073-82BAC4F3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4EA7D-8E65-455E-9AC2-D8566EFB78EC}" type="slidenum">
              <a:rPr lang="ko-KR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887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7EB244D1-79E4-466B-84DE-EC057329EE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实验一：串行全加器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设计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xmlns="" id="{EA2CA44B-B3E0-47A8-BBCA-81471EF8A8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 eaLnBrk="1" hangingPunct="1"/>
            <a:r>
              <a:rPr lang="en-US" altLang="zh-CN" dirty="0"/>
              <a:t>1</a:t>
            </a:r>
            <a:r>
              <a:rPr lang="zh-CN" altLang="en-US" dirty="0"/>
              <a:t>、实验目的 </a:t>
            </a:r>
          </a:p>
          <a:p>
            <a:pPr lvl="1"/>
            <a:r>
              <a:rPr lang="zh-CN" altLang="zh-CN" dirty="0"/>
              <a:t>掌握运用</a:t>
            </a:r>
            <a:r>
              <a:rPr lang="en-US" altLang="zh-CN" dirty="0"/>
              <a:t>Verilog HDL</a:t>
            </a:r>
            <a:r>
              <a:rPr lang="zh-CN" altLang="zh-CN" dirty="0"/>
              <a:t>语言进行</a:t>
            </a:r>
            <a:r>
              <a:rPr lang="zh-CN" altLang="zh-CN" dirty="0">
                <a:solidFill>
                  <a:srgbClr val="FF0000"/>
                </a:solidFill>
              </a:rPr>
              <a:t>结构描述与建模的技巧和方法</a:t>
            </a:r>
            <a:r>
              <a:rPr lang="zh-CN" altLang="zh-CN" dirty="0"/>
              <a:t>；</a:t>
            </a:r>
          </a:p>
          <a:p>
            <a:pPr lvl="1"/>
            <a:r>
              <a:rPr lang="zh-CN" altLang="zh-CN" dirty="0"/>
              <a:t>掌握</a:t>
            </a:r>
            <a:r>
              <a:rPr lang="zh-CN" altLang="zh-CN" dirty="0">
                <a:solidFill>
                  <a:srgbClr val="FF0000"/>
                </a:solidFill>
              </a:rPr>
              <a:t>二进制全加器</a:t>
            </a:r>
            <a:r>
              <a:rPr lang="zh-CN" altLang="zh-CN" dirty="0"/>
              <a:t>的原理与设计方法； </a:t>
            </a:r>
          </a:p>
          <a:p>
            <a:pPr lvl="1"/>
            <a:r>
              <a:rPr lang="zh-CN" altLang="zh-CN" dirty="0"/>
              <a:t>学习使用</a:t>
            </a:r>
            <a:r>
              <a:rPr lang="en-US" altLang="zh-CN" dirty="0" err="1"/>
              <a:t>Vivado</a:t>
            </a:r>
            <a:r>
              <a:rPr lang="zh-CN" altLang="zh-CN" dirty="0"/>
              <a:t>工具软件的使用及仿真方法；</a:t>
            </a:r>
          </a:p>
          <a:p>
            <a:pPr lvl="1"/>
            <a:endParaRPr lang="zh-CN" altLang="en-US" dirty="0"/>
          </a:p>
        </p:txBody>
      </p:sp>
      <p:sp>
        <p:nvSpPr>
          <p:cNvPr id="6147" name="灯片编号占位符 5">
            <a:extLst>
              <a:ext uri="{FF2B5EF4-FFF2-40B4-BE49-F238E27FC236}">
                <a16:creationId xmlns:a16="http://schemas.microsoft.com/office/drawing/2014/main" xmlns="" id="{28AB7578-4440-4E1E-A8AB-707DAD08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DAAA967-B827-4E10-892C-D4FA33156592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2</a:t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8A8D3B52-B5CE-4AD3-AFFA-F7BC67248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实验一：串行全加器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设计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xmlns="" id="{30F6D448-6AEA-42BE-BE86-0A2488AB21B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341438"/>
            <a:ext cx="4038600" cy="1511300"/>
          </a:xfrm>
        </p:spPr>
        <p:txBody>
          <a:bodyPr>
            <a:normAutofit/>
          </a:bodyPr>
          <a:lstStyle/>
          <a:p>
            <a:pPr marL="533400" indent="-533400" eaLnBrk="1" hangingPunct="1"/>
            <a:r>
              <a:rPr lang="en-US" altLang="zh-CN" sz="2400" dirty="0"/>
              <a:t>2</a:t>
            </a:r>
            <a:r>
              <a:rPr lang="zh-CN" altLang="en-US" sz="2400" dirty="0"/>
              <a:t>、实验内容与原理</a:t>
            </a:r>
          </a:p>
          <a:p>
            <a:pPr marL="914400" lvl="1" indent="-457200" eaLnBrk="1" hangingPunct="1"/>
            <a:r>
              <a:rPr lang="zh-CN" altLang="en-US" sz="2400" dirty="0"/>
              <a:t>设计一个</a:t>
            </a:r>
            <a:r>
              <a:rPr lang="zh-CN" altLang="en-US" sz="2400" dirty="0">
                <a:solidFill>
                  <a:srgbClr val="FF0000"/>
                </a:solidFill>
              </a:rPr>
              <a:t>1位二进制加法器</a:t>
            </a:r>
            <a:endParaRPr lang="zh-CN" altLang="en-US" sz="2400" dirty="0"/>
          </a:p>
        </p:txBody>
      </p:sp>
      <p:graphicFrame>
        <p:nvGraphicFramePr>
          <p:cNvPr id="7172" name="Object 4">
            <a:extLst>
              <a:ext uri="{FF2B5EF4-FFF2-40B4-BE49-F238E27FC236}">
                <a16:creationId xmlns:a16="http://schemas.microsoft.com/office/drawing/2014/main" xmlns="" id="{D299E8E8-7060-41F7-8B89-CAFA7B2A16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708275"/>
          <a:ext cx="3384550" cy="271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" r:id="rId3" imgW="1524240" imgH="1221840" progId="">
                  <p:embed/>
                </p:oleObj>
              </mc:Choice>
              <mc:Fallback>
                <p:oleObj r:id="rId3" imgW="1524240" imgH="122184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708275"/>
                        <a:ext cx="3384550" cy="271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8" name="Group 170">
            <a:extLst>
              <a:ext uri="{FF2B5EF4-FFF2-40B4-BE49-F238E27FC236}">
                <a16:creationId xmlns:a16="http://schemas.microsoft.com/office/drawing/2014/main" xmlns="" id="{2C0C9E3F-62A7-4164-9DE9-CF4B9AB34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083729"/>
              </p:ext>
            </p:extLst>
          </p:nvPr>
        </p:nvGraphicFramePr>
        <p:xfrm>
          <a:off x="4572000" y="1268413"/>
          <a:ext cx="4176713" cy="39624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302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509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032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35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60363">
                <a:tc grid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输入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输出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Ai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Bi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Ci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Fi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Ci+1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29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29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429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429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429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429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429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429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ea"/>
                        <a:ea typeface="+mn-ea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b="1">
                          <a:solidFill>
                            <a:schemeClr val="tx2"/>
                          </a:solidFill>
                          <a:latin typeface="Arial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  <a:sym typeface="宋体" pitchFamily="2" charset="-122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aphicFrame>
        <p:nvGraphicFramePr>
          <p:cNvPr id="7330" name="Object 162">
            <a:extLst>
              <a:ext uri="{FF2B5EF4-FFF2-40B4-BE49-F238E27FC236}">
                <a16:creationId xmlns:a16="http://schemas.microsoft.com/office/drawing/2014/main" xmlns="" id="{2FF6C03F-5BA7-4D14-A2DA-8127B9E83E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600991"/>
              </p:ext>
            </p:extLst>
          </p:nvPr>
        </p:nvGraphicFramePr>
        <p:xfrm>
          <a:off x="1258888" y="5445125"/>
          <a:ext cx="6791325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6" name="公式" r:id="rId5" imgW="2654300" imgH="393700" progId="Equation.3">
                  <p:embed/>
                </p:oleObj>
              </mc:Choice>
              <mc:Fallback>
                <p:oleObj name="公式" r:id="rId5" imgW="2654300" imgH="393700" progId="Equation.3">
                  <p:embed/>
                  <p:pic>
                    <p:nvPicPr>
                      <p:cNvPr id="0" name="Object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445125"/>
                        <a:ext cx="6791325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3">
            <a:extLst>
              <a:ext uri="{FF2B5EF4-FFF2-40B4-BE49-F238E27FC236}">
                <a16:creationId xmlns:a16="http://schemas.microsoft.com/office/drawing/2014/main" xmlns="" id="{C0E32B7D-8953-4344-BADF-202295B6D5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343025"/>
            <a:ext cx="8229600" cy="5110163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</a:p>
          <a:p>
            <a:pPr marL="914400" lvl="1" indent="-457200" eaLnBrk="1" hangingPunct="1"/>
            <a:r>
              <a:rPr lang="zh-CN" altLang="en-US" dirty="0"/>
              <a:t>编程</a:t>
            </a:r>
            <a:r>
              <a:rPr lang="zh-CN" altLang="en-US" dirty="0" smtClean="0"/>
              <a:t>实现</a:t>
            </a:r>
            <a:r>
              <a:rPr lang="en-US" altLang="zh-CN" dirty="0" smtClean="0"/>
              <a:t>1</a:t>
            </a:r>
            <a:r>
              <a:rPr lang="zh-CN" altLang="en-US" dirty="0" smtClean="0"/>
              <a:t>位</a:t>
            </a:r>
            <a:r>
              <a:rPr lang="en-US" altLang="zh-CN" dirty="0" smtClean="0"/>
              <a:t>FA</a:t>
            </a:r>
            <a:r>
              <a:rPr lang="zh-CN" altLang="en-US" dirty="0"/>
              <a:t>模块：要求使用</a:t>
            </a:r>
            <a:r>
              <a:rPr lang="en-US" altLang="zh-CN" dirty="0"/>
              <a:t>Verilog</a:t>
            </a:r>
            <a:r>
              <a:rPr lang="zh-CN" altLang="en-US" dirty="0"/>
              <a:t>语言，采用</a:t>
            </a:r>
            <a:r>
              <a:rPr lang="zh-CN" altLang="en-US" dirty="0">
                <a:solidFill>
                  <a:srgbClr val="FF0000"/>
                </a:solidFill>
              </a:rPr>
              <a:t>结构描述方式建模</a:t>
            </a:r>
            <a:r>
              <a:rPr lang="zh-CN" altLang="en-US" dirty="0"/>
              <a:t>，即采用门级元件</a:t>
            </a:r>
            <a:r>
              <a:rPr lang="en-US" altLang="zh-CN" dirty="0" err="1"/>
              <a:t>实现</a:t>
            </a:r>
            <a:r>
              <a:rPr lang="zh-CN" altLang="en-US" dirty="0"/>
              <a:t>（根据逻辑表达式）。</a:t>
            </a:r>
            <a:endParaRPr lang="en-US" altLang="zh-CN" dirty="0"/>
          </a:p>
        </p:txBody>
      </p:sp>
      <p:sp>
        <p:nvSpPr>
          <p:cNvPr id="8195" name="灯片编号占位符 5">
            <a:extLst>
              <a:ext uri="{FF2B5EF4-FFF2-40B4-BE49-F238E27FC236}">
                <a16:creationId xmlns:a16="http://schemas.microsoft.com/office/drawing/2014/main" xmlns="" id="{B9C90033-B26A-4BE8-987A-30763804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45A67AB-215D-4E3D-8D63-B0DE49F0D9F4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4</a:t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8A8D3B52-B5CE-4AD3-AFFA-F7BC67248056}"/>
              </a:ext>
            </a:extLst>
          </p:cNvPr>
          <p:cNvSpPr txBox="1">
            <a:spLocks noChangeArrowheads="1"/>
          </p:cNvSpPr>
          <p:nvPr/>
        </p:nvSpPr>
        <p:spPr>
          <a:xfrm>
            <a:off x="1116013" y="333375"/>
            <a:ext cx="7848600" cy="6096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zh-CN" altLang="en-US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实验一：串行全加器设计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3">
            <a:extLst>
              <a:ext uri="{FF2B5EF4-FFF2-40B4-BE49-F238E27FC236}">
                <a16:creationId xmlns:a16="http://schemas.microsoft.com/office/drawing/2014/main" xmlns="" id="{C0E32B7D-8953-4344-BADF-202295B6D5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343025"/>
            <a:ext cx="8229600" cy="2518023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</a:p>
          <a:p>
            <a:pPr marL="914400" lvl="1" indent="-457200"/>
            <a:r>
              <a:rPr lang="zh-CN" altLang="en-US" dirty="0"/>
              <a:t>编程</a:t>
            </a:r>
            <a:r>
              <a:rPr lang="zh-CN" altLang="en-US" dirty="0" smtClean="0"/>
              <a:t>实现</a:t>
            </a:r>
            <a:r>
              <a:rPr lang="en-US" altLang="zh-CN" dirty="0" smtClean="0"/>
              <a:t>4</a:t>
            </a:r>
            <a:r>
              <a:rPr lang="zh-CN" altLang="en-US" dirty="0" smtClean="0"/>
              <a:t>位</a:t>
            </a:r>
            <a:r>
              <a:rPr lang="en-US" altLang="zh-CN" dirty="0" smtClean="0"/>
              <a:t>FA</a:t>
            </a:r>
            <a:r>
              <a:rPr lang="zh-CN" altLang="en-US" dirty="0"/>
              <a:t>模块</a:t>
            </a:r>
            <a:r>
              <a:rPr lang="zh-CN" altLang="en-US" dirty="0" smtClean="0"/>
              <a:t>：例化</a:t>
            </a:r>
            <a:r>
              <a:rPr lang="zh-CN" altLang="en-US" dirty="0" smtClean="0"/>
              <a:t>本</a:t>
            </a:r>
            <a:r>
              <a:rPr lang="zh-CN" altLang="en-US" dirty="0"/>
              <a:t>次实验所设计的</a:t>
            </a:r>
            <a:r>
              <a:rPr lang="zh-CN" altLang="en-US" dirty="0">
                <a:solidFill>
                  <a:srgbClr val="FF0000"/>
                </a:solidFill>
              </a:rPr>
              <a:t>FA模块</a:t>
            </a:r>
            <a:r>
              <a:rPr lang="zh-CN" altLang="en-US" dirty="0"/>
              <a:t>，尝试编程实现</a:t>
            </a:r>
            <a:r>
              <a:rPr lang="zh-CN" altLang="en-US" dirty="0">
                <a:solidFill>
                  <a:srgbClr val="FF0000"/>
                </a:solidFill>
              </a:rPr>
              <a:t>4位串行进位</a:t>
            </a:r>
            <a:r>
              <a:rPr lang="zh-CN" altLang="en-US" dirty="0"/>
              <a:t>加法器</a:t>
            </a:r>
            <a:r>
              <a:rPr lang="zh-CN" altLang="en-US" dirty="0" smtClean="0"/>
              <a:t>。</a:t>
            </a:r>
            <a:r>
              <a:rPr lang="zh-CN" altLang="en-US" dirty="0" smtClean="0"/>
              <a:t>即采用</a:t>
            </a:r>
            <a:r>
              <a:rPr lang="en-US" altLang="zh-CN" dirty="0" smtClean="0"/>
              <a:t>RTL</a:t>
            </a:r>
            <a:r>
              <a:rPr lang="zh-CN" altLang="en-US" dirty="0" smtClean="0"/>
              <a:t>级描述</a:t>
            </a:r>
            <a:r>
              <a:rPr lang="en-US" altLang="zh-CN" dirty="0" err="1" smtClean="0"/>
              <a:t>实现</a:t>
            </a:r>
            <a:r>
              <a:rPr lang="zh-CN" altLang="en-US" dirty="0"/>
              <a:t>（根据逻辑表达式）。</a:t>
            </a:r>
            <a:endParaRPr lang="en-US" altLang="zh-CN" dirty="0"/>
          </a:p>
        </p:txBody>
      </p:sp>
      <p:sp>
        <p:nvSpPr>
          <p:cNvPr id="8195" name="灯片编号占位符 5">
            <a:extLst>
              <a:ext uri="{FF2B5EF4-FFF2-40B4-BE49-F238E27FC236}">
                <a16:creationId xmlns:a16="http://schemas.microsoft.com/office/drawing/2014/main" xmlns="" id="{B9C90033-B26A-4BE8-987A-30763804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45A67AB-215D-4E3D-8D63-B0DE49F0D9F4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5</a:t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63" name="Rectangle 2">
            <a:extLst>
              <a:ext uri="{FF2B5EF4-FFF2-40B4-BE49-F238E27FC236}">
                <a16:creationId xmlns:a16="http://schemas.microsoft.com/office/drawing/2014/main" xmlns="" id="{8A8D3B52-B5CE-4AD3-AFFA-F7BC67248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333375"/>
            <a:ext cx="78486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实验一：串行全加器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设计</a:t>
            </a:r>
          </a:p>
        </p:txBody>
      </p:sp>
    </p:spTree>
    <p:extLst>
      <p:ext uri="{BB962C8B-B14F-4D97-AF65-F5344CB8AC3E}">
        <p14:creationId xmlns:p14="http://schemas.microsoft.com/office/powerpoint/2010/main" val="56754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3">
            <a:extLst>
              <a:ext uri="{FF2B5EF4-FFF2-40B4-BE49-F238E27FC236}">
                <a16:creationId xmlns:a16="http://schemas.microsoft.com/office/drawing/2014/main" xmlns="" id="{C0E32B7D-8953-4344-BADF-202295B6D5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343025"/>
            <a:ext cx="8229600" cy="1437903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</a:p>
          <a:p>
            <a:pPr marL="914400" lvl="1" indent="-457200"/>
            <a:r>
              <a:rPr lang="zh-CN" altLang="en-US" dirty="0"/>
              <a:t>编程</a:t>
            </a:r>
            <a:r>
              <a:rPr lang="zh-CN" altLang="en-US" dirty="0" smtClean="0"/>
              <a:t>实现</a:t>
            </a:r>
            <a:r>
              <a:rPr lang="en-US" altLang="zh-CN" dirty="0" smtClean="0"/>
              <a:t>4</a:t>
            </a:r>
            <a:r>
              <a:rPr lang="zh-CN" altLang="en-US" smtClean="0"/>
              <a:t>位串行</a:t>
            </a:r>
            <a:r>
              <a:rPr lang="en-US" altLang="zh-CN" smtClean="0"/>
              <a:t>FA</a:t>
            </a:r>
            <a:r>
              <a:rPr lang="zh-CN" altLang="en-US" dirty="0" smtClean="0"/>
              <a:t>模块</a:t>
            </a:r>
            <a:endParaRPr lang="en-US" altLang="zh-CN" dirty="0"/>
          </a:p>
        </p:txBody>
      </p:sp>
      <p:sp>
        <p:nvSpPr>
          <p:cNvPr id="8195" name="灯片编号占位符 5">
            <a:extLst>
              <a:ext uri="{FF2B5EF4-FFF2-40B4-BE49-F238E27FC236}">
                <a16:creationId xmlns:a16="http://schemas.microsoft.com/office/drawing/2014/main" xmlns="" id="{B9C90033-B26A-4BE8-987A-30763804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45A67AB-215D-4E3D-8D63-B0DE49F0D9F4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6</a:t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3636640" y="2765820"/>
            <a:ext cx="1295400" cy="3890962"/>
            <a:chOff x="0" y="-228"/>
            <a:chExt cx="816" cy="2451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90" y="560"/>
              <a:ext cx="496" cy="302"/>
            </a:xfrm>
            <a:prstGeom prst="rect">
              <a:avLst/>
            </a:prstGeom>
            <a:solidFill>
              <a:srgbClr val="99FFCC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u="none" dirty="0" smtClean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FA</a:t>
              </a:r>
              <a:r>
                <a:rPr lang="en-US" altLang="zh-CN" sz="1800" u="none" baseline="-25000" dirty="0" smtClean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2</a:t>
              </a:r>
              <a:endParaRPr lang="en-US" altLang="zh-CN" sz="1800" u="none" baseline="-250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 flipV="1">
              <a:off x="338" y="36"/>
              <a:ext cx="0" cy="5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V="1">
              <a:off x="224" y="862"/>
              <a:ext cx="0" cy="1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 flipV="1">
              <a:off x="453" y="862"/>
              <a:ext cx="0" cy="1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130" y="-228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S</a:t>
              </a:r>
              <a:r>
                <a:rPr lang="en-US" altLang="zh-CN" sz="1800" b="1" baseline="-25000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2</a:t>
              </a:r>
              <a:endParaRPr lang="en-US" altLang="zh-CN" sz="1800" b="1" baseline="-2500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0" y="1988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1800" b="1" baseline="-25000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2</a:t>
              </a:r>
              <a:endParaRPr lang="en-US" altLang="zh-CN" sz="1800" b="1" baseline="-2500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363" y="1992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Y</a:t>
              </a:r>
              <a:r>
                <a:rPr lang="en-US" altLang="zh-CN" sz="1800" b="1" baseline="-25000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2</a:t>
              </a:r>
              <a:endParaRPr lang="en-US" altLang="zh-CN" sz="1800" b="1" baseline="-2500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700700" y="2745183"/>
            <a:ext cx="8181977" cy="3911599"/>
            <a:chOff x="-3303" y="-241"/>
            <a:chExt cx="5154" cy="2464"/>
          </a:xfrm>
        </p:grpSpPr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6" y="726"/>
              <a:ext cx="45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stealth" w="lg" len="lg"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702" y="3"/>
              <a:ext cx="0" cy="5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1397" y="462"/>
              <a:ext cx="4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err="1" smtClean="0">
                  <a:solidFill>
                    <a:srgbClr val="FF0000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sz="1800" b="1" baseline="-25000" dirty="0" err="1" smtClean="0">
                  <a:solidFill>
                    <a:srgbClr val="FF0000"/>
                  </a:solidFill>
                  <a:ea typeface="宋体" panose="02010600030101010101" pitchFamily="2" charset="-122"/>
                </a:rPr>
                <a:t>in</a:t>
              </a:r>
              <a:endParaRPr lang="en-US" altLang="zh-CN" sz="1800" b="1" baseline="-2500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460" y="560"/>
              <a:ext cx="495" cy="302"/>
            </a:xfrm>
            <a:prstGeom prst="rect">
              <a:avLst/>
            </a:prstGeom>
            <a:solidFill>
              <a:srgbClr val="99FFCC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u="none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FA</a:t>
              </a:r>
              <a:r>
                <a:rPr lang="en-US" altLang="zh-CN" sz="1800" u="none" baseline="-250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0</a:t>
              </a: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549" y="-241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S</a:t>
              </a:r>
              <a:r>
                <a:rPr lang="en-US" altLang="zh-CN" sz="1800" b="1" baseline="-25000" dirty="0">
                  <a:solidFill>
                    <a:srgbClr val="FF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V="1">
              <a:off x="588" y="862"/>
              <a:ext cx="0" cy="1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V="1">
              <a:off x="815" y="862"/>
              <a:ext cx="0" cy="1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969" y="726"/>
              <a:ext cx="76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453" y="1988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1800" b="1" baseline="-25000" dirty="0">
                  <a:solidFill>
                    <a:srgbClr val="FF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725" y="1992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rgbClr val="FF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4" name="Text Box 12"/>
            <p:cNvSpPr txBox="1">
              <a:spLocks noChangeArrowheads="1"/>
            </p:cNvSpPr>
            <p:nvPr/>
          </p:nvSpPr>
          <p:spPr bwMode="auto">
            <a:xfrm>
              <a:off x="943" y="493"/>
              <a:ext cx="4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sz="1800" b="1" baseline="-25000" dirty="0">
                  <a:solidFill>
                    <a:srgbClr val="0000FF"/>
                  </a:solidFill>
                  <a:ea typeface="宋体" panose="02010600030101010101" pitchFamily="2" charset="-122"/>
                </a:rPr>
                <a:t>i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5" name="Text Box 12"/>
            <p:cNvSpPr txBox="1">
              <a:spLocks noChangeArrowheads="1"/>
            </p:cNvSpPr>
            <p:nvPr/>
          </p:nvSpPr>
          <p:spPr bwMode="auto">
            <a:xfrm>
              <a:off x="211" y="486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sz="1800" b="1" baseline="-25000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o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6" name="Text Box 12"/>
            <p:cNvSpPr txBox="1">
              <a:spLocks noChangeArrowheads="1"/>
            </p:cNvSpPr>
            <p:nvPr/>
          </p:nvSpPr>
          <p:spPr bwMode="auto">
            <a:xfrm>
              <a:off x="-23" y="493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sz="1800" b="1" baseline="-25000" dirty="0">
                  <a:solidFill>
                    <a:srgbClr val="0000FF"/>
                  </a:solidFill>
                  <a:ea typeface="宋体" panose="02010600030101010101" pitchFamily="2" charset="-122"/>
                </a:rPr>
                <a:t>i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7" name="Text Box 12"/>
            <p:cNvSpPr txBox="1">
              <a:spLocks noChangeArrowheads="1"/>
            </p:cNvSpPr>
            <p:nvPr/>
          </p:nvSpPr>
          <p:spPr bwMode="auto">
            <a:xfrm>
              <a:off x="379" y="908"/>
              <a:ext cx="4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A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8" name="Text Box 12"/>
            <p:cNvSpPr txBox="1">
              <a:spLocks noChangeArrowheads="1"/>
            </p:cNvSpPr>
            <p:nvPr/>
          </p:nvSpPr>
          <p:spPr bwMode="auto">
            <a:xfrm>
              <a:off x="630" y="913"/>
              <a:ext cx="4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B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9" name="Text Box 12"/>
            <p:cNvSpPr txBox="1">
              <a:spLocks noChangeArrowheads="1"/>
            </p:cNvSpPr>
            <p:nvPr/>
          </p:nvSpPr>
          <p:spPr bwMode="auto">
            <a:xfrm>
              <a:off x="-554" y="941"/>
              <a:ext cx="4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A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0" name="Text Box 12"/>
            <p:cNvSpPr txBox="1">
              <a:spLocks noChangeArrowheads="1"/>
            </p:cNvSpPr>
            <p:nvPr/>
          </p:nvSpPr>
          <p:spPr bwMode="auto">
            <a:xfrm>
              <a:off x="-303" y="946"/>
              <a:ext cx="4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B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" name="Text Box 12"/>
            <p:cNvSpPr txBox="1">
              <a:spLocks noChangeArrowheads="1"/>
            </p:cNvSpPr>
            <p:nvPr/>
          </p:nvSpPr>
          <p:spPr bwMode="auto">
            <a:xfrm>
              <a:off x="-1432" y="941"/>
              <a:ext cx="4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A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" name="Text Box 12"/>
            <p:cNvSpPr txBox="1">
              <a:spLocks noChangeArrowheads="1"/>
            </p:cNvSpPr>
            <p:nvPr/>
          </p:nvSpPr>
          <p:spPr bwMode="auto">
            <a:xfrm>
              <a:off x="-1181" y="946"/>
              <a:ext cx="4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B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" name="Text Box 12"/>
            <p:cNvSpPr txBox="1">
              <a:spLocks noChangeArrowheads="1"/>
            </p:cNvSpPr>
            <p:nvPr/>
          </p:nvSpPr>
          <p:spPr bwMode="auto">
            <a:xfrm>
              <a:off x="-2399" y="937"/>
              <a:ext cx="4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A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" name="Text Box 12"/>
            <p:cNvSpPr txBox="1">
              <a:spLocks noChangeArrowheads="1"/>
            </p:cNvSpPr>
            <p:nvPr/>
          </p:nvSpPr>
          <p:spPr bwMode="auto">
            <a:xfrm>
              <a:off x="-2148" y="942"/>
              <a:ext cx="4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B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8" name="Text Box 12"/>
            <p:cNvSpPr txBox="1">
              <a:spLocks noChangeArrowheads="1"/>
            </p:cNvSpPr>
            <p:nvPr/>
          </p:nvSpPr>
          <p:spPr bwMode="auto">
            <a:xfrm>
              <a:off x="-731" y="499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sz="1800" b="1" baseline="-25000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o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Text Box 12"/>
            <p:cNvSpPr txBox="1">
              <a:spLocks noChangeArrowheads="1"/>
            </p:cNvSpPr>
            <p:nvPr/>
          </p:nvSpPr>
          <p:spPr bwMode="auto">
            <a:xfrm>
              <a:off x="-912" y="493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sz="1800" b="1" baseline="-25000" dirty="0">
                  <a:solidFill>
                    <a:srgbClr val="0000FF"/>
                  </a:solidFill>
                  <a:ea typeface="宋体" panose="02010600030101010101" pitchFamily="2" charset="-122"/>
                </a:rPr>
                <a:t>i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" name="Text Box 12"/>
            <p:cNvSpPr txBox="1">
              <a:spLocks noChangeArrowheads="1"/>
            </p:cNvSpPr>
            <p:nvPr/>
          </p:nvSpPr>
          <p:spPr bwMode="auto">
            <a:xfrm>
              <a:off x="-1620" y="499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sz="1800" b="1" baseline="-25000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o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" name="Text Box 12"/>
            <p:cNvSpPr txBox="1">
              <a:spLocks noChangeArrowheads="1"/>
            </p:cNvSpPr>
            <p:nvPr/>
          </p:nvSpPr>
          <p:spPr bwMode="auto">
            <a:xfrm>
              <a:off x="-1871" y="510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sz="1800" b="1" baseline="-25000" dirty="0">
                  <a:solidFill>
                    <a:srgbClr val="0000FF"/>
                  </a:solidFill>
                  <a:ea typeface="宋体" panose="02010600030101010101" pitchFamily="2" charset="-122"/>
                </a:rPr>
                <a:t>i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" name="Text Box 12"/>
            <p:cNvSpPr txBox="1">
              <a:spLocks noChangeArrowheads="1"/>
            </p:cNvSpPr>
            <p:nvPr/>
          </p:nvSpPr>
          <p:spPr bwMode="auto">
            <a:xfrm>
              <a:off x="-2579" y="507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sz="1800" b="1" baseline="-25000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o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4" name="Text Box 12"/>
            <p:cNvSpPr txBox="1">
              <a:spLocks noChangeArrowheads="1"/>
            </p:cNvSpPr>
            <p:nvPr/>
          </p:nvSpPr>
          <p:spPr bwMode="auto">
            <a:xfrm>
              <a:off x="-3303" y="457"/>
              <a:ext cx="4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err="1" smtClean="0">
                  <a:solidFill>
                    <a:srgbClr val="FF0000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sz="1800" b="1" baseline="-25000" dirty="0" err="1" smtClean="0">
                  <a:solidFill>
                    <a:srgbClr val="FF0000"/>
                  </a:solidFill>
                  <a:ea typeface="宋体" panose="02010600030101010101" pitchFamily="2" charset="-122"/>
                </a:rPr>
                <a:t>out</a:t>
              </a:r>
              <a:endParaRPr lang="en-US" altLang="zh-CN" sz="1800" b="1" baseline="-2500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Group 40"/>
          <p:cNvGrpSpPr>
            <a:grpSpLocks/>
          </p:cNvGrpSpPr>
          <p:nvPr/>
        </p:nvGrpSpPr>
        <p:grpSpPr bwMode="auto">
          <a:xfrm>
            <a:off x="899047" y="2818208"/>
            <a:ext cx="6480176" cy="3827463"/>
            <a:chOff x="-212" y="-188"/>
            <a:chExt cx="4082" cy="2411"/>
          </a:xfrm>
        </p:grpSpPr>
        <p:sp>
          <p:nvSpPr>
            <p:cNvPr id="30" name="Text Box 36"/>
            <p:cNvSpPr txBox="1">
              <a:spLocks noChangeArrowheads="1"/>
            </p:cNvSpPr>
            <p:nvPr/>
          </p:nvSpPr>
          <p:spPr bwMode="auto">
            <a:xfrm>
              <a:off x="681" y="-188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S</a:t>
              </a:r>
              <a:r>
                <a:rPr lang="en-US" altLang="zh-CN" sz="1800" b="1" baseline="-25000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3</a:t>
              </a:r>
              <a:endParaRPr lang="en-US" altLang="zh-CN" sz="1800" b="1" baseline="-2500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Line 41"/>
            <p:cNvSpPr>
              <a:spLocks noChangeShapeType="1"/>
            </p:cNvSpPr>
            <p:nvPr/>
          </p:nvSpPr>
          <p:spPr bwMode="auto">
            <a:xfrm>
              <a:off x="1134" y="730"/>
              <a:ext cx="45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32" name="Rectangle 42"/>
            <p:cNvSpPr>
              <a:spLocks noChangeArrowheads="1"/>
            </p:cNvSpPr>
            <p:nvPr/>
          </p:nvSpPr>
          <p:spPr bwMode="auto">
            <a:xfrm>
              <a:off x="639" y="564"/>
              <a:ext cx="495" cy="302"/>
            </a:xfrm>
            <a:prstGeom prst="rect">
              <a:avLst/>
            </a:prstGeom>
            <a:solidFill>
              <a:srgbClr val="99FFCC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u="none" dirty="0" smtClean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FA</a:t>
              </a:r>
              <a:r>
                <a:rPr lang="en-US" altLang="zh-CN" sz="1800" u="none" baseline="-25000" dirty="0" smtClean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3</a:t>
              </a:r>
              <a:endParaRPr lang="en-US" altLang="zh-CN" sz="1800" u="none" baseline="-250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33" name="Line 43"/>
            <p:cNvSpPr>
              <a:spLocks noChangeShapeType="1"/>
            </p:cNvSpPr>
            <p:nvPr/>
          </p:nvSpPr>
          <p:spPr bwMode="auto">
            <a:xfrm flipV="1">
              <a:off x="896" y="43"/>
              <a:ext cx="0" cy="52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34" name="Line 44"/>
            <p:cNvSpPr>
              <a:spLocks noChangeShapeType="1"/>
            </p:cNvSpPr>
            <p:nvPr/>
          </p:nvSpPr>
          <p:spPr bwMode="auto">
            <a:xfrm flipV="1">
              <a:off x="771" y="866"/>
              <a:ext cx="0" cy="113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35" name="Line 45"/>
            <p:cNvSpPr>
              <a:spLocks noChangeShapeType="1"/>
            </p:cNvSpPr>
            <p:nvPr/>
          </p:nvSpPr>
          <p:spPr bwMode="auto">
            <a:xfrm flipV="1">
              <a:off x="988" y="866"/>
              <a:ext cx="0" cy="113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36" name="Text Box 46"/>
            <p:cNvSpPr txBox="1">
              <a:spLocks noChangeArrowheads="1"/>
            </p:cNvSpPr>
            <p:nvPr/>
          </p:nvSpPr>
          <p:spPr bwMode="auto">
            <a:xfrm>
              <a:off x="544" y="1988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1800" b="1" baseline="-25000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3</a:t>
              </a:r>
              <a:endParaRPr lang="en-US" altLang="zh-CN" sz="1800" b="1" baseline="-2500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" name="Text Box 47"/>
            <p:cNvSpPr txBox="1">
              <a:spLocks noChangeArrowheads="1"/>
            </p:cNvSpPr>
            <p:nvPr/>
          </p:nvSpPr>
          <p:spPr bwMode="auto">
            <a:xfrm>
              <a:off x="907" y="1992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Y</a:t>
              </a:r>
              <a:r>
                <a:rPr lang="en-US" altLang="zh-CN" sz="1800" b="1" baseline="-25000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3</a:t>
              </a:r>
              <a:endParaRPr lang="en-US" altLang="zh-CN" sz="1800" b="1" baseline="-2500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" name="Line 49"/>
            <p:cNvSpPr>
              <a:spLocks noChangeShapeType="1"/>
            </p:cNvSpPr>
            <p:nvPr/>
          </p:nvSpPr>
          <p:spPr bwMode="auto">
            <a:xfrm>
              <a:off x="-212" y="730"/>
              <a:ext cx="8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stealth" w="lg" len="lg"/>
              <a:tailEnd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63" name="Text Box 36"/>
            <p:cNvSpPr txBox="1">
              <a:spLocks noChangeArrowheads="1"/>
            </p:cNvSpPr>
            <p:nvPr/>
          </p:nvSpPr>
          <p:spPr bwMode="auto">
            <a:xfrm>
              <a:off x="644" y="312"/>
              <a:ext cx="45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F</a:t>
              </a:r>
              <a:r>
                <a:rPr lang="en-US" altLang="zh-CN" sz="1800" b="1" baseline="-25000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3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" name="Text Box 36"/>
            <p:cNvSpPr txBox="1">
              <a:spLocks noChangeArrowheads="1"/>
            </p:cNvSpPr>
            <p:nvPr/>
          </p:nvSpPr>
          <p:spPr bwMode="auto">
            <a:xfrm>
              <a:off x="1600" y="312"/>
              <a:ext cx="45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F</a:t>
              </a:r>
              <a:r>
                <a:rPr lang="en-US" altLang="zh-CN" sz="1800" b="1" baseline="-25000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2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Text Box 36"/>
            <p:cNvSpPr txBox="1">
              <a:spLocks noChangeArrowheads="1"/>
            </p:cNvSpPr>
            <p:nvPr/>
          </p:nvSpPr>
          <p:spPr bwMode="auto">
            <a:xfrm>
              <a:off x="2461" y="306"/>
              <a:ext cx="45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F</a:t>
              </a:r>
              <a:r>
                <a:rPr lang="en-US" altLang="zh-CN" sz="1800" b="1" baseline="-25000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7" name="Text Box 36"/>
            <p:cNvSpPr txBox="1">
              <a:spLocks noChangeArrowheads="1"/>
            </p:cNvSpPr>
            <p:nvPr/>
          </p:nvSpPr>
          <p:spPr bwMode="auto">
            <a:xfrm>
              <a:off x="3417" y="311"/>
              <a:ext cx="45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F</a:t>
              </a:r>
              <a:r>
                <a:rPr lang="en-US" altLang="zh-CN" sz="1800" b="1" baseline="-25000" dirty="0" smtClean="0">
                  <a:solidFill>
                    <a:srgbClr val="0000FF"/>
                  </a:solidFill>
                  <a:ea typeface="宋体" panose="02010600030101010101" pitchFamily="2" charset="-122"/>
                </a:rPr>
                <a:t>0</a:t>
              </a:r>
              <a:endParaRPr lang="en-US" altLang="zh-CN" sz="1800" b="1" baseline="-25000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51" name="Group 24"/>
          <p:cNvGrpSpPr>
            <a:grpSpLocks/>
          </p:cNvGrpSpPr>
          <p:nvPr/>
        </p:nvGrpSpPr>
        <p:grpSpPr bwMode="auto">
          <a:xfrm>
            <a:off x="4572000" y="2742008"/>
            <a:ext cx="1727200" cy="3921124"/>
            <a:chOff x="454" y="-243"/>
            <a:chExt cx="1088" cy="2470"/>
          </a:xfrm>
        </p:grpSpPr>
        <p:sp>
          <p:nvSpPr>
            <p:cNvPr id="53" name="Rectangle 24"/>
            <p:cNvSpPr>
              <a:spLocks noChangeArrowheads="1"/>
            </p:cNvSpPr>
            <p:nvPr/>
          </p:nvSpPr>
          <p:spPr bwMode="auto">
            <a:xfrm>
              <a:off x="820" y="560"/>
              <a:ext cx="495" cy="302"/>
            </a:xfrm>
            <a:prstGeom prst="rect">
              <a:avLst/>
            </a:prstGeom>
            <a:solidFill>
              <a:srgbClr val="99FFCC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 sz="2400" b="1" u="sng">
                  <a:solidFill>
                    <a:srgbClr val="FF3300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u="none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FA</a:t>
              </a:r>
              <a:r>
                <a:rPr lang="en-US" altLang="zh-CN" sz="1800" u="none" baseline="-250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1</a:t>
              </a:r>
            </a:p>
          </p:txBody>
        </p:sp>
        <p:sp>
          <p:nvSpPr>
            <p:cNvPr id="54" name="Line 25"/>
            <p:cNvSpPr>
              <a:spLocks noChangeShapeType="1"/>
            </p:cNvSpPr>
            <p:nvPr/>
          </p:nvSpPr>
          <p:spPr bwMode="auto">
            <a:xfrm flipV="1">
              <a:off x="1059" y="36"/>
              <a:ext cx="0" cy="5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6" name="Line 28"/>
            <p:cNvSpPr>
              <a:spLocks noChangeShapeType="1"/>
            </p:cNvSpPr>
            <p:nvPr/>
          </p:nvSpPr>
          <p:spPr bwMode="auto">
            <a:xfrm>
              <a:off x="454" y="726"/>
              <a:ext cx="36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7" name="Text Box 29"/>
            <p:cNvSpPr txBox="1">
              <a:spLocks noChangeArrowheads="1"/>
            </p:cNvSpPr>
            <p:nvPr/>
          </p:nvSpPr>
          <p:spPr bwMode="auto">
            <a:xfrm>
              <a:off x="870" y="-243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S</a:t>
              </a:r>
              <a:r>
                <a:rPr lang="en-US" altLang="zh-CN" sz="1800" b="1" baseline="-25000" dirty="0">
                  <a:solidFill>
                    <a:srgbClr val="FF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8" name="Line 30"/>
            <p:cNvSpPr>
              <a:spLocks noChangeShapeType="1"/>
            </p:cNvSpPr>
            <p:nvPr/>
          </p:nvSpPr>
          <p:spPr bwMode="auto">
            <a:xfrm flipV="1">
              <a:off x="953" y="862"/>
              <a:ext cx="0" cy="1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9" name="Line 31"/>
            <p:cNvSpPr>
              <a:spLocks noChangeShapeType="1"/>
            </p:cNvSpPr>
            <p:nvPr/>
          </p:nvSpPr>
          <p:spPr bwMode="auto">
            <a:xfrm flipV="1">
              <a:off x="1180" y="862"/>
              <a:ext cx="0" cy="1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60" name="Text Box 32"/>
            <p:cNvSpPr txBox="1">
              <a:spLocks noChangeArrowheads="1"/>
            </p:cNvSpPr>
            <p:nvPr/>
          </p:nvSpPr>
          <p:spPr bwMode="auto">
            <a:xfrm>
              <a:off x="817" y="1996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1800" b="1" baseline="-25000" dirty="0">
                  <a:solidFill>
                    <a:srgbClr val="FF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1" name="Text Box 33"/>
            <p:cNvSpPr txBox="1">
              <a:spLocks noChangeArrowheads="1"/>
            </p:cNvSpPr>
            <p:nvPr/>
          </p:nvSpPr>
          <p:spPr bwMode="auto">
            <a:xfrm>
              <a:off x="1089" y="1988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rgbClr val="FF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1804012" y="3475433"/>
            <a:ext cx="6152364" cy="1701802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Rectangle 2">
            <a:extLst>
              <a:ext uri="{FF2B5EF4-FFF2-40B4-BE49-F238E27FC236}">
                <a16:creationId xmlns:a16="http://schemas.microsoft.com/office/drawing/2014/main" xmlns="" id="{8A8D3B52-B5CE-4AD3-AFFA-F7BC67248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333375"/>
            <a:ext cx="78486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实验一：串行全加器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设计</a:t>
            </a:r>
          </a:p>
        </p:txBody>
      </p:sp>
    </p:spTree>
    <p:extLst>
      <p:ext uri="{BB962C8B-B14F-4D97-AF65-F5344CB8AC3E}">
        <p14:creationId xmlns:p14="http://schemas.microsoft.com/office/powerpoint/2010/main" val="175896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3">
            <a:extLst>
              <a:ext uri="{FF2B5EF4-FFF2-40B4-BE49-F238E27FC236}">
                <a16:creationId xmlns:a16="http://schemas.microsoft.com/office/drawing/2014/main" xmlns="" id="{014A3C6E-14E6-4825-A006-63D4DE74AF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8229600" cy="4608512"/>
          </a:xfrm>
        </p:spPr>
        <p:txBody>
          <a:bodyPr>
            <a:normAutofit fontScale="92500"/>
          </a:bodyPr>
          <a:lstStyle/>
          <a:p>
            <a:pPr marL="533400" indent="-533400" eaLnBrk="1" hangingPunct="1"/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zh-CN" altLang="en-US" dirty="0"/>
              <a:t>思考与探索 </a:t>
            </a:r>
            <a:endParaRPr lang="zh-CN" altLang="en-US" sz="3200" dirty="0"/>
          </a:p>
          <a:p>
            <a:pPr marL="914400" lvl="1" indent="-457200" eaLnBrk="1" hangingPunct="1"/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观察经过逻辑综合后产生的电路原理图，和你使用门级描述时预期的电路一致吗？如果不一致，分析可能的原因。</a:t>
            </a:r>
          </a:p>
          <a:p>
            <a:pPr marL="914400" lvl="1" indent="-457200" eaLnBrk="1" hangingPunct="1"/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尝试</a:t>
            </a:r>
            <a:r>
              <a:rPr lang="zh-CN" altLang="en-US" dirty="0">
                <a:solidFill>
                  <a:srgbClr val="FF0000"/>
                </a:solidFill>
              </a:rPr>
              <a:t>使用数据流描述方法</a:t>
            </a:r>
            <a:r>
              <a:rPr lang="zh-CN" altLang="en-US" dirty="0"/>
              <a:t>实现该实验，并观察它所综合产生的电路，和</a:t>
            </a:r>
            <a:r>
              <a:rPr lang="zh-CN" altLang="en-US" dirty="0">
                <a:solidFill>
                  <a:srgbClr val="FF0000"/>
                </a:solidFill>
              </a:rPr>
              <a:t>结构建模</a:t>
            </a:r>
            <a:r>
              <a:rPr lang="zh-CN" altLang="en-US" dirty="0"/>
              <a:t>所产生的电路有何不同？</a:t>
            </a:r>
          </a:p>
          <a:p>
            <a:pPr marL="914400" lvl="1" indent="-457200" eaLnBrk="1" hangingPunct="1"/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r>
              <a:rPr lang="zh-CN" altLang="en-US" dirty="0" smtClean="0"/>
              <a:t>谈谈</a:t>
            </a:r>
            <a:r>
              <a:rPr lang="zh-CN" altLang="en-US" dirty="0"/>
              <a:t>你在实验中碰到了哪些问题？又是如何解决的？</a:t>
            </a:r>
          </a:p>
        </p:txBody>
      </p:sp>
      <p:sp>
        <p:nvSpPr>
          <p:cNvPr id="12291" name="灯片编号占位符 5">
            <a:extLst>
              <a:ext uri="{FF2B5EF4-FFF2-40B4-BE49-F238E27FC236}">
                <a16:creationId xmlns:a16="http://schemas.microsoft.com/office/drawing/2014/main" xmlns="" id="{1B385813-800D-49CE-9CD1-455268465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FB59A36-05E9-4919-BF39-FC445993C39D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7</a:t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8A8D3B52-B5CE-4AD3-AFFA-F7BC67248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333375"/>
            <a:ext cx="78486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实验一：串行全加器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设计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362</TotalTime>
  <Pages>0</Pages>
  <Words>370</Words>
  <Characters>0</Characters>
  <Application>Microsoft Office PowerPoint</Application>
  <DocSecurity>0</DocSecurity>
  <PresentationFormat>全屏显示(4:3)</PresentationFormat>
  <Lines>0</Lines>
  <Paragraphs>116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Gulim</vt:lpstr>
      <vt:lpstr>HY중고딕</vt:lpstr>
      <vt:lpstr>华文中宋</vt:lpstr>
      <vt:lpstr>宋体</vt:lpstr>
      <vt:lpstr>幼圆</vt:lpstr>
      <vt:lpstr>Arial</vt:lpstr>
      <vt:lpstr>Century Gothic</vt:lpstr>
      <vt:lpstr>Segoe UI Black</vt:lpstr>
      <vt:lpstr>Verdana</vt:lpstr>
      <vt:lpstr>Wingdings</vt:lpstr>
      <vt:lpstr>Wingdings 3</vt:lpstr>
      <vt:lpstr>丝状</vt:lpstr>
      <vt:lpstr>公式</vt:lpstr>
      <vt:lpstr>计算机组成原理 课程设计</vt:lpstr>
      <vt:lpstr>实验一：串行全加器设计</vt:lpstr>
      <vt:lpstr>实验一：串行全加器设计</vt:lpstr>
      <vt:lpstr>PowerPoint 演示文稿</vt:lpstr>
      <vt:lpstr>实验一：串行全加器设计</vt:lpstr>
      <vt:lpstr>实验一：串行全加器设计</vt:lpstr>
      <vt:lpstr>实验一：串行全加器设计</vt:lpstr>
    </vt:vector>
  </TitlesOfParts>
  <Manager/>
  <Company>电子科大</Company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《数字电路》实验指导</dc:title>
  <dc:subject>第5章</dc:subject>
  <dc:creator>冯建文</dc:creator>
  <cp:keywords/>
  <dc:description/>
  <cp:lastModifiedBy>Lixiaoming</cp:lastModifiedBy>
  <cp:revision>391</cp:revision>
  <dcterms:created xsi:type="dcterms:W3CDTF">2001-12-07T16:07:47Z</dcterms:created>
  <dcterms:modified xsi:type="dcterms:W3CDTF">2023-10-17T04:38:56Z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