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991" r:id="rId3"/>
    <p:sldId id="972" r:id="rId4"/>
    <p:sldId id="973" r:id="rId5"/>
    <p:sldId id="992" r:id="rId6"/>
    <p:sldId id="979" r:id="rId7"/>
    <p:sldId id="981" r:id="rId8"/>
    <p:sldId id="988" r:id="rId9"/>
    <p:sldId id="974" r:id="rId10"/>
    <p:sldId id="993" r:id="rId11"/>
    <p:sldId id="980" r:id="rId12"/>
    <p:sldId id="982" r:id="rId13"/>
    <p:sldId id="989" r:id="rId14"/>
    <p:sldId id="990" r:id="rId15"/>
    <p:sldId id="987" r:id="rId16"/>
    <p:sldId id="983" r:id="rId17"/>
    <p:sldId id="984" r:id="rId18"/>
    <p:sldId id="985" r:id="rId19"/>
    <p:sldId id="975" r:id="rId20"/>
    <p:sldId id="994" r:id="rId21"/>
    <p:sldId id="977" r:id="rId22"/>
    <p:sldId id="978" r:id="rId23"/>
  </p:sldIdLst>
  <p:sldSz cx="9144000" cy="6858000" type="screen4x3"/>
  <p:notesSz cx="6858000" cy="9144000"/>
  <p:custDataLst>
    <p:tags r:id="rId29"/>
  </p:custDataLst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CFF"/>
    <a:srgbClr val="CCFFFF"/>
    <a:srgbClr val="0000FF"/>
    <a:srgbClr val="00CCFF"/>
    <a:srgbClr val="00FFFF"/>
    <a:srgbClr val="E5E5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686" y="108"/>
      </p:cViewPr>
      <p:guideLst>
        <p:guide orient="horz" pos="2265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3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Rectangle 4"/>
          <p:cNvSpPr>
            <a:spLocks noGrp="1" noRo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9BC806-7C67-4E6A-8D46-8974709D678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8"/>
          <p:cNvSpPr/>
          <p:nvPr/>
        </p:nvSpPr>
        <p:spPr>
          <a:xfrm>
            <a:off x="-31750" y="4321175"/>
            <a:ext cx="1395413" cy="78105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DBFCA0-A5EB-4AB2-A694-19349D00DEA2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23863" y="4529138"/>
            <a:ext cx="58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75A9F1-CA12-4E46-AB04-29A2D8396B20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423247-D8F9-45A8-96D3-01E625B0D864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EFA2E-371B-4610-A0CD-38F2CB588619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E21601-6D88-4ADF-8A62-48EFB68B04EB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ED7ED25-B2BF-46E6-B099-EC44771A2624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0B584-2A22-41D4-B129-5A6BE6AC492D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FFED0D-EB07-49CB-9AD9-CD2C86033DA0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6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947CC8-59C7-4E01-A53D-A5DB1EE8A938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9ED398-44B1-426F-8ED1-AD146E300710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5" name="Date Placeholder 2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F91D479-CB8E-4EEB-9AC6-B0A0D0489484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4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BD25C4-B9B1-4E54-83E9-5ADED4A23BC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Date Placeholder 1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B95FECE-D910-4156-8D2A-2DF652D81DCC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3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A54776-0D16-4450-BADD-1D6409E6821F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BE5968-3964-47EF-8AEB-6FB665231059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3A828D-6ACC-4912-B838-09B5C70BF280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F1FAF96-0A24-49DD-8036-455F3D1EFCAB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193EE3-1C45-4992-A822-DC66068431F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EF0B475-C45A-423F-9470-8D7614CF151C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D065AE-B09E-4E8A-84A6-57E2BEC377AD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Freeform 11"/>
          <p:cNvSpPr/>
          <p:nvPr/>
        </p:nvSpPr>
        <p:spPr>
          <a:xfrm flipV="1">
            <a:off x="0" y="3167063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F7F9B0-BAED-4578-9CEC-43820566DDF3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324485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18E1AD2-825B-47B8-9D5E-6E665C47F3D3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32AC43-A3D1-41CE-ACD9-928BF9115714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54B2E41-0039-4E46-A3B9-34CD2B25CE58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" name="TextBox 10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Box 11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8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7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F20A8E-AA8D-49C8-8D45-5BD9F2796505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10E3F19-F677-43DC-953C-54CF1BBC12A8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reeform 11"/>
          <p:cNvSpPr/>
          <p:nvPr/>
        </p:nvSpPr>
        <p:spPr>
          <a:xfrm flipV="1">
            <a:off x="0" y="4910138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B409E0-D7AC-4FE0-8887-518215741DEC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4983163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A4E95B8-9DAB-4541-84F2-3F885188DAA5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708809-DA1A-4075-9CA6-B3E03FBADF59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23DF799-E522-4497-A938-58EC3920B35A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Freeform 11"/>
          <p:cNvSpPr/>
          <p:nvPr/>
        </p:nvSpPr>
        <p:spPr>
          <a:xfrm flipV="1">
            <a:off x="0" y="711200"/>
            <a:ext cx="1358900" cy="508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5ED009-87A6-4F78-899B-35DB398D8375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DD62F7-24F5-4B52-A403-351AFC316682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Freeform 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Freeform 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" name="Freeform 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1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Freeform 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7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9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2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Freeform 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29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Freeform 3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Freeform 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3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Freeform 3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Freeform 3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3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Freeform 37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0" y="2147483646"/>
                </a:cxn>
                <a:cxn ang="0">
                  <a:pos x="0" y="2147483646"/>
                </a:cxn>
              </a:cxnLst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Freeform 3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EFA2E-371B-4610-A0CD-38F2CB588619}" type="datetime1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rgbClr val="FEFFFF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E78AF5-E699-459A-B6EA-39A11B9566FC}" type="slidenum"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>
        <p:tmplLst>
          <p:tmpl lvl="1">
            <p:tnLst>
              <p:par>
                <p:cTn presetID="2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2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3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4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  <p:tmpl lvl="5">
            <p:tnLst>
              <p:par>
                <p:cTn presetID="2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to="" calcmode="lin" valueType="num">
                      <p:cBhvr>
                        <p:cTn dur="1" fill="hold"/>
                        <p:tgtEl>
                          <p:spTgt spid="3"/>
                        </p:tgtEl>
                      </p:cBhvr>
                    </p:anim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5"/>
          <p:cNvSpPr>
            <a:spLocks noGrp="1"/>
          </p:cNvSpPr>
          <p:nvPr>
            <p:ph type="ctrTitle"/>
          </p:nvPr>
        </p:nvSpPr>
        <p:spPr>
          <a:xfrm>
            <a:off x="1692275" y="1628775"/>
            <a:ext cx="6599238" cy="2262188"/>
          </a:xfrm>
        </p:spPr>
        <p:txBody>
          <a:bodyPr vert="horz" wrap="square" lIns="91440" tIns="45720" rIns="91440" bIns="45720" anchor="b" anchorCtr="0"/>
          <a:p>
            <a:pPr algn="ctr" defTabSz="457200" eaLnBrk="1" hangingPunct="1">
              <a:buClrTx/>
              <a:buSzTx/>
              <a:buFontTx/>
            </a:pP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计算机组成原理</a:t>
            </a:r>
            <a:br>
              <a:rPr lang="en-US" altLang="zh-CN" kern="1200" dirty="0">
                <a:latin typeface="+mj-lt"/>
                <a:ea typeface="幼圆" panose="02010509060101010101" pitchFamily="49" charset="-122"/>
                <a:cs typeface="+mj-cs"/>
              </a:rPr>
            </a:br>
            <a:r>
              <a:rPr lang="zh-CN" altLang="en-US" kern="1200" dirty="0">
                <a:latin typeface="+mj-lt"/>
                <a:ea typeface="幼圆" panose="02010509060101010101" pitchFamily="49" charset="-122"/>
                <a:cs typeface="+mj-cs"/>
              </a:rPr>
              <a:t>课程设计</a:t>
            </a:r>
            <a:endParaRPr lang="zh-CN" altLang="en-US" kern="1200" dirty="0">
              <a:latin typeface="+mj-lt"/>
              <a:ea typeface="幼圆" panose="02010509060101010101" pitchFamily="49" charset="-122"/>
              <a:cs typeface="+mj-cs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763713" y="4076700"/>
            <a:ext cx="6599238" cy="11271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实验八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设计实验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9460" name="灯片编号占位符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ko-KR" altLang="en-US" sz="2000" kern="1200" dirty="0">
                <a:solidFill>
                  <a:srgbClr val="FEFFFF"/>
                </a:solidFill>
                <a:latin typeface="+mn-lt"/>
                <a:ea typeface="HY중고딕"/>
                <a:cs typeface="+mn-cs"/>
              </a:rPr>
            </a:fld>
            <a:endParaRPr lang="ko-KR" altLang="en-US" sz="2000" kern="1200" dirty="0">
              <a:solidFill>
                <a:srgbClr val="FEFFFF"/>
              </a:solidFill>
              <a:latin typeface="+mn-lt"/>
              <a:ea typeface="HY중고딕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41680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259523" y="1701165"/>
            <a:ext cx="7561263" cy="4146550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1、实验目的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掌握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RISC-V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型指令的数据通路设计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，掌握指令流和数据流的控制方法；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掌握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完整的单周期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顶层模块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的设计方法；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RISC-V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型指令的功能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41680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idx="1" hasCustomPrompt="1"/>
          </p:nvPr>
        </p:nvSpPr>
        <p:spPr>
          <a:xfrm>
            <a:off x="1907540" y="1700530"/>
            <a:ext cx="6743065" cy="438531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2、实验内容与原理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28625" marR="0" lvl="1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设计实现一个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单周期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，实现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87730" marR="0" lvl="2" indent="-27940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）建立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型指令的数据通路；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87730" marR="0" lvl="2" indent="-27940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）构造顶层模块，含部件：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252855" marR="0" lvl="3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指令存储器（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实验五）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252855" marR="0" lvl="3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及自增电路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252855" marR="0" lvl="3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寄存器堆模块（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实验四）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1509" name="Rectangle 5"/>
          <p:cNvSpPr/>
          <p:nvPr/>
        </p:nvSpPr>
        <p:spPr>
          <a:xfrm>
            <a:off x="0" y="2309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6"/>
          <p:cNvSpPr/>
          <p:nvPr/>
        </p:nvSpPr>
        <p:spPr>
          <a:xfrm>
            <a:off x="0" y="2238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41680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idx="1" hasCustomPrompt="1"/>
          </p:nvPr>
        </p:nvSpPr>
        <p:spPr>
          <a:xfrm>
            <a:off x="1908175" y="1700213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2、实验内容与原理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87730" marR="0" lvl="2" indent="-279400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）构造顶层模块，含部件：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252855" marR="0" lvl="3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ALU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模块（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实验三）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252855" marR="0" lvl="3" indent="-18605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指令译码与控制单元：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新增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89430" marR="0" lvl="4" indent="-357505" algn="l" defTabSz="457200" rtl="0" eaLnBrk="1" fontAlgn="auto" latinLnBrk="0" hangingPunct="1">
              <a:lnSpc>
                <a:spcPct val="150000"/>
              </a:lnSpc>
              <a:spcBef>
                <a:spcPct val="1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根据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操作码和功能码，为数据通路上各部件发送控制信号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（置位或复位）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2533" name="Rectangle 5"/>
          <p:cNvSpPr/>
          <p:nvPr/>
        </p:nvSpPr>
        <p:spPr>
          <a:xfrm>
            <a:off x="0" y="2309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6"/>
          <p:cNvSpPr/>
          <p:nvPr/>
        </p:nvSpPr>
        <p:spPr>
          <a:xfrm>
            <a:off x="0" y="2238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5888" y="623888"/>
            <a:ext cx="743426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341438"/>
            <a:ext cx="8229600" cy="5746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533400" marR="0" lvl="0" indent="-533400" algn="l" defTabSz="4572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）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R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型指令数据通路：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6"/>
          <p:cNvSpPr/>
          <p:nvPr/>
        </p:nvSpPr>
        <p:spPr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59" name="Object 5"/>
          <p:cNvGraphicFramePr>
            <a:graphicFrameLocks noChangeAspect="1"/>
          </p:cNvGraphicFramePr>
          <p:nvPr/>
        </p:nvGraphicFramePr>
        <p:xfrm>
          <a:off x="305753" y="2096770"/>
          <a:ext cx="8821420" cy="442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263005" imgH="3155950" progId="Visio.Drawing.11">
                  <p:embed/>
                </p:oleObj>
              </mc:Choice>
              <mc:Fallback>
                <p:oleObj name="" r:id="rId1" imgW="6263005" imgH="315595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753" y="2096770"/>
                        <a:ext cx="8821420" cy="44265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7175" y="623888"/>
            <a:ext cx="7221538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125538"/>
            <a:ext cx="8229600" cy="5746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533400" marR="0" lvl="0" indent="-533400" algn="l" defTabSz="4572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）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R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型指令集：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4581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/>
          <p:cNvSpPr/>
          <p:nvPr/>
        </p:nvSpPr>
        <p:spPr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96240" y="1844675"/>
          <a:ext cx="8672976" cy="4422140"/>
        </p:xfrm>
        <a:graphic>
          <a:graphicData uri="http://schemas.openxmlformats.org/drawingml/2006/table">
            <a:tbl>
              <a:tblPr/>
              <a:tblGrid>
                <a:gridCol w="535992"/>
                <a:gridCol w="1101725"/>
                <a:gridCol w="824230"/>
                <a:gridCol w="842010"/>
                <a:gridCol w="1012284"/>
                <a:gridCol w="713740"/>
                <a:gridCol w="1225550"/>
                <a:gridCol w="2417445"/>
              </a:tblGrid>
              <a:tr h="33274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Arial" panose="020B0604020202020204" charset="-52"/>
                      </a:endParaRPr>
                    </a:p>
                  </a:txBody>
                  <a:tcPr marL="12700" marR="12700" marT="1270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31     25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24 20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19 15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14 12</a:t>
                      </a:r>
                      <a:endParaRPr lang="en-US" sz="1800" b="1">
                        <a:solidFill>
                          <a:srgbClr val="000000"/>
                        </a:solidFill>
                        <a:latin typeface="宋体" panose="02010600030101010101" charset="-5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11 7 </a:t>
                      </a:r>
                      <a:endParaRPr 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6  0</a:t>
                      </a:r>
                      <a:endParaRPr 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18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Arial" panose="020B0604020202020204" charset="-52"/>
                      </a:endParaRPr>
                    </a:p>
                  </a:txBody>
                  <a:tcPr marL="12700" marR="12700" marT="12700" vert="horz" anchor="t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funct7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rs2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funct3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opcode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功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能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E6F2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4CA"/>
                          </a:solidFill>
                          <a:latin typeface="宋体" panose="02010600030101010101" pitchFamily="2" charset="-122"/>
                        </a:rPr>
                        <a:t>000</a:t>
                      </a:r>
                      <a:endParaRPr lang="en-US" altLang="en-US" sz="2000" b="1">
                        <a:solidFill>
                          <a:srgbClr val="0094CA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rd=(rs1)+(rs2)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8FCC"/>
                          </a:solidFill>
                          <a:latin typeface="宋体" panose="02010600030101010101" pitchFamily="2" charset="-122"/>
                        </a:rPr>
                        <a:t>000</a:t>
                      </a:r>
                      <a:endParaRPr lang="en-US" altLang="en-US" sz="2000" b="1">
                        <a:solidFill>
                          <a:srgbClr val="008F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rd=(rs1)-(rs2)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sll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rd=(rs1)&lt;&lt;(rs2)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(rs1&lt;rs2)有符号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sltu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(rs1&lt;rs2)无符号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rd=(rs1)⊕(rs2)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srl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6CD"/>
                          </a:solidFill>
                          <a:latin typeface="宋体" panose="02010600030101010101" pitchFamily="2" charset="-122"/>
                        </a:rPr>
                        <a:t>101</a:t>
                      </a:r>
                      <a:endParaRPr lang="en-US" altLang="en-US" sz="2000" b="1">
                        <a:solidFill>
                          <a:srgbClr val="0096CD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rd=(rs1)&gt;&gt;(rs2)逻辑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6CC"/>
                          </a:solidFill>
                          <a:latin typeface="宋体" panose="02010600030101010101" pitchFamily="2" charset="-122"/>
                        </a:rPr>
                        <a:t>101</a:t>
                      </a:r>
                      <a:endParaRPr lang="en-US" altLang="en-US" sz="2000" b="1">
                        <a:solidFill>
                          <a:srgbClr val="0096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3E3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rd=(rs1)&gt;&gt;(rs2)算术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3E3"/>
                    </a:solidFill>
                  </a:tcPr>
                </a:tc>
              </a:tr>
              <a:tr h="342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rd=(rs1)|(rs2)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B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  <a:sym typeface="+mn-ea"/>
                        </a:rPr>
                        <a:t>rs2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rs1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rd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0110011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BE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rd=(rs1)&amp;(rs2)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763713" y="1539875"/>
            <a:ext cx="6840538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由上表可知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,R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型指令的共同特征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操作码字段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OP=</a:t>
            </a:r>
            <a:r>
              <a:rPr 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0110011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指令的功能则由功能码字段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func3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func7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型指令的操作数有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两个源操作数在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rs1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rs2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字段所指定的寄存器中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目的操作数是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字段所指定的寄存器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汇编助记符中，紧跟指令符号右边的寄存器是目的寄存器，这和指令机器码的排列顺序有差异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八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341438"/>
            <a:ext cx="8229600" cy="53276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）构造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顶层模块：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①新建一个工程；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②新建一个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Veilog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 Module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作为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顶层模块；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③拷贝各个模块的*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.v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文件到当前工程目录下；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④将各个*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.v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文件加到工程中来；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对于指令存储器的*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xco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，处理较复杂（可重新在工程中生成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核）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6629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341438"/>
            <a:ext cx="8229600" cy="53276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）构造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顶层模块：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⑥在顶层模块中，引用各个模块的实例；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定义一组信号做为各个模块间的信号连接；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⑦在顶层模块中，编写有关指令译码和控制单元的程序；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971550" y="1917065"/>
            <a:ext cx="7726363" cy="433228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注意：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寄存器模块：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要始终置为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，且不允许写操作；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指令译码：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OP=</a:t>
            </a:r>
            <a:r>
              <a:rPr 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0110011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型指令，由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func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字段识别具体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型指令；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控制信号赋值：依据指令译码，见下表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485900"/>
            <a:ext cx="8229600" cy="5746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指令译码与控制：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OP=7‘b</a:t>
            </a:r>
            <a:r>
              <a:rPr 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0110011,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参见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实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验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31595" y="2132965"/>
          <a:ext cx="6611745" cy="4457700"/>
        </p:xfrm>
        <a:graphic>
          <a:graphicData uri="http://schemas.openxmlformats.org/drawingml/2006/table">
            <a:tbl>
              <a:tblPr/>
              <a:tblGrid>
                <a:gridCol w="593090"/>
                <a:gridCol w="1184903"/>
                <a:gridCol w="1070437"/>
                <a:gridCol w="1353490"/>
                <a:gridCol w="2409825"/>
              </a:tblGrid>
              <a:tr h="25781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指令</a:t>
                      </a:r>
                      <a:endParaRPr 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funct7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funct3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ALU_OP</a:t>
                      </a:r>
                      <a:endParaRPr 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E6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功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charset="-52"/>
                        </a:rPr>
                        <a:t>能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charset="-5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E6F2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4CA"/>
                          </a:solidFill>
                          <a:latin typeface="宋体" panose="02010600030101010101" pitchFamily="2" charset="-122"/>
                        </a:rPr>
                        <a:t>000</a:t>
                      </a:r>
                      <a:endParaRPr lang="en-US" altLang="en-US" sz="2000" b="1">
                        <a:solidFill>
                          <a:srgbClr val="0094CA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0000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rd=(rs1)+(rs2)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8FCC"/>
                          </a:solidFill>
                          <a:latin typeface="宋体" panose="02010600030101010101" pitchFamily="2" charset="-122"/>
                        </a:rPr>
                        <a:t>000</a:t>
                      </a:r>
                      <a:endParaRPr lang="en-US" altLang="en-US" sz="2000" b="1">
                        <a:solidFill>
                          <a:srgbClr val="008F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1000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rd=(rs1)-(rs2)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sll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0001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rd=(rs1)&lt;&lt;(rs2)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0010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(rs1&lt;rs2)有符号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sltu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0011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(rs1&lt;rs2)无符号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0100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rd=(rs1)⊕(rs2)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srl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6CD"/>
                          </a:solidFill>
                          <a:latin typeface="宋体" panose="02010600030101010101" pitchFamily="2" charset="-122"/>
                        </a:rPr>
                        <a:t>101</a:t>
                      </a:r>
                      <a:endParaRPr lang="en-US" altLang="en-US" sz="2000" b="1">
                        <a:solidFill>
                          <a:srgbClr val="0096CD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0101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rd=(rs1)&gt;&gt;(rs2)逻辑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96CC"/>
                          </a:solidFill>
                          <a:latin typeface="宋体" panose="02010600030101010101" pitchFamily="2" charset="-122"/>
                        </a:rPr>
                        <a:t>101</a:t>
                      </a:r>
                      <a:endParaRPr lang="en-US" altLang="en-US" sz="2000" b="1">
                        <a:solidFill>
                          <a:srgbClr val="0096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algn="ctr" defTabSz="457200" rtl="0" eaLnBrk="1" latinLnBrk="0" hangingPunct="1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1101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3E3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rd=(rs1)&gt;&gt;(rs2)算术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E3E3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0110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rd=(rs1)|(rs2)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B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US" altLang="en-US" sz="20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0000000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111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0111</a:t>
                      </a:r>
                      <a:endParaRPr lang="en-US" altLang="zh-CN" sz="1800">
                        <a:ln>
                          <a:noFill/>
                        </a:ln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BEB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rd=(rs1)&amp;(rs2)</a:t>
                      </a:r>
                      <a:endParaRPr lang="en-US" altLang="zh-CN" sz="18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1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333375"/>
            <a:ext cx="7848600" cy="609600"/>
          </a:xfrm>
        </p:spPr>
        <p:txBody>
          <a:bodyPr vert="horz" wrap="square" lIns="91440" tIns="45720" rIns="91440" bIns="45720" numCol="1" rtlCol="0" anchor="t" anchorCtr="0" compatLnSpc="1">
            <a:normAutofit fontScale="9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7" name="内容占位符 2"/>
          <p:cNvSpPr>
            <a:spLocks noGrp="1" noChangeArrowheads="1"/>
          </p:cNvSpPr>
          <p:nvPr>
            <p:ph idx="1"/>
          </p:nvPr>
        </p:nvSpPr>
        <p:spPr>
          <a:xfrm>
            <a:off x="914400" y="1341438"/>
            <a:ext cx="8229600" cy="5040313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时序设计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时钟源为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的主频脉冲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的上升沿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，启动指令存储器依据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读指令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高电平持续期间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，完成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值的自增、指令译码、寄存器读操作，随后完成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ALU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运算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的下降沿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则完成目的寄存器的写入、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值的更新和标志寄存器的更新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时序实现时：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指令存储器的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是：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PC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寄存器的打入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是：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~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  <a:sym typeface="宋体" panose="02010600030101010101" pitchFamily="2" charset="-122"/>
            </a:endParaRP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寄存器堆的写入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是：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~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宋体" panose="02010600030101010101" pitchFamily="2" charset="-122"/>
              </a:rPr>
              <a:t>clk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763713" y="1895475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指令对标志寄存器的影响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传送类指令和跳转类指令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不影响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标志位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有符号算术运算类指令（包括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slt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和算术移位指令）影响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ZF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OF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无符号算术运算类指令和逻辑运算类指令影响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ZF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，不影响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OF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条件转移类指令一般会使用标志位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ZF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331913" y="1341438"/>
            <a:ext cx="7366000" cy="5040313"/>
          </a:xfrm>
        </p:spPr>
        <p:txBody>
          <a:bodyPr vert="horz" wrap="square" lIns="91440" tIns="45720" rIns="91440" bIns="45720" numCol="1" rtlCol="0" anchor="t" anchorCtr="0" compatLnSpc="1">
            <a:normAutofit fontScale="850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标志寄存器的赋值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算术运算类指令：影响标志位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逻辑运算类指令：只影响标志位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ZF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存储器访问指令：不影响标志位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无条件跳转指令：不影响标志位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有条件分支指令：影响标志位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ZF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影响→赋值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不影响→不赋值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 hasCustomPrompt="1"/>
          </p:nvPr>
        </p:nvSpPr>
        <p:spPr>
          <a:xfrm>
            <a:off x="1258888" y="1905000"/>
            <a:ext cx="7561262" cy="3048000"/>
          </a:xfrm>
        </p:spPr>
        <p:txBody>
          <a:bodyPr vert="horz" wrap="square" lIns="91440" tIns="45720" rIns="91440" bIns="45720" anchor="t" anchorCtr="0"/>
          <a:p>
            <a:pPr marL="533400" indent="-533400" defTabSz="457200" eaLnBrk="1" hangingPunct="1"/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（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4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）指令测试 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实现的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CPU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能够支持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10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条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R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型指令子集吗？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  <a:p>
            <a:pPr marL="914400" lvl="1" indent="-457200" defTabSz="457200" eaLnBrk="1" hangingPunct="1"/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用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10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条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R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型指令编写一段程序，用于测试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CPU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的功能：</a:t>
            </a:r>
            <a:endParaRPr lang="zh-CN" altLang="en-US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33797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 hasCustomPrompt="1"/>
          </p:nvPr>
        </p:nvSpPr>
        <p:spPr>
          <a:xfrm>
            <a:off x="971550" y="1270000"/>
            <a:ext cx="7726363" cy="574675"/>
          </a:xfrm>
        </p:spPr>
        <p:txBody>
          <a:bodyPr vert="horz" wrap="square" lIns="91440" tIns="45720" rIns="91440" bIns="45720" anchor="t" anchorCtr="0"/>
          <a:p>
            <a:pPr marL="533400" indent="-533400" defTabSz="457200" eaLnBrk="1" hangingPunct="1">
              <a:lnSpc>
                <a:spcPct val="90000"/>
              </a:lnSpc>
            </a:pPr>
            <a:r>
              <a:rPr lang="zh-CN" altLang="en-US" kern="1200" dirty="0">
                <a:solidFill>
                  <a:schemeClr val="tx1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rPr>
              <a:t>测试程序：汇编</a:t>
            </a:r>
            <a:endParaRPr lang="en-US" altLang="zh-CN" kern="1200" dirty="0">
              <a:solidFill>
                <a:schemeClr val="tx1"/>
              </a:solidFill>
              <a:latin typeface="+mn-lt"/>
              <a:ea typeface="幼圆" panose="020105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34821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Rectangle 5"/>
          <p:cNvSpPr/>
          <p:nvPr/>
        </p:nvSpPr>
        <p:spPr>
          <a:xfrm>
            <a:off x="3851910" y="1268730"/>
            <a:ext cx="5072380" cy="54444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add t0,zero,sp   #t0=0x7fffeffc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sltu t1,zero,t0    #t1 = 1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sll t0,t0,t1        #t0= 0xffffdff8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add t2,t1,t1     #t2 = 2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add t3,t2,t2    #t3 = 4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sll t4,t3,t1    #t4 = 8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sub t5, t4,t1   #t5= 7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slt t6,t0,t1    # t6 = 1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sltu a0,t0,t1   # a0 = 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sll a1,t3,t2	#a1 = 0x10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sra a3,t0,a1    #a3= 0xffffffff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srl a4,t0,a1    #a4 = 0x0000ffff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sll a5,a4,a1   #a5 = 0xffff0000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or a6,a4,a5   #a6 = 0xffffffff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and a7,a4,a5   #a7 = 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and s0,t0,a5   #s0= 0xffff0000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or s1,a4,a5   #s1 = 0xffffffff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xor s2,a4,a3  #s2 = 0xffff0000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3888"/>
            <a:ext cx="7058025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268413"/>
            <a:ext cx="8229600" cy="5256213"/>
          </a:xfrm>
        </p:spPr>
        <p:txBody>
          <a:bodyPr vert="horz" wrap="square" lIns="91440" tIns="45720" rIns="91440" bIns="45720" numCol="1" rtlCol="0" anchor="t" anchorCtr="0" compatLnSpc="1">
            <a:normAutofit lnSpcReduction="20000"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测试程序：机器指令编码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002002b3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00503333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006292b3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006303b3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00738e33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006e1eb3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406e8f33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0062afb3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0062b533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007e15b3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40b2d6b3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00b2d733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00b717b3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00f76833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00f778b3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00f2f433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00f764b3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00d74933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①将机器代码编辑成*.coe文件（格式化）；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②与指令存储器关联；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③重新生成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核：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Regenerate Core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操作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35845" name="Rectangle 6"/>
          <p:cNvSpPr/>
          <p:nvPr/>
        </p:nvSpPr>
        <p:spPr>
          <a:xfrm>
            <a:off x="6300788" y="2060575"/>
            <a:ext cx="2519362" cy="4321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 b="1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403350" y="1701165"/>
            <a:ext cx="6591300" cy="4826635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3、实验要求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前期的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基础上，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模块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，能够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条指定的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。（修改寄存器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的初始化值为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0x7fffeffc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编写一段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测试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型指令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的汇编程序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RISC-V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汇编器</a:t>
            </a:r>
            <a:r>
              <a:rPr lang="en-US" altLang="zh-CN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RARS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，将其翻译成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二进制机器码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并通过关联文件初始化指令存储器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623888"/>
            <a:ext cx="7131050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475423" y="1628775"/>
            <a:ext cx="6591300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3、实验要求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实验验证的顶层模块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，用于验证实验。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撰写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实验报告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3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619885" y="1916748"/>
            <a:ext cx="6592888" cy="377825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533400" marR="0" lvl="0" indent="-5334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4、实验步骤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在Xilinx中创建工程，然后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综合；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Char char="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编写激励代码，通过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仿真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波形</a:t>
            </a:r>
            <a:r>
              <a:rPr lang="zh-CN" altLang="en-US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观察</a:t>
            </a:r>
            <a:r>
              <a:rPr lang="en-US" altLang="zh-CN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ALU</a:t>
            </a:r>
            <a:r>
              <a:rPr lang="zh-CN" altLang="en-US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的输出是否正确。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623888"/>
            <a:ext cx="7202488" cy="128111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实验八 实现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型指令的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CPU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 hasCustomPrompt="1"/>
          </p:nvPr>
        </p:nvSpPr>
        <p:spPr>
          <a:xfrm>
            <a:off x="836613" y="1570038"/>
            <a:ext cx="8229600" cy="5297487"/>
          </a:xfrm>
        </p:spPr>
        <p:txBody>
          <a:bodyPr vert="horz" wrap="square" lIns="91440" tIns="45720" rIns="91440" bIns="45720" anchor="t" anchorCtr="0"/>
          <a:p>
            <a:pPr marL="716280" indent="-716280" defTabSz="457200" eaLnBrk="1" hangingPunct="1"/>
            <a:r>
              <a:rPr lang="zh-CN" altLang="en-US" kern="1200" dirty="0">
                <a:latin typeface="+mn-lt"/>
                <a:ea typeface="幼圆" panose="02010509060101010101" pitchFamily="49" charset="-122"/>
                <a:cs typeface="+mn-cs"/>
              </a:rPr>
              <a:t>5、思考与探索：</a:t>
            </a:r>
            <a:endParaRPr lang="zh-CN" altLang="en-US" kern="1200" dirty="0">
              <a:solidFill>
                <a:srgbClr val="FF0000"/>
              </a:solidFill>
              <a:latin typeface="+mn-lt"/>
              <a:ea typeface="幼圆" panose="02010509060101010101" pitchFamily="49" charset="-122"/>
              <a:cs typeface="+mn-cs"/>
            </a:endParaRPr>
          </a:p>
          <a:p>
            <a:pPr marL="716280" indent="-716280" defTabSz="457200" eaLnBrk="1" hangingPunct="1">
              <a:buFont typeface="Wingdings" panose="05000000000000000000" pitchFamily="2" charset="2"/>
              <a:buNone/>
            </a:pP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（</a:t>
            </a:r>
            <a:r>
              <a:rPr lang="en-US" altLang="zh-CN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1</a:t>
            </a:r>
            <a:r>
              <a:rPr lang="zh-CN" altLang="en-US" kern="1200" dirty="0">
                <a:solidFill>
                  <a:srgbClr val="FF0000"/>
                </a:solidFill>
                <a:latin typeface="+mn-lt"/>
                <a:ea typeface="幼圆" panose="02010509060101010101" pitchFamily="49" charset="-122"/>
                <a:cs typeface="+mn-cs"/>
              </a:rPr>
              <a:t>）</a:t>
            </a:r>
            <a:r>
              <a:rPr lang="zh-CN" altLang="en-US" dirty="0">
                <a:ea typeface="幼圆" panose="02010509060101010101" pitchFamily="49" charset="-122"/>
                <a:sym typeface="+mn-ea"/>
              </a:rPr>
              <a:t>说说你在实验中碰到了哪些问题，你是如何解决的？</a:t>
            </a: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  <a:p>
            <a:pPr marL="716280" indent="-716280" defTabSz="457200" eaLnBrk="1" hangingPunct="1">
              <a:buFont typeface="Wingdings" panose="05000000000000000000" pitchFamily="2" charset="2"/>
              <a:buNone/>
            </a:pPr>
            <a:endParaRPr lang="zh-CN" altLang="en-US" kern="1200" dirty="0">
              <a:latin typeface="+mn-lt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b="1" kern="1200" dirty="0">
                <a:solidFill>
                  <a:schemeClr val="tx1"/>
                </a:solidFill>
                <a:latin typeface="Verdana" panose="020B0604030504040204" pitchFamily="34" charset="0"/>
                <a:ea typeface="Gulim" pitchFamily="34" charset="-127"/>
                <a:cs typeface="+mn-cs"/>
              </a:rPr>
            </a:fld>
            <a:endParaRPr lang="ko-KR" altLang="en-US" sz="1400" b="1" kern="1200" dirty="0">
              <a:solidFill>
                <a:schemeClr val="tx1"/>
              </a:solidFill>
              <a:latin typeface="Verdana" panose="020B060403050404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3*300"/>
  <p:tag name="TABLE_ENDDRAG_RECT" val="19*221*663*300"/>
</p:tagLst>
</file>

<file path=ppt/tags/tag2.xml><?xml version="1.0" encoding="utf-8"?>
<p:tagLst xmlns:p="http://schemas.openxmlformats.org/presentationml/2006/main">
  <p:tag name="TABLE_ENDDRAG_ORIGIN_RECT" val="480*369"/>
  <p:tag name="TABLE_ENDDRAG_RECT" val="116*156*480*369"/>
</p:tagLst>
</file>

<file path=ppt/tags/tag3.xml><?xml version="1.0" encoding="utf-8"?>
<p:tagLst xmlns:p="http://schemas.openxmlformats.org/presentationml/2006/main">
  <p:tag name="commondata" val="eyJoZGlkIjoiZGViOWFiZGI3OGQ5MjQ2MjJiYzIyNjg5OTZiNDk5MGI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3384</Words>
  <Application>WPS 演示</Application>
  <PresentationFormat/>
  <Paragraphs>505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Century Gothic</vt:lpstr>
      <vt:lpstr>Wingdings 3</vt:lpstr>
      <vt:lpstr>幼圆</vt:lpstr>
      <vt:lpstr>HY중고딕</vt:lpstr>
      <vt:lpstr>Verdana</vt:lpstr>
      <vt:lpstr>Gulim</vt:lpstr>
      <vt:lpstr>Arial</vt:lpstr>
      <vt:lpstr>宋体</vt:lpstr>
      <vt:lpstr>Times New Roman</vt:lpstr>
      <vt:lpstr>微软雅黑</vt:lpstr>
      <vt:lpstr>Arial Unicode MS</vt:lpstr>
      <vt:lpstr>华文中宋</vt:lpstr>
      <vt:lpstr>Segoe Print</vt:lpstr>
      <vt:lpstr>Malgun Gothic</vt:lpstr>
      <vt:lpstr>丝状</vt:lpstr>
      <vt:lpstr>Visio.Drawing.11</vt:lpstr>
      <vt:lpstr>计算机组成原理 课程设计</vt:lpstr>
      <vt:lpstr>实验八 实现R型指令的CPU设计实验</vt:lpstr>
      <vt:lpstr>实验八 实现R型指令的CPU设计实验</vt:lpstr>
      <vt:lpstr>实验十一实现R型指令的CPU设计实验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  <vt:lpstr>实验八 实现R型指令的CPU设计实验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白丁</cp:lastModifiedBy>
  <cp:revision>428</cp:revision>
  <dcterms:created xsi:type="dcterms:W3CDTF">2001-12-07T16:07:00Z</dcterms:created>
  <dcterms:modified xsi:type="dcterms:W3CDTF">2024-06-03T06:33:28Z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F6A99D2DA53F4665A8303E2A6F665FF0_12</vt:lpwstr>
  </property>
</Properties>
</file>