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956" r:id="rId3"/>
    <p:sldId id="820" r:id="rId4"/>
    <p:sldId id="889" r:id="rId5"/>
    <p:sldId id="957" r:id="rId6"/>
    <p:sldId id="959" r:id="rId7"/>
    <p:sldId id="955" r:id="rId8"/>
    <p:sldId id="822" r:id="rId9"/>
    <p:sldId id="958" r:id="rId10"/>
    <p:sldId id="823" r:id="rId11"/>
    <p:sldId id="824" r:id="rId12"/>
  </p:sldIdLst>
  <p:sldSz cx="9144000" cy="6858000" type="screen4x3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CCFF"/>
    <a:srgbClr val="CCFFFF"/>
    <a:srgbClr val="00CCFF"/>
    <a:srgbClr val="00FFFF"/>
    <a:srgbClr val="E5E5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686" y="108"/>
      </p:cViewPr>
      <p:guideLst>
        <p:guide orient="horz" pos="2265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4"/>
          <p:cNvSpPr>
            <a:spLocks noGrp="1" noRo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2324D4-8899-4EA0-93F8-796502BD65D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8"/>
          <p:cNvSpPr/>
          <p:nvPr/>
        </p:nvSpPr>
        <p:spPr>
          <a:xfrm>
            <a:off x="-31750" y="4321175"/>
            <a:ext cx="1395413" cy="78105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2054" name="Picture 2" descr="https://timgsa.baidu.com/timg?image&amp;quality=80&amp;size=b9999_10000&amp;sec=1546679845316&amp;di=6a4734481c0f49e537f68a7fd2b4b133&amp;imgtype=0&amp;src=http%3A%2F%2Fimage.worldjingsai.com%2Fworldjingsai%2Funiversity%2Flogo%2F9004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063" y="357188"/>
            <a:ext cx="1354137" cy="1352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8B7F5AB-8EE0-4B84-A3BA-AB8EF7B84D0B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23863" y="4529138"/>
            <a:ext cx="58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45138D-B2DE-4187-AF05-D998DF7C167F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FBBAA5C-81FC-4E04-9E4A-1F558AB02B29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502B3CE-6BBE-4CDE-858E-9913C19F8352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67E057-AE06-446C-9727-E5125134E13D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3895AC-03E1-4C30-8116-E8C5CFA811C3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234011-E933-4C12-96A8-A67A065F210E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1B1EEC-4B60-4412-B7A0-50D0EA4C19CA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6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F83BCFD-1CC2-4347-9A8E-E5CE1D1DCD45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5163E9-9339-42BA-9810-36C320CBC1FF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5" name="Date Placeholder 2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357920-D431-4B1C-B0D8-EF7D12925FD4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4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6151689-DB24-4695-A603-B64CCD064C5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Date Placeholder 1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C2CAB9-CD41-49F9-A117-A333D2FF26F7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3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BEAD6C-A008-4F38-9B8B-A6067A943F75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136415-AE2A-431E-86F7-B4B724C35D4B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BE5A76-B515-4171-A972-2C0A4868C500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02025E-CF88-4B8D-AC0A-FA514454B32B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48BC0-586D-4675-8F01-320CD6C3075E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88742-468A-4DE8-A1E3-ABEEA1A17D6F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9839535-6B4E-417F-802A-747585BBE6B3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7AC78A-4713-4938-A744-1EA4870E6CA7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347FC6-C245-4B19-B1E4-281E32E8C2E9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B6B9F6-A912-45BF-B06C-677542DF50C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D4AA75-C05E-4A64-9DCD-D86C1AA9F7A6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0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1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1BFDB2-C512-45E6-851B-B2D5C8FD67FD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626064-C5B0-405C-9121-E92D43E5D10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15F8F9-8D41-4404-B1D5-781EEE5FBF06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BC89FF-8C1E-4B9A-8A2A-50AA57125325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115322-BC38-4903-B2F7-5C893D91D3FD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21990A-4A37-4631-A089-43E5590269E7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6AA91F-31CE-425F-BFB7-96D7E6F4B7F9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8586FC-6BE2-4E33-8795-1E85710AA66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Freeform 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Freeform 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" name="Freeform 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1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Freeform 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7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9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2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29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Freeform 3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Freeform 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3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Freeform 3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Freeform 3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3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Freeform 37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0" y="2147483646"/>
                </a:cxn>
              </a:cxnLst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Freeform 3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502B3CE-6BBE-4CDE-858E-9913C19F8352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rgbClr val="FEFFFF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3C7D3E-BFD6-455A-9B1E-565591D93DD2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5"/>
          <p:cNvSpPr>
            <a:spLocks noGrp="1"/>
          </p:cNvSpPr>
          <p:nvPr>
            <p:ph type="ctrTitle"/>
          </p:nvPr>
        </p:nvSpPr>
        <p:spPr>
          <a:xfrm>
            <a:off x="1835150" y="1557338"/>
            <a:ext cx="6599238" cy="2262187"/>
          </a:xfrm>
        </p:spPr>
        <p:txBody>
          <a:bodyPr vert="horz" wrap="square" lIns="91440" tIns="45720" rIns="91440" bIns="45720" anchor="b" anchorCtr="0"/>
          <a:p>
            <a:pPr algn="ctr" defTabSz="457200" eaLnBrk="1" hangingPunct="1">
              <a:buClrTx/>
              <a:buSzTx/>
              <a:buFontTx/>
            </a:pP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计算机组成原理</a:t>
            </a:r>
            <a:br>
              <a:rPr lang="en-US" altLang="zh-CN" kern="1200" dirty="0">
                <a:latin typeface="+mj-lt"/>
                <a:ea typeface="幼圆" panose="02010509060101010101" pitchFamily="49" charset="-122"/>
                <a:cs typeface="+mj-cs"/>
              </a:rPr>
            </a:b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课程设计</a:t>
            </a:r>
            <a:endParaRPr lang="zh-CN" altLang="en-US" kern="1200" dirty="0">
              <a:latin typeface="+mj-lt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835150" y="3965575"/>
            <a:ext cx="6599238" cy="11271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实验七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取指令与指令译码实验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9460" name="灯片编号占位符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ko-KR" altLang="en-US" sz="2000" kern="1200" dirty="0">
                <a:solidFill>
                  <a:srgbClr val="FEFFFF"/>
                </a:solidFill>
                <a:latin typeface="+mn-lt"/>
                <a:ea typeface="HY중고딕"/>
                <a:cs typeface="+mn-cs"/>
              </a:rPr>
            </a:fld>
            <a:endParaRPr lang="ko-KR" altLang="en-US" sz="2000" kern="1200" dirty="0">
              <a:solidFill>
                <a:srgbClr val="FEFFFF"/>
              </a:solidFill>
              <a:latin typeface="+mn-lt"/>
              <a:ea typeface="HY중고딕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1943100" y="2133600"/>
            <a:ext cx="6591300" cy="3778250"/>
          </a:xfrm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zh-CN" altLang="en-US" sz="3200" kern="1200" dirty="0">
                <a:latin typeface="+mn-lt"/>
                <a:ea typeface="幼圆" panose="02010509060101010101" pitchFamily="49" charset="-122"/>
                <a:cs typeface="+mn-cs"/>
              </a:rPr>
              <a:t>1、实验目的 </a:t>
            </a:r>
            <a:endParaRPr lang="zh-CN" altLang="en-US" sz="3200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sz="2800" kern="1200" dirty="0">
                <a:latin typeface="+mn-lt"/>
                <a:ea typeface="幼圆" panose="02010509060101010101" pitchFamily="49" charset="-122"/>
                <a:cs typeface="+mn-cs"/>
              </a:rPr>
              <a:t>学习</a:t>
            </a:r>
            <a:r>
              <a:rPr lang="zh-CN" altLang="en-US" sz="2800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指令存储器</a:t>
            </a:r>
            <a:r>
              <a:rPr lang="zh-CN" altLang="en-US" sz="2800" kern="1200" dirty="0">
                <a:latin typeface="+mn-lt"/>
                <a:ea typeface="幼圆" panose="02010509060101010101" pitchFamily="49" charset="-122"/>
                <a:cs typeface="+mn-cs"/>
              </a:rPr>
              <a:t>的设计；</a:t>
            </a:r>
            <a:endParaRPr lang="zh-CN" altLang="en-US" sz="2800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914400" lvl="1" indent="-457200" defTabSz="457200" eaLnBrk="1" hangingPunct="1"/>
            <a:r>
              <a:rPr lang="zh-CN" altLang="en-US" sz="2800" kern="1200" dirty="0">
                <a:latin typeface="+mn-lt"/>
                <a:ea typeface="幼圆" panose="02010509060101010101" pitchFamily="49" charset="-122"/>
                <a:cs typeface="+mn-cs"/>
              </a:rPr>
              <a:t>掌握</a:t>
            </a:r>
            <a:r>
              <a:rPr lang="en-US" altLang="zh-CN" sz="2800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CPU</a:t>
            </a:r>
            <a:r>
              <a:rPr lang="zh-CN" altLang="en-US" sz="2800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取指令操作</a:t>
            </a:r>
            <a:r>
              <a:rPr lang="zh-CN" altLang="en-US" sz="2800" kern="1200" dirty="0">
                <a:latin typeface="+mn-lt"/>
                <a:ea typeface="幼圆" panose="02010509060101010101" pitchFamily="49" charset="-122"/>
                <a:cs typeface="+mn-cs"/>
              </a:rPr>
              <a:t>与指令译码的方法和过程；</a:t>
            </a:r>
            <a:endParaRPr lang="zh-CN" altLang="en-US" sz="2800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4" name="Rectangle 16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取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943100" y="2133600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rmAutofit fontScale="92500"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2、实验内容与原理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1" indent="-635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指令存储器，只读，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物理大小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64×32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1" indent="-635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及其自增电路；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16280" marR="0" lvl="2" indent="-1733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RISC-V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地址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按字节编址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指令存储器：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256×8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16280" marR="0" lvl="2" indent="-1733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位，但是指令存储器地址只需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1509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12"/>
          <p:cNvSpPr/>
          <p:nvPr/>
        </p:nvSpPr>
        <p:spPr>
          <a:xfrm>
            <a:off x="0" y="2309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14"/>
          <p:cNvSpPr/>
          <p:nvPr/>
        </p:nvSpPr>
        <p:spPr>
          <a:xfrm>
            <a:off x="0" y="2238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4" name="Rectangle 16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6091238" y="1654175"/>
            <a:ext cx="2989263" cy="3776663"/>
          </a:xfrm>
        </p:spPr>
        <p:txBody>
          <a:bodyPr vert="horz" wrap="square" lIns="91440" tIns="45720" rIns="91440" bIns="45720" numCol="1" rtlCol="0" anchor="t" anchorCtr="0" compatLnSpc="1">
            <a:normAutofit fontScale="77500" lnSpcReduction="20000"/>
          </a:bodyPr>
          <a:lstStyle/>
          <a:p>
            <a:pPr marL="265430" marR="0" lvl="1" indent="-635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指令存储器，只读，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物理大小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64×32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1" indent="-635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及其自增电路；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16280" marR="0" lvl="2" indent="-1733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RISC-V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地址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按字节编址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指令存储器：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256×8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16280" marR="0" lvl="2" indent="-1733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位，但是指令存储器地址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只需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2533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12"/>
          <p:cNvSpPr/>
          <p:nvPr/>
        </p:nvSpPr>
        <p:spPr>
          <a:xfrm>
            <a:off x="0" y="2309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14"/>
          <p:cNvSpPr/>
          <p:nvPr/>
        </p:nvSpPr>
        <p:spPr>
          <a:xfrm>
            <a:off x="0" y="2238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81" name="Object 13"/>
          <p:cNvGraphicFramePr>
            <a:graphicFrameLocks noChangeAspect="1"/>
          </p:cNvGraphicFramePr>
          <p:nvPr/>
        </p:nvGraphicFramePr>
        <p:xfrm>
          <a:off x="419100" y="1844675"/>
          <a:ext cx="5783263" cy="386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768850" imgH="3185795" progId="Visio.Drawing.11">
                  <p:embed/>
                </p:oleObj>
              </mc:Choice>
              <mc:Fallback>
                <p:oleObj name="" r:id="rId1" imgW="4768850" imgH="318579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100" y="1844675"/>
                        <a:ext cx="5783263" cy="3862388"/>
                      </a:xfrm>
                      <a:prstGeom prst="rect">
                        <a:avLst/>
                      </a:prstGeom>
                      <a:solidFill>
                        <a:srgbClr val="CBDDF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gray"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A8D77E0-0816-46E8-944C-53C90D7E92A6}" type="slidenum">
              <a:rPr kumimoji="0" lang="ko-KR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 hasCustomPrompt="1"/>
          </p:nvPr>
        </p:nvSpPr>
        <p:spPr>
          <a:xfrm>
            <a:off x="971550" y="1700213"/>
            <a:ext cx="7777163" cy="3776662"/>
          </a:xfrm>
        </p:spPr>
        <p:txBody>
          <a:bodyPr vert="horz" wrap="square" lIns="91440" tIns="45720" rIns="91440" bIns="45720" anchor="t" anchorCtr="0"/>
          <a:p>
            <a:pPr marL="265430" lvl="1" indent="-6350" defTabSz="457200" eaLnBrk="1" hangingPunct="1">
              <a:spcBef>
                <a:spcPct val="10000"/>
              </a:spcBef>
            </a:pP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对取出的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Inst_code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进行译码，要求译出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R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型指令中所有的字段，即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fucn7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, rs2, rs1, func3, rd, opcode</a:t>
            </a:r>
            <a:endParaRPr lang="en-US" altLang="zh-CN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265430" lvl="1" indent="-6350" defTabSz="457200" eaLnBrk="1" hangingPunct="1">
              <a:spcBef>
                <a:spcPct val="10000"/>
              </a:spcBef>
            </a:pPr>
            <a:endParaRPr lang="zh-CN" altLang="en-US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取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1" name="Rectangle 11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 hasCustomPrompt="1"/>
          </p:nvPr>
        </p:nvSpPr>
        <p:spPr>
          <a:xfrm>
            <a:off x="1933575" y="1628775"/>
            <a:ext cx="6591300" cy="4403725"/>
          </a:xfrm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在指令周期（即时钟周期）</a:t>
            </a:r>
            <a:r>
              <a:rPr lang="en-US" altLang="zh-CN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clk</a:t>
            </a:r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上跳沿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，执行</a:t>
            </a:r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取指令操作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，在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clk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下跳沿更新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PC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值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。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  <a:p>
            <a:pPr marL="533400" indent="-533400" defTabSz="457200" eaLnBrk="1" hangingPunct="1"/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复位信号</a:t>
            </a:r>
            <a:r>
              <a:rPr lang="en-US" altLang="zh-CN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rst</a:t>
            </a:r>
            <a:r>
              <a:rPr lang="zh-CN" altLang="en-US" b="1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：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=1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时，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PC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清零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，即指定</a:t>
            </a:r>
            <a:r>
              <a:rPr lang="en-US" altLang="zh-CN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RISC-V CPU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从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0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号主存开始执行程序。  </a:t>
            </a:r>
            <a:endParaRPr lang="zh-CN" altLang="en-US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  <a:p>
            <a:pPr marL="533400" indent="-53340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生成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只读的指令存储器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时，使用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Memory IP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核</a:t>
            </a:r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，同实验五；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4581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1" name="Rectangle 7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476375" y="1557338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3、实验要求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Vivado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Memory 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核生成一个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Inst_ROM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，当做指令存储器，并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关联一个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所生成的*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文件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编程实现取指令模块，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调用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Inst_ROM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指令存储器模块。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1" name="Rectangle 7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835150" y="1628775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3、实验要求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编写一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个取指与指令译码电路并测试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4" name="Rectangle 8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692275" y="1700213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4、实验步骤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在Xilinx ISE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Vivado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中创建工程，编源码，然后编译、综合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编写激励代码，观察仿真波形，直至验证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正确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8" name="Rectangle 8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实验七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取指令与指令译码实验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331913" y="1412875"/>
            <a:ext cx="7272338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5、思考与探索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22325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读取指令存储器的前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条指令代码记录到表中，分析取出的指令代码是否和指令存储器关联文件中的指令码一致？如果不一致，请分析原因。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22325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说说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你在实验中碰到了哪些问题，你是如何解决的？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843</Words>
  <Application>WPS 演示</Application>
  <PresentationFormat/>
  <Paragraphs>80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Century Gothic</vt:lpstr>
      <vt:lpstr>Wingdings 3</vt:lpstr>
      <vt:lpstr>幼圆</vt:lpstr>
      <vt:lpstr>HY중고딕</vt:lpstr>
      <vt:lpstr>Verdana</vt:lpstr>
      <vt:lpstr>Gulim</vt:lpstr>
      <vt:lpstr>微软雅黑</vt:lpstr>
      <vt:lpstr>Arial Unicode MS</vt:lpstr>
      <vt:lpstr>Segoe Print</vt:lpstr>
      <vt:lpstr>Malgun Gothic</vt:lpstr>
      <vt:lpstr>丝状</vt:lpstr>
      <vt:lpstr>Visio.Drawing.11</vt:lpstr>
      <vt:lpstr>计算机组成原理 课程设计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  <vt:lpstr>实验七 取指令与指令译码实验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白丁</cp:lastModifiedBy>
  <cp:revision>422</cp:revision>
  <dcterms:created xsi:type="dcterms:W3CDTF">2001-12-07T16:07:00Z</dcterms:created>
  <dcterms:modified xsi:type="dcterms:W3CDTF">2026-05-27T12:27:46Z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6397C837EDA649A09AF062A354B11EBD_12</vt:lpwstr>
  </property>
</Properties>
</file>