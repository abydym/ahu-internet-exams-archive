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Override1.xml" ContentType="application/vnd.openxmlformats-officedocument.themeOverrid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714" r:id="rId2"/>
    <p:sldMasterId id="2147483726" r:id="rId3"/>
    <p:sldMasterId id="2147483738" r:id="rId4"/>
    <p:sldMasterId id="2147483750" r:id="rId5"/>
  </p:sldMasterIdLst>
  <p:notesMasterIdLst>
    <p:notesMasterId r:id="rId64"/>
  </p:notesMasterIdLst>
  <p:sldIdLst>
    <p:sldId id="257" r:id="rId6"/>
    <p:sldId id="325" r:id="rId7"/>
    <p:sldId id="326" r:id="rId8"/>
    <p:sldId id="327" r:id="rId9"/>
    <p:sldId id="331" r:id="rId10"/>
    <p:sldId id="260" r:id="rId11"/>
    <p:sldId id="342" r:id="rId12"/>
    <p:sldId id="332" r:id="rId13"/>
    <p:sldId id="333" r:id="rId14"/>
    <p:sldId id="335" r:id="rId15"/>
    <p:sldId id="394" r:id="rId16"/>
    <p:sldId id="395" r:id="rId17"/>
    <p:sldId id="396" r:id="rId18"/>
    <p:sldId id="397" r:id="rId19"/>
    <p:sldId id="398" r:id="rId20"/>
    <p:sldId id="399" r:id="rId21"/>
    <p:sldId id="400" r:id="rId22"/>
    <p:sldId id="401" r:id="rId23"/>
    <p:sldId id="402" r:id="rId24"/>
    <p:sldId id="334" r:id="rId25"/>
    <p:sldId id="336" r:id="rId26"/>
    <p:sldId id="391" r:id="rId27"/>
    <p:sldId id="392" r:id="rId28"/>
    <p:sldId id="393" r:id="rId29"/>
    <p:sldId id="337" r:id="rId30"/>
    <p:sldId id="338" r:id="rId31"/>
    <p:sldId id="339" r:id="rId32"/>
    <p:sldId id="340" r:id="rId33"/>
    <p:sldId id="384" r:id="rId34"/>
    <p:sldId id="386" r:id="rId35"/>
    <p:sldId id="387" r:id="rId36"/>
    <p:sldId id="388" r:id="rId37"/>
    <p:sldId id="344" r:id="rId38"/>
    <p:sldId id="345" r:id="rId39"/>
    <p:sldId id="349" r:id="rId40"/>
    <p:sldId id="347" r:id="rId41"/>
    <p:sldId id="348" r:id="rId42"/>
    <p:sldId id="350" r:id="rId43"/>
    <p:sldId id="351" r:id="rId44"/>
    <p:sldId id="343" r:id="rId45"/>
    <p:sldId id="383" r:id="rId46"/>
    <p:sldId id="378" r:id="rId47"/>
    <p:sldId id="379" r:id="rId48"/>
    <p:sldId id="382" r:id="rId49"/>
    <p:sldId id="381" r:id="rId50"/>
    <p:sldId id="357" r:id="rId51"/>
    <p:sldId id="363" r:id="rId52"/>
    <p:sldId id="377" r:id="rId53"/>
    <p:sldId id="372" r:id="rId54"/>
    <p:sldId id="376" r:id="rId55"/>
    <p:sldId id="358" r:id="rId56"/>
    <p:sldId id="366" r:id="rId57"/>
    <p:sldId id="375" r:id="rId58"/>
    <p:sldId id="360" r:id="rId59"/>
    <p:sldId id="368" r:id="rId60"/>
    <p:sldId id="369" r:id="rId61"/>
    <p:sldId id="370" r:id="rId62"/>
    <p:sldId id="308" r:id="rId63"/>
  </p:sldIdLst>
  <p:sldSz cx="9144000" cy="6858000" type="screen4x3"/>
  <p:notesSz cx="6858000" cy="9144000"/>
  <p:defaultTextStyle>
    <a:defPPr>
      <a:defRPr lang="zh-CN"/>
    </a:defPPr>
    <a:lvl1pPr algn="l" rtl="0" fontAlgn="base">
      <a:spcBef>
        <a:spcPct val="0"/>
      </a:spcBef>
      <a:spcAft>
        <a:spcPct val="0"/>
      </a:spcAft>
      <a:defRPr sz="2400" b="1"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sz="2400" b="1"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sz="2400" b="1"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sz="2400" b="1"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sz="2400" b="1"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E9A3"/>
    <a:srgbClr val="A50021"/>
    <a:srgbClr val="CDFFF2"/>
    <a:srgbClr val="FFFF66"/>
    <a:srgbClr val="FFFFFF"/>
    <a:srgbClr val="00A8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3" autoAdjust="0"/>
    <p:restoredTop sz="86430" autoAdjust="0"/>
  </p:normalViewPr>
  <p:slideViewPr>
    <p:cSldViewPr>
      <p:cViewPr varScale="1">
        <p:scale>
          <a:sx n="112" d="100"/>
          <a:sy n="112" d="100"/>
        </p:scale>
        <p:origin x="144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53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ea typeface="宋体" pitchFamily="2" charset="-122"/>
              </a:defRPr>
            </a:lvl1pPr>
          </a:lstStyle>
          <a:p>
            <a:pPr>
              <a:defRPr/>
            </a:pPr>
            <a:endParaRPr lang="en-US" altLang="zh-CN"/>
          </a:p>
        </p:txBody>
      </p:sp>
      <p:sp>
        <p:nvSpPr>
          <p:cNvPr id="624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ea typeface="宋体" pitchFamily="2" charset="-122"/>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24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ea typeface="宋体" pitchFamily="2" charset="-122"/>
              </a:defRPr>
            </a:lvl1pPr>
          </a:lstStyle>
          <a:p>
            <a:pPr>
              <a:defRPr/>
            </a:pPr>
            <a:endParaRPr lang="en-US" altLang="zh-CN"/>
          </a:p>
        </p:txBody>
      </p:sp>
      <p:sp>
        <p:nvSpPr>
          <p:cNvPr id="624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panose="020B0604020202020204" pitchFamily="34" charset="0"/>
              </a:defRPr>
            </a:lvl1pPr>
          </a:lstStyle>
          <a:p>
            <a:fld id="{076D5F88-AAEA-4E62-8524-0C2CA8DC33D2}" type="slidenum">
              <a:rPr lang="en-US" altLang="zh-CN"/>
              <a:pPr/>
              <a:t>‹#›</a:t>
            </a:fld>
            <a:endParaRPr lang="en-US" altLang="zh-CN"/>
          </a:p>
        </p:txBody>
      </p:sp>
    </p:spTree>
    <p:extLst>
      <p:ext uri="{BB962C8B-B14F-4D97-AF65-F5344CB8AC3E}">
        <p14:creationId xmlns:p14="http://schemas.microsoft.com/office/powerpoint/2010/main" val="17065583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7E594913-3028-4CFA-83C1-AF3C2D32EDA8}" type="slidenum">
              <a:rPr lang="en-US" altLang="zh-CN" sz="1200" b="0">
                <a:latin typeface="Arial" panose="020B0604020202020204" pitchFamily="34" charset="0"/>
              </a:rPr>
              <a:pPr eaLnBrk="1" hangingPunct="1"/>
              <a:t>2</a:t>
            </a:fld>
            <a:endParaRPr lang="en-US" altLang="zh-CN" sz="1200" b="0">
              <a:latin typeface="Arial" panose="020B0604020202020204" pitchFamily="34"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浅色部分很少用。只有三种语句：一、</a:t>
            </a:r>
            <a:r>
              <a:rPr lang="en-US" altLang="zh-CN" smtClean="0">
                <a:latin typeface="Arial" panose="020B0604020202020204" pitchFamily="34" charset="0"/>
              </a:rPr>
              <a:t>assign</a:t>
            </a:r>
            <a:r>
              <a:rPr lang="zh-CN" altLang="en-US" smtClean="0">
                <a:latin typeface="Arial" panose="020B0604020202020204" pitchFamily="34" charset="0"/>
              </a:rPr>
              <a:t>语句；二、</a:t>
            </a:r>
            <a:r>
              <a:rPr lang="en-US" altLang="zh-CN" smtClean="0">
                <a:latin typeface="Arial" panose="020B0604020202020204" pitchFamily="34" charset="0"/>
              </a:rPr>
              <a:t>always</a:t>
            </a:r>
            <a:r>
              <a:rPr lang="zh-CN" altLang="en-US" smtClean="0">
                <a:latin typeface="Arial" panose="020B0604020202020204" pitchFamily="34" charset="0"/>
              </a:rPr>
              <a:t>语句；三、底层模块调用语句。</a:t>
            </a:r>
          </a:p>
          <a:p>
            <a:pPr eaLnBrk="1" hangingPunct="1">
              <a:spcBef>
                <a:spcPct val="0"/>
              </a:spcBef>
            </a:pPr>
            <a:r>
              <a:rPr lang="zh-CN" altLang="en-US" b="1" smtClean="0">
                <a:latin typeface="Arial" panose="020B0604020202020204" pitchFamily="34" charset="0"/>
              </a:rPr>
              <a:t>这是一个模块结构，而不是程序结构，因为程序除了模块以外还有编译语句等、程序还可以包括多个模块。程序还可以是</a:t>
            </a:r>
            <a:r>
              <a:rPr lang="en-US" altLang="zh-CN" b="1" smtClean="0">
                <a:latin typeface="Arial" panose="020B0604020202020204" pitchFamily="34" charset="0"/>
              </a:rPr>
              <a:t>UDP</a:t>
            </a:r>
            <a:r>
              <a:rPr lang="zh-CN" altLang="en-US" b="1" smtClean="0">
                <a:latin typeface="Arial" panose="020B0604020202020204" pitchFamily="34" charset="0"/>
              </a:rPr>
              <a:t>，而不是模块。</a:t>
            </a:r>
            <a:endParaRPr lang="en-US" altLang="zh-CN" b="1" smtClean="0">
              <a:latin typeface="Arial" panose="020B0604020202020204" pitchFamily="34" charset="0"/>
            </a:endParaRPr>
          </a:p>
          <a:p>
            <a:pPr eaLnBrk="1" hangingPunct="1">
              <a:spcBef>
                <a:spcPct val="0"/>
              </a:spcBef>
            </a:pPr>
            <a:endParaRPr lang="zh-CN" altLang="en-US" smtClean="0">
              <a:latin typeface="Arial" panose="020B0604020202020204" pitchFamily="34" charset="0"/>
            </a:endParaRPr>
          </a:p>
        </p:txBody>
      </p:sp>
    </p:spTree>
    <p:extLst>
      <p:ext uri="{BB962C8B-B14F-4D97-AF65-F5344CB8AC3E}">
        <p14:creationId xmlns:p14="http://schemas.microsoft.com/office/powerpoint/2010/main" val="950864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模块说明部分体现了模块的名字，输入输出信号类型等信息。</a:t>
            </a:r>
          </a:p>
        </p:txBody>
      </p:sp>
      <p:sp>
        <p:nvSpPr>
          <p:cNvPr id="50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31249250-6F48-4CE2-AF73-65972273530C}" type="slidenum">
              <a:rPr lang="en-US" altLang="zh-CN" sz="1200" b="0">
                <a:latin typeface="Arial" panose="020B0604020202020204" pitchFamily="34" charset="0"/>
              </a:rPr>
              <a:pPr eaLnBrk="1" hangingPunct="1"/>
              <a:t>4</a:t>
            </a:fld>
            <a:endParaRPr lang="en-US" altLang="zh-CN" sz="1200" b="0">
              <a:latin typeface="Arial" panose="020B0604020202020204" pitchFamily="34" charset="0"/>
            </a:endParaRPr>
          </a:p>
        </p:txBody>
      </p:sp>
    </p:spTree>
    <p:extLst>
      <p:ext uri="{BB962C8B-B14F-4D97-AF65-F5344CB8AC3E}">
        <p14:creationId xmlns:p14="http://schemas.microsoft.com/office/powerpoint/2010/main" val="116451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B449599E-2CED-42E0-9A87-5E9CDF3D92F0}" type="slidenum">
              <a:rPr lang="en-US" altLang="zh-CN" sz="1200" b="0">
                <a:latin typeface="Arial" panose="020B0604020202020204" pitchFamily="34" charset="0"/>
              </a:rPr>
              <a:pPr eaLnBrk="1" hangingPunct="1"/>
              <a:t>6</a:t>
            </a:fld>
            <a:endParaRPr lang="en-US" altLang="zh-CN" sz="1200" b="0">
              <a:latin typeface="Arial" panose="020B060402020202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对程序的结构和语法进行说明。</a:t>
            </a:r>
          </a:p>
          <a:p>
            <a:pPr eaLnBrk="1" hangingPunct="1"/>
            <a:r>
              <a:rPr lang="en-US" altLang="zh-CN" smtClean="0">
                <a:latin typeface="Arial" panose="020B0604020202020204" pitchFamily="34" charset="0"/>
              </a:rPr>
              <a:t>1.</a:t>
            </a:r>
            <a:r>
              <a:rPr lang="zh-CN" altLang="en-US" smtClean="0">
                <a:latin typeface="Arial" panose="020B0604020202020204" pitchFamily="34" charset="0"/>
              </a:rPr>
              <a:t>模块表达：以</a:t>
            </a:r>
            <a:r>
              <a:rPr lang="en-US" altLang="zh-CN" smtClean="0">
                <a:latin typeface="Arial" panose="020B0604020202020204" pitchFamily="34" charset="0"/>
              </a:rPr>
              <a:t>module</a:t>
            </a:r>
            <a:r>
              <a:rPr lang="zh-CN" altLang="en-US" smtClean="0">
                <a:latin typeface="Arial" panose="020B0604020202020204" pitchFamily="34" charset="0"/>
              </a:rPr>
              <a:t>为引导关键词，后跟模块名，模块名由用户自定义，</a:t>
            </a:r>
            <a:r>
              <a:rPr lang="en-US" altLang="zh-CN" smtClean="0">
                <a:latin typeface="Arial" panose="020B0604020202020204" pitchFamily="34" charset="0"/>
              </a:rPr>
              <a:t>Verilog</a:t>
            </a:r>
            <a:r>
              <a:rPr lang="zh-CN" altLang="en-US" smtClean="0">
                <a:latin typeface="Arial" panose="020B0604020202020204" pitchFamily="34" charset="0"/>
              </a:rPr>
              <a:t>区别大小写，名字要有望文生义的功能，括号中是所有的端口信号名，信号名之间用逗号隔开，括号后加分号；最后以</a:t>
            </a:r>
            <a:r>
              <a:rPr lang="en-US" altLang="zh-CN" smtClean="0">
                <a:latin typeface="Arial" panose="020B0604020202020204" pitchFamily="34" charset="0"/>
              </a:rPr>
              <a:t>endmodule</a:t>
            </a:r>
            <a:r>
              <a:rPr lang="zh-CN" altLang="en-US" smtClean="0">
                <a:latin typeface="Arial" panose="020B0604020202020204" pitchFamily="34" charset="0"/>
              </a:rPr>
              <a:t>结束（注意所有的关键词都是小写）。</a:t>
            </a:r>
          </a:p>
          <a:p>
            <a:pPr eaLnBrk="1" hangingPunct="1"/>
            <a:r>
              <a:rPr lang="en-US" altLang="zh-CN" smtClean="0">
                <a:latin typeface="Arial" panose="020B0604020202020204" pitchFamily="34" charset="0"/>
              </a:rPr>
              <a:t>2.</a:t>
            </a:r>
            <a:r>
              <a:rPr lang="zh-CN" altLang="en-US" smtClean="0">
                <a:latin typeface="Arial" panose="020B0604020202020204" pitchFamily="34" charset="0"/>
              </a:rPr>
              <a:t>端口语句是指一整条语句，说明了端口信号的模式和名称以及数据类型；端口模式是指</a:t>
            </a:r>
            <a:r>
              <a:rPr lang="en-US" altLang="zh-CN" smtClean="0">
                <a:latin typeface="Arial" panose="020B0604020202020204" pitchFamily="34" charset="0"/>
              </a:rPr>
              <a:t>input</a:t>
            </a:r>
            <a:r>
              <a:rPr lang="zh-CN" altLang="en-US" smtClean="0">
                <a:latin typeface="Arial" panose="020B0604020202020204" pitchFamily="34" charset="0"/>
              </a:rPr>
              <a:t>、</a:t>
            </a:r>
            <a:r>
              <a:rPr lang="en-US" altLang="zh-CN" smtClean="0">
                <a:latin typeface="Arial" panose="020B0604020202020204" pitchFamily="34" charset="0"/>
              </a:rPr>
              <a:t>output</a:t>
            </a:r>
            <a:r>
              <a:rPr lang="zh-CN" altLang="en-US" smtClean="0">
                <a:latin typeface="Arial" panose="020B0604020202020204" pitchFamily="34" charset="0"/>
              </a:rPr>
              <a:t>、</a:t>
            </a:r>
            <a:r>
              <a:rPr lang="en-US" altLang="zh-CN" smtClean="0">
                <a:latin typeface="Arial" panose="020B0604020202020204" pitchFamily="34" charset="0"/>
              </a:rPr>
              <a:t>inout</a:t>
            </a:r>
            <a:r>
              <a:rPr lang="zh-CN" altLang="en-US" smtClean="0">
                <a:latin typeface="Arial" panose="020B0604020202020204" pitchFamily="34" charset="0"/>
              </a:rPr>
              <a:t>，描述的是端口信号的流向；端口信号名是指端口信号的名称；</a:t>
            </a:r>
          </a:p>
          <a:p>
            <a:pPr eaLnBrk="1" hangingPunct="1"/>
            <a:r>
              <a:rPr lang="zh-CN" altLang="en-US" smtClean="0">
                <a:latin typeface="Arial" panose="020B0604020202020204" pitchFamily="34" charset="0"/>
              </a:rPr>
              <a:t>端口模式有输入、输出、输入输出双向三种。（双向举例：</a:t>
            </a:r>
            <a:r>
              <a:rPr lang="en-US" altLang="zh-CN" smtClean="0">
                <a:latin typeface="Arial" panose="020B0604020202020204" pitchFamily="34" charset="0"/>
              </a:rPr>
              <a:t>RAM</a:t>
            </a:r>
            <a:r>
              <a:rPr lang="zh-CN" altLang="en-US" smtClean="0">
                <a:latin typeface="Arial" panose="020B0604020202020204" pitchFamily="34" charset="0"/>
              </a:rPr>
              <a:t>的数据口信号就是双向的。）</a:t>
            </a:r>
          </a:p>
          <a:p>
            <a:pPr eaLnBrk="1" hangingPunct="1"/>
            <a:r>
              <a:rPr lang="zh-CN" altLang="en-US" smtClean="0">
                <a:latin typeface="Arial" panose="020B0604020202020204" pitchFamily="34" charset="0"/>
              </a:rPr>
              <a:t>端口名由用户自定义，注意也要望文生义；</a:t>
            </a:r>
          </a:p>
          <a:p>
            <a:pPr eaLnBrk="1" hangingPunct="1"/>
            <a:r>
              <a:rPr lang="zh-CN" altLang="en-US" smtClean="0">
                <a:latin typeface="Arial" panose="020B0604020202020204" pitchFamily="34" charset="0"/>
              </a:rPr>
              <a:t>端口名之间用逗号隔开，最后加分号；</a:t>
            </a:r>
          </a:p>
          <a:p>
            <a:pPr eaLnBrk="1" hangingPunct="1"/>
            <a:r>
              <a:rPr lang="zh-CN" altLang="en-US" smtClean="0">
                <a:latin typeface="Arial" panose="020B0604020202020204" pitchFamily="34" charset="0"/>
              </a:rPr>
              <a:t>信号的位数说明：</a:t>
            </a:r>
          </a:p>
          <a:p>
            <a:pPr eaLnBrk="1" hangingPunct="1"/>
            <a:r>
              <a:rPr lang="zh-CN" altLang="en-US" smtClean="0">
                <a:latin typeface="Arial" panose="020B0604020202020204" pitchFamily="34" charset="0"/>
              </a:rPr>
              <a:t>如果信号是一位的，也称标量，不需特别说明；</a:t>
            </a:r>
          </a:p>
          <a:p>
            <a:pPr eaLnBrk="1" hangingPunct="1"/>
            <a:r>
              <a:rPr lang="zh-CN" altLang="en-US" smtClean="0">
                <a:latin typeface="Arial" panose="020B0604020202020204" pitchFamily="34" charset="0"/>
              </a:rPr>
              <a:t>如果是信号是多位的，也称矢量，要在端口模式后加</a:t>
            </a:r>
            <a:r>
              <a:rPr lang="en-US" altLang="zh-CN" smtClean="0">
                <a:latin typeface="Arial" panose="020B0604020202020204" pitchFamily="34" charset="0"/>
              </a:rPr>
              <a:t>[msb</a:t>
            </a:r>
            <a:r>
              <a:rPr lang="zh-CN" altLang="en-US" smtClean="0">
                <a:latin typeface="Arial" panose="020B0604020202020204" pitchFamily="34" charset="0"/>
              </a:rPr>
              <a:t>：</a:t>
            </a:r>
            <a:r>
              <a:rPr lang="en-US" altLang="zh-CN" smtClean="0">
                <a:latin typeface="Arial" panose="020B0604020202020204" pitchFamily="34" charset="0"/>
              </a:rPr>
              <a:t>lsb]</a:t>
            </a:r>
            <a:r>
              <a:rPr lang="zh-CN" altLang="en-US" smtClean="0">
                <a:latin typeface="Arial" panose="020B0604020202020204" pitchFamily="34" charset="0"/>
              </a:rPr>
              <a:t>说明，</a:t>
            </a:r>
            <a:r>
              <a:rPr lang="en-US" altLang="zh-CN" smtClean="0">
                <a:latin typeface="Arial" panose="020B0604020202020204" pitchFamily="34" charset="0"/>
              </a:rPr>
              <a:t>msb</a:t>
            </a:r>
            <a:r>
              <a:rPr lang="zh-CN" altLang="en-US" smtClean="0">
                <a:latin typeface="Arial" panose="020B0604020202020204" pitchFamily="34" charset="0"/>
              </a:rPr>
              <a:t>是高位标号，</a:t>
            </a:r>
            <a:r>
              <a:rPr lang="en-US" altLang="zh-CN" smtClean="0">
                <a:latin typeface="Arial" panose="020B0604020202020204" pitchFamily="34" charset="0"/>
              </a:rPr>
              <a:t>lsb</a:t>
            </a:r>
            <a:r>
              <a:rPr lang="zh-CN" altLang="en-US" smtClean="0">
                <a:latin typeface="Arial" panose="020B0604020202020204" pitchFamily="34" charset="0"/>
              </a:rPr>
              <a:t>是低位标号，比如</a:t>
            </a:r>
            <a:r>
              <a:rPr lang="en-US" altLang="zh-CN" smtClean="0">
                <a:latin typeface="Arial" panose="020B0604020202020204" pitchFamily="34" charset="0"/>
              </a:rPr>
              <a:t>output [7:0] C,D; </a:t>
            </a:r>
            <a:r>
              <a:rPr lang="zh-CN" altLang="en-US" smtClean="0">
                <a:latin typeface="Arial" panose="020B0604020202020204" pitchFamily="34" charset="0"/>
              </a:rPr>
              <a:t>表示</a:t>
            </a:r>
            <a:r>
              <a:rPr lang="en-US" altLang="zh-CN" smtClean="0">
                <a:latin typeface="Arial" panose="020B0604020202020204" pitchFamily="34" charset="0"/>
              </a:rPr>
              <a:t>C</a:t>
            </a:r>
            <a:r>
              <a:rPr lang="zh-CN" altLang="en-US" smtClean="0">
                <a:latin typeface="Arial" panose="020B0604020202020204" pitchFamily="34" charset="0"/>
              </a:rPr>
              <a:t>、</a:t>
            </a:r>
            <a:r>
              <a:rPr lang="en-US" altLang="zh-CN" smtClean="0">
                <a:latin typeface="Arial" panose="020B0604020202020204" pitchFamily="34" charset="0"/>
              </a:rPr>
              <a:t>D</a:t>
            </a:r>
            <a:r>
              <a:rPr lang="zh-CN" altLang="en-US" smtClean="0">
                <a:latin typeface="Arial" panose="020B0604020202020204" pitchFamily="34" charset="0"/>
              </a:rPr>
              <a:t>是</a:t>
            </a:r>
            <a:r>
              <a:rPr lang="en-US" altLang="zh-CN" smtClean="0">
                <a:latin typeface="Arial" panose="020B0604020202020204" pitchFamily="34" charset="0"/>
              </a:rPr>
              <a:t>8</a:t>
            </a:r>
            <a:r>
              <a:rPr lang="zh-CN" altLang="en-US" smtClean="0">
                <a:latin typeface="Arial" panose="020B0604020202020204" pitchFamily="34" charset="0"/>
              </a:rPr>
              <a:t>位矢量，分别为</a:t>
            </a:r>
            <a:r>
              <a:rPr lang="en-US" altLang="zh-CN" smtClean="0">
                <a:latin typeface="Arial" panose="020B0604020202020204" pitchFamily="34" charset="0"/>
              </a:rPr>
              <a:t>C[7]</a:t>
            </a:r>
            <a:r>
              <a:rPr lang="zh-CN" altLang="en-US" smtClean="0">
                <a:latin typeface="Arial" panose="020B0604020202020204" pitchFamily="34" charset="0"/>
              </a:rPr>
              <a:t>、</a:t>
            </a:r>
            <a:r>
              <a:rPr lang="en-US" altLang="zh-CN" smtClean="0">
                <a:latin typeface="Arial" panose="020B0604020202020204" pitchFamily="34" charset="0"/>
              </a:rPr>
              <a:t>C[6]</a:t>
            </a:r>
            <a:r>
              <a:rPr lang="zh-CN" altLang="en-US" smtClean="0">
                <a:latin typeface="Arial" panose="020B0604020202020204" pitchFamily="34" charset="0"/>
              </a:rPr>
              <a:t>、</a:t>
            </a:r>
            <a:r>
              <a:rPr lang="en-US" altLang="zh-CN" smtClean="0">
                <a:latin typeface="Arial" panose="020B0604020202020204" pitchFamily="34" charset="0"/>
              </a:rPr>
              <a:t>……C[0]</a:t>
            </a:r>
            <a:r>
              <a:rPr lang="zh-CN" altLang="en-US" smtClean="0">
                <a:latin typeface="Arial" panose="020B0604020202020204" pitchFamily="34" charset="0"/>
              </a:rPr>
              <a:t>，共</a:t>
            </a:r>
            <a:r>
              <a:rPr lang="en-US" altLang="zh-CN" smtClean="0">
                <a:latin typeface="Arial" panose="020B0604020202020204" pitchFamily="34" charset="0"/>
              </a:rPr>
              <a:t>8</a:t>
            </a:r>
            <a:r>
              <a:rPr lang="zh-CN" altLang="en-US" smtClean="0">
                <a:latin typeface="Arial" panose="020B0604020202020204" pitchFamily="34" charset="0"/>
              </a:rPr>
              <a:t>位，</a:t>
            </a:r>
            <a:r>
              <a:rPr lang="en-US" altLang="zh-CN" smtClean="0">
                <a:latin typeface="Arial" panose="020B0604020202020204" pitchFamily="34" charset="0"/>
              </a:rPr>
              <a:t>D</a:t>
            </a:r>
            <a:r>
              <a:rPr lang="zh-CN" altLang="en-US" smtClean="0">
                <a:latin typeface="Arial" panose="020B0604020202020204" pitchFamily="34" charset="0"/>
              </a:rPr>
              <a:t>亦如此。</a:t>
            </a:r>
          </a:p>
          <a:p>
            <a:pPr eaLnBrk="1" hangingPunct="1"/>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extLst>
      <p:ext uri="{BB962C8B-B14F-4D97-AF65-F5344CB8AC3E}">
        <p14:creationId xmlns:p14="http://schemas.microsoft.com/office/powerpoint/2010/main" val="3961496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2EC383DC-155F-4B0A-8C91-B73570422E33}" type="slidenum">
              <a:rPr lang="en-US" altLang="zh-CN" sz="1200" b="0">
                <a:latin typeface="Arial" panose="020B0604020202020204" pitchFamily="34" charset="0"/>
              </a:rPr>
              <a:pPr eaLnBrk="1" hangingPunct="1"/>
              <a:t>8</a:t>
            </a:fld>
            <a:endParaRPr lang="en-US" altLang="zh-CN" sz="1200" b="0">
              <a:latin typeface="Arial" panose="020B060402020202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assign</a:t>
            </a:r>
            <a:r>
              <a:rPr lang="zh-CN" altLang="en-US" smtClean="0">
                <a:latin typeface="Arial" panose="020B0604020202020204" pitchFamily="34" charset="0"/>
              </a:rPr>
              <a:t>的含义为安排，分配，交给，在这里引申为赋值。</a:t>
            </a:r>
          </a:p>
        </p:txBody>
      </p:sp>
    </p:spTree>
    <p:extLst>
      <p:ext uri="{BB962C8B-B14F-4D97-AF65-F5344CB8AC3E}">
        <p14:creationId xmlns:p14="http://schemas.microsoft.com/office/powerpoint/2010/main" val="1397563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DE144F6C-468D-474F-968E-8794338498F8}" type="slidenum">
              <a:rPr lang="en-US" altLang="zh-CN" sz="1200" b="0">
                <a:latin typeface="Arial" panose="020B0604020202020204" pitchFamily="34" charset="0"/>
              </a:rPr>
              <a:pPr eaLnBrk="1" hangingPunct="1"/>
              <a:t>10</a:t>
            </a:fld>
            <a:endParaRPr lang="en-US" altLang="zh-CN" sz="1200" b="0">
              <a:latin typeface="Arial" panose="020B0604020202020204" pitchFamily="34"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详见夏宇闻教材第</a:t>
            </a:r>
            <a:r>
              <a:rPr lang="en-US" altLang="zh-CN" smtClean="0">
                <a:latin typeface="Arial" panose="020B0604020202020204" pitchFamily="34" charset="0"/>
              </a:rPr>
              <a:t>6</a:t>
            </a:r>
            <a:r>
              <a:rPr lang="zh-CN" altLang="en-US" smtClean="0">
                <a:latin typeface="Arial" panose="020B0604020202020204" pitchFamily="34" charset="0"/>
              </a:rPr>
              <a:t>章，自学。</a:t>
            </a:r>
          </a:p>
        </p:txBody>
      </p:sp>
    </p:spTree>
    <p:extLst>
      <p:ext uri="{BB962C8B-B14F-4D97-AF65-F5344CB8AC3E}">
        <p14:creationId xmlns:p14="http://schemas.microsoft.com/office/powerpoint/2010/main" val="201935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185E943B-FF21-4596-8123-EDD64AABAF44}" type="slidenum">
              <a:rPr lang="en-US" altLang="zh-CN" sz="1200">
                <a:latin typeface="Arial" pitchFamily="34" charset="0"/>
                <a:ea typeface="宋体" pitchFamily="2" charset="-122"/>
              </a:rPr>
              <a:pPr algn="r" eaLnBrk="1" hangingPunct="1"/>
              <a:t>11</a:t>
            </a:fld>
            <a:endParaRPr lang="en-US" altLang="zh-CN" sz="1200">
              <a:latin typeface="Arial" pitchFamily="34" charset="0"/>
              <a:ea typeface="宋体" pitchFamily="2" charset="-122"/>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3917498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2B99B72A-DC29-4B4C-9C76-47A7E5D1298B}" type="slidenum">
              <a:rPr lang="en-US" altLang="zh-CN" sz="1200">
                <a:latin typeface="Arial" pitchFamily="34" charset="0"/>
                <a:ea typeface="宋体" pitchFamily="2" charset="-122"/>
              </a:rPr>
              <a:pPr algn="r" eaLnBrk="1" hangingPunct="1"/>
              <a:t>12</a:t>
            </a:fld>
            <a:endParaRPr lang="en-US" altLang="zh-CN" sz="1200">
              <a:latin typeface="Arial" pitchFamily="34" charset="0"/>
              <a:ea typeface="宋体" pitchFamily="2" charset="-122"/>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331921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5A095188-ED0F-4124-B048-C2906527F4E8}" type="slidenum">
              <a:rPr lang="en-US" altLang="zh-CN" sz="1200">
                <a:latin typeface="Arial" pitchFamily="34" charset="0"/>
                <a:ea typeface="宋体" pitchFamily="2" charset="-122"/>
              </a:rPr>
              <a:pPr algn="r" eaLnBrk="1" hangingPunct="1"/>
              <a:t>13</a:t>
            </a:fld>
            <a:endParaRPr lang="en-US" altLang="zh-CN" sz="1200">
              <a:latin typeface="Arial" pitchFamily="34" charset="0"/>
              <a:ea typeface="宋体" pitchFamily="2" charset="-122"/>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3274092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DAF0D02D-A566-44F2-996E-A11B6C610CAE}" type="slidenum">
              <a:rPr lang="en-US" altLang="zh-CN" sz="1200">
                <a:latin typeface="Arial" pitchFamily="34" charset="0"/>
                <a:ea typeface="宋体" pitchFamily="2" charset="-122"/>
              </a:rPr>
              <a:pPr algn="r" eaLnBrk="1" hangingPunct="1"/>
              <a:t>14</a:t>
            </a:fld>
            <a:endParaRPr lang="en-US" altLang="zh-CN" sz="1200">
              <a:latin typeface="Arial" pitchFamily="34" charset="0"/>
              <a:ea typeface="宋体" pitchFamily="2" charset="-122"/>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572848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5CDED778-A5E4-4AFA-8974-D2029FBDF349}" type="slidenum">
              <a:rPr lang="en-US" altLang="zh-CN" sz="1200">
                <a:latin typeface="Arial" pitchFamily="34" charset="0"/>
                <a:ea typeface="宋体" pitchFamily="2" charset="-122"/>
              </a:rPr>
              <a:pPr algn="r" eaLnBrk="1" hangingPunct="1"/>
              <a:t>15</a:t>
            </a:fld>
            <a:endParaRPr lang="en-US" altLang="zh-CN" sz="1200">
              <a:latin typeface="Arial" pitchFamily="34" charset="0"/>
              <a:ea typeface="宋体" pitchFamily="2" charset="-122"/>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3817792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2B42F1C8-B3FD-4BED-A8F2-A2A8CAD36C04}" type="slidenum">
              <a:rPr lang="en-US" altLang="zh-CN" sz="1200">
                <a:latin typeface="Arial" pitchFamily="34" charset="0"/>
                <a:ea typeface="宋体" pitchFamily="2" charset="-122"/>
              </a:rPr>
              <a:pPr algn="r" eaLnBrk="1" hangingPunct="1"/>
              <a:t>16</a:t>
            </a:fld>
            <a:endParaRPr lang="en-US" altLang="zh-CN" sz="1200">
              <a:latin typeface="Arial" pitchFamily="34" charset="0"/>
              <a:ea typeface="宋体" pitchFamily="2" charset="-122"/>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2709858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CBB7F542-2431-4C09-AF41-BCF30730435B}" type="slidenum">
              <a:rPr lang="en-US" altLang="zh-CN" sz="1200">
                <a:latin typeface="Arial" pitchFamily="34" charset="0"/>
                <a:ea typeface="宋体" pitchFamily="2" charset="-122"/>
              </a:rPr>
              <a:pPr algn="r" eaLnBrk="1" hangingPunct="1"/>
              <a:t>17</a:t>
            </a:fld>
            <a:endParaRPr lang="en-US" altLang="zh-CN" sz="1200">
              <a:latin typeface="Arial" pitchFamily="34" charset="0"/>
              <a:ea typeface="宋体" pitchFamily="2" charset="-122"/>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1020936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3C61C97-9686-409C-9D98-BC188FF6CB5B}" type="slidenum">
              <a:rPr lang="en-US" altLang="zh-CN" sz="1200">
                <a:latin typeface="Arial" pitchFamily="34" charset="0"/>
                <a:ea typeface="宋体" pitchFamily="2" charset="-122"/>
              </a:rPr>
              <a:pPr algn="r" eaLnBrk="1" hangingPunct="1"/>
              <a:t>18</a:t>
            </a:fld>
            <a:endParaRPr lang="en-US" altLang="zh-CN" sz="1200">
              <a:latin typeface="Arial" pitchFamily="34" charset="0"/>
              <a:ea typeface="宋体" pitchFamily="2" charset="-122"/>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435990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A8A8307F-B187-4510-A014-EC412DCA98CB}" type="slidenum">
              <a:rPr lang="en-US" altLang="zh-CN" sz="1200">
                <a:latin typeface="Arial" pitchFamily="34" charset="0"/>
                <a:ea typeface="宋体" pitchFamily="2" charset="-122"/>
              </a:rPr>
              <a:pPr algn="r" eaLnBrk="1" hangingPunct="1"/>
              <a:t>19</a:t>
            </a:fld>
            <a:endParaRPr lang="en-US" altLang="zh-CN" sz="1200">
              <a:latin typeface="Arial" pitchFamily="34" charset="0"/>
              <a:ea typeface="宋体" pitchFamily="2" charset="-122"/>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2763781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99FF53ED-8A3E-40EF-8535-80F5C67382F4}" type="slidenum">
              <a:rPr lang="en-US" altLang="zh-CN" sz="1200" b="0">
                <a:latin typeface="Arial" panose="020B0604020202020204" pitchFamily="34" charset="0"/>
              </a:rPr>
              <a:pPr eaLnBrk="1" hangingPunct="1"/>
              <a:t>20</a:t>
            </a:fld>
            <a:endParaRPr lang="en-US" altLang="zh-CN" sz="1200" b="0">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always</a:t>
            </a:r>
            <a:r>
              <a:rPr lang="zh-CN" altLang="en-US" smtClean="0">
                <a:latin typeface="Arial" panose="020B0604020202020204" pitchFamily="34" charset="0"/>
              </a:rPr>
              <a:t>语句的关键词意义在于区别</a:t>
            </a:r>
            <a:r>
              <a:rPr lang="en-US" altLang="zh-CN" smtClean="0">
                <a:latin typeface="Arial" panose="020B0604020202020204" pitchFamily="34" charset="0"/>
              </a:rPr>
              <a:t>initial</a:t>
            </a:r>
            <a:r>
              <a:rPr lang="zh-CN" altLang="en-US" smtClean="0">
                <a:latin typeface="Arial" panose="020B0604020202020204" pitchFamily="34" charset="0"/>
              </a:rPr>
              <a:t>语句，前者只要满足激活条件就总是执行，而后者只在仿真开始执行一次。</a:t>
            </a:r>
          </a:p>
        </p:txBody>
      </p:sp>
    </p:spTree>
    <p:extLst>
      <p:ext uri="{BB962C8B-B14F-4D97-AF65-F5344CB8AC3E}">
        <p14:creationId xmlns:p14="http://schemas.microsoft.com/office/powerpoint/2010/main" val="463174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BE4CD4BB-E200-4FDD-BC87-6810539B6C0B}" type="slidenum">
              <a:rPr lang="en-US" altLang="zh-CN" sz="1200">
                <a:latin typeface="Arial" pitchFamily="34" charset="0"/>
                <a:ea typeface="宋体" pitchFamily="2" charset="-122"/>
              </a:rPr>
              <a:pPr algn="r" eaLnBrk="1" hangingPunct="1"/>
              <a:t>22</a:t>
            </a:fld>
            <a:endParaRPr lang="en-US" altLang="zh-CN" sz="1200">
              <a:latin typeface="Arial" pitchFamily="34" charset="0"/>
              <a:ea typeface="宋体" pitchFamily="2" charset="-122"/>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2562947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9E4522B6-2737-4E3D-B9DE-1748FFE06D56}" type="slidenum">
              <a:rPr lang="en-US" altLang="zh-CN" sz="1200">
                <a:latin typeface="Arial" pitchFamily="34" charset="0"/>
                <a:ea typeface="宋体" pitchFamily="2" charset="-122"/>
              </a:rPr>
              <a:pPr algn="r" eaLnBrk="1" hangingPunct="1"/>
              <a:t>23</a:t>
            </a:fld>
            <a:endParaRPr lang="en-US" altLang="zh-CN" sz="1200">
              <a:latin typeface="Arial" pitchFamily="34" charset="0"/>
              <a:ea typeface="宋体" pitchFamily="2" charset="-122"/>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1934851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D182A6D8-0871-4DEE-AE5B-218769D621D7}" type="slidenum">
              <a:rPr lang="en-US" altLang="zh-CN" sz="1200">
                <a:latin typeface="Arial" pitchFamily="34" charset="0"/>
                <a:ea typeface="宋体" pitchFamily="2" charset="-122"/>
              </a:rPr>
              <a:pPr algn="r" eaLnBrk="1" hangingPunct="1"/>
              <a:t>24</a:t>
            </a:fld>
            <a:endParaRPr lang="en-US" altLang="zh-CN" sz="1200">
              <a:latin typeface="Arial" pitchFamily="34" charset="0"/>
              <a:ea typeface="宋体" pitchFamily="2" charset="-122"/>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494508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4F9348FC-A822-4030-8F3B-4B3257A38A77}" type="slidenum">
              <a:rPr lang="en-US" altLang="zh-CN" sz="1200" b="0">
                <a:latin typeface="Arial" panose="020B0604020202020204" pitchFamily="34" charset="0"/>
              </a:rPr>
              <a:pPr eaLnBrk="1" hangingPunct="1"/>
              <a:t>26</a:t>
            </a:fld>
            <a:endParaRPr lang="en-US" altLang="zh-CN" sz="1200" b="0">
              <a:latin typeface="Arial" panose="020B0604020202020204"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如果用</a:t>
            </a:r>
            <a:r>
              <a:rPr lang="en-US" altLang="zh-CN" smtClean="0">
                <a:latin typeface="Arial" panose="020B0604020202020204" pitchFamily="34" charset="0"/>
              </a:rPr>
              <a:t>assign</a:t>
            </a:r>
            <a:r>
              <a:rPr lang="zh-CN" altLang="en-US" smtClean="0">
                <a:latin typeface="Arial" panose="020B0604020202020204" pitchFamily="34" charset="0"/>
              </a:rPr>
              <a:t>语句描述时序电路，需要在门级描述层次上描述。</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如果复位信号下降沿到来，则激活过程块，且直接清零。</a:t>
            </a:r>
          </a:p>
          <a:p>
            <a:pPr eaLnBrk="1" hangingPunct="1"/>
            <a:r>
              <a:rPr lang="zh-CN" altLang="en-US" smtClean="0">
                <a:latin typeface="Arial" panose="020B0604020202020204" pitchFamily="34" charset="0"/>
              </a:rPr>
              <a:t>如果时钟上升沿到来，则激活过程块，此时如果复位信号不为零，则执行下面的语句，如果使能信号有效，则</a:t>
            </a:r>
            <a:r>
              <a:rPr lang="en-US" altLang="zh-CN" smtClean="0">
                <a:latin typeface="Arial" panose="020B0604020202020204" pitchFamily="34" charset="0"/>
              </a:rPr>
              <a:t>Q=D</a:t>
            </a:r>
            <a:r>
              <a:rPr lang="zh-CN" altLang="en-US" smtClean="0">
                <a:latin typeface="Arial" panose="020B0604020202020204" pitchFamily="34" charset="0"/>
              </a:rPr>
              <a:t>，否则保持；如果</a:t>
            </a:r>
            <a:r>
              <a:rPr lang="en-US" altLang="zh-CN" smtClean="0">
                <a:latin typeface="Arial" panose="020B0604020202020204" pitchFamily="34" charset="0"/>
              </a:rPr>
              <a:t>RST</a:t>
            </a:r>
            <a:r>
              <a:rPr lang="zh-CN" altLang="en-US" smtClean="0">
                <a:latin typeface="Arial" panose="020B0604020202020204" pitchFamily="34" charset="0"/>
              </a:rPr>
              <a:t>为</a:t>
            </a:r>
            <a:r>
              <a:rPr lang="en-US" altLang="zh-CN" smtClean="0">
                <a:latin typeface="Arial" panose="020B0604020202020204" pitchFamily="34" charset="0"/>
              </a:rPr>
              <a:t>0</a:t>
            </a:r>
            <a:r>
              <a:rPr lang="zh-CN" altLang="en-US" smtClean="0">
                <a:latin typeface="Arial" panose="020B0604020202020204" pitchFamily="34" charset="0"/>
              </a:rPr>
              <a:t>，则</a:t>
            </a:r>
            <a:r>
              <a:rPr lang="en-US" altLang="zh-CN" smtClean="0">
                <a:latin typeface="Arial" panose="020B0604020202020204" pitchFamily="34" charset="0"/>
              </a:rPr>
              <a:t>Q</a:t>
            </a:r>
            <a:r>
              <a:rPr lang="zh-CN" altLang="en-US" smtClean="0">
                <a:latin typeface="Arial" panose="020B0604020202020204" pitchFamily="34" charset="0"/>
              </a:rPr>
              <a:t>仍保持为</a:t>
            </a:r>
            <a:r>
              <a:rPr lang="en-US" altLang="zh-CN" smtClean="0">
                <a:latin typeface="Arial" panose="020B0604020202020204" pitchFamily="34" charset="0"/>
              </a:rPr>
              <a:t>0</a:t>
            </a:r>
            <a:r>
              <a:rPr lang="zh-CN" altLang="en-US" smtClean="0">
                <a:latin typeface="Arial" panose="020B0604020202020204" pitchFamily="34" charset="0"/>
              </a:rPr>
              <a:t>；</a:t>
            </a:r>
            <a:endParaRPr lang="en-US" altLang="zh-CN" smtClean="0">
              <a:latin typeface="Arial" panose="020B0604020202020204" pitchFamily="34" charset="0"/>
            </a:endParaRPr>
          </a:p>
          <a:p>
            <a:pPr eaLnBrk="1" hangingPunct="1"/>
            <a:endParaRPr lang="zh-CN" altLang="en-US" smtClean="0">
              <a:latin typeface="Arial" panose="020B0604020202020204" pitchFamily="34" charset="0"/>
            </a:endParaRPr>
          </a:p>
        </p:txBody>
      </p:sp>
    </p:spTree>
    <p:extLst>
      <p:ext uri="{BB962C8B-B14F-4D97-AF65-F5344CB8AC3E}">
        <p14:creationId xmlns:p14="http://schemas.microsoft.com/office/powerpoint/2010/main" val="555449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3F3CEB83-1282-478D-9D62-3154A83955AE}" type="slidenum">
              <a:rPr lang="en-US" altLang="zh-CN" sz="1200" b="0">
                <a:latin typeface="Arial" panose="020B0604020202020204" pitchFamily="34" charset="0"/>
              </a:rPr>
              <a:pPr eaLnBrk="1" hangingPunct="1"/>
              <a:t>27</a:t>
            </a:fld>
            <a:endParaRPr lang="en-US" altLang="zh-CN" sz="1200" b="0">
              <a:latin typeface="Arial" panose="020B060402020202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anose="020B0604020202020204" pitchFamily="34" charset="0"/>
              </a:rPr>
              <a:t>Begin end</a:t>
            </a:r>
            <a:r>
              <a:rPr lang="zh-CN" altLang="en-US" smtClean="0">
                <a:latin typeface="Arial" panose="020B0604020202020204" pitchFamily="34" charset="0"/>
              </a:rPr>
              <a:t>类似</a:t>
            </a:r>
            <a:r>
              <a:rPr lang="en-US" altLang="zh-CN" smtClean="0">
                <a:latin typeface="Arial" panose="020B0604020202020204" pitchFamily="34" charset="0"/>
              </a:rPr>
              <a:t>C</a:t>
            </a:r>
            <a:r>
              <a:rPr lang="zh-CN" altLang="en-US" smtClean="0">
                <a:latin typeface="Arial" panose="020B0604020202020204" pitchFamily="34" charset="0"/>
              </a:rPr>
              <a:t>语言中的大括号。</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思考问题：在仿真时，</a:t>
            </a:r>
            <a:r>
              <a:rPr lang="en-US" altLang="zh-CN" smtClean="0">
                <a:latin typeface="Arial" panose="020B0604020202020204" pitchFamily="34" charset="0"/>
              </a:rPr>
              <a:t>begin</a:t>
            </a:r>
            <a:r>
              <a:rPr lang="zh-CN" altLang="en-US" smtClean="0">
                <a:latin typeface="Arial" panose="020B0604020202020204" pitchFamily="34" charset="0"/>
              </a:rPr>
              <a:t>和</a:t>
            </a:r>
            <a:r>
              <a:rPr lang="en-US" altLang="zh-CN" smtClean="0">
                <a:latin typeface="Arial" panose="020B0604020202020204" pitchFamily="34" charset="0"/>
              </a:rPr>
              <a:t>end</a:t>
            </a:r>
            <a:r>
              <a:rPr lang="zh-CN" altLang="en-US" smtClean="0">
                <a:latin typeface="Arial" panose="020B0604020202020204" pitchFamily="34" charset="0"/>
              </a:rPr>
              <a:t>之间的语句执行顺序如何？</a:t>
            </a:r>
          </a:p>
        </p:txBody>
      </p:sp>
    </p:spTree>
    <p:extLst>
      <p:ext uri="{BB962C8B-B14F-4D97-AF65-F5344CB8AC3E}">
        <p14:creationId xmlns:p14="http://schemas.microsoft.com/office/powerpoint/2010/main" val="2783588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E198E9D7-9E8A-4AEC-9506-2637128D5182}" type="slidenum">
              <a:rPr lang="en-US" altLang="zh-CN" sz="1200" b="0">
                <a:latin typeface="Arial" panose="020B0604020202020204" pitchFamily="34" charset="0"/>
              </a:rPr>
              <a:pPr eaLnBrk="1" hangingPunct="1"/>
              <a:t>28</a:t>
            </a:fld>
            <a:endParaRPr lang="en-US" altLang="zh-CN" sz="1200" b="0">
              <a:latin typeface="Arial" panose="020B0604020202020204" pitchFamily="3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所谓执行是指仿真时</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这是对阻塞和非阻塞的基本理解，全面的理解是：</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阻塞赋值：过程块激活后，按从上到下顺序进行计算赋值，一条不结束不会执行下一条；</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非阻塞赋值：过程块激活后，保存旧值，按从上到下顺序进行计算，但不进行赋值，需要等到整个</a:t>
            </a:r>
            <a:r>
              <a:rPr lang="en-US" altLang="zh-CN" smtClean="0">
                <a:latin typeface="Arial" panose="020B0604020202020204" pitchFamily="34" charset="0"/>
              </a:rPr>
              <a:t>always</a:t>
            </a:r>
            <a:r>
              <a:rPr lang="zh-CN" altLang="en-US" smtClean="0">
                <a:latin typeface="Arial" panose="020B0604020202020204" pitchFamily="34" charset="0"/>
              </a:rPr>
              <a:t>语句结束时再进行赋值（按从上到下顺序）</a:t>
            </a:r>
          </a:p>
        </p:txBody>
      </p:sp>
    </p:spTree>
    <p:extLst>
      <p:ext uri="{BB962C8B-B14F-4D97-AF65-F5344CB8AC3E}">
        <p14:creationId xmlns:p14="http://schemas.microsoft.com/office/powerpoint/2010/main" val="2340242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E198E9D7-9E8A-4AEC-9506-2637128D5182}" type="slidenum">
              <a:rPr lang="en-US" altLang="zh-CN" sz="1200" b="0">
                <a:latin typeface="Arial" panose="020B0604020202020204" pitchFamily="34" charset="0"/>
              </a:rPr>
              <a:pPr eaLnBrk="1" hangingPunct="1"/>
              <a:t>29</a:t>
            </a:fld>
            <a:endParaRPr lang="en-US" altLang="zh-CN" sz="1200" b="0">
              <a:latin typeface="Arial" panose="020B0604020202020204" pitchFamily="3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所谓执行是指仿真时</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这是对阻塞和非阻塞的基本理解，全面的理解是：</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阻塞赋值：过程块激活后，按从上到下顺序进行计算赋值，一条不结束不会执行下一条；</a:t>
            </a:r>
            <a:endParaRPr lang="en-US" altLang="zh-CN" smtClean="0">
              <a:latin typeface="Arial" panose="020B0604020202020204" pitchFamily="34" charset="0"/>
            </a:endParaRPr>
          </a:p>
          <a:p>
            <a:pPr eaLnBrk="1" hangingPunct="1"/>
            <a:r>
              <a:rPr lang="zh-CN" altLang="en-US" smtClean="0">
                <a:latin typeface="Arial" panose="020B0604020202020204" pitchFamily="34" charset="0"/>
              </a:rPr>
              <a:t>非阻塞赋值：过程块激活后，保存旧值，按从上到下顺序进行计算，但不进行赋值，需要等到整个</a:t>
            </a:r>
            <a:r>
              <a:rPr lang="en-US" altLang="zh-CN" smtClean="0">
                <a:latin typeface="Arial" panose="020B0604020202020204" pitchFamily="34" charset="0"/>
              </a:rPr>
              <a:t>always</a:t>
            </a:r>
            <a:r>
              <a:rPr lang="zh-CN" altLang="en-US" smtClean="0">
                <a:latin typeface="Arial" panose="020B0604020202020204" pitchFamily="34" charset="0"/>
              </a:rPr>
              <a:t>语句结束时再进行赋值（按从上到下顺序）</a:t>
            </a:r>
          </a:p>
        </p:txBody>
      </p:sp>
    </p:spTree>
    <p:extLst>
      <p:ext uri="{BB962C8B-B14F-4D97-AF65-F5344CB8AC3E}">
        <p14:creationId xmlns:p14="http://schemas.microsoft.com/office/powerpoint/2010/main" val="3557814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B66E749F-5824-4D66-A40E-35BA4C667BC8}" type="slidenum">
              <a:rPr lang="en-US" altLang="zh-CN" sz="1200">
                <a:latin typeface="Arial" pitchFamily="34" charset="0"/>
                <a:ea typeface="宋体" pitchFamily="2" charset="-122"/>
              </a:rPr>
              <a:pPr algn="r" eaLnBrk="1" hangingPunct="1"/>
              <a:t>30</a:t>
            </a:fld>
            <a:endParaRPr lang="en-US" altLang="zh-CN" sz="1200">
              <a:latin typeface="Arial" pitchFamily="34" charset="0"/>
              <a:ea typeface="宋体" pitchFamily="2" charset="-122"/>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p:spPr>
        <p:txBody>
          <a:bodyPr/>
          <a:lstStyle/>
          <a:p>
            <a:pPr eaLnBrk="1" hangingPunct="1">
              <a:lnSpc>
                <a:spcPct val="90000"/>
              </a:lnSpc>
            </a:pPr>
            <a:r>
              <a:rPr lang="zh-CN" altLang="en-US" sz="1600" b="1" smtClean="0">
                <a:solidFill>
                  <a:srgbClr val="5F1525"/>
                </a:solidFill>
                <a:latin typeface="Arial" pitchFamily="34" charset="0"/>
              </a:rPr>
              <a:t>例</a:t>
            </a:r>
            <a:r>
              <a:rPr lang="en-US" altLang="zh-CN" sz="1600" b="1" smtClean="0">
                <a:solidFill>
                  <a:srgbClr val="5F1525"/>
                </a:solidFill>
                <a:latin typeface="Arial" pitchFamily="34" charset="0"/>
              </a:rPr>
              <a:t>a*b</a:t>
            </a:r>
            <a:r>
              <a:rPr lang="zh-CN" altLang="en-US" sz="1600" b="1" smtClean="0">
                <a:solidFill>
                  <a:srgbClr val="5F1525"/>
                </a:solidFill>
                <a:latin typeface="Arial" pitchFamily="34" charset="0"/>
              </a:rPr>
              <a:t>原值为</a:t>
            </a:r>
            <a:r>
              <a:rPr lang="en-US" altLang="zh-CN" sz="1600" b="1" smtClean="0">
                <a:solidFill>
                  <a:srgbClr val="5F1525"/>
                </a:solidFill>
                <a:latin typeface="Arial" pitchFamily="34" charset="0"/>
              </a:rPr>
              <a:t>4</a:t>
            </a:r>
            <a:r>
              <a:rPr lang="zh-CN" altLang="en-US" sz="1600" b="1" smtClean="0">
                <a:solidFill>
                  <a:srgbClr val="5F1525"/>
                </a:solidFill>
                <a:latin typeface="Arial" pitchFamily="34" charset="0"/>
              </a:rPr>
              <a:t>，</a:t>
            </a:r>
            <a:r>
              <a:rPr lang="en-US" altLang="zh-CN" sz="1600" b="1" smtClean="0">
                <a:solidFill>
                  <a:srgbClr val="5F1525"/>
                </a:solidFill>
                <a:latin typeface="Arial" pitchFamily="34" charset="0"/>
              </a:rPr>
              <a:t>m=4</a:t>
            </a:r>
            <a:r>
              <a:rPr lang="zh-CN" altLang="en-US" sz="1600" b="1" smtClean="0">
                <a:solidFill>
                  <a:srgbClr val="5F1525"/>
                </a:solidFill>
                <a:latin typeface="Arial" pitchFamily="34" charset="0"/>
              </a:rPr>
              <a:t>，某时刻</a:t>
            </a:r>
            <a:r>
              <a:rPr lang="en-US" altLang="zh-CN" sz="1600" b="1" smtClean="0">
                <a:solidFill>
                  <a:srgbClr val="5F1525"/>
                </a:solidFill>
                <a:latin typeface="Arial" pitchFamily="34" charset="0"/>
              </a:rPr>
              <a:t>a*b</a:t>
            </a:r>
            <a:r>
              <a:rPr lang="zh-CN" altLang="en-US" sz="1600" b="1" smtClean="0">
                <a:solidFill>
                  <a:srgbClr val="5F1525"/>
                </a:solidFill>
                <a:latin typeface="Arial" pitchFamily="34" charset="0"/>
              </a:rPr>
              <a:t>变为</a:t>
            </a:r>
            <a:r>
              <a:rPr lang="en-US" altLang="zh-CN" sz="1600" b="1" smtClean="0">
                <a:solidFill>
                  <a:srgbClr val="5F1525"/>
                </a:solidFill>
                <a:latin typeface="Arial" pitchFamily="34" charset="0"/>
              </a:rPr>
              <a:t>6</a:t>
            </a:r>
            <a:r>
              <a:rPr lang="zh-CN" altLang="en-US" sz="1600" b="1" smtClean="0">
                <a:solidFill>
                  <a:srgbClr val="5F1525"/>
                </a:solidFill>
                <a:latin typeface="Arial" pitchFamily="34" charset="0"/>
              </a:rPr>
              <a:t>，则阻塞赋值结果</a:t>
            </a:r>
            <a:r>
              <a:rPr lang="en-US" altLang="zh-CN" sz="1600" b="1" smtClean="0">
                <a:solidFill>
                  <a:srgbClr val="5F1525"/>
                </a:solidFill>
                <a:latin typeface="Arial" pitchFamily="34" charset="0"/>
              </a:rPr>
              <a:t>y=6</a:t>
            </a:r>
            <a:r>
              <a:rPr lang="zh-CN" altLang="en-US" sz="1600" b="1" smtClean="0">
                <a:solidFill>
                  <a:srgbClr val="5F1525"/>
                </a:solidFill>
                <a:latin typeface="Arial" pitchFamily="34" charset="0"/>
              </a:rPr>
              <a:t>；非阻塞赋值结果</a:t>
            </a:r>
            <a:r>
              <a:rPr lang="en-US" altLang="zh-CN" sz="1600" b="1" smtClean="0">
                <a:solidFill>
                  <a:srgbClr val="5F1525"/>
                </a:solidFill>
                <a:latin typeface="Arial" pitchFamily="34" charset="0"/>
              </a:rPr>
              <a:t>y=4</a:t>
            </a:r>
            <a:r>
              <a:rPr lang="zh-CN" altLang="en-US" sz="1600" b="1" smtClean="0">
                <a:solidFill>
                  <a:srgbClr val="5F1525"/>
                </a:solidFill>
                <a:latin typeface="Arial" pitchFamily="34" charset="0"/>
              </a:rPr>
              <a:t>。</a:t>
            </a:r>
          </a:p>
        </p:txBody>
      </p:sp>
    </p:spTree>
    <p:extLst>
      <p:ext uri="{BB962C8B-B14F-4D97-AF65-F5344CB8AC3E}">
        <p14:creationId xmlns:p14="http://schemas.microsoft.com/office/powerpoint/2010/main" val="30776896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0657AB58-72C0-4830-A3D5-E8FB8009B717}" type="slidenum">
              <a:rPr lang="en-US" altLang="zh-CN" sz="1200">
                <a:latin typeface="Arial" pitchFamily="34" charset="0"/>
                <a:ea typeface="宋体" pitchFamily="2" charset="-122"/>
              </a:rPr>
              <a:pPr algn="r" eaLnBrk="1" hangingPunct="1"/>
              <a:t>31</a:t>
            </a:fld>
            <a:endParaRPr lang="en-US" altLang="zh-CN" sz="1200">
              <a:latin typeface="Arial" pitchFamily="34" charset="0"/>
              <a:ea typeface="宋体" pitchFamily="2" charset="-122"/>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p:spPr>
        <p:txBody>
          <a:bodyPr/>
          <a:lstStyle/>
          <a:p>
            <a:pPr eaLnBrk="1" hangingPunct="1"/>
            <a:r>
              <a:rPr lang="zh-CN" altLang="en-US" sz="1600" b="1" dirty="0" smtClean="0">
                <a:solidFill>
                  <a:srgbClr val="5F1525"/>
                </a:solidFill>
                <a:latin typeface="Arial" pitchFamily="34" charset="0"/>
              </a:rPr>
              <a:t>这一部分举第</a:t>
            </a:r>
            <a:r>
              <a:rPr lang="en-US" altLang="zh-CN" sz="1600" b="1" dirty="0" smtClean="0">
                <a:solidFill>
                  <a:srgbClr val="5F1525"/>
                </a:solidFill>
                <a:latin typeface="Arial" pitchFamily="34" charset="0"/>
              </a:rPr>
              <a:t>8</a:t>
            </a:r>
            <a:r>
              <a:rPr lang="zh-CN" altLang="en-US" sz="1600" b="1" dirty="0" smtClean="0">
                <a:solidFill>
                  <a:srgbClr val="5F1525"/>
                </a:solidFill>
                <a:latin typeface="Arial" pitchFamily="34" charset="0"/>
              </a:rPr>
              <a:t>章例子最好，以便学生使用教材。例</a:t>
            </a:r>
            <a:r>
              <a:rPr lang="en-US" altLang="zh-CN" sz="1600" b="1" dirty="0" smtClean="0">
                <a:solidFill>
                  <a:srgbClr val="5F1525"/>
                </a:solidFill>
                <a:latin typeface="Arial" pitchFamily="34" charset="0"/>
              </a:rPr>
              <a:t>8-3~</a:t>
            </a:r>
            <a:r>
              <a:rPr lang="zh-CN" altLang="en-US" sz="1600" b="1" dirty="0" smtClean="0">
                <a:solidFill>
                  <a:srgbClr val="5F1525"/>
                </a:solidFill>
                <a:latin typeface="Arial" pitchFamily="34" charset="0"/>
              </a:rPr>
              <a:t>例</a:t>
            </a:r>
            <a:r>
              <a:rPr lang="en-US" altLang="zh-CN" sz="1600" b="1" dirty="0" smtClean="0">
                <a:solidFill>
                  <a:srgbClr val="5F1525"/>
                </a:solidFill>
                <a:latin typeface="Arial" pitchFamily="34" charset="0"/>
              </a:rPr>
              <a:t>8-7</a:t>
            </a:r>
            <a:r>
              <a:rPr lang="zh-CN" altLang="en-US" sz="1600" b="1" dirty="0" smtClean="0">
                <a:solidFill>
                  <a:srgbClr val="5F1525"/>
                </a:solidFill>
                <a:latin typeface="Arial" pitchFamily="34" charset="0"/>
              </a:rPr>
              <a:t>。</a:t>
            </a:r>
          </a:p>
        </p:txBody>
      </p:sp>
    </p:spTree>
    <p:extLst>
      <p:ext uri="{BB962C8B-B14F-4D97-AF65-F5344CB8AC3E}">
        <p14:creationId xmlns:p14="http://schemas.microsoft.com/office/powerpoint/2010/main" val="1390174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AB536AD6-D3A0-42FF-BDD4-C94C1EC07562}" type="slidenum">
              <a:rPr lang="en-US" altLang="zh-CN" sz="1200">
                <a:latin typeface="Arial" pitchFamily="34" charset="0"/>
                <a:ea typeface="宋体" pitchFamily="2" charset="-122"/>
              </a:rPr>
              <a:pPr algn="r" eaLnBrk="1" hangingPunct="1"/>
              <a:t>32</a:t>
            </a:fld>
            <a:endParaRPr lang="en-US" altLang="zh-CN" sz="1200">
              <a:latin typeface="Arial" pitchFamily="34" charset="0"/>
              <a:ea typeface="宋体" pitchFamily="2" charset="-122"/>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20073170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39B978E6-EBBC-4AF6-B20F-AA53582FDA9B}" type="slidenum">
              <a:rPr lang="en-US" altLang="zh-CN" sz="1200" b="0">
                <a:latin typeface="Arial" panose="020B0604020202020204" pitchFamily="34" charset="0"/>
              </a:rPr>
              <a:pPr eaLnBrk="1" hangingPunct="1"/>
              <a:t>33</a:t>
            </a:fld>
            <a:endParaRPr lang="en-US" altLang="zh-CN" sz="1200" b="0">
              <a:latin typeface="Arial" panose="020B0604020202020204"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综合举例</a:t>
            </a:r>
          </a:p>
        </p:txBody>
      </p:sp>
    </p:spTree>
    <p:extLst>
      <p:ext uri="{BB962C8B-B14F-4D97-AF65-F5344CB8AC3E}">
        <p14:creationId xmlns:p14="http://schemas.microsoft.com/office/powerpoint/2010/main" val="40785566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采用顺序法，需要知道底层模块的端口信号列表顺序，从底层模块的模块说明部分可得知。</a:t>
            </a:r>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5225F7B7-D934-47FE-A02D-8E090ED7A78E}" type="slidenum">
              <a:rPr lang="en-US" altLang="zh-CN" sz="1200" b="0">
                <a:latin typeface="Arial" panose="020B0604020202020204" pitchFamily="34" charset="0"/>
              </a:rPr>
              <a:pPr eaLnBrk="1" hangingPunct="1"/>
              <a:t>36</a:t>
            </a:fld>
            <a:endParaRPr lang="en-US" altLang="zh-CN" sz="1200" b="0">
              <a:latin typeface="Arial" panose="020B0604020202020204" pitchFamily="34" charset="0"/>
            </a:endParaRPr>
          </a:p>
        </p:txBody>
      </p:sp>
    </p:spTree>
    <p:extLst>
      <p:ext uri="{BB962C8B-B14F-4D97-AF65-F5344CB8AC3E}">
        <p14:creationId xmlns:p14="http://schemas.microsoft.com/office/powerpoint/2010/main" val="11945151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D6BE900B-7072-4A3E-805D-796C66D8AA53}" type="slidenum">
              <a:rPr lang="en-US" altLang="zh-CN" sz="1200" b="0">
                <a:latin typeface="Arial" panose="020B0604020202020204" pitchFamily="34" charset="0"/>
              </a:rPr>
              <a:pPr eaLnBrk="1" hangingPunct="1"/>
              <a:t>37</a:t>
            </a:fld>
            <a:endParaRPr lang="en-US" altLang="zh-CN" sz="1200" b="0">
              <a:latin typeface="Arial" panose="020B0604020202020204" pitchFamily="34"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关于基本逻辑门，详见第</a:t>
            </a:r>
            <a:r>
              <a:rPr lang="en-US" altLang="zh-CN" smtClean="0">
                <a:latin typeface="Arial" panose="020B0604020202020204" pitchFamily="34" charset="0"/>
              </a:rPr>
              <a:t>5</a:t>
            </a:r>
            <a:r>
              <a:rPr lang="zh-CN" altLang="en-US" smtClean="0">
                <a:latin typeface="Arial" panose="020B0604020202020204" pitchFamily="34" charset="0"/>
              </a:rPr>
              <a:t>章，自学。</a:t>
            </a:r>
          </a:p>
        </p:txBody>
      </p:sp>
    </p:spTree>
    <p:extLst>
      <p:ext uri="{BB962C8B-B14F-4D97-AF65-F5344CB8AC3E}">
        <p14:creationId xmlns:p14="http://schemas.microsoft.com/office/powerpoint/2010/main" val="3004540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88235667-A120-4601-ABE4-45FB5D1B858B}" type="slidenum">
              <a:rPr lang="en-US" altLang="zh-CN" sz="1200" b="0">
                <a:latin typeface="Arial" panose="020B0604020202020204" pitchFamily="34" charset="0"/>
              </a:rPr>
              <a:pPr eaLnBrk="1" hangingPunct="1"/>
              <a:t>40</a:t>
            </a:fld>
            <a:endParaRPr lang="en-US" altLang="zh-CN" sz="1200" b="0">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latin typeface="Arial" panose="020B0604020202020204" pitchFamily="34" charset="0"/>
            </a:endParaRPr>
          </a:p>
        </p:txBody>
      </p:sp>
    </p:spTree>
    <p:extLst>
      <p:ext uri="{BB962C8B-B14F-4D97-AF65-F5344CB8AC3E}">
        <p14:creationId xmlns:p14="http://schemas.microsoft.com/office/powerpoint/2010/main" val="26659885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7055F11E-50D3-4BA2-AD68-BC06F8C2E7EE}" type="slidenum">
              <a:rPr lang="en-US" altLang="zh-CN" sz="1200">
                <a:latin typeface="Arial" pitchFamily="34" charset="0"/>
                <a:ea typeface="宋体" pitchFamily="2" charset="-122"/>
              </a:rPr>
              <a:pPr algn="r" eaLnBrk="1" hangingPunct="1"/>
              <a:t>41</a:t>
            </a:fld>
            <a:endParaRPr lang="en-US" altLang="zh-CN" sz="1200">
              <a:latin typeface="Arial" pitchFamily="34" charset="0"/>
              <a:ea typeface="宋体" pitchFamily="2" charset="-122"/>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37954044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7B9A1FB-F85E-4CF5-8BD7-C6601F1D2DD4}" type="slidenum">
              <a:rPr lang="en-US" altLang="zh-CN" sz="1200" b="0">
                <a:solidFill>
                  <a:srgbClr val="000000"/>
                </a:solidFill>
                <a:latin typeface="Arial" pitchFamily="34" charset="0"/>
              </a:rPr>
              <a:pPr algn="r"/>
              <a:t>42</a:t>
            </a:fld>
            <a:endParaRPr lang="en-US" altLang="zh-CN" sz="1200" b="0">
              <a:solidFill>
                <a:srgbClr val="000000"/>
              </a:solidFill>
              <a:latin typeface="Arial" pitchFamily="3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lnSpc>
                <a:spcPct val="90000"/>
              </a:lnSpc>
            </a:pPr>
            <a:r>
              <a:rPr lang="en-US" altLang="zh-CN" sz="1600" b="1" dirty="0" smtClean="0">
                <a:solidFill>
                  <a:srgbClr val="990100"/>
                </a:solidFill>
              </a:rPr>
              <a:t>inout</a:t>
            </a:r>
            <a:r>
              <a:rPr lang="zh-CN" altLang="en-US" sz="1600" b="1" dirty="0" smtClean="0">
                <a:solidFill>
                  <a:srgbClr val="000032"/>
                </a:solidFill>
              </a:rPr>
              <a:t>信号在</a:t>
            </a:r>
            <a:r>
              <a:rPr lang="en-US" altLang="zh-CN" sz="1600" b="1" dirty="0" err="1" smtClean="0">
                <a:solidFill>
                  <a:srgbClr val="000032"/>
                </a:solidFill>
              </a:rPr>
              <a:t>QuartusII</a:t>
            </a:r>
            <a:r>
              <a:rPr lang="zh-CN" altLang="en-US" sz="1600" b="1" dirty="0" smtClean="0">
                <a:solidFill>
                  <a:srgbClr val="000032"/>
                </a:solidFill>
              </a:rPr>
              <a:t>中也可以定义成</a:t>
            </a:r>
            <a:r>
              <a:rPr lang="en-US" altLang="zh-CN" sz="1600" b="1" dirty="0" err="1" smtClean="0">
                <a:solidFill>
                  <a:srgbClr val="000032"/>
                </a:solidFill>
              </a:rPr>
              <a:t>reg</a:t>
            </a:r>
            <a:r>
              <a:rPr lang="zh-CN" altLang="en-US" sz="1600" b="1" smtClean="0">
                <a:solidFill>
                  <a:srgbClr val="000032"/>
                </a:solidFill>
              </a:rPr>
              <a:t>型</a:t>
            </a:r>
            <a:r>
              <a:rPr lang="zh-CN" altLang="en-US" sz="1600" b="1" dirty="0" smtClean="0">
                <a:solidFill>
                  <a:srgbClr val="000032"/>
                </a:solidFill>
              </a:rPr>
              <a:t>的；</a:t>
            </a:r>
            <a:endParaRPr lang="zh-CN" altLang="en-US" sz="1600" b="1" dirty="0" smtClean="0">
              <a:solidFill>
                <a:srgbClr val="5F1525"/>
              </a:solidFill>
              <a:latin typeface="Arial" pitchFamily="34" charset="0"/>
            </a:endParaRPr>
          </a:p>
        </p:txBody>
      </p:sp>
    </p:spTree>
    <p:extLst>
      <p:ext uri="{BB962C8B-B14F-4D97-AF65-F5344CB8AC3E}">
        <p14:creationId xmlns:p14="http://schemas.microsoft.com/office/powerpoint/2010/main" val="635346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28A75B4-E59F-4929-AD97-568E9E58D7F1}" type="slidenum">
              <a:rPr lang="en-US" altLang="zh-CN" sz="1200" b="0">
                <a:solidFill>
                  <a:srgbClr val="000000"/>
                </a:solidFill>
                <a:latin typeface="Arial" pitchFamily="34" charset="0"/>
              </a:rPr>
              <a:pPr algn="r"/>
              <a:t>44</a:t>
            </a:fld>
            <a:endParaRPr lang="en-US" altLang="zh-CN" sz="1200" b="0">
              <a:solidFill>
                <a:srgbClr val="000000"/>
              </a:solidFill>
              <a:latin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10264032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28A75B4-E59F-4929-AD97-568E9E58D7F1}" type="slidenum">
              <a:rPr lang="en-US" altLang="zh-CN" sz="1200" b="0">
                <a:solidFill>
                  <a:srgbClr val="000000"/>
                </a:solidFill>
                <a:latin typeface="Arial" pitchFamily="34" charset="0"/>
              </a:rPr>
              <a:pPr algn="r"/>
              <a:t>45</a:t>
            </a:fld>
            <a:endParaRPr lang="en-US" altLang="zh-CN" sz="1200" b="0">
              <a:solidFill>
                <a:srgbClr val="000000"/>
              </a:solidFill>
              <a:latin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lnSpc>
                <a:spcPct val="90000"/>
              </a:lnSpc>
            </a:pPr>
            <a:endParaRPr lang="zh-CN" altLang="en-US" sz="1600" b="1" smtClean="0">
              <a:solidFill>
                <a:srgbClr val="5F1525"/>
              </a:solidFill>
              <a:latin typeface="Arial" pitchFamily="34" charset="0"/>
            </a:endParaRPr>
          </a:p>
        </p:txBody>
      </p:sp>
    </p:spTree>
    <p:extLst>
      <p:ext uri="{BB962C8B-B14F-4D97-AF65-F5344CB8AC3E}">
        <p14:creationId xmlns:p14="http://schemas.microsoft.com/office/powerpoint/2010/main" val="1388325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EDC11BB9-9E19-44EF-9ABC-232866983FBF}" type="slidenum">
              <a:rPr lang="en-US" altLang="zh-CN" sz="1200" b="0">
                <a:latin typeface="Arial" panose="020B0604020202020204" pitchFamily="34" charset="0"/>
              </a:rPr>
              <a:pPr eaLnBrk="1" hangingPunct="1"/>
              <a:t>46</a:t>
            </a:fld>
            <a:endParaRPr lang="en-US" altLang="zh-CN" sz="1200" b="0">
              <a:latin typeface="Arial" panose="020B060402020202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数字表示方法：无符号数的表示方法：</a:t>
            </a:r>
            <a:r>
              <a:rPr lang="en-US" altLang="zh-CN" smtClean="0">
                <a:latin typeface="Arial" panose="020B0604020202020204" pitchFamily="34" charset="0"/>
              </a:rPr>
              <a:t>&lt;</a:t>
            </a:r>
            <a:r>
              <a:rPr lang="zh-CN" altLang="en-US" smtClean="0">
                <a:latin typeface="Arial" panose="020B0604020202020204" pitchFamily="34" charset="0"/>
              </a:rPr>
              <a:t>位宽</a:t>
            </a:r>
            <a:r>
              <a:rPr lang="en-US" altLang="zh-CN" smtClean="0">
                <a:latin typeface="Arial" panose="020B0604020202020204" pitchFamily="34" charset="0"/>
              </a:rPr>
              <a:t>&gt;‘&lt;</a:t>
            </a:r>
            <a:r>
              <a:rPr lang="zh-CN" altLang="en-US" smtClean="0">
                <a:latin typeface="Arial" panose="020B0604020202020204" pitchFamily="34" charset="0"/>
              </a:rPr>
              <a:t>进制</a:t>
            </a:r>
            <a:r>
              <a:rPr lang="en-US" altLang="zh-CN" smtClean="0">
                <a:latin typeface="Arial" panose="020B0604020202020204" pitchFamily="34" charset="0"/>
              </a:rPr>
              <a:t>&gt;&lt;</a:t>
            </a:r>
            <a:r>
              <a:rPr lang="zh-CN" altLang="en-US" smtClean="0">
                <a:latin typeface="Arial" panose="020B0604020202020204" pitchFamily="34" charset="0"/>
              </a:rPr>
              <a:t>数字</a:t>
            </a:r>
            <a:r>
              <a:rPr lang="en-US" altLang="zh-CN" smtClean="0">
                <a:latin typeface="Arial" panose="020B0604020202020204" pitchFamily="34" charset="0"/>
              </a:rPr>
              <a:t>&gt;</a:t>
            </a:r>
            <a:r>
              <a:rPr lang="zh-CN" altLang="en-US" smtClean="0">
                <a:latin typeface="Arial" panose="020B0604020202020204" pitchFamily="34" charset="0"/>
              </a:rPr>
              <a:t>；有符号数的表示方法： </a:t>
            </a:r>
            <a:r>
              <a:rPr lang="en-US" altLang="zh-CN" smtClean="0">
                <a:latin typeface="Arial" panose="020B0604020202020204" pitchFamily="34" charset="0"/>
              </a:rPr>
              <a:t>&lt;</a:t>
            </a:r>
            <a:r>
              <a:rPr lang="zh-CN" altLang="en-US" smtClean="0">
                <a:latin typeface="Arial" panose="020B0604020202020204" pitchFamily="34" charset="0"/>
              </a:rPr>
              <a:t>位宽</a:t>
            </a:r>
            <a:r>
              <a:rPr lang="en-US" altLang="zh-CN" smtClean="0">
                <a:latin typeface="Arial" panose="020B0604020202020204" pitchFamily="34" charset="0"/>
              </a:rPr>
              <a:t>&gt;‘&lt;sb&gt;&lt;</a:t>
            </a:r>
            <a:r>
              <a:rPr lang="zh-CN" altLang="en-US" smtClean="0">
                <a:latin typeface="Arial" panose="020B0604020202020204" pitchFamily="34" charset="0"/>
              </a:rPr>
              <a:t>数字</a:t>
            </a:r>
            <a:r>
              <a:rPr lang="en-US" altLang="zh-CN" smtClean="0">
                <a:latin typeface="Arial" panose="020B0604020202020204" pitchFamily="34" charset="0"/>
              </a:rPr>
              <a:t>&gt;</a:t>
            </a:r>
            <a:r>
              <a:rPr lang="zh-CN" altLang="en-US" smtClean="0">
                <a:latin typeface="Arial" panose="020B0604020202020204" pitchFamily="34" charset="0"/>
              </a:rPr>
              <a:t>有符号数的第一位是符号位，补码表示。</a:t>
            </a:r>
          </a:p>
          <a:p>
            <a:pPr eaLnBrk="1" hangingPunct="1"/>
            <a:r>
              <a:rPr lang="zh-CN" altLang="en-US" smtClean="0">
                <a:latin typeface="Arial" panose="020B0604020202020204" pitchFamily="34" charset="0"/>
              </a:rPr>
              <a:t>已知原码求补码的方法：符号位不变，数值位取反加</a:t>
            </a:r>
            <a:r>
              <a:rPr lang="en-US" altLang="zh-CN" smtClean="0">
                <a:latin typeface="Arial" panose="020B0604020202020204" pitchFamily="34" charset="0"/>
              </a:rPr>
              <a:t>1</a:t>
            </a:r>
            <a:r>
              <a:rPr lang="zh-CN" altLang="en-US" smtClean="0">
                <a:latin typeface="Arial" panose="020B0604020202020204" pitchFamily="34" charset="0"/>
              </a:rPr>
              <a:t>；</a:t>
            </a:r>
          </a:p>
          <a:p>
            <a:pPr eaLnBrk="1" hangingPunct="1"/>
            <a:r>
              <a:rPr lang="zh-CN" altLang="en-US" smtClean="0">
                <a:latin typeface="Arial" panose="020B0604020202020204" pitchFamily="34" charset="0"/>
              </a:rPr>
              <a:t>已知补码求原码的方法：符号位不变，数值位取反加</a:t>
            </a:r>
            <a:r>
              <a:rPr lang="en-US" altLang="zh-CN" smtClean="0">
                <a:latin typeface="Arial" panose="020B0604020202020204" pitchFamily="34" charset="0"/>
              </a:rPr>
              <a:t>1</a:t>
            </a:r>
            <a:r>
              <a:rPr lang="zh-CN" altLang="en-US" smtClean="0">
                <a:latin typeface="Arial" panose="020B0604020202020204" pitchFamily="34" charset="0"/>
              </a:rPr>
              <a:t>；</a:t>
            </a:r>
          </a:p>
          <a:p>
            <a:pPr eaLnBrk="1" hangingPunct="1"/>
            <a:r>
              <a:rPr lang="zh-CN" altLang="en-US" smtClean="0">
                <a:latin typeface="Arial" panose="020B0604020202020204" pitchFamily="34" charset="0"/>
              </a:rPr>
              <a:t>总结：补码再求补即得原码。</a:t>
            </a:r>
          </a:p>
          <a:p>
            <a:pPr eaLnBrk="1" hangingPunct="1"/>
            <a:endParaRPr lang="en-US" altLang="zh-CN" smtClean="0">
              <a:latin typeface="Arial" panose="020B0604020202020204" pitchFamily="34" charset="0"/>
            </a:endParaRPr>
          </a:p>
        </p:txBody>
      </p:sp>
    </p:spTree>
    <p:extLst>
      <p:ext uri="{BB962C8B-B14F-4D97-AF65-F5344CB8AC3E}">
        <p14:creationId xmlns:p14="http://schemas.microsoft.com/office/powerpoint/2010/main" val="25559322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A2C0C18E-8C3A-4372-9F77-EAE7135EEC0C}" type="slidenum">
              <a:rPr lang="en-US" altLang="zh-CN" sz="1200" b="0">
                <a:latin typeface="Arial" panose="020B0604020202020204" pitchFamily="34" charset="0"/>
              </a:rPr>
              <a:pPr eaLnBrk="1" hangingPunct="1"/>
              <a:t>49</a:t>
            </a:fld>
            <a:endParaRPr lang="en-US" altLang="zh-CN" sz="1200" b="0">
              <a:latin typeface="Arial" panose="020B0604020202020204"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条件不完整一定会综合出寄存器，但条件完整有时也会综合出寄存器；</a:t>
            </a:r>
          </a:p>
          <a:p>
            <a:pPr eaLnBrk="1" hangingPunct="1"/>
            <a:r>
              <a:rPr lang="zh-CN" altLang="en-US" smtClean="0">
                <a:latin typeface="Arial" panose="020B0604020202020204" pitchFamily="34" charset="0"/>
              </a:rPr>
              <a:t>条件完整有两种办法：</a:t>
            </a:r>
            <a:r>
              <a:rPr lang="en-US" altLang="zh-CN" smtClean="0">
                <a:latin typeface="Arial" panose="020B0604020202020204" pitchFamily="34" charset="0"/>
              </a:rPr>
              <a:t>1</a:t>
            </a:r>
            <a:r>
              <a:rPr lang="zh-CN" altLang="en-US" smtClean="0">
                <a:latin typeface="Arial" panose="020B0604020202020204" pitchFamily="34" charset="0"/>
              </a:rPr>
              <a:t>加</a:t>
            </a:r>
            <a:r>
              <a:rPr lang="en-US" altLang="zh-CN" smtClean="0">
                <a:latin typeface="Arial" panose="020B0604020202020204" pitchFamily="34" charset="0"/>
              </a:rPr>
              <a:t>else</a:t>
            </a:r>
            <a:r>
              <a:rPr lang="zh-CN" altLang="en-US" smtClean="0">
                <a:latin typeface="Arial" panose="020B0604020202020204" pitchFamily="34" charset="0"/>
              </a:rPr>
              <a:t>；</a:t>
            </a:r>
            <a:r>
              <a:rPr lang="en-US" altLang="zh-CN" smtClean="0">
                <a:latin typeface="Arial" panose="020B0604020202020204" pitchFamily="34" charset="0"/>
              </a:rPr>
              <a:t>2</a:t>
            </a:r>
            <a:r>
              <a:rPr lang="zh-CN" altLang="en-US" smtClean="0">
                <a:latin typeface="Arial" panose="020B0604020202020204" pitchFamily="34" charset="0"/>
              </a:rPr>
              <a:t>设初值。</a:t>
            </a:r>
          </a:p>
        </p:txBody>
      </p:sp>
    </p:spTree>
    <p:extLst>
      <p:ext uri="{BB962C8B-B14F-4D97-AF65-F5344CB8AC3E}">
        <p14:creationId xmlns:p14="http://schemas.microsoft.com/office/powerpoint/2010/main" val="2078979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052C73-06E1-4B6D-935E-36A1582F698D}" type="slidenum">
              <a:rPr lang="en-US" altLang="zh-CN">
                <a:solidFill>
                  <a:srgbClr val="000000"/>
                </a:solidFill>
              </a:rPr>
              <a:pPr/>
              <a:t>50</a:t>
            </a:fld>
            <a:endParaRPr lang="en-US" altLang="zh-CN">
              <a:solidFill>
                <a:srgbClr val="000000"/>
              </a:solidFill>
            </a:endParaRPr>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r>
              <a:rPr lang="zh-CN" altLang="en-US"/>
              <a:t>条件不完整一定会综合出寄存器，但条件完整有时也会综合出寄存器；</a:t>
            </a:r>
          </a:p>
          <a:p>
            <a:r>
              <a:rPr lang="zh-CN" altLang="en-US"/>
              <a:t>条件完整有两种办法：</a:t>
            </a:r>
            <a:r>
              <a:rPr lang="en-US" altLang="zh-CN"/>
              <a:t>1</a:t>
            </a:r>
            <a:r>
              <a:rPr lang="zh-CN" altLang="en-US"/>
              <a:t>加</a:t>
            </a:r>
            <a:r>
              <a:rPr lang="en-US" altLang="zh-CN"/>
              <a:t>else</a:t>
            </a:r>
            <a:r>
              <a:rPr lang="zh-CN" altLang="en-US"/>
              <a:t>；</a:t>
            </a:r>
            <a:r>
              <a:rPr lang="en-US" altLang="zh-CN"/>
              <a:t>2</a:t>
            </a:r>
            <a:r>
              <a:rPr lang="zh-CN" altLang="en-US"/>
              <a:t>设初值。</a:t>
            </a:r>
          </a:p>
        </p:txBody>
      </p:sp>
    </p:spTree>
    <p:extLst>
      <p:ext uri="{BB962C8B-B14F-4D97-AF65-F5344CB8AC3E}">
        <p14:creationId xmlns:p14="http://schemas.microsoft.com/office/powerpoint/2010/main" val="37601683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74E7E0F0-43D1-4E22-B8C0-C321FA1ABF5E}" type="slidenum">
              <a:rPr lang="en-US" altLang="zh-CN" sz="1200" b="0">
                <a:latin typeface="Arial" panose="020B0604020202020204" pitchFamily="34" charset="0"/>
              </a:rPr>
              <a:pPr eaLnBrk="1" hangingPunct="1"/>
              <a:t>51</a:t>
            </a:fld>
            <a:endParaRPr lang="en-US" altLang="zh-CN" sz="1200" b="0">
              <a:latin typeface="Arial" panose="020B060402020202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b="1" smtClean="0">
                <a:latin typeface="Arial" panose="020B0604020202020204" pitchFamily="34" charset="0"/>
              </a:rPr>
              <a:t>在条件表达式中可以包含表</a:t>
            </a:r>
            <a:r>
              <a:rPr lang="en-US" altLang="zh-CN" b="1" smtClean="0">
                <a:latin typeface="Arial" panose="020B0604020202020204" pitchFamily="34" charset="0"/>
              </a:rPr>
              <a:t>6.1 </a:t>
            </a:r>
            <a:r>
              <a:rPr lang="zh-CN" altLang="en-US" b="1" smtClean="0">
                <a:latin typeface="Arial" panose="020B0604020202020204" pitchFamily="34" charset="0"/>
              </a:rPr>
              <a:t>中所列举的任何操作符</a:t>
            </a:r>
          </a:p>
          <a:p>
            <a:pPr eaLnBrk="1" hangingPunct="1"/>
            <a:r>
              <a:rPr lang="zh-CN" altLang="en-US" smtClean="0">
                <a:latin typeface="Arial" panose="020B0604020202020204" pitchFamily="34" charset="0"/>
              </a:rPr>
              <a:t>表已验证。</a:t>
            </a:r>
          </a:p>
        </p:txBody>
      </p:sp>
    </p:spTree>
    <p:extLst>
      <p:ext uri="{BB962C8B-B14F-4D97-AF65-F5344CB8AC3E}">
        <p14:creationId xmlns:p14="http://schemas.microsoft.com/office/powerpoint/2010/main" val="2511041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0D908926-EC84-4493-A568-F6F4A46FF02A}" type="slidenum">
              <a:rPr lang="en-US" altLang="zh-CN" sz="1200" b="0">
                <a:latin typeface="Arial" panose="020B0604020202020204" pitchFamily="34" charset="0"/>
              </a:rPr>
              <a:pPr eaLnBrk="1" hangingPunct="1"/>
              <a:t>54</a:t>
            </a:fld>
            <a:endParaRPr lang="en-US" altLang="zh-CN" sz="1200" b="0">
              <a:latin typeface="Arial" panose="020B0604020202020204"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方式和级别又有交叉对应关系。不必细究。</a:t>
            </a:r>
          </a:p>
        </p:txBody>
      </p:sp>
    </p:spTree>
    <p:extLst>
      <p:ext uri="{BB962C8B-B14F-4D97-AF65-F5344CB8AC3E}">
        <p14:creationId xmlns:p14="http://schemas.microsoft.com/office/powerpoint/2010/main" val="19604577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5D96777A-BBCC-4C36-9778-11C9B126E623}" type="slidenum">
              <a:rPr lang="en-US" altLang="zh-CN" sz="1200" b="0">
                <a:latin typeface="Arial" panose="020B0604020202020204" pitchFamily="34" charset="0"/>
              </a:rPr>
              <a:pPr eaLnBrk="1" hangingPunct="1"/>
              <a:t>58</a:t>
            </a:fld>
            <a:endParaRPr lang="en-US" altLang="zh-CN" sz="1200" b="0">
              <a:latin typeface="Arial"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另外，</a:t>
            </a:r>
            <a:r>
              <a:rPr lang="en-US" altLang="zh-CN" smtClean="0">
                <a:latin typeface="Arial" panose="020B0604020202020204" pitchFamily="34" charset="0"/>
              </a:rPr>
              <a:t>QuartusII</a:t>
            </a:r>
            <a:r>
              <a:rPr lang="zh-CN" altLang="en-US" smtClean="0">
                <a:latin typeface="Arial" panose="020B0604020202020204" pitchFamily="34" charset="0"/>
              </a:rPr>
              <a:t>工程中的顶层文件名必须与其中一个模块名一致。否则会给出警告。</a:t>
            </a:r>
          </a:p>
        </p:txBody>
      </p:sp>
    </p:spTree>
    <p:extLst>
      <p:ext uri="{BB962C8B-B14F-4D97-AF65-F5344CB8AC3E}">
        <p14:creationId xmlns:p14="http://schemas.microsoft.com/office/powerpoint/2010/main" val="2108270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ea typeface="黑体"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ea typeface="黑体" pitchFamily="2" charset="-122"/>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ea typeface="黑体" pitchFamily="2" charset="-122"/>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ea typeface="黑体"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ea typeface="黑体"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ea typeface="黑体"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ea typeface="黑体" pitchFamily="2" charset="-122"/>
              </a:endParaRPr>
            </a:p>
          </p:txBody>
        </p:sp>
      </p:grpSp>
      <p:sp>
        <p:nvSpPr>
          <p:cNvPr id="718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976B3BB8-B32F-4785-9114-184088FEDE93}" type="slidenum">
              <a:rPr lang="en-US" altLang="zh-CN"/>
              <a:pPr/>
              <a:t>‹#›</a:t>
            </a:fld>
            <a:endParaRPr lang="en-US" altLang="zh-CN"/>
          </a:p>
        </p:txBody>
      </p:sp>
    </p:spTree>
    <p:extLst>
      <p:ext uri="{BB962C8B-B14F-4D97-AF65-F5344CB8AC3E}">
        <p14:creationId xmlns:p14="http://schemas.microsoft.com/office/powerpoint/2010/main" val="4016992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9CCA7786-E7AA-4668-A27D-21B985EFBFFE}" type="slidenum">
              <a:rPr lang="en-US" altLang="zh-CN"/>
              <a:pPr/>
              <a:t>‹#›</a:t>
            </a:fld>
            <a:endParaRPr lang="en-US" altLang="zh-CN"/>
          </a:p>
        </p:txBody>
      </p:sp>
    </p:spTree>
    <p:extLst>
      <p:ext uri="{BB962C8B-B14F-4D97-AF65-F5344CB8AC3E}">
        <p14:creationId xmlns:p14="http://schemas.microsoft.com/office/powerpoint/2010/main" val="2658044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3553A389-323D-4E03-8F23-2F239C61E364}" type="slidenum">
              <a:rPr lang="en-US" altLang="zh-CN"/>
              <a:pPr/>
              <a:t>‹#›</a:t>
            </a:fld>
            <a:endParaRPr lang="en-US" altLang="zh-CN"/>
          </a:p>
        </p:txBody>
      </p:sp>
    </p:spTree>
    <p:extLst>
      <p:ext uri="{BB962C8B-B14F-4D97-AF65-F5344CB8AC3E}">
        <p14:creationId xmlns:p14="http://schemas.microsoft.com/office/powerpoint/2010/main" val="948281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DD4597CF-1392-4753-94C1-280A4A8531B2}" type="slidenum">
              <a:rPr lang="en-US" altLang="zh-CN"/>
              <a:pPr/>
              <a:t>‹#›</a:t>
            </a:fld>
            <a:endParaRPr lang="en-US" altLang="zh-CN"/>
          </a:p>
        </p:txBody>
      </p:sp>
    </p:spTree>
    <p:extLst>
      <p:ext uri="{BB962C8B-B14F-4D97-AF65-F5344CB8AC3E}">
        <p14:creationId xmlns:p14="http://schemas.microsoft.com/office/powerpoint/2010/main" val="2635441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fld id="{6E86C25A-FE6B-4AAA-B9BE-5B0A2F26B51A}" type="slidenum">
              <a:rPr lang="en-US" altLang="zh-CN"/>
              <a:pPr/>
              <a:t>‹#›</a:t>
            </a:fld>
            <a:endParaRPr lang="en-US" altLang="zh-CN"/>
          </a:p>
        </p:txBody>
      </p:sp>
    </p:spTree>
    <p:extLst>
      <p:ext uri="{BB962C8B-B14F-4D97-AF65-F5344CB8AC3E}">
        <p14:creationId xmlns:p14="http://schemas.microsoft.com/office/powerpoint/2010/main" val="275690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fld id="{5718ECAB-2E46-45EA-8721-D9B1746DCC32}" type="slidenum">
              <a:rPr lang="en-US" altLang="zh-CN"/>
              <a:pPr/>
              <a:t>‹#›</a:t>
            </a:fld>
            <a:endParaRPr lang="en-US" altLang="zh-CN"/>
          </a:p>
        </p:txBody>
      </p:sp>
    </p:spTree>
    <p:extLst>
      <p:ext uri="{BB962C8B-B14F-4D97-AF65-F5344CB8AC3E}">
        <p14:creationId xmlns:p14="http://schemas.microsoft.com/office/powerpoint/2010/main" val="2352131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fld id="{14AE4A84-FF83-4076-ABD5-ACAAA4A390A8}" type="slidenum">
              <a:rPr lang="en-US" altLang="zh-CN"/>
              <a:pPr/>
              <a:t>‹#›</a:t>
            </a:fld>
            <a:endParaRPr lang="en-US" altLang="zh-CN"/>
          </a:p>
        </p:txBody>
      </p:sp>
    </p:spTree>
    <p:extLst>
      <p:ext uri="{BB962C8B-B14F-4D97-AF65-F5344CB8AC3E}">
        <p14:creationId xmlns:p14="http://schemas.microsoft.com/office/powerpoint/2010/main" val="68105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39CFA35B-057F-4220-AD42-68055B240EFC}" type="slidenum">
              <a:rPr lang="en-US" altLang="zh-CN"/>
              <a:pPr/>
              <a:t>‹#›</a:t>
            </a:fld>
            <a:endParaRPr lang="en-US" altLang="zh-CN"/>
          </a:p>
        </p:txBody>
      </p:sp>
    </p:spTree>
    <p:extLst>
      <p:ext uri="{BB962C8B-B14F-4D97-AF65-F5344CB8AC3E}">
        <p14:creationId xmlns:p14="http://schemas.microsoft.com/office/powerpoint/2010/main" val="2884066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B88BBACF-E73C-408D-8BCD-03106E57F8B2}" type="slidenum">
              <a:rPr lang="en-US" altLang="zh-CN"/>
              <a:pPr/>
              <a:t>‹#›</a:t>
            </a:fld>
            <a:endParaRPr lang="en-US" altLang="zh-CN"/>
          </a:p>
        </p:txBody>
      </p:sp>
    </p:spTree>
    <p:extLst>
      <p:ext uri="{BB962C8B-B14F-4D97-AF65-F5344CB8AC3E}">
        <p14:creationId xmlns:p14="http://schemas.microsoft.com/office/powerpoint/2010/main" val="124940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594844F1-CE2E-4A49-AD61-CA7200EDF77C}" type="slidenum">
              <a:rPr lang="en-US" altLang="zh-CN"/>
              <a:pPr/>
              <a:t>‹#›</a:t>
            </a:fld>
            <a:endParaRPr lang="en-US" altLang="zh-CN"/>
          </a:p>
        </p:txBody>
      </p:sp>
    </p:spTree>
    <p:extLst>
      <p:ext uri="{BB962C8B-B14F-4D97-AF65-F5344CB8AC3E}">
        <p14:creationId xmlns:p14="http://schemas.microsoft.com/office/powerpoint/2010/main" val="629153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54863" y="188913"/>
            <a:ext cx="1989137"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188913"/>
            <a:ext cx="5819775" cy="5943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4E432D43-7373-47F6-A9C6-5F58EF85A10F}" type="slidenum">
              <a:rPr lang="en-US" altLang="zh-CN"/>
              <a:pPr/>
              <a:t>‹#›</a:t>
            </a:fld>
            <a:endParaRPr lang="en-US" altLang="zh-CN"/>
          </a:p>
        </p:txBody>
      </p:sp>
    </p:spTree>
    <p:extLst>
      <p:ext uri="{BB962C8B-B14F-4D97-AF65-F5344CB8AC3E}">
        <p14:creationId xmlns:p14="http://schemas.microsoft.com/office/powerpoint/2010/main" val="2653934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350963" y="188913"/>
            <a:ext cx="7793037" cy="6921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smtClean="0"/>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4FCD6371-3A8C-4020-8A9A-5F8CC0E1FBB4}" type="slidenum">
              <a:rPr lang="en-US" altLang="zh-CN"/>
              <a:pPr/>
              <a:t>‹#›</a:t>
            </a:fld>
            <a:endParaRPr lang="en-US" altLang="zh-CN"/>
          </a:p>
        </p:txBody>
      </p:sp>
    </p:spTree>
    <p:extLst>
      <p:ext uri="{BB962C8B-B14F-4D97-AF65-F5344CB8AC3E}">
        <p14:creationId xmlns:p14="http://schemas.microsoft.com/office/powerpoint/2010/main" val="879219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170" name="Group 2"/>
          <p:cNvGrpSpPr>
            <a:grpSpLocks/>
          </p:cNvGrpSpPr>
          <p:nvPr/>
        </p:nvGrpSpPr>
        <p:grpSpPr bwMode="auto">
          <a:xfrm>
            <a:off x="0" y="2438400"/>
            <a:ext cx="9009063" cy="1052513"/>
            <a:chOff x="0" y="1536"/>
            <a:chExt cx="5675" cy="663"/>
          </a:xfrm>
        </p:grpSpPr>
        <p:grpSp>
          <p:nvGrpSpPr>
            <p:cNvPr id="7171" name="Group 3"/>
            <p:cNvGrpSpPr>
              <a:grpSpLocks/>
            </p:cNvGrpSpPr>
            <p:nvPr/>
          </p:nvGrpSpPr>
          <p:grpSpPr bwMode="auto">
            <a:xfrm>
              <a:off x="183" y="1604"/>
              <a:ext cx="448" cy="299"/>
              <a:chOff x="720" y="336"/>
              <a:chExt cx="624" cy="432"/>
            </a:xfrm>
          </p:grpSpPr>
          <p:sp>
            <p:nvSpPr>
              <p:cNvPr id="717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grpSp>
          <p:nvGrpSpPr>
            <p:cNvPr id="7174" name="Group 6"/>
            <p:cNvGrpSpPr>
              <a:grpSpLocks/>
            </p:cNvGrpSpPr>
            <p:nvPr/>
          </p:nvGrpSpPr>
          <p:grpSpPr bwMode="auto">
            <a:xfrm>
              <a:off x="261" y="1870"/>
              <a:ext cx="465" cy="299"/>
              <a:chOff x="912" y="2640"/>
              <a:chExt cx="672" cy="432"/>
            </a:xfrm>
          </p:grpSpPr>
          <p:sp>
            <p:nvSpPr>
              <p:cNvPr id="717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7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8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718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solidFill>
                <a:srgbClr val="1C1C1C"/>
              </a:solidFill>
            </a:endParaRPr>
          </a:p>
        </p:txBody>
      </p:sp>
      <p:sp>
        <p:nvSpPr>
          <p:cNvPr id="718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solidFill>
                <a:srgbClr val="1C1C1C"/>
              </a:solidFill>
            </a:endParaRPr>
          </a:p>
        </p:txBody>
      </p:sp>
      <p:sp>
        <p:nvSpPr>
          <p:cNvPr id="718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3DF58509-B616-42EA-A9BC-B054B044B229}" type="slidenum">
              <a:rPr lang="en-US" altLang="zh-CN">
                <a:solidFill>
                  <a:srgbClr val="1C1C1C"/>
                </a:solidFill>
              </a:rPr>
              <a:pPr/>
              <a:t>‹#›</a:t>
            </a:fld>
            <a:endParaRPr lang="en-US" altLang="zh-CN">
              <a:solidFill>
                <a:srgbClr val="1C1C1C"/>
              </a:solidFill>
            </a:endParaRPr>
          </a:p>
        </p:txBody>
      </p:sp>
    </p:spTree>
    <p:extLst>
      <p:ext uri="{BB962C8B-B14F-4D97-AF65-F5344CB8AC3E}">
        <p14:creationId xmlns:p14="http://schemas.microsoft.com/office/powerpoint/2010/main" val="4182192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05A10D6-4196-418E-A46C-270AED98626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74657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56F2A12-D6C8-4257-9553-0F94D74F8F2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85245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9AA89DC-8215-452E-B9B2-375D90C58B7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8401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347F2811-8095-4855-A300-45783B29227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17634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3D1C09BA-F47A-4225-A0D6-B78B840143C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53867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017F3592-8BC6-4E6B-A37A-E91F4C517F8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234103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95F72D2-D207-4398-8A28-7F8EE7BB159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08078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0E370F0-CC55-4C88-820B-05C6BA37C5A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921841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9871146-6340-4656-9B51-40961308F01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055634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54863" y="188913"/>
            <a:ext cx="1989137"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188913"/>
            <a:ext cx="5819775" cy="5943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7D319BC-D222-4FA1-B53A-DABE2152CF5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627721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170" name="Group 2"/>
          <p:cNvGrpSpPr>
            <a:grpSpLocks/>
          </p:cNvGrpSpPr>
          <p:nvPr/>
        </p:nvGrpSpPr>
        <p:grpSpPr bwMode="auto">
          <a:xfrm>
            <a:off x="0" y="2438400"/>
            <a:ext cx="9009063" cy="1052513"/>
            <a:chOff x="0" y="1536"/>
            <a:chExt cx="5675" cy="663"/>
          </a:xfrm>
        </p:grpSpPr>
        <p:grpSp>
          <p:nvGrpSpPr>
            <p:cNvPr id="7171" name="Group 3"/>
            <p:cNvGrpSpPr>
              <a:grpSpLocks/>
            </p:cNvGrpSpPr>
            <p:nvPr/>
          </p:nvGrpSpPr>
          <p:grpSpPr bwMode="auto">
            <a:xfrm>
              <a:off x="183" y="1604"/>
              <a:ext cx="448" cy="299"/>
              <a:chOff x="720" y="336"/>
              <a:chExt cx="624" cy="432"/>
            </a:xfrm>
          </p:grpSpPr>
          <p:sp>
            <p:nvSpPr>
              <p:cNvPr id="717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grpSp>
          <p:nvGrpSpPr>
            <p:cNvPr id="7174" name="Group 6"/>
            <p:cNvGrpSpPr>
              <a:grpSpLocks/>
            </p:cNvGrpSpPr>
            <p:nvPr/>
          </p:nvGrpSpPr>
          <p:grpSpPr bwMode="auto">
            <a:xfrm>
              <a:off x="261" y="1870"/>
              <a:ext cx="465" cy="299"/>
              <a:chOff x="912" y="2640"/>
              <a:chExt cx="672" cy="432"/>
            </a:xfrm>
          </p:grpSpPr>
          <p:sp>
            <p:nvSpPr>
              <p:cNvPr id="717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7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8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718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solidFill>
                <a:srgbClr val="1C1C1C"/>
              </a:solidFill>
            </a:endParaRPr>
          </a:p>
        </p:txBody>
      </p:sp>
      <p:sp>
        <p:nvSpPr>
          <p:cNvPr id="718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solidFill>
                <a:srgbClr val="1C1C1C"/>
              </a:solidFill>
            </a:endParaRPr>
          </a:p>
        </p:txBody>
      </p:sp>
      <p:sp>
        <p:nvSpPr>
          <p:cNvPr id="718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3DF58509-B616-42EA-A9BC-B054B044B229}" type="slidenum">
              <a:rPr lang="en-US" altLang="zh-CN">
                <a:solidFill>
                  <a:srgbClr val="1C1C1C"/>
                </a:solidFill>
              </a:rPr>
              <a:pPr/>
              <a:t>‹#›</a:t>
            </a:fld>
            <a:endParaRPr lang="en-US" altLang="zh-CN">
              <a:solidFill>
                <a:srgbClr val="1C1C1C"/>
              </a:solidFill>
            </a:endParaRPr>
          </a:p>
        </p:txBody>
      </p:sp>
    </p:spTree>
    <p:extLst>
      <p:ext uri="{BB962C8B-B14F-4D97-AF65-F5344CB8AC3E}">
        <p14:creationId xmlns:p14="http://schemas.microsoft.com/office/powerpoint/2010/main" val="38273959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05A10D6-4196-418E-A46C-270AED98626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05233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56F2A12-D6C8-4257-9553-0F94D74F8F2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6029808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9AA89DC-8215-452E-B9B2-375D90C58B7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1978063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347F2811-8095-4855-A300-45783B29227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754978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3D1C09BA-F47A-4225-A0D6-B78B840143C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4159436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017F3592-8BC6-4E6B-A37A-E91F4C517F8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3988780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95F72D2-D207-4398-8A28-7F8EE7BB159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175400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0E370F0-CC55-4C88-820B-05C6BA37C5A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730920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9871146-6340-4656-9B51-40961308F01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2397229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54863" y="188913"/>
            <a:ext cx="1989137"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188913"/>
            <a:ext cx="5819775" cy="5943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7D319BC-D222-4FA1-B53A-DABE2152CF5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82491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170" name="Group 2"/>
          <p:cNvGrpSpPr>
            <a:grpSpLocks/>
          </p:cNvGrpSpPr>
          <p:nvPr/>
        </p:nvGrpSpPr>
        <p:grpSpPr bwMode="auto">
          <a:xfrm>
            <a:off x="0" y="2438400"/>
            <a:ext cx="9009063" cy="1052513"/>
            <a:chOff x="0" y="1536"/>
            <a:chExt cx="5675" cy="663"/>
          </a:xfrm>
        </p:grpSpPr>
        <p:grpSp>
          <p:nvGrpSpPr>
            <p:cNvPr id="7171" name="Group 3"/>
            <p:cNvGrpSpPr>
              <a:grpSpLocks/>
            </p:cNvGrpSpPr>
            <p:nvPr/>
          </p:nvGrpSpPr>
          <p:grpSpPr bwMode="auto">
            <a:xfrm>
              <a:off x="183" y="1604"/>
              <a:ext cx="448" cy="299"/>
              <a:chOff x="720" y="336"/>
              <a:chExt cx="624" cy="432"/>
            </a:xfrm>
          </p:grpSpPr>
          <p:sp>
            <p:nvSpPr>
              <p:cNvPr id="717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grpSp>
          <p:nvGrpSpPr>
            <p:cNvPr id="7174" name="Group 6"/>
            <p:cNvGrpSpPr>
              <a:grpSpLocks/>
            </p:cNvGrpSpPr>
            <p:nvPr/>
          </p:nvGrpSpPr>
          <p:grpSpPr bwMode="auto">
            <a:xfrm>
              <a:off x="261" y="1870"/>
              <a:ext cx="465" cy="299"/>
              <a:chOff x="912" y="2640"/>
              <a:chExt cx="672" cy="432"/>
            </a:xfrm>
          </p:grpSpPr>
          <p:sp>
            <p:nvSpPr>
              <p:cNvPr id="717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7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sp>
          <p:nvSpPr>
            <p:cNvPr id="717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000000"/>
                </a:solidFill>
                <a:ea typeface="黑体" panose="02010609060101010101" pitchFamily="49" charset="-122"/>
              </a:endParaRPr>
            </a:p>
          </p:txBody>
        </p:sp>
      </p:grpSp>
      <p:sp>
        <p:nvSpPr>
          <p:cNvPr id="718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718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718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endParaRPr lang="en-US" altLang="zh-CN">
              <a:solidFill>
                <a:srgbClr val="1C1C1C"/>
              </a:solidFill>
            </a:endParaRPr>
          </a:p>
        </p:txBody>
      </p:sp>
      <p:sp>
        <p:nvSpPr>
          <p:cNvPr id="718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solidFill>
                <a:srgbClr val="1C1C1C"/>
              </a:solidFill>
            </a:endParaRPr>
          </a:p>
        </p:txBody>
      </p:sp>
      <p:sp>
        <p:nvSpPr>
          <p:cNvPr id="718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3DF58509-B616-42EA-A9BC-B054B044B229}" type="slidenum">
              <a:rPr lang="en-US" altLang="zh-CN">
                <a:solidFill>
                  <a:srgbClr val="1C1C1C"/>
                </a:solidFill>
              </a:rPr>
              <a:pPr/>
              <a:t>‹#›</a:t>
            </a:fld>
            <a:endParaRPr lang="en-US" altLang="zh-CN">
              <a:solidFill>
                <a:srgbClr val="1C1C1C"/>
              </a:solidFill>
            </a:endParaRPr>
          </a:p>
        </p:txBody>
      </p:sp>
    </p:spTree>
    <p:extLst>
      <p:ext uri="{BB962C8B-B14F-4D97-AF65-F5344CB8AC3E}">
        <p14:creationId xmlns:p14="http://schemas.microsoft.com/office/powerpoint/2010/main" val="39714066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05A10D6-4196-418E-A46C-270AED98626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655581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56F2A12-D6C8-4257-9553-0F94D74F8F2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2212638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9AA89DC-8215-452E-B9B2-375D90C58B7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8511261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347F2811-8095-4855-A300-45783B29227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3499203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3D1C09BA-F47A-4225-A0D6-B78B840143C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994243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017F3592-8BC6-4E6B-A37A-E91F4C517F8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614215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95F72D2-D207-4398-8A28-7F8EE7BB159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169491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0E370F0-CC55-4C88-820B-05C6BA37C5A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116230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9871146-6340-4656-9B51-40961308F01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068119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54863" y="188913"/>
            <a:ext cx="1989137"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188913"/>
            <a:ext cx="5819775" cy="5943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37D319BC-D222-4FA1-B53A-DABE2152CF5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487091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zh-CN" altLang="zh-CN" b="0">
                <a:solidFill>
                  <a:srgbClr val="FFFFFF"/>
                </a:solidFill>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zh-CN" altLang="zh-CN" b="0">
                  <a:solidFill>
                    <a:srgbClr val="FFFFFF"/>
                  </a:solidFill>
                  <a:latin typeface="Times New Roman"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zh-CN" altLang="en-US"/>
              <a:t>单击此处编辑母版标题样式</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0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b="0">
                <a:latin typeface="Arial" charset="0"/>
                <a:ea typeface="宋体" pitchFamily="2" charset="-122"/>
              </a:defRPr>
            </a:lvl1pPr>
          </a:lstStyle>
          <a:p>
            <a:pPr>
              <a:defRPr/>
            </a:pPr>
            <a:endParaRPr lang="en-US" altLang="zh-CN">
              <a:solidFill>
                <a:srgbClr val="FFFFFF"/>
              </a:solidFill>
            </a:endParaRPr>
          </a:p>
        </p:txBody>
      </p:sp>
      <p:sp>
        <p:nvSpPr>
          <p:cNvPr id="19" name="Rectangle 17"/>
          <p:cNvSpPr>
            <a:spLocks noGrp="1" noChangeArrowheads="1"/>
          </p:cNvSpPr>
          <p:nvPr>
            <p:ph type="ftr" sz="quarter" idx="11"/>
          </p:nvPr>
        </p:nvSpPr>
        <p:spPr/>
        <p:txBody>
          <a:bodyPr/>
          <a:lstStyle>
            <a:lvl1pPr>
              <a:defRPr b="0">
                <a:latin typeface="Arial" charset="0"/>
                <a:ea typeface="宋体" pitchFamily="2" charset="-122"/>
              </a:defRPr>
            </a:lvl1pPr>
          </a:lstStyle>
          <a:p>
            <a:pPr>
              <a:defRPr/>
            </a:pPr>
            <a:endParaRPr lang="en-US" altLang="zh-CN">
              <a:solidFill>
                <a:srgbClr val="FFFFFF"/>
              </a:solidFill>
            </a:endParaRPr>
          </a:p>
        </p:txBody>
      </p:sp>
      <p:sp>
        <p:nvSpPr>
          <p:cNvPr id="20" name="Rectangle 18"/>
          <p:cNvSpPr>
            <a:spLocks noGrp="1" noChangeArrowheads="1"/>
          </p:cNvSpPr>
          <p:nvPr>
            <p:ph type="sldNum" sz="quarter" idx="12"/>
          </p:nvPr>
        </p:nvSpPr>
        <p:spPr/>
        <p:txBody>
          <a:bodyPr/>
          <a:lstStyle>
            <a:lvl1pPr>
              <a:defRPr b="0" smtClean="0">
                <a:latin typeface="Arial Black" pitchFamily="34" charset="0"/>
                <a:ea typeface="宋体" pitchFamily="2" charset="-122"/>
              </a:defRPr>
            </a:lvl1pPr>
          </a:lstStyle>
          <a:p>
            <a:pPr>
              <a:defRPr/>
            </a:pPr>
            <a:fld id="{1A940447-CD2E-4FA3-9A03-13751E16423E}" type="slidenum">
              <a:rPr lang="en-US" altLang="zh-CN">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751451029"/>
      </p:ext>
    </p:extLst>
  </p:cSld>
  <p:clrMapOvr>
    <a:overrideClrMapping bg1="dk2" tx1="lt1" bg2="dk1"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a:ln/>
        </p:spPr>
        <p:txBody>
          <a:bodyPr/>
          <a:lstStyle>
            <a:lvl1pPr>
              <a:defRPr/>
            </a:lvl1pPr>
          </a:lstStyle>
          <a:p>
            <a:pPr>
              <a:defRPr/>
            </a:pPr>
            <a:fld id="{61522BFA-D3BA-4DBB-BCCD-FFA2414C976E}" type="slidenum">
              <a:rPr lang="en-US" altLang="zh-CN">
                <a:solidFill>
                  <a:srgbClr val="000000"/>
                </a:solidFill>
              </a:rPr>
              <a:pPr>
                <a:defRPr/>
              </a:pPr>
              <a:t>‹#›</a:t>
            </a:fld>
            <a:endParaRPr lang="en-US" altLang="zh-CN">
              <a:solidFill>
                <a:srgbClr val="000000"/>
              </a:solidFill>
            </a:endParaRPr>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21236121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a:ln/>
        </p:spPr>
        <p:txBody>
          <a:bodyPr/>
          <a:lstStyle>
            <a:lvl1pPr>
              <a:defRPr/>
            </a:lvl1pPr>
          </a:lstStyle>
          <a:p>
            <a:pPr>
              <a:defRPr/>
            </a:pPr>
            <a:fld id="{4389FFF2-09FB-4857-8C96-10E07EB0D34E}" type="slidenum">
              <a:rPr lang="en-US" altLang="zh-CN">
                <a:solidFill>
                  <a:srgbClr val="000000"/>
                </a:solidFill>
              </a:rPr>
              <a:pPr>
                <a:defRPr/>
              </a:pPr>
              <a:t>‹#›</a:t>
            </a:fld>
            <a:endParaRPr lang="en-US" altLang="zh-CN">
              <a:solidFill>
                <a:srgbClr val="000000"/>
              </a:solidFill>
            </a:endParaRPr>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231480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684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a:ln/>
        </p:spPr>
        <p:txBody>
          <a:bodyPr/>
          <a:lstStyle>
            <a:lvl1pPr>
              <a:defRPr/>
            </a:lvl1pPr>
          </a:lstStyle>
          <a:p>
            <a:pPr>
              <a:defRPr/>
            </a:pPr>
            <a:fld id="{28F44A41-809F-4CFF-BCAB-0AB3FA52A2E4}" type="slidenum">
              <a:rPr lang="en-US" altLang="zh-CN">
                <a:solidFill>
                  <a:srgbClr val="000000"/>
                </a:solidFill>
              </a:rPr>
              <a:pPr>
                <a:defRPr/>
              </a:pPr>
              <a:t>‹#›</a:t>
            </a:fld>
            <a:endParaRPr lang="en-US" altLang="zh-CN">
              <a:solidFill>
                <a:srgbClr val="000000"/>
              </a:solidFill>
            </a:endParaRPr>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207147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8" name="Rectangle 3"/>
          <p:cNvSpPr>
            <a:spLocks noGrp="1" noChangeArrowheads="1"/>
          </p:cNvSpPr>
          <p:nvPr>
            <p:ph type="sldNum" sz="quarter" idx="11"/>
          </p:nvPr>
        </p:nvSpPr>
        <p:spPr>
          <a:ln/>
        </p:spPr>
        <p:txBody>
          <a:bodyPr/>
          <a:lstStyle>
            <a:lvl1pPr>
              <a:defRPr/>
            </a:lvl1pPr>
          </a:lstStyle>
          <a:p>
            <a:pPr>
              <a:defRPr/>
            </a:pPr>
            <a:fld id="{3202EA92-362E-46E0-BEED-A6006A3746E0}" type="slidenum">
              <a:rPr lang="en-US" altLang="zh-CN">
                <a:solidFill>
                  <a:srgbClr val="000000"/>
                </a:solidFill>
              </a:rPr>
              <a:pPr>
                <a:defRPr/>
              </a:pPr>
              <a:t>‹#›</a:t>
            </a:fld>
            <a:endParaRPr lang="en-US" altLang="zh-CN">
              <a:solidFill>
                <a:srgbClr val="000000"/>
              </a:solidFill>
            </a:endParaRPr>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4702549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4" name="Rectangle 3"/>
          <p:cNvSpPr>
            <a:spLocks noGrp="1" noChangeArrowheads="1"/>
          </p:cNvSpPr>
          <p:nvPr>
            <p:ph type="sldNum" sz="quarter" idx="11"/>
          </p:nvPr>
        </p:nvSpPr>
        <p:spPr>
          <a:ln/>
        </p:spPr>
        <p:txBody>
          <a:bodyPr/>
          <a:lstStyle>
            <a:lvl1pPr>
              <a:defRPr/>
            </a:lvl1pPr>
          </a:lstStyle>
          <a:p>
            <a:pPr>
              <a:defRPr/>
            </a:pPr>
            <a:fld id="{1D40C3B1-2C8F-44EF-A467-219FAE9AD7D4}" type="slidenum">
              <a:rPr lang="en-US" altLang="zh-CN">
                <a:solidFill>
                  <a:srgbClr val="000000"/>
                </a:solidFill>
              </a:rPr>
              <a:pPr>
                <a:defRPr/>
              </a:pPr>
              <a:t>‹#›</a:t>
            </a:fld>
            <a:endParaRPr lang="en-US" altLang="zh-CN">
              <a:solidFill>
                <a:srgbClr val="000000"/>
              </a:solidFill>
            </a:endParaRPr>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8602203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3" name="Rectangle 3"/>
          <p:cNvSpPr>
            <a:spLocks noGrp="1" noChangeArrowheads="1"/>
          </p:cNvSpPr>
          <p:nvPr>
            <p:ph type="sldNum" sz="quarter" idx="11"/>
          </p:nvPr>
        </p:nvSpPr>
        <p:spPr>
          <a:ln/>
        </p:spPr>
        <p:txBody>
          <a:bodyPr/>
          <a:lstStyle>
            <a:lvl1pPr>
              <a:defRPr/>
            </a:lvl1pPr>
          </a:lstStyle>
          <a:p>
            <a:pPr>
              <a:defRPr/>
            </a:pPr>
            <a:fld id="{5CBAE60D-7F7E-4F6B-9540-E507889805BC}" type="slidenum">
              <a:rPr lang="en-US" altLang="zh-CN">
                <a:solidFill>
                  <a:srgbClr val="000000"/>
                </a:solidFill>
              </a:rPr>
              <a:pPr>
                <a:defRPr/>
              </a:pPr>
              <a:t>‹#›</a:t>
            </a:fld>
            <a:endParaRPr lang="en-US" altLang="zh-CN">
              <a:solidFill>
                <a:srgbClr val="000000"/>
              </a:solidFill>
            </a:endParaRPr>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726937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a:ln/>
        </p:spPr>
        <p:txBody>
          <a:bodyPr/>
          <a:lstStyle>
            <a:lvl1pPr>
              <a:defRPr/>
            </a:lvl1pPr>
          </a:lstStyle>
          <a:p>
            <a:pPr>
              <a:defRPr/>
            </a:pPr>
            <a:fld id="{B2B201A8-070B-4ADA-B130-72417EECE6B7}" type="slidenum">
              <a:rPr lang="en-US" altLang="zh-CN">
                <a:solidFill>
                  <a:srgbClr val="000000"/>
                </a:solidFill>
              </a:rPr>
              <a:pPr>
                <a:defRPr/>
              </a:pPr>
              <a:t>‹#›</a:t>
            </a:fld>
            <a:endParaRPr lang="en-US" altLang="zh-CN">
              <a:solidFill>
                <a:srgbClr val="000000"/>
              </a:solidFill>
            </a:endParaRPr>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4447809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6" name="Rectangle 3"/>
          <p:cNvSpPr>
            <a:spLocks noGrp="1" noChangeArrowheads="1"/>
          </p:cNvSpPr>
          <p:nvPr>
            <p:ph type="sldNum" sz="quarter" idx="11"/>
          </p:nvPr>
        </p:nvSpPr>
        <p:spPr>
          <a:ln/>
        </p:spPr>
        <p:txBody>
          <a:bodyPr/>
          <a:lstStyle>
            <a:lvl1pPr>
              <a:defRPr/>
            </a:lvl1pPr>
          </a:lstStyle>
          <a:p>
            <a:pPr>
              <a:defRPr/>
            </a:pPr>
            <a:fld id="{55D81567-F8D2-423B-A80A-8B5FECD1CB85}" type="slidenum">
              <a:rPr lang="en-US" altLang="zh-CN">
                <a:solidFill>
                  <a:srgbClr val="000000"/>
                </a:solidFill>
              </a:rPr>
              <a:pPr>
                <a:defRPr/>
              </a:pPr>
              <a:t>‹#›</a:t>
            </a:fld>
            <a:endParaRPr lang="en-US" altLang="zh-CN">
              <a:solidFill>
                <a:srgbClr val="000000"/>
              </a:solidFill>
            </a:endParaRPr>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199976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a:ln/>
        </p:spPr>
        <p:txBody>
          <a:bodyPr/>
          <a:lstStyle>
            <a:lvl1pPr>
              <a:defRPr/>
            </a:lvl1pPr>
          </a:lstStyle>
          <a:p>
            <a:pPr>
              <a:defRPr/>
            </a:pPr>
            <a:fld id="{9E2218CB-32B3-49F6-9662-0A37D3F57CD6}" type="slidenum">
              <a:rPr lang="en-US" altLang="zh-CN">
                <a:solidFill>
                  <a:srgbClr val="000000"/>
                </a:solidFill>
              </a:rPr>
              <a:pPr>
                <a:defRPr/>
              </a:pPr>
              <a:t>‹#›</a:t>
            </a:fld>
            <a:endParaRPr lang="en-US" altLang="zh-CN">
              <a:solidFill>
                <a:srgbClr val="000000"/>
              </a:solidFill>
            </a:endParaRPr>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27821976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5641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5641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3"/>
          <p:cNvSpPr>
            <a:spLocks noGrp="1" noChangeArrowheads="1"/>
          </p:cNvSpPr>
          <p:nvPr>
            <p:ph type="sldNum" sz="quarter" idx="11"/>
          </p:nvPr>
        </p:nvSpPr>
        <p:spPr>
          <a:ln/>
        </p:spPr>
        <p:txBody>
          <a:bodyPr/>
          <a:lstStyle>
            <a:lvl1pPr>
              <a:defRPr/>
            </a:lvl1pPr>
          </a:lstStyle>
          <a:p>
            <a:pPr>
              <a:defRPr/>
            </a:pPr>
            <a:fld id="{CDE7A205-FCFB-4044-A736-D88BD54750AA}" type="slidenum">
              <a:rPr lang="en-US" altLang="zh-CN">
                <a:solidFill>
                  <a:srgbClr val="000000"/>
                </a:solidFill>
              </a:rPr>
              <a:pPr>
                <a:defRPr/>
              </a:pPr>
              <a:t>‹#›</a:t>
            </a:fld>
            <a:endParaRPr lang="en-US" altLang="zh-CN">
              <a:solidFill>
                <a:srgbClr val="000000"/>
              </a:solidFill>
            </a:endParaRPr>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1953486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417513" y="296863"/>
            <a:ext cx="438150" cy="474662"/>
          </a:xfrm>
          <a:prstGeom prst="rect">
            <a:avLst/>
          </a:prstGeom>
          <a:solidFill>
            <a:schemeClr val="accent2"/>
          </a:soli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47" name="Rectangle 3"/>
          <p:cNvSpPr>
            <a:spLocks noChangeArrowheads="1"/>
          </p:cNvSpPr>
          <p:nvPr/>
        </p:nvSpPr>
        <p:spPr bwMode="ltGray">
          <a:xfrm>
            <a:off x="800100" y="296863"/>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48" name="Rectangle 4"/>
          <p:cNvSpPr>
            <a:spLocks noChangeArrowheads="1"/>
          </p:cNvSpPr>
          <p:nvPr/>
        </p:nvSpPr>
        <p:spPr bwMode="ltGray">
          <a:xfrm>
            <a:off x="541338" y="719138"/>
            <a:ext cx="422275" cy="474662"/>
          </a:xfrm>
          <a:prstGeom prst="rect">
            <a:avLst/>
          </a:prstGeom>
          <a:solidFill>
            <a:schemeClr val="folHlink"/>
          </a:soli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49" name="Rectangle 5"/>
          <p:cNvSpPr>
            <a:spLocks noChangeArrowheads="1"/>
          </p:cNvSpPr>
          <p:nvPr/>
        </p:nvSpPr>
        <p:spPr bwMode="ltGray">
          <a:xfrm>
            <a:off x="911225" y="719138"/>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50" name="Rectangle 6"/>
          <p:cNvSpPr>
            <a:spLocks noChangeArrowheads="1"/>
          </p:cNvSpPr>
          <p:nvPr/>
        </p:nvSpPr>
        <p:spPr bwMode="ltGray">
          <a:xfrm>
            <a:off x="127000" y="646113"/>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51" name="Rectangle 7"/>
          <p:cNvSpPr>
            <a:spLocks noChangeArrowheads="1"/>
          </p:cNvSpPr>
          <p:nvPr/>
        </p:nvSpPr>
        <p:spPr bwMode="gray">
          <a:xfrm>
            <a:off x="762000" y="188913"/>
            <a:ext cx="31750" cy="1052512"/>
          </a:xfrm>
          <a:prstGeom prst="rect">
            <a:avLst/>
          </a:prstGeom>
          <a:solidFill>
            <a:schemeClr val="bg2"/>
          </a:soli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6152" name="Rectangle 8"/>
          <p:cNvSpPr>
            <a:spLocks noChangeArrowheads="1"/>
          </p:cNvSpPr>
          <p:nvPr/>
        </p:nvSpPr>
        <p:spPr bwMode="gray">
          <a:xfrm>
            <a:off x="539750" y="9810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zh-CN" altLang="zh-CN" b="0">
              <a:latin typeface="Tahoma" pitchFamily="34" charset="0"/>
            </a:endParaRPr>
          </a:p>
        </p:txBody>
      </p:sp>
      <p:sp>
        <p:nvSpPr>
          <p:cNvPr id="2057" name="Rectangle 9"/>
          <p:cNvSpPr>
            <a:spLocks noGrp="1" noChangeArrowheads="1"/>
          </p:cNvSpPr>
          <p:nvPr>
            <p:ph type="title"/>
          </p:nvPr>
        </p:nvSpPr>
        <p:spPr bwMode="auto">
          <a:xfrm>
            <a:off x="1350963" y="188913"/>
            <a:ext cx="779303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8"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55"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b="0">
                <a:latin typeface="+mn-lt"/>
                <a:ea typeface="+mn-ea"/>
              </a:defRPr>
            </a:lvl1pPr>
          </a:lstStyle>
          <a:p>
            <a:pPr>
              <a:defRPr/>
            </a:pPr>
            <a:endParaRPr lang="en-US" altLang="zh-CN"/>
          </a:p>
        </p:txBody>
      </p:sp>
      <p:sp>
        <p:nvSpPr>
          <p:cNvPr id="6156"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b="0">
                <a:latin typeface="+mn-lt"/>
                <a:ea typeface="+mn-ea"/>
              </a:defRPr>
            </a:lvl1pPr>
          </a:lstStyle>
          <a:p>
            <a:pPr>
              <a:defRPr/>
            </a:pPr>
            <a:endParaRPr lang="en-US" altLang="zh-CN"/>
          </a:p>
        </p:txBody>
      </p:sp>
      <p:sp>
        <p:nvSpPr>
          <p:cNvPr id="6157"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b="0">
                <a:latin typeface="Tahoma" panose="020B0604030504040204" pitchFamily="34" charset="0"/>
              </a:defRPr>
            </a:lvl1pPr>
          </a:lstStyle>
          <a:p>
            <a:fld id="{6999DF57-7217-4355-927A-0E3952DAD81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13"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Tahoma" pitchFamily="34" charset="0"/>
          <a:ea typeface="黑体" pitchFamily="2" charset="-122"/>
        </a:defRPr>
      </a:lvl2pPr>
      <a:lvl3pPr algn="l" rtl="0" eaLnBrk="0" fontAlgn="base" hangingPunct="0">
        <a:spcBef>
          <a:spcPct val="0"/>
        </a:spcBef>
        <a:spcAft>
          <a:spcPct val="0"/>
        </a:spcAft>
        <a:defRPr sz="3200" b="1">
          <a:solidFill>
            <a:schemeClr val="tx2"/>
          </a:solidFill>
          <a:latin typeface="Tahoma" pitchFamily="34" charset="0"/>
          <a:ea typeface="黑体" pitchFamily="2" charset="-122"/>
        </a:defRPr>
      </a:lvl3pPr>
      <a:lvl4pPr algn="l" rtl="0" eaLnBrk="0" fontAlgn="base" hangingPunct="0">
        <a:spcBef>
          <a:spcPct val="0"/>
        </a:spcBef>
        <a:spcAft>
          <a:spcPct val="0"/>
        </a:spcAft>
        <a:defRPr sz="3200" b="1">
          <a:solidFill>
            <a:schemeClr val="tx2"/>
          </a:solidFill>
          <a:latin typeface="Tahoma" pitchFamily="34" charset="0"/>
          <a:ea typeface="黑体" pitchFamily="2" charset="-122"/>
        </a:defRPr>
      </a:lvl4pPr>
      <a:lvl5pPr algn="l" rtl="0" eaLnBrk="0" fontAlgn="base" hangingPunct="0">
        <a:spcBef>
          <a:spcPct val="0"/>
        </a:spcBef>
        <a:spcAft>
          <a:spcPct val="0"/>
        </a:spcAft>
        <a:defRPr sz="3200" b="1">
          <a:solidFill>
            <a:schemeClr val="tx2"/>
          </a:solidFill>
          <a:latin typeface="Tahoma" pitchFamily="34" charset="0"/>
          <a:ea typeface="黑体" pitchFamily="2" charset="-122"/>
        </a:defRPr>
      </a:lvl5pPr>
      <a:lvl6pPr marL="457200" algn="l" rtl="0" fontAlgn="base">
        <a:spcBef>
          <a:spcPct val="0"/>
        </a:spcBef>
        <a:spcAft>
          <a:spcPct val="0"/>
        </a:spcAft>
        <a:defRPr sz="3200" b="1">
          <a:solidFill>
            <a:schemeClr val="tx2"/>
          </a:solidFill>
          <a:latin typeface="Tahoma" pitchFamily="34" charset="0"/>
          <a:ea typeface="黑体" pitchFamily="2" charset="-122"/>
        </a:defRPr>
      </a:lvl6pPr>
      <a:lvl7pPr marL="914400" algn="l" rtl="0" fontAlgn="base">
        <a:spcBef>
          <a:spcPct val="0"/>
        </a:spcBef>
        <a:spcAft>
          <a:spcPct val="0"/>
        </a:spcAft>
        <a:defRPr sz="3200" b="1">
          <a:solidFill>
            <a:schemeClr val="tx2"/>
          </a:solidFill>
          <a:latin typeface="Tahoma" pitchFamily="34" charset="0"/>
          <a:ea typeface="黑体" pitchFamily="2" charset="-122"/>
        </a:defRPr>
      </a:lvl7pPr>
      <a:lvl8pPr marL="1371600" algn="l" rtl="0" fontAlgn="base">
        <a:spcBef>
          <a:spcPct val="0"/>
        </a:spcBef>
        <a:spcAft>
          <a:spcPct val="0"/>
        </a:spcAft>
        <a:defRPr sz="3200" b="1">
          <a:solidFill>
            <a:schemeClr val="tx2"/>
          </a:solidFill>
          <a:latin typeface="Tahoma" pitchFamily="34" charset="0"/>
          <a:ea typeface="黑体" pitchFamily="2" charset="-122"/>
        </a:defRPr>
      </a:lvl8pPr>
      <a:lvl9pPr marL="1828800" algn="l" rtl="0" fontAlgn="base">
        <a:spcBef>
          <a:spcPct val="0"/>
        </a:spcBef>
        <a:spcAft>
          <a:spcPct val="0"/>
        </a:spcAft>
        <a:defRPr sz="3200" b="1">
          <a:solidFill>
            <a:schemeClr val="tx2"/>
          </a:solidFill>
          <a:latin typeface="Tahoma" pitchFamily="34"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417513" y="29686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7" name="Rectangle 3"/>
          <p:cNvSpPr>
            <a:spLocks noChangeArrowheads="1"/>
          </p:cNvSpPr>
          <p:nvPr/>
        </p:nvSpPr>
        <p:spPr bwMode="ltGray">
          <a:xfrm>
            <a:off x="800100" y="29686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8" name="Rectangle 4"/>
          <p:cNvSpPr>
            <a:spLocks noChangeArrowheads="1"/>
          </p:cNvSpPr>
          <p:nvPr/>
        </p:nvSpPr>
        <p:spPr bwMode="ltGray">
          <a:xfrm>
            <a:off x="541338" y="71913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9" name="Rectangle 5"/>
          <p:cNvSpPr>
            <a:spLocks noChangeArrowheads="1"/>
          </p:cNvSpPr>
          <p:nvPr/>
        </p:nvSpPr>
        <p:spPr bwMode="ltGray">
          <a:xfrm>
            <a:off x="911225" y="71913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0" name="Rectangle 6"/>
          <p:cNvSpPr>
            <a:spLocks noChangeArrowheads="1"/>
          </p:cNvSpPr>
          <p:nvPr/>
        </p:nvSpPr>
        <p:spPr bwMode="ltGray">
          <a:xfrm>
            <a:off x="127000" y="64611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1" name="Rectangle 7"/>
          <p:cNvSpPr>
            <a:spLocks noChangeArrowheads="1"/>
          </p:cNvSpPr>
          <p:nvPr/>
        </p:nvSpPr>
        <p:spPr bwMode="gray">
          <a:xfrm>
            <a:off x="762000" y="18891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2" name="Rectangle 8"/>
          <p:cNvSpPr>
            <a:spLocks noChangeArrowheads="1"/>
          </p:cNvSpPr>
          <p:nvPr/>
        </p:nvSpPr>
        <p:spPr bwMode="gray">
          <a:xfrm>
            <a:off x="539750" y="9810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3" name="Rectangle 9"/>
          <p:cNvSpPr>
            <a:spLocks noGrp="1" noChangeArrowheads="1"/>
          </p:cNvSpPr>
          <p:nvPr>
            <p:ph type="title"/>
          </p:nvPr>
        </p:nvSpPr>
        <p:spPr bwMode="auto">
          <a:xfrm>
            <a:off x="1350963" y="188913"/>
            <a:ext cx="7793037"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615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55"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b="0">
                <a:latin typeface="+mn-lt"/>
                <a:ea typeface="+mn-ea"/>
              </a:defRPr>
            </a:lvl1pPr>
          </a:lstStyle>
          <a:p>
            <a:endParaRPr lang="en-US" altLang="zh-CN">
              <a:solidFill>
                <a:srgbClr val="000000"/>
              </a:solidFill>
            </a:endParaRPr>
          </a:p>
        </p:txBody>
      </p:sp>
      <p:sp>
        <p:nvSpPr>
          <p:cNvPr id="6156"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a:latin typeface="+mn-lt"/>
                <a:ea typeface="+mn-ea"/>
              </a:defRPr>
            </a:lvl1pPr>
          </a:lstStyle>
          <a:p>
            <a:endParaRPr lang="en-US" altLang="zh-CN">
              <a:solidFill>
                <a:srgbClr val="000000"/>
              </a:solidFill>
            </a:endParaRPr>
          </a:p>
        </p:txBody>
      </p:sp>
      <p:sp>
        <p:nvSpPr>
          <p:cNvPr id="6157"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mn-lt"/>
                <a:ea typeface="+mn-ea"/>
              </a:defRPr>
            </a:lvl1pPr>
          </a:lstStyle>
          <a:p>
            <a:fld id="{81CA6583-5724-42B5-BD03-52E4F927ACB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4655476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l" rtl="0" fontAlgn="base">
        <a:spcBef>
          <a:spcPct val="0"/>
        </a:spcBef>
        <a:spcAft>
          <a:spcPct val="0"/>
        </a:spcAft>
        <a:defRPr sz="3200" b="1" kern="1200">
          <a:solidFill>
            <a:schemeClr val="tx2"/>
          </a:solidFill>
          <a:latin typeface="+mj-lt"/>
          <a:ea typeface="+mj-ea"/>
          <a:cs typeface="+mj-cs"/>
        </a:defRPr>
      </a:lvl1pPr>
      <a:lvl2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2pPr>
      <a:lvl3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3pPr>
      <a:lvl4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4pPr>
      <a:lvl5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417513" y="29686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7" name="Rectangle 3"/>
          <p:cNvSpPr>
            <a:spLocks noChangeArrowheads="1"/>
          </p:cNvSpPr>
          <p:nvPr/>
        </p:nvSpPr>
        <p:spPr bwMode="ltGray">
          <a:xfrm>
            <a:off x="800100" y="29686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8" name="Rectangle 4"/>
          <p:cNvSpPr>
            <a:spLocks noChangeArrowheads="1"/>
          </p:cNvSpPr>
          <p:nvPr/>
        </p:nvSpPr>
        <p:spPr bwMode="ltGray">
          <a:xfrm>
            <a:off x="541338" y="71913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9" name="Rectangle 5"/>
          <p:cNvSpPr>
            <a:spLocks noChangeArrowheads="1"/>
          </p:cNvSpPr>
          <p:nvPr/>
        </p:nvSpPr>
        <p:spPr bwMode="ltGray">
          <a:xfrm>
            <a:off x="911225" y="71913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0" name="Rectangle 6"/>
          <p:cNvSpPr>
            <a:spLocks noChangeArrowheads="1"/>
          </p:cNvSpPr>
          <p:nvPr/>
        </p:nvSpPr>
        <p:spPr bwMode="ltGray">
          <a:xfrm>
            <a:off x="127000" y="64611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1" name="Rectangle 7"/>
          <p:cNvSpPr>
            <a:spLocks noChangeArrowheads="1"/>
          </p:cNvSpPr>
          <p:nvPr/>
        </p:nvSpPr>
        <p:spPr bwMode="gray">
          <a:xfrm>
            <a:off x="762000" y="18891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2" name="Rectangle 8"/>
          <p:cNvSpPr>
            <a:spLocks noChangeArrowheads="1"/>
          </p:cNvSpPr>
          <p:nvPr/>
        </p:nvSpPr>
        <p:spPr bwMode="gray">
          <a:xfrm>
            <a:off x="539750" y="9810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3" name="Rectangle 9"/>
          <p:cNvSpPr>
            <a:spLocks noGrp="1" noChangeArrowheads="1"/>
          </p:cNvSpPr>
          <p:nvPr>
            <p:ph type="title"/>
          </p:nvPr>
        </p:nvSpPr>
        <p:spPr bwMode="auto">
          <a:xfrm>
            <a:off x="1350963" y="188913"/>
            <a:ext cx="7793037"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615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55"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b="0">
                <a:latin typeface="+mn-lt"/>
                <a:ea typeface="+mn-ea"/>
              </a:defRPr>
            </a:lvl1pPr>
          </a:lstStyle>
          <a:p>
            <a:endParaRPr lang="en-US" altLang="zh-CN">
              <a:solidFill>
                <a:srgbClr val="000000"/>
              </a:solidFill>
            </a:endParaRPr>
          </a:p>
        </p:txBody>
      </p:sp>
      <p:sp>
        <p:nvSpPr>
          <p:cNvPr id="6156"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a:latin typeface="+mn-lt"/>
                <a:ea typeface="+mn-ea"/>
              </a:defRPr>
            </a:lvl1pPr>
          </a:lstStyle>
          <a:p>
            <a:endParaRPr lang="en-US" altLang="zh-CN">
              <a:solidFill>
                <a:srgbClr val="000000"/>
              </a:solidFill>
            </a:endParaRPr>
          </a:p>
        </p:txBody>
      </p:sp>
      <p:sp>
        <p:nvSpPr>
          <p:cNvPr id="6157"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mn-lt"/>
                <a:ea typeface="+mn-ea"/>
              </a:defRPr>
            </a:lvl1pPr>
          </a:lstStyle>
          <a:p>
            <a:fld id="{81CA6583-5724-42B5-BD03-52E4F927ACB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2772043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rtl="0" fontAlgn="base">
        <a:spcBef>
          <a:spcPct val="0"/>
        </a:spcBef>
        <a:spcAft>
          <a:spcPct val="0"/>
        </a:spcAft>
        <a:defRPr sz="3200" b="1" kern="1200">
          <a:solidFill>
            <a:schemeClr val="tx2"/>
          </a:solidFill>
          <a:latin typeface="+mj-lt"/>
          <a:ea typeface="+mj-ea"/>
          <a:cs typeface="+mj-cs"/>
        </a:defRPr>
      </a:lvl1pPr>
      <a:lvl2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2pPr>
      <a:lvl3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3pPr>
      <a:lvl4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4pPr>
      <a:lvl5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ChangeArrowheads="1"/>
          </p:cNvSpPr>
          <p:nvPr/>
        </p:nvSpPr>
        <p:spPr bwMode="ltGray">
          <a:xfrm>
            <a:off x="417513" y="296863"/>
            <a:ext cx="438150" cy="47466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7" name="Rectangle 3"/>
          <p:cNvSpPr>
            <a:spLocks noChangeArrowheads="1"/>
          </p:cNvSpPr>
          <p:nvPr/>
        </p:nvSpPr>
        <p:spPr bwMode="ltGray">
          <a:xfrm>
            <a:off x="800100" y="296863"/>
            <a:ext cx="328613" cy="47466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8" name="Rectangle 4"/>
          <p:cNvSpPr>
            <a:spLocks noChangeArrowheads="1"/>
          </p:cNvSpPr>
          <p:nvPr/>
        </p:nvSpPr>
        <p:spPr bwMode="ltGray">
          <a:xfrm>
            <a:off x="541338" y="719138"/>
            <a:ext cx="422275" cy="4746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49" name="Rectangle 5"/>
          <p:cNvSpPr>
            <a:spLocks noChangeArrowheads="1"/>
          </p:cNvSpPr>
          <p:nvPr/>
        </p:nvSpPr>
        <p:spPr bwMode="ltGray">
          <a:xfrm>
            <a:off x="911225" y="719138"/>
            <a:ext cx="368300" cy="47466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0" name="Rectangle 6"/>
          <p:cNvSpPr>
            <a:spLocks noChangeArrowheads="1"/>
          </p:cNvSpPr>
          <p:nvPr/>
        </p:nvSpPr>
        <p:spPr bwMode="ltGray">
          <a:xfrm>
            <a:off x="127000" y="646113"/>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1" name="Rectangle 7"/>
          <p:cNvSpPr>
            <a:spLocks noChangeArrowheads="1"/>
          </p:cNvSpPr>
          <p:nvPr/>
        </p:nvSpPr>
        <p:spPr bwMode="gray">
          <a:xfrm>
            <a:off x="762000" y="188913"/>
            <a:ext cx="31750" cy="105251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2" name="Rectangle 8"/>
          <p:cNvSpPr>
            <a:spLocks noChangeArrowheads="1"/>
          </p:cNvSpPr>
          <p:nvPr/>
        </p:nvSpPr>
        <p:spPr bwMode="gray">
          <a:xfrm>
            <a:off x="539750" y="9810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b="0">
              <a:solidFill>
                <a:srgbClr val="000000"/>
              </a:solidFill>
              <a:latin typeface="Tahoma" panose="020B0604030504040204" pitchFamily="34" charset="0"/>
            </a:endParaRPr>
          </a:p>
        </p:txBody>
      </p:sp>
      <p:sp>
        <p:nvSpPr>
          <p:cNvPr id="6153" name="Rectangle 9"/>
          <p:cNvSpPr>
            <a:spLocks noGrp="1" noChangeArrowheads="1"/>
          </p:cNvSpPr>
          <p:nvPr>
            <p:ph type="title"/>
          </p:nvPr>
        </p:nvSpPr>
        <p:spPr bwMode="auto">
          <a:xfrm>
            <a:off x="1350963" y="188913"/>
            <a:ext cx="7793037"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615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155"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b="0">
                <a:latin typeface="+mn-lt"/>
                <a:ea typeface="+mn-ea"/>
              </a:defRPr>
            </a:lvl1pPr>
          </a:lstStyle>
          <a:p>
            <a:endParaRPr lang="en-US" altLang="zh-CN">
              <a:solidFill>
                <a:srgbClr val="000000"/>
              </a:solidFill>
            </a:endParaRPr>
          </a:p>
        </p:txBody>
      </p:sp>
      <p:sp>
        <p:nvSpPr>
          <p:cNvPr id="6156"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a:latin typeface="+mn-lt"/>
                <a:ea typeface="+mn-ea"/>
              </a:defRPr>
            </a:lvl1pPr>
          </a:lstStyle>
          <a:p>
            <a:endParaRPr lang="en-US" altLang="zh-CN">
              <a:solidFill>
                <a:srgbClr val="000000"/>
              </a:solidFill>
            </a:endParaRPr>
          </a:p>
        </p:txBody>
      </p:sp>
      <p:sp>
        <p:nvSpPr>
          <p:cNvPr id="6157"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mn-lt"/>
                <a:ea typeface="+mn-ea"/>
              </a:defRPr>
            </a:lvl1pPr>
          </a:lstStyle>
          <a:p>
            <a:fld id="{81CA6583-5724-42B5-BD03-52E4F927ACB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7563433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dt="0"/>
  <p:txStyles>
    <p:titleStyle>
      <a:lvl1pPr algn="l" rtl="0" fontAlgn="base">
        <a:spcBef>
          <a:spcPct val="0"/>
        </a:spcBef>
        <a:spcAft>
          <a:spcPct val="0"/>
        </a:spcAft>
        <a:defRPr sz="3200" b="1" kern="1200">
          <a:solidFill>
            <a:schemeClr val="tx2"/>
          </a:solidFill>
          <a:latin typeface="+mj-lt"/>
          <a:ea typeface="+mj-ea"/>
          <a:cs typeface="+mj-cs"/>
        </a:defRPr>
      </a:lvl1pPr>
      <a:lvl2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2pPr>
      <a:lvl3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3pPr>
      <a:lvl4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4pPr>
      <a:lvl5pPr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6pPr>
      <a:lvl7pPr marL="9144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7pPr>
      <a:lvl8pPr marL="13716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8pPr>
      <a:lvl9pPr marL="1828800" algn="l" rtl="0" fontAlgn="base">
        <a:spcBef>
          <a:spcPct val="0"/>
        </a:spcBef>
        <a:spcAft>
          <a:spcPct val="0"/>
        </a:spcAft>
        <a:defRPr sz="3200" b="1">
          <a:solidFill>
            <a:schemeClr val="tx2"/>
          </a:solidFill>
          <a:latin typeface="Tahoma" panose="020B0604030504040204" pitchFamily="34" charset="0"/>
          <a:ea typeface="黑体" panose="02010609060101010101" pitchFamily="49" charset="-122"/>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1">
                <a:ea typeface="黑体" pitchFamily="2" charset="-122"/>
              </a:defRPr>
            </a:lvl1pPr>
          </a:lstStyle>
          <a:p>
            <a:pPr>
              <a:defRPr/>
            </a:pPr>
            <a:endParaRPr lang="en-US" altLang="zh-CN">
              <a:solidFill>
                <a:srgbClr val="000000"/>
              </a:solidFill>
            </a:endParaRPr>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1" smtClean="0"/>
            </a:lvl1pPr>
          </a:lstStyle>
          <a:p>
            <a:pPr>
              <a:defRPr/>
            </a:pPr>
            <a:fld id="{E15472EC-FCBC-473A-B88B-265025E3E782}" type="slidenum">
              <a:rPr lang="en-US" altLang="zh-CN">
                <a:solidFill>
                  <a:srgbClr val="000000"/>
                </a:solidFill>
                <a:ea typeface="黑体" pitchFamily="2" charset="-122"/>
              </a:rPr>
              <a:pPr>
                <a:defRPr/>
              </a:pPr>
              <a:t>‹#›</a:t>
            </a:fld>
            <a:endParaRPr lang="en-US" altLang="zh-CN">
              <a:solidFill>
                <a:srgbClr val="000000"/>
              </a:solidFill>
              <a:ea typeface="黑体" pitchFamily="2" charset="-122"/>
            </a:endParaRPr>
          </a:p>
        </p:txBody>
      </p:sp>
      <p:grpSp>
        <p:nvGrpSpPr>
          <p:cNvPr id="5124"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zh-CN" altLang="zh-CN" b="0">
                <a:solidFill>
                  <a:srgbClr val="009900"/>
                </a:solidFill>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1">
              <a:gsLst>
                <a:gs pos="0">
                  <a:srgbClr val="FDDB00"/>
                </a:gs>
                <a:gs pos="100000">
                  <a:schemeClr val="bg1"/>
                </a:gs>
              </a:gsLst>
              <a:lin ang="0" scaled="1"/>
            </a:gradFill>
            <a:ln w="9525">
              <a:noFill/>
              <a:miter lim="800000"/>
              <a:headEnd/>
              <a:tailEnd/>
            </a:ln>
          </p:spPr>
          <p:txBody>
            <a:bodyPr/>
            <a:lstStyle/>
            <a:p>
              <a:pPr>
                <a:defRPr/>
              </a:pPr>
              <a:endParaRPr lang="zh-CN" altLang="zh-CN" b="0">
                <a:solidFill>
                  <a:srgbClr val="009900"/>
                </a:solidFill>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rgbClr val="FEA104"/>
            </a:solidFill>
            <a:ln w="9525">
              <a:noFill/>
              <a:miter lim="800000"/>
              <a:headEnd/>
              <a:tailEnd/>
            </a:ln>
          </p:spPr>
          <p:txBody>
            <a:bodyPr/>
            <a:lstStyle/>
            <a:p>
              <a:pPr>
                <a:defRPr/>
              </a:pPr>
              <a:endParaRPr lang="zh-CN" altLang="zh-CN" sz="1800" b="0">
                <a:solidFill>
                  <a:srgbClr val="009900"/>
                </a:solidFill>
                <a:latin typeface="Arial" pitchFamily="34" charset="0"/>
              </a:endParaRPr>
            </a:p>
          </p:txBody>
        </p:sp>
        <p:sp>
          <p:nvSpPr>
            <p:cNvPr id="1035" name="Rectangle 8"/>
            <p:cNvSpPr>
              <a:spLocks noChangeArrowheads="1"/>
            </p:cNvSpPr>
            <p:nvPr/>
          </p:nvSpPr>
          <p:spPr bwMode="auto">
            <a:xfrm>
              <a:off x="345" y="0"/>
              <a:ext cx="88" cy="87"/>
            </a:xfrm>
            <a:prstGeom prst="rect">
              <a:avLst/>
            </a:prstGeom>
            <a:solidFill>
              <a:srgbClr val="FEA104"/>
            </a:solidFill>
            <a:ln w="9525">
              <a:noFill/>
              <a:miter lim="800000"/>
              <a:headEnd/>
              <a:tailEnd/>
            </a:ln>
          </p:spPr>
          <p:txBody>
            <a:bodyPr/>
            <a:lstStyle/>
            <a:p>
              <a:pPr>
                <a:defRPr/>
              </a:pPr>
              <a:endParaRPr lang="zh-CN" altLang="zh-CN" sz="1800" b="0">
                <a:solidFill>
                  <a:srgbClr val="009900"/>
                </a:solidFill>
                <a:latin typeface="Arial" pitchFamily="34" charset="0"/>
              </a:endParaRPr>
            </a:p>
          </p:txBody>
        </p:sp>
        <p:sp>
          <p:nvSpPr>
            <p:cNvPr id="1036" name="Rectangle 9"/>
            <p:cNvSpPr>
              <a:spLocks noChangeArrowheads="1"/>
            </p:cNvSpPr>
            <p:nvPr/>
          </p:nvSpPr>
          <p:spPr bwMode="auto">
            <a:xfrm>
              <a:off x="345" y="85"/>
              <a:ext cx="88" cy="89"/>
            </a:xfrm>
            <a:prstGeom prst="rect">
              <a:avLst/>
            </a:prstGeom>
            <a:solidFill>
              <a:srgbClr val="821006"/>
            </a:solidFill>
            <a:ln w="9525">
              <a:noFill/>
              <a:miter lim="800000"/>
              <a:headEnd/>
              <a:tailEnd/>
            </a:ln>
          </p:spPr>
          <p:txBody>
            <a:bodyPr/>
            <a:lstStyle/>
            <a:p>
              <a:pPr>
                <a:defRPr/>
              </a:pPr>
              <a:endParaRPr lang="zh-CN" altLang="zh-CN" sz="1800" b="0">
                <a:solidFill>
                  <a:srgbClr val="009900"/>
                </a:solidFill>
                <a:latin typeface="Arial" pitchFamily="34" charset="0"/>
              </a:endParaRPr>
            </a:p>
          </p:txBody>
        </p:sp>
        <p:sp>
          <p:nvSpPr>
            <p:cNvPr id="1037" name="Rectangle 10"/>
            <p:cNvSpPr>
              <a:spLocks noChangeArrowheads="1"/>
            </p:cNvSpPr>
            <p:nvPr/>
          </p:nvSpPr>
          <p:spPr bwMode="auto">
            <a:xfrm>
              <a:off x="173" y="173"/>
              <a:ext cx="86" cy="87"/>
            </a:xfrm>
            <a:prstGeom prst="rect">
              <a:avLst/>
            </a:prstGeom>
            <a:solidFill>
              <a:srgbClr val="FEA104"/>
            </a:solidFill>
            <a:ln w="9525">
              <a:noFill/>
              <a:miter lim="800000"/>
              <a:headEnd/>
              <a:tailEnd/>
            </a:ln>
          </p:spPr>
          <p:txBody>
            <a:bodyPr/>
            <a:lstStyle/>
            <a:p>
              <a:pPr>
                <a:defRPr/>
              </a:pPr>
              <a:endParaRPr lang="zh-CN" altLang="zh-CN" sz="1800" b="0">
                <a:solidFill>
                  <a:srgbClr val="009900"/>
                </a:solidFill>
                <a:latin typeface="Arial" pitchFamily="34" charset="0"/>
              </a:endParaRPr>
            </a:p>
          </p:txBody>
        </p:sp>
        <p:sp>
          <p:nvSpPr>
            <p:cNvPr id="1038" name="Rectangle 11"/>
            <p:cNvSpPr>
              <a:spLocks noChangeArrowheads="1"/>
            </p:cNvSpPr>
            <p:nvPr/>
          </p:nvSpPr>
          <p:spPr bwMode="auto">
            <a:xfrm>
              <a:off x="83" y="86"/>
              <a:ext cx="89" cy="87"/>
            </a:xfrm>
            <a:prstGeom prst="rect">
              <a:avLst/>
            </a:prstGeom>
            <a:solidFill>
              <a:srgbClr val="821006"/>
            </a:solidFill>
            <a:ln w="9525">
              <a:noFill/>
              <a:miter lim="800000"/>
              <a:headEnd/>
              <a:tailEnd/>
            </a:ln>
          </p:spPr>
          <p:txBody>
            <a:bodyPr/>
            <a:lstStyle/>
            <a:p>
              <a:pPr>
                <a:defRPr/>
              </a:pPr>
              <a:endParaRPr lang="zh-CN" altLang="zh-CN" b="0">
                <a:solidFill>
                  <a:srgbClr val="009900"/>
                </a:solidFill>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rgbClr val="821006"/>
            </a:solidFill>
            <a:ln w="9525">
              <a:noFill/>
              <a:miter lim="800000"/>
              <a:headEnd/>
              <a:tailEnd/>
            </a:ln>
          </p:spPr>
          <p:txBody>
            <a:bodyPr/>
            <a:lstStyle/>
            <a:p>
              <a:pPr>
                <a:defRPr/>
              </a:pPr>
              <a:endParaRPr lang="zh-CN" altLang="zh-CN" sz="1800" b="0">
                <a:solidFill>
                  <a:srgbClr val="009900"/>
                </a:solidFill>
                <a:latin typeface="Arial" pitchFamily="34" charset="0"/>
              </a:endParaRPr>
            </a:p>
          </p:txBody>
        </p:sp>
        <p:sp>
          <p:nvSpPr>
            <p:cNvPr id="1040" name="Rectangle 13"/>
            <p:cNvSpPr>
              <a:spLocks noChangeArrowheads="1"/>
            </p:cNvSpPr>
            <p:nvPr/>
          </p:nvSpPr>
          <p:spPr bwMode="auto">
            <a:xfrm>
              <a:off x="173" y="258"/>
              <a:ext cx="86" cy="86"/>
            </a:xfrm>
            <a:prstGeom prst="rect">
              <a:avLst/>
            </a:prstGeom>
            <a:solidFill>
              <a:srgbClr val="821006"/>
            </a:solidFill>
            <a:ln w="9525">
              <a:noFill/>
              <a:miter lim="800000"/>
              <a:headEnd/>
              <a:tailEnd/>
            </a:ln>
          </p:spPr>
          <p:txBody>
            <a:bodyPr/>
            <a:lstStyle/>
            <a:p>
              <a:pPr>
                <a:defRPr/>
              </a:pPr>
              <a:endParaRPr lang="zh-CN" altLang="zh-CN" sz="1800" b="0">
                <a:solidFill>
                  <a:srgbClr val="009900"/>
                </a:solidFill>
                <a:latin typeface="Arial" pitchFamily="34" charset="0"/>
              </a:endParaRPr>
            </a:p>
          </p:txBody>
        </p:sp>
      </p:grpSp>
      <p:sp>
        <p:nvSpPr>
          <p:cNvPr id="5125" name="Rectangle 14"/>
          <p:cNvSpPr>
            <a:spLocks noGrp="1" noChangeArrowheads="1"/>
          </p:cNvSpPr>
          <p:nvPr>
            <p:ph type="title"/>
          </p:nvPr>
        </p:nvSpPr>
        <p:spPr bwMode="auto">
          <a:xfrm>
            <a:off x="457200" y="457200"/>
            <a:ext cx="8229600" cy="6683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126" name="Rectangle 15"/>
          <p:cNvSpPr>
            <a:spLocks noGrp="1" noChangeArrowheads="1"/>
          </p:cNvSpPr>
          <p:nvPr>
            <p:ph type="body" idx="1"/>
          </p:nvPr>
        </p:nvSpPr>
        <p:spPr bwMode="auto">
          <a:xfrm>
            <a:off x="457200" y="1268413"/>
            <a:ext cx="8229600" cy="4752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1">
                <a:ea typeface="黑体" pitchFamily="2" charset="-122"/>
              </a:defRPr>
            </a:lvl1pPr>
          </a:lstStyle>
          <a:p>
            <a:pPr>
              <a:defRPr/>
            </a:pPr>
            <a:endParaRPr lang="en-US" altLang="zh-CN">
              <a:solidFill>
                <a:srgbClr val="000000"/>
              </a:solidFill>
            </a:endParaRPr>
          </a:p>
        </p:txBody>
      </p:sp>
    </p:spTree>
    <p:extLst>
      <p:ext uri="{BB962C8B-B14F-4D97-AF65-F5344CB8AC3E}">
        <p14:creationId xmlns:p14="http://schemas.microsoft.com/office/powerpoint/2010/main" val="350251701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rtl="0" eaLnBrk="0" fontAlgn="base" hangingPunct="0">
        <a:spcBef>
          <a:spcPct val="0"/>
        </a:spcBef>
        <a:spcAft>
          <a:spcPct val="0"/>
        </a:spcAft>
        <a:defRPr sz="3200" b="1">
          <a:solidFill>
            <a:srgbClr val="DA0000"/>
          </a:solidFill>
          <a:latin typeface="+mj-lt"/>
          <a:ea typeface="+mj-ea"/>
          <a:cs typeface="+mj-cs"/>
        </a:defRPr>
      </a:lvl1pPr>
      <a:lvl2pPr algn="l" rtl="0" eaLnBrk="0" fontAlgn="base" hangingPunct="0">
        <a:spcBef>
          <a:spcPct val="0"/>
        </a:spcBef>
        <a:spcAft>
          <a:spcPct val="0"/>
        </a:spcAft>
        <a:defRPr sz="3200" b="1">
          <a:solidFill>
            <a:srgbClr val="DA0000"/>
          </a:solidFill>
          <a:latin typeface="Verdana" pitchFamily="34" charset="0"/>
          <a:ea typeface="黑体" pitchFamily="2" charset="-122"/>
        </a:defRPr>
      </a:lvl2pPr>
      <a:lvl3pPr algn="l" rtl="0" eaLnBrk="0" fontAlgn="base" hangingPunct="0">
        <a:spcBef>
          <a:spcPct val="0"/>
        </a:spcBef>
        <a:spcAft>
          <a:spcPct val="0"/>
        </a:spcAft>
        <a:defRPr sz="3200" b="1">
          <a:solidFill>
            <a:srgbClr val="DA0000"/>
          </a:solidFill>
          <a:latin typeface="Verdana" pitchFamily="34" charset="0"/>
          <a:ea typeface="黑体" pitchFamily="2" charset="-122"/>
        </a:defRPr>
      </a:lvl3pPr>
      <a:lvl4pPr algn="l" rtl="0" eaLnBrk="0" fontAlgn="base" hangingPunct="0">
        <a:spcBef>
          <a:spcPct val="0"/>
        </a:spcBef>
        <a:spcAft>
          <a:spcPct val="0"/>
        </a:spcAft>
        <a:defRPr sz="3200" b="1">
          <a:solidFill>
            <a:srgbClr val="DA0000"/>
          </a:solidFill>
          <a:latin typeface="Verdana" pitchFamily="34" charset="0"/>
          <a:ea typeface="黑体" pitchFamily="2" charset="-122"/>
        </a:defRPr>
      </a:lvl4pPr>
      <a:lvl5pPr algn="l" rtl="0" eaLnBrk="0" fontAlgn="base" hangingPunct="0">
        <a:spcBef>
          <a:spcPct val="0"/>
        </a:spcBef>
        <a:spcAft>
          <a:spcPct val="0"/>
        </a:spcAft>
        <a:defRPr sz="3200" b="1">
          <a:solidFill>
            <a:srgbClr val="DA0000"/>
          </a:solidFill>
          <a:latin typeface="Verdana" pitchFamily="34" charset="0"/>
          <a:ea typeface="黑体" pitchFamily="2" charset="-122"/>
        </a:defRPr>
      </a:lvl5pPr>
      <a:lvl6pPr marL="457200" algn="l" rtl="0" fontAlgn="base">
        <a:spcBef>
          <a:spcPct val="0"/>
        </a:spcBef>
        <a:spcAft>
          <a:spcPct val="0"/>
        </a:spcAft>
        <a:defRPr sz="3200" b="1">
          <a:solidFill>
            <a:srgbClr val="DA0000"/>
          </a:solidFill>
          <a:latin typeface="Verdana" pitchFamily="34" charset="0"/>
          <a:ea typeface="黑体" pitchFamily="2" charset="-122"/>
        </a:defRPr>
      </a:lvl6pPr>
      <a:lvl7pPr marL="914400" algn="l" rtl="0" fontAlgn="base">
        <a:spcBef>
          <a:spcPct val="0"/>
        </a:spcBef>
        <a:spcAft>
          <a:spcPct val="0"/>
        </a:spcAft>
        <a:defRPr sz="3200" b="1">
          <a:solidFill>
            <a:srgbClr val="DA0000"/>
          </a:solidFill>
          <a:latin typeface="Verdana" pitchFamily="34" charset="0"/>
          <a:ea typeface="黑体" pitchFamily="2" charset="-122"/>
        </a:defRPr>
      </a:lvl7pPr>
      <a:lvl8pPr marL="1371600" algn="l" rtl="0" fontAlgn="base">
        <a:spcBef>
          <a:spcPct val="0"/>
        </a:spcBef>
        <a:spcAft>
          <a:spcPct val="0"/>
        </a:spcAft>
        <a:defRPr sz="3200" b="1">
          <a:solidFill>
            <a:srgbClr val="DA0000"/>
          </a:solidFill>
          <a:latin typeface="Verdana" pitchFamily="34" charset="0"/>
          <a:ea typeface="黑体" pitchFamily="2" charset="-122"/>
        </a:defRPr>
      </a:lvl8pPr>
      <a:lvl9pPr marL="1828800" algn="l" rtl="0" fontAlgn="base">
        <a:spcBef>
          <a:spcPct val="0"/>
        </a:spcBef>
        <a:spcAft>
          <a:spcPct val="0"/>
        </a:spcAft>
        <a:defRPr sz="3200" b="1">
          <a:solidFill>
            <a:srgbClr val="DA0000"/>
          </a:solidFill>
          <a:latin typeface="Verdana" pitchFamily="34" charset="0"/>
          <a:ea typeface="黑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rgbClr val="0000B8"/>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b="1">
          <a:solidFill>
            <a:srgbClr val="A5002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rgbClr val="0066FF"/>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rgbClr val="009900"/>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w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image" Target="../media/image18.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6.xml"/><Relationship Id="rId1" Type="http://schemas.openxmlformats.org/officeDocument/2006/relationships/slideLayout" Target="../slideLayouts/slideLayout30.xml"/><Relationship Id="rId4" Type="http://schemas.openxmlformats.org/officeDocument/2006/relationships/image" Target="../media/image21.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4.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64528A8A-76D5-48D6-8B3E-9262D77C8D68}" type="slidenum">
              <a:rPr lang="en-US" altLang="zh-CN" sz="1400" b="0">
                <a:solidFill>
                  <a:schemeClr val="bg2"/>
                </a:solidFill>
                <a:latin typeface="Tahoma" panose="020B0604030504040204" pitchFamily="34" charset="0"/>
              </a:rPr>
              <a:pPr eaLnBrk="1" hangingPunct="1"/>
              <a:t>1</a:t>
            </a:fld>
            <a:endParaRPr lang="en-US" altLang="zh-CN" sz="1400" b="0">
              <a:solidFill>
                <a:schemeClr val="bg2"/>
              </a:solidFill>
              <a:latin typeface="Tahoma" panose="020B0604030504040204" pitchFamily="34" charset="0"/>
            </a:endParaRPr>
          </a:p>
        </p:txBody>
      </p:sp>
      <p:sp>
        <p:nvSpPr>
          <p:cNvPr id="4099" name="Rectangle 2"/>
          <p:cNvSpPr>
            <a:spLocks noGrp="1" noChangeArrowheads="1"/>
          </p:cNvSpPr>
          <p:nvPr>
            <p:ph type="ctrTitle"/>
          </p:nvPr>
        </p:nvSpPr>
        <p:spPr>
          <a:xfrm>
            <a:off x="539750" y="1700213"/>
            <a:ext cx="7772400" cy="1462087"/>
          </a:xfrm>
        </p:spPr>
        <p:txBody>
          <a:bodyPr/>
          <a:lstStyle/>
          <a:p>
            <a:pPr algn="ctr" eaLnBrk="1" hangingPunct="1"/>
            <a:endParaRPr lang="zh-CN" altLang="zh-CN" sz="4400" smtClean="0"/>
          </a:p>
        </p:txBody>
      </p:sp>
      <p:sp>
        <p:nvSpPr>
          <p:cNvPr id="4100" name="Rectangle 3"/>
          <p:cNvSpPr>
            <a:spLocks noGrp="1" noChangeArrowheads="1"/>
          </p:cNvSpPr>
          <p:nvPr>
            <p:ph type="subTitle" idx="1"/>
          </p:nvPr>
        </p:nvSpPr>
        <p:spPr>
          <a:xfrm>
            <a:off x="611188" y="3789363"/>
            <a:ext cx="8208962" cy="1752600"/>
          </a:xfrm>
        </p:spPr>
        <p:txBody>
          <a:bodyPr/>
          <a:lstStyle/>
          <a:p>
            <a:pPr eaLnBrk="1" hangingPunct="1"/>
            <a:r>
              <a:rPr lang="en-US" altLang="zh-CN" sz="6000" b="1" smtClean="0"/>
              <a:t>Verilog</a:t>
            </a:r>
            <a:r>
              <a:rPr lang="zh-CN" altLang="en-US" sz="6000" b="1" smtClean="0"/>
              <a:t>设计快速入门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4B17C806-091A-44C9-BB35-D9CE5E765690}" type="slidenum">
              <a:rPr lang="en-US" altLang="zh-CN" sz="1400" b="0">
                <a:latin typeface="Tahoma" panose="020B0604030504040204" pitchFamily="34" charset="0"/>
              </a:rPr>
              <a:pPr eaLnBrk="1" hangingPunct="1"/>
              <a:t>2</a:t>
            </a:fld>
            <a:endParaRPr lang="en-US" altLang="zh-CN" sz="1400" b="0">
              <a:latin typeface="Tahoma" panose="020B0604030504040204" pitchFamily="34" charset="0"/>
            </a:endParaRPr>
          </a:p>
        </p:txBody>
      </p:sp>
      <p:grpSp>
        <p:nvGrpSpPr>
          <p:cNvPr id="5123" name="Group 18"/>
          <p:cNvGrpSpPr>
            <a:grpSpLocks/>
          </p:cNvGrpSpPr>
          <p:nvPr/>
        </p:nvGrpSpPr>
        <p:grpSpPr bwMode="auto">
          <a:xfrm>
            <a:off x="179388" y="1174750"/>
            <a:ext cx="5905500" cy="5062538"/>
            <a:chOff x="113" y="740"/>
            <a:chExt cx="3720" cy="3189"/>
          </a:xfrm>
        </p:grpSpPr>
        <p:sp>
          <p:nvSpPr>
            <p:cNvPr id="5128" name="Rectangle 5"/>
            <p:cNvSpPr>
              <a:spLocks noChangeArrowheads="1"/>
            </p:cNvSpPr>
            <p:nvPr/>
          </p:nvSpPr>
          <p:spPr bwMode="auto">
            <a:xfrm>
              <a:off x="113" y="740"/>
              <a:ext cx="3720" cy="3168"/>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5129" name="Text Box 6"/>
            <p:cNvSpPr txBox="1">
              <a:spLocks noChangeArrowheads="1"/>
            </p:cNvSpPr>
            <p:nvPr/>
          </p:nvSpPr>
          <p:spPr bwMode="auto">
            <a:xfrm>
              <a:off x="353" y="1556"/>
              <a:ext cx="1488" cy="450"/>
            </a:xfrm>
            <a:prstGeom prst="rect">
              <a:avLst/>
            </a:prstGeom>
            <a:solidFill>
              <a:srgbClr val="E6E6F2"/>
            </a:solidFill>
            <a:ln w="28575" algn="ctr">
              <a:solidFill>
                <a:srgbClr val="000099"/>
              </a:solidFill>
              <a:miter lim="800000"/>
              <a:headEnd type="none" w="lg" len="lg"/>
              <a:tailEnd/>
            </a:ln>
          </p:spPr>
          <p:txBody>
            <a:bodyPr tIns="19080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rgbClr val="000099"/>
                  </a:solidFill>
                  <a:latin typeface="Arial" panose="020B0604020202020204" pitchFamily="34" charset="0"/>
                  <a:ea typeface="黑体" panose="02010609060101010101" pitchFamily="49" charset="-122"/>
                </a:rPr>
                <a:t>内部信号声明</a:t>
              </a:r>
            </a:p>
          </p:txBody>
        </p:sp>
        <p:sp>
          <p:nvSpPr>
            <p:cNvPr id="5130" name="Text Box 7"/>
            <p:cNvSpPr txBox="1">
              <a:spLocks noChangeArrowheads="1"/>
            </p:cNvSpPr>
            <p:nvPr/>
          </p:nvSpPr>
          <p:spPr bwMode="auto">
            <a:xfrm>
              <a:off x="2064" y="1556"/>
              <a:ext cx="1488" cy="450"/>
            </a:xfrm>
            <a:prstGeom prst="rect">
              <a:avLst/>
            </a:prstGeom>
            <a:solidFill>
              <a:srgbClr val="E6E6F2"/>
            </a:solidFill>
            <a:ln w="28575" algn="ctr">
              <a:solidFill>
                <a:srgbClr val="000099"/>
              </a:solidFill>
              <a:miter lim="800000"/>
              <a:headEnd type="none" w="lg" len="lg"/>
              <a:tailEnd/>
            </a:ln>
          </p:spPr>
          <p:txBody>
            <a:bodyPr tIns="19080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assign</a:t>
              </a:r>
              <a:r>
                <a:rPr lang="zh-CN" altLang="en-US" sz="2000">
                  <a:solidFill>
                    <a:srgbClr val="000099"/>
                  </a:solidFill>
                  <a:latin typeface="Arial" panose="020B0604020202020204" pitchFamily="34" charset="0"/>
                  <a:ea typeface="黑体" panose="02010609060101010101" pitchFamily="49" charset="-122"/>
                </a:rPr>
                <a:t>语句</a:t>
              </a:r>
            </a:p>
          </p:txBody>
        </p:sp>
        <p:sp>
          <p:nvSpPr>
            <p:cNvPr id="5131" name="Text Box 8"/>
            <p:cNvSpPr txBox="1">
              <a:spLocks noChangeArrowheads="1"/>
            </p:cNvSpPr>
            <p:nvPr/>
          </p:nvSpPr>
          <p:spPr bwMode="auto">
            <a:xfrm>
              <a:off x="353" y="2162"/>
              <a:ext cx="1488" cy="642"/>
            </a:xfrm>
            <a:prstGeom prst="rect">
              <a:avLst/>
            </a:prstGeom>
            <a:solidFill>
              <a:srgbClr val="E6E6F2"/>
            </a:solidFill>
            <a:ln w="28575" algn="ctr">
              <a:solidFill>
                <a:schemeClr val="tx2"/>
              </a:solidFill>
              <a:miter lim="800000"/>
              <a:headEnd type="none" w="lg" len="lg"/>
              <a:tailEnd/>
            </a:ln>
          </p:spPr>
          <p:txBody>
            <a:bodyPr tIns="19080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dirty="0">
                  <a:solidFill>
                    <a:schemeClr val="tx2"/>
                  </a:solidFill>
                  <a:latin typeface="Arial" panose="020B0604020202020204" pitchFamily="34" charset="0"/>
                  <a:ea typeface="黑体" panose="02010609060101010101" pitchFamily="49" charset="-122"/>
                </a:rPr>
                <a:t>底层模块或门原语调用</a:t>
              </a:r>
              <a:r>
                <a:rPr lang="en-US" altLang="zh-CN" sz="2000" dirty="0">
                  <a:solidFill>
                    <a:schemeClr val="accent1">
                      <a:lumMod val="50000"/>
                    </a:schemeClr>
                  </a:solidFill>
                  <a:latin typeface="Arial" panose="020B0604020202020204" pitchFamily="34" charset="0"/>
                  <a:ea typeface="黑体" panose="02010609060101010101" pitchFamily="49" charset="-122"/>
                </a:rPr>
                <a:t>(</a:t>
              </a:r>
              <a:r>
                <a:rPr lang="zh-CN" altLang="en-US" sz="2000" dirty="0">
                  <a:solidFill>
                    <a:schemeClr val="accent1">
                      <a:lumMod val="50000"/>
                    </a:schemeClr>
                  </a:solidFill>
                  <a:latin typeface="Arial" panose="020B0604020202020204" pitchFamily="34" charset="0"/>
                  <a:ea typeface="黑体" panose="02010609060101010101" pitchFamily="49" charset="-122"/>
                </a:rPr>
                <a:t>包括生成块</a:t>
              </a:r>
              <a:r>
                <a:rPr lang="en-US" altLang="zh-CN" sz="2000" dirty="0">
                  <a:solidFill>
                    <a:schemeClr val="accent1">
                      <a:lumMod val="50000"/>
                    </a:schemeClr>
                  </a:solidFill>
                  <a:latin typeface="Arial" panose="020B0604020202020204" pitchFamily="34" charset="0"/>
                  <a:ea typeface="黑体" panose="02010609060101010101" pitchFamily="49" charset="-122"/>
                </a:rPr>
                <a:t>)</a:t>
              </a:r>
            </a:p>
          </p:txBody>
        </p:sp>
        <p:sp>
          <p:nvSpPr>
            <p:cNvPr id="5132" name="Text Box 9"/>
            <p:cNvSpPr txBox="1">
              <a:spLocks noChangeArrowheads="1"/>
            </p:cNvSpPr>
            <p:nvPr/>
          </p:nvSpPr>
          <p:spPr bwMode="auto">
            <a:xfrm>
              <a:off x="2064" y="2162"/>
              <a:ext cx="1488" cy="642"/>
            </a:xfrm>
            <a:prstGeom prst="rect">
              <a:avLst/>
            </a:prstGeom>
            <a:solidFill>
              <a:srgbClr val="E6E6F2"/>
            </a:solidFill>
            <a:ln w="28575" algn="ctr">
              <a:solidFill>
                <a:srgbClr val="000099"/>
              </a:solidFill>
              <a:miter lim="800000"/>
              <a:headEnd type="none" w="lg" len="lg"/>
              <a:tailEnd/>
            </a:ln>
          </p:spPr>
          <p:txBody>
            <a:bodyPr tIns="19080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dirty="0">
                  <a:solidFill>
                    <a:schemeClr val="accent1">
                      <a:lumMod val="50000"/>
                    </a:schemeClr>
                  </a:solidFill>
                  <a:latin typeface="Arial" panose="020B0604020202020204" pitchFamily="34" charset="0"/>
                  <a:ea typeface="黑体" panose="02010609060101010101" pitchFamily="49" charset="-122"/>
                </a:rPr>
                <a:t>Initial</a:t>
              </a:r>
              <a:r>
                <a:rPr lang="zh-CN" altLang="en-US" sz="2000" dirty="0">
                  <a:solidFill>
                    <a:srgbClr val="000099"/>
                  </a:solidFill>
                  <a:latin typeface="Arial" panose="020B0604020202020204" pitchFamily="34" charset="0"/>
                  <a:ea typeface="黑体" panose="02010609060101010101" pitchFamily="49" charset="-122"/>
                </a:rPr>
                <a:t>或</a:t>
              </a:r>
              <a:r>
                <a:rPr lang="en-US" altLang="zh-CN" sz="2000" dirty="0">
                  <a:solidFill>
                    <a:srgbClr val="000099"/>
                  </a:solidFill>
                  <a:latin typeface="Arial" panose="020B0604020202020204" pitchFamily="34" charset="0"/>
                  <a:ea typeface="黑体" panose="02010609060101010101" pitchFamily="49" charset="-122"/>
                </a:rPr>
                <a:t>always</a:t>
              </a:r>
            </a:p>
            <a:p>
              <a:pPr algn="ctr" eaLnBrk="1" hangingPunct="1"/>
              <a:r>
                <a:rPr lang="zh-CN" altLang="en-US" sz="2000" dirty="0">
                  <a:solidFill>
                    <a:srgbClr val="000099"/>
                  </a:solidFill>
                  <a:latin typeface="Arial" panose="020B0604020202020204" pitchFamily="34" charset="0"/>
                  <a:ea typeface="黑体" panose="02010609060101010101" pitchFamily="49" charset="-122"/>
                </a:rPr>
                <a:t>语句块</a:t>
              </a:r>
            </a:p>
          </p:txBody>
        </p:sp>
        <p:sp>
          <p:nvSpPr>
            <p:cNvPr id="5133" name="Text Box 10"/>
            <p:cNvSpPr txBox="1">
              <a:spLocks noChangeArrowheads="1"/>
            </p:cNvSpPr>
            <p:nvPr/>
          </p:nvSpPr>
          <p:spPr bwMode="auto">
            <a:xfrm>
              <a:off x="353" y="2976"/>
              <a:ext cx="1536" cy="450"/>
            </a:xfrm>
            <a:prstGeom prst="rect">
              <a:avLst/>
            </a:prstGeom>
            <a:solidFill>
              <a:srgbClr val="E6E6F2"/>
            </a:solidFill>
            <a:ln w="28575" algn="ctr">
              <a:solidFill>
                <a:schemeClr val="accent1">
                  <a:lumMod val="75000"/>
                </a:schemeClr>
              </a:solidFill>
              <a:prstDash val="dash"/>
              <a:miter lim="800000"/>
              <a:headEnd type="none" w="lg" len="lg"/>
              <a:tailEnd/>
            </a:ln>
          </p:spPr>
          <p:txBody>
            <a:bodyPr tIns="19080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dirty="0">
                  <a:solidFill>
                    <a:schemeClr val="accent1">
                      <a:lumMod val="50000"/>
                    </a:schemeClr>
                  </a:solidFill>
                  <a:latin typeface="Arial" panose="020B0604020202020204" pitchFamily="34" charset="0"/>
                  <a:ea typeface="黑体" panose="02010609060101010101" pitchFamily="49" charset="-122"/>
                </a:rPr>
                <a:t>任务和函数定义</a:t>
              </a:r>
            </a:p>
          </p:txBody>
        </p:sp>
        <p:sp>
          <p:nvSpPr>
            <p:cNvPr id="5134" name="Text Box 11"/>
            <p:cNvSpPr txBox="1">
              <a:spLocks noChangeArrowheads="1"/>
            </p:cNvSpPr>
            <p:nvPr/>
          </p:nvSpPr>
          <p:spPr bwMode="auto">
            <a:xfrm>
              <a:off x="113" y="740"/>
              <a:ext cx="3720" cy="690"/>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en-US" altLang="zh-CN" sz="2000">
                  <a:solidFill>
                    <a:schemeClr val="hlink"/>
                  </a:solidFill>
                  <a:latin typeface="Arial" panose="020B0604020202020204" pitchFamily="34" charset="0"/>
                  <a:ea typeface="黑体" panose="02010609060101010101" pitchFamily="49" charset="-122"/>
                </a:rPr>
                <a:t>module </a:t>
              </a:r>
              <a:r>
                <a:rPr lang="zh-CN" altLang="en-US" sz="2000">
                  <a:solidFill>
                    <a:schemeClr val="hlink"/>
                  </a:solidFill>
                  <a:latin typeface="Arial" panose="020B0604020202020204" pitchFamily="34" charset="0"/>
                  <a:ea typeface="黑体" panose="02010609060101010101" pitchFamily="49" charset="-122"/>
                </a:rPr>
                <a:t>模块名</a:t>
              </a:r>
              <a:r>
                <a:rPr lang="zh-CN" altLang="en-US" sz="2000">
                  <a:solidFill>
                    <a:srgbClr val="000099"/>
                  </a:solidFill>
                  <a:latin typeface="Arial" panose="020B0604020202020204" pitchFamily="34" charset="0"/>
                  <a:ea typeface="黑体" panose="02010609060101010101" pitchFamily="49" charset="-122"/>
                </a:rPr>
                <a:t>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en-US" altLang="zh-CN" sz="2000">
                  <a:solidFill>
                    <a:srgbClr val="7030A0"/>
                  </a:solidFill>
                  <a:latin typeface="Arial" panose="020B0604020202020204" pitchFamily="34" charset="0"/>
                  <a:ea typeface="黑体" panose="02010609060101010101" pitchFamily="49" charset="-122"/>
                </a:rPr>
                <a:t>[</a:t>
              </a:r>
              <a:r>
                <a:rPr lang="zh-CN" altLang="en-US" sz="2000">
                  <a:solidFill>
                    <a:srgbClr val="7030A0"/>
                  </a:solidFill>
                  <a:latin typeface="Arial" panose="020B0604020202020204" pitchFamily="34" charset="0"/>
                  <a:ea typeface="黑体" panose="02010609060101010101" pitchFamily="49" charset="-122"/>
                </a:rPr>
                <a:t>参数声明</a:t>
              </a:r>
              <a:r>
                <a:rPr lang="en-US" altLang="zh-CN" sz="2000">
                  <a:solidFill>
                    <a:srgbClr val="7030A0"/>
                  </a:solidFill>
                  <a:latin typeface="Arial" panose="020B0604020202020204" pitchFamily="34" charset="0"/>
                  <a:ea typeface="黑体" panose="02010609060101010101" pitchFamily="49" charset="-122"/>
                </a:rPr>
                <a:t>;]</a:t>
              </a:r>
            </a:p>
          </p:txBody>
        </p:sp>
        <p:sp>
          <p:nvSpPr>
            <p:cNvPr id="5135" name="Text Box 12"/>
            <p:cNvSpPr txBox="1">
              <a:spLocks noChangeArrowheads="1"/>
            </p:cNvSpPr>
            <p:nvPr/>
          </p:nvSpPr>
          <p:spPr bwMode="auto">
            <a:xfrm>
              <a:off x="113" y="3569"/>
              <a:ext cx="3720" cy="360"/>
            </a:xfrm>
            <a:prstGeom prst="rect">
              <a:avLst/>
            </a:prstGeom>
            <a:solidFill>
              <a:srgbClr val="E6E6F2"/>
            </a:solidFill>
            <a:ln w="28575" algn="ctr">
              <a:solidFill>
                <a:srgbClr val="000099"/>
              </a:solidFill>
              <a:miter lim="800000"/>
              <a:headEnd type="none" w="lg" len="lg"/>
              <a:tailEnd/>
            </a:ln>
          </p:spPr>
          <p:txBody>
            <a:bodyPr tIns="118800" bIns="118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en-US" altLang="zh-CN" sz="2000">
                  <a:solidFill>
                    <a:schemeClr val="hlink"/>
                  </a:solidFill>
                  <a:latin typeface="Arial" panose="020B0604020202020204" pitchFamily="34" charset="0"/>
                  <a:ea typeface="黑体" panose="02010609060101010101" pitchFamily="49" charset="-122"/>
                </a:rPr>
                <a:t>endmodule</a:t>
              </a:r>
            </a:p>
          </p:txBody>
        </p:sp>
        <p:sp>
          <p:nvSpPr>
            <p:cNvPr id="5136" name="Text Box 13"/>
            <p:cNvSpPr txBox="1">
              <a:spLocks noChangeArrowheads="1"/>
            </p:cNvSpPr>
            <p:nvPr/>
          </p:nvSpPr>
          <p:spPr bwMode="auto">
            <a:xfrm>
              <a:off x="2064" y="2976"/>
              <a:ext cx="1536" cy="450"/>
            </a:xfrm>
            <a:prstGeom prst="rect">
              <a:avLst/>
            </a:prstGeom>
            <a:solidFill>
              <a:srgbClr val="E6E6F2"/>
            </a:solidFill>
            <a:ln w="28575" algn="ctr">
              <a:solidFill>
                <a:schemeClr val="accent1">
                  <a:lumMod val="75000"/>
                </a:schemeClr>
              </a:solidFill>
              <a:prstDash val="dash"/>
              <a:miter lim="800000"/>
              <a:headEnd type="none" w="lg" len="lg"/>
              <a:tailEnd/>
            </a:ln>
          </p:spPr>
          <p:txBody>
            <a:bodyPr lIns="0" tIns="190800" rIns="0" bIns="190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en-US" altLang="zh-CN" sz="2000" dirty="0">
                  <a:solidFill>
                    <a:schemeClr val="accent1">
                      <a:lumMod val="50000"/>
                    </a:schemeClr>
                  </a:solidFill>
                  <a:latin typeface="Arial" panose="020B0604020202020204" pitchFamily="34" charset="0"/>
                  <a:ea typeface="黑体" panose="02010609060101010101" pitchFamily="49" charset="-122"/>
                </a:rPr>
                <a:t>specify </a:t>
              </a:r>
              <a:r>
                <a:rPr lang="zh-CN" altLang="en-US" sz="2000" dirty="0">
                  <a:solidFill>
                    <a:schemeClr val="accent1">
                      <a:lumMod val="50000"/>
                    </a:schemeClr>
                  </a:solidFill>
                  <a:latin typeface="Arial" panose="020B0604020202020204" pitchFamily="34" charset="0"/>
                  <a:ea typeface="黑体" panose="02010609060101010101" pitchFamily="49" charset="-122"/>
                </a:rPr>
                <a:t>块</a:t>
              </a:r>
              <a:r>
                <a:rPr lang="en-US" altLang="zh-CN" sz="2000" dirty="0">
                  <a:solidFill>
                    <a:schemeClr val="accent1">
                      <a:lumMod val="50000"/>
                    </a:schemeClr>
                  </a:solidFill>
                  <a:latin typeface="Arial" panose="020B0604020202020204" pitchFamily="34" charset="0"/>
                  <a:ea typeface="黑体" panose="02010609060101010101" pitchFamily="49" charset="-122"/>
                </a:rPr>
                <a:t>(</a:t>
              </a:r>
              <a:r>
                <a:rPr lang="zh-CN" altLang="en-US" sz="2000" dirty="0">
                  <a:solidFill>
                    <a:schemeClr val="accent1">
                      <a:lumMod val="50000"/>
                    </a:schemeClr>
                  </a:solidFill>
                  <a:latin typeface="Arial" panose="020B0604020202020204" pitchFamily="34" charset="0"/>
                  <a:ea typeface="黑体" panose="02010609060101010101" pitchFamily="49" charset="-122"/>
                </a:rPr>
                <a:t>路径延迟</a:t>
              </a:r>
              <a:r>
                <a:rPr lang="en-US" altLang="zh-CN" sz="2000" dirty="0">
                  <a:solidFill>
                    <a:schemeClr val="accent1">
                      <a:lumMod val="50000"/>
                    </a:schemeClr>
                  </a:solidFill>
                  <a:latin typeface="Arial" panose="020B0604020202020204" pitchFamily="34" charset="0"/>
                  <a:ea typeface="黑体" panose="02010609060101010101" pitchFamily="49" charset="-122"/>
                </a:rPr>
                <a:t>)</a:t>
              </a:r>
            </a:p>
          </p:txBody>
        </p:sp>
      </p:grpSp>
      <p:sp>
        <p:nvSpPr>
          <p:cNvPr id="5124" name="Rectangle 15"/>
          <p:cNvSpPr>
            <a:spLocks noGrp="1" noChangeArrowheads="1"/>
          </p:cNvSpPr>
          <p:nvPr>
            <p:ph type="title"/>
          </p:nvPr>
        </p:nvSpPr>
        <p:spPr>
          <a:xfrm>
            <a:off x="1350963" y="188913"/>
            <a:ext cx="5021262" cy="692150"/>
          </a:xfrm>
        </p:spPr>
        <p:txBody>
          <a:bodyPr/>
          <a:lstStyle/>
          <a:p>
            <a:pPr eaLnBrk="1" hangingPunct="1"/>
            <a:r>
              <a:rPr lang="en-US" altLang="zh-CN" sz="2800" smtClean="0">
                <a:solidFill>
                  <a:srgbClr val="CC0000"/>
                </a:solidFill>
                <a:latin typeface="Verdana" panose="020B0604030504040204" pitchFamily="34" charset="0"/>
              </a:rPr>
              <a:t>Verilog</a:t>
            </a:r>
            <a:r>
              <a:rPr lang="zh-CN" altLang="en-US" sz="2800" smtClean="0">
                <a:solidFill>
                  <a:srgbClr val="CC0000"/>
                </a:solidFill>
                <a:latin typeface="Verdana" panose="020B0604030504040204" pitchFamily="34" charset="0"/>
              </a:rPr>
              <a:t>模块结构</a:t>
            </a:r>
          </a:p>
        </p:txBody>
      </p:sp>
      <p:sp>
        <p:nvSpPr>
          <p:cNvPr id="5125" name="Rectangle 17"/>
          <p:cNvSpPr>
            <a:spLocks noGrp="1" noChangeArrowheads="1"/>
          </p:cNvSpPr>
          <p:nvPr>
            <p:ph type="body" idx="4294967295"/>
          </p:nvPr>
        </p:nvSpPr>
        <p:spPr>
          <a:xfrm>
            <a:off x="6156325" y="1628775"/>
            <a:ext cx="2987675" cy="3529013"/>
          </a:xfrm>
        </p:spPr>
        <p:txBody>
          <a:bodyPr/>
          <a:lstStyle/>
          <a:p>
            <a:pPr eaLnBrk="1" hangingPunct="1">
              <a:lnSpc>
                <a:spcPct val="90000"/>
              </a:lnSpc>
              <a:buFont typeface="Wingdings" panose="05000000000000000000" pitchFamily="2" charset="2"/>
              <a:buNone/>
            </a:pPr>
            <a:r>
              <a:rPr lang="zh-CN" altLang="en-US" sz="2000" b="1" smtClean="0">
                <a:solidFill>
                  <a:schemeClr val="hlink"/>
                </a:solidFill>
                <a:latin typeface="Verdana" panose="020B0604030504040204" pitchFamily="34" charset="0"/>
                <a:ea typeface="黑体" panose="02010609060101010101" pitchFamily="49" charset="-122"/>
              </a:rPr>
              <a:t>说明：</a:t>
            </a:r>
          </a:p>
          <a:p>
            <a:pPr eaLnBrk="1" hangingPunct="1">
              <a:lnSpc>
                <a:spcPct val="90000"/>
              </a:lnSpc>
            </a:pPr>
            <a:r>
              <a:rPr lang="zh-CN" altLang="en-US" sz="2000" b="1" smtClean="0">
                <a:latin typeface="Verdana" panose="020B0604030504040204" pitchFamily="34" charset="0"/>
                <a:ea typeface="黑体" panose="02010609060101010101" pitchFamily="49" charset="-122"/>
              </a:rPr>
              <a:t>浅色部分用得较少；</a:t>
            </a:r>
          </a:p>
          <a:p>
            <a:pPr eaLnBrk="1" hangingPunct="1">
              <a:lnSpc>
                <a:spcPct val="90000"/>
              </a:lnSpc>
            </a:pPr>
            <a:r>
              <a:rPr lang="zh-CN" altLang="en-US" sz="2000" b="1" smtClean="0">
                <a:latin typeface="Verdana" panose="020B0604030504040204" pitchFamily="34" charset="0"/>
                <a:ea typeface="黑体" panose="02010609060101010101" pitchFamily="49" charset="-122"/>
              </a:rPr>
              <a:t>常用语句只有三种：</a:t>
            </a:r>
          </a:p>
          <a:p>
            <a:pPr lvl="1" eaLnBrk="1" hangingPunct="1">
              <a:lnSpc>
                <a:spcPct val="90000"/>
              </a:lnSpc>
            </a:pPr>
            <a:r>
              <a:rPr lang="en-US" altLang="zh-CN" sz="1800" b="1" smtClean="0">
                <a:solidFill>
                  <a:schemeClr val="hlink"/>
                </a:solidFill>
                <a:latin typeface="Verdana" panose="020B0604030504040204" pitchFamily="34" charset="0"/>
                <a:ea typeface="黑体" panose="02010609060101010101" pitchFamily="49" charset="-122"/>
              </a:rPr>
              <a:t>assign</a:t>
            </a:r>
            <a:r>
              <a:rPr lang="zh-CN" altLang="en-US" sz="1800" b="1" smtClean="0">
                <a:solidFill>
                  <a:schemeClr val="hlink"/>
                </a:solidFill>
                <a:latin typeface="Verdana" panose="020B0604030504040204" pitchFamily="34" charset="0"/>
                <a:ea typeface="黑体" panose="02010609060101010101" pitchFamily="49" charset="-122"/>
              </a:rPr>
              <a:t>语句</a:t>
            </a:r>
          </a:p>
          <a:p>
            <a:pPr lvl="1" eaLnBrk="1" hangingPunct="1">
              <a:lnSpc>
                <a:spcPct val="90000"/>
              </a:lnSpc>
            </a:pPr>
            <a:r>
              <a:rPr lang="en-US" altLang="zh-CN" sz="1800" b="1" smtClean="0">
                <a:solidFill>
                  <a:schemeClr val="hlink"/>
                </a:solidFill>
                <a:latin typeface="Verdana" panose="020B0604030504040204" pitchFamily="34" charset="0"/>
                <a:ea typeface="黑体" panose="02010609060101010101" pitchFamily="49" charset="-122"/>
              </a:rPr>
              <a:t>always</a:t>
            </a:r>
            <a:r>
              <a:rPr lang="zh-CN" altLang="en-US" sz="1800" b="1" smtClean="0">
                <a:solidFill>
                  <a:schemeClr val="hlink"/>
                </a:solidFill>
                <a:latin typeface="Verdana" panose="020B0604030504040204" pitchFamily="34" charset="0"/>
                <a:ea typeface="黑体" panose="02010609060101010101" pitchFamily="49" charset="-122"/>
              </a:rPr>
              <a:t>语句</a:t>
            </a:r>
          </a:p>
          <a:p>
            <a:pPr lvl="1" eaLnBrk="1" hangingPunct="1">
              <a:lnSpc>
                <a:spcPct val="90000"/>
              </a:lnSpc>
            </a:pPr>
            <a:r>
              <a:rPr lang="zh-CN" altLang="en-US" sz="1800" b="1" smtClean="0">
                <a:solidFill>
                  <a:schemeClr val="hlink"/>
                </a:solidFill>
                <a:latin typeface="Verdana" panose="020B0604030504040204" pitchFamily="34" charset="0"/>
                <a:ea typeface="黑体" panose="02010609060101010101" pitchFamily="49" charset="-122"/>
              </a:rPr>
              <a:t>底层模块调用语句</a:t>
            </a:r>
          </a:p>
          <a:p>
            <a:pPr eaLnBrk="1" hangingPunct="1">
              <a:lnSpc>
                <a:spcPct val="90000"/>
              </a:lnSpc>
            </a:pPr>
            <a:r>
              <a:rPr lang="zh-CN" altLang="en-US" sz="2000" b="1" smtClean="0">
                <a:latin typeface="Verdana" panose="020B0604030504040204" pitchFamily="34" charset="0"/>
                <a:ea typeface="黑体" panose="02010609060101010101" pitchFamily="49" charset="-122"/>
              </a:rPr>
              <a:t>三种语句顺序无关</a:t>
            </a:r>
          </a:p>
          <a:p>
            <a:pPr eaLnBrk="1" hangingPunct="1">
              <a:lnSpc>
                <a:spcPct val="90000"/>
              </a:lnSpc>
            </a:pPr>
            <a:r>
              <a:rPr lang="zh-CN" altLang="en-US" sz="2000" b="1" smtClean="0">
                <a:latin typeface="Verdana" panose="020B0604030504040204" pitchFamily="34" charset="0"/>
                <a:ea typeface="黑体" panose="02010609060101010101" pitchFamily="49" charset="-122"/>
              </a:rPr>
              <a:t>除开始的</a:t>
            </a:r>
            <a:r>
              <a:rPr lang="en-US" altLang="zh-CN" sz="2000" b="1" smtClean="0">
                <a:solidFill>
                  <a:schemeClr val="hlink"/>
                </a:solidFill>
                <a:latin typeface="Verdana" panose="020B0604030504040204" pitchFamily="34" charset="0"/>
                <a:ea typeface="黑体" panose="02010609060101010101" pitchFamily="49" charset="-122"/>
              </a:rPr>
              <a:t>module</a:t>
            </a:r>
            <a:r>
              <a:rPr lang="zh-CN" altLang="en-US" sz="2000" b="1" smtClean="0">
                <a:solidFill>
                  <a:schemeClr val="hlink"/>
                </a:solidFill>
                <a:latin typeface="Verdana" panose="020B0604030504040204" pitchFamily="34" charset="0"/>
                <a:ea typeface="黑体" panose="02010609060101010101" pitchFamily="49" charset="-122"/>
              </a:rPr>
              <a:t>模块名</a:t>
            </a:r>
            <a:r>
              <a:rPr lang="zh-CN" altLang="en-US" sz="2000" b="1" smtClean="0">
                <a:latin typeface="Verdana" panose="020B0604030504040204" pitchFamily="34" charset="0"/>
                <a:ea typeface="黑体" panose="02010609060101010101" pitchFamily="49" charset="-122"/>
              </a:rPr>
              <a:t>和结束的</a:t>
            </a:r>
            <a:r>
              <a:rPr lang="en-US" altLang="zh-CN" sz="2000" b="1" smtClean="0">
                <a:solidFill>
                  <a:schemeClr val="hlink"/>
                </a:solidFill>
                <a:latin typeface="Verdana" panose="020B0604030504040204" pitchFamily="34" charset="0"/>
                <a:ea typeface="黑体" panose="02010609060101010101" pitchFamily="49" charset="-122"/>
              </a:rPr>
              <a:t>endmodule</a:t>
            </a:r>
            <a:r>
              <a:rPr lang="zh-CN" altLang="en-US" sz="2000" b="1" smtClean="0">
                <a:latin typeface="Verdana" panose="020B0604030504040204" pitchFamily="34" charset="0"/>
                <a:ea typeface="黑体" panose="02010609060101010101" pitchFamily="49" charset="-122"/>
              </a:rPr>
              <a:t>必须写外，其他都是可选的。</a:t>
            </a:r>
          </a:p>
        </p:txBody>
      </p:sp>
      <p:sp>
        <p:nvSpPr>
          <p:cNvPr id="5126" name="AutoShape 19"/>
          <p:cNvSpPr>
            <a:spLocks/>
          </p:cNvSpPr>
          <p:nvPr/>
        </p:nvSpPr>
        <p:spPr bwMode="auto">
          <a:xfrm>
            <a:off x="6592888" y="5762625"/>
            <a:ext cx="2082800" cy="474663"/>
          </a:xfrm>
          <a:prstGeom prst="borderCallout1">
            <a:avLst>
              <a:gd name="adj1" fmla="val 24079"/>
              <a:gd name="adj2" fmla="val -3657"/>
              <a:gd name="adj3" fmla="val -264213"/>
              <a:gd name="adj4" fmla="val -31324"/>
            </a:avLst>
          </a:prstGeom>
          <a:solidFill>
            <a:schemeClr val="accent2"/>
          </a:solidFill>
          <a:ln w="9525">
            <a:solidFill>
              <a:schemeClr val="tx1"/>
            </a:solidFill>
            <a:miter lim="800000"/>
            <a:headEnd/>
            <a:tailEnd type="triangle" w="lg" len="lg"/>
          </a:ln>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ea typeface="黑体" panose="02010609060101010101" pitchFamily="49" charset="-122"/>
              </a:rPr>
              <a:t>功能描述部分</a:t>
            </a:r>
          </a:p>
        </p:txBody>
      </p:sp>
      <p:sp>
        <p:nvSpPr>
          <p:cNvPr id="5127" name="AutoShape 20"/>
          <p:cNvSpPr>
            <a:spLocks/>
          </p:cNvSpPr>
          <p:nvPr/>
        </p:nvSpPr>
        <p:spPr bwMode="auto">
          <a:xfrm>
            <a:off x="6516688" y="765175"/>
            <a:ext cx="2082800" cy="474663"/>
          </a:xfrm>
          <a:prstGeom prst="borderCallout1">
            <a:avLst>
              <a:gd name="adj1" fmla="val 24079"/>
              <a:gd name="adj2" fmla="val -3657"/>
              <a:gd name="adj3" fmla="val 172907"/>
              <a:gd name="adj4" fmla="val -51449"/>
            </a:avLst>
          </a:prstGeom>
          <a:solidFill>
            <a:schemeClr val="accent2"/>
          </a:solidFill>
          <a:ln w="9525">
            <a:solidFill>
              <a:schemeClr val="tx1"/>
            </a:solidFill>
            <a:miter lim="800000"/>
            <a:headEnd/>
            <a:tailEnd type="triangle" w="lg" len="lg"/>
          </a:ln>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a:ea typeface="黑体" panose="02010609060101010101" pitchFamily="49" charset="-122"/>
              </a:rPr>
              <a:t>模块说明部分</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0CB6BF56-0325-4CB7-A946-FE19BEF75819}" type="slidenum">
              <a:rPr lang="en-US" altLang="zh-CN" sz="1400" b="0">
                <a:latin typeface="Tahoma" panose="020B0604030504040204" pitchFamily="34" charset="0"/>
              </a:rPr>
              <a:pPr eaLnBrk="1" hangingPunct="1"/>
              <a:t>3</a:t>
            </a:fld>
            <a:endParaRPr lang="en-US" altLang="zh-CN" sz="1400" b="0">
              <a:latin typeface="Tahoma" panose="020B0604030504040204" pitchFamily="34" charset="0"/>
            </a:endParaRPr>
          </a:p>
        </p:txBody>
      </p:sp>
      <p:sp>
        <p:nvSpPr>
          <p:cNvPr id="6147" name="Rectangle 4"/>
          <p:cNvSpPr>
            <a:spLocks noGrp="1" noChangeArrowheads="1"/>
          </p:cNvSpPr>
          <p:nvPr>
            <p:ph type="title"/>
          </p:nvPr>
        </p:nvSpPr>
        <p:spPr/>
        <p:txBody>
          <a:bodyPr/>
          <a:lstStyle/>
          <a:p>
            <a:pPr eaLnBrk="1" hangingPunct="1"/>
            <a:r>
              <a:rPr lang="en-US" altLang="zh-CN" smtClean="0">
                <a:solidFill>
                  <a:srgbClr val="CC0000"/>
                </a:solidFill>
                <a:latin typeface="Verdana" panose="020B0604030504040204" pitchFamily="34" charset="0"/>
              </a:rPr>
              <a:t>Verilog</a:t>
            </a:r>
            <a:r>
              <a:rPr lang="zh-CN" altLang="en-US" smtClean="0">
                <a:solidFill>
                  <a:srgbClr val="CC0000"/>
                </a:solidFill>
                <a:latin typeface="Verdana" panose="020B0604030504040204" pitchFamily="34" charset="0"/>
              </a:rPr>
              <a:t>模块结构</a:t>
            </a:r>
          </a:p>
        </p:txBody>
      </p:sp>
      <p:sp>
        <p:nvSpPr>
          <p:cNvPr id="6148" name="Text Box 5"/>
          <p:cNvSpPr txBox="1">
            <a:spLocks noChangeArrowheads="1"/>
          </p:cNvSpPr>
          <p:nvPr/>
        </p:nvSpPr>
        <p:spPr bwMode="auto">
          <a:xfrm>
            <a:off x="179388" y="1136650"/>
            <a:ext cx="482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r>
              <a:rPr lang="en-US" altLang="zh-CN">
                <a:ea typeface="黑体" panose="02010609060101010101" pitchFamily="49" charset="-122"/>
              </a:rPr>
              <a:t>1</a:t>
            </a:r>
            <a:r>
              <a:rPr lang="zh-CN" altLang="en-US">
                <a:ea typeface="黑体" panose="02010609060101010101" pitchFamily="49" charset="-122"/>
              </a:rPr>
              <a:t>：二选一数据选择器的描述</a:t>
            </a:r>
          </a:p>
        </p:txBody>
      </p:sp>
      <p:pic>
        <p:nvPicPr>
          <p:cNvPr id="614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420938"/>
            <a:ext cx="3744912" cy="141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205038"/>
            <a:ext cx="3313113"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8"/>
          <p:cNvPicPr>
            <a:picLocks noChangeAspect="1" noChangeArrowheads="1"/>
          </p:cNvPicPr>
          <p:nvPr/>
        </p:nvPicPr>
        <p:blipFill>
          <a:blip r:embed="rId4">
            <a:extLst>
              <a:ext uri="{28A0092B-C50C-407E-A947-70E740481C1C}">
                <a14:useLocalDpi xmlns:a14="http://schemas.microsoft.com/office/drawing/2010/main" val="0"/>
              </a:ext>
            </a:extLst>
          </a:blip>
          <a:srcRect b="22601"/>
          <a:stretch>
            <a:fillRect/>
          </a:stretch>
        </p:blipFill>
        <p:spPr bwMode="auto">
          <a:xfrm>
            <a:off x="0" y="4724400"/>
            <a:ext cx="896461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Text Box 9"/>
          <p:cNvSpPr txBox="1">
            <a:spLocks noChangeArrowheads="1"/>
          </p:cNvSpPr>
          <p:nvPr/>
        </p:nvSpPr>
        <p:spPr bwMode="auto">
          <a:xfrm>
            <a:off x="4735513" y="1662113"/>
            <a:ext cx="4408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latin typeface="Tahoma" panose="020B0604030504040204" pitchFamily="34" charset="0"/>
                <a:ea typeface="黑体" panose="02010609060101010101" pitchFamily="49" charset="-122"/>
              </a:rPr>
              <a:t>二选一数据选择器的结构之一</a:t>
            </a:r>
          </a:p>
        </p:txBody>
      </p:sp>
      <p:sp>
        <p:nvSpPr>
          <p:cNvPr id="6153" name="Text Box 10"/>
          <p:cNvSpPr txBox="1">
            <a:spLocks noChangeArrowheads="1"/>
          </p:cNvSpPr>
          <p:nvPr/>
        </p:nvSpPr>
        <p:spPr bwMode="auto">
          <a:xfrm>
            <a:off x="539750" y="1700213"/>
            <a:ext cx="3743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latin typeface="Tahoma" panose="020B0604030504040204" pitchFamily="34" charset="0"/>
                <a:ea typeface="黑体" panose="02010609060101010101" pitchFamily="49" charset="-122"/>
              </a:rPr>
              <a:t>二选一数据选择器的符号</a:t>
            </a:r>
          </a:p>
        </p:txBody>
      </p:sp>
      <p:sp>
        <p:nvSpPr>
          <p:cNvPr id="6154" name="Text Box 11"/>
          <p:cNvSpPr txBox="1">
            <a:spLocks noChangeArrowheads="1"/>
          </p:cNvSpPr>
          <p:nvPr/>
        </p:nvSpPr>
        <p:spPr bwMode="auto">
          <a:xfrm>
            <a:off x="611188" y="4005263"/>
            <a:ext cx="5040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latin typeface="Tahoma" panose="020B0604030504040204" pitchFamily="34" charset="0"/>
                <a:ea typeface="黑体" panose="02010609060101010101" pitchFamily="49" charset="-122"/>
              </a:rPr>
              <a:t>设</a:t>
            </a:r>
            <a:r>
              <a:rPr lang="en-US" altLang="zh-CN">
                <a:latin typeface="Tahoma" panose="020B0604030504040204" pitchFamily="34" charset="0"/>
                <a:ea typeface="黑体" panose="02010609060101010101" pitchFamily="49" charset="-122"/>
              </a:rPr>
              <a:t>a</a:t>
            </a:r>
            <a:r>
              <a:rPr lang="zh-CN" altLang="en-US">
                <a:latin typeface="Tahoma" panose="020B0604030504040204" pitchFamily="34" charset="0"/>
                <a:ea typeface="黑体" panose="02010609060101010101" pitchFamily="49" charset="-122"/>
              </a:rPr>
              <a:t>、</a:t>
            </a:r>
            <a:r>
              <a:rPr lang="en-US" altLang="zh-CN">
                <a:latin typeface="Tahoma" panose="020B0604030504040204" pitchFamily="34" charset="0"/>
                <a:ea typeface="黑体" panose="02010609060101010101" pitchFamily="49" charset="-122"/>
              </a:rPr>
              <a:t>b</a:t>
            </a:r>
            <a:r>
              <a:rPr lang="zh-CN" altLang="en-US">
                <a:latin typeface="Tahoma" panose="020B0604030504040204" pitchFamily="34" charset="0"/>
                <a:ea typeface="黑体" panose="02010609060101010101" pitchFamily="49" charset="-122"/>
              </a:rPr>
              <a:t>、</a:t>
            </a:r>
            <a:r>
              <a:rPr lang="en-US" altLang="zh-CN">
                <a:latin typeface="Tahoma" panose="020B0604030504040204" pitchFamily="34" charset="0"/>
                <a:ea typeface="黑体" panose="02010609060101010101" pitchFamily="49" charset="-122"/>
              </a:rPr>
              <a:t>s</a:t>
            </a:r>
            <a:r>
              <a:rPr lang="zh-CN" altLang="en-US">
                <a:latin typeface="Tahoma" panose="020B0604030504040204" pitchFamily="34" charset="0"/>
                <a:ea typeface="黑体" panose="02010609060101010101" pitchFamily="49" charset="-122"/>
              </a:rPr>
              <a:t>波形已知，可得</a:t>
            </a:r>
            <a:r>
              <a:rPr lang="en-US" altLang="zh-CN">
                <a:latin typeface="Tahoma" panose="020B0604030504040204" pitchFamily="34" charset="0"/>
                <a:ea typeface="黑体" panose="02010609060101010101" pitchFamily="49" charset="-122"/>
              </a:rPr>
              <a:t>y</a:t>
            </a:r>
            <a:r>
              <a:rPr lang="zh-CN" altLang="en-US">
                <a:latin typeface="Tahoma" panose="020B0604030504040204" pitchFamily="34" charset="0"/>
                <a:ea typeface="黑体" panose="02010609060101010101" pitchFamily="49" charset="-122"/>
              </a:rPr>
              <a:t>波形：</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7EDAC141-2BFB-4C47-A9E5-B717DA6B3BA4}" type="slidenum">
              <a:rPr lang="en-US" altLang="zh-CN" sz="1400" b="0">
                <a:latin typeface="Tahoma" panose="020B0604030504040204" pitchFamily="34" charset="0"/>
              </a:rPr>
              <a:pPr eaLnBrk="1" hangingPunct="1"/>
              <a:t>4</a:t>
            </a:fld>
            <a:endParaRPr lang="en-US" altLang="zh-CN" sz="1400" b="0">
              <a:latin typeface="Tahoma" panose="020B0604030504040204" pitchFamily="34" charset="0"/>
            </a:endParaRPr>
          </a:p>
        </p:txBody>
      </p:sp>
      <p:sp>
        <p:nvSpPr>
          <p:cNvPr id="7171" name="Rectangle 4"/>
          <p:cNvSpPr>
            <a:spLocks noGrp="1" noChangeArrowheads="1"/>
          </p:cNvSpPr>
          <p:nvPr>
            <p:ph type="title"/>
          </p:nvPr>
        </p:nvSpPr>
        <p:spPr/>
        <p:txBody>
          <a:bodyPr/>
          <a:lstStyle/>
          <a:p>
            <a:pPr eaLnBrk="1" hangingPunct="1"/>
            <a:r>
              <a:rPr lang="en-US" altLang="zh-CN" smtClean="0">
                <a:solidFill>
                  <a:srgbClr val="CC0000"/>
                </a:solidFill>
                <a:latin typeface="Verdana" panose="020B0604030504040204" pitchFamily="34" charset="0"/>
              </a:rPr>
              <a:t>Verilog</a:t>
            </a:r>
            <a:r>
              <a:rPr lang="zh-CN" altLang="en-US" smtClean="0">
                <a:solidFill>
                  <a:srgbClr val="CC0000"/>
                </a:solidFill>
                <a:latin typeface="Verdana" panose="020B0604030504040204" pitchFamily="34" charset="0"/>
              </a:rPr>
              <a:t>模块结构</a:t>
            </a:r>
          </a:p>
        </p:txBody>
      </p:sp>
      <p:sp>
        <p:nvSpPr>
          <p:cNvPr id="7172" name="Text Box 5"/>
          <p:cNvSpPr txBox="1">
            <a:spLocks noChangeArrowheads="1"/>
          </p:cNvSpPr>
          <p:nvPr/>
        </p:nvSpPr>
        <p:spPr bwMode="auto">
          <a:xfrm>
            <a:off x="250825" y="1268413"/>
            <a:ext cx="4897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ea typeface="黑体" panose="02010609060101010101" pitchFamily="49" charset="-122"/>
              </a:rPr>
              <a:t>2</a:t>
            </a:r>
            <a:r>
              <a:rPr lang="zh-CN" altLang="en-US">
                <a:ea typeface="黑体" panose="02010609060101010101" pitchFamily="49" charset="-122"/>
              </a:rPr>
              <a:t>选</a:t>
            </a:r>
            <a:r>
              <a:rPr lang="en-US" altLang="zh-CN">
                <a:ea typeface="黑体" panose="02010609060101010101" pitchFamily="49" charset="-122"/>
              </a:rPr>
              <a:t>1</a:t>
            </a:r>
            <a:r>
              <a:rPr lang="zh-CN" altLang="en-US">
                <a:ea typeface="黑体" panose="02010609060101010101" pitchFamily="49" charset="-122"/>
              </a:rPr>
              <a:t>多路选择器的</a:t>
            </a:r>
            <a:r>
              <a:rPr lang="en-US" altLang="zh-CN">
                <a:ea typeface="黑体" panose="02010609060101010101" pitchFamily="49" charset="-122"/>
              </a:rPr>
              <a:t>Verilog</a:t>
            </a:r>
            <a:r>
              <a:rPr lang="zh-CN" altLang="en-US">
                <a:ea typeface="黑体" panose="02010609060101010101" pitchFamily="49" charset="-122"/>
              </a:rPr>
              <a:t>描述</a:t>
            </a:r>
          </a:p>
        </p:txBody>
      </p:sp>
      <p:pic>
        <p:nvPicPr>
          <p:cNvPr id="7173" name="Picture 6"/>
          <p:cNvPicPr>
            <a:picLocks noChangeAspect="1" noChangeArrowheads="1"/>
          </p:cNvPicPr>
          <p:nvPr/>
        </p:nvPicPr>
        <p:blipFill>
          <a:blip r:embed="rId3">
            <a:lum bright="-18000" contrast="30000"/>
            <a:extLst>
              <a:ext uri="{28A0092B-C50C-407E-A947-70E740481C1C}">
                <a14:useLocalDpi xmlns:a14="http://schemas.microsoft.com/office/drawing/2010/main" val="0"/>
              </a:ext>
            </a:extLst>
          </a:blip>
          <a:srcRect t="15558"/>
          <a:stretch>
            <a:fillRect/>
          </a:stretch>
        </p:blipFill>
        <p:spPr bwMode="auto">
          <a:xfrm>
            <a:off x="179388" y="2636838"/>
            <a:ext cx="4176712" cy="1955800"/>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grpSp>
        <p:nvGrpSpPr>
          <p:cNvPr id="7174" name="Group 17"/>
          <p:cNvGrpSpPr>
            <a:grpSpLocks/>
          </p:cNvGrpSpPr>
          <p:nvPr/>
        </p:nvGrpSpPr>
        <p:grpSpPr bwMode="auto">
          <a:xfrm>
            <a:off x="5003800" y="1989138"/>
            <a:ext cx="3600450" cy="3622675"/>
            <a:chOff x="113" y="740"/>
            <a:chExt cx="2268" cy="2282"/>
          </a:xfrm>
        </p:grpSpPr>
        <p:sp>
          <p:nvSpPr>
            <p:cNvPr id="7192" name="Rectangle 18"/>
            <p:cNvSpPr>
              <a:spLocks noChangeArrowheads="1"/>
            </p:cNvSpPr>
            <p:nvPr/>
          </p:nvSpPr>
          <p:spPr bwMode="auto">
            <a:xfrm>
              <a:off x="113" y="740"/>
              <a:ext cx="2268" cy="2282"/>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7193" name="Text Box 19"/>
            <p:cNvSpPr txBox="1">
              <a:spLocks noChangeArrowheads="1"/>
            </p:cNvSpPr>
            <p:nvPr/>
          </p:nvSpPr>
          <p:spPr bwMode="auto">
            <a:xfrm>
              <a:off x="249" y="1570"/>
              <a:ext cx="953"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000">
                  <a:solidFill>
                    <a:srgbClr val="000099"/>
                  </a:solidFill>
                  <a:latin typeface="Arial" panose="020B0604020202020204" pitchFamily="34" charset="0"/>
                  <a:ea typeface="黑体" panose="02010609060101010101" pitchFamily="49" charset="-122"/>
                </a:rPr>
                <a:t>内部信号</a:t>
              </a:r>
            </a:p>
            <a:p>
              <a:pPr algn="ctr" eaLnBrk="1" hangingPunct="1"/>
              <a:r>
                <a:rPr lang="zh-CN" altLang="en-US" sz="2000">
                  <a:solidFill>
                    <a:srgbClr val="000099"/>
                  </a:solidFill>
                  <a:latin typeface="Arial" panose="020B0604020202020204" pitchFamily="34" charset="0"/>
                  <a:ea typeface="黑体" panose="02010609060101010101" pitchFamily="49" charset="-122"/>
                </a:rPr>
                <a:t>声明</a:t>
              </a:r>
            </a:p>
          </p:txBody>
        </p:sp>
        <p:sp>
          <p:nvSpPr>
            <p:cNvPr id="7194" name="Text Box 20"/>
            <p:cNvSpPr txBox="1">
              <a:spLocks noChangeArrowheads="1"/>
            </p:cNvSpPr>
            <p:nvPr/>
          </p:nvSpPr>
          <p:spPr bwMode="auto">
            <a:xfrm>
              <a:off x="1338" y="1570"/>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assign</a:t>
              </a:r>
              <a:r>
                <a:rPr lang="zh-CN" altLang="en-US" sz="2000">
                  <a:solidFill>
                    <a:srgbClr val="000099"/>
                  </a:solidFill>
                  <a:latin typeface="Arial" panose="020B0604020202020204" pitchFamily="34" charset="0"/>
                  <a:ea typeface="黑体" panose="02010609060101010101" pitchFamily="49" charset="-122"/>
                </a:rPr>
                <a:t>语句</a:t>
              </a:r>
            </a:p>
          </p:txBody>
        </p:sp>
        <p:sp>
          <p:nvSpPr>
            <p:cNvPr id="7195" name="Text Box 21"/>
            <p:cNvSpPr txBox="1">
              <a:spLocks noChangeArrowheads="1"/>
            </p:cNvSpPr>
            <p:nvPr/>
          </p:nvSpPr>
          <p:spPr bwMode="auto">
            <a:xfrm>
              <a:off x="249" y="2205"/>
              <a:ext cx="953" cy="460"/>
            </a:xfrm>
            <a:prstGeom prst="rect">
              <a:avLst/>
            </a:prstGeom>
            <a:solidFill>
              <a:srgbClr val="E6E6F2"/>
            </a:solidFill>
            <a:ln w="28575" algn="ctr">
              <a:solidFill>
                <a:schemeClr val="tx2"/>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chemeClr val="tx2"/>
                  </a:solidFill>
                  <a:latin typeface="Arial" panose="020B0604020202020204" pitchFamily="34" charset="0"/>
                  <a:ea typeface="黑体" panose="02010609060101010101" pitchFamily="49" charset="-122"/>
                </a:rPr>
                <a:t>底层模块或门原语调用</a:t>
              </a:r>
              <a:endParaRPr lang="zh-CN" altLang="en-US" sz="2000">
                <a:solidFill>
                  <a:schemeClr val="accent1"/>
                </a:solidFill>
                <a:latin typeface="Arial" panose="020B0604020202020204" pitchFamily="34" charset="0"/>
                <a:ea typeface="黑体" panose="02010609060101010101" pitchFamily="49" charset="-122"/>
              </a:endParaRPr>
            </a:p>
          </p:txBody>
        </p:sp>
        <p:sp>
          <p:nvSpPr>
            <p:cNvPr id="7196" name="Text Box 22"/>
            <p:cNvSpPr txBox="1">
              <a:spLocks noChangeArrowheads="1"/>
            </p:cNvSpPr>
            <p:nvPr/>
          </p:nvSpPr>
          <p:spPr bwMode="auto">
            <a:xfrm>
              <a:off x="1338" y="2205"/>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always</a:t>
              </a:r>
            </a:p>
            <a:p>
              <a:pPr algn="ctr" eaLnBrk="1" hangingPunct="1"/>
              <a:r>
                <a:rPr lang="zh-CN" altLang="en-US" sz="2000">
                  <a:solidFill>
                    <a:srgbClr val="000099"/>
                  </a:solidFill>
                  <a:latin typeface="Arial" panose="020B0604020202020204" pitchFamily="34" charset="0"/>
                  <a:ea typeface="黑体" panose="02010609060101010101" pitchFamily="49" charset="-122"/>
                </a:rPr>
                <a:t>语句块</a:t>
              </a:r>
            </a:p>
          </p:txBody>
        </p:sp>
        <p:sp>
          <p:nvSpPr>
            <p:cNvPr id="7197" name="Text Box 23"/>
            <p:cNvSpPr txBox="1">
              <a:spLocks noChangeArrowheads="1"/>
            </p:cNvSpPr>
            <p:nvPr/>
          </p:nvSpPr>
          <p:spPr bwMode="auto">
            <a:xfrm>
              <a:off x="113" y="740"/>
              <a:ext cx="2268" cy="690"/>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module </a:t>
              </a:r>
              <a:r>
                <a:rPr lang="zh-CN" altLang="en-US" sz="2000">
                  <a:solidFill>
                    <a:srgbClr val="000099"/>
                  </a:solidFill>
                  <a:latin typeface="Arial" panose="020B0604020202020204" pitchFamily="34" charset="0"/>
                  <a:ea typeface="黑体" panose="02010609060101010101" pitchFamily="49" charset="-122"/>
                </a:rPr>
                <a:t>模块名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参数声明</a:t>
              </a:r>
              <a:r>
                <a:rPr lang="en-US" altLang="zh-CN" sz="2000">
                  <a:solidFill>
                    <a:srgbClr val="000099"/>
                  </a:solidFill>
                  <a:latin typeface="Arial" panose="020B0604020202020204" pitchFamily="34" charset="0"/>
                  <a:ea typeface="黑体" panose="02010609060101010101" pitchFamily="49" charset="-122"/>
                </a:rPr>
                <a:t>;]</a:t>
              </a:r>
            </a:p>
          </p:txBody>
        </p:sp>
        <p:sp>
          <p:nvSpPr>
            <p:cNvPr id="7198" name="Text Box 24"/>
            <p:cNvSpPr txBox="1">
              <a:spLocks noChangeArrowheads="1"/>
            </p:cNvSpPr>
            <p:nvPr/>
          </p:nvSpPr>
          <p:spPr bwMode="auto">
            <a:xfrm>
              <a:off x="113" y="2750"/>
              <a:ext cx="2268" cy="268"/>
            </a:xfrm>
            <a:prstGeom prst="rect">
              <a:avLst/>
            </a:prstGeom>
            <a:solidFill>
              <a:srgbClr val="E6E6F2"/>
            </a:solidFill>
            <a:ln w="28575" algn="ctr">
              <a:solidFill>
                <a:srgbClr val="000099"/>
              </a:solidFill>
              <a:miter lim="800000"/>
              <a:headEnd type="none" w="lg" len="lg"/>
              <a:tailEnd/>
            </a:ln>
          </p:spPr>
          <p:txBody>
            <a:bodyPr tIns="46800" bIns="46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endmodule</a:t>
              </a:r>
            </a:p>
          </p:txBody>
        </p:sp>
      </p:grpSp>
      <p:sp>
        <p:nvSpPr>
          <p:cNvPr id="7175" name="Freeform 25"/>
          <p:cNvSpPr>
            <a:spLocks/>
          </p:cNvSpPr>
          <p:nvPr/>
        </p:nvSpPr>
        <p:spPr bwMode="auto">
          <a:xfrm>
            <a:off x="1619250" y="1679575"/>
            <a:ext cx="4824413" cy="1028700"/>
          </a:xfrm>
          <a:custGeom>
            <a:avLst/>
            <a:gdLst>
              <a:gd name="T0" fmla="*/ 0 w 3039"/>
              <a:gd name="T1" fmla="*/ 2147483647 h 694"/>
              <a:gd name="T2" fmla="*/ 2147483647 w 3039"/>
              <a:gd name="T3" fmla="*/ 2147483647 h 694"/>
              <a:gd name="T4" fmla="*/ 2147483647 w 3039"/>
              <a:gd name="T5" fmla="*/ 2147483647 h 694"/>
              <a:gd name="T6" fmla="*/ 2147483647 w 3039"/>
              <a:gd name="T7" fmla="*/ 2147483647 h 694"/>
              <a:gd name="T8" fmla="*/ 2147483647 w 3039"/>
              <a:gd name="T9" fmla="*/ 2147483647 h 694"/>
              <a:gd name="T10" fmla="*/ 2147483647 w 3039"/>
              <a:gd name="T11" fmla="*/ 2147483647 h 694"/>
              <a:gd name="T12" fmla="*/ 2147483647 w 3039"/>
              <a:gd name="T13" fmla="*/ 2147483647 h 694"/>
              <a:gd name="T14" fmla="*/ 0 60000 65536"/>
              <a:gd name="T15" fmla="*/ 0 60000 65536"/>
              <a:gd name="T16" fmla="*/ 0 60000 65536"/>
              <a:gd name="T17" fmla="*/ 0 60000 65536"/>
              <a:gd name="T18" fmla="*/ 0 60000 65536"/>
              <a:gd name="T19" fmla="*/ 0 60000 65536"/>
              <a:gd name="T20" fmla="*/ 0 60000 65536"/>
              <a:gd name="T21" fmla="*/ 0 w 3039"/>
              <a:gd name="T22" fmla="*/ 0 h 694"/>
              <a:gd name="T23" fmla="*/ 3039 w 3039"/>
              <a:gd name="T24" fmla="*/ 694 h 6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39" h="694">
                <a:moveTo>
                  <a:pt x="0" y="694"/>
                </a:moveTo>
                <a:cubicBezTo>
                  <a:pt x="98" y="612"/>
                  <a:pt x="313" y="315"/>
                  <a:pt x="589" y="204"/>
                </a:cubicBezTo>
                <a:cubicBezTo>
                  <a:pt x="865" y="93"/>
                  <a:pt x="1453" y="60"/>
                  <a:pt x="1659" y="30"/>
                </a:cubicBezTo>
                <a:cubicBezTo>
                  <a:pt x="1865" y="0"/>
                  <a:pt x="1774" y="22"/>
                  <a:pt x="1823" y="21"/>
                </a:cubicBezTo>
                <a:cubicBezTo>
                  <a:pt x="1872" y="20"/>
                  <a:pt x="1806" y="12"/>
                  <a:pt x="1951" y="21"/>
                </a:cubicBezTo>
                <a:cubicBezTo>
                  <a:pt x="2096" y="30"/>
                  <a:pt x="2511" y="40"/>
                  <a:pt x="2692" y="76"/>
                </a:cubicBezTo>
                <a:cubicBezTo>
                  <a:pt x="2873" y="112"/>
                  <a:pt x="2967" y="206"/>
                  <a:pt x="3039" y="240"/>
                </a:cubicBezTo>
              </a:path>
            </a:pathLst>
          </a:custGeom>
          <a:noFill/>
          <a:ln w="28575">
            <a:solidFill>
              <a:schemeClr val="hlink"/>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76" name="Freeform 26"/>
          <p:cNvSpPr>
            <a:spLocks/>
          </p:cNvSpPr>
          <p:nvPr/>
        </p:nvSpPr>
        <p:spPr bwMode="auto">
          <a:xfrm>
            <a:off x="2916238" y="1616075"/>
            <a:ext cx="4751387" cy="1020763"/>
          </a:xfrm>
          <a:custGeom>
            <a:avLst/>
            <a:gdLst>
              <a:gd name="T0" fmla="*/ 2147483647 w 2993"/>
              <a:gd name="T1" fmla="*/ 2147483647 h 643"/>
              <a:gd name="T2" fmla="*/ 2147483647 w 2993"/>
              <a:gd name="T3" fmla="*/ 2147483647 h 643"/>
              <a:gd name="T4" fmla="*/ 2147483647 w 2993"/>
              <a:gd name="T5" fmla="*/ 2147483647 h 643"/>
              <a:gd name="T6" fmla="*/ 0 w 2993"/>
              <a:gd name="T7" fmla="*/ 2147483647 h 643"/>
              <a:gd name="T8" fmla="*/ 0 60000 65536"/>
              <a:gd name="T9" fmla="*/ 0 60000 65536"/>
              <a:gd name="T10" fmla="*/ 0 60000 65536"/>
              <a:gd name="T11" fmla="*/ 0 60000 65536"/>
              <a:gd name="T12" fmla="*/ 0 w 2993"/>
              <a:gd name="T13" fmla="*/ 0 h 643"/>
              <a:gd name="T14" fmla="*/ 2993 w 2993"/>
              <a:gd name="T15" fmla="*/ 643 h 643"/>
            </a:gdLst>
            <a:ahLst/>
            <a:cxnLst>
              <a:cxn ang="T8">
                <a:pos x="T0" y="T1"/>
              </a:cxn>
              <a:cxn ang="T9">
                <a:pos x="T2" y="T3"/>
              </a:cxn>
              <a:cxn ang="T10">
                <a:pos x="T4" y="T5"/>
              </a:cxn>
              <a:cxn ang="T11">
                <a:pos x="T6" y="T7"/>
              </a:cxn>
            </a:cxnLst>
            <a:rect l="T12" t="T13" r="T14" b="T15"/>
            <a:pathLst>
              <a:path w="2993" h="643">
                <a:moveTo>
                  <a:pt x="2993" y="235"/>
                </a:moveTo>
                <a:cubicBezTo>
                  <a:pt x="2566" y="117"/>
                  <a:pt x="2139" y="0"/>
                  <a:pt x="1723" y="8"/>
                </a:cubicBezTo>
                <a:cubicBezTo>
                  <a:pt x="1307" y="16"/>
                  <a:pt x="786" y="174"/>
                  <a:pt x="499" y="280"/>
                </a:cubicBezTo>
                <a:cubicBezTo>
                  <a:pt x="212" y="386"/>
                  <a:pt x="106" y="514"/>
                  <a:pt x="0" y="643"/>
                </a:cubicBezTo>
              </a:path>
            </a:pathLst>
          </a:custGeom>
          <a:noFill/>
          <a:ln w="28575">
            <a:solidFill>
              <a:schemeClr val="hlink"/>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77" name="Freeform 27"/>
          <p:cNvSpPr>
            <a:spLocks/>
          </p:cNvSpPr>
          <p:nvPr/>
        </p:nvSpPr>
        <p:spPr bwMode="auto">
          <a:xfrm>
            <a:off x="2339975" y="2565400"/>
            <a:ext cx="2879725" cy="1008063"/>
          </a:xfrm>
          <a:custGeom>
            <a:avLst/>
            <a:gdLst>
              <a:gd name="T0" fmla="*/ 2147483647 w 1678"/>
              <a:gd name="T1" fmla="*/ 0 h 589"/>
              <a:gd name="T2" fmla="*/ 0 w 1678"/>
              <a:gd name="T3" fmla="*/ 2147483647 h 589"/>
              <a:gd name="T4" fmla="*/ 0 60000 65536"/>
              <a:gd name="T5" fmla="*/ 0 60000 65536"/>
              <a:gd name="T6" fmla="*/ 0 w 1678"/>
              <a:gd name="T7" fmla="*/ 0 h 589"/>
              <a:gd name="T8" fmla="*/ 1678 w 1678"/>
              <a:gd name="T9" fmla="*/ 589 h 589"/>
            </a:gdLst>
            <a:ahLst/>
            <a:cxnLst>
              <a:cxn ang="T4">
                <a:pos x="T0" y="T1"/>
              </a:cxn>
              <a:cxn ang="T5">
                <a:pos x="T2" y="T3"/>
              </a:cxn>
            </a:cxnLst>
            <a:rect l="T6" t="T7" r="T8" b="T9"/>
            <a:pathLst>
              <a:path w="1678" h="589">
                <a:moveTo>
                  <a:pt x="1678" y="0"/>
                </a:moveTo>
                <a:cubicBezTo>
                  <a:pt x="978" y="245"/>
                  <a:pt x="279" y="491"/>
                  <a:pt x="0" y="589"/>
                </a:cubicBezTo>
              </a:path>
            </a:pathLst>
          </a:custGeom>
          <a:noFill/>
          <a:ln w="28575">
            <a:solidFill>
              <a:schemeClr val="hlink"/>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78" name="Freeform 28"/>
          <p:cNvSpPr>
            <a:spLocks/>
          </p:cNvSpPr>
          <p:nvPr/>
        </p:nvSpPr>
        <p:spPr bwMode="auto">
          <a:xfrm>
            <a:off x="2916238" y="3392488"/>
            <a:ext cx="4176712" cy="468312"/>
          </a:xfrm>
          <a:custGeom>
            <a:avLst/>
            <a:gdLst>
              <a:gd name="T0" fmla="*/ 2147483647 w 2903"/>
              <a:gd name="T1" fmla="*/ 2147483647 h 295"/>
              <a:gd name="T2" fmla="*/ 2147483647 w 2903"/>
              <a:gd name="T3" fmla="*/ 2147483647 h 295"/>
              <a:gd name="T4" fmla="*/ 0 w 2903"/>
              <a:gd name="T5" fmla="*/ 2147483647 h 295"/>
              <a:gd name="T6" fmla="*/ 0 60000 65536"/>
              <a:gd name="T7" fmla="*/ 0 60000 65536"/>
              <a:gd name="T8" fmla="*/ 0 60000 65536"/>
              <a:gd name="T9" fmla="*/ 0 w 2903"/>
              <a:gd name="T10" fmla="*/ 0 h 295"/>
              <a:gd name="T11" fmla="*/ 2903 w 2903"/>
              <a:gd name="T12" fmla="*/ 295 h 295"/>
            </a:gdLst>
            <a:ahLst/>
            <a:cxnLst>
              <a:cxn ang="T6">
                <a:pos x="T0" y="T1"/>
              </a:cxn>
              <a:cxn ang="T7">
                <a:pos x="T2" y="T3"/>
              </a:cxn>
              <a:cxn ang="T8">
                <a:pos x="T4" y="T5"/>
              </a:cxn>
            </a:cxnLst>
            <a:rect l="T9" t="T10" r="T11" b="T12"/>
            <a:pathLst>
              <a:path w="2903" h="295">
                <a:moveTo>
                  <a:pt x="2903" y="159"/>
                </a:moveTo>
                <a:cubicBezTo>
                  <a:pt x="2351" y="79"/>
                  <a:pt x="1799" y="0"/>
                  <a:pt x="1315" y="23"/>
                </a:cubicBezTo>
                <a:cubicBezTo>
                  <a:pt x="831" y="46"/>
                  <a:pt x="415" y="170"/>
                  <a:pt x="0" y="295"/>
                </a:cubicBezTo>
              </a:path>
            </a:pathLst>
          </a:custGeom>
          <a:noFill/>
          <a:ln w="28575">
            <a:solidFill>
              <a:schemeClr val="hlink"/>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79" name="Rectangle 29"/>
          <p:cNvSpPr>
            <a:spLocks noChangeArrowheads="1"/>
          </p:cNvSpPr>
          <p:nvPr/>
        </p:nvSpPr>
        <p:spPr bwMode="auto">
          <a:xfrm>
            <a:off x="1187450" y="2781300"/>
            <a:ext cx="1008063" cy="287338"/>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80" name="Rectangle 30"/>
          <p:cNvSpPr>
            <a:spLocks noChangeArrowheads="1"/>
          </p:cNvSpPr>
          <p:nvPr/>
        </p:nvSpPr>
        <p:spPr bwMode="auto">
          <a:xfrm>
            <a:off x="2339975" y="2781300"/>
            <a:ext cx="1295400" cy="287338"/>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81" name="Rectangle 31"/>
          <p:cNvSpPr>
            <a:spLocks noChangeArrowheads="1"/>
          </p:cNvSpPr>
          <p:nvPr/>
        </p:nvSpPr>
        <p:spPr bwMode="auto">
          <a:xfrm>
            <a:off x="827088" y="3141663"/>
            <a:ext cx="1800225" cy="719137"/>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82" name="Rectangle 32"/>
          <p:cNvSpPr>
            <a:spLocks noChangeArrowheads="1"/>
          </p:cNvSpPr>
          <p:nvPr/>
        </p:nvSpPr>
        <p:spPr bwMode="auto">
          <a:xfrm>
            <a:off x="755650" y="3933825"/>
            <a:ext cx="3600450" cy="287338"/>
          </a:xfrm>
          <a:prstGeom prst="rect">
            <a:avLst/>
          </a:prstGeom>
          <a:noFill/>
          <a:ln w="28575" algn="ctr">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grpSp>
        <p:nvGrpSpPr>
          <p:cNvPr id="7183" name="Group 41"/>
          <p:cNvGrpSpPr>
            <a:grpSpLocks/>
          </p:cNvGrpSpPr>
          <p:nvPr/>
        </p:nvGrpSpPr>
        <p:grpSpPr bwMode="auto">
          <a:xfrm>
            <a:off x="766763" y="4868863"/>
            <a:ext cx="2365375" cy="1223962"/>
            <a:chOff x="339" y="2931"/>
            <a:chExt cx="1490" cy="771"/>
          </a:xfrm>
        </p:grpSpPr>
        <p:sp>
          <p:nvSpPr>
            <p:cNvPr id="7184" name="Rectangle 33"/>
            <p:cNvSpPr>
              <a:spLocks noChangeArrowheads="1"/>
            </p:cNvSpPr>
            <p:nvPr/>
          </p:nvSpPr>
          <p:spPr bwMode="auto">
            <a:xfrm>
              <a:off x="839" y="3158"/>
              <a:ext cx="499" cy="544"/>
            </a:xfrm>
            <a:prstGeom prst="rect">
              <a:avLst/>
            </a:prstGeom>
            <a:solidFill>
              <a:schemeClr val="accent1"/>
            </a:solidFill>
            <a:ln w="38100">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7185" name="Line 34"/>
            <p:cNvSpPr>
              <a:spLocks noChangeShapeType="1"/>
            </p:cNvSpPr>
            <p:nvPr/>
          </p:nvSpPr>
          <p:spPr bwMode="auto">
            <a:xfrm>
              <a:off x="521" y="3294"/>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6" name="Line 35"/>
            <p:cNvSpPr>
              <a:spLocks noChangeShapeType="1"/>
            </p:cNvSpPr>
            <p:nvPr/>
          </p:nvSpPr>
          <p:spPr bwMode="auto">
            <a:xfrm>
              <a:off x="521" y="3566"/>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7" name="Line 36"/>
            <p:cNvSpPr>
              <a:spLocks noChangeShapeType="1"/>
            </p:cNvSpPr>
            <p:nvPr/>
          </p:nvSpPr>
          <p:spPr bwMode="auto">
            <a:xfrm>
              <a:off x="1337" y="3430"/>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8" name="Line 37"/>
            <p:cNvSpPr>
              <a:spLocks noChangeShapeType="1"/>
            </p:cNvSpPr>
            <p:nvPr/>
          </p:nvSpPr>
          <p:spPr bwMode="auto">
            <a:xfrm>
              <a:off x="521" y="3430"/>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189" name="Text Box 38"/>
            <p:cNvSpPr txBox="1">
              <a:spLocks noChangeArrowheads="1"/>
            </p:cNvSpPr>
            <p:nvPr/>
          </p:nvSpPr>
          <p:spPr bwMode="auto">
            <a:xfrm>
              <a:off x="339" y="2995"/>
              <a:ext cx="22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80000"/>
                </a:lnSpc>
              </a:pPr>
              <a:endParaRPr lang="en-US" altLang="zh-CN" sz="2000">
                <a:ea typeface="黑体" panose="02010609060101010101" pitchFamily="49" charset="-122"/>
              </a:endParaRPr>
            </a:p>
            <a:p>
              <a:pPr eaLnBrk="1" hangingPunct="1">
                <a:lnSpc>
                  <a:spcPct val="80000"/>
                </a:lnSpc>
              </a:pPr>
              <a:r>
                <a:rPr lang="en-US" altLang="zh-CN" sz="2000">
                  <a:ea typeface="黑体" panose="02010609060101010101" pitchFamily="49" charset="-122"/>
                </a:rPr>
                <a:t>a</a:t>
              </a:r>
            </a:p>
            <a:p>
              <a:pPr eaLnBrk="1" hangingPunct="1">
                <a:lnSpc>
                  <a:spcPct val="80000"/>
                </a:lnSpc>
              </a:pPr>
              <a:r>
                <a:rPr lang="en-US" altLang="zh-CN" sz="2000">
                  <a:ea typeface="黑体" panose="02010609060101010101" pitchFamily="49" charset="-122"/>
                </a:rPr>
                <a:t>b</a:t>
              </a:r>
            </a:p>
            <a:p>
              <a:pPr eaLnBrk="1" hangingPunct="1">
                <a:lnSpc>
                  <a:spcPct val="80000"/>
                </a:lnSpc>
              </a:pPr>
              <a:r>
                <a:rPr lang="en-US" altLang="zh-CN" sz="2000">
                  <a:ea typeface="黑体" panose="02010609060101010101" pitchFamily="49" charset="-122"/>
                </a:rPr>
                <a:t>s</a:t>
              </a:r>
            </a:p>
          </p:txBody>
        </p:sp>
        <p:sp>
          <p:nvSpPr>
            <p:cNvPr id="7190" name="Text Box 39"/>
            <p:cNvSpPr txBox="1">
              <a:spLocks noChangeArrowheads="1"/>
            </p:cNvSpPr>
            <p:nvPr/>
          </p:nvSpPr>
          <p:spPr bwMode="auto">
            <a:xfrm>
              <a:off x="1609" y="3155"/>
              <a:ext cx="22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80000"/>
                </a:lnSpc>
              </a:pPr>
              <a:endParaRPr lang="en-US" altLang="zh-CN" sz="2000">
                <a:ea typeface="黑体" panose="02010609060101010101" pitchFamily="49" charset="-122"/>
              </a:endParaRPr>
            </a:p>
            <a:p>
              <a:pPr eaLnBrk="1" hangingPunct="1">
                <a:lnSpc>
                  <a:spcPct val="80000"/>
                </a:lnSpc>
              </a:pPr>
              <a:r>
                <a:rPr lang="en-US" altLang="zh-CN" sz="2000">
                  <a:ea typeface="黑体" panose="02010609060101010101" pitchFamily="49" charset="-122"/>
                </a:rPr>
                <a:t>y</a:t>
              </a:r>
            </a:p>
          </p:txBody>
        </p:sp>
        <p:sp>
          <p:nvSpPr>
            <p:cNvPr id="7191" name="Text Box 40"/>
            <p:cNvSpPr txBox="1">
              <a:spLocks noChangeArrowheads="1"/>
            </p:cNvSpPr>
            <p:nvPr/>
          </p:nvSpPr>
          <p:spPr bwMode="auto">
            <a:xfrm>
              <a:off x="703" y="2931"/>
              <a:ext cx="7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a:ea typeface="黑体" panose="02010609060101010101" pitchFamily="49" charset="-122"/>
                </a:rPr>
                <a:t>MUX21a</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68BAF20D-A270-4DF7-A1A4-502146DD3EBF}" type="slidenum">
              <a:rPr lang="en-US" altLang="zh-CN" sz="1400" b="0">
                <a:latin typeface="Tahoma" panose="020B0604030504040204" pitchFamily="34" charset="0"/>
              </a:rPr>
              <a:pPr eaLnBrk="1" hangingPunct="1"/>
              <a:t>5</a:t>
            </a:fld>
            <a:endParaRPr lang="en-US" altLang="zh-CN" sz="1400" b="0">
              <a:latin typeface="Tahoma" panose="020B0604030504040204" pitchFamily="34" charset="0"/>
            </a:endParaRPr>
          </a:p>
        </p:txBody>
      </p:sp>
      <p:sp>
        <p:nvSpPr>
          <p:cNvPr id="8195" name="Rectangle 4"/>
          <p:cNvSpPr>
            <a:spLocks noGrp="1" noChangeArrowheads="1"/>
          </p:cNvSpPr>
          <p:nvPr>
            <p:ph type="title"/>
          </p:nvPr>
        </p:nvSpPr>
        <p:spPr/>
        <p:txBody>
          <a:bodyPr/>
          <a:lstStyle/>
          <a:p>
            <a:pPr eaLnBrk="1" hangingPunct="1"/>
            <a:r>
              <a:rPr lang="en-US" altLang="zh-CN" smtClean="0">
                <a:solidFill>
                  <a:srgbClr val="CC0000"/>
                </a:solidFill>
                <a:latin typeface="Verdana" panose="020B0604030504040204" pitchFamily="34" charset="0"/>
              </a:rPr>
              <a:t>Verilog</a:t>
            </a:r>
            <a:r>
              <a:rPr lang="zh-CN" altLang="en-US" smtClean="0">
                <a:solidFill>
                  <a:srgbClr val="CC0000"/>
                </a:solidFill>
                <a:latin typeface="Verdana" panose="020B0604030504040204" pitchFamily="34" charset="0"/>
              </a:rPr>
              <a:t>程序结构</a:t>
            </a:r>
          </a:p>
        </p:txBody>
      </p:sp>
      <p:sp>
        <p:nvSpPr>
          <p:cNvPr id="8196" name="Text Box 5"/>
          <p:cNvSpPr txBox="1">
            <a:spLocks noChangeArrowheads="1"/>
          </p:cNvSpPr>
          <p:nvPr/>
        </p:nvSpPr>
        <p:spPr bwMode="auto">
          <a:xfrm>
            <a:off x="250825" y="1268413"/>
            <a:ext cx="6626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ea typeface="黑体" panose="02010609060101010101" pitchFamily="49" charset="-122"/>
              </a:rPr>
              <a:t>例</a:t>
            </a:r>
            <a:r>
              <a:rPr lang="en-US" altLang="zh-CN">
                <a:ea typeface="黑体" panose="02010609060101010101" pitchFamily="49" charset="-122"/>
              </a:rPr>
              <a:t>2</a:t>
            </a:r>
            <a:r>
              <a:rPr lang="zh-CN" altLang="en-US">
                <a:ea typeface="黑体" panose="02010609060101010101" pitchFamily="49" charset="-122"/>
              </a:rPr>
              <a:t>：边沿</a:t>
            </a:r>
            <a:r>
              <a:rPr lang="en-US" altLang="zh-CN">
                <a:ea typeface="黑体" panose="02010609060101010101" pitchFamily="49" charset="-122"/>
              </a:rPr>
              <a:t>D</a:t>
            </a:r>
            <a:r>
              <a:rPr lang="zh-CN" altLang="en-US">
                <a:ea typeface="黑体" panose="02010609060101010101" pitchFamily="49" charset="-122"/>
              </a:rPr>
              <a:t>触发器的</a:t>
            </a:r>
            <a:r>
              <a:rPr lang="en-US" altLang="zh-CN">
                <a:ea typeface="黑体" panose="02010609060101010101" pitchFamily="49" charset="-122"/>
              </a:rPr>
              <a:t>Verilog</a:t>
            </a:r>
            <a:r>
              <a:rPr lang="zh-CN" altLang="en-US">
                <a:ea typeface="黑体" panose="02010609060101010101" pitchFamily="49" charset="-122"/>
              </a:rPr>
              <a:t>描述</a:t>
            </a:r>
          </a:p>
        </p:txBody>
      </p:sp>
      <p:pic>
        <p:nvPicPr>
          <p:cNvPr id="819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549275"/>
            <a:ext cx="2884488"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10"/>
          <p:cNvPicPr>
            <a:picLocks noChangeAspect="1" noChangeArrowheads="1"/>
          </p:cNvPicPr>
          <p:nvPr/>
        </p:nvPicPr>
        <p:blipFill>
          <a:blip r:embed="rId3">
            <a:extLst>
              <a:ext uri="{28A0092B-C50C-407E-A947-70E740481C1C}">
                <a14:useLocalDpi xmlns:a14="http://schemas.microsoft.com/office/drawing/2010/main" val="0"/>
              </a:ext>
            </a:extLst>
          </a:blip>
          <a:srcRect b="29404"/>
          <a:stretch>
            <a:fillRect/>
          </a:stretch>
        </p:blipFill>
        <p:spPr bwMode="auto">
          <a:xfrm>
            <a:off x="395288" y="1916113"/>
            <a:ext cx="619283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12"/>
          <p:cNvPicPr>
            <a:picLocks noChangeAspect="1" noChangeArrowheads="1"/>
          </p:cNvPicPr>
          <p:nvPr/>
        </p:nvPicPr>
        <p:blipFill>
          <a:blip r:embed="rId4">
            <a:extLst>
              <a:ext uri="{28A0092B-C50C-407E-A947-70E740481C1C}">
                <a14:useLocalDpi xmlns:a14="http://schemas.microsoft.com/office/drawing/2010/main" val="0"/>
              </a:ext>
            </a:extLst>
          </a:blip>
          <a:srcRect t="10420" r="51984"/>
          <a:stretch>
            <a:fillRect/>
          </a:stretch>
        </p:blipFill>
        <p:spPr bwMode="auto">
          <a:xfrm>
            <a:off x="827088" y="3860800"/>
            <a:ext cx="3816350" cy="24701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8200" name="Group 13"/>
          <p:cNvGrpSpPr>
            <a:grpSpLocks/>
          </p:cNvGrpSpPr>
          <p:nvPr/>
        </p:nvGrpSpPr>
        <p:grpSpPr bwMode="auto">
          <a:xfrm>
            <a:off x="5292725" y="2997200"/>
            <a:ext cx="3600450" cy="3622675"/>
            <a:chOff x="113" y="740"/>
            <a:chExt cx="2268" cy="2282"/>
          </a:xfrm>
        </p:grpSpPr>
        <p:sp>
          <p:nvSpPr>
            <p:cNvPr id="8209" name="Rectangle 14"/>
            <p:cNvSpPr>
              <a:spLocks noChangeArrowheads="1"/>
            </p:cNvSpPr>
            <p:nvPr/>
          </p:nvSpPr>
          <p:spPr bwMode="auto">
            <a:xfrm>
              <a:off x="113" y="740"/>
              <a:ext cx="2268" cy="2282"/>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8210" name="Text Box 15"/>
            <p:cNvSpPr txBox="1">
              <a:spLocks noChangeArrowheads="1"/>
            </p:cNvSpPr>
            <p:nvPr/>
          </p:nvSpPr>
          <p:spPr bwMode="auto">
            <a:xfrm>
              <a:off x="249" y="1570"/>
              <a:ext cx="953"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000">
                  <a:solidFill>
                    <a:srgbClr val="000099"/>
                  </a:solidFill>
                  <a:latin typeface="Arial" panose="020B0604020202020204" pitchFamily="34" charset="0"/>
                  <a:ea typeface="黑体" panose="02010609060101010101" pitchFamily="49" charset="-122"/>
                </a:rPr>
                <a:t>内部信号</a:t>
              </a:r>
            </a:p>
            <a:p>
              <a:pPr algn="ctr" eaLnBrk="1" hangingPunct="1"/>
              <a:r>
                <a:rPr lang="zh-CN" altLang="en-US" sz="2000">
                  <a:solidFill>
                    <a:srgbClr val="000099"/>
                  </a:solidFill>
                  <a:latin typeface="Arial" panose="020B0604020202020204" pitchFamily="34" charset="0"/>
                  <a:ea typeface="黑体" panose="02010609060101010101" pitchFamily="49" charset="-122"/>
                </a:rPr>
                <a:t>声明</a:t>
              </a:r>
            </a:p>
          </p:txBody>
        </p:sp>
        <p:sp>
          <p:nvSpPr>
            <p:cNvPr id="8211" name="Text Box 16"/>
            <p:cNvSpPr txBox="1">
              <a:spLocks noChangeArrowheads="1"/>
            </p:cNvSpPr>
            <p:nvPr/>
          </p:nvSpPr>
          <p:spPr bwMode="auto">
            <a:xfrm>
              <a:off x="1338" y="1570"/>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assign</a:t>
              </a:r>
              <a:r>
                <a:rPr lang="zh-CN" altLang="en-US" sz="2000">
                  <a:solidFill>
                    <a:srgbClr val="000099"/>
                  </a:solidFill>
                  <a:latin typeface="Arial" panose="020B0604020202020204" pitchFamily="34" charset="0"/>
                  <a:ea typeface="黑体" panose="02010609060101010101" pitchFamily="49" charset="-122"/>
                </a:rPr>
                <a:t>语句</a:t>
              </a:r>
            </a:p>
          </p:txBody>
        </p:sp>
        <p:sp>
          <p:nvSpPr>
            <p:cNvPr id="8212" name="Text Box 17"/>
            <p:cNvSpPr txBox="1">
              <a:spLocks noChangeArrowheads="1"/>
            </p:cNvSpPr>
            <p:nvPr/>
          </p:nvSpPr>
          <p:spPr bwMode="auto">
            <a:xfrm>
              <a:off x="249" y="2205"/>
              <a:ext cx="953" cy="460"/>
            </a:xfrm>
            <a:prstGeom prst="rect">
              <a:avLst/>
            </a:prstGeom>
            <a:solidFill>
              <a:srgbClr val="E6E6F2"/>
            </a:solidFill>
            <a:ln w="28575" algn="ctr">
              <a:solidFill>
                <a:schemeClr val="tx2"/>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chemeClr val="tx2"/>
                  </a:solidFill>
                  <a:latin typeface="Arial" panose="020B0604020202020204" pitchFamily="34" charset="0"/>
                  <a:ea typeface="黑体" panose="02010609060101010101" pitchFamily="49" charset="-122"/>
                </a:rPr>
                <a:t>底层模块或门原语调用</a:t>
              </a:r>
              <a:endParaRPr lang="zh-CN" altLang="en-US" sz="2000">
                <a:solidFill>
                  <a:schemeClr val="accent1"/>
                </a:solidFill>
                <a:latin typeface="Arial" panose="020B0604020202020204" pitchFamily="34" charset="0"/>
                <a:ea typeface="黑体" panose="02010609060101010101" pitchFamily="49" charset="-122"/>
              </a:endParaRPr>
            </a:p>
          </p:txBody>
        </p:sp>
        <p:sp>
          <p:nvSpPr>
            <p:cNvPr id="8213" name="Text Box 18"/>
            <p:cNvSpPr txBox="1">
              <a:spLocks noChangeArrowheads="1"/>
            </p:cNvSpPr>
            <p:nvPr/>
          </p:nvSpPr>
          <p:spPr bwMode="auto">
            <a:xfrm>
              <a:off x="1338" y="2205"/>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always</a:t>
              </a:r>
            </a:p>
            <a:p>
              <a:pPr algn="ctr" eaLnBrk="1" hangingPunct="1"/>
              <a:r>
                <a:rPr lang="zh-CN" altLang="en-US" sz="2000">
                  <a:solidFill>
                    <a:srgbClr val="000099"/>
                  </a:solidFill>
                  <a:latin typeface="Arial" panose="020B0604020202020204" pitchFamily="34" charset="0"/>
                  <a:ea typeface="黑体" panose="02010609060101010101" pitchFamily="49" charset="-122"/>
                </a:rPr>
                <a:t>语句块</a:t>
              </a:r>
            </a:p>
          </p:txBody>
        </p:sp>
        <p:sp>
          <p:nvSpPr>
            <p:cNvPr id="8214" name="Text Box 19"/>
            <p:cNvSpPr txBox="1">
              <a:spLocks noChangeArrowheads="1"/>
            </p:cNvSpPr>
            <p:nvPr/>
          </p:nvSpPr>
          <p:spPr bwMode="auto">
            <a:xfrm>
              <a:off x="113" y="740"/>
              <a:ext cx="2268" cy="690"/>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module </a:t>
              </a:r>
              <a:r>
                <a:rPr lang="zh-CN" altLang="en-US" sz="2000">
                  <a:solidFill>
                    <a:srgbClr val="000099"/>
                  </a:solidFill>
                  <a:latin typeface="Arial" panose="020B0604020202020204" pitchFamily="34" charset="0"/>
                  <a:ea typeface="黑体" panose="02010609060101010101" pitchFamily="49" charset="-122"/>
                </a:rPr>
                <a:t>模块名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参数声明</a:t>
              </a:r>
              <a:r>
                <a:rPr lang="en-US" altLang="zh-CN" sz="2000">
                  <a:solidFill>
                    <a:srgbClr val="000099"/>
                  </a:solidFill>
                  <a:latin typeface="Arial" panose="020B0604020202020204" pitchFamily="34" charset="0"/>
                  <a:ea typeface="黑体" panose="02010609060101010101" pitchFamily="49" charset="-122"/>
                </a:rPr>
                <a:t>;]</a:t>
              </a:r>
            </a:p>
          </p:txBody>
        </p:sp>
        <p:sp>
          <p:nvSpPr>
            <p:cNvPr id="8215" name="Text Box 20"/>
            <p:cNvSpPr txBox="1">
              <a:spLocks noChangeArrowheads="1"/>
            </p:cNvSpPr>
            <p:nvPr/>
          </p:nvSpPr>
          <p:spPr bwMode="auto">
            <a:xfrm>
              <a:off x="113" y="2750"/>
              <a:ext cx="2268" cy="268"/>
            </a:xfrm>
            <a:prstGeom prst="rect">
              <a:avLst/>
            </a:prstGeom>
            <a:solidFill>
              <a:srgbClr val="E6E6F2"/>
            </a:solidFill>
            <a:ln w="28575" algn="ctr">
              <a:solidFill>
                <a:srgbClr val="000099"/>
              </a:solidFill>
              <a:miter lim="800000"/>
              <a:headEnd type="none" w="lg" len="lg"/>
              <a:tailEnd/>
            </a:ln>
          </p:spPr>
          <p:txBody>
            <a:bodyPr tIns="46800" bIns="46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endmodule</a:t>
              </a:r>
            </a:p>
          </p:txBody>
        </p:sp>
      </p:grpSp>
      <p:sp>
        <p:nvSpPr>
          <p:cNvPr id="8201" name="Rectangle 21"/>
          <p:cNvSpPr>
            <a:spLocks noChangeArrowheads="1"/>
          </p:cNvSpPr>
          <p:nvPr/>
        </p:nvSpPr>
        <p:spPr bwMode="auto">
          <a:xfrm>
            <a:off x="1835150" y="3990975"/>
            <a:ext cx="576263" cy="287338"/>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2" name="Rectangle 22"/>
          <p:cNvSpPr>
            <a:spLocks noChangeArrowheads="1"/>
          </p:cNvSpPr>
          <p:nvPr/>
        </p:nvSpPr>
        <p:spPr bwMode="auto">
          <a:xfrm>
            <a:off x="2484438" y="3990975"/>
            <a:ext cx="1366837" cy="287338"/>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3" name="Rectangle 23"/>
          <p:cNvSpPr>
            <a:spLocks noChangeArrowheads="1"/>
          </p:cNvSpPr>
          <p:nvPr/>
        </p:nvSpPr>
        <p:spPr bwMode="auto">
          <a:xfrm>
            <a:off x="1116013" y="4365625"/>
            <a:ext cx="2232025" cy="935038"/>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4" name="Rectangle 24"/>
          <p:cNvSpPr>
            <a:spLocks noChangeArrowheads="1"/>
          </p:cNvSpPr>
          <p:nvPr/>
        </p:nvSpPr>
        <p:spPr bwMode="auto">
          <a:xfrm>
            <a:off x="1116013" y="5373688"/>
            <a:ext cx="3384550" cy="647700"/>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5" name="Freeform 25"/>
          <p:cNvSpPr>
            <a:spLocks/>
          </p:cNvSpPr>
          <p:nvPr/>
        </p:nvSpPr>
        <p:spPr bwMode="auto">
          <a:xfrm>
            <a:off x="2195513" y="2768600"/>
            <a:ext cx="4392612" cy="1165225"/>
          </a:xfrm>
          <a:custGeom>
            <a:avLst/>
            <a:gdLst>
              <a:gd name="T0" fmla="*/ 2147483647 w 2767"/>
              <a:gd name="T1" fmla="*/ 2147483647 h 734"/>
              <a:gd name="T2" fmla="*/ 2147483647 w 2767"/>
              <a:gd name="T3" fmla="*/ 2147483647 h 734"/>
              <a:gd name="T4" fmla="*/ 2147483647 w 2767"/>
              <a:gd name="T5" fmla="*/ 2147483647 h 734"/>
              <a:gd name="T6" fmla="*/ 0 w 2767"/>
              <a:gd name="T7" fmla="*/ 2147483647 h 734"/>
              <a:gd name="T8" fmla="*/ 0 60000 65536"/>
              <a:gd name="T9" fmla="*/ 0 60000 65536"/>
              <a:gd name="T10" fmla="*/ 0 60000 65536"/>
              <a:gd name="T11" fmla="*/ 0 60000 65536"/>
              <a:gd name="T12" fmla="*/ 0 w 2767"/>
              <a:gd name="T13" fmla="*/ 0 h 734"/>
              <a:gd name="T14" fmla="*/ 2767 w 2767"/>
              <a:gd name="T15" fmla="*/ 734 h 734"/>
            </a:gdLst>
            <a:ahLst/>
            <a:cxnLst>
              <a:cxn ang="T8">
                <a:pos x="T0" y="T1"/>
              </a:cxn>
              <a:cxn ang="T9">
                <a:pos x="T2" y="T3"/>
              </a:cxn>
              <a:cxn ang="T10">
                <a:pos x="T4" y="T5"/>
              </a:cxn>
              <a:cxn ang="T11">
                <a:pos x="T6" y="T7"/>
              </a:cxn>
            </a:cxnLst>
            <a:rect l="T12" t="T13" r="T14" b="T15"/>
            <a:pathLst>
              <a:path w="2767" h="734">
                <a:moveTo>
                  <a:pt x="2767" y="189"/>
                </a:moveTo>
                <a:cubicBezTo>
                  <a:pt x="2415" y="94"/>
                  <a:pt x="2064" y="0"/>
                  <a:pt x="1724" y="8"/>
                </a:cubicBezTo>
                <a:cubicBezTo>
                  <a:pt x="1384" y="16"/>
                  <a:pt x="1013" y="114"/>
                  <a:pt x="726" y="235"/>
                </a:cubicBezTo>
                <a:cubicBezTo>
                  <a:pt x="439" y="356"/>
                  <a:pt x="121" y="651"/>
                  <a:pt x="0" y="734"/>
                </a:cubicBezTo>
              </a:path>
            </a:pathLst>
          </a:custGeom>
          <a:noFill/>
          <a:ln w="9525">
            <a:solidFill>
              <a:srgbClr val="00A87C"/>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6" name="Freeform 26"/>
          <p:cNvSpPr>
            <a:spLocks/>
          </p:cNvSpPr>
          <p:nvPr/>
        </p:nvSpPr>
        <p:spPr bwMode="auto">
          <a:xfrm>
            <a:off x="3419475" y="2625725"/>
            <a:ext cx="4392613" cy="1308100"/>
          </a:xfrm>
          <a:custGeom>
            <a:avLst/>
            <a:gdLst>
              <a:gd name="T0" fmla="*/ 2147483647 w 2767"/>
              <a:gd name="T1" fmla="*/ 2147483647 h 824"/>
              <a:gd name="T2" fmla="*/ 2147483647 w 2767"/>
              <a:gd name="T3" fmla="*/ 2147483647 h 824"/>
              <a:gd name="T4" fmla="*/ 2147483647 w 2767"/>
              <a:gd name="T5" fmla="*/ 2147483647 h 824"/>
              <a:gd name="T6" fmla="*/ 0 w 2767"/>
              <a:gd name="T7" fmla="*/ 2147483647 h 824"/>
              <a:gd name="T8" fmla="*/ 0 60000 65536"/>
              <a:gd name="T9" fmla="*/ 0 60000 65536"/>
              <a:gd name="T10" fmla="*/ 0 60000 65536"/>
              <a:gd name="T11" fmla="*/ 0 60000 65536"/>
              <a:gd name="T12" fmla="*/ 0 w 2767"/>
              <a:gd name="T13" fmla="*/ 0 h 824"/>
              <a:gd name="T14" fmla="*/ 2767 w 2767"/>
              <a:gd name="T15" fmla="*/ 824 h 824"/>
            </a:gdLst>
            <a:ahLst/>
            <a:cxnLst>
              <a:cxn ang="T8">
                <a:pos x="T0" y="T1"/>
              </a:cxn>
              <a:cxn ang="T9">
                <a:pos x="T2" y="T3"/>
              </a:cxn>
              <a:cxn ang="T10">
                <a:pos x="T4" y="T5"/>
              </a:cxn>
              <a:cxn ang="T11">
                <a:pos x="T6" y="T7"/>
              </a:cxn>
            </a:cxnLst>
            <a:rect l="T12" t="T13" r="T14" b="T15"/>
            <a:pathLst>
              <a:path w="2767" h="824">
                <a:moveTo>
                  <a:pt x="2767" y="279"/>
                </a:moveTo>
                <a:cubicBezTo>
                  <a:pt x="2547" y="146"/>
                  <a:pt x="2328" y="14"/>
                  <a:pt x="2041" y="7"/>
                </a:cubicBezTo>
                <a:cubicBezTo>
                  <a:pt x="1754" y="0"/>
                  <a:pt x="1384" y="98"/>
                  <a:pt x="1044" y="234"/>
                </a:cubicBezTo>
                <a:cubicBezTo>
                  <a:pt x="704" y="370"/>
                  <a:pt x="174" y="726"/>
                  <a:pt x="0" y="824"/>
                </a:cubicBezTo>
              </a:path>
            </a:pathLst>
          </a:custGeom>
          <a:noFill/>
          <a:ln w="9525">
            <a:solidFill>
              <a:srgbClr val="00A87C"/>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7" name="Freeform 27"/>
          <p:cNvSpPr>
            <a:spLocks/>
          </p:cNvSpPr>
          <p:nvPr/>
        </p:nvSpPr>
        <p:spPr bwMode="auto">
          <a:xfrm>
            <a:off x="3203575" y="3573463"/>
            <a:ext cx="2305050" cy="1079500"/>
          </a:xfrm>
          <a:custGeom>
            <a:avLst/>
            <a:gdLst>
              <a:gd name="T0" fmla="*/ 2147483647 w 1452"/>
              <a:gd name="T1" fmla="*/ 0 h 680"/>
              <a:gd name="T2" fmla="*/ 2147483647 w 1452"/>
              <a:gd name="T3" fmla="*/ 2147483647 h 680"/>
              <a:gd name="T4" fmla="*/ 0 w 1452"/>
              <a:gd name="T5" fmla="*/ 2147483647 h 680"/>
              <a:gd name="T6" fmla="*/ 0 60000 65536"/>
              <a:gd name="T7" fmla="*/ 0 60000 65536"/>
              <a:gd name="T8" fmla="*/ 0 60000 65536"/>
              <a:gd name="T9" fmla="*/ 0 w 1452"/>
              <a:gd name="T10" fmla="*/ 0 h 680"/>
              <a:gd name="T11" fmla="*/ 1452 w 1452"/>
              <a:gd name="T12" fmla="*/ 680 h 680"/>
            </a:gdLst>
            <a:ahLst/>
            <a:cxnLst>
              <a:cxn ang="T6">
                <a:pos x="T0" y="T1"/>
              </a:cxn>
              <a:cxn ang="T7">
                <a:pos x="T2" y="T3"/>
              </a:cxn>
              <a:cxn ang="T8">
                <a:pos x="T4" y="T5"/>
              </a:cxn>
            </a:cxnLst>
            <a:rect l="T9" t="T10" r="T11" b="T12"/>
            <a:pathLst>
              <a:path w="1452" h="680">
                <a:moveTo>
                  <a:pt x="1452" y="0"/>
                </a:moveTo>
                <a:cubicBezTo>
                  <a:pt x="1142" y="34"/>
                  <a:pt x="832" y="68"/>
                  <a:pt x="590" y="181"/>
                </a:cubicBezTo>
                <a:cubicBezTo>
                  <a:pt x="348" y="294"/>
                  <a:pt x="174" y="487"/>
                  <a:pt x="0" y="680"/>
                </a:cubicBezTo>
              </a:path>
            </a:pathLst>
          </a:custGeom>
          <a:noFill/>
          <a:ln w="9525">
            <a:solidFill>
              <a:srgbClr val="00A87C"/>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8208" name="Freeform 28"/>
          <p:cNvSpPr>
            <a:spLocks/>
          </p:cNvSpPr>
          <p:nvPr/>
        </p:nvSpPr>
        <p:spPr bwMode="auto">
          <a:xfrm>
            <a:off x="3708400" y="4989513"/>
            <a:ext cx="3959225" cy="384175"/>
          </a:xfrm>
          <a:custGeom>
            <a:avLst/>
            <a:gdLst>
              <a:gd name="T0" fmla="*/ 2147483647 w 2494"/>
              <a:gd name="T1" fmla="*/ 2147483647 h 242"/>
              <a:gd name="T2" fmla="*/ 2147483647 w 2494"/>
              <a:gd name="T3" fmla="*/ 2147483647 h 242"/>
              <a:gd name="T4" fmla="*/ 0 w 2494"/>
              <a:gd name="T5" fmla="*/ 2147483647 h 242"/>
              <a:gd name="T6" fmla="*/ 0 60000 65536"/>
              <a:gd name="T7" fmla="*/ 0 60000 65536"/>
              <a:gd name="T8" fmla="*/ 0 60000 65536"/>
              <a:gd name="T9" fmla="*/ 0 w 2494"/>
              <a:gd name="T10" fmla="*/ 0 h 242"/>
              <a:gd name="T11" fmla="*/ 2494 w 2494"/>
              <a:gd name="T12" fmla="*/ 242 h 242"/>
            </a:gdLst>
            <a:ahLst/>
            <a:cxnLst>
              <a:cxn ang="T6">
                <a:pos x="T0" y="T1"/>
              </a:cxn>
              <a:cxn ang="T7">
                <a:pos x="T2" y="T3"/>
              </a:cxn>
              <a:cxn ang="T8">
                <a:pos x="T4" y="T5"/>
              </a:cxn>
            </a:cxnLst>
            <a:rect l="T9" t="T10" r="T11" b="T12"/>
            <a:pathLst>
              <a:path w="2494" h="242">
                <a:moveTo>
                  <a:pt x="2494" y="151"/>
                </a:moveTo>
                <a:cubicBezTo>
                  <a:pt x="1886" y="75"/>
                  <a:pt x="1278" y="0"/>
                  <a:pt x="862" y="15"/>
                </a:cubicBezTo>
                <a:cubicBezTo>
                  <a:pt x="446" y="30"/>
                  <a:pt x="223" y="136"/>
                  <a:pt x="0" y="242"/>
                </a:cubicBezTo>
              </a:path>
            </a:pathLst>
          </a:custGeom>
          <a:noFill/>
          <a:ln w="9525">
            <a:solidFill>
              <a:srgbClr val="00A87C"/>
            </a:solidFill>
            <a:round/>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9906D2A4-3B8A-4679-9622-E24F554E5BB0}" type="slidenum">
              <a:rPr lang="en-US" altLang="zh-CN" sz="1400" b="0">
                <a:latin typeface="Tahoma" panose="020B0604030504040204" pitchFamily="34" charset="0"/>
              </a:rPr>
              <a:pPr eaLnBrk="1" hangingPunct="1"/>
              <a:t>6</a:t>
            </a:fld>
            <a:endParaRPr lang="en-US" altLang="zh-CN" sz="1400" b="0">
              <a:latin typeface="Tahoma" panose="020B0604030504040204" pitchFamily="34" charset="0"/>
            </a:endParaRPr>
          </a:p>
        </p:txBody>
      </p:sp>
      <p:sp>
        <p:nvSpPr>
          <p:cNvPr id="9219" name="Rectangle 2"/>
          <p:cNvSpPr>
            <a:spLocks noGrp="1" noChangeArrowheads="1"/>
          </p:cNvSpPr>
          <p:nvPr>
            <p:ph type="title"/>
          </p:nvPr>
        </p:nvSpPr>
        <p:spPr/>
        <p:txBody>
          <a:bodyPr/>
          <a:lstStyle/>
          <a:p>
            <a:pPr eaLnBrk="1" hangingPunct="1"/>
            <a:r>
              <a:rPr lang="en-US" altLang="zh-CN" smtClean="0">
                <a:solidFill>
                  <a:srgbClr val="CC0000"/>
                </a:solidFill>
                <a:latin typeface="Verdana" panose="020B0604030504040204" pitchFamily="34" charset="0"/>
              </a:rPr>
              <a:t>Verilog</a:t>
            </a:r>
            <a:r>
              <a:rPr lang="zh-CN" altLang="en-US" smtClean="0">
                <a:solidFill>
                  <a:srgbClr val="CC0000"/>
                </a:solidFill>
                <a:latin typeface="Verdana" panose="020B0604030504040204" pitchFamily="34" charset="0"/>
              </a:rPr>
              <a:t>模块结构</a:t>
            </a:r>
          </a:p>
        </p:txBody>
      </p:sp>
      <p:sp>
        <p:nvSpPr>
          <p:cNvPr id="9220" name="Text Box 5"/>
          <p:cNvSpPr txBox="1">
            <a:spLocks noChangeArrowheads="1"/>
          </p:cNvSpPr>
          <p:nvPr/>
        </p:nvSpPr>
        <p:spPr bwMode="auto">
          <a:xfrm>
            <a:off x="395288" y="1196975"/>
            <a:ext cx="3240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ea typeface="黑体" panose="02010609060101010101" pitchFamily="49" charset="-122"/>
              </a:rPr>
              <a:t>1</a:t>
            </a:r>
            <a:r>
              <a:rPr lang="zh-CN" altLang="en-US">
                <a:ea typeface="黑体" panose="02010609060101010101" pitchFamily="49" charset="-122"/>
              </a:rPr>
              <a:t>．模块说明部分 </a:t>
            </a:r>
          </a:p>
        </p:txBody>
      </p:sp>
      <p:sp>
        <p:nvSpPr>
          <p:cNvPr id="9221" name="Rectangle 12"/>
          <p:cNvSpPr>
            <a:spLocks noChangeArrowheads="1"/>
          </p:cNvSpPr>
          <p:nvPr/>
        </p:nvSpPr>
        <p:spPr bwMode="auto">
          <a:xfrm>
            <a:off x="971550" y="1773238"/>
            <a:ext cx="4672013" cy="12001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000099"/>
                </a:solidFill>
                <a:ea typeface="黑体" panose="02010609060101010101" pitchFamily="49" charset="-122"/>
              </a:rPr>
              <a:t>module </a:t>
            </a:r>
            <a:r>
              <a:rPr lang="zh-CN" altLang="en-US">
                <a:solidFill>
                  <a:srgbClr val="000099"/>
                </a:solidFill>
                <a:ea typeface="黑体" panose="02010609060101010101" pitchFamily="49" charset="-122"/>
              </a:rPr>
              <a:t>模块名 </a:t>
            </a:r>
            <a:r>
              <a:rPr lang="en-US" altLang="zh-CN">
                <a:solidFill>
                  <a:srgbClr val="000099"/>
                </a:solidFill>
                <a:ea typeface="黑体" panose="02010609060101010101" pitchFamily="49" charset="-122"/>
              </a:rPr>
              <a:t>([</a:t>
            </a:r>
            <a:r>
              <a:rPr lang="zh-CN" altLang="en-US">
                <a:solidFill>
                  <a:srgbClr val="000099"/>
                </a:solidFill>
                <a:ea typeface="黑体" panose="02010609060101010101" pitchFamily="49" charset="-122"/>
              </a:rPr>
              <a:t>端口列表</a:t>
            </a:r>
            <a:r>
              <a:rPr lang="en-US" altLang="zh-CN">
                <a:solidFill>
                  <a:srgbClr val="000099"/>
                </a:solidFill>
                <a:ea typeface="黑体" panose="02010609060101010101" pitchFamily="49" charset="-122"/>
              </a:rPr>
              <a:t>]);</a:t>
            </a:r>
          </a:p>
          <a:p>
            <a:pPr eaLnBrk="1" hangingPunct="1"/>
            <a:r>
              <a:rPr lang="en-US" altLang="zh-CN">
                <a:solidFill>
                  <a:srgbClr val="000099"/>
                </a:solidFill>
                <a:ea typeface="黑体" panose="02010609060101010101" pitchFamily="49" charset="-122"/>
              </a:rPr>
              <a:t>  [</a:t>
            </a:r>
            <a:r>
              <a:rPr lang="zh-CN" altLang="en-US">
                <a:solidFill>
                  <a:srgbClr val="000099"/>
                </a:solidFill>
                <a:ea typeface="黑体" panose="02010609060101010101" pitchFamily="49" charset="-122"/>
              </a:rPr>
              <a:t>端口信号声明</a:t>
            </a:r>
            <a:r>
              <a:rPr lang="en-US" altLang="zh-CN">
                <a:solidFill>
                  <a:srgbClr val="000099"/>
                </a:solidFill>
                <a:ea typeface="黑体" panose="02010609060101010101" pitchFamily="49" charset="-122"/>
              </a:rPr>
              <a:t>;]</a:t>
            </a:r>
          </a:p>
          <a:p>
            <a:pPr eaLnBrk="1" hangingPunct="1"/>
            <a:r>
              <a:rPr lang="en-US" altLang="zh-CN">
                <a:solidFill>
                  <a:srgbClr val="000099"/>
                </a:solidFill>
                <a:ea typeface="黑体" panose="02010609060101010101" pitchFamily="49" charset="-122"/>
              </a:rPr>
              <a:t>  [</a:t>
            </a:r>
            <a:r>
              <a:rPr lang="zh-CN" altLang="en-US">
                <a:solidFill>
                  <a:srgbClr val="000099"/>
                </a:solidFill>
                <a:ea typeface="黑体" panose="02010609060101010101" pitchFamily="49" charset="-122"/>
              </a:rPr>
              <a:t>参数声明</a:t>
            </a:r>
            <a:r>
              <a:rPr lang="en-US" altLang="zh-CN">
                <a:solidFill>
                  <a:srgbClr val="000099"/>
                </a:solidFill>
                <a:ea typeface="黑体" panose="02010609060101010101" pitchFamily="49" charset="-122"/>
              </a:rPr>
              <a:t>;]</a:t>
            </a:r>
          </a:p>
        </p:txBody>
      </p:sp>
      <p:sp>
        <p:nvSpPr>
          <p:cNvPr id="9222" name="Text Box 13"/>
          <p:cNvSpPr txBox="1">
            <a:spLocks noChangeArrowheads="1"/>
          </p:cNvSpPr>
          <p:nvPr/>
        </p:nvSpPr>
        <p:spPr bwMode="auto">
          <a:xfrm>
            <a:off x="250825" y="3213100"/>
            <a:ext cx="8642350" cy="3046988"/>
          </a:xfrm>
          <a:prstGeom prst="rect">
            <a:avLst/>
          </a:prstGeom>
          <a:noFill/>
          <a:ln w="952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61938" indent="-261938"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just" eaLnBrk="1" hangingPunct="1">
              <a:lnSpc>
                <a:spcPct val="120000"/>
              </a:lnSpc>
              <a:buFont typeface="Wingdings" panose="05000000000000000000" pitchFamily="2" charset="2"/>
              <a:buChar char="l"/>
            </a:pPr>
            <a:r>
              <a:rPr lang="zh-CN" altLang="en-US" sz="2000" dirty="0">
                <a:ea typeface="黑体" panose="02010609060101010101" pitchFamily="49" charset="-122"/>
              </a:rPr>
              <a:t>模块名是指电路的名字，由用户指定</a:t>
            </a:r>
            <a:r>
              <a:rPr lang="zh-CN" altLang="en-US" sz="2000" dirty="0" smtClean="0">
                <a:ea typeface="黑体" panose="02010609060101010101" pitchFamily="49" charset="-122"/>
              </a:rPr>
              <a:t>，一般与</a:t>
            </a:r>
            <a:r>
              <a:rPr lang="zh-CN" altLang="en-US" sz="2000" dirty="0">
                <a:ea typeface="黑体" panose="02010609060101010101" pitchFamily="49" charset="-122"/>
              </a:rPr>
              <a:t>文件名</a:t>
            </a:r>
            <a:r>
              <a:rPr lang="zh-CN" altLang="en-US" sz="2000" dirty="0" smtClean="0">
                <a:ea typeface="黑体" panose="02010609060101010101" pitchFamily="49" charset="-122"/>
              </a:rPr>
              <a:t>一致；</a:t>
            </a:r>
            <a:endParaRPr lang="zh-CN" altLang="en-US" sz="2000" dirty="0">
              <a:ea typeface="黑体" panose="02010609060101010101" pitchFamily="49" charset="-122"/>
            </a:endParaRPr>
          </a:p>
          <a:p>
            <a:pPr algn="just" eaLnBrk="1" hangingPunct="1">
              <a:lnSpc>
                <a:spcPct val="120000"/>
              </a:lnSpc>
              <a:buFont typeface="Wingdings" panose="05000000000000000000" pitchFamily="2" charset="2"/>
              <a:buChar char="l"/>
            </a:pPr>
            <a:r>
              <a:rPr lang="zh-CN" altLang="en-US" sz="2000" dirty="0">
                <a:ea typeface="黑体" panose="02010609060101010101" pitchFamily="49" charset="-122"/>
              </a:rPr>
              <a:t>端口列表是指电路的输入</a:t>
            </a:r>
            <a:r>
              <a:rPr lang="en-US" altLang="zh-CN" sz="2000" dirty="0">
                <a:ea typeface="黑体" panose="02010609060101010101" pitchFamily="49" charset="-122"/>
              </a:rPr>
              <a:t>/</a:t>
            </a:r>
            <a:r>
              <a:rPr lang="zh-CN" altLang="en-US" sz="2000" dirty="0">
                <a:ea typeface="黑体" panose="02010609060101010101" pitchFamily="49" charset="-122"/>
              </a:rPr>
              <a:t>输出信号名称列表，信号名由用户指定，各名称间用逗号隔开；</a:t>
            </a:r>
          </a:p>
          <a:p>
            <a:pPr algn="just" eaLnBrk="1" hangingPunct="1">
              <a:lnSpc>
                <a:spcPct val="120000"/>
              </a:lnSpc>
              <a:buFont typeface="Wingdings" panose="05000000000000000000" pitchFamily="2" charset="2"/>
              <a:buChar char="l"/>
            </a:pPr>
            <a:r>
              <a:rPr lang="zh-CN" altLang="en-US" sz="2000" dirty="0">
                <a:ea typeface="黑体" panose="02010609060101010101" pitchFamily="49" charset="-122"/>
              </a:rPr>
              <a:t>端口信号声明是要说明端口信号的</a:t>
            </a:r>
            <a:r>
              <a:rPr lang="zh-CN" altLang="en-US" sz="2000" dirty="0">
                <a:solidFill>
                  <a:srgbClr val="0000FF"/>
                </a:solidFill>
                <a:ea typeface="黑体" panose="02010609060101010101" pitchFamily="49" charset="-122"/>
              </a:rPr>
              <a:t>输入输出属性</a:t>
            </a:r>
            <a:r>
              <a:rPr lang="zh-CN" altLang="en-US" sz="2000" dirty="0">
                <a:ea typeface="黑体" panose="02010609060101010101" pitchFamily="49" charset="-122"/>
              </a:rPr>
              <a:t>、</a:t>
            </a:r>
            <a:r>
              <a:rPr lang="zh-CN" altLang="en-US" sz="2000" dirty="0">
                <a:solidFill>
                  <a:srgbClr val="0000FF"/>
                </a:solidFill>
                <a:ea typeface="黑体" panose="02010609060101010101" pitchFamily="49" charset="-122"/>
              </a:rPr>
              <a:t>信号的数据类型</a:t>
            </a:r>
            <a:r>
              <a:rPr lang="zh-CN" altLang="en-US" sz="2000" dirty="0">
                <a:ea typeface="黑体" panose="02010609060101010101" pitchFamily="49" charset="-122"/>
              </a:rPr>
              <a:t>，以及</a:t>
            </a:r>
            <a:r>
              <a:rPr lang="zh-CN" altLang="en-US" sz="2000" dirty="0">
                <a:solidFill>
                  <a:srgbClr val="0000FF"/>
                </a:solidFill>
                <a:ea typeface="黑体" panose="02010609060101010101" pitchFamily="49" charset="-122"/>
              </a:rPr>
              <a:t>信号的位宽</a:t>
            </a:r>
            <a:r>
              <a:rPr lang="zh-CN" altLang="en-US" sz="2000" dirty="0">
                <a:ea typeface="黑体" panose="02010609060101010101" pitchFamily="49" charset="-122"/>
              </a:rPr>
              <a:t>；输入输出属性有</a:t>
            </a:r>
            <a:r>
              <a:rPr lang="en-US" altLang="zh-CN" sz="2000" dirty="0">
                <a:ea typeface="黑体" panose="02010609060101010101" pitchFamily="49" charset="-122"/>
              </a:rPr>
              <a:t>input</a:t>
            </a:r>
            <a:r>
              <a:rPr lang="zh-CN" altLang="en-US" sz="2000" dirty="0">
                <a:ea typeface="黑体" panose="02010609060101010101" pitchFamily="49" charset="-122"/>
              </a:rPr>
              <a:t>，</a:t>
            </a:r>
            <a:r>
              <a:rPr lang="en-US" altLang="zh-CN" sz="2000" dirty="0">
                <a:ea typeface="黑体" panose="02010609060101010101" pitchFamily="49" charset="-122"/>
              </a:rPr>
              <a:t>output</a:t>
            </a:r>
            <a:r>
              <a:rPr lang="zh-CN" altLang="en-US" sz="2000" dirty="0">
                <a:ea typeface="黑体" panose="02010609060101010101" pitchFamily="49" charset="-122"/>
              </a:rPr>
              <a:t>，</a:t>
            </a:r>
            <a:r>
              <a:rPr lang="en-US" altLang="zh-CN" sz="2000" dirty="0" err="1">
                <a:ea typeface="黑体" panose="02010609060101010101" pitchFamily="49" charset="-122"/>
              </a:rPr>
              <a:t>inout</a:t>
            </a:r>
            <a:r>
              <a:rPr lang="zh-CN" altLang="en-US" sz="2000" dirty="0">
                <a:ea typeface="黑体" panose="02010609060101010101" pitchFamily="49" charset="-122"/>
              </a:rPr>
              <a:t>三种，信号的数据类型常用的有</a:t>
            </a:r>
            <a:r>
              <a:rPr lang="en-US" altLang="zh-CN" sz="2000" dirty="0">
                <a:ea typeface="黑体" panose="02010609060101010101" pitchFamily="49" charset="-122"/>
              </a:rPr>
              <a:t>wire</a:t>
            </a:r>
            <a:r>
              <a:rPr lang="zh-CN" altLang="en-US" sz="2000" dirty="0">
                <a:ea typeface="黑体" panose="02010609060101010101" pitchFamily="49" charset="-122"/>
              </a:rPr>
              <a:t>和</a:t>
            </a:r>
            <a:r>
              <a:rPr lang="en-US" altLang="zh-CN" sz="2000" dirty="0">
                <a:ea typeface="黑体" panose="02010609060101010101" pitchFamily="49" charset="-122"/>
              </a:rPr>
              <a:t>reg</a:t>
            </a:r>
            <a:r>
              <a:rPr lang="zh-CN" altLang="en-US" sz="2000" dirty="0">
                <a:ea typeface="黑体" panose="02010609060101010101" pitchFamily="49" charset="-122"/>
              </a:rPr>
              <a:t>两种；信号的位宽用</a:t>
            </a:r>
            <a:r>
              <a:rPr lang="en-US" altLang="zh-CN" sz="2000" dirty="0">
                <a:ea typeface="黑体" panose="02010609060101010101" pitchFamily="49" charset="-122"/>
              </a:rPr>
              <a:t>[n1:n2]</a:t>
            </a:r>
            <a:r>
              <a:rPr lang="zh-CN" altLang="en-US" sz="2000" dirty="0">
                <a:ea typeface="黑体" panose="02010609060101010101" pitchFamily="49" charset="-122"/>
              </a:rPr>
              <a:t>表示；同一类信号之间用逗号隔开；</a:t>
            </a:r>
          </a:p>
          <a:p>
            <a:pPr algn="just" eaLnBrk="1" hangingPunct="1">
              <a:lnSpc>
                <a:spcPct val="120000"/>
              </a:lnSpc>
              <a:buFont typeface="Wingdings" panose="05000000000000000000" pitchFamily="2" charset="2"/>
              <a:buChar char="l"/>
            </a:pPr>
            <a:r>
              <a:rPr lang="zh-CN" altLang="en-US" sz="2000" dirty="0">
                <a:ea typeface="黑体" panose="02010609060101010101" pitchFamily="49" charset="-122"/>
              </a:rPr>
              <a:t>参数声明要说明参数的名称和初值</a:t>
            </a:r>
          </a:p>
        </p:txBody>
      </p:sp>
      <p:sp>
        <p:nvSpPr>
          <p:cNvPr id="9223" name="圆角矩形标注 7"/>
          <p:cNvSpPr>
            <a:spLocks noChangeArrowheads="1"/>
          </p:cNvSpPr>
          <p:nvPr/>
        </p:nvSpPr>
        <p:spPr bwMode="auto">
          <a:xfrm>
            <a:off x="3857625" y="2357438"/>
            <a:ext cx="4214813" cy="428625"/>
          </a:xfrm>
          <a:prstGeom prst="wedgeRoundRectCallout">
            <a:avLst>
              <a:gd name="adj1" fmla="val -54500"/>
              <a:gd name="adj2" fmla="val -46389"/>
              <a:gd name="adj3" fmla="val 16667"/>
            </a:avLst>
          </a:prstGeom>
          <a:solidFill>
            <a:srgbClr val="CDFFF2"/>
          </a:solidFill>
          <a:ln w="9525" algn="ctr">
            <a:solidFill>
              <a:schemeClr val="tx1"/>
            </a:solidFill>
            <a:round/>
            <a:headEnd/>
            <a:tailEnd/>
          </a:ln>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a:solidFill>
                  <a:srgbClr val="A50021"/>
                </a:solidFill>
                <a:ea typeface="黑体" panose="02010609060101010101" pitchFamily="49" charset="-122"/>
              </a:rPr>
              <a:t>输入输出属性 数据类型 位宽 名称 </a:t>
            </a:r>
          </a:p>
        </p:txBody>
      </p:sp>
      <p:sp>
        <p:nvSpPr>
          <p:cNvPr id="9224" name="圆角矩形标注 9"/>
          <p:cNvSpPr>
            <a:spLocks noChangeArrowheads="1"/>
          </p:cNvSpPr>
          <p:nvPr/>
        </p:nvSpPr>
        <p:spPr bwMode="auto">
          <a:xfrm>
            <a:off x="3286125" y="2786063"/>
            <a:ext cx="5102225" cy="428625"/>
          </a:xfrm>
          <a:prstGeom prst="wedgeRoundRectCallout">
            <a:avLst>
              <a:gd name="adj1" fmla="val -54106"/>
              <a:gd name="adj2" fmla="val -46296"/>
              <a:gd name="adj3" fmla="val 16667"/>
            </a:avLst>
          </a:prstGeom>
          <a:solidFill>
            <a:srgbClr val="CDFFF2"/>
          </a:solidFill>
          <a:ln w="9525" algn="ctr">
            <a:solidFill>
              <a:schemeClr val="tx1"/>
            </a:solidFill>
            <a:round/>
            <a:headEnd/>
            <a:tailEnd/>
          </a:ln>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rgbClr val="A50021"/>
                </a:solidFill>
                <a:ea typeface="黑体" panose="02010609060101010101" pitchFamily="49" charset="-122"/>
              </a:rPr>
              <a:t>parameter </a:t>
            </a:r>
            <a:r>
              <a:rPr lang="zh-CN" altLang="en-US" sz="2000">
                <a:solidFill>
                  <a:srgbClr val="A50021"/>
                </a:solidFill>
                <a:ea typeface="黑体" panose="02010609060101010101" pitchFamily="49" charset="-122"/>
              </a:rPr>
              <a:t>数据类型 参数名 </a:t>
            </a:r>
            <a:r>
              <a:rPr lang="en-US" altLang="zh-CN" sz="2000">
                <a:solidFill>
                  <a:srgbClr val="A50021"/>
                </a:solidFill>
                <a:ea typeface="黑体" panose="02010609060101010101" pitchFamily="49" charset="-122"/>
              </a:rPr>
              <a:t>=</a:t>
            </a:r>
            <a:r>
              <a:rPr lang="zh-CN" altLang="en-US" sz="2000">
                <a:solidFill>
                  <a:srgbClr val="A50021"/>
                </a:solidFill>
                <a:ea typeface="黑体" panose="02010609060101010101" pitchFamily="49" charset="-122"/>
              </a:rPr>
              <a:t> 初值</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2"/>
          </p:nvPr>
        </p:nvSpPr>
        <p:spPr>
          <a:xfrm>
            <a:off x="4835525" y="6243638"/>
            <a:ext cx="1905000" cy="457200"/>
          </a:xfrm>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C0AC7F40-D621-4553-83D4-B47C729CCEA8}" type="slidenum">
              <a:rPr lang="en-US" altLang="zh-CN" sz="1400" b="0">
                <a:latin typeface="Tahoma" panose="020B0604030504040204" pitchFamily="34" charset="0"/>
              </a:rPr>
              <a:pPr eaLnBrk="1" hangingPunct="1"/>
              <a:t>7</a:t>
            </a:fld>
            <a:endParaRPr lang="en-US" altLang="zh-CN" sz="1400" b="0">
              <a:latin typeface="Tahoma" panose="020B0604030504040204" pitchFamily="34" charset="0"/>
            </a:endParaRPr>
          </a:p>
        </p:txBody>
      </p:sp>
      <p:sp>
        <p:nvSpPr>
          <p:cNvPr id="10243" name="Rectangle 4"/>
          <p:cNvSpPr>
            <a:spLocks noGrp="1" noChangeArrowheads="1"/>
          </p:cNvSpPr>
          <p:nvPr>
            <p:ph type="title"/>
          </p:nvPr>
        </p:nvSpPr>
        <p:spPr/>
        <p:txBody>
          <a:bodyPr/>
          <a:lstStyle/>
          <a:p>
            <a:pPr eaLnBrk="1" hangingPunct="1"/>
            <a:endParaRPr lang="zh-CN" altLang="zh-CN" smtClean="0"/>
          </a:p>
        </p:txBody>
      </p:sp>
      <p:sp>
        <p:nvSpPr>
          <p:cNvPr id="10244" name="Text Box 5"/>
          <p:cNvSpPr txBox="1">
            <a:spLocks noChangeArrowheads="1"/>
          </p:cNvSpPr>
          <p:nvPr/>
        </p:nvSpPr>
        <p:spPr bwMode="auto">
          <a:xfrm>
            <a:off x="519113" y="11969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10245" name="Text Box 6"/>
          <p:cNvSpPr txBox="1">
            <a:spLocks noChangeArrowheads="1"/>
          </p:cNvSpPr>
          <p:nvPr/>
        </p:nvSpPr>
        <p:spPr bwMode="auto">
          <a:xfrm>
            <a:off x="1384300" y="1208088"/>
            <a:ext cx="6575425" cy="1946275"/>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dirty="0">
                <a:ea typeface="黑体" panose="02010609060101010101" pitchFamily="49" charset="-122"/>
              </a:rPr>
              <a:t>module </a:t>
            </a:r>
            <a:r>
              <a:rPr lang="en-US" altLang="zh-CN" dirty="0" err="1">
                <a:ea typeface="黑体" panose="02010609060101010101" pitchFamily="49" charset="-122"/>
              </a:rPr>
              <a:t>full_adder</a:t>
            </a:r>
            <a:r>
              <a:rPr lang="en-US" altLang="zh-CN" dirty="0">
                <a:ea typeface="黑体" panose="02010609060101010101" pitchFamily="49" charset="-122"/>
              </a:rPr>
              <a:t> (A,B,CIN,S,COUT);</a:t>
            </a:r>
          </a:p>
          <a:p>
            <a:pPr eaLnBrk="1" hangingPunct="1"/>
            <a:r>
              <a:rPr lang="en-US" altLang="zh-CN" dirty="0">
                <a:ea typeface="黑体" panose="02010609060101010101" pitchFamily="49" charset="-122"/>
              </a:rPr>
              <a:t>  input [3:0] A,B;</a:t>
            </a:r>
          </a:p>
          <a:p>
            <a:pPr eaLnBrk="1" hangingPunct="1"/>
            <a:r>
              <a:rPr lang="en-US" altLang="zh-CN" dirty="0">
                <a:ea typeface="黑体" panose="02010609060101010101" pitchFamily="49" charset="-122"/>
              </a:rPr>
              <a:t>  input CIN;</a:t>
            </a:r>
          </a:p>
          <a:p>
            <a:pPr eaLnBrk="1" hangingPunct="1"/>
            <a:r>
              <a:rPr lang="en-US" altLang="zh-CN" dirty="0">
                <a:ea typeface="黑体" panose="02010609060101010101" pitchFamily="49" charset="-122"/>
              </a:rPr>
              <a:t>  output reg [3:0] S;</a:t>
            </a:r>
          </a:p>
          <a:p>
            <a:pPr eaLnBrk="1" hangingPunct="1"/>
            <a:r>
              <a:rPr lang="en-US" altLang="zh-CN" dirty="0">
                <a:ea typeface="黑体" panose="02010609060101010101" pitchFamily="49" charset="-122"/>
              </a:rPr>
              <a:t>  output COUT;</a:t>
            </a:r>
          </a:p>
        </p:txBody>
      </p:sp>
      <p:sp>
        <p:nvSpPr>
          <p:cNvPr id="10246" name="Text Box 7"/>
          <p:cNvSpPr txBox="1">
            <a:spLocks noChangeArrowheads="1"/>
          </p:cNvSpPr>
          <p:nvPr/>
        </p:nvSpPr>
        <p:spPr bwMode="auto">
          <a:xfrm>
            <a:off x="1331913" y="3284538"/>
            <a:ext cx="6149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hlink"/>
                </a:solidFill>
                <a:ea typeface="黑体" panose="02010609060101010101" pitchFamily="49" charset="-122"/>
              </a:rPr>
              <a:t>位宽如果不做说明的话，默认是</a:t>
            </a:r>
            <a:r>
              <a:rPr lang="en-US" altLang="zh-CN">
                <a:solidFill>
                  <a:schemeClr val="hlink"/>
                </a:solidFill>
                <a:ea typeface="黑体" panose="02010609060101010101" pitchFamily="49" charset="-122"/>
              </a:rPr>
              <a:t>1</a:t>
            </a:r>
            <a:r>
              <a:rPr lang="zh-CN" altLang="en-US">
                <a:solidFill>
                  <a:schemeClr val="hlink"/>
                </a:solidFill>
                <a:ea typeface="黑体" panose="02010609060101010101" pitchFamily="49" charset="-122"/>
              </a:rPr>
              <a:t>位；</a:t>
            </a:r>
          </a:p>
          <a:p>
            <a:pPr eaLnBrk="1" hangingPunct="1"/>
            <a:r>
              <a:rPr lang="zh-CN" altLang="en-US">
                <a:solidFill>
                  <a:schemeClr val="hlink"/>
                </a:solidFill>
                <a:ea typeface="黑体" panose="02010609060101010101" pitchFamily="49" charset="-122"/>
              </a:rPr>
              <a:t>数据类型不做说明的话，默认是</a:t>
            </a:r>
            <a:r>
              <a:rPr lang="en-US" altLang="zh-CN">
                <a:solidFill>
                  <a:schemeClr val="hlink"/>
                </a:solidFill>
                <a:ea typeface="黑体" panose="02010609060101010101" pitchFamily="49" charset="-122"/>
              </a:rPr>
              <a:t>wire</a:t>
            </a:r>
            <a:r>
              <a:rPr lang="zh-CN" altLang="en-US">
                <a:solidFill>
                  <a:schemeClr val="hlink"/>
                </a:solidFill>
                <a:ea typeface="黑体" panose="02010609060101010101" pitchFamily="49" charset="-122"/>
              </a:rPr>
              <a:t>型的。</a:t>
            </a:r>
          </a:p>
        </p:txBody>
      </p:sp>
      <p:sp>
        <p:nvSpPr>
          <p:cNvPr id="10247" name="Text Box 8"/>
          <p:cNvSpPr txBox="1">
            <a:spLocks noChangeArrowheads="1"/>
          </p:cNvSpPr>
          <p:nvPr/>
        </p:nvSpPr>
        <p:spPr bwMode="auto">
          <a:xfrm>
            <a:off x="684213" y="4221163"/>
            <a:ext cx="765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dirty="0">
                <a:ea typeface="黑体" panose="02010609060101010101" pitchFamily="49" charset="-122"/>
              </a:rPr>
              <a:t>S</a:t>
            </a:r>
            <a:r>
              <a:rPr lang="zh-CN" altLang="en-US" dirty="0">
                <a:ea typeface="黑体" panose="02010609060101010101" pitchFamily="49" charset="-122"/>
              </a:rPr>
              <a:t>位宽为</a:t>
            </a:r>
            <a:r>
              <a:rPr lang="en-US" altLang="zh-CN" dirty="0">
                <a:ea typeface="黑体" panose="02010609060101010101" pitchFamily="49" charset="-122"/>
              </a:rPr>
              <a:t>4</a:t>
            </a:r>
            <a:r>
              <a:rPr lang="zh-CN" altLang="en-US" dirty="0">
                <a:ea typeface="黑体" panose="02010609060101010101" pitchFamily="49" charset="-122"/>
              </a:rPr>
              <a:t>位，对应信号为</a:t>
            </a:r>
            <a:r>
              <a:rPr lang="en-US" altLang="zh-CN" dirty="0">
                <a:ea typeface="黑体" panose="02010609060101010101" pitchFamily="49" charset="-122"/>
              </a:rPr>
              <a:t>S[3]</a:t>
            </a:r>
            <a:r>
              <a:rPr lang="zh-CN" altLang="en-US" dirty="0">
                <a:ea typeface="黑体" panose="02010609060101010101" pitchFamily="49" charset="-122"/>
              </a:rPr>
              <a:t>、</a:t>
            </a:r>
            <a:r>
              <a:rPr lang="en-US" altLang="zh-CN" dirty="0">
                <a:ea typeface="黑体" panose="02010609060101010101" pitchFamily="49" charset="-122"/>
              </a:rPr>
              <a:t>S[2]</a:t>
            </a:r>
            <a:r>
              <a:rPr lang="zh-CN" altLang="en-US" dirty="0">
                <a:ea typeface="黑体" panose="02010609060101010101" pitchFamily="49" charset="-122"/>
              </a:rPr>
              <a:t>、</a:t>
            </a:r>
            <a:r>
              <a:rPr lang="en-US" altLang="zh-CN" dirty="0">
                <a:ea typeface="黑体" panose="02010609060101010101" pitchFamily="49" charset="-122"/>
              </a:rPr>
              <a:t>S[1]</a:t>
            </a:r>
            <a:r>
              <a:rPr lang="zh-CN" altLang="en-US" dirty="0">
                <a:ea typeface="黑体" panose="02010609060101010101" pitchFamily="49" charset="-122"/>
              </a:rPr>
              <a:t>、</a:t>
            </a:r>
            <a:r>
              <a:rPr lang="en-US" altLang="zh-CN" dirty="0">
                <a:ea typeface="黑体" panose="02010609060101010101" pitchFamily="49" charset="-122"/>
              </a:rPr>
              <a:t>S[0]</a:t>
            </a:r>
          </a:p>
        </p:txBody>
      </p:sp>
      <p:sp>
        <p:nvSpPr>
          <p:cNvPr id="10248" name="TextBox 9"/>
          <p:cNvSpPr txBox="1">
            <a:spLocks noChangeArrowheads="1"/>
          </p:cNvSpPr>
          <p:nvPr/>
        </p:nvSpPr>
        <p:spPr bwMode="auto">
          <a:xfrm>
            <a:off x="684213" y="4724400"/>
            <a:ext cx="60626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a:ea typeface="黑体" panose="02010609060101010101" pitchFamily="49" charset="-122"/>
              </a:rPr>
              <a:t>根据模块说明部分，我们可以得出电路符号</a:t>
            </a:r>
          </a:p>
        </p:txBody>
      </p:sp>
      <p:grpSp>
        <p:nvGrpSpPr>
          <p:cNvPr id="10249" name="Group 41"/>
          <p:cNvGrpSpPr>
            <a:grpSpLocks/>
          </p:cNvGrpSpPr>
          <p:nvPr/>
        </p:nvGrpSpPr>
        <p:grpSpPr bwMode="auto">
          <a:xfrm>
            <a:off x="5436096" y="5169187"/>
            <a:ext cx="2814638" cy="1223962"/>
            <a:chOff x="67" y="2931"/>
            <a:chExt cx="1773" cy="771"/>
          </a:xfrm>
        </p:grpSpPr>
        <p:sp>
          <p:nvSpPr>
            <p:cNvPr id="10252" name="Rectangle 33"/>
            <p:cNvSpPr>
              <a:spLocks noChangeArrowheads="1"/>
            </p:cNvSpPr>
            <p:nvPr/>
          </p:nvSpPr>
          <p:spPr bwMode="auto">
            <a:xfrm>
              <a:off x="839" y="3158"/>
              <a:ext cx="499" cy="544"/>
            </a:xfrm>
            <a:prstGeom prst="rect">
              <a:avLst/>
            </a:prstGeom>
            <a:solidFill>
              <a:schemeClr val="accent1"/>
            </a:solidFill>
            <a:ln w="38100">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10253" name="Line 34"/>
            <p:cNvSpPr>
              <a:spLocks noChangeShapeType="1"/>
            </p:cNvSpPr>
            <p:nvPr/>
          </p:nvSpPr>
          <p:spPr bwMode="auto">
            <a:xfrm>
              <a:off x="521" y="3294"/>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254" name="Line 35"/>
            <p:cNvSpPr>
              <a:spLocks noChangeShapeType="1"/>
            </p:cNvSpPr>
            <p:nvPr/>
          </p:nvSpPr>
          <p:spPr bwMode="auto">
            <a:xfrm>
              <a:off x="521" y="3566"/>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Line 36"/>
            <p:cNvSpPr>
              <a:spLocks noChangeShapeType="1"/>
            </p:cNvSpPr>
            <p:nvPr/>
          </p:nvSpPr>
          <p:spPr bwMode="auto">
            <a:xfrm>
              <a:off x="1337" y="3339"/>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256" name="Line 37"/>
            <p:cNvSpPr>
              <a:spLocks noChangeShapeType="1"/>
            </p:cNvSpPr>
            <p:nvPr/>
          </p:nvSpPr>
          <p:spPr bwMode="auto">
            <a:xfrm>
              <a:off x="521" y="3430"/>
              <a:ext cx="318"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257" name="Text Box 38"/>
            <p:cNvSpPr txBox="1">
              <a:spLocks noChangeArrowheads="1"/>
            </p:cNvSpPr>
            <p:nvPr/>
          </p:nvSpPr>
          <p:spPr bwMode="auto">
            <a:xfrm>
              <a:off x="67" y="2995"/>
              <a:ext cx="45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r" eaLnBrk="1" hangingPunct="1">
                <a:lnSpc>
                  <a:spcPct val="80000"/>
                </a:lnSpc>
              </a:pPr>
              <a:endParaRPr lang="en-US" altLang="zh-CN" sz="2000">
                <a:ea typeface="黑体" panose="02010609060101010101" pitchFamily="49" charset="-122"/>
              </a:endParaRPr>
            </a:p>
            <a:p>
              <a:pPr algn="r" eaLnBrk="1" hangingPunct="1">
                <a:lnSpc>
                  <a:spcPct val="80000"/>
                </a:lnSpc>
              </a:pPr>
              <a:r>
                <a:rPr lang="en-US" altLang="zh-CN" sz="2000">
                  <a:ea typeface="黑体" panose="02010609060101010101" pitchFamily="49" charset="-122"/>
                </a:rPr>
                <a:t>A</a:t>
              </a:r>
            </a:p>
            <a:p>
              <a:pPr algn="r" eaLnBrk="1" hangingPunct="1">
                <a:lnSpc>
                  <a:spcPct val="80000"/>
                </a:lnSpc>
              </a:pPr>
              <a:r>
                <a:rPr lang="en-US" altLang="zh-CN" sz="2000">
                  <a:ea typeface="黑体" panose="02010609060101010101" pitchFamily="49" charset="-122"/>
                </a:rPr>
                <a:t>B</a:t>
              </a:r>
            </a:p>
            <a:p>
              <a:pPr algn="r" eaLnBrk="1" hangingPunct="1">
                <a:lnSpc>
                  <a:spcPct val="80000"/>
                </a:lnSpc>
              </a:pPr>
              <a:r>
                <a:rPr lang="en-US" altLang="zh-CN" sz="2000">
                  <a:ea typeface="黑体" panose="02010609060101010101" pitchFamily="49" charset="-122"/>
                </a:rPr>
                <a:t>CIN</a:t>
              </a:r>
            </a:p>
          </p:txBody>
        </p:sp>
        <p:sp>
          <p:nvSpPr>
            <p:cNvPr id="10258" name="Text Box 39"/>
            <p:cNvSpPr txBox="1">
              <a:spLocks noChangeArrowheads="1"/>
            </p:cNvSpPr>
            <p:nvPr/>
          </p:nvSpPr>
          <p:spPr bwMode="auto">
            <a:xfrm>
              <a:off x="1609" y="3217"/>
              <a:ext cx="23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80000"/>
                </a:lnSpc>
              </a:pPr>
              <a:r>
                <a:rPr lang="en-US" altLang="zh-CN" sz="2000">
                  <a:ea typeface="黑体" panose="02010609060101010101" pitchFamily="49" charset="-122"/>
                </a:rPr>
                <a:t>S</a:t>
              </a:r>
            </a:p>
          </p:txBody>
        </p:sp>
        <p:sp>
          <p:nvSpPr>
            <p:cNvPr id="10259" name="Text Box 40"/>
            <p:cNvSpPr txBox="1">
              <a:spLocks noChangeArrowheads="1"/>
            </p:cNvSpPr>
            <p:nvPr/>
          </p:nvSpPr>
          <p:spPr bwMode="auto">
            <a:xfrm>
              <a:off x="610" y="2931"/>
              <a:ext cx="9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a:ea typeface="黑体" panose="02010609060101010101" pitchFamily="49" charset="-122"/>
                </a:rPr>
                <a:t>full_adder</a:t>
              </a:r>
            </a:p>
          </p:txBody>
        </p:sp>
      </p:grpSp>
      <p:sp>
        <p:nvSpPr>
          <p:cNvPr id="10250" name="Line 36"/>
          <p:cNvSpPr>
            <a:spLocks noChangeShapeType="1"/>
          </p:cNvSpPr>
          <p:nvPr/>
        </p:nvSpPr>
        <p:spPr bwMode="auto">
          <a:xfrm>
            <a:off x="7477621" y="6113749"/>
            <a:ext cx="504825" cy="0"/>
          </a:xfrm>
          <a:prstGeom prst="line">
            <a:avLst/>
          </a:prstGeom>
          <a:noFill/>
          <a:ln w="3810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0251" name="Text Box 39"/>
          <p:cNvSpPr txBox="1">
            <a:spLocks noChangeArrowheads="1"/>
          </p:cNvSpPr>
          <p:nvPr/>
        </p:nvSpPr>
        <p:spPr bwMode="auto">
          <a:xfrm>
            <a:off x="7909421" y="5983574"/>
            <a:ext cx="9715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80000"/>
              </a:lnSpc>
            </a:pPr>
            <a:r>
              <a:rPr lang="en-US" altLang="zh-CN" sz="2000">
                <a:ea typeface="黑体" panose="02010609060101010101" pitchFamily="49" charset="-122"/>
              </a:rPr>
              <a:t>COUT</a:t>
            </a:r>
          </a:p>
        </p:txBody>
      </p:sp>
      <p:sp>
        <p:nvSpPr>
          <p:cNvPr id="2" name="矩形 1"/>
          <p:cNvSpPr/>
          <p:nvPr/>
        </p:nvSpPr>
        <p:spPr>
          <a:xfrm>
            <a:off x="443753" y="5330615"/>
            <a:ext cx="2954655" cy="461665"/>
          </a:xfrm>
          <a:prstGeom prst="rect">
            <a:avLst/>
          </a:prstGeom>
        </p:spPr>
        <p:txBody>
          <a:bodyPr wrap="none">
            <a:spAutoFit/>
          </a:bodyPr>
          <a:lstStyle/>
          <a:p>
            <a:r>
              <a:rPr lang="en-US" altLang="zh-CN" dirty="0" smtClean="0">
                <a:ea typeface="黑体" panose="02010609060101010101" pitchFamily="49" charset="-122"/>
              </a:rPr>
              <a:t>wire [1:0</a:t>
            </a:r>
            <a:r>
              <a:rPr lang="en-US" altLang="zh-CN" dirty="0">
                <a:ea typeface="黑体" panose="02010609060101010101" pitchFamily="49" charset="-122"/>
              </a:rPr>
              <a:t>] </a:t>
            </a:r>
            <a:r>
              <a:rPr lang="en-US" altLang="zh-CN" dirty="0" err="1" smtClean="0">
                <a:ea typeface="黑体" panose="02010609060101010101" pitchFamily="49" charset="-122"/>
              </a:rPr>
              <a:t>tmpS</a:t>
            </a:r>
            <a:endParaRPr lang="zh-CN" altLang="en-US" dirty="0"/>
          </a:p>
        </p:txBody>
      </p:sp>
      <p:sp>
        <p:nvSpPr>
          <p:cNvPr id="3" name="矩形 2"/>
          <p:cNvSpPr/>
          <p:nvPr/>
        </p:nvSpPr>
        <p:spPr>
          <a:xfrm>
            <a:off x="467544" y="5795164"/>
            <a:ext cx="4897114" cy="461665"/>
          </a:xfrm>
          <a:prstGeom prst="rect">
            <a:avLst/>
          </a:prstGeom>
        </p:spPr>
        <p:txBody>
          <a:bodyPr wrap="square">
            <a:spAutoFit/>
          </a:bodyPr>
          <a:lstStyle/>
          <a:p>
            <a:r>
              <a:rPr lang="en-US" altLang="zh-CN" dirty="0" smtClean="0">
                <a:ea typeface="黑体" panose="02010609060101010101" pitchFamily="49" charset="-122"/>
              </a:rPr>
              <a:t>assign </a:t>
            </a:r>
            <a:r>
              <a:rPr lang="en-US" altLang="zh-CN" dirty="0" err="1" smtClean="0">
                <a:ea typeface="黑体" panose="02010609060101010101" pitchFamily="49" charset="-122"/>
              </a:rPr>
              <a:t>tmpS</a:t>
            </a:r>
            <a:r>
              <a:rPr lang="en-US" altLang="zh-CN" dirty="0" smtClean="0">
                <a:ea typeface="黑体" panose="02010609060101010101" pitchFamily="49" charset="-122"/>
              </a:rPr>
              <a:t>={</a:t>
            </a:r>
            <a:r>
              <a:rPr lang="en-US" altLang="zh-CN" dirty="0">
                <a:ea typeface="黑体" panose="02010609060101010101" pitchFamily="49" charset="-122"/>
              </a:rPr>
              <a:t>S[3</a:t>
            </a:r>
            <a:r>
              <a:rPr lang="en-US" altLang="zh-CN" dirty="0" smtClean="0">
                <a:ea typeface="黑体" panose="02010609060101010101" pitchFamily="49" charset="-122"/>
              </a:rPr>
              <a:t>],</a:t>
            </a:r>
            <a:r>
              <a:rPr lang="en-US" altLang="zh-CN" dirty="0">
                <a:ea typeface="黑体" panose="02010609060101010101" pitchFamily="49" charset="-122"/>
              </a:rPr>
              <a:t> S[1</a:t>
            </a:r>
            <a:r>
              <a:rPr lang="en-US" altLang="zh-CN" dirty="0" smtClean="0">
                <a:ea typeface="黑体" panose="02010609060101010101" pitchFamily="49" charset="-122"/>
              </a:rPr>
              <a:t>]}</a:t>
            </a:r>
            <a:endParaRPr lang="zh-CN" altLang="en-US" dirty="0"/>
          </a:p>
        </p:txBody>
      </p:sp>
      <p:sp>
        <p:nvSpPr>
          <p:cNvPr id="22" name="矩形 21"/>
          <p:cNvSpPr/>
          <p:nvPr/>
        </p:nvSpPr>
        <p:spPr>
          <a:xfrm>
            <a:off x="479450" y="6232537"/>
            <a:ext cx="4897114" cy="461665"/>
          </a:xfrm>
          <a:prstGeom prst="rect">
            <a:avLst/>
          </a:prstGeom>
        </p:spPr>
        <p:txBody>
          <a:bodyPr wrap="square">
            <a:spAutoFit/>
          </a:bodyPr>
          <a:lstStyle/>
          <a:p>
            <a:r>
              <a:rPr lang="en-US" altLang="zh-CN" dirty="0" smtClean="0">
                <a:ea typeface="黑体" panose="02010609060101010101" pitchFamily="49" charset="-122"/>
              </a:rPr>
              <a:t>assign </a:t>
            </a:r>
            <a:r>
              <a:rPr lang="en-US" altLang="zh-CN" dirty="0" err="1" smtClean="0">
                <a:ea typeface="黑体" panose="02010609060101010101" pitchFamily="49" charset="-122"/>
              </a:rPr>
              <a:t>tmpS</a:t>
            </a:r>
            <a:r>
              <a:rPr lang="en-US" altLang="zh-CN" dirty="0" smtClean="0">
                <a:ea typeface="黑体" panose="02010609060101010101" pitchFamily="49" charset="-122"/>
              </a:rPr>
              <a:t>={</a:t>
            </a:r>
            <a:r>
              <a:rPr lang="en-US" altLang="zh-CN" dirty="0">
                <a:ea typeface="黑体" panose="02010609060101010101" pitchFamily="49" charset="-122"/>
              </a:rPr>
              <a:t>S[3</a:t>
            </a:r>
            <a:r>
              <a:rPr lang="en-US" altLang="zh-CN" dirty="0" smtClean="0">
                <a:ea typeface="黑体" panose="02010609060101010101" pitchFamily="49" charset="-122"/>
              </a:rPr>
              <a:t>],</a:t>
            </a:r>
            <a:r>
              <a:rPr lang="en-US" altLang="zh-CN" dirty="0">
                <a:ea typeface="黑体" panose="02010609060101010101" pitchFamily="49" charset="-122"/>
              </a:rPr>
              <a:t> </a:t>
            </a:r>
            <a:r>
              <a:rPr lang="en-US" altLang="zh-CN" dirty="0" smtClean="0">
                <a:ea typeface="黑体" panose="02010609060101010101" pitchFamily="49" charset="-122"/>
              </a:rPr>
              <a:t>S[3]}</a:t>
            </a: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6D95160D-F894-4577-BA1B-6B19A47CB3D1}" type="slidenum">
              <a:rPr lang="en-US" altLang="zh-CN" sz="1400" b="0">
                <a:latin typeface="Tahoma" panose="020B0604030504040204" pitchFamily="34" charset="0"/>
              </a:rPr>
              <a:pPr eaLnBrk="1" hangingPunct="1"/>
              <a:t>8</a:t>
            </a:fld>
            <a:endParaRPr lang="en-US" altLang="zh-CN" sz="1400" b="0">
              <a:latin typeface="Tahoma" panose="020B0604030504040204" pitchFamily="34" charset="0"/>
            </a:endParaRPr>
          </a:p>
        </p:txBody>
      </p:sp>
      <p:sp>
        <p:nvSpPr>
          <p:cNvPr id="11267" name="Rectangle 4"/>
          <p:cNvSpPr>
            <a:spLocks noGrp="1" noChangeArrowheads="1"/>
          </p:cNvSpPr>
          <p:nvPr>
            <p:ph type="title"/>
          </p:nvPr>
        </p:nvSpPr>
        <p:spPr/>
        <p:txBody>
          <a:bodyPr/>
          <a:lstStyle/>
          <a:p>
            <a:pPr eaLnBrk="1" hangingPunct="1"/>
            <a:r>
              <a:rPr lang="en-US" altLang="zh-CN" smtClean="0">
                <a:solidFill>
                  <a:schemeClr val="tx1"/>
                </a:solidFill>
              </a:rPr>
              <a:t>2. assign</a:t>
            </a:r>
            <a:r>
              <a:rPr lang="zh-CN" altLang="en-US" smtClean="0">
                <a:solidFill>
                  <a:schemeClr val="tx1"/>
                </a:solidFill>
              </a:rPr>
              <a:t>语句</a:t>
            </a:r>
          </a:p>
        </p:txBody>
      </p:sp>
      <p:grpSp>
        <p:nvGrpSpPr>
          <p:cNvPr id="11268" name="Group 5"/>
          <p:cNvGrpSpPr>
            <a:grpSpLocks/>
          </p:cNvGrpSpPr>
          <p:nvPr/>
        </p:nvGrpSpPr>
        <p:grpSpPr bwMode="auto">
          <a:xfrm>
            <a:off x="5148263" y="333375"/>
            <a:ext cx="3600450" cy="3622675"/>
            <a:chOff x="113" y="740"/>
            <a:chExt cx="2268" cy="2282"/>
          </a:xfrm>
        </p:grpSpPr>
        <p:sp>
          <p:nvSpPr>
            <p:cNvPr id="11287" name="Rectangle 6"/>
            <p:cNvSpPr>
              <a:spLocks noChangeArrowheads="1"/>
            </p:cNvSpPr>
            <p:nvPr/>
          </p:nvSpPr>
          <p:spPr bwMode="auto">
            <a:xfrm>
              <a:off x="113" y="740"/>
              <a:ext cx="2268" cy="2282"/>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11288" name="Text Box 7"/>
            <p:cNvSpPr txBox="1">
              <a:spLocks noChangeArrowheads="1"/>
            </p:cNvSpPr>
            <p:nvPr/>
          </p:nvSpPr>
          <p:spPr bwMode="auto">
            <a:xfrm>
              <a:off x="249" y="1570"/>
              <a:ext cx="953"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000">
                  <a:solidFill>
                    <a:srgbClr val="000099"/>
                  </a:solidFill>
                  <a:latin typeface="Arial" panose="020B0604020202020204" pitchFamily="34" charset="0"/>
                  <a:ea typeface="黑体" panose="02010609060101010101" pitchFamily="49" charset="-122"/>
                </a:rPr>
                <a:t>内部信号</a:t>
              </a:r>
            </a:p>
            <a:p>
              <a:pPr algn="ctr" eaLnBrk="1" hangingPunct="1"/>
              <a:r>
                <a:rPr lang="zh-CN" altLang="en-US" sz="2000">
                  <a:solidFill>
                    <a:srgbClr val="000099"/>
                  </a:solidFill>
                  <a:latin typeface="Arial" panose="020B0604020202020204" pitchFamily="34" charset="0"/>
                  <a:ea typeface="黑体" panose="02010609060101010101" pitchFamily="49" charset="-122"/>
                </a:rPr>
                <a:t>声明</a:t>
              </a:r>
            </a:p>
          </p:txBody>
        </p:sp>
        <p:sp>
          <p:nvSpPr>
            <p:cNvPr id="11289" name="Text Box 8"/>
            <p:cNvSpPr txBox="1">
              <a:spLocks noChangeArrowheads="1"/>
            </p:cNvSpPr>
            <p:nvPr/>
          </p:nvSpPr>
          <p:spPr bwMode="auto">
            <a:xfrm>
              <a:off x="1338" y="1570"/>
              <a:ext cx="771" cy="460"/>
            </a:xfrm>
            <a:prstGeom prst="rect">
              <a:avLst/>
            </a:prstGeom>
            <a:solidFill>
              <a:srgbClr val="E6E6F2"/>
            </a:solidFill>
            <a:ln w="28575" algn="ctr">
              <a:solidFill>
                <a:schemeClr val="hlink"/>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hlink"/>
                  </a:solidFill>
                  <a:latin typeface="Arial" panose="020B0604020202020204" pitchFamily="34" charset="0"/>
                  <a:ea typeface="黑体" panose="02010609060101010101" pitchFamily="49" charset="-122"/>
                </a:rPr>
                <a:t>assign</a:t>
              </a:r>
              <a:r>
                <a:rPr lang="zh-CN" altLang="en-US" sz="2000">
                  <a:solidFill>
                    <a:schemeClr val="hlink"/>
                  </a:solidFill>
                  <a:latin typeface="Arial" panose="020B0604020202020204" pitchFamily="34" charset="0"/>
                  <a:ea typeface="黑体" panose="02010609060101010101" pitchFamily="49" charset="-122"/>
                </a:rPr>
                <a:t>语句</a:t>
              </a:r>
            </a:p>
          </p:txBody>
        </p:sp>
        <p:sp>
          <p:nvSpPr>
            <p:cNvPr id="11290" name="Text Box 9"/>
            <p:cNvSpPr txBox="1">
              <a:spLocks noChangeArrowheads="1"/>
            </p:cNvSpPr>
            <p:nvPr/>
          </p:nvSpPr>
          <p:spPr bwMode="auto">
            <a:xfrm>
              <a:off x="249" y="2205"/>
              <a:ext cx="953" cy="460"/>
            </a:xfrm>
            <a:prstGeom prst="rect">
              <a:avLst/>
            </a:prstGeom>
            <a:solidFill>
              <a:srgbClr val="E6E6F2"/>
            </a:solidFill>
            <a:ln w="28575" algn="ctr">
              <a:solidFill>
                <a:schemeClr val="tx2"/>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chemeClr val="tx2"/>
                  </a:solidFill>
                  <a:latin typeface="Arial" panose="020B0604020202020204" pitchFamily="34" charset="0"/>
                  <a:ea typeface="黑体" panose="02010609060101010101" pitchFamily="49" charset="-122"/>
                </a:rPr>
                <a:t>底层模块或门原语调用</a:t>
              </a:r>
              <a:endParaRPr lang="zh-CN" altLang="en-US" sz="2000">
                <a:solidFill>
                  <a:schemeClr val="accent1"/>
                </a:solidFill>
                <a:latin typeface="Arial" panose="020B0604020202020204" pitchFamily="34" charset="0"/>
                <a:ea typeface="黑体" panose="02010609060101010101" pitchFamily="49" charset="-122"/>
              </a:endParaRPr>
            </a:p>
          </p:txBody>
        </p:sp>
        <p:sp>
          <p:nvSpPr>
            <p:cNvPr id="11291" name="Text Box 10"/>
            <p:cNvSpPr txBox="1">
              <a:spLocks noChangeArrowheads="1"/>
            </p:cNvSpPr>
            <p:nvPr/>
          </p:nvSpPr>
          <p:spPr bwMode="auto">
            <a:xfrm>
              <a:off x="1338" y="2205"/>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always</a:t>
              </a:r>
            </a:p>
            <a:p>
              <a:pPr algn="ctr" eaLnBrk="1" hangingPunct="1"/>
              <a:r>
                <a:rPr lang="zh-CN" altLang="en-US" sz="2000">
                  <a:solidFill>
                    <a:srgbClr val="000099"/>
                  </a:solidFill>
                  <a:latin typeface="Arial" panose="020B0604020202020204" pitchFamily="34" charset="0"/>
                  <a:ea typeface="黑体" panose="02010609060101010101" pitchFamily="49" charset="-122"/>
                </a:rPr>
                <a:t>语句块</a:t>
              </a:r>
            </a:p>
          </p:txBody>
        </p:sp>
        <p:sp>
          <p:nvSpPr>
            <p:cNvPr id="11292" name="Text Box 11"/>
            <p:cNvSpPr txBox="1">
              <a:spLocks noChangeArrowheads="1"/>
            </p:cNvSpPr>
            <p:nvPr/>
          </p:nvSpPr>
          <p:spPr bwMode="auto">
            <a:xfrm>
              <a:off x="113" y="740"/>
              <a:ext cx="2268" cy="479"/>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module </a:t>
              </a:r>
              <a:r>
                <a:rPr lang="zh-CN" altLang="en-US" sz="2000">
                  <a:solidFill>
                    <a:srgbClr val="000099"/>
                  </a:solidFill>
                  <a:latin typeface="Arial" panose="020B0604020202020204" pitchFamily="34" charset="0"/>
                  <a:ea typeface="黑体" panose="02010609060101010101" pitchFamily="49" charset="-122"/>
                </a:rPr>
                <a:t>模块名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p:txBody>
        </p:sp>
        <p:sp>
          <p:nvSpPr>
            <p:cNvPr id="11293" name="Text Box 12"/>
            <p:cNvSpPr txBox="1">
              <a:spLocks noChangeArrowheads="1"/>
            </p:cNvSpPr>
            <p:nvPr/>
          </p:nvSpPr>
          <p:spPr bwMode="auto">
            <a:xfrm>
              <a:off x="113" y="2750"/>
              <a:ext cx="2268" cy="268"/>
            </a:xfrm>
            <a:prstGeom prst="rect">
              <a:avLst/>
            </a:prstGeom>
            <a:solidFill>
              <a:srgbClr val="E6E6F2"/>
            </a:solidFill>
            <a:ln w="28575" algn="ctr">
              <a:solidFill>
                <a:srgbClr val="000099"/>
              </a:solidFill>
              <a:miter lim="800000"/>
              <a:headEnd type="none" w="lg" len="lg"/>
              <a:tailEnd/>
            </a:ln>
          </p:spPr>
          <p:txBody>
            <a:bodyPr tIns="46800" bIns="46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endmodule</a:t>
              </a:r>
            </a:p>
          </p:txBody>
        </p:sp>
      </p:grpSp>
      <p:sp>
        <p:nvSpPr>
          <p:cNvPr id="11269" name="Text Box 14"/>
          <p:cNvSpPr txBox="1">
            <a:spLocks noChangeArrowheads="1"/>
          </p:cNvSpPr>
          <p:nvPr/>
        </p:nvSpPr>
        <p:spPr bwMode="auto">
          <a:xfrm>
            <a:off x="311150" y="1071563"/>
            <a:ext cx="4548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assign</a:t>
            </a:r>
            <a:r>
              <a:rPr lang="zh-CN" altLang="en-US">
                <a:ea typeface="黑体" panose="02010609060101010101" pitchFamily="49" charset="-122"/>
              </a:rPr>
              <a:t>语句称作连续赋值语句</a:t>
            </a:r>
          </a:p>
        </p:txBody>
      </p:sp>
      <p:sp>
        <p:nvSpPr>
          <p:cNvPr id="11270" name="Text Box 15"/>
          <p:cNvSpPr txBox="1">
            <a:spLocks noChangeArrowheads="1"/>
          </p:cNvSpPr>
          <p:nvPr/>
        </p:nvSpPr>
        <p:spPr bwMode="auto">
          <a:xfrm>
            <a:off x="398463" y="1966913"/>
            <a:ext cx="4173537" cy="461962"/>
          </a:xfrm>
          <a:prstGeom prst="rect">
            <a:avLst/>
          </a:prstGeom>
          <a:solidFill>
            <a:srgbClr val="FFFF00"/>
          </a:solidFill>
          <a:ln w="9525">
            <a:solidFill>
              <a:srgbClr val="C00000"/>
            </a:solidFill>
            <a:miter lim="800000"/>
            <a:headEnd/>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assign </a:t>
            </a:r>
            <a:r>
              <a:rPr lang="zh-CN" altLang="en-US">
                <a:ea typeface="黑体" panose="02010609060101010101" pitchFamily="49" charset="-122"/>
              </a:rPr>
              <a:t>赋值目标 </a:t>
            </a:r>
            <a:r>
              <a:rPr lang="en-US" altLang="zh-CN">
                <a:ea typeface="黑体" panose="02010609060101010101" pitchFamily="49" charset="-122"/>
              </a:rPr>
              <a:t>= </a:t>
            </a:r>
            <a:r>
              <a:rPr lang="zh-CN" altLang="en-US">
                <a:ea typeface="黑体" panose="02010609060101010101" pitchFamily="49" charset="-122"/>
              </a:rPr>
              <a:t>表达式</a:t>
            </a:r>
          </a:p>
        </p:txBody>
      </p:sp>
      <p:sp>
        <p:nvSpPr>
          <p:cNvPr id="11271" name="Text Box 16"/>
          <p:cNvSpPr txBox="1">
            <a:spLocks noChangeArrowheads="1"/>
          </p:cNvSpPr>
          <p:nvPr/>
        </p:nvSpPr>
        <p:spPr bwMode="auto">
          <a:xfrm>
            <a:off x="250825" y="24923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11272" name="Text Box 18"/>
          <p:cNvSpPr txBox="1">
            <a:spLocks noChangeArrowheads="1"/>
          </p:cNvSpPr>
          <p:nvPr/>
        </p:nvSpPr>
        <p:spPr bwMode="auto">
          <a:xfrm>
            <a:off x="250825" y="4581525"/>
            <a:ext cx="7993063" cy="1938338"/>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61938" indent="-261938"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a:ea typeface="黑体" panose="02010609060101010101" pitchFamily="49" charset="-122"/>
              </a:rPr>
              <a:t>特点：</a:t>
            </a:r>
          </a:p>
          <a:p>
            <a:pPr eaLnBrk="1" hangingPunct="1">
              <a:buFont typeface="Wingdings" panose="05000000000000000000" pitchFamily="2" charset="2"/>
              <a:buChar char="l"/>
            </a:pPr>
            <a:r>
              <a:rPr lang="zh-CN" altLang="en-US">
                <a:ea typeface="黑体" panose="02010609060101010101" pitchFamily="49" charset="-122"/>
              </a:rPr>
              <a:t>之所以称为连续赋值语句是指其总是处于激活状态，只要表达式中的操作数有变化，立即进行计算和赋值。（与连续赋值语句对应的另一种语句称为过程赋值语句）</a:t>
            </a:r>
          </a:p>
          <a:p>
            <a:pPr eaLnBrk="1" hangingPunct="1">
              <a:buFont typeface="Wingdings" panose="05000000000000000000" pitchFamily="2" charset="2"/>
              <a:buChar char="l"/>
            </a:pPr>
            <a:r>
              <a:rPr lang="zh-CN" altLang="en-US">
                <a:ea typeface="黑体" panose="02010609060101010101" pitchFamily="49" charset="-122"/>
              </a:rPr>
              <a:t>赋值目标必须是</a:t>
            </a:r>
            <a:r>
              <a:rPr lang="en-US" altLang="zh-CN">
                <a:ea typeface="黑体" panose="02010609060101010101" pitchFamily="49" charset="-122"/>
              </a:rPr>
              <a:t>wire</a:t>
            </a:r>
            <a:r>
              <a:rPr lang="zh-CN" altLang="en-US">
                <a:ea typeface="黑体" panose="02010609060101010101" pitchFamily="49" charset="-122"/>
              </a:rPr>
              <a:t>型的，</a:t>
            </a:r>
            <a:r>
              <a:rPr lang="en-US" altLang="zh-CN">
                <a:ea typeface="黑体" panose="02010609060101010101" pitchFamily="49" charset="-122"/>
              </a:rPr>
              <a:t>wire</a:t>
            </a:r>
            <a:r>
              <a:rPr lang="zh-CN" altLang="en-US">
                <a:ea typeface="黑体" panose="02010609060101010101" pitchFamily="49" charset="-122"/>
              </a:rPr>
              <a:t>表示电路间的连线。</a:t>
            </a:r>
          </a:p>
        </p:txBody>
      </p:sp>
      <p:grpSp>
        <p:nvGrpSpPr>
          <p:cNvPr id="11273" name="Group 27"/>
          <p:cNvGrpSpPr>
            <a:grpSpLocks/>
          </p:cNvGrpSpPr>
          <p:nvPr/>
        </p:nvGrpSpPr>
        <p:grpSpPr bwMode="auto">
          <a:xfrm>
            <a:off x="827088" y="3502025"/>
            <a:ext cx="1677987" cy="936625"/>
            <a:chOff x="794" y="3385"/>
            <a:chExt cx="1057" cy="590"/>
          </a:xfrm>
        </p:grpSpPr>
        <p:grpSp>
          <p:nvGrpSpPr>
            <p:cNvPr id="11282" name="Group 23"/>
            <p:cNvGrpSpPr>
              <a:grpSpLocks/>
            </p:cNvGrpSpPr>
            <p:nvPr/>
          </p:nvGrpSpPr>
          <p:grpSpPr bwMode="auto">
            <a:xfrm>
              <a:off x="1020" y="3385"/>
              <a:ext cx="635" cy="590"/>
              <a:chOff x="1020" y="3385"/>
              <a:chExt cx="635" cy="590"/>
            </a:xfrm>
          </p:grpSpPr>
          <p:pic>
            <p:nvPicPr>
              <p:cNvPr id="11285" name="Picture 19"/>
              <p:cNvPicPr>
                <a:picLocks noChangeAspect="1" noChangeArrowheads="1"/>
              </p:cNvPicPr>
              <p:nvPr/>
            </p:nvPicPr>
            <p:blipFill>
              <a:blip r:embed="rId3">
                <a:extLst>
                  <a:ext uri="{28A0092B-C50C-407E-A947-70E740481C1C}">
                    <a14:useLocalDpi xmlns:a14="http://schemas.microsoft.com/office/drawing/2010/main" val="0"/>
                  </a:ext>
                </a:extLst>
              </a:blip>
              <a:srcRect l="18773" t="14218" r="65622" b="64339"/>
              <a:stretch>
                <a:fillRect/>
              </a:stretch>
            </p:blipFill>
            <p:spPr bwMode="auto">
              <a:xfrm rot="-5400000">
                <a:off x="904" y="3501"/>
                <a:ext cx="59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6" name="Line 22"/>
              <p:cNvSpPr>
                <a:spLocks noChangeShapeType="1"/>
              </p:cNvSpPr>
              <p:nvPr/>
            </p:nvSpPr>
            <p:spPr bwMode="auto">
              <a:xfrm>
                <a:off x="1383" y="3693"/>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83" name="Text Box 25"/>
            <p:cNvSpPr txBox="1">
              <a:spLocks noChangeArrowheads="1"/>
            </p:cNvSpPr>
            <p:nvPr/>
          </p:nvSpPr>
          <p:spPr bwMode="auto">
            <a:xfrm>
              <a:off x="794" y="353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a:t>
              </a:r>
            </a:p>
          </p:txBody>
        </p:sp>
        <p:sp>
          <p:nvSpPr>
            <p:cNvPr id="11284" name="Text Box 26"/>
            <p:cNvSpPr txBox="1">
              <a:spLocks noChangeArrowheads="1"/>
            </p:cNvSpPr>
            <p:nvPr/>
          </p:nvSpPr>
          <p:spPr bwMode="auto">
            <a:xfrm>
              <a:off x="1610" y="3521"/>
              <a:ext cx="2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y</a:t>
              </a:r>
            </a:p>
          </p:txBody>
        </p:sp>
      </p:grpSp>
      <p:grpSp>
        <p:nvGrpSpPr>
          <p:cNvPr id="11274" name="Group 30"/>
          <p:cNvGrpSpPr>
            <a:grpSpLocks/>
          </p:cNvGrpSpPr>
          <p:nvPr/>
        </p:nvGrpSpPr>
        <p:grpSpPr bwMode="auto">
          <a:xfrm>
            <a:off x="2770188" y="3582988"/>
            <a:ext cx="2111375" cy="927100"/>
            <a:chOff x="2517" y="3475"/>
            <a:chExt cx="1330" cy="584"/>
          </a:xfrm>
        </p:grpSpPr>
        <p:grpSp>
          <p:nvGrpSpPr>
            <p:cNvPr id="11277" name="Group 24"/>
            <p:cNvGrpSpPr>
              <a:grpSpLocks/>
            </p:cNvGrpSpPr>
            <p:nvPr/>
          </p:nvGrpSpPr>
          <p:grpSpPr bwMode="auto">
            <a:xfrm>
              <a:off x="2789" y="3492"/>
              <a:ext cx="862" cy="567"/>
              <a:chOff x="2789" y="3492"/>
              <a:chExt cx="862" cy="567"/>
            </a:xfrm>
          </p:grpSpPr>
          <p:pic>
            <p:nvPicPr>
              <p:cNvPr id="11280" name="Picture 20"/>
              <p:cNvPicPr>
                <a:picLocks noChangeAspect="1" noChangeArrowheads="1"/>
              </p:cNvPicPr>
              <p:nvPr/>
            </p:nvPicPr>
            <p:blipFill>
              <a:blip r:embed="rId3">
                <a:extLst>
                  <a:ext uri="{28A0092B-C50C-407E-A947-70E740481C1C}">
                    <a14:useLocalDpi xmlns:a14="http://schemas.microsoft.com/office/drawing/2010/main" val="0"/>
                  </a:ext>
                </a:extLst>
              </a:blip>
              <a:srcRect l="36800" t="73495" r="49150" b="-4124"/>
              <a:stretch>
                <a:fillRect/>
              </a:stretch>
            </p:blipFill>
            <p:spPr bwMode="auto">
              <a:xfrm>
                <a:off x="2789" y="3492"/>
                <a:ext cx="590"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1" name="Line 21"/>
              <p:cNvSpPr>
                <a:spLocks noChangeShapeType="1"/>
              </p:cNvSpPr>
              <p:nvPr/>
            </p:nvSpPr>
            <p:spPr bwMode="auto">
              <a:xfrm>
                <a:off x="3379" y="3748"/>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8" name="Text Box 28"/>
            <p:cNvSpPr txBox="1">
              <a:spLocks noChangeArrowheads="1"/>
            </p:cNvSpPr>
            <p:nvPr/>
          </p:nvSpPr>
          <p:spPr bwMode="auto">
            <a:xfrm>
              <a:off x="2517" y="3475"/>
              <a:ext cx="26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a:t>
              </a:r>
            </a:p>
            <a:p>
              <a:pPr eaLnBrk="1" hangingPunct="1"/>
              <a:r>
                <a:rPr lang="en-US" altLang="zh-CN">
                  <a:ea typeface="黑体" panose="02010609060101010101" pitchFamily="49" charset="-122"/>
                </a:rPr>
                <a:t>b</a:t>
              </a:r>
            </a:p>
          </p:txBody>
        </p:sp>
        <p:sp>
          <p:nvSpPr>
            <p:cNvPr id="11279" name="Rectangle 29"/>
            <p:cNvSpPr>
              <a:spLocks noChangeArrowheads="1"/>
            </p:cNvSpPr>
            <p:nvPr/>
          </p:nvSpPr>
          <p:spPr bwMode="auto">
            <a:xfrm>
              <a:off x="3606" y="3576"/>
              <a:ext cx="2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y</a:t>
              </a:r>
            </a:p>
          </p:txBody>
        </p:sp>
      </p:grpSp>
      <p:sp>
        <p:nvSpPr>
          <p:cNvPr id="11275" name="Text Box 31"/>
          <p:cNvSpPr txBox="1">
            <a:spLocks noChangeArrowheads="1"/>
          </p:cNvSpPr>
          <p:nvPr/>
        </p:nvSpPr>
        <p:spPr bwMode="auto">
          <a:xfrm>
            <a:off x="1042988" y="2540000"/>
            <a:ext cx="2952750" cy="960438"/>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80000"/>
              </a:lnSpc>
              <a:spcBef>
                <a:spcPct val="50000"/>
              </a:spcBef>
            </a:pPr>
            <a:r>
              <a:rPr lang="en-US" altLang="zh-CN">
                <a:ea typeface="黑体" panose="02010609060101010101" pitchFamily="49" charset="-122"/>
              </a:rPr>
              <a:t>assign y=a;</a:t>
            </a:r>
          </a:p>
          <a:p>
            <a:pPr eaLnBrk="1" hangingPunct="1">
              <a:spcBef>
                <a:spcPct val="50000"/>
              </a:spcBef>
            </a:pPr>
            <a:r>
              <a:rPr lang="en-US" altLang="zh-CN">
                <a:ea typeface="黑体" panose="02010609060101010101" pitchFamily="49" charset="-122"/>
              </a:rPr>
              <a:t>assign y=a&amp;b;</a:t>
            </a:r>
          </a:p>
        </p:txBody>
      </p:sp>
      <p:sp>
        <p:nvSpPr>
          <p:cNvPr id="11276" name="矩形 28"/>
          <p:cNvSpPr>
            <a:spLocks noChangeArrowheads="1"/>
          </p:cNvSpPr>
          <p:nvPr/>
        </p:nvSpPr>
        <p:spPr bwMode="auto">
          <a:xfrm>
            <a:off x="357188" y="1500188"/>
            <a:ext cx="173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rgbClr val="000000"/>
                </a:solidFill>
                <a:ea typeface="黑体" panose="02010609060101010101" pitchFamily="49" charset="-122"/>
              </a:rPr>
              <a:t>基本格式：</a:t>
            </a:r>
            <a:endParaRPr lang="en-US" altLang="zh-CN">
              <a:solidFill>
                <a:srgbClr val="000000"/>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1CA7AA49-6906-4736-B489-640CDE3E7E75}" type="slidenum">
              <a:rPr lang="en-US" altLang="zh-CN" sz="1400" b="0">
                <a:latin typeface="Tahoma" panose="020B0604030504040204" pitchFamily="34" charset="0"/>
              </a:rPr>
              <a:pPr eaLnBrk="1" hangingPunct="1"/>
              <a:t>9</a:t>
            </a:fld>
            <a:endParaRPr lang="en-US" altLang="zh-CN" sz="1400" b="0">
              <a:latin typeface="Tahoma" panose="020B0604030504040204" pitchFamily="34" charset="0"/>
            </a:endParaRPr>
          </a:p>
        </p:txBody>
      </p:sp>
      <p:sp>
        <p:nvSpPr>
          <p:cNvPr id="12291" name="Rectangle 4"/>
          <p:cNvSpPr>
            <a:spLocks noGrp="1" noChangeArrowheads="1"/>
          </p:cNvSpPr>
          <p:nvPr>
            <p:ph type="title"/>
          </p:nvPr>
        </p:nvSpPr>
        <p:spPr/>
        <p:txBody>
          <a:bodyPr/>
          <a:lstStyle/>
          <a:p>
            <a:pPr eaLnBrk="1" hangingPunct="1"/>
            <a:r>
              <a:rPr lang="en-US" altLang="zh-CN" dirty="0" smtClean="0">
                <a:solidFill>
                  <a:schemeClr val="tx1"/>
                </a:solidFill>
              </a:rPr>
              <a:t>2. assign</a:t>
            </a:r>
            <a:r>
              <a:rPr lang="zh-CN" altLang="en-US" dirty="0" smtClean="0">
                <a:solidFill>
                  <a:schemeClr val="tx1"/>
                </a:solidFill>
              </a:rPr>
              <a:t>语句</a:t>
            </a:r>
          </a:p>
        </p:txBody>
      </p:sp>
      <p:sp>
        <p:nvSpPr>
          <p:cNvPr id="12292" name="Text Box 5"/>
          <p:cNvSpPr txBox="1">
            <a:spLocks noChangeArrowheads="1"/>
          </p:cNvSpPr>
          <p:nvPr/>
        </p:nvSpPr>
        <p:spPr bwMode="auto">
          <a:xfrm>
            <a:off x="611188" y="1196975"/>
            <a:ext cx="48244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a:ea typeface="黑体" panose="02010609060101010101" pitchFamily="49" charset="-122"/>
              </a:rPr>
              <a:t>例：</a:t>
            </a:r>
            <a:r>
              <a:rPr lang="en-US" altLang="zh-CN" dirty="0">
                <a:ea typeface="黑体" panose="02010609060101010101" pitchFamily="49" charset="-122"/>
              </a:rPr>
              <a:t>assign M=B</a:t>
            </a:r>
            <a:r>
              <a:rPr lang="en-US" altLang="zh-CN" dirty="0">
                <a:solidFill>
                  <a:srgbClr val="0000FF"/>
                </a:solidFill>
                <a:ea typeface="黑体" panose="02010609060101010101" pitchFamily="49" charset="-122"/>
              </a:rPr>
              <a:t>|</a:t>
            </a:r>
            <a:r>
              <a:rPr lang="en-US" altLang="zh-CN" dirty="0">
                <a:ea typeface="黑体" panose="02010609060101010101" pitchFamily="49" charset="-122"/>
              </a:rPr>
              <a:t>C;</a:t>
            </a:r>
          </a:p>
          <a:p>
            <a:pPr eaLnBrk="1" hangingPunct="1"/>
            <a:r>
              <a:rPr lang="en-US" altLang="zh-CN" dirty="0">
                <a:ea typeface="黑体" panose="02010609060101010101" pitchFamily="49" charset="-122"/>
              </a:rPr>
              <a:t>      assign Y=A</a:t>
            </a:r>
            <a:r>
              <a:rPr lang="en-US" altLang="zh-CN" dirty="0">
                <a:solidFill>
                  <a:srgbClr val="0000FF"/>
                </a:solidFill>
                <a:ea typeface="黑体" panose="02010609060101010101" pitchFamily="49" charset="-122"/>
              </a:rPr>
              <a:t>&amp;</a:t>
            </a:r>
            <a:r>
              <a:rPr lang="en-US" altLang="zh-CN" dirty="0">
                <a:ea typeface="黑体" panose="02010609060101010101" pitchFamily="49" charset="-122"/>
              </a:rPr>
              <a:t>M;      </a:t>
            </a:r>
          </a:p>
        </p:txBody>
      </p:sp>
      <p:grpSp>
        <p:nvGrpSpPr>
          <p:cNvPr id="12293" name="Group 15"/>
          <p:cNvGrpSpPr>
            <a:grpSpLocks/>
          </p:cNvGrpSpPr>
          <p:nvPr/>
        </p:nvGrpSpPr>
        <p:grpSpPr bwMode="auto">
          <a:xfrm>
            <a:off x="4643438" y="1052513"/>
            <a:ext cx="4032250" cy="1184275"/>
            <a:chOff x="2925" y="709"/>
            <a:chExt cx="2540" cy="746"/>
          </a:xfrm>
        </p:grpSpPr>
        <p:pic>
          <p:nvPicPr>
            <p:cNvPr id="12295" name="Picture 12"/>
            <p:cNvPicPr>
              <a:picLocks noChangeAspect="1" noChangeArrowheads="1"/>
            </p:cNvPicPr>
            <p:nvPr/>
          </p:nvPicPr>
          <p:blipFill>
            <a:blip r:embed="rId2">
              <a:extLst>
                <a:ext uri="{28A0092B-C50C-407E-A947-70E740481C1C}">
                  <a14:useLocalDpi xmlns:a14="http://schemas.microsoft.com/office/drawing/2010/main" val="0"/>
                </a:ext>
              </a:extLst>
            </a:blip>
            <a:srcRect t="10872"/>
            <a:stretch>
              <a:fillRect/>
            </a:stretch>
          </p:blipFill>
          <p:spPr bwMode="auto">
            <a:xfrm>
              <a:off x="2925" y="709"/>
              <a:ext cx="2540" cy="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6" name="Rectangle 13"/>
            <p:cNvSpPr>
              <a:spLocks noChangeArrowheads="1"/>
            </p:cNvSpPr>
            <p:nvPr/>
          </p:nvSpPr>
          <p:spPr bwMode="auto">
            <a:xfrm>
              <a:off x="4114" y="1144"/>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M</a:t>
              </a:r>
            </a:p>
          </p:txBody>
        </p:sp>
      </p:grpSp>
      <p:sp>
        <p:nvSpPr>
          <p:cNvPr id="12294" name="Text Box 16"/>
          <p:cNvSpPr txBox="1">
            <a:spLocks noChangeArrowheads="1"/>
          </p:cNvSpPr>
          <p:nvPr/>
        </p:nvSpPr>
        <p:spPr bwMode="auto">
          <a:xfrm>
            <a:off x="1187450" y="2060575"/>
            <a:ext cx="359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chemeClr val="hlink"/>
                </a:solidFill>
                <a:ea typeface="黑体" panose="02010609060101010101" pitchFamily="49" charset="-122"/>
              </a:rPr>
              <a:t>M</a:t>
            </a:r>
            <a:r>
              <a:rPr lang="zh-CN" altLang="en-US">
                <a:solidFill>
                  <a:schemeClr val="hlink"/>
                </a:solidFill>
                <a:ea typeface="黑体" panose="02010609060101010101" pitchFamily="49" charset="-122"/>
              </a:rPr>
              <a:t>和</a:t>
            </a:r>
            <a:r>
              <a:rPr lang="en-US" altLang="zh-CN">
                <a:solidFill>
                  <a:schemeClr val="hlink"/>
                </a:solidFill>
                <a:ea typeface="黑体" panose="02010609060101010101" pitchFamily="49" charset="-122"/>
              </a:rPr>
              <a:t>Y</a:t>
            </a:r>
            <a:r>
              <a:rPr lang="zh-CN" altLang="en-US">
                <a:solidFill>
                  <a:schemeClr val="hlink"/>
                </a:solidFill>
                <a:ea typeface="黑体" panose="02010609060101010101" pitchFamily="49" charset="-122"/>
              </a:rPr>
              <a:t>都必须是</a:t>
            </a:r>
            <a:r>
              <a:rPr lang="en-US" altLang="zh-CN">
                <a:solidFill>
                  <a:schemeClr val="hlink"/>
                </a:solidFill>
                <a:ea typeface="黑体" panose="02010609060101010101" pitchFamily="49" charset="-122"/>
              </a:rPr>
              <a:t>wire</a:t>
            </a:r>
            <a:r>
              <a:rPr lang="zh-CN" altLang="en-US">
                <a:solidFill>
                  <a:schemeClr val="hlink"/>
                </a:solidFill>
                <a:ea typeface="黑体" panose="02010609060101010101" pitchFamily="49" charset="-122"/>
              </a:rPr>
              <a:t>型的</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D80C7EA8-4AF4-40BD-85F8-7E5A8987DD29}" type="slidenum">
              <a:rPr lang="en-US" altLang="zh-CN" sz="1400" b="0">
                <a:latin typeface="Tahoma" panose="020B0604030504040204" pitchFamily="34" charset="0"/>
              </a:rPr>
              <a:pPr eaLnBrk="1" hangingPunct="1"/>
              <a:t>10</a:t>
            </a:fld>
            <a:endParaRPr lang="en-US" altLang="zh-CN" sz="1400" b="0">
              <a:latin typeface="Tahoma" panose="020B0604030504040204" pitchFamily="34" charset="0"/>
            </a:endParaRPr>
          </a:p>
        </p:txBody>
      </p:sp>
      <p:sp>
        <p:nvSpPr>
          <p:cNvPr id="13315" name="Rectangle 4"/>
          <p:cNvSpPr>
            <a:spLocks noGrp="1" noChangeArrowheads="1"/>
          </p:cNvSpPr>
          <p:nvPr>
            <p:ph type="title"/>
          </p:nvPr>
        </p:nvSpPr>
        <p:spPr/>
        <p:txBody>
          <a:bodyPr/>
          <a:lstStyle/>
          <a:p>
            <a:pPr eaLnBrk="1" hangingPunct="1"/>
            <a:r>
              <a:rPr lang="en-US" altLang="zh-CN" dirty="0" smtClean="0">
                <a:solidFill>
                  <a:schemeClr val="tx1"/>
                </a:solidFill>
              </a:rPr>
              <a:t>2. assign</a:t>
            </a:r>
            <a:r>
              <a:rPr lang="zh-CN" altLang="en-US" dirty="0" smtClean="0">
                <a:solidFill>
                  <a:schemeClr val="tx1"/>
                </a:solidFill>
              </a:rPr>
              <a:t>语句</a:t>
            </a:r>
            <a:endParaRPr lang="zh-CN" altLang="zh-CN" dirty="0" smtClean="0"/>
          </a:p>
        </p:txBody>
      </p:sp>
      <p:sp>
        <p:nvSpPr>
          <p:cNvPr id="13316" name="Text Box 6"/>
          <p:cNvSpPr txBox="1">
            <a:spLocks noChangeArrowheads="1"/>
          </p:cNvSpPr>
          <p:nvPr/>
        </p:nvSpPr>
        <p:spPr bwMode="auto">
          <a:xfrm>
            <a:off x="395288" y="981075"/>
            <a:ext cx="8018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chemeClr val="hlink"/>
                </a:solidFill>
                <a:ea typeface="黑体" panose="02010609060101010101" pitchFamily="49" charset="-122"/>
              </a:rPr>
              <a:t>Verilog</a:t>
            </a:r>
            <a:r>
              <a:rPr lang="zh-CN" altLang="en-US">
                <a:solidFill>
                  <a:schemeClr val="hlink"/>
                </a:solidFill>
                <a:ea typeface="黑体" panose="02010609060101010101" pitchFamily="49" charset="-122"/>
              </a:rPr>
              <a:t>具有丰富的表达式运算功能，可用于</a:t>
            </a:r>
            <a:r>
              <a:rPr lang="en-US" altLang="zh-CN">
                <a:solidFill>
                  <a:schemeClr val="hlink"/>
                </a:solidFill>
                <a:ea typeface="黑体" panose="02010609060101010101" pitchFamily="49" charset="-122"/>
              </a:rPr>
              <a:t>assign</a:t>
            </a:r>
            <a:r>
              <a:rPr lang="zh-CN" altLang="en-US">
                <a:solidFill>
                  <a:schemeClr val="hlink"/>
                </a:solidFill>
                <a:ea typeface="黑体" panose="02010609060101010101" pitchFamily="49" charset="-122"/>
              </a:rPr>
              <a:t>语句</a:t>
            </a:r>
          </a:p>
        </p:txBody>
      </p:sp>
      <p:grpSp>
        <p:nvGrpSpPr>
          <p:cNvPr id="13317" name="Group 16"/>
          <p:cNvGrpSpPr>
            <a:grpSpLocks/>
          </p:cNvGrpSpPr>
          <p:nvPr/>
        </p:nvGrpSpPr>
        <p:grpSpPr bwMode="auto">
          <a:xfrm>
            <a:off x="900113" y="1628775"/>
            <a:ext cx="3454400" cy="4994275"/>
            <a:chOff x="204" y="1026"/>
            <a:chExt cx="2176" cy="3146"/>
          </a:xfrm>
        </p:grpSpPr>
        <p:pic>
          <p:nvPicPr>
            <p:cNvPr id="13323" name="Picture 5"/>
            <p:cNvPicPr>
              <a:picLocks noChangeAspect="1" noChangeArrowheads="1"/>
            </p:cNvPicPr>
            <p:nvPr/>
          </p:nvPicPr>
          <p:blipFill>
            <a:blip r:embed="rId3">
              <a:extLst>
                <a:ext uri="{28A0092B-C50C-407E-A947-70E740481C1C}">
                  <a14:useLocalDpi xmlns:a14="http://schemas.microsoft.com/office/drawing/2010/main" val="0"/>
                </a:ext>
              </a:extLst>
            </a:blip>
            <a:srcRect l="4489" r="80199"/>
            <a:stretch>
              <a:fillRect/>
            </a:stretch>
          </p:blipFill>
          <p:spPr bwMode="auto">
            <a:xfrm>
              <a:off x="204" y="1026"/>
              <a:ext cx="771" cy="3146"/>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nvGrpSpPr>
            <p:cNvPr id="13324" name="Group 15"/>
            <p:cNvGrpSpPr>
              <a:grpSpLocks/>
            </p:cNvGrpSpPr>
            <p:nvPr/>
          </p:nvGrpSpPr>
          <p:grpSpPr bwMode="auto">
            <a:xfrm>
              <a:off x="884" y="1026"/>
              <a:ext cx="1496" cy="3146"/>
              <a:chOff x="3198" y="1026"/>
              <a:chExt cx="1496" cy="3146"/>
            </a:xfrm>
          </p:grpSpPr>
          <p:pic>
            <p:nvPicPr>
              <p:cNvPr id="13325" name="Picture 13"/>
              <p:cNvPicPr>
                <a:picLocks noChangeAspect="1" noChangeArrowheads="1"/>
              </p:cNvPicPr>
              <p:nvPr/>
            </p:nvPicPr>
            <p:blipFill>
              <a:blip r:embed="rId3">
                <a:extLst>
                  <a:ext uri="{28A0092B-C50C-407E-A947-70E740481C1C}">
                    <a14:useLocalDpi xmlns:a14="http://schemas.microsoft.com/office/drawing/2010/main" val="0"/>
                  </a:ext>
                </a:extLst>
              </a:blip>
              <a:srcRect l="26117" r="59483"/>
              <a:stretch>
                <a:fillRect/>
              </a:stretch>
            </p:blipFill>
            <p:spPr bwMode="auto">
              <a:xfrm>
                <a:off x="3198" y="1026"/>
                <a:ext cx="725" cy="3146"/>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13326" name="Picture 14"/>
              <p:cNvPicPr>
                <a:picLocks noChangeAspect="1" noChangeArrowheads="1"/>
              </p:cNvPicPr>
              <p:nvPr/>
            </p:nvPicPr>
            <p:blipFill>
              <a:blip r:embed="rId3">
                <a:extLst>
                  <a:ext uri="{28A0092B-C50C-407E-A947-70E740481C1C}">
                    <a14:useLocalDpi xmlns:a14="http://schemas.microsoft.com/office/drawing/2010/main" val="0"/>
                  </a:ext>
                </a:extLst>
              </a:blip>
              <a:srcRect l="52235" r="32452"/>
              <a:stretch>
                <a:fillRect/>
              </a:stretch>
            </p:blipFill>
            <p:spPr bwMode="auto">
              <a:xfrm>
                <a:off x="3923" y="1026"/>
                <a:ext cx="771" cy="3146"/>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grpSp>
      <p:grpSp>
        <p:nvGrpSpPr>
          <p:cNvPr id="13318" name="Group 18"/>
          <p:cNvGrpSpPr>
            <a:grpSpLocks/>
          </p:cNvGrpSpPr>
          <p:nvPr/>
        </p:nvGrpSpPr>
        <p:grpSpPr bwMode="auto">
          <a:xfrm>
            <a:off x="5076825" y="1555750"/>
            <a:ext cx="3328988" cy="5302250"/>
            <a:chOff x="3107" y="980"/>
            <a:chExt cx="2097" cy="3340"/>
          </a:xfrm>
        </p:grpSpPr>
        <p:pic>
          <p:nvPicPr>
            <p:cNvPr id="13320" name="Picture 7"/>
            <p:cNvPicPr>
              <a:picLocks noChangeAspect="1" noChangeArrowheads="1"/>
            </p:cNvPicPr>
            <p:nvPr/>
          </p:nvPicPr>
          <p:blipFill>
            <a:blip r:embed="rId4">
              <a:lum contrast="18000"/>
              <a:extLst>
                <a:ext uri="{28A0092B-C50C-407E-A947-70E740481C1C}">
                  <a14:useLocalDpi xmlns:a14="http://schemas.microsoft.com/office/drawing/2010/main" val="0"/>
                </a:ext>
              </a:extLst>
            </a:blip>
            <a:srcRect l="3801" r="79787"/>
            <a:stretch>
              <a:fillRect/>
            </a:stretch>
          </p:blipFill>
          <p:spPr bwMode="auto">
            <a:xfrm>
              <a:off x="3107" y="981"/>
              <a:ext cx="726" cy="3339"/>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13321" name="Picture 10"/>
            <p:cNvPicPr>
              <a:picLocks noChangeAspect="1" noChangeArrowheads="1"/>
            </p:cNvPicPr>
            <p:nvPr/>
          </p:nvPicPr>
          <p:blipFill>
            <a:blip r:embed="rId4">
              <a:extLst>
                <a:ext uri="{28A0092B-C50C-407E-A947-70E740481C1C}">
                  <a14:useLocalDpi xmlns:a14="http://schemas.microsoft.com/office/drawing/2010/main" val="0"/>
                </a:ext>
              </a:extLst>
            </a:blip>
            <a:srcRect l="51999" r="32381"/>
            <a:stretch>
              <a:fillRect/>
            </a:stretch>
          </p:blipFill>
          <p:spPr bwMode="auto">
            <a:xfrm>
              <a:off x="4513" y="980"/>
              <a:ext cx="691" cy="3339"/>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pic>
          <p:nvPicPr>
            <p:cNvPr id="13322" name="Picture 17"/>
            <p:cNvPicPr>
              <a:picLocks noChangeAspect="1" noChangeArrowheads="1"/>
            </p:cNvPicPr>
            <p:nvPr/>
          </p:nvPicPr>
          <p:blipFill>
            <a:blip r:embed="rId4">
              <a:lum contrast="18000"/>
              <a:extLst>
                <a:ext uri="{28A0092B-C50C-407E-A947-70E740481C1C}">
                  <a14:useLocalDpi xmlns:a14="http://schemas.microsoft.com/office/drawing/2010/main" val="0"/>
                </a:ext>
              </a:extLst>
            </a:blip>
            <a:srcRect l="26363" r="58017"/>
            <a:stretch>
              <a:fillRect/>
            </a:stretch>
          </p:blipFill>
          <p:spPr bwMode="auto">
            <a:xfrm>
              <a:off x="3833" y="981"/>
              <a:ext cx="691" cy="3339"/>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Text Box 18"/>
          <p:cNvSpPr txBox="1">
            <a:spLocks noChangeArrowheads="1"/>
          </p:cNvSpPr>
          <p:nvPr/>
        </p:nvSpPr>
        <p:spPr bwMode="auto">
          <a:xfrm>
            <a:off x="395511" y="1557214"/>
            <a:ext cx="1755775"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(1) </a:t>
            </a:r>
            <a:r>
              <a:rPr lang="zh-CN" altLang="en-US" b="1">
                <a:solidFill>
                  <a:srgbClr val="000032"/>
                </a:solidFill>
              </a:rPr>
              <a:t>算术型</a:t>
            </a:r>
          </a:p>
        </p:txBody>
      </p:sp>
      <p:graphicFrame>
        <p:nvGraphicFramePr>
          <p:cNvPr id="191545" name="Group 57"/>
          <p:cNvGraphicFramePr>
            <a:graphicFrameLocks noGrp="1"/>
          </p:cNvGraphicFramePr>
          <p:nvPr>
            <p:extLst>
              <p:ext uri="{D42A27DB-BD31-4B8C-83A1-F6EECF244321}">
                <p14:modId xmlns:p14="http://schemas.microsoft.com/office/powerpoint/2010/main" val="3758503559"/>
              </p:ext>
            </p:extLst>
          </p:nvPr>
        </p:nvGraphicFramePr>
        <p:xfrm>
          <a:off x="538386" y="2204914"/>
          <a:ext cx="1416050" cy="2743200"/>
        </p:xfrm>
        <a:graphic>
          <a:graphicData uri="http://schemas.openxmlformats.org/drawingml/2006/table">
            <a:tbl>
              <a:tblPr/>
              <a:tblGrid>
                <a:gridCol w="619125"/>
                <a:gridCol w="796925"/>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乘法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除法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加法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减法</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求余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求幂</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44" name="Text Box 21"/>
          <p:cNvSpPr txBox="1">
            <a:spLocks noChangeArrowheads="1"/>
          </p:cNvSpPr>
          <p:nvPr/>
        </p:nvSpPr>
        <p:spPr bwMode="auto">
          <a:xfrm>
            <a:off x="2267173" y="1557214"/>
            <a:ext cx="1728788" cy="1187450"/>
          </a:xfrm>
          <a:prstGeom prst="rect">
            <a:avLst/>
          </a:prstGeom>
          <a:solidFill>
            <a:srgbClr val="E3E3F1"/>
          </a:solidFill>
          <a:ln w="28575">
            <a:noFill/>
            <a:miter lim="800000"/>
            <a:headEnd/>
            <a:tailEnd/>
          </a:ln>
        </p:spPr>
        <p:txBody>
          <a:bodyPr>
            <a:spAutoFit/>
          </a:bodyPr>
          <a:lstStyle/>
          <a:p>
            <a:pPr eaLnBrk="1" hangingPunct="1">
              <a:spcBef>
                <a:spcPct val="20000"/>
              </a:spcBef>
            </a:pPr>
            <a:r>
              <a:rPr lang="en-US" altLang="zh-CN" b="1">
                <a:solidFill>
                  <a:srgbClr val="B43000"/>
                </a:solidFill>
              </a:rPr>
              <a:t>例</a:t>
            </a:r>
            <a:r>
              <a:rPr lang="zh-CN" altLang="en-US" b="1">
                <a:solidFill>
                  <a:srgbClr val="B43000"/>
                </a:solidFill>
              </a:rPr>
              <a:t>：</a:t>
            </a:r>
          </a:p>
          <a:p>
            <a:pPr eaLnBrk="1" hangingPunct="1"/>
            <a:r>
              <a:rPr lang="en-US" altLang="zh-CN" b="1">
                <a:solidFill>
                  <a:srgbClr val="B43000"/>
                </a:solidFill>
              </a:rPr>
              <a:t>Y</a:t>
            </a:r>
            <a:r>
              <a:rPr lang="en-US" altLang="en-US" b="1">
                <a:solidFill>
                  <a:srgbClr val="B43000"/>
                </a:solidFill>
              </a:rPr>
              <a:t>=</a:t>
            </a:r>
            <a:r>
              <a:rPr lang="en-US" altLang="zh-CN" b="1">
                <a:solidFill>
                  <a:srgbClr val="B43000"/>
                </a:solidFill>
              </a:rPr>
              <a:t>5%2</a:t>
            </a:r>
            <a:r>
              <a:rPr lang="en-US" altLang="en-US" b="1">
                <a:solidFill>
                  <a:srgbClr val="B43000"/>
                </a:solidFill>
              </a:rPr>
              <a:t>;</a:t>
            </a:r>
          </a:p>
          <a:p>
            <a:pPr eaLnBrk="1" hangingPunct="1"/>
            <a:r>
              <a:rPr lang="en-US" altLang="zh-CN" b="1">
                <a:solidFill>
                  <a:srgbClr val="B43000"/>
                </a:solidFill>
              </a:rPr>
              <a:t>Y</a:t>
            </a:r>
            <a:r>
              <a:rPr lang="en-US" altLang="en-US" b="1">
                <a:solidFill>
                  <a:srgbClr val="B43000"/>
                </a:solidFill>
              </a:rPr>
              <a:t>=</a:t>
            </a:r>
            <a:r>
              <a:rPr lang="en-US" altLang="zh-CN" b="1">
                <a:solidFill>
                  <a:srgbClr val="B43000"/>
                </a:solidFill>
              </a:rPr>
              <a:t>2**3</a:t>
            </a:r>
            <a:r>
              <a:rPr lang="en-US" altLang="en-US" b="1">
                <a:solidFill>
                  <a:srgbClr val="B43000"/>
                </a:solidFill>
              </a:rPr>
              <a:t>;</a:t>
            </a:r>
          </a:p>
        </p:txBody>
      </p:sp>
      <p:sp>
        <p:nvSpPr>
          <p:cNvPr id="13345" name="AutoShape 60"/>
          <p:cNvSpPr>
            <a:spLocks/>
          </p:cNvSpPr>
          <p:nvPr/>
        </p:nvSpPr>
        <p:spPr bwMode="auto">
          <a:xfrm>
            <a:off x="4356323" y="1701676"/>
            <a:ext cx="2232025" cy="504825"/>
          </a:xfrm>
          <a:prstGeom prst="accentCallout2">
            <a:avLst>
              <a:gd name="adj1" fmla="val 22644"/>
              <a:gd name="adj2" fmla="val -3412"/>
              <a:gd name="adj3" fmla="val 22644"/>
              <a:gd name="adj4" fmla="val -14935"/>
              <a:gd name="adj5" fmla="val 93713"/>
              <a:gd name="adj6" fmla="val -26815"/>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求余，结果为</a:t>
            </a:r>
            <a:r>
              <a:rPr lang="en-US" altLang="zh-CN" sz="2000" b="1">
                <a:solidFill>
                  <a:srgbClr val="000032"/>
                </a:solidFill>
              </a:rPr>
              <a:t>1</a:t>
            </a:r>
          </a:p>
        </p:txBody>
      </p:sp>
      <p:sp>
        <p:nvSpPr>
          <p:cNvPr id="13346" name="AutoShape 61"/>
          <p:cNvSpPr>
            <a:spLocks/>
          </p:cNvSpPr>
          <p:nvPr/>
        </p:nvSpPr>
        <p:spPr bwMode="auto">
          <a:xfrm>
            <a:off x="4356323" y="2276351"/>
            <a:ext cx="2232025" cy="504825"/>
          </a:xfrm>
          <a:prstGeom prst="accentCallout2">
            <a:avLst>
              <a:gd name="adj1" fmla="val 22644"/>
              <a:gd name="adj2" fmla="val -3412"/>
              <a:gd name="adj3" fmla="val 22644"/>
              <a:gd name="adj4" fmla="val -12375"/>
              <a:gd name="adj5" fmla="val 70755"/>
              <a:gd name="adj6" fmla="val -21620"/>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求幂，结果为</a:t>
            </a:r>
            <a:r>
              <a:rPr lang="en-US" altLang="zh-CN" sz="2000" b="1">
                <a:solidFill>
                  <a:srgbClr val="000032"/>
                </a:solidFill>
              </a:rPr>
              <a:t>8</a:t>
            </a:r>
          </a:p>
        </p:txBody>
      </p:sp>
      <p:sp>
        <p:nvSpPr>
          <p:cNvPr id="13347" name="Text Box 62"/>
          <p:cNvSpPr txBox="1">
            <a:spLocks noChangeArrowheads="1"/>
          </p:cNvSpPr>
          <p:nvPr/>
        </p:nvSpPr>
        <p:spPr bwMode="auto">
          <a:xfrm>
            <a:off x="2195736" y="3212976"/>
            <a:ext cx="6480175" cy="156210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加减乘除、求幂的操作数可以是实数也可以是整数，求余运算的操作数只能是整数。</a:t>
            </a:r>
          </a:p>
          <a:p>
            <a:pPr marL="261938" indent="-261938" algn="just" eaLnBrk="1" hangingPunct="1">
              <a:lnSpc>
                <a:spcPct val="120000"/>
              </a:lnSpc>
              <a:buClr>
                <a:srgbClr val="856018"/>
              </a:buClr>
              <a:buFont typeface="Wingdings" pitchFamily="2" charset="2"/>
              <a:buChar char="l"/>
            </a:pPr>
            <a:r>
              <a:rPr lang="zh-CN" altLang="en-US" sz="2000" b="1"/>
              <a:t>求余运算结果取第一个操作数的符号；</a:t>
            </a:r>
          </a:p>
        </p:txBody>
      </p:sp>
    </p:spTree>
    <p:extLst>
      <p:ext uri="{BB962C8B-B14F-4D97-AF65-F5344CB8AC3E}">
        <p14:creationId xmlns:p14="http://schemas.microsoft.com/office/powerpoint/2010/main" val="34090352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8"/>
          <p:cNvSpPr txBox="1">
            <a:spLocks noChangeArrowheads="1"/>
          </p:cNvSpPr>
          <p:nvPr/>
        </p:nvSpPr>
        <p:spPr bwMode="auto">
          <a:xfrm>
            <a:off x="323850" y="835025"/>
            <a:ext cx="1755775"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(2) </a:t>
            </a:r>
            <a:r>
              <a:rPr lang="zh-CN" altLang="en-US" b="1">
                <a:solidFill>
                  <a:srgbClr val="000032"/>
                </a:solidFill>
              </a:rPr>
              <a:t>逻辑型</a:t>
            </a:r>
          </a:p>
        </p:txBody>
      </p:sp>
      <p:graphicFrame>
        <p:nvGraphicFramePr>
          <p:cNvPr id="193577" name="Group 41"/>
          <p:cNvGraphicFramePr>
            <a:graphicFrameLocks noGrp="1"/>
          </p:cNvGraphicFramePr>
          <p:nvPr/>
        </p:nvGraphicFramePr>
        <p:xfrm>
          <a:off x="323850" y="1411288"/>
          <a:ext cx="1814513" cy="1371600"/>
        </p:xfrm>
        <a:graphic>
          <a:graphicData uri="http://schemas.openxmlformats.org/drawingml/2006/table">
            <a:tbl>
              <a:tblPr/>
              <a:tblGrid>
                <a:gridCol w="711200"/>
                <a:gridCol w="1103313"/>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逻辑非</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&amp;&amp;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逻辑与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逻辑或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4354" name="Text Box 21"/>
          <p:cNvSpPr txBox="1">
            <a:spLocks noChangeArrowheads="1"/>
          </p:cNvSpPr>
          <p:nvPr/>
        </p:nvSpPr>
        <p:spPr bwMode="auto">
          <a:xfrm>
            <a:off x="2411413" y="692150"/>
            <a:ext cx="4681537" cy="272097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 (3&gt;2) </a:t>
            </a:r>
          </a:p>
          <a:p>
            <a:pPr eaLnBrk="1" hangingPunct="1">
              <a:lnSpc>
                <a:spcPct val="120000"/>
              </a:lnSpc>
            </a:pPr>
            <a:r>
              <a:rPr lang="en-US" altLang="zh-CN" b="1">
                <a:solidFill>
                  <a:srgbClr val="B43000"/>
                </a:solidFill>
              </a:rPr>
              <a:t>Y=(2&lt;3)  &amp;&amp; (5&gt;6)</a:t>
            </a:r>
            <a:r>
              <a:rPr lang="en-US" altLang="en-US" b="1">
                <a:solidFill>
                  <a:srgbClr val="B43000"/>
                </a:solidFill>
              </a:rPr>
              <a:t>;</a:t>
            </a:r>
          </a:p>
          <a:p>
            <a:pPr eaLnBrk="1" hangingPunct="1">
              <a:lnSpc>
                <a:spcPct val="120000"/>
              </a:lnSpc>
            </a:pPr>
            <a:r>
              <a:rPr lang="en-US" altLang="zh-CN" b="1">
                <a:solidFill>
                  <a:srgbClr val="B43000"/>
                </a:solidFill>
              </a:rPr>
              <a:t>Y=(2&lt;3)   ||  (5&gt;6)</a:t>
            </a:r>
            <a:r>
              <a:rPr lang="en-US" altLang="en-US" b="1">
                <a:solidFill>
                  <a:srgbClr val="B43000"/>
                </a:solidFill>
              </a:rPr>
              <a:t>;</a:t>
            </a:r>
            <a:endParaRPr lang="en-US" altLang="zh-CN" b="1">
              <a:solidFill>
                <a:srgbClr val="B43000"/>
              </a:solidFill>
            </a:endParaRPr>
          </a:p>
          <a:p>
            <a:pPr eaLnBrk="1" hangingPunct="1">
              <a:lnSpc>
                <a:spcPct val="120000"/>
              </a:lnSpc>
            </a:pPr>
            <a:r>
              <a:rPr lang="en-US" altLang="zh-CN" b="1">
                <a:solidFill>
                  <a:srgbClr val="B43000"/>
                </a:solidFill>
              </a:rPr>
              <a:t>Y=(2&lt;3)  &amp;&amp; 1’bx</a:t>
            </a:r>
            <a:r>
              <a:rPr lang="en-US" altLang="en-US" b="1">
                <a:solidFill>
                  <a:srgbClr val="B43000"/>
                </a:solidFill>
              </a:rPr>
              <a:t>;</a:t>
            </a:r>
            <a:r>
              <a:rPr lang="en-US" altLang="zh-CN" b="1">
                <a:solidFill>
                  <a:srgbClr val="B43000"/>
                </a:solidFill>
              </a:rPr>
              <a:t> </a:t>
            </a:r>
          </a:p>
          <a:p>
            <a:pPr eaLnBrk="1" hangingPunct="1">
              <a:lnSpc>
                <a:spcPct val="120000"/>
              </a:lnSpc>
            </a:pPr>
            <a:r>
              <a:rPr lang="en-US" altLang="zh-CN" b="1">
                <a:solidFill>
                  <a:srgbClr val="B43000"/>
                </a:solidFill>
              </a:rPr>
              <a:t>Y=(2+3) || (3-3);</a:t>
            </a:r>
          </a:p>
        </p:txBody>
      </p:sp>
      <p:sp>
        <p:nvSpPr>
          <p:cNvPr id="14355" name="AutoShape 33"/>
          <p:cNvSpPr>
            <a:spLocks/>
          </p:cNvSpPr>
          <p:nvPr/>
        </p:nvSpPr>
        <p:spPr bwMode="auto">
          <a:xfrm>
            <a:off x="6516688" y="979488"/>
            <a:ext cx="2376487" cy="504825"/>
          </a:xfrm>
          <a:prstGeom prst="accentCallout2">
            <a:avLst>
              <a:gd name="adj1" fmla="val 22644"/>
              <a:gd name="adj2" fmla="val -3208"/>
              <a:gd name="adj3" fmla="val 22644"/>
              <a:gd name="adj4" fmla="val -47028"/>
              <a:gd name="adj5" fmla="val 85222"/>
              <a:gd name="adj6" fmla="val -9231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逻辑非，结果为</a:t>
            </a:r>
            <a:r>
              <a:rPr lang="en-US" altLang="zh-CN" sz="2000" b="1">
                <a:solidFill>
                  <a:srgbClr val="000032"/>
                </a:solidFill>
              </a:rPr>
              <a:t>0</a:t>
            </a:r>
          </a:p>
        </p:txBody>
      </p:sp>
      <p:sp>
        <p:nvSpPr>
          <p:cNvPr id="14356" name="AutoShape 34"/>
          <p:cNvSpPr>
            <a:spLocks/>
          </p:cNvSpPr>
          <p:nvPr/>
        </p:nvSpPr>
        <p:spPr bwMode="auto">
          <a:xfrm>
            <a:off x="6516688" y="1555750"/>
            <a:ext cx="2376487" cy="504825"/>
          </a:xfrm>
          <a:prstGeom prst="accentCallout2">
            <a:avLst>
              <a:gd name="adj1" fmla="val 22644"/>
              <a:gd name="adj2" fmla="val -3208"/>
              <a:gd name="adj3" fmla="val 22644"/>
              <a:gd name="adj4" fmla="val -11625"/>
              <a:gd name="adj5" fmla="val 70755"/>
              <a:gd name="adj6" fmla="val -20306"/>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逻辑与，结果为</a:t>
            </a:r>
            <a:r>
              <a:rPr lang="en-US" altLang="zh-CN" sz="2000" b="1">
                <a:solidFill>
                  <a:srgbClr val="000032"/>
                </a:solidFill>
              </a:rPr>
              <a:t>0</a:t>
            </a:r>
          </a:p>
        </p:txBody>
      </p:sp>
      <p:sp>
        <p:nvSpPr>
          <p:cNvPr id="14357" name="Text Box 35"/>
          <p:cNvSpPr txBox="1">
            <a:spLocks noChangeArrowheads="1"/>
          </p:cNvSpPr>
          <p:nvPr/>
        </p:nvSpPr>
        <p:spPr bwMode="auto">
          <a:xfrm>
            <a:off x="179388" y="3732213"/>
            <a:ext cx="8820150" cy="229235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逻辑型运算的结果可能是</a:t>
            </a:r>
            <a:r>
              <a:rPr lang="en-US" altLang="zh-CN" sz="2000" b="1"/>
              <a:t>1</a:t>
            </a:r>
            <a:r>
              <a:rPr lang="zh-CN" altLang="en-US" sz="2000" b="1"/>
              <a:t>（逻辑真）、</a:t>
            </a:r>
            <a:r>
              <a:rPr lang="en-US" altLang="zh-CN" sz="2000" b="1"/>
              <a:t>0</a:t>
            </a:r>
            <a:r>
              <a:rPr lang="zh-CN" altLang="en-US" sz="2000" b="1"/>
              <a:t>（逻辑假）、</a:t>
            </a:r>
            <a:r>
              <a:rPr lang="en-US" altLang="zh-CN" sz="2000" b="1"/>
              <a:t>x</a:t>
            </a:r>
            <a:r>
              <a:rPr lang="zh-CN" altLang="en-US" sz="2000" b="1"/>
              <a:t>（不确定）；</a:t>
            </a:r>
          </a:p>
          <a:p>
            <a:pPr marL="261938" indent="-261938" algn="just" eaLnBrk="1" hangingPunct="1">
              <a:lnSpc>
                <a:spcPct val="120000"/>
              </a:lnSpc>
              <a:buClr>
                <a:srgbClr val="856018"/>
              </a:buClr>
              <a:buFont typeface="Wingdings" pitchFamily="2" charset="2"/>
              <a:buChar char="l"/>
            </a:pPr>
            <a:r>
              <a:rPr lang="zh-CN" altLang="en-US" sz="2000" b="1"/>
              <a:t>逻辑运算的操作数可以是任意表达式，表达式的结果被当做逻辑值处理，只有</a:t>
            </a:r>
            <a:r>
              <a:rPr lang="en-US" altLang="zh-CN" sz="2000" b="1"/>
              <a:t>1</a:t>
            </a:r>
            <a:r>
              <a:rPr lang="zh-CN" altLang="en-US" sz="2000" b="1"/>
              <a:t>、</a:t>
            </a:r>
            <a:r>
              <a:rPr lang="en-US" altLang="zh-CN" sz="2000" b="1"/>
              <a:t>0</a:t>
            </a:r>
            <a:r>
              <a:rPr lang="zh-CN" altLang="en-US" sz="2000" b="1"/>
              <a:t>、</a:t>
            </a:r>
            <a:r>
              <a:rPr lang="en-US" altLang="zh-CN" sz="2000" b="1"/>
              <a:t>x</a:t>
            </a:r>
            <a:r>
              <a:rPr lang="zh-CN" altLang="en-US" sz="2000" b="1"/>
              <a:t>三种情况，非</a:t>
            </a:r>
            <a:r>
              <a:rPr lang="en-US" altLang="zh-CN" sz="2000" b="1"/>
              <a:t>0</a:t>
            </a:r>
            <a:r>
              <a:rPr lang="zh-CN" altLang="en-US" sz="2000" b="1"/>
              <a:t>、</a:t>
            </a:r>
            <a:r>
              <a:rPr lang="en-US" altLang="zh-CN" sz="2000" b="1"/>
              <a:t>x</a:t>
            </a:r>
            <a:r>
              <a:rPr lang="zh-CN" altLang="en-US" sz="2000" b="1"/>
              <a:t>即</a:t>
            </a:r>
            <a:r>
              <a:rPr lang="en-US" altLang="zh-CN" sz="2000" b="1"/>
              <a:t>1</a:t>
            </a:r>
            <a:r>
              <a:rPr lang="zh-CN" altLang="en-US" sz="2000" b="1"/>
              <a:t>；</a:t>
            </a:r>
          </a:p>
          <a:p>
            <a:pPr marL="261938" indent="-261938" algn="just" eaLnBrk="1" hangingPunct="1">
              <a:lnSpc>
                <a:spcPct val="120000"/>
              </a:lnSpc>
              <a:buClr>
                <a:srgbClr val="856018"/>
              </a:buClr>
              <a:buFont typeface="Wingdings" pitchFamily="2" charset="2"/>
              <a:buChar char="l"/>
            </a:pPr>
            <a:r>
              <a:rPr lang="zh-CN" altLang="en-US" sz="2000" b="1"/>
              <a:t>表达式最好加括号。</a:t>
            </a:r>
          </a:p>
          <a:p>
            <a:pPr marL="261938" indent="-261938" algn="just" eaLnBrk="1" hangingPunct="1">
              <a:lnSpc>
                <a:spcPct val="120000"/>
              </a:lnSpc>
              <a:buClr>
                <a:srgbClr val="856018"/>
              </a:buClr>
              <a:buFont typeface="Wingdings" pitchFamily="2" charset="2"/>
              <a:buChar char="l"/>
            </a:pPr>
            <a:endParaRPr lang="zh-CN" altLang="en-US" sz="2000" b="1"/>
          </a:p>
        </p:txBody>
      </p:sp>
      <p:sp>
        <p:nvSpPr>
          <p:cNvPr id="14358" name="AutoShape 42"/>
          <p:cNvSpPr>
            <a:spLocks/>
          </p:cNvSpPr>
          <p:nvPr/>
        </p:nvSpPr>
        <p:spPr bwMode="auto">
          <a:xfrm>
            <a:off x="6516688" y="2132013"/>
            <a:ext cx="2376487" cy="504825"/>
          </a:xfrm>
          <a:prstGeom prst="accentCallout2">
            <a:avLst>
              <a:gd name="adj1" fmla="val 22644"/>
              <a:gd name="adj2" fmla="val -3208"/>
              <a:gd name="adj3" fmla="val 22644"/>
              <a:gd name="adj4" fmla="val -12491"/>
              <a:gd name="adj5" fmla="val 42139"/>
              <a:gd name="adj6" fmla="val -22111"/>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逻辑或，结果为</a:t>
            </a:r>
            <a:r>
              <a:rPr lang="en-US" altLang="zh-CN" sz="2000" b="1">
                <a:solidFill>
                  <a:srgbClr val="000032"/>
                </a:solidFill>
              </a:rPr>
              <a:t>1</a:t>
            </a:r>
          </a:p>
        </p:txBody>
      </p:sp>
      <p:sp>
        <p:nvSpPr>
          <p:cNvPr id="14359" name="AutoShape 43"/>
          <p:cNvSpPr>
            <a:spLocks/>
          </p:cNvSpPr>
          <p:nvPr/>
        </p:nvSpPr>
        <p:spPr bwMode="auto">
          <a:xfrm>
            <a:off x="6516688" y="2708275"/>
            <a:ext cx="2376487" cy="504825"/>
          </a:xfrm>
          <a:prstGeom prst="accentCallout2">
            <a:avLst>
              <a:gd name="adj1" fmla="val 22644"/>
              <a:gd name="adj2" fmla="val -3208"/>
              <a:gd name="adj3" fmla="val 22644"/>
              <a:gd name="adj4" fmla="val -17769"/>
              <a:gd name="adj5" fmla="val 10065"/>
              <a:gd name="adj6" fmla="val -32801"/>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逻辑与，结果为</a:t>
            </a:r>
            <a:r>
              <a:rPr lang="en-US" altLang="zh-CN" sz="2000" b="1">
                <a:solidFill>
                  <a:srgbClr val="000032"/>
                </a:solidFill>
              </a:rPr>
              <a:t>x</a:t>
            </a:r>
          </a:p>
        </p:txBody>
      </p:sp>
      <p:sp>
        <p:nvSpPr>
          <p:cNvPr id="14360" name="AutoShape 44"/>
          <p:cNvSpPr>
            <a:spLocks/>
          </p:cNvSpPr>
          <p:nvPr/>
        </p:nvSpPr>
        <p:spPr bwMode="auto">
          <a:xfrm>
            <a:off x="6516688" y="3211513"/>
            <a:ext cx="2376487" cy="504825"/>
          </a:xfrm>
          <a:prstGeom prst="accentCallout2">
            <a:avLst>
              <a:gd name="adj1" fmla="val 22644"/>
              <a:gd name="adj2" fmla="val -3208"/>
              <a:gd name="adj3" fmla="val 22644"/>
              <a:gd name="adj4" fmla="val -20440"/>
              <a:gd name="adj5" fmla="val -1259"/>
              <a:gd name="adj6" fmla="val -3827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逻辑或，结果为</a:t>
            </a:r>
            <a:r>
              <a:rPr lang="en-US" altLang="zh-CN" sz="2000" b="1">
                <a:solidFill>
                  <a:srgbClr val="000032"/>
                </a:solidFill>
              </a:rPr>
              <a:t>1</a:t>
            </a:r>
          </a:p>
        </p:txBody>
      </p:sp>
    </p:spTree>
    <p:extLst>
      <p:ext uri="{BB962C8B-B14F-4D97-AF65-F5344CB8AC3E}">
        <p14:creationId xmlns:p14="http://schemas.microsoft.com/office/powerpoint/2010/main" val="23043591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4"/>
          <p:cNvSpPr txBox="1">
            <a:spLocks noChangeArrowheads="1"/>
          </p:cNvSpPr>
          <p:nvPr/>
        </p:nvSpPr>
        <p:spPr bwMode="auto">
          <a:xfrm>
            <a:off x="250825" y="549275"/>
            <a:ext cx="2592388"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(3) </a:t>
            </a:r>
            <a:r>
              <a:rPr lang="zh-CN" altLang="en-US" b="1">
                <a:solidFill>
                  <a:srgbClr val="000032"/>
                </a:solidFill>
              </a:rPr>
              <a:t>关系运算符</a:t>
            </a:r>
          </a:p>
        </p:txBody>
      </p:sp>
      <p:graphicFrame>
        <p:nvGraphicFramePr>
          <p:cNvPr id="195620" name="Group 36"/>
          <p:cNvGraphicFramePr>
            <a:graphicFrameLocks noGrp="1"/>
          </p:cNvGraphicFramePr>
          <p:nvPr/>
        </p:nvGraphicFramePr>
        <p:xfrm>
          <a:off x="323850" y="1125538"/>
          <a:ext cx="2124075" cy="1828800"/>
        </p:xfrm>
        <a:graphic>
          <a:graphicData uri="http://schemas.openxmlformats.org/drawingml/2006/table">
            <a:tbl>
              <a:tblPr/>
              <a:tblGrid>
                <a:gridCol w="714375"/>
                <a:gridCol w="140970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大于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小于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大于等于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小于等于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381" name="Text Box 21"/>
          <p:cNvSpPr txBox="1">
            <a:spLocks noChangeArrowheads="1"/>
          </p:cNvSpPr>
          <p:nvPr/>
        </p:nvSpPr>
        <p:spPr bwMode="auto">
          <a:xfrm>
            <a:off x="2700338" y="1125538"/>
            <a:ext cx="2663825" cy="272097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Y=(3&gt;2) </a:t>
            </a:r>
          </a:p>
          <a:p>
            <a:pPr eaLnBrk="1" hangingPunct="1">
              <a:lnSpc>
                <a:spcPct val="120000"/>
              </a:lnSpc>
            </a:pPr>
            <a:r>
              <a:rPr lang="en-US" altLang="zh-CN" b="1">
                <a:solidFill>
                  <a:srgbClr val="B43000"/>
                </a:solidFill>
              </a:rPr>
              <a:t>Y=(3&lt;2)</a:t>
            </a:r>
            <a:r>
              <a:rPr lang="en-US" altLang="en-US" b="1">
                <a:solidFill>
                  <a:srgbClr val="B43000"/>
                </a:solidFill>
              </a:rPr>
              <a:t>;</a:t>
            </a:r>
          </a:p>
          <a:p>
            <a:pPr eaLnBrk="1" hangingPunct="1">
              <a:lnSpc>
                <a:spcPct val="120000"/>
              </a:lnSpc>
            </a:pPr>
            <a:r>
              <a:rPr lang="en-US" altLang="zh-CN" b="1">
                <a:solidFill>
                  <a:srgbClr val="B43000"/>
                </a:solidFill>
              </a:rPr>
              <a:t>Y=(3&gt;=2)</a:t>
            </a:r>
            <a:r>
              <a:rPr lang="en-US" altLang="en-US" b="1">
                <a:solidFill>
                  <a:srgbClr val="B43000"/>
                </a:solidFill>
              </a:rPr>
              <a:t>;</a:t>
            </a:r>
            <a:endParaRPr lang="en-US" altLang="zh-CN" b="1">
              <a:solidFill>
                <a:srgbClr val="B43000"/>
              </a:solidFill>
            </a:endParaRPr>
          </a:p>
          <a:p>
            <a:pPr eaLnBrk="1" hangingPunct="1">
              <a:lnSpc>
                <a:spcPct val="120000"/>
              </a:lnSpc>
            </a:pPr>
            <a:r>
              <a:rPr lang="en-US" altLang="zh-CN" b="1">
                <a:solidFill>
                  <a:srgbClr val="B43000"/>
                </a:solidFill>
              </a:rPr>
              <a:t>Y=(3&lt;=2)</a:t>
            </a:r>
            <a:r>
              <a:rPr lang="en-US" altLang="en-US" b="1">
                <a:solidFill>
                  <a:srgbClr val="B43000"/>
                </a:solidFill>
              </a:rPr>
              <a:t>;</a:t>
            </a:r>
            <a:endParaRPr lang="en-US" altLang="zh-CN" b="1">
              <a:solidFill>
                <a:srgbClr val="B43000"/>
              </a:solidFill>
            </a:endParaRPr>
          </a:p>
          <a:p>
            <a:pPr eaLnBrk="1" hangingPunct="1">
              <a:lnSpc>
                <a:spcPct val="120000"/>
              </a:lnSpc>
            </a:pPr>
            <a:r>
              <a:rPr lang="en-US" altLang="zh-CN" b="1">
                <a:solidFill>
                  <a:srgbClr val="B43000"/>
                </a:solidFill>
              </a:rPr>
              <a:t>Y=(3&lt;=1’bx)</a:t>
            </a:r>
            <a:r>
              <a:rPr lang="en-US" altLang="en-US" b="1">
                <a:solidFill>
                  <a:srgbClr val="B43000"/>
                </a:solidFill>
              </a:rPr>
              <a:t>;</a:t>
            </a:r>
            <a:endParaRPr lang="en-US" altLang="zh-CN" b="1">
              <a:solidFill>
                <a:srgbClr val="B43000"/>
              </a:solidFill>
            </a:endParaRPr>
          </a:p>
        </p:txBody>
      </p:sp>
      <p:sp>
        <p:nvSpPr>
          <p:cNvPr id="15382" name="AutoShape 20"/>
          <p:cNvSpPr>
            <a:spLocks/>
          </p:cNvSpPr>
          <p:nvPr/>
        </p:nvSpPr>
        <p:spPr bwMode="auto">
          <a:xfrm>
            <a:off x="5292725" y="1412875"/>
            <a:ext cx="2376488" cy="504825"/>
          </a:xfrm>
          <a:prstGeom prst="accentCallout2">
            <a:avLst>
              <a:gd name="adj1" fmla="val 22644"/>
              <a:gd name="adj2" fmla="val -3208"/>
              <a:gd name="adj3" fmla="val 22644"/>
              <a:gd name="adj4" fmla="val -21708"/>
              <a:gd name="adj5" fmla="val 85222"/>
              <a:gd name="adj6" fmla="val -40815"/>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
        <p:nvSpPr>
          <p:cNvPr id="15383" name="AutoShape 21"/>
          <p:cNvSpPr>
            <a:spLocks/>
          </p:cNvSpPr>
          <p:nvPr/>
        </p:nvSpPr>
        <p:spPr bwMode="auto">
          <a:xfrm>
            <a:off x="5292725" y="1989138"/>
            <a:ext cx="2376488" cy="504825"/>
          </a:xfrm>
          <a:prstGeom prst="accentCallout2">
            <a:avLst>
              <a:gd name="adj1" fmla="val 22644"/>
              <a:gd name="adj2" fmla="val -3208"/>
              <a:gd name="adj3" fmla="val 22644"/>
              <a:gd name="adj4" fmla="val -19440"/>
              <a:gd name="adj5" fmla="val 64778"/>
              <a:gd name="adj6" fmla="val -3613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a:t>
            </a:r>
          </a:p>
        </p:txBody>
      </p:sp>
      <p:sp>
        <p:nvSpPr>
          <p:cNvPr id="15384" name="Text Box 22"/>
          <p:cNvSpPr txBox="1">
            <a:spLocks noChangeArrowheads="1"/>
          </p:cNvSpPr>
          <p:nvPr/>
        </p:nvSpPr>
        <p:spPr bwMode="auto">
          <a:xfrm>
            <a:off x="179388" y="4165600"/>
            <a:ext cx="8208962" cy="83185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关系运算的结果可能是</a:t>
            </a:r>
            <a:r>
              <a:rPr lang="en-US" altLang="zh-CN" sz="2000" b="1"/>
              <a:t>1</a:t>
            </a:r>
            <a:r>
              <a:rPr lang="zh-CN" altLang="en-US" sz="2000" b="1"/>
              <a:t>（逻辑真）、</a:t>
            </a:r>
            <a:r>
              <a:rPr lang="en-US" altLang="zh-CN" sz="2000" b="1"/>
              <a:t>0</a:t>
            </a:r>
            <a:r>
              <a:rPr lang="zh-CN" altLang="en-US" sz="2000" b="1"/>
              <a:t>（逻辑假）、</a:t>
            </a:r>
            <a:r>
              <a:rPr lang="en-US" altLang="zh-CN" sz="2000" b="1"/>
              <a:t>x</a:t>
            </a:r>
            <a:r>
              <a:rPr lang="zh-CN" altLang="en-US" sz="2000" b="1"/>
              <a:t>（不确定）；</a:t>
            </a:r>
          </a:p>
        </p:txBody>
      </p:sp>
      <p:sp>
        <p:nvSpPr>
          <p:cNvPr id="15385" name="AutoShape 23"/>
          <p:cNvSpPr>
            <a:spLocks/>
          </p:cNvSpPr>
          <p:nvPr/>
        </p:nvSpPr>
        <p:spPr bwMode="auto">
          <a:xfrm>
            <a:off x="5292725" y="2565400"/>
            <a:ext cx="2376488" cy="504825"/>
          </a:xfrm>
          <a:prstGeom prst="accentCallout2">
            <a:avLst>
              <a:gd name="adj1" fmla="val 22644"/>
              <a:gd name="adj2" fmla="val -3208"/>
              <a:gd name="adj3" fmla="val 22644"/>
              <a:gd name="adj4" fmla="val -12491"/>
              <a:gd name="adj5" fmla="val 42139"/>
              <a:gd name="adj6" fmla="val -22111"/>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
        <p:nvSpPr>
          <p:cNvPr id="15386" name="AutoShape 24"/>
          <p:cNvSpPr>
            <a:spLocks/>
          </p:cNvSpPr>
          <p:nvPr/>
        </p:nvSpPr>
        <p:spPr bwMode="auto">
          <a:xfrm>
            <a:off x="5292725" y="3068638"/>
            <a:ext cx="2376488" cy="504825"/>
          </a:xfrm>
          <a:prstGeom prst="accentCallout2">
            <a:avLst>
              <a:gd name="adj1" fmla="val 22644"/>
              <a:gd name="adj2" fmla="val -3208"/>
              <a:gd name="adj3" fmla="val 22644"/>
              <a:gd name="adj4" fmla="val -13292"/>
              <a:gd name="adj5" fmla="val 30505"/>
              <a:gd name="adj6" fmla="val -2364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a:t>
            </a:r>
          </a:p>
        </p:txBody>
      </p:sp>
      <p:sp>
        <p:nvSpPr>
          <p:cNvPr id="15387" name="AutoShape 25"/>
          <p:cNvSpPr>
            <a:spLocks/>
          </p:cNvSpPr>
          <p:nvPr/>
        </p:nvSpPr>
        <p:spPr bwMode="auto">
          <a:xfrm>
            <a:off x="5867400" y="3500438"/>
            <a:ext cx="1441450" cy="504825"/>
          </a:xfrm>
          <a:prstGeom prst="accentCallout2">
            <a:avLst>
              <a:gd name="adj1" fmla="val 22644"/>
              <a:gd name="adj2" fmla="val -5287"/>
              <a:gd name="adj3" fmla="val 22644"/>
              <a:gd name="adj4" fmla="val -23019"/>
              <a:gd name="adj5" fmla="val 21384"/>
              <a:gd name="adj6" fmla="val -4151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x</a:t>
            </a:r>
          </a:p>
        </p:txBody>
      </p:sp>
    </p:spTree>
    <p:extLst>
      <p:ext uri="{BB962C8B-B14F-4D97-AF65-F5344CB8AC3E}">
        <p14:creationId xmlns:p14="http://schemas.microsoft.com/office/powerpoint/2010/main" val="41714104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p:cNvSpPr txBox="1">
            <a:spLocks noChangeArrowheads="1"/>
          </p:cNvSpPr>
          <p:nvPr/>
        </p:nvSpPr>
        <p:spPr bwMode="auto">
          <a:xfrm>
            <a:off x="250825" y="549275"/>
            <a:ext cx="2592388"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(4) </a:t>
            </a:r>
            <a:r>
              <a:rPr lang="zh-CN" altLang="en-US" b="1">
                <a:solidFill>
                  <a:srgbClr val="000032"/>
                </a:solidFill>
              </a:rPr>
              <a:t>等价运算符</a:t>
            </a:r>
          </a:p>
        </p:txBody>
      </p:sp>
      <p:graphicFrame>
        <p:nvGraphicFramePr>
          <p:cNvPr id="197667" name="Group 35"/>
          <p:cNvGraphicFramePr>
            <a:graphicFrameLocks noGrp="1"/>
          </p:cNvGraphicFramePr>
          <p:nvPr/>
        </p:nvGraphicFramePr>
        <p:xfrm>
          <a:off x="323850" y="1125538"/>
          <a:ext cx="2879725" cy="1828800"/>
        </p:xfrm>
        <a:graphic>
          <a:graphicData uri="http://schemas.openxmlformats.org/drawingml/2006/table">
            <a:tbl>
              <a:tblPr/>
              <a:tblGrid>
                <a:gridCol w="1209675"/>
                <a:gridCol w="167005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等于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a:t>
                      </a: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不等于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case</a:t>
                      </a: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等于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a:t>
                      </a: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case</a:t>
                      </a:r>
                      <a:r>
                        <a:rPr kumimoji="0" lang="zh-CN" altLang="en-US" sz="2400" b="1" i="0" u="none" strike="noStrike" cap="none" normalizeH="0" baseline="0" smtClean="0">
                          <a:ln>
                            <a:noFill/>
                          </a:ln>
                          <a:solidFill>
                            <a:srgbClr val="0000B8"/>
                          </a:solidFill>
                          <a:effectLst/>
                          <a:latin typeface="Verdana" pitchFamily="34" charset="0"/>
                          <a:ea typeface="黑体" pitchFamily="2" charset="-122"/>
                        </a:rPr>
                        <a:t>不等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6405" name="Text Box 21"/>
          <p:cNvSpPr txBox="1">
            <a:spLocks noChangeArrowheads="1"/>
          </p:cNvSpPr>
          <p:nvPr/>
        </p:nvSpPr>
        <p:spPr bwMode="auto">
          <a:xfrm>
            <a:off x="3275013" y="549275"/>
            <a:ext cx="3817937" cy="345122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Y=(3==2) ;</a:t>
            </a:r>
          </a:p>
          <a:p>
            <a:pPr eaLnBrk="1" hangingPunct="1">
              <a:lnSpc>
                <a:spcPct val="120000"/>
              </a:lnSpc>
            </a:pPr>
            <a:r>
              <a:rPr lang="en-US" altLang="zh-CN" b="1">
                <a:solidFill>
                  <a:srgbClr val="B43000"/>
                </a:solidFill>
              </a:rPr>
              <a:t>Y=(3!=2)</a:t>
            </a:r>
            <a:r>
              <a:rPr lang="en-US" altLang="en-US" b="1">
                <a:solidFill>
                  <a:srgbClr val="B43000"/>
                </a:solidFill>
              </a:rPr>
              <a:t>;</a:t>
            </a:r>
            <a:endParaRPr lang="en-US" altLang="zh-CN" b="1">
              <a:solidFill>
                <a:srgbClr val="B43000"/>
              </a:solidFill>
            </a:endParaRPr>
          </a:p>
          <a:p>
            <a:pPr eaLnBrk="1" hangingPunct="1">
              <a:lnSpc>
                <a:spcPct val="120000"/>
              </a:lnSpc>
            </a:pPr>
            <a:r>
              <a:rPr lang="en-US" altLang="zh-CN" b="1">
                <a:solidFill>
                  <a:srgbClr val="B43000"/>
                </a:solidFill>
              </a:rPr>
              <a:t>Y=(3==3);</a:t>
            </a:r>
          </a:p>
          <a:p>
            <a:pPr eaLnBrk="1" hangingPunct="1">
              <a:lnSpc>
                <a:spcPct val="120000"/>
              </a:lnSpc>
            </a:pPr>
            <a:r>
              <a:rPr lang="en-US" altLang="zh-CN" b="1">
                <a:solidFill>
                  <a:srgbClr val="B43000"/>
                </a:solidFill>
              </a:rPr>
              <a:t>Y=(1’b1 ==1’bx);</a:t>
            </a:r>
          </a:p>
          <a:p>
            <a:pPr eaLnBrk="1" hangingPunct="1">
              <a:lnSpc>
                <a:spcPct val="120000"/>
              </a:lnSpc>
            </a:pPr>
            <a:r>
              <a:rPr lang="en-US" altLang="zh-CN" b="1">
                <a:solidFill>
                  <a:srgbClr val="B43000"/>
                </a:solidFill>
              </a:rPr>
              <a:t>Y=(1’bx ==1’bx);</a:t>
            </a:r>
          </a:p>
          <a:p>
            <a:pPr eaLnBrk="1" hangingPunct="1"/>
            <a:r>
              <a:rPr lang="en-US" altLang="zh-CN" b="1">
                <a:solidFill>
                  <a:srgbClr val="B43000"/>
                </a:solidFill>
              </a:rPr>
              <a:t>Y=(1’b1 ===1’bx);</a:t>
            </a:r>
          </a:p>
          <a:p>
            <a:pPr eaLnBrk="1" hangingPunct="1"/>
            <a:r>
              <a:rPr lang="en-US" altLang="zh-CN" b="1">
                <a:solidFill>
                  <a:srgbClr val="B43000"/>
                </a:solidFill>
              </a:rPr>
              <a:t>Y=(1’bx ===1’bx);</a:t>
            </a:r>
          </a:p>
        </p:txBody>
      </p:sp>
      <p:sp>
        <p:nvSpPr>
          <p:cNvPr id="16406" name="AutoShape 22"/>
          <p:cNvSpPr>
            <a:spLocks/>
          </p:cNvSpPr>
          <p:nvPr/>
        </p:nvSpPr>
        <p:spPr bwMode="auto">
          <a:xfrm>
            <a:off x="5795963" y="836613"/>
            <a:ext cx="1368425" cy="360362"/>
          </a:xfrm>
          <a:prstGeom prst="accentCallout2">
            <a:avLst>
              <a:gd name="adj1" fmla="val 31718"/>
              <a:gd name="adj2" fmla="val -5569"/>
              <a:gd name="adj3" fmla="val 31718"/>
              <a:gd name="adj4" fmla="val -24708"/>
              <a:gd name="adj5" fmla="val 143611"/>
              <a:gd name="adj6" fmla="val -44431"/>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a:t>
            </a:r>
          </a:p>
        </p:txBody>
      </p:sp>
      <p:sp>
        <p:nvSpPr>
          <p:cNvPr id="16407" name="AutoShape 23"/>
          <p:cNvSpPr>
            <a:spLocks/>
          </p:cNvSpPr>
          <p:nvPr/>
        </p:nvSpPr>
        <p:spPr bwMode="auto">
          <a:xfrm>
            <a:off x="5795963" y="1412875"/>
            <a:ext cx="2447925" cy="287338"/>
          </a:xfrm>
          <a:prstGeom prst="accentCallout2">
            <a:avLst>
              <a:gd name="adj1" fmla="val 39778"/>
              <a:gd name="adj2" fmla="val -3111"/>
              <a:gd name="adj3" fmla="val 39778"/>
              <a:gd name="adj4" fmla="val -13620"/>
              <a:gd name="adj5" fmla="val 139227"/>
              <a:gd name="adj6" fmla="val -2444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
        <p:nvSpPr>
          <p:cNvPr id="16408" name="Text Box 24"/>
          <p:cNvSpPr txBox="1">
            <a:spLocks noChangeArrowheads="1"/>
          </p:cNvSpPr>
          <p:nvPr/>
        </p:nvSpPr>
        <p:spPr bwMode="auto">
          <a:xfrm>
            <a:off x="179388" y="4149725"/>
            <a:ext cx="8640762" cy="1927225"/>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等于和不等于运算的结果可能是</a:t>
            </a:r>
            <a:r>
              <a:rPr lang="en-US" altLang="zh-CN" sz="2000" b="1"/>
              <a:t>1</a:t>
            </a:r>
            <a:r>
              <a:rPr lang="zh-CN" altLang="en-US" sz="2000" b="1"/>
              <a:t>（逻辑真）、</a:t>
            </a:r>
            <a:r>
              <a:rPr lang="en-US" altLang="zh-CN" sz="2000" b="1"/>
              <a:t>0</a:t>
            </a:r>
            <a:r>
              <a:rPr lang="zh-CN" altLang="en-US" sz="2000" b="1"/>
              <a:t>（逻辑假）、</a:t>
            </a:r>
            <a:r>
              <a:rPr lang="en-US" altLang="zh-CN" sz="2000" b="1"/>
              <a:t>x</a:t>
            </a:r>
            <a:r>
              <a:rPr lang="zh-CN" altLang="en-US" sz="2000" b="1"/>
              <a:t>（不确定）；对于</a:t>
            </a:r>
            <a:r>
              <a:rPr lang="en-US" altLang="zh-CN" sz="2000" b="1"/>
              <a:t>x</a:t>
            </a:r>
            <a:r>
              <a:rPr lang="zh-CN" altLang="en-US" sz="2000" b="1"/>
              <a:t>或</a:t>
            </a:r>
            <a:r>
              <a:rPr lang="en-US" altLang="zh-CN" sz="2000" b="1"/>
              <a:t>z</a:t>
            </a:r>
            <a:r>
              <a:rPr lang="zh-CN" altLang="en-US" sz="2000" b="1"/>
              <a:t>，认为是不确定的值，比较结果为</a:t>
            </a:r>
            <a:r>
              <a:rPr lang="en-US" altLang="zh-CN" sz="2000" b="1"/>
              <a:t>x</a:t>
            </a:r>
            <a:r>
              <a:rPr lang="zh-CN" altLang="en-US" sz="2000" b="1"/>
              <a:t>；</a:t>
            </a:r>
          </a:p>
          <a:p>
            <a:pPr marL="261938" indent="-261938" algn="just" eaLnBrk="1" hangingPunct="1">
              <a:lnSpc>
                <a:spcPct val="120000"/>
              </a:lnSpc>
              <a:buClr>
                <a:srgbClr val="856018"/>
              </a:buClr>
              <a:buFont typeface="Wingdings" pitchFamily="2" charset="2"/>
              <a:buChar char="l"/>
            </a:pPr>
            <a:r>
              <a:rPr lang="en-US" altLang="zh-CN" sz="2000" b="1"/>
              <a:t>case</a:t>
            </a:r>
            <a:r>
              <a:rPr lang="zh-CN" altLang="en-US" sz="2000" b="1"/>
              <a:t>等和</a:t>
            </a:r>
            <a:r>
              <a:rPr lang="en-US" altLang="zh-CN" sz="2000" b="1"/>
              <a:t>case</a:t>
            </a:r>
            <a:r>
              <a:rPr lang="zh-CN" altLang="en-US" sz="2000" b="1"/>
              <a:t>不等的结果只能是</a:t>
            </a:r>
            <a:r>
              <a:rPr lang="en-US" altLang="zh-CN" sz="2000" b="1"/>
              <a:t>1</a:t>
            </a:r>
            <a:r>
              <a:rPr lang="zh-CN" altLang="en-US" sz="2000" b="1"/>
              <a:t>或</a:t>
            </a:r>
            <a:r>
              <a:rPr lang="en-US" altLang="zh-CN" sz="2000" b="1"/>
              <a:t>0</a:t>
            </a:r>
            <a:r>
              <a:rPr lang="zh-CN" altLang="en-US" sz="2000" b="1"/>
              <a:t>，对于</a:t>
            </a:r>
            <a:r>
              <a:rPr lang="en-US" altLang="zh-CN" sz="2000" b="1"/>
              <a:t>x</a:t>
            </a:r>
            <a:r>
              <a:rPr lang="zh-CN" altLang="en-US" sz="2000" b="1"/>
              <a:t>、</a:t>
            </a:r>
            <a:r>
              <a:rPr lang="en-US" altLang="zh-CN" sz="2000" b="1"/>
              <a:t>z</a:t>
            </a:r>
            <a:r>
              <a:rPr lang="zh-CN" altLang="en-US" sz="2000" b="1"/>
              <a:t>认为是确定的值，参加比较；</a:t>
            </a:r>
          </a:p>
        </p:txBody>
      </p:sp>
      <p:sp>
        <p:nvSpPr>
          <p:cNvPr id="16409" name="AutoShape 36"/>
          <p:cNvSpPr>
            <a:spLocks/>
          </p:cNvSpPr>
          <p:nvPr/>
        </p:nvSpPr>
        <p:spPr bwMode="auto">
          <a:xfrm>
            <a:off x="5940425" y="1916113"/>
            <a:ext cx="1295400" cy="217487"/>
          </a:xfrm>
          <a:prstGeom prst="accentCallout2">
            <a:avLst>
              <a:gd name="adj1" fmla="val 52556"/>
              <a:gd name="adj2" fmla="val -5884"/>
              <a:gd name="adj3" fmla="val 52556"/>
              <a:gd name="adj4" fmla="val -26838"/>
              <a:gd name="adj5" fmla="val 130657"/>
              <a:gd name="adj6" fmla="val -48407"/>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
        <p:nvSpPr>
          <p:cNvPr id="16410" name="AutoShape 37"/>
          <p:cNvSpPr>
            <a:spLocks/>
          </p:cNvSpPr>
          <p:nvPr/>
        </p:nvSpPr>
        <p:spPr bwMode="auto">
          <a:xfrm>
            <a:off x="7092950" y="2276475"/>
            <a:ext cx="1295400" cy="360363"/>
          </a:xfrm>
          <a:prstGeom prst="accentCallout2">
            <a:avLst>
              <a:gd name="adj1" fmla="val 31718"/>
              <a:gd name="adj2" fmla="val -5884"/>
              <a:gd name="adj3" fmla="val 31718"/>
              <a:gd name="adj4" fmla="val -25736"/>
              <a:gd name="adj5" fmla="val 90750"/>
              <a:gd name="adj6" fmla="val -4619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x</a:t>
            </a:r>
          </a:p>
        </p:txBody>
      </p:sp>
      <p:sp>
        <p:nvSpPr>
          <p:cNvPr id="16411" name="AutoShape 38"/>
          <p:cNvSpPr>
            <a:spLocks/>
          </p:cNvSpPr>
          <p:nvPr/>
        </p:nvSpPr>
        <p:spPr bwMode="auto">
          <a:xfrm>
            <a:off x="7092950" y="2779713"/>
            <a:ext cx="1296988" cy="361950"/>
          </a:xfrm>
          <a:prstGeom prst="accentCallout2">
            <a:avLst>
              <a:gd name="adj1" fmla="val 31579"/>
              <a:gd name="adj2" fmla="val -5875"/>
              <a:gd name="adj3" fmla="val 31579"/>
              <a:gd name="adj4" fmla="val -27907"/>
              <a:gd name="adj5" fmla="val 70176"/>
              <a:gd name="adj6" fmla="val -50551"/>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x</a:t>
            </a:r>
          </a:p>
        </p:txBody>
      </p:sp>
      <p:sp>
        <p:nvSpPr>
          <p:cNvPr id="16412" name="AutoShape 39"/>
          <p:cNvSpPr>
            <a:spLocks/>
          </p:cNvSpPr>
          <p:nvPr/>
        </p:nvSpPr>
        <p:spPr bwMode="auto">
          <a:xfrm>
            <a:off x="7235825" y="3213100"/>
            <a:ext cx="1296988" cy="360363"/>
          </a:xfrm>
          <a:prstGeom prst="accentCallout2">
            <a:avLst>
              <a:gd name="adj1" fmla="val 31718"/>
              <a:gd name="adj2" fmla="val -5875"/>
              <a:gd name="adj3" fmla="val 31718"/>
              <a:gd name="adj4" fmla="val -24602"/>
              <a:gd name="adj5" fmla="val 58593"/>
              <a:gd name="adj6" fmla="val -4381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a:t>
            </a:r>
          </a:p>
        </p:txBody>
      </p:sp>
      <p:sp>
        <p:nvSpPr>
          <p:cNvPr id="16413" name="AutoShape 40"/>
          <p:cNvSpPr>
            <a:spLocks/>
          </p:cNvSpPr>
          <p:nvPr/>
        </p:nvSpPr>
        <p:spPr bwMode="auto">
          <a:xfrm>
            <a:off x="7235825" y="3787775"/>
            <a:ext cx="1298575" cy="361950"/>
          </a:xfrm>
          <a:prstGeom prst="accentCallout2">
            <a:avLst>
              <a:gd name="adj1" fmla="val 31579"/>
              <a:gd name="adj2" fmla="val -5866"/>
              <a:gd name="adj3" fmla="val 31579"/>
              <a:gd name="adj4" fmla="val -25671"/>
              <a:gd name="adj5" fmla="val -21931"/>
              <a:gd name="adj6" fmla="val -45843"/>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Tree>
    <p:extLst>
      <p:ext uri="{BB962C8B-B14F-4D97-AF65-F5344CB8AC3E}">
        <p14:creationId xmlns:p14="http://schemas.microsoft.com/office/powerpoint/2010/main" val="29592371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p:cNvSpPr txBox="1">
            <a:spLocks noChangeArrowheads="1"/>
          </p:cNvSpPr>
          <p:nvPr/>
        </p:nvSpPr>
        <p:spPr bwMode="auto">
          <a:xfrm>
            <a:off x="250825" y="549275"/>
            <a:ext cx="2592388"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(5) </a:t>
            </a:r>
            <a:r>
              <a:rPr lang="zh-CN" altLang="en-US" b="1">
                <a:solidFill>
                  <a:srgbClr val="000032"/>
                </a:solidFill>
              </a:rPr>
              <a:t>按位运算符</a:t>
            </a:r>
          </a:p>
        </p:txBody>
      </p:sp>
      <p:graphicFrame>
        <p:nvGraphicFramePr>
          <p:cNvPr id="199718" name="Group 38"/>
          <p:cNvGraphicFramePr>
            <a:graphicFrameLocks noGrp="1"/>
          </p:cNvGraphicFramePr>
          <p:nvPr/>
        </p:nvGraphicFramePr>
        <p:xfrm>
          <a:off x="323850" y="1125538"/>
          <a:ext cx="2384425" cy="2724912"/>
        </p:xfrm>
        <a:graphic>
          <a:graphicData uri="http://schemas.openxmlformats.org/drawingml/2006/table">
            <a:tbl>
              <a:tblPr/>
              <a:tblGrid>
                <a:gridCol w="714375"/>
                <a:gridCol w="167005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按位非</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按位与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按位或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按位异或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按位同或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432" name="Text Box 21"/>
          <p:cNvSpPr txBox="1">
            <a:spLocks noChangeArrowheads="1"/>
          </p:cNvSpPr>
          <p:nvPr/>
        </p:nvSpPr>
        <p:spPr bwMode="auto">
          <a:xfrm>
            <a:off x="2916238" y="549275"/>
            <a:ext cx="5976937" cy="257492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 4’b1001 ;</a:t>
            </a:r>
          </a:p>
          <a:p>
            <a:pPr eaLnBrk="1" hangingPunct="1">
              <a:lnSpc>
                <a:spcPct val="120000"/>
              </a:lnSpc>
            </a:pPr>
            <a:r>
              <a:rPr lang="en-US" altLang="zh-CN" b="1">
                <a:solidFill>
                  <a:srgbClr val="B43000"/>
                </a:solidFill>
              </a:rPr>
              <a:t>Y= 4’b1001 &amp; 4’b 0111</a:t>
            </a:r>
          </a:p>
          <a:p>
            <a:pPr eaLnBrk="1" hangingPunct="1">
              <a:lnSpc>
                <a:spcPct val="120000"/>
              </a:lnSpc>
            </a:pPr>
            <a:r>
              <a:rPr lang="en-US" altLang="zh-CN" b="1">
                <a:solidFill>
                  <a:srgbClr val="B43000"/>
                </a:solidFill>
              </a:rPr>
              <a:t>Y=4’b1001 | 4’b 0111;</a:t>
            </a:r>
          </a:p>
          <a:p>
            <a:pPr eaLnBrk="1" hangingPunct="1"/>
            <a:r>
              <a:rPr lang="en-US" altLang="zh-CN" b="1">
                <a:solidFill>
                  <a:srgbClr val="B43000"/>
                </a:solidFill>
              </a:rPr>
              <a:t>Y=3’b001 | 4’b 0111;</a:t>
            </a:r>
          </a:p>
          <a:p>
            <a:pPr eaLnBrk="1" hangingPunct="1"/>
            <a:r>
              <a:rPr lang="en-US" altLang="zh-CN" b="1">
                <a:solidFill>
                  <a:srgbClr val="B43000"/>
                </a:solidFill>
              </a:rPr>
              <a:t>Y=3’b001 | 4’b 0111 &amp; 3’b101;</a:t>
            </a:r>
          </a:p>
        </p:txBody>
      </p:sp>
      <p:sp>
        <p:nvSpPr>
          <p:cNvPr id="17433" name="AutoShape 22"/>
          <p:cNvSpPr>
            <a:spLocks/>
          </p:cNvSpPr>
          <p:nvPr/>
        </p:nvSpPr>
        <p:spPr bwMode="auto">
          <a:xfrm>
            <a:off x="6227763" y="1052513"/>
            <a:ext cx="1947862" cy="360362"/>
          </a:xfrm>
          <a:prstGeom prst="accentCallout2">
            <a:avLst>
              <a:gd name="adj1" fmla="val 31718"/>
              <a:gd name="adj2" fmla="val -3912"/>
              <a:gd name="adj3" fmla="val 31718"/>
              <a:gd name="adj4" fmla="val -18009"/>
              <a:gd name="adj5" fmla="val 63435"/>
              <a:gd name="adj6" fmla="val -3251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0110</a:t>
            </a:r>
          </a:p>
        </p:txBody>
      </p:sp>
      <p:sp>
        <p:nvSpPr>
          <p:cNvPr id="17434" name="AutoShape 23"/>
          <p:cNvSpPr>
            <a:spLocks/>
          </p:cNvSpPr>
          <p:nvPr/>
        </p:nvSpPr>
        <p:spPr bwMode="auto">
          <a:xfrm>
            <a:off x="7304088" y="1557338"/>
            <a:ext cx="1839912" cy="215900"/>
          </a:xfrm>
          <a:prstGeom prst="accentCallout2">
            <a:avLst>
              <a:gd name="adj1" fmla="val 52940"/>
              <a:gd name="adj2" fmla="val -4144"/>
              <a:gd name="adj3" fmla="val 52940"/>
              <a:gd name="adj4" fmla="val -9921"/>
              <a:gd name="adj5" fmla="val 50000"/>
              <a:gd name="adj6" fmla="val -15963"/>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0001</a:t>
            </a:r>
          </a:p>
        </p:txBody>
      </p:sp>
      <p:sp>
        <p:nvSpPr>
          <p:cNvPr id="17435" name="Text Box 24"/>
          <p:cNvSpPr txBox="1">
            <a:spLocks noChangeArrowheads="1"/>
          </p:cNvSpPr>
          <p:nvPr/>
        </p:nvSpPr>
        <p:spPr bwMode="auto">
          <a:xfrm>
            <a:off x="179388" y="4149725"/>
            <a:ext cx="8640762" cy="229235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按位运算的操作数是</a:t>
            </a:r>
            <a:r>
              <a:rPr lang="en-US" altLang="zh-CN" sz="2000" b="1"/>
              <a:t>1</a:t>
            </a:r>
            <a:r>
              <a:rPr lang="zh-CN" altLang="en-US" sz="2000" b="1"/>
              <a:t>位或多位二进制数，</a:t>
            </a:r>
          </a:p>
          <a:p>
            <a:pPr marL="261938" indent="-261938" algn="just" eaLnBrk="1" hangingPunct="1">
              <a:lnSpc>
                <a:spcPct val="120000"/>
              </a:lnSpc>
              <a:buClr>
                <a:srgbClr val="856018"/>
              </a:buClr>
              <a:buFont typeface="Wingdings" pitchFamily="2" charset="2"/>
              <a:buChar char="l"/>
            </a:pPr>
            <a:r>
              <a:rPr lang="zh-CN" altLang="en-US" sz="2000" b="1"/>
              <a:t>按位非的操作数只有一个，将该数的每一位求非运算。</a:t>
            </a:r>
          </a:p>
          <a:p>
            <a:pPr marL="261938" indent="-261938" algn="just" eaLnBrk="1" hangingPunct="1">
              <a:lnSpc>
                <a:spcPct val="120000"/>
              </a:lnSpc>
              <a:buClr>
                <a:srgbClr val="856018"/>
              </a:buClr>
              <a:buFont typeface="Wingdings" pitchFamily="2" charset="2"/>
              <a:buChar char="l"/>
            </a:pPr>
            <a:r>
              <a:rPr lang="zh-CN" altLang="en-US" sz="2000" b="1"/>
              <a:t>其它按位运算的操作数有</a:t>
            </a:r>
            <a:r>
              <a:rPr lang="en-US" altLang="zh-CN" sz="2000" b="1"/>
              <a:t>2</a:t>
            </a:r>
            <a:r>
              <a:rPr lang="zh-CN" altLang="en-US" sz="2000" b="1"/>
              <a:t>个或多个，将两个操作数对应的位两两运算；</a:t>
            </a:r>
          </a:p>
          <a:p>
            <a:pPr marL="261938" indent="-261938" algn="just" eaLnBrk="1" hangingPunct="1">
              <a:lnSpc>
                <a:spcPct val="120000"/>
              </a:lnSpc>
              <a:buClr>
                <a:srgbClr val="856018"/>
              </a:buClr>
              <a:buFont typeface="Wingdings" pitchFamily="2" charset="2"/>
              <a:buChar char="l"/>
            </a:pPr>
            <a:r>
              <a:rPr lang="zh-CN" altLang="en-US" sz="2000" b="1"/>
              <a:t>如果操作数位宽不同，位宽小的会自动左添</a:t>
            </a:r>
            <a:r>
              <a:rPr lang="en-US" altLang="zh-CN" sz="2000" b="1"/>
              <a:t>0</a:t>
            </a:r>
            <a:r>
              <a:rPr lang="zh-CN" altLang="en-US" sz="2000" b="1"/>
              <a:t>补齐；</a:t>
            </a:r>
          </a:p>
          <a:p>
            <a:pPr marL="261938" indent="-261938" algn="just" eaLnBrk="1" hangingPunct="1">
              <a:lnSpc>
                <a:spcPct val="120000"/>
              </a:lnSpc>
              <a:buClr>
                <a:srgbClr val="856018"/>
              </a:buClr>
              <a:buFont typeface="Wingdings" pitchFamily="2" charset="2"/>
              <a:buChar char="l"/>
            </a:pPr>
            <a:r>
              <a:rPr lang="zh-CN" altLang="en-US" sz="2000" b="1"/>
              <a:t>结果与操作数位宽相同；</a:t>
            </a:r>
          </a:p>
        </p:txBody>
      </p:sp>
      <p:sp>
        <p:nvSpPr>
          <p:cNvPr id="17436" name="AutoShape 25"/>
          <p:cNvSpPr>
            <a:spLocks/>
          </p:cNvSpPr>
          <p:nvPr/>
        </p:nvSpPr>
        <p:spPr bwMode="auto">
          <a:xfrm>
            <a:off x="7280275" y="1985963"/>
            <a:ext cx="1863725" cy="219075"/>
          </a:xfrm>
          <a:prstGeom prst="accentCallout2">
            <a:avLst>
              <a:gd name="adj1" fmla="val 52176"/>
              <a:gd name="adj2" fmla="val -4088"/>
              <a:gd name="adj3" fmla="val 52176"/>
              <a:gd name="adj4" fmla="val -10560"/>
              <a:gd name="adj5" fmla="val 56523"/>
              <a:gd name="adj6" fmla="val -17292"/>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1111</a:t>
            </a:r>
          </a:p>
        </p:txBody>
      </p:sp>
      <p:sp>
        <p:nvSpPr>
          <p:cNvPr id="17437" name="AutoShape 26"/>
          <p:cNvSpPr>
            <a:spLocks/>
          </p:cNvSpPr>
          <p:nvPr/>
        </p:nvSpPr>
        <p:spPr bwMode="auto">
          <a:xfrm>
            <a:off x="7258050" y="2347913"/>
            <a:ext cx="1885950" cy="360362"/>
          </a:xfrm>
          <a:prstGeom prst="accentCallout2">
            <a:avLst>
              <a:gd name="adj1" fmla="val 31718"/>
              <a:gd name="adj2" fmla="val -4042"/>
              <a:gd name="adj3" fmla="val 31718"/>
              <a:gd name="adj4" fmla="val -15403"/>
              <a:gd name="adj5" fmla="val 58593"/>
              <a:gd name="adj6" fmla="val -27106"/>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0111</a:t>
            </a:r>
          </a:p>
        </p:txBody>
      </p:sp>
      <p:sp>
        <p:nvSpPr>
          <p:cNvPr id="17438" name="AutoShape 39"/>
          <p:cNvSpPr>
            <a:spLocks/>
          </p:cNvSpPr>
          <p:nvPr/>
        </p:nvSpPr>
        <p:spPr bwMode="auto">
          <a:xfrm>
            <a:off x="7235825" y="3213100"/>
            <a:ext cx="1885950" cy="360363"/>
          </a:xfrm>
          <a:prstGeom prst="accentCallout2">
            <a:avLst>
              <a:gd name="adj1" fmla="val 31718"/>
              <a:gd name="adj2" fmla="val -4042"/>
              <a:gd name="adj3" fmla="val 31718"/>
              <a:gd name="adj4" fmla="val -26009"/>
              <a:gd name="adj5" fmla="val -46255"/>
              <a:gd name="adj6" fmla="val -48653"/>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0101</a:t>
            </a:r>
          </a:p>
        </p:txBody>
      </p:sp>
    </p:spTree>
    <p:extLst>
      <p:ext uri="{BB962C8B-B14F-4D97-AF65-F5344CB8AC3E}">
        <p14:creationId xmlns:p14="http://schemas.microsoft.com/office/powerpoint/2010/main" val="23312628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250825" y="549275"/>
            <a:ext cx="2592388"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(6) </a:t>
            </a:r>
            <a:r>
              <a:rPr lang="zh-CN" altLang="en-US" b="1">
                <a:solidFill>
                  <a:srgbClr val="000032"/>
                </a:solidFill>
              </a:rPr>
              <a:t>缩减运算符</a:t>
            </a:r>
          </a:p>
        </p:txBody>
      </p:sp>
      <p:graphicFrame>
        <p:nvGraphicFramePr>
          <p:cNvPr id="201771" name="Group 43"/>
          <p:cNvGraphicFramePr>
            <a:graphicFrameLocks noGrp="1"/>
          </p:cNvGraphicFramePr>
          <p:nvPr/>
        </p:nvGraphicFramePr>
        <p:xfrm>
          <a:off x="323850" y="1125538"/>
          <a:ext cx="2384425" cy="3182112"/>
        </p:xfrm>
        <a:graphic>
          <a:graphicData uri="http://schemas.openxmlformats.org/drawingml/2006/table">
            <a:tbl>
              <a:tblPr/>
              <a:tblGrid>
                <a:gridCol w="714375"/>
                <a:gridCol w="167005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~&amp;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缩减与非</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缩减或非</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缩减异或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缩减同或</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59" name="Text Box 21"/>
          <p:cNvSpPr txBox="1">
            <a:spLocks noChangeArrowheads="1"/>
          </p:cNvSpPr>
          <p:nvPr/>
        </p:nvSpPr>
        <p:spPr bwMode="auto">
          <a:xfrm>
            <a:off x="2916238" y="1196975"/>
            <a:ext cx="3276600" cy="140652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dirty="0">
                <a:solidFill>
                  <a:srgbClr val="B43000"/>
                </a:solidFill>
              </a:rPr>
              <a:t>例</a:t>
            </a:r>
            <a:r>
              <a:rPr lang="zh-CN" altLang="en-US" b="1" dirty="0">
                <a:solidFill>
                  <a:srgbClr val="B43000"/>
                </a:solidFill>
              </a:rPr>
              <a:t>：</a:t>
            </a:r>
          </a:p>
          <a:p>
            <a:pPr eaLnBrk="1" hangingPunct="1">
              <a:lnSpc>
                <a:spcPct val="120000"/>
              </a:lnSpc>
            </a:pPr>
            <a:r>
              <a:rPr lang="en-US" altLang="zh-CN" b="1" dirty="0">
                <a:solidFill>
                  <a:srgbClr val="B43000"/>
                </a:solidFill>
              </a:rPr>
              <a:t>Y=&amp; </a:t>
            </a:r>
            <a:r>
              <a:rPr lang="en-US" altLang="zh-CN" b="1" dirty="0" smtClean="0">
                <a:solidFill>
                  <a:srgbClr val="B43000"/>
                </a:solidFill>
              </a:rPr>
              <a:t>4’b1011 </a:t>
            </a:r>
            <a:r>
              <a:rPr lang="en-US" altLang="zh-CN" b="1" dirty="0">
                <a:solidFill>
                  <a:srgbClr val="B43000"/>
                </a:solidFill>
              </a:rPr>
              <a:t>;</a:t>
            </a:r>
          </a:p>
          <a:p>
            <a:pPr eaLnBrk="1" hangingPunct="1">
              <a:lnSpc>
                <a:spcPct val="120000"/>
              </a:lnSpc>
            </a:pPr>
            <a:r>
              <a:rPr lang="en-US" altLang="zh-CN" b="1" dirty="0">
                <a:solidFill>
                  <a:srgbClr val="B43000"/>
                </a:solidFill>
              </a:rPr>
              <a:t>Y= ~&amp; </a:t>
            </a:r>
            <a:r>
              <a:rPr lang="en-US" altLang="zh-CN" b="1" dirty="0" smtClean="0">
                <a:solidFill>
                  <a:srgbClr val="B43000"/>
                </a:solidFill>
              </a:rPr>
              <a:t>4’b1011</a:t>
            </a:r>
            <a:r>
              <a:rPr lang="en-US" altLang="zh-CN" b="1" dirty="0">
                <a:solidFill>
                  <a:srgbClr val="B43000"/>
                </a:solidFill>
              </a:rPr>
              <a:t>;</a:t>
            </a:r>
            <a:r>
              <a:rPr lang="en-US" altLang="zh-CN" b="1" dirty="0"/>
              <a:t> </a:t>
            </a:r>
            <a:endParaRPr lang="en-US" altLang="zh-CN" b="1" dirty="0">
              <a:solidFill>
                <a:srgbClr val="B43000"/>
              </a:solidFill>
            </a:endParaRPr>
          </a:p>
        </p:txBody>
      </p:sp>
      <p:sp>
        <p:nvSpPr>
          <p:cNvPr id="18460" name="AutoShape 25"/>
          <p:cNvSpPr>
            <a:spLocks/>
          </p:cNvSpPr>
          <p:nvPr/>
        </p:nvSpPr>
        <p:spPr bwMode="auto">
          <a:xfrm>
            <a:off x="6227763" y="1771650"/>
            <a:ext cx="1947862" cy="360363"/>
          </a:xfrm>
          <a:prstGeom prst="accentCallout2">
            <a:avLst>
              <a:gd name="adj1" fmla="val 31718"/>
              <a:gd name="adj2" fmla="val -3912"/>
              <a:gd name="adj3" fmla="val 31718"/>
              <a:gd name="adj4" fmla="val -18009"/>
              <a:gd name="adj5" fmla="val 43611"/>
              <a:gd name="adj6" fmla="val -32519"/>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a:t>
            </a:r>
          </a:p>
        </p:txBody>
      </p:sp>
      <p:sp>
        <p:nvSpPr>
          <p:cNvPr id="18461" name="AutoShape 26"/>
          <p:cNvSpPr>
            <a:spLocks/>
          </p:cNvSpPr>
          <p:nvPr/>
        </p:nvSpPr>
        <p:spPr bwMode="auto">
          <a:xfrm>
            <a:off x="6227763" y="2276475"/>
            <a:ext cx="1839912" cy="215900"/>
          </a:xfrm>
          <a:prstGeom prst="accentCallout2">
            <a:avLst>
              <a:gd name="adj1" fmla="val 52940"/>
              <a:gd name="adj2" fmla="val -4144"/>
              <a:gd name="adj3" fmla="val 52940"/>
              <a:gd name="adj4" fmla="val -12597"/>
              <a:gd name="adj5" fmla="val 64704"/>
              <a:gd name="adj6" fmla="val -2139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a:t>
            </a:r>
          </a:p>
        </p:txBody>
      </p:sp>
      <p:sp>
        <p:nvSpPr>
          <p:cNvPr id="18462" name="Text Box 27"/>
          <p:cNvSpPr txBox="1">
            <a:spLocks noChangeArrowheads="1"/>
          </p:cNvSpPr>
          <p:nvPr/>
        </p:nvSpPr>
        <p:spPr bwMode="auto">
          <a:xfrm>
            <a:off x="323850" y="4365625"/>
            <a:ext cx="8640763" cy="156210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sz="2000" b="1"/>
              <a:t>说明</a:t>
            </a:r>
          </a:p>
          <a:p>
            <a:pPr marL="261938" indent="-261938" algn="just" eaLnBrk="1" hangingPunct="1">
              <a:lnSpc>
                <a:spcPct val="120000"/>
              </a:lnSpc>
              <a:buClr>
                <a:srgbClr val="856018"/>
              </a:buClr>
              <a:buFont typeface="Wingdings" pitchFamily="2" charset="2"/>
              <a:buChar char="l"/>
            </a:pPr>
            <a:r>
              <a:rPr lang="zh-CN" altLang="en-US" sz="2000" b="1"/>
              <a:t>缩减运算的操作数是</a:t>
            </a:r>
            <a:r>
              <a:rPr lang="en-US" altLang="zh-CN" sz="2000" b="1"/>
              <a:t>1</a:t>
            </a:r>
            <a:r>
              <a:rPr lang="zh-CN" altLang="en-US" sz="2000" b="1"/>
              <a:t>位或多位二进制数；</a:t>
            </a:r>
          </a:p>
          <a:p>
            <a:pPr marL="261938" indent="-261938" algn="just" eaLnBrk="1" hangingPunct="1">
              <a:lnSpc>
                <a:spcPct val="120000"/>
              </a:lnSpc>
              <a:buClr>
                <a:srgbClr val="856018"/>
              </a:buClr>
              <a:buFont typeface="Wingdings" pitchFamily="2" charset="2"/>
              <a:buChar char="l"/>
            </a:pPr>
            <a:r>
              <a:rPr lang="zh-CN" altLang="en-US" sz="2000" b="1"/>
              <a:t>缩减运算的操作数只有一个，将该数的各位自左至右进行逻辑运算，结果只有一位。</a:t>
            </a:r>
          </a:p>
        </p:txBody>
      </p:sp>
    </p:spTree>
    <p:extLst>
      <p:ext uri="{BB962C8B-B14F-4D97-AF65-F5344CB8AC3E}">
        <p14:creationId xmlns:p14="http://schemas.microsoft.com/office/powerpoint/2010/main" val="1210240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p:cNvSpPr txBox="1">
            <a:spLocks noChangeArrowheads="1"/>
          </p:cNvSpPr>
          <p:nvPr/>
        </p:nvSpPr>
        <p:spPr bwMode="auto">
          <a:xfrm>
            <a:off x="250825" y="549275"/>
            <a:ext cx="2592388"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(7) </a:t>
            </a:r>
            <a:r>
              <a:rPr lang="zh-CN" altLang="en-US" b="1">
                <a:solidFill>
                  <a:srgbClr val="000032"/>
                </a:solidFill>
              </a:rPr>
              <a:t>移位运算符</a:t>
            </a:r>
          </a:p>
        </p:txBody>
      </p:sp>
      <p:graphicFrame>
        <p:nvGraphicFramePr>
          <p:cNvPr id="206884" name="Group 36"/>
          <p:cNvGraphicFramePr>
            <a:graphicFrameLocks noGrp="1"/>
          </p:cNvGraphicFramePr>
          <p:nvPr/>
        </p:nvGraphicFramePr>
        <p:xfrm>
          <a:off x="323850" y="1125538"/>
          <a:ext cx="2649538" cy="1828800"/>
        </p:xfrm>
        <a:graphic>
          <a:graphicData uri="http://schemas.openxmlformats.org/drawingml/2006/table">
            <a:tbl>
              <a:tblPr/>
              <a:tblGrid>
                <a:gridCol w="979488"/>
                <a:gridCol w="167005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&gt;&gt;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右移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&lt;&lt;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左移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&gt;&gt;&gt;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算术右移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&lt;&lt;&lt;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算术左移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477" name="Text Box 21"/>
          <p:cNvSpPr txBox="1">
            <a:spLocks noChangeArrowheads="1"/>
          </p:cNvSpPr>
          <p:nvPr/>
        </p:nvSpPr>
        <p:spPr bwMode="auto">
          <a:xfrm>
            <a:off x="3273425" y="1196975"/>
            <a:ext cx="3675063" cy="140652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 4’b1001 &gt;&gt; 1;</a:t>
            </a:r>
          </a:p>
          <a:p>
            <a:pPr eaLnBrk="1" hangingPunct="1">
              <a:lnSpc>
                <a:spcPct val="120000"/>
              </a:lnSpc>
            </a:pPr>
            <a:r>
              <a:rPr lang="en-US" altLang="zh-CN" b="1">
                <a:solidFill>
                  <a:srgbClr val="B43000"/>
                </a:solidFill>
              </a:rPr>
              <a:t>Y= 4’sb1001 &gt;&gt;&gt; 1;</a:t>
            </a:r>
            <a:r>
              <a:rPr lang="en-US" altLang="zh-CN" b="1"/>
              <a:t> </a:t>
            </a:r>
          </a:p>
        </p:txBody>
      </p:sp>
      <p:sp>
        <p:nvSpPr>
          <p:cNvPr id="19478" name="AutoShape 28"/>
          <p:cNvSpPr>
            <a:spLocks/>
          </p:cNvSpPr>
          <p:nvPr/>
        </p:nvSpPr>
        <p:spPr bwMode="auto">
          <a:xfrm>
            <a:off x="7235825" y="1771650"/>
            <a:ext cx="1947863" cy="360363"/>
          </a:xfrm>
          <a:prstGeom prst="accentCallout2">
            <a:avLst>
              <a:gd name="adj1" fmla="val 31718"/>
              <a:gd name="adj2" fmla="val -3912"/>
              <a:gd name="adj3" fmla="val 31718"/>
              <a:gd name="adj4" fmla="val -20944"/>
              <a:gd name="adj5" fmla="val 43611"/>
              <a:gd name="adj6" fmla="val -3846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0100</a:t>
            </a:r>
          </a:p>
        </p:txBody>
      </p:sp>
      <p:sp>
        <p:nvSpPr>
          <p:cNvPr id="19479" name="AutoShape 29"/>
          <p:cNvSpPr>
            <a:spLocks/>
          </p:cNvSpPr>
          <p:nvPr/>
        </p:nvSpPr>
        <p:spPr bwMode="auto">
          <a:xfrm>
            <a:off x="7269163" y="2276475"/>
            <a:ext cx="1839912" cy="360363"/>
          </a:xfrm>
          <a:prstGeom prst="accentCallout2">
            <a:avLst>
              <a:gd name="adj1" fmla="val 52940"/>
              <a:gd name="adj2" fmla="val -4144"/>
              <a:gd name="adj3" fmla="val 52940"/>
              <a:gd name="adj4" fmla="val -12597"/>
              <a:gd name="adj5" fmla="val 64704"/>
              <a:gd name="adj6" fmla="val -2139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1100</a:t>
            </a:r>
          </a:p>
        </p:txBody>
      </p:sp>
      <p:sp>
        <p:nvSpPr>
          <p:cNvPr id="19480" name="Text Box 30"/>
          <p:cNvSpPr txBox="1">
            <a:spLocks noChangeArrowheads="1"/>
          </p:cNvSpPr>
          <p:nvPr/>
        </p:nvSpPr>
        <p:spPr bwMode="auto">
          <a:xfrm>
            <a:off x="468313" y="4005263"/>
            <a:ext cx="7775575" cy="2168525"/>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spcBef>
                <a:spcPct val="20000"/>
              </a:spcBef>
              <a:buFont typeface="Wingdings" pitchFamily="2" charset="2"/>
              <a:buNone/>
            </a:pPr>
            <a:r>
              <a:rPr lang="zh-CN" altLang="en-US" sz="2000" b="1"/>
              <a:t>说明</a:t>
            </a:r>
          </a:p>
          <a:p>
            <a:pPr marL="261938" indent="-261938" algn="just" eaLnBrk="1" hangingPunct="1">
              <a:lnSpc>
                <a:spcPct val="120000"/>
              </a:lnSpc>
              <a:spcBef>
                <a:spcPct val="20000"/>
              </a:spcBef>
              <a:buClr>
                <a:srgbClr val="856018"/>
              </a:buClr>
              <a:buFont typeface="Wingdings" pitchFamily="2" charset="2"/>
              <a:buChar char="l"/>
            </a:pPr>
            <a:r>
              <a:rPr lang="zh-CN" altLang="en-US" sz="2000" b="1"/>
              <a:t>移位运算的操作数是</a:t>
            </a:r>
            <a:r>
              <a:rPr lang="en-US" altLang="zh-CN" sz="2000" b="1"/>
              <a:t>1</a:t>
            </a:r>
            <a:r>
              <a:rPr lang="zh-CN" altLang="en-US" sz="2000" b="1"/>
              <a:t>位或多位二进制数；</a:t>
            </a:r>
          </a:p>
          <a:p>
            <a:pPr marL="261938" indent="-261938" algn="just" eaLnBrk="1" hangingPunct="1">
              <a:lnSpc>
                <a:spcPct val="120000"/>
              </a:lnSpc>
              <a:spcBef>
                <a:spcPct val="20000"/>
              </a:spcBef>
              <a:buClr>
                <a:srgbClr val="856018"/>
              </a:buClr>
              <a:buFont typeface="Wingdings" pitchFamily="2" charset="2"/>
              <a:buChar char="l"/>
            </a:pPr>
            <a:r>
              <a:rPr lang="zh-CN" altLang="en-US" sz="2000" b="1"/>
              <a:t>向左或向右移</a:t>
            </a:r>
            <a:r>
              <a:rPr lang="en-US" altLang="zh-CN" sz="2000" b="1"/>
              <a:t>n</a:t>
            </a:r>
            <a:r>
              <a:rPr lang="zh-CN" altLang="en-US" sz="2000" b="1"/>
              <a:t>位；</a:t>
            </a:r>
          </a:p>
          <a:p>
            <a:pPr marL="261938" indent="-261938" algn="just" eaLnBrk="1" hangingPunct="1">
              <a:lnSpc>
                <a:spcPct val="120000"/>
              </a:lnSpc>
              <a:spcBef>
                <a:spcPct val="20000"/>
              </a:spcBef>
              <a:buClr>
                <a:srgbClr val="856018"/>
              </a:buClr>
              <a:buFont typeface="Wingdings" pitchFamily="2" charset="2"/>
              <a:buChar char="l"/>
            </a:pPr>
            <a:r>
              <a:rPr lang="zh-CN" altLang="en-US" sz="2000" b="1"/>
              <a:t>只有对有符号数的算术右移自动补符号位；</a:t>
            </a:r>
          </a:p>
          <a:p>
            <a:pPr marL="261938" indent="-261938" algn="just" eaLnBrk="1" hangingPunct="1">
              <a:lnSpc>
                <a:spcPct val="120000"/>
              </a:lnSpc>
              <a:spcBef>
                <a:spcPct val="20000"/>
              </a:spcBef>
              <a:buClr>
                <a:srgbClr val="856018"/>
              </a:buClr>
              <a:buFont typeface="Wingdings" pitchFamily="2" charset="2"/>
              <a:buChar char="l"/>
            </a:pPr>
            <a:r>
              <a:rPr lang="zh-CN" altLang="en-US" sz="2000" b="1"/>
              <a:t>其他移位均自动补</a:t>
            </a:r>
            <a:r>
              <a:rPr lang="en-US" altLang="zh-CN" sz="2000" b="1"/>
              <a:t>0</a:t>
            </a:r>
            <a:r>
              <a:rPr lang="zh-CN" altLang="en-US" sz="2000" b="1"/>
              <a:t>。</a:t>
            </a:r>
          </a:p>
        </p:txBody>
      </p:sp>
      <p:sp>
        <p:nvSpPr>
          <p:cNvPr id="19481" name="Text Box 38"/>
          <p:cNvSpPr txBox="1">
            <a:spLocks noChangeArrowheads="1"/>
          </p:cNvSpPr>
          <p:nvPr/>
        </p:nvSpPr>
        <p:spPr bwMode="auto">
          <a:xfrm>
            <a:off x="1258888" y="3068638"/>
            <a:ext cx="2600325" cy="631825"/>
          </a:xfrm>
          <a:prstGeom prst="rect">
            <a:avLst/>
          </a:prstGeom>
          <a:solidFill>
            <a:srgbClr val="CDDD9C"/>
          </a:solidFill>
          <a:ln w="28575" algn="ctr">
            <a:solidFill>
              <a:srgbClr val="99CCCD"/>
            </a:solidFill>
            <a:miter lim="800000"/>
            <a:headEnd/>
            <a:tailEnd/>
          </a:ln>
        </p:spPr>
        <p:txBody>
          <a:bodyPr wrap="none">
            <a:spAutoFit/>
          </a:bodyPr>
          <a:lstStyle/>
          <a:p>
            <a:pPr eaLnBrk="1" hangingPunct="1">
              <a:lnSpc>
                <a:spcPct val="140000"/>
              </a:lnSpc>
            </a:pPr>
            <a:r>
              <a:rPr lang="zh-CN" altLang="en-US" b="1">
                <a:solidFill>
                  <a:srgbClr val="000032"/>
                </a:solidFill>
              </a:rPr>
              <a:t>操作数 移位符 </a:t>
            </a:r>
            <a:r>
              <a:rPr lang="en-US" altLang="zh-CN" b="1">
                <a:solidFill>
                  <a:srgbClr val="000032"/>
                </a:solidFill>
              </a:rPr>
              <a:t>n;</a:t>
            </a:r>
          </a:p>
        </p:txBody>
      </p:sp>
      <p:sp>
        <p:nvSpPr>
          <p:cNvPr id="19482" name="Text Box 21"/>
          <p:cNvSpPr txBox="1">
            <a:spLocks noChangeArrowheads="1"/>
          </p:cNvSpPr>
          <p:nvPr/>
        </p:nvSpPr>
        <p:spPr bwMode="auto">
          <a:xfrm>
            <a:off x="395288" y="3068638"/>
            <a:ext cx="1223962" cy="603250"/>
          </a:xfrm>
          <a:prstGeom prst="rect">
            <a:avLst/>
          </a:prstGeom>
          <a:noFill/>
          <a:ln w="28575">
            <a:noFill/>
            <a:miter lim="800000"/>
            <a:headEnd/>
            <a:tailEnd/>
          </a:ln>
        </p:spPr>
        <p:txBody>
          <a:bodyPr>
            <a:spAutoFit/>
          </a:bodyPr>
          <a:lstStyle/>
          <a:p>
            <a:pPr eaLnBrk="1" hangingPunct="1">
              <a:lnSpc>
                <a:spcPct val="140000"/>
              </a:lnSpc>
              <a:spcBef>
                <a:spcPct val="50000"/>
              </a:spcBef>
            </a:pPr>
            <a:r>
              <a:rPr lang="zh-CN" altLang="en-US" b="1">
                <a:solidFill>
                  <a:srgbClr val="821006"/>
                </a:solidFill>
              </a:rPr>
              <a:t>格式</a:t>
            </a:r>
          </a:p>
        </p:txBody>
      </p:sp>
    </p:spTree>
    <p:extLst>
      <p:ext uri="{BB962C8B-B14F-4D97-AF65-F5344CB8AC3E}">
        <p14:creationId xmlns:p14="http://schemas.microsoft.com/office/powerpoint/2010/main" val="32107889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250825" y="549275"/>
            <a:ext cx="3241675"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(8) </a:t>
            </a:r>
            <a:r>
              <a:rPr lang="zh-CN" altLang="en-US" b="1">
                <a:solidFill>
                  <a:srgbClr val="000032"/>
                </a:solidFill>
              </a:rPr>
              <a:t>拼接复制运算符</a:t>
            </a:r>
          </a:p>
        </p:txBody>
      </p:sp>
      <p:graphicFrame>
        <p:nvGraphicFramePr>
          <p:cNvPr id="208925" name="Group 29"/>
          <p:cNvGraphicFramePr>
            <a:graphicFrameLocks noGrp="1"/>
          </p:cNvGraphicFramePr>
          <p:nvPr/>
        </p:nvGraphicFramePr>
        <p:xfrm>
          <a:off x="323850" y="1125538"/>
          <a:ext cx="2724150" cy="914400"/>
        </p:xfrm>
        <a:graphic>
          <a:graphicData uri="http://schemas.openxmlformats.org/drawingml/2006/table">
            <a:tbl>
              <a:tblPr/>
              <a:tblGrid>
                <a:gridCol w="1054100"/>
                <a:gridCol w="1670050"/>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拼接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复制拼接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495" name="Text Box 21"/>
          <p:cNvSpPr txBox="1">
            <a:spLocks noChangeArrowheads="1"/>
          </p:cNvSpPr>
          <p:nvPr/>
        </p:nvSpPr>
        <p:spPr bwMode="auto">
          <a:xfrm>
            <a:off x="323850" y="2670175"/>
            <a:ext cx="4824413" cy="1865126"/>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dirty="0">
                <a:solidFill>
                  <a:srgbClr val="B43000"/>
                </a:solidFill>
              </a:rPr>
              <a:t>例</a:t>
            </a:r>
            <a:r>
              <a:rPr lang="zh-CN" altLang="en-US" b="1" dirty="0">
                <a:solidFill>
                  <a:srgbClr val="B43000"/>
                </a:solidFill>
              </a:rPr>
              <a:t>：</a:t>
            </a:r>
          </a:p>
          <a:p>
            <a:pPr eaLnBrk="1" hangingPunct="1">
              <a:lnSpc>
                <a:spcPct val="120000"/>
              </a:lnSpc>
            </a:pPr>
            <a:r>
              <a:rPr lang="en-US" altLang="zh-CN" b="1" dirty="0">
                <a:solidFill>
                  <a:srgbClr val="B43000"/>
                </a:solidFill>
              </a:rPr>
              <a:t>Y= {4’b1001, 2’b11};</a:t>
            </a:r>
          </a:p>
          <a:p>
            <a:pPr eaLnBrk="1" hangingPunct="1">
              <a:lnSpc>
                <a:spcPct val="120000"/>
              </a:lnSpc>
            </a:pPr>
            <a:r>
              <a:rPr lang="en-US" altLang="zh-CN" b="1" dirty="0">
                <a:solidFill>
                  <a:srgbClr val="B43000"/>
                </a:solidFill>
              </a:rPr>
              <a:t>Y= {4{2’b01}};</a:t>
            </a:r>
            <a:r>
              <a:rPr lang="en-US" altLang="zh-CN" b="1" dirty="0"/>
              <a:t> </a:t>
            </a:r>
          </a:p>
          <a:p>
            <a:pPr eaLnBrk="1" hangingPunct="1">
              <a:lnSpc>
                <a:spcPct val="120000"/>
              </a:lnSpc>
            </a:pPr>
            <a:r>
              <a:rPr lang="en-US" altLang="zh-CN" b="1" dirty="0"/>
              <a:t>Y= </a:t>
            </a:r>
            <a:r>
              <a:rPr lang="en-US" altLang="zh-CN" b="1" dirty="0" smtClean="0"/>
              <a:t>{</a:t>
            </a:r>
            <a:r>
              <a:rPr lang="en-US" altLang="zh-CN" b="1" dirty="0" smtClean="0">
                <a:solidFill>
                  <a:srgbClr val="B43000"/>
                </a:solidFill>
              </a:rPr>
              <a:t>{</a:t>
            </a:r>
            <a:r>
              <a:rPr lang="en-US" altLang="zh-CN" b="1" dirty="0">
                <a:solidFill>
                  <a:srgbClr val="B43000"/>
                </a:solidFill>
              </a:rPr>
              <a:t>4{2’b01</a:t>
            </a:r>
            <a:r>
              <a:rPr lang="en-US" altLang="zh-CN" b="1" dirty="0" smtClean="0">
                <a:solidFill>
                  <a:srgbClr val="B43000"/>
                </a:solidFill>
              </a:rPr>
              <a:t>}}, </a:t>
            </a:r>
            <a:r>
              <a:rPr lang="en-US" altLang="zh-CN" b="1" dirty="0">
                <a:solidFill>
                  <a:srgbClr val="B43000"/>
                </a:solidFill>
              </a:rPr>
              <a:t>2’b11};</a:t>
            </a:r>
            <a:r>
              <a:rPr lang="en-US" altLang="zh-CN" b="1" dirty="0"/>
              <a:t> </a:t>
            </a:r>
          </a:p>
        </p:txBody>
      </p:sp>
      <p:sp>
        <p:nvSpPr>
          <p:cNvPr id="20496" name="AutoShape 22"/>
          <p:cNvSpPr>
            <a:spLocks/>
          </p:cNvSpPr>
          <p:nvPr/>
        </p:nvSpPr>
        <p:spPr bwMode="auto">
          <a:xfrm>
            <a:off x="4787900" y="3101975"/>
            <a:ext cx="2520950" cy="360363"/>
          </a:xfrm>
          <a:prstGeom prst="accentCallout2">
            <a:avLst>
              <a:gd name="adj1" fmla="val 31718"/>
              <a:gd name="adj2" fmla="val -3023"/>
              <a:gd name="adj3" fmla="val 31718"/>
              <a:gd name="adj4" fmla="val -11778"/>
              <a:gd name="adj5" fmla="val 77972"/>
              <a:gd name="adj6" fmla="val -2071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100111</a:t>
            </a:r>
          </a:p>
        </p:txBody>
      </p:sp>
      <p:sp>
        <p:nvSpPr>
          <p:cNvPr id="20497" name="AutoShape 23"/>
          <p:cNvSpPr>
            <a:spLocks/>
          </p:cNvSpPr>
          <p:nvPr/>
        </p:nvSpPr>
        <p:spPr bwMode="auto">
          <a:xfrm>
            <a:off x="4787900" y="3678238"/>
            <a:ext cx="2430463" cy="360362"/>
          </a:xfrm>
          <a:prstGeom prst="accentCallout2">
            <a:avLst>
              <a:gd name="adj1" fmla="val 31718"/>
              <a:gd name="adj2" fmla="val -3134"/>
              <a:gd name="adj3" fmla="val 31718"/>
              <a:gd name="adj4" fmla="val -31940"/>
              <a:gd name="adj5" fmla="val 47134"/>
              <a:gd name="adj6" fmla="val -62245"/>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结果为</a:t>
            </a:r>
            <a:r>
              <a:rPr lang="en-US" altLang="zh-CN" sz="2000" b="1">
                <a:solidFill>
                  <a:srgbClr val="000032"/>
                </a:solidFill>
              </a:rPr>
              <a:t>01010101</a:t>
            </a:r>
          </a:p>
        </p:txBody>
      </p:sp>
      <p:sp>
        <p:nvSpPr>
          <p:cNvPr id="20498" name="Text Box 24"/>
          <p:cNvSpPr txBox="1">
            <a:spLocks noChangeArrowheads="1"/>
          </p:cNvSpPr>
          <p:nvPr/>
        </p:nvSpPr>
        <p:spPr bwMode="auto">
          <a:xfrm>
            <a:off x="539750" y="4565650"/>
            <a:ext cx="6408738" cy="185420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b="1"/>
              <a:t>说明</a:t>
            </a:r>
          </a:p>
          <a:p>
            <a:pPr marL="261938" indent="-261938" algn="just" eaLnBrk="1" hangingPunct="1">
              <a:lnSpc>
                <a:spcPct val="120000"/>
              </a:lnSpc>
              <a:buClr>
                <a:srgbClr val="856018"/>
              </a:buClr>
              <a:buFont typeface="Wingdings" pitchFamily="2" charset="2"/>
              <a:buChar char="l"/>
            </a:pPr>
            <a:r>
              <a:rPr lang="zh-CN" altLang="en-US" b="1"/>
              <a:t>将多个操作数拼接起来；</a:t>
            </a:r>
          </a:p>
          <a:p>
            <a:pPr marL="261938" indent="-261938" algn="just" eaLnBrk="1" hangingPunct="1">
              <a:lnSpc>
                <a:spcPct val="120000"/>
              </a:lnSpc>
              <a:buClr>
                <a:srgbClr val="856018"/>
              </a:buClr>
              <a:buFont typeface="Wingdings" pitchFamily="2" charset="2"/>
              <a:buChar char="l"/>
            </a:pPr>
            <a:r>
              <a:rPr lang="zh-CN" altLang="en-US" b="1"/>
              <a:t>将操作数复制</a:t>
            </a:r>
            <a:r>
              <a:rPr lang="en-US" altLang="zh-CN" b="1"/>
              <a:t>n</a:t>
            </a:r>
            <a:r>
              <a:rPr lang="zh-CN" altLang="en-US" b="1"/>
              <a:t>遍并拼接起来；</a:t>
            </a:r>
          </a:p>
          <a:p>
            <a:pPr marL="261938" indent="-261938" algn="just" eaLnBrk="1" hangingPunct="1">
              <a:lnSpc>
                <a:spcPct val="120000"/>
              </a:lnSpc>
              <a:buClr>
                <a:srgbClr val="856018"/>
              </a:buClr>
              <a:buFont typeface="Wingdings" pitchFamily="2" charset="2"/>
              <a:buChar char="l"/>
            </a:pPr>
            <a:r>
              <a:rPr lang="zh-CN" altLang="en-US" b="1"/>
              <a:t>可以组合使用。</a:t>
            </a:r>
          </a:p>
        </p:txBody>
      </p:sp>
      <p:sp>
        <p:nvSpPr>
          <p:cNvPr id="20499" name="Text Box 25"/>
          <p:cNvSpPr txBox="1">
            <a:spLocks noChangeArrowheads="1"/>
          </p:cNvSpPr>
          <p:nvPr/>
        </p:nvSpPr>
        <p:spPr bwMode="auto">
          <a:xfrm>
            <a:off x="4211638" y="963613"/>
            <a:ext cx="3668712" cy="631825"/>
          </a:xfrm>
          <a:prstGeom prst="rect">
            <a:avLst/>
          </a:prstGeom>
          <a:solidFill>
            <a:srgbClr val="CDDD9C"/>
          </a:solidFill>
          <a:ln w="28575" algn="ctr">
            <a:solidFill>
              <a:srgbClr val="99CCCD"/>
            </a:solidFill>
            <a:miter lim="800000"/>
            <a:headEnd/>
            <a:tailEnd/>
          </a:ln>
        </p:spPr>
        <p:txBody>
          <a:bodyPr wrap="none">
            <a:spAutoFit/>
          </a:bodyPr>
          <a:lstStyle/>
          <a:p>
            <a:pPr eaLnBrk="1" hangingPunct="1">
              <a:lnSpc>
                <a:spcPct val="140000"/>
              </a:lnSpc>
            </a:pPr>
            <a:r>
              <a:rPr lang="en-US" altLang="zh-CN" b="1">
                <a:solidFill>
                  <a:srgbClr val="000032"/>
                </a:solidFill>
              </a:rPr>
              <a:t>{</a:t>
            </a:r>
            <a:r>
              <a:rPr lang="zh-CN" altLang="en-US" b="1">
                <a:solidFill>
                  <a:srgbClr val="000032"/>
                </a:solidFill>
              </a:rPr>
              <a:t>操作数</a:t>
            </a:r>
            <a:r>
              <a:rPr lang="en-US" altLang="zh-CN" b="1">
                <a:solidFill>
                  <a:srgbClr val="000032"/>
                </a:solidFill>
              </a:rPr>
              <a:t>1, </a:t>
            </a:r>
            <a:r>
              <a:rPr lang="zh-CN" altLang="en-US" b="1">
                <a:solidFill>
                  <a:srgbClr val="000032"/>
                </a:solidFill>
              </a:rPr>
              <a:t>操作数</a:t>
            </a:r>
            <a:r>
              <a:rPr lang="en-US" altLang="zh-CN" b="1">
                <a:solidFill>
                  <a:srgbClr val="000032"/>
                </a:solidFill>
              </a:rPr>
              <a:t>2, …}</a:t>
            </a:r>
          </a:p>
        </p:txBody>
      </p:sp>
      <p:sp>
        <p:nvSpPr>
          <p:cNvPr id="20500" name="Text Box 21"/>
          <p:cNvSpPr txBox="1">
            <a:spLocks noChangeArrowheads="1"/>
          </p:cNvSpPr>
          <p:nvPr/>
        </p:nvSpPr>
        <p:spPr bwMode="auto">
          <a:xfrm>
            <a:off x="3348038" y="963613"/>
            <a:ext cx="1223962" cy="603250"/>
          </a:xfrm>
          <a:prstGeom prst="rect">
            <a:avLst/>
          </a:prstGeom>
          <a:noFill/>
          <a:ln w="28575">
            <a:noFill/>
            <a:miter lim="800000"/>
            <a:headEnd/>
            <a:tailEnd/>
          </a:ln>
        </p:spPr>
        <p:txBody>
          <a:bodyPr>
            <a:spAutoFit/>
          </a:bodyPr>
          <a:lstStyle/>
          <a:p>
            <a:pPr eaLnBrk="1" hangingPunct="1">
              <a:lnSpc>
                <a:spcPct val="140000"/>
              </a:lnSpc>
              <a:spcBef>
                <a:spcPct val="50000"/>
              </a:spcBef>
            </a:pPr>
            <a:r>
              <a:rPr lang="zh-CN" altLang="en-US" b="1">
                <a:solidFill>
                  <a:srgbClr val="821006"/>
                </a:solidFill>
              </a:rPr>
              <a:t>格式</a:t>
            </a:r>
          </a:p>
        </p:txBody>
      </p:sp>
      <p:sp>
        <p:nvSpPr>
          <p:cNvPr id="20501" name="Text Box 30"/>
          <p:cNvSpPr txBox="1">
            <a:spLocks noChangeArrowheads="1"/>
          </p:cNvSpPr>
          <p:nvPr/>
        </p:nvSpPr>
        <p:spPr bwMode="auto">
          <a:xfrm>
            <a:off x="4211638" y="1844675"/>
            <a:ext cx="4321175" cy="631825"/>
          </a:xfrm>
          <a:prstGeom prst="rect">
            <a:avLst/>
          </a:prstGeom>
          <a:solidFill>
            <a:srgbClr val="CDDD9C"/>
          </a:solidFill>
          <a:ln w="28575" algn="ctr">
            <a:solidFill>
              <a:srgbClr val="99CCCD"/>
            </a:solidFill>
            <a:miter lim="800000"/>
            <a:headEnd/>
            <a:tailEnd/>
          </a:ln>
        </p:spPr>
        <p:txBody>
          <a:bodyPr wrap="none">
            <a:spAutoFit/>
          </a:bodyPr>
          <a:lstStyle/>
          <a:p>
            <a:pPr eaLnBrk="1" hangingPunct="1">
              <a:lnSpc>
                <a:spcPct val="140000"/>
              </a:lnSpc>
            </a:pPr>
            <a:r>
              <a:rPr lang="en-US" altLang="zh-CN" b="1">
                <a:solidFill>
                  <a:srgbClr val="000032"/>
                </a:solidFill>
              </a:rPr>
              <a:t>{n{</a:t>
            </a:r>
            <a:r>
              <a:rPr lang="zh-CN" altLang="en-US" b="1">
                <a:solidFill>
                  <a:srgbClr val="000032"/>
                </a:solidFill>
              </a:rPr>
              <a:t>操作数</a:t>
            </a:r>
            <a:r>
              <a:rPr lang="en-US" altLang="zh-CN" b="1">
                <a:solidFill>
                  <a:srgbClr val="000032"/>
                </a:solidFill>
              </a:rPr>
              <a:t>1, </a:t>
            </a:r>
            <a:r>
              <a:rPr lang="zh-CN" altLang="en-US" b="1">
                <a:solidFill>
                  <a:srgbClr val="000032"/>
                </a:solidFill>
              </a:rPr>
              <a:t>操作数</a:t>
            </a:r>
            <a:r>
              <a:rPr lang="en-US" altLang="zh-CN" b="1">
                <a:solidFill>
                  <a:srgbClr val="000032"/>
                </a:solidFill>
              </a:rPr>
              <a:t>2, …}}</a:t>
            </a:r>
          </a:p>
        </p:txBody>
      </p:sp>
      <p:sp>
        <p:nvSpPr>
          <p:cNvPr id="20502" name="Text Box 21"/>
          <p:cNvSpPr txBox="1">
            <a:spLocks noChangeArrowheads="1"/>
          </p:cNvSpPr>
          <p:nvPr/>
        </p:nvSpPr>
        <p:spPr bwMode="auto">
          <a:xfrm>
            <a:off x="3348038" y="1844675"/>
            <a:ext cx="1223962" cy="603250"/>
          </a:xfrm>
          <a:prstGeom prst="rect">
            <a:avLst/>
          </a:prstGeom>
          <a:noFill/>
          <a:ln w="28575">
            <a:noFill/>
            <a:miter lim="800000"/>
            <a:headEnd/>
            <a:tailEnd/>
          </a:ln>
        </p:spPr>
        <p:txBody>
          <a:bodyPr>
            <a:spAutoFit/>
          </a:bodyPr>
          <a:lstStyle/>
          <a:p>
            <a:pPr eaLnBrk="1" hangingPunct="1">
              <a:lnSpc>
                <a:spcPct val="140000"/>
              </a:lnSpc>
              <a:spcBef>
                <a:spcPct val="50000"/>
              </a:spcBef>
            </a:pPr>
            <a:r>
              <a:rPr lang="zh-CN" altLang="en-US" b="1">
                <a:solidFill>
                  <a:srgbClr val="821006"/>
                </a:solidFill>
              </a:rPr>
              <a:t>格式</a:t>
            </a:r>
          </a:p>
        </p:txBody>
      </p:sp>
    </p:spTree>
    <p:extLst>
      <p:ext uri="{BB962C8B-B14F-4D97-AF65-F5344CB8AC3E}">
        <p14:creationId xmlns:p14="http://schemas.microsoft.com/office/powerpoint/2010/main" val="35309848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3"/>
          <p:cNvSpPr txBox="1">
            <a:spLocks noChangeArrowheads="1"/>
          </p:cNvSpPr>
          <p:nvPr/>
        </p:nvSpPr>
        <p:spPr bwMode="auto">
          <a:xfrm>
            <a:off x="250825" y="549275"/>
            <a:ext cx="3241675" cy="457200"/>
          </a:xfrm>
          <a:prstGeom prst="rect">
            <a:avLst/>
          </a:prstGeom>
          <a:solidFill>
            <a:srgbClr val="FEA104"/>
          </a:solidFill>
          <a:ln w="28575" algn="ctr">
            <a:noFill/>
            <a:miter lim="800000"/>
            <a:headEnd/>
            <a:tailEnd/>
          </a:ln>
        </p:spPr>
        <p:txBody>
          <a:bodyPr>
            <a:spAutoFit/>
          </a:bodyPr>
          <a:lstStyle/>
          <a:p>
            <a:pPr eaLnBrk="1" hangingPunct="1">
              <a:spcBef>
                <a:spcPct val="50000"/>
              </a:spcBef>
            </a:pPr>
            <a:r>
              <a:rPr lang="en-US" altLang="zh-CN" b="1">
                <a:solidFill>
                  <a:srgbClr val="000032"/>
                </a:solidFill>
              </a:rPr>
              <a:t>(9) </a:t>
            </a:r>
            <a:r>
              <a:rPr lang="zh-CN" altLang="en-US" b="1">
                <a:solidFill>
                  <a:srgbClr val="000032"/>
                </a:solidFill>
              </a:rPr>
              <a:t>条件运算符</a:t>
            </a:r>
          </a:p>
        </p:txBody>
      </p:sp>
      <p:graphicFrame>
        <p:nvGraphicFramePr>
          <p:cNvPr id="212004" name="Group 36"/>
          <p:cNvGraphicFramePr>
            <a:graphicFrameLocks noGrp="1"/>
          </p:cNvGraphicFramePr>
          <p:nvPr/>
        </p:nvGraphicFramePr>
        <p:xfrm>
          <a:off x="395288" y="1268413"/>
          <a:ext cx="2620962" cy="457200"/>
        </p:xfrm>
        <a:graphic>
          <a:graphicData uri="http://schemas.openxmlformats.org/drawingml/2006/table">
            <a:tbl>
              <a:tblPr/>
              <a:tblGrid>
                <a:gridCol w="598487"/>
                <a:gridCol w="2022475"/>
              </a:tblGrid>
              <a:tr h="360363">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smtClean="0">
                          <a:ln>
                            <a:noFill/>
                          </a:ln>
                          <a:solidFill>
                            <a:srgbClr val="0000B8"/>
                          </a:solidFill>
                          <a:effectLst/>
                          <a:latin typeface="Verdana" pitchFamily="34" charset="0"/>
                          <a:ea typeface="黑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smtClean="0">
                          <a:ln>
                            <a:noFill/>
                          </a:ln>
                          <a:solidFill>
                            <a:srgbClr val="0000B8"/>
                          </a:solidFill>
                          <a:effectLst/>
                          <a:latin typeface="Verdana" pitchFamily="34" charset="0"/>
                          <a:ea typeface="黑体" pitchFamily="2" charset="-122"/>
                        </a:rPr>
                        <a:t>用于条件赋值</a:t>
                      </a:r>
                      <a:endParaRPr kumimoji="0" lang="en-US" altLang="zh-CN" sz="2400" b="1" i="0" u="none" strike="noStrike" cap="none" normalizeH="0" baseline="0" smtClean="0">
                        <a:ln>
                          <a:noFill/>
                        </a:ln>
                        <a:solidFill>
                          <a:srgbClr val="0000B8"/>
                        </a:solidFill>
                        <a:effectLst/>
                        <a:latin typeface="Verdana" pitchFamily="34"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516" name="Text Box 21"/>
          <p:cNvSpPr txBox="1">
            <a:spLocks noChangeArrowheads="1"/>
          </p:cNvSpPr>
          <p:nvPr/>
        </p:nvSpPr>
        <p:spPr bwMode="auto">
          <a:xfrm>
            <a:off x="323850" y="1989138"/>
            <a:ext cx="6696075" cy="1844675"/>
          </a:xfrm>
          <a:prstGeom prst="rect">
            <a:avLst/>
          </a:prstGeom>
          <a:solidFill>
            <a:srgbClr val="E3E3F1"/>
          </a:solidFill>
          <a:ln w="28575">
            <a:noFill/>
            <a:miter lim="800000"/>
            <a:headEnd/>
            <a:tailEnd/>
          </a:ln>
        </p:spPr>
        <p:txBody>
          <a:bodyPr>
            <a:spAutoFit/>
          </a:bodyPr>
          <a:lstStyle/>
          <a:p>
            <a:pPr eaLnBrk="1" hangingPunct="1">
              <a:lnSpc>
                <a:spcPct val="120000"/>
              </a:lnSpc>
              <a:spcBef>
                <a:spcPct val="20000"/>
              </a:spcBef>
            </a:pPr>
            <a:r>
              <a:rPr lang="en-US" altLang="zh-CN" b="1">
                <a:solidFill>
                  <a:srgbClr val="B43000"/>
                </a:solidFill>
              </a:rPr>
              <a:t>例</a:t>
            </a:r>
            <a:r>
              <a:rPr lang="zh-CN" altLang="en-US" b="1">
                <a:solidFill>
                  <a:srgbClr val="B43000"/>
                </a:solidFill>
              </a:rPr>
              <a:t>：</a:t>
            </a:r>
          </a:p>
          <a:p>
            <a:pPr eaLnBrk="1" hangingPunct="1">
              <a:lnSpc>
                <a:spcPct val="120000"/>
              </a:lnSpc>
            </a:pPr>
            <a:r>
              <a:rPr lang="en-US" altLang="zh-CN" b="1">
                <a:solidFill>
                  <a:srgbClr val="B43000"/>
                </a:solidFill>
              </a:rPr>
              <a:t>Y= a ? b : c;</a:t>
            </a:r>
          </a:p>
          <a:p>
            <a:pPr eaLnBrk="1" hangingPunct="1">
              <a:lnSpc>
                <a:spcPct val="120000"/>
              </a:lnSpc>
            </a:pPr>
            <a:endParaRPr lang="en-US" altLang="zh-CN" b="1">
              <a:solidFill>
                <a:srgbClr val="B43000"/>
              </a:solidFill>
            </a:endParaRPr>
          </a:p>
          <a:p>
            <a:pPr eaLnBrk="1" hangingPunct="1">
              <a:lnSpc>
                <a:spcPct val="120000"/>
              </a:lnSpc>
            </a:pPr>
            <a:r>
              <a:rPr lang="en-US" altLang="zh-CN" b="1">
                <a:solidFill>
                  <a:srgbClr val="B43000"/>
                </a:solidFill>
              </a:rPr>
              <a:t>Y= s1 ? (s0 ? d3 : d2) : (s0? d1 : d0);</a:t>
            </a:r>
          </a:p>
        </p:txBody>
      </p:sp>
      <p:sp>
        <p:nvSpPr>
          <p:cNvPr id="21517" name="AutoShape 16"/>
          <p:cNvSpPr>
            <a:spLocks/>
          </p:cNvSpPr>
          <p:nvPr/>
        </p:nvSpPr>
        <p:spPr bwMode="auto">
          <a:xfrm>
            <a:off x="3419475" y="2060575"/>
            <a:ext cx="2736850" cy="1008063"/>
          </a:xfrm>
          <a:prstGeom prst="accentCallout2">
            <a:avLst>
              <a:gd name="adj1" fmla="val 11338"/>
              <a:gd name="adj2" fmla="val -2782"/>
              <a:gd name="adj3" fmla="val 11338"/>
              <a:gd name="adj4" fmla="val -17921"/>
              <a:gd name="adj5" fmla="val 70708"/>
              <a:gd name="adj6" fmla="val -33468"/>
            </a:avLst>
          </a:prstGeom>
          <a:noFill/>
          <a:ln w="28575">
            <a:solidFill>
              <a:srgbClr val="99CCCD"/>
            </a:solidFill>
            <a:miter lim="800000"/>
            <a:headEnd/>
            <a:tailEnd type="arrow" w="med" len="med"/>
          </a:ln>
        </p:spPr>
        <p:txBody>
          <a:bodyPr anchor="ctr"/>
          <a:lstStyle/>
          <a:p>
            <a:pPr eaLnBrk="1" hangingPunct="1"/>
            <a:r>
              <a:rPr lang="zh-CN" altLang="en-US" sz="2000" b="1">
                <a:solidFill>
                  <a:srgbClr val="000032"/>
                </a:solidFill>
              </a:rPr>
              <a:t>如果</a:t>
            </a:r>
            <a:r>
              <a:rPr lang="en-US" altLang="zh-CN" sz="2000" b="1">
                <a:solidFill>
                  <a:srgbClr val="000032"/>
                </a:solidFill>
              </a:rPr>
              <a:t>a=1</a:t>
            </a:r>
            <a:r>
              <a:rPr lang="zh-CN" altLang="en-US" sz="2000" b="1">
                <a:solidFill>
                  <a:srgbClr val="000032"/>
                </a:solidFill>
              </a:rPr>
              <a:t>，则</a:t>
            </a:r>
            <a:r>
              <a:rPr lang="en-US" altLang="zh-CN" sz="2000" b="1">
                <a:solidFill>
                  <a:srgbClr val="000032"/>
                </a:solidFill>
              </a:rPr>
              <a:t>y=b;</a:t>
            </a:r>
          </a:p>
          <a:p>
            <a:pPr eaLnBrk="1" hangingPunct="1"/>
            <a:r>
              <a:rPr lang="zh-CN" altLang="en-US" sz="2000" b="1">
                <a:solidFill>
                  <a:srgbClr val="000032"/>
                </a:solidFill>
              </a:rPr>
              <a:t>如果</a:t>
            </a:r>
            <a:r>
              <a:rPr lang="en-US" altLang="zh-CN" sz="2000" b="1">
                <a:solidFill>
                  <a:srgbClr val="000032"/>
                </a:solidFill>
              </a:rPr>
              <a:t>a=0</a:t>
            </a:r>
            <a:r>
              <a:rPr lang="zh-CN" altLang="en-US" sz="2000" b="1">
                <a:solidFill>
                  <a:srgbClr val="000032"/>
                </a:solidFill>
              </a:rPr>
              <a:t>，则</a:t>
            </a:r>
            <a:r>
              <a:rPr lang="en-US" altLang="zh-CN" sz="2000" b="1">
                <a:solidFill>
                  <a:srgbClr val="000032"/>
                </a:solidFill>
              </a:rPr>
              <a:t>y=c</a:t>
            </a:r>
            <a:r>
              <a:rPr lang="zh-CN" altLang="en-US" sz="2000" b="1">
                <a:solidFill>
                  <a:srgbClr val="000032"/>
                </a:solidFill>
              </a:rPr>
              <a:t>。</a:t>
            </a:r>
          </a:p>
          <a:p>
            <a:pPr eaLnBrk="1" hangingPunct="1"/>
            <a:r>
              <a:rPr lang="zh-CN" altLang="en-US" sz="2000" b="1">
                <a:solidFill>
                  <a:srgbClr val="000032"/>
                </a:solidFill>
              </a:rPr>
              <a:t>如果</a:t>
            </a:r>
            <a:r>
              <a:rPr lang="en-US" altLang="zh-CN" sz="2000" b="1">
                <a:solidFill>
                  <a:srgbClr val="000032"/>
                </a:solidFill>
              </a:rPr>
              <a:t>a=x</a:t>
            </a:r>
            <a:r>
              <a:rPr lang="zh-CN" altLang="en-US" sz="2000" b="1">
                <a:solidFill>
                  <a:srgbClr val="000032"/>
                </a:solidFill>
              </a:rPr>
              <a:t>，则</a:t>
            </a:r>
            <a:r>
              <a:rPr lang="en-US" altLang="zh-CN" sz="2000" b="1">
                <a:solidFill>
                  <a:srgbClr val="000032"/>
                </a:solidFill>
              </a:rPr>
              <a:t>y=x</a:t>
            </a:r>
            <a:r>
              <a:rPr lang="zh-CN" altLang="en-US" sz="2000" b="1">
                <a:solidFill>
                  <a:srgbClr val="000032"/>
                </a:solidFill>
              </a:rPr>
              <a:t>。</a:t>
            </a:r>
          </a:p>
        </p:txBody>
      </p:sp>
      <p:sp>
        <p:nvSpPr>
          <p:cNvPr id="21518" name="Text Box 18"/>
          <p:cNvSpPr txBox="1">
            <a:spLocks noChangeArrowheads="1"/>
          </p:cNvSpPr>
          <p:nvPr/>
        </p:nvSpPr>
        <p:spPr bwMode="auto">
          <a:xfrm>
            <a:off x="323850" y="3938588"/>
            <a:ext cx="6696075" cy="2730500"/>
          </a:xfrm>
          <a:prstGeom prst="rect">
            <a:avLst/>
          </a:prstGeom>
          <a:noFill/>
          <a:ln w="9525">
            <a:solidFill>
              <a:srgbClr val="00A87C"/>
            </a:solidFill>
            <a:miter lim="800000"/>
            <a:headEnd/>
            <a:tailEnd/>
          </a:ln>
        </p:spPr>
        <p:txBody>
          <a:bodyPr>
            <a:spAutoFit/>
          </a:bodyPr>
          <a:lstStyle/>
          <a:p>
            <a:pPr marL="261938" indent="-261938" algn="just" eaLnBrk="1" hangingPunct="1">
              <a:lnSpc>
                <a:spcPct val="120000"/>
              </a:lnSpc>
              <a:buFont typeface="Wingdings" pitchFamily="2" charset="2"/>
              <a:buNone/>
            </a:pPr>
            <a:r>
              <a:rPr lang="zh-CN" altLang="en-US" b="1"/>
              <a:t>说明</a:t>
            </a:r>
          </a:p>
          <a:p>
            <a:pPr marL="261938" indent="-261938" algn="just" eaLnBrk="1" hangingPunct="1">
              <a:lnSpc>
                <a:spcPct val="120000"/>
              </a:lnSpc>
              <a:buClr>
                <a:srgbClr val="856018"/>
              </a:buClr>
              <a:buFont typeface="Wingdings" pitchFamily="2" charset="2"/>
              <a:buChar char="l"/>
            </a:pPr>
            <a:r>
              <a:rPr lang="zh-CN" altLang="en-US" b="1"/>
              <a:t>根据表达式</a:t>
            </a:r>
            <a:r>
              <a:rPr lang="en-US" altLang="zh-CN" b="1"/>
              <a:t>1</a:t>
            </a:r>
            <a:r>
              <a:rPr lang="zh-CN" altLang="en-US" b="1"/>
              <a:t>的值，决定运算结果；</a:t>
            </a:r>
          </a:p>
          <a:p>
            <a:pPr marL="261938" indent="-261938" algn="just" eaLnBrk="1" hangingPunct="1">
              <a:lnSpc>
                <a:spcPct val="120000"/>
              </a:lnSpc>
              <a:buClr>
                <a:srgbClr val="856018"/>
              </a:buClr>
              <a:buFont typeface="Wingdings" pitchFamily="2" charset="2"/>
              <a:buChar char="l"/>
            </a:pPr>
            <a:r>
              <a:rPr lang="zh-CN" altLang="en-US" b="1"/>
              <a:t>如果表达式</a:t>
            </a:r>
            <a:r>
              <a:rPr lang="en-US" altLang="zh-CN" b="1"/>
              <a:t>1</a:t>
            </a:r>
            <a:r>
              <a:rPr lang="zh-CN" altLang="en-US" b="1"/>
              <a:t>值为</a:t>
            </a:r>
            <a:r>
              <a:rPr lang="en-US" altLang="zh-CN" b="1"/>
              <a:t>1</a:t>
            </a:r>
            <a:r>
              <a:rPr lang="zh-CN" altLang="en-US" b="1"/>
              <a:t>，则结果等于表达式</a:t>
            </a:r>
            <a:r>
              <a:rPr lang="en-US" altLang="zh-CN" b="1"/>
              <a:t>2</a:t>
            </a:r>
            <a:r>
              <a:rPr lang="zh-CN" altLang="en-US" b="1"/>
              <a:t>；</a:t>
            </a:r>
          </a:p>
          <a:p>
            <a:pPr marL="261938" indent="-261938" algn="just" eaLnBrk="1" hangingPunct="1">
              <a:lnSpc>
                <a:spcPct val="120000"/>
              </a:lnSpc>
              <a:buClr>
                <a:srgbClr val="856018"/>
              </a:buClr>
              <a:buFont typeface="Wingdings" pitchFamily="2" charset="2"/>
              <a:buChar char="l"/>
            </a:pPr>
            <a:r>
              <a:rPr lang="zh-CN" altLang="en-US" b="1"/>
              <a:t>如果表达式</a:t>
            </a:r>
            <a:r>
              <a:rPr lang="en-US" altLang="zh-CN" b="1"/>
              <a:t>1</a:t>
            </a:r>
            <a:r>
              <a:rPr lang="zh-CN" altLang="en-US" b="1"/>
              <a:t>值为</a:t>
            </a:r>
            <a:r>
              <a:rPr lang="en-US" altLang="zh-CN" b="1"/>
              <a:t>0</a:t>
            </a:r>
            <a:r>
              <a:rPr lang="zh-CN" altLang="en-US" b="1"/>
              <a:t>，则结果等于表达式</a:t>
            </a:r>
            <a:r>
              <a:rPr lang="en-US" altLang="zh-CN" b="1"/>
              <a:t>3</a:t>
            </a:r>
            <a:r>
              <a:rPr lang="zh-CN" altLang="en-US" b="1"/>
              <a:t>；</a:t>
            </a:r>
          </a:p>
          <a:p>
            <a:pPr marL="261938" indent="-261938" algn="just" eaLnBrk="1" hangingPunct="1">
              <a:lnSpc>
                <a:spcPct val="120000"/>
              </a:lnSpc>
              <a:buClr>
                <a:srgbClr val="856018"/>
              </a:buClr>
              <a:buFont typeface="Wingdings" pitchFamily="2" charset="2"/>
              <a:buChar char="l"/>
            </a:pPr>
            <a:r>
              <a:rPr lang="zh-CN" altLang="en-US" b="1"/>
              <a:t>如果表达式</a:t>
            </a:r>
            <a:r>
              <a:rPr lang="en-US" altLang="zh-CN" b="1"/>
              <a:t>1</a:t>
            </a:r>
            <a:r>
              <a:rPr lang="zh-CN" altLang="en-US" b="1"/>
              <a:t>值为</a:t>
            </a:r>
            <a:r>
              <a:rPr lang="en-US" altLang="zh-CN" b="1"/>
              <a:t>x</a:t>
            </a:r>
            <a:r>
              <a:rPr lang="zh-CN" altLang="en-US" b="1"/>
              <a:t>，则结果为</a:t>
            </a:r>
            <a:r>
              <a:rPr lang="en-US" altLang="zh-CN" b="1"/>
              <a:t>x</a:t>
            </a:r>
            <a:r>
              <a:rPr lang="zh-CN" altLang="en-US" b="1"/>
              <a:t>；</a:t>
            </a:r>
          </a:p>
          <a:p>
            <a:pPr marL="261938" indent="-261938" algn="just" eaLnBrk="1" hangingPunct="1">
              <a:lnSpc>
                <a:spcPct val="120000"/>
              </a:lnSpc>
              <a:buClr>
                <a:srgbClr val="856018"/>
              </a:buClr>
              <a:buFont typeface="Wingdings" pitchFamily="2" charset="2"/>
              <a:buChar char="l"/>
            </a:pPr>
            <a:r>
              <a:rPr lang="zh-CN" altLang="en-US" b="1"/>
              <a:t>可以嵌套。</a:t>
            </a:r>
          </a:p>
        </p:txBody>
      </p:sp>
      <p:sp>
        <p:nvSpPr>
          <p:cNvPr id="21519" name="Text Box 19"/>
          <p:cNvSpPr txBox="1">
            <a:spLocks noChangeArrowheads="1"/>
          </p:cNvSpPr>
          <p:nvPr/>
        </p:nvSpPr>
        <p:spPr bwMode="auto">
          <a:xfrm>
            <a:off x="4324350" y="1141413"/>
            <a:ext cx="4351338" cy="631825"/>
          </a:xfrm>
          <a:prstGeom prst="rect">
            <a:avLst/>
          </a:prstGeom>
          <a:solidFill>
            <a:srgbClr val="CDDD9C"/>
          </a:solidFill>
          <a:ln w="28575" algn="ctr">
            <a:solidFill>
              <a:srgbClr val="99CCCD"/>
            </a:solidFill>
            <a:miter lim="800000"/>
            <a:headEnd/>
            <a:tailEnd/>
          </a:ln>
        </p:spPr>
        <p:txBody>
          <a:bodyPr wrap="none">
            <a:spAutoFit/>
          </a:bodyPr>
          <a:lstStyle/>
          <a:p>
            <a:pPr eaLnBrk="1" hangingPunct="1">
              <a:lnSpc>
                <a:spcPct val="140000"/>
              </a:lnSpc>
            </a:pPr>
            <a:r>
              <a:rPr lang="zh-CN" altLang="en-US" b="1">
                <a:solidFill>
                  <a:srgbClr val="000032"/>
                </a:solidFill>
              </a:rPr>
              <a:t>表达式</a:t>
            </a:r>
            <a:r>
              <a:rPr lang="en-US" altLang="zh-CN" b="1">
                <a:solidFill>
                  <a:srgbClr val="000032"/>
                </a:solidFill>
              </a:rPr>
              <a:t>1 ? </a:t>
            </a:r>
            <a:r>
              <a:rPr lang="zh-CN" altLang="en-US" b="1">
                <a:solidFill>
                  <a:srgbClr val="000032"/>
                </a:solidFill>
              </a:rPr>
              <a:t>表达式</a:t>
            </a:r>
            <a:r>
              <a:rPr lang="en-US" altLang="zh-CN" b="1">
                <a:solidFill>
                  <a:srgbClr val="000032"/>
                </a:solidFill>
              </a:rPr>
              <a:t>2 : </a:t>
            </a:r>
            <a:r>
              <a:rPr lang="zh-CN" altLang="en-US" b="1">
                <a:solidFill>
                  <a:srgbClr val="000032"/>
                </a:solidFill>
              </a:rPr>
              <a:t>表达式</a:t>
            </a:r>
            <a:r>
              <a:rPr lang="en-US" altLang="zh-CN" b="1">
                <a:solidFill>
                  <a:srgbClr val="000032"/>
                </a:solidFill>
              </a:rPr>
              <a:t>3</a:t>
            </a:r>
          </a:p>
        </p:txBody>
      </p:sp>
      <p:sp>
        <p:nvSpPr>
          <p:cNvPr id="21520" name="Text Box 21"/>
          <p:cNvSpPr txBox="1">
            <a:spLocks noChangeArrowheads="1"/>
          </p:cNvSpPr>
          <p:nvPr/>
        </p:nvSpPr>
        <p:spPr bwMode="auto">
          <a:xfrm>
            <a:off x="3028950" y="1141413"/>
            <a:ext cx="1223963" cy="603250"/>
          </a:xfrm>
          <a:prstGeom prst="rect">
            <a:avLst/>
          </a:prstGeom>
          <a:noFill/>
          <a:ln w="28575">
            <a:noFill/>
            <a:miter lim="800000"/>
            <a:headEnd/>
            <a:tailEnd/>
          </a:ln>
        </p:spPr>
        <p:txBody>
          <a:bodyPr>
            <a:spAutoFit/>
          </a:bodyPr>
          <a:lstStyle/>
          <a:p>
            <a:pPr eaLnBrk="1" hangingPunct="1">
              <a:lnSpc>
                <a:spcPct val="140000"/>
              </a:lnSpc>
              <a:spcBef>
                <a:spcPct val="50000"/>
              </a:spcBef>
            </a:pPr>
            <a:r>
              <a:rPr lang="zh-CN" altLang="en-US" b="1">
                <a:solidFill>
                  <a:srgbClr val="821006"/>
                </a:solidFill>
              </a:rPr>
              <a:t>格式一</a:t>
            </a:r>
          </a:p>
        </p:txBody>
      </p:sp>
    </p:spTree>
    <p:extLst>
      <p:ext uri="{BB962C8B-B14F-4D97-AF65-F5344CB8AC3E}">
        <p14:creationId xmlns:p14="http://schemas.microsoft.com/office/powerpoint/2010/main" val="39041389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23DADA36-DEAB-4DF7-9F0A-4F346F27C311}" type="slidenum">
              <a:rPr lang="en-US" altLang="zh-CN" sz="1400" b="0">
                <a:latin typeface="Tahoma" panose="020B0604030504040204" pitchFamily="34" charset="0"/>
              </a:rPr>
              <a:pPr eaLnBrk="1" hangingPunct="1"/>
              <a:t>20</a:t>
            </a:fld>
            <a:endParaRPr lang="en-US" altLang="zh-CN" sz="1400" b="0">
              <a:latin typeface="Tahoma" panose="020B0604030504040204" pitchFamily="34" charset="0"/>
            </a:endParaRPr>
          </a:p>
        </p:txBody>
      </p:sp>
      <p:sp>
        <p:nvSpPr>
          <p:cNvPr id="14339"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grpSp>
        <p:nvGrpSpPr>
          <p:cNvPr id="14340" name="Group 8"/>
          <p:cNvGrpSpPr>
            <a:grpSpLocks/>
          </p:cNvGrpSpPr>
          <p:nvPr/>
        </p:nvGrpSpPr>
        <p:grpSpPr bwMode="auto">
          <a:xfrm>
            <a:off x="5148263" y="333375"/>
            <a:ext cx="3600450" cy="3622675"/>
            <a:chOff x="113" y="740"/>
            <a:chExt cx="2268" cy="2282"/>
          </a:xfrm>
        </p:grpSpPr>
        <p:sp>
          <p:nvSpPr>
            <p:cNvPr id="14346" name="Rectangle 9"/>
            <p:cNvSpPr>
              <a:spLocks noChangeArrowheads="1"/>
            </p:cNvSpPr>
            <p:nvPr/>
          </p:nvSpPr>
          <p:spPr bwMode="auto">
            <a:xfrm>
              <a:off x="113" y="740"/>
              <a:ext cx="2268" cy="2282"/>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14347" name="Text Box 10"/>
            <p:cNvSpPr txBox="1">
              <a:spLocks noChangeArrowheads="1"/>
            </p:cNvSpPr>
            <p:nvPr/>
          </p:nvSpPr>
          <p:spPr bwMode="auto">
            <a:xfrm>
              <a:off x="249" y="1570"/>
              <a:ext cx="953"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000">
                  <a:solidFill>
                    <a:srgbClr val="000099"/>
                  </a:solidFill>
                  <a:latin typeface="Arial" panose="020B0604020202020204" pitchFamily="34" charset="0"/>
                  <a:ea typeface="黑体" panose="02010609060101010101" pitchFamily="49" charset="-122"/>
                </a:rPr>
                <a:t>内部信号</a:t>
              </a:r>
            </a:p>
            <a:p>
              <a:pPr algn="ctr" eaLnBrk="1" hangingPunct="1"/>
              <a:r>
                <a:rPr lang="zh-CN" altLang="en-US" sz="2000">
                  <a:solidFill>
                    <a:srgbClr val="000099"/>
                  </a:solidFill>
                  <a:latin typeface="Arial" panose="020B0604020202020204" pitchFamily="34" charset="0"/>
                  <a:ea typeface="黑体" panose="02010609060101010101" pitchFamily="49" charset="-122"/>
                </a:rPr>
                <a:t>声明</a:t>
              </a:r>
            </a:p>
          </p:txBody>
        </p:sp>
        <p:sp>
          <p:nvSpPr>
            <p:cNvPr id="14348" name="Text Box 11"/>
            <p:cNvSpPr txBox="1">
              <a:spLocks noChangeArrowheads="1"/>
            </p:cNvSpPr>
            <p:nvPr/>
          </p:nvSpPr>
          <p:spPr bwMode="auto">
            <a:xfrm>
              <a:off x="1338" y="1570"/>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assign</a:t>
              </a:r>
              <a:r>
                <a:rPr lang="zh-CN" altLang="en-US" sz="2000">
                  <a:solidFill>
                    <a:srgbClr val="000099"/>
                  </a:solidFill>
                  <a:latin typeface="Arial" panose="020B0604020202020204" pitchFamily="34" charset="0"/>
                  <a:ea typeface="黑体" panose="02010609060101010101" pitchFamily="49" charset="-122"/>
                </a:rPr>
                <a:t>语句</a:t>
              </a:r>
            </a:p>
          </p:txBody>
        </p:sp>
        <p:sp>
          <p:nvSpPr>
            <p:cNvPr id="14349" name="Text Box 12"/>
            <p:cNvSpPr txBox="1">
              <a:spLocks noChangeArrowheads="1"/>
            </p:cNvSpPr>
            <p:nvPr/>
          </p:nvSpPr>
          <p:spPr bwMode="auto">
            <a:xfrm>
              <a:off x="249" y="2205"/>
              <a:ext cx="953" cy="460"/>
            </a:xfrm>
            <a:prstGeom prst="rect">
              <a:avLst/>
            </a:prstGeom>
            <a:solidFill>
              <a:srgbClr val="E6E6F2"/>
            </a:solidFill>
            <a:ln w="28575" algn="ctr">
              <a:solidFill>
                <a:schemeClr val="tx2"/>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chemeClr val="tx2"/>
                  </a:solidFill>
                  <a:latin typeface="Arial" panose="020B0604020202020204" pitchFamily="34" charset="0"/>
                  <a:ea typeface="黑体" panose="02010609060101010101" pitchFamily="49" charset="-122"/>
                </a:rPr>
                <a:t>底层模块或门原语调用</a:t>
              </a:r>
              <a:endParaRPr lang="zh-CN" altLang="en-US" sz="2000">
                <a:solidFill>
                  <a:schemeClr val="accent1"/>
                </a:solidFill>
                <a:latin typeface="Arial" panose="020B0604020202020204" pitchFamily="34" charset="0"/>
                <a:ea typeface="黑体" panose="02010609060101010101" pitchFamily="49" charset="-122"/>
              </a:endParaRPr>
            </a:p>
          </p:txBody>
        </p:sp>
        <p:sp>
          <p:nvSpPr>
            <p:cNvPr id="14350" name="Text Box 13"/>
            <p:cNvSpPr txBox="1">
              <a:spLocks noChangeArrowheads="1"/>
            </p:cNvSpPr>
            <p:nvPr/>
          </p:nvSpPr>
          <p:spPr bwMode="auto">
            <a:xfrm>
              <a:off x="1338" y="2205"/>
              <a:ext cx="771" cy="460"/>
            </a:xfrm>
            <a:prstGeom prst="rect">
              <a:avLst/>
            </a:prstGeom>
            <a:solidFill>
              <a:srgbClr val="E6E6F2"/>
            </a:solidFill>
            <a:ln w="28575" algn="ctr">
              <a:solidFill>
                <a:schemeClr val="hlink"/>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chemeClr val="hlink"/>
                  </a:solidFill>
                  <a:latin typeface="Arial" panose="020B0604020202020204" pitchFamily="34" charset="0"/>
                  <a:ea typeface="黑体" panose="02010609060101010101" pitchFamily="49" charset="-122"/>
                </a:rPr>
                <a:t>always</a:t>
              </a:r>
            </a:p>
            <a:p>
              <a:pPr algn="ctr" eaLnBrk="1" hangingPunct="1"/>
              <a:r>
                <a:rPr lang="zh-CN" altLang="en-US" sz="2000">
                  <a:solidFill>
                    <a:schemeClr val="hlink"/>
                  </a:solidFill>
                  <a:latin typeface="Arial" panose="020B0604020202020204" pitchFamily="34" charset="0"/>
                  <a:ea typeface="黑体" panose="02010609060101010101" pitchFamily="49" charset="-122"/>
                </a:rPr>
                <a:t>语句块</a:t>
              </a:r>
            </a:p>
          </p:txBody>
        </p:sp>
        <p:sp>
          <p:nvSpPr>
            <p:cNvPr id="14351" name="Text Box 14"/>
            <p:cNvSpPr txBox="1">
              <a:spLocks noChangeArrowheads="1"/>
            </p:cNvSpPr>
            <p:nvPr/>
          </p:nvSpPr>
          <p:spPr bwMode="auto">
            <a:xfrm>
              <a:off x="113" y="740"/>
              <a:ext cx="2268" cy="479"/>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module </a:t>
              </a:r>
              <a:r>
                <a:rPr lang="zh-CN" altLang="en-US" sz="2000">
                  <a:solidFill>
                    <a:srgbClr val="000099"/>
                  </a:solidFill>
                  <a:latin typeface="Arial" panose="020B0604020202020204" pitchFamily="34" charset="0"/>
                  <a:ea typeface="黑体" panose="02010609060101010101" pitchFamily="49" charset="-122"/>
                </a:rPr>
                <a:t>模块名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p:txBody>
        </p:sp>
        <p:sp>
          <p:nvSpPr>
            <p:cNvPr id="14352" name="Text Box 15"/>
            <p:cNvSpPr txBox="1">
              <a:spLocks noChangeArrowheads="1"/>
            </p:cNvSpPr>
            <p:nvPr/>
          </p:nvSpPr>
          <p:spPr bwMode="auto">
            <a:xfrm>
              <a:off x="113" y="2750"/>
              <a:ext cx="2268" cy="268"/>
            </a:xfrm>
            <a:prstGeom prst="rect">
              <a:avLst/>
            </a:prstGeom>
            <a:solidFill>
              <a:srgbClr val="E6E6F2"/>
            </a:solidFill>
            <a:ln w="28575" algn="ctr">
              <a:solidFill>
                <a:srgbClr val="000099"/>
              </a:solidFill>
              <a:miter lim="800000"/>
              <a:headEnd type="none" w="lg" len="lg"/>
              <a:tailEnd/>
            </a:ln>
          </p:spPr>
          <p:txBody>
            <a:bodyPr tIns="46800" bIns="46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endmodule</a:t>
              </a:r>
            </a:p>
          </p:txBody>
        </p:sp>
      </p:grpSp>
      <p:sp>
        <p:nvSpPr>
          <p:cNvPr id="14341" name="Text Box 16"/>
          <p:cNvSpPr txBox="1">
            <a:spLocks noChangeArrowheads="1"/>
          </p:cNvSpPr>
          <p:nvPr/>
        </p:nvSpPr>
        <p:spPr bwMode="auto">
          <a:xfrm>
            <a:off x="255588" y="1143000"/>
            <a:ext cx="3824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always</a:t>
            </a:r>
            <a:r>
              <a:rPr lang="zh-CN" altLang="en-US">
                <a:ea typeface="黑体" panose="02010609060101010101" pitchFamily="49" charset="-122"/>
              </a:rPr>
              <a:t>语句块又称过程块</a:t>
            </a:r>
          </a:p>
        </p:txBody>
      </p:sp>
      <p:sp>
        <p:nvSpPr>
          <p:cNvPr id="14344" name="Text Box 21"/>
          <p:cNvSpPr txBox="1">
            <a:spLocks noChangeArrowheads="1"/>
          </p:cNvSpPr>
          <p:nvPr/>
        </p:nvSpPr>
        <p:spPr bwMode="auto">
          <a:xfrm>
            <a:off x="395287" y="1628800"/>
            <a:ext cx="4537075" cy="1643527"/>
          </a:xfrm>
          <a:prstGeom prst="rect">
            <a:avLst/>
          </a:prstGeom>
          <a:solidFill>
            <a:srgbClr val="CDDD9C"/>
          </a:solidFill>
          <a:ln w="28575" algn="ctr">
            <a:solidFill>
              <a:srgbClr val="99CCCD"/>
            </a:solidFill>
            <a:miter lim="800000"/>
            <a:headEnd/>
            <a:tailEnd/>
          </a:ln>
        </p:spPr>
        <p:txBody>
          <a:bodyPr wrap="square">
            <a:spAutoFit/>
          </a:bodyPr>
          <a:lstStyle>
            <a:defPPr>
              <a:defRPr lang="zh-CN"/>
            </a:defPPr>
            <a:lvl1pPr eaLnBrk="1" hangingPunct="1">
              <a:lnSpc>
                <a:spcPct val="140000"/>
              </a:lnSpc>
              <a:defRPr>
                <a:solidFill>
                  <a:srgbClr val="000032"/>
                </a:solidFill>
                <a:ea typeface="黑体" pitchFamily="2" charset="-122"/>
              </a:defRPr>
            </a:lvl1pPr>
            <a:lvl2pPr eaLnBrk="0" hangingPunct="0">
              <a:defRPr>
                <a:ea typeface="黑体" pitchFamily="2" charset="-122"/>
              </a:defRPr>
            </a:lvl2pPr>
            <a:lvl3pPr eaLnBrk="0" hangingPunct="0">
              <a:defRPr>
                <a:ea typeface="黑体" pitchFamily="2" charset="-122"/>
              </a:defRPr>
            </a:lvl3pPr>
            <a:lvl4pPr eaLnBrk="0" hangingPunct="0">
              <a:defRPr>
                <a:ea typeface="黑体" pitchFamily="2" charset="-122"/>
              </a:defRPr>
            </a:lvl4pPr>
            <a:lvl5pPr eaLnBrk="0" hangingPunct="0">
              <a:defRPr>
                <a:ea typeface="黑体" pitchFamily="2" charset="-122"/>
              </a:defRPr>
            </a:lvl5pPr>
            <a:lvl6pPr>
              <a:defRPr>
                <a:ea typeface="黑体" pitchFamily="2" charset="-122"/>
              </a:defRPr>
            </a:lvl6pPr>
            <a:lvl7pPr>
              <a:defRPr>
                <a:ea typeface="黑体" pitchFamily="2" charset="-122"/>
              </a:defRPr>
            </a:lvl7pPr>
            <a:lvl8pPr>
              <a:defRPr>
                <a:ea typeface="黑体" pitchFamily="2" charset="-122"/>
              </a:defRPr>
            </a:lvl8pPr>
            <a:lvl9pPr>
              <a:defRPr>
                <a:ea typeface="黑体" pitchFamily="2" charset="-122"/>
              </a:defRPr>
            </a:lvl9pPr>
          </a:lstStyle>
          <a:p>
            <a:r>
              <a:rPr lang="zh-CN" altLang="en-US"/>
              <a:t>基本格式：</a:t>
            </a:r>
          </a:p>
          <a:p>
            <a:r>
              <a:rPr lang="en-US" altLang="zh-CN"/>
              <a:t>always @(</a:t>
            </a:r>
            <a:r>
              <a:rPr lang="zh-CN" altLang="en-US"/>
              <a:t>敏感信号条件表</a:t>
            </a:r>
            <a:r>
              <a:rPr lang="en-US" altLang="zh-CN"/>
              <a:t>)</a:t>
            </a:r>
          </a:p>
          <a:p>
            <a:r>
              <a:rPr lang="en-US" altLang="zh-CN"/>
              <a:t>      </a:t>
            </a:r>
            <a:r>
              <a:rPr lang="zh-CN" altLang="en-US"/>
              <a:t>各类顺序语句；    </a:t>
            </a:r>
          </a:p>
        </p:txBody>
      </p:sp>
      <p:sp>
        <p:nvSpPr>
          <p:cNvPr id="14345" name="Text Box 23"/>
          <p:cNvSpPr txBox="1">
            <a:spLocks noChangeArrowheads="1"/>
          </p:cNvSpPr>
          <p:nvPr/>
        </p:nvSpPr>
        <p:spPr bwMode="auto">
          <a:xfrm>
            <a:off x="468313" y="4149725"/>
            <a:ext cx="7991475" cy="25590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61938" indent="-261938"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dirty="0">
                <a:ea typeface="黑体" panose="02010609060101010101" pitchFamily="49" charset="-122"/>
              </a:rPr>
              <a:t>特点：</a:t>
            </a:r>
          </a:p>
          <a:p>
            <a:pPr eaLnBrk="1" hangingPunct="1">
              <a:buFont typeface="Wingdings" panose="05000000000000000000" pitchFamily="2" charset="2"/>
              <a:buChar char="l"/>
            </a:pPr>
            <a:r>
              <a:rPr lang="en-US" altLang="zh-CN" sz="2000" dirty="0">
                <a:ea typeface="黑体" panose="02010609060101010101" pitchFamily="49" charset="-122"/>
              </a:rPr>
              <a:t>always</a:t>
            </a:r>
            <a:r>
              <a:rPr lang="zh-CN" altLang="en-US" sz="2000" dirty="0">
                <a:ea typeface="黑体" panose="02010609060101010101" pitchFamily="49" charset="-122"/>
              </a:rPr>
              <a:t>语句本身不是单一的有意义的一条语句，而是和下面的语句一起构成一个语句块，称之为过程块；过程块中的赋值语句称过程赋值语句；</a:t>
            </a:r>
          </a:p>
          <a:p>
            <a:pPr eaLnBrk="1" hangingPunct="1">
              <a:buFont typeface="Wingdings" panose="05000000000000000000" pitchFamily="2" charset="2"/>
              <a:buChar char="l"/>
            </a:pPr>
            <a:r>
              <a:rPr lang="zh-CN" altLang="en-US" sz="2000" dirty="0">
                <a:ea typeface="黑体" panose="02010609060101010101" pitchFamily="49" charset="-122"/>
              </a:rPr>
              <a:t>该语句块不是总处于激活状态，当满足激活条件时才能被执行，否则被挂起，挂起时即使操作数有变化，也不执行赋值，赋值目标值保持不变；</a:t>
            </a:r>
          </a:p>
          <a:p>
            <a:pPr eaLnBrk="1" hangingPunct="1">
              <a:buFont typeface="Wingdings" panose="05000000000000000000" pitchFamily="2" charset="2"/>
              <a:buChar char="l"/>
            </a:pPr>
            <a:r>
              <a:rPr lang="zh-CN" altLang="en-US" sz="2000" dirty="0">
                <a:ea typeface="黑体" panose="02010609060101010101" pitchFamily="49" charset="-122"/>
              </a:rPr>
              <a:t>赋值目标必须是</a:t>
            </a:r>
            <a:r>
              <a:rPr lang="en-US" altLang="zh-CN" sz="2000" dirty="0">
                <a:ea typeface="黑体" panose="02010609060101010101" pitchFamily="49" charset="-122"/>
              </a:rPr>
              <a:t>reg</a:t>
            </a:r>
            <a:r>
              <a:rPr lang="zh-CN" altLang="en-US" sz="2000" dirty="0">
                <a:ea typeface="黑体" panose="02010609060101010101" pitchFamily="49" charset="-122"/>
              </a:rPr>
              <a:t>型的。</a:t>
            </a:r>
          </a:p>
        </p:txBody>
      </p:sp>
      <p:sp>
        <p:nvSpPr>
          <p:cNvPr id="17" name="Rectangle 11"/>
          <p:cNvSpPr>
            <a:spLocks noChangeArrowheads="1"/>
          </p:cNvSpPr>
          <p:nvPr/>
        </p:nvSpPr>
        <p:spPr bwMode="auto">
          <a:xfrm>
            <a:off x="395288" y="3356992"/>
            <a:ext cx="4248150" cy="738664"/>
          </a:xfrm>
          <a:prstGeom prst="rect">
            <a:avLst/>
          </a:prstGeom>
          <a:solidFill>
            <a:srgbClr val="E3E3F1"/>
          </a:solidFill>
          <a:ln w="28575" algn="ctr">
            <a:noFill/>
            <a:miter lim="800000"/>
            <a:headEnd/>
            <a:tailEnd/>
          </a:ln>
        </p:spPr>
        <p:txBody>
          <a:bodyPr wrap="square">
            <a:spAutoFit/>
          </a:bodyPr>
          <a:lstStyle/>
          <a:p>
            <a:pPr eaLnBrk="1" hangingPunct="1">
              <a:spcBef>
                <a:spcPct val="10000"/>
              </a:spcBef>
            </a:pPr>
            <a:r>
              <a:rPr lang="zh-CN" altLang="en-US" sz="2000" b="1" dirty="0">
                <a:solidFill>
                  <a:srgbClr val="B43000"/>
                </a:solidFill>
              </a:rPr>
              <a:t>例</a:t>
            </a:r>
            <a:r>
              <a:rPr lang="zh-CN" altLang="en-US" sz="2000" b="1" dirty="0" smtClean="0">
                <a:solidFill>
                  <a:srgbClr val="B43000"/>
                </a:solidFill>
              </a:rPr>
              <a:t>： </a:t>
            </a:r>
            <a:r>
              <a:rPr lang="en-US" altLang="zh-CN" sz="2000" b="1" dirty="0" smtClean="0">
                <a:solidFill>
                  <a:srgbClr val="B43000"/>
                </a:solidFill>
              </a:rPr>
              <a:t>always </a:t>
            </a:r>
            <a:r>
              <a:rPr lang="en-US" altLang="zh-CN" sz="2000" b="1" dirty="0">
                <a:solidFill>
                  <a:srgbClr val="B43000"/>
                </a:solidFill>
              </a:rPr>
              <a:t>@ (posedge CLK)</a:t>
            </a:r>
          </a:p>
          <a:p>
            <a:pPr eaLnBrk="1" hangingPunct="1">
              <a:spcBef>
                <a:spcPct val="10000"/>
              </a:spcBef>
            </a:pPr>
            <a:r>
              <a:rPr lang="en-US" altLang="zh-CN" sz="2000" b="1" dirty="0">
                <a:solidFill>
                  <a:srgbClr val="B43000"/>
                </a:solidFill>
              </a:rPr>
              <a:t>    </a:t>
            </a:r>
            <a:r>
              <a:rPr lang="en-US" altLang="zh-CN" sz="2000" b="1" dirty="0" smtClean="0">
                <a:solidFill>
                  <a:srgbClr val="B43000"/>
                </a:solidFill>
              </a:rPr>
              <a:t>  Q=D</a:t>
            </a:r>
            <a:r>
              <a:rPr lang="zh-CN" altLang="en-US" sz="2000" b="1" dirty="0">
                <a:solidFill>
                  <a:srgbClr val="B43000"/>
                </a:solidFill>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p:txBody>
          <a:bodyPr/>
          <a:lstStyle/>
          <a:p>
            <a:pPr eaLnBrk="1" hangingPunct="1"/>
            <a:r>
              <a:rPr lang="en-US" altLang="zh-CN" dirty="0" smtClean="0">
                <a:solidFill>
                  <a:schemeClr val="tx1"/>
                </a:solidFill>
              </a:rPr>
              <a:t>3. always</a:t>
            </a:r>
            <a:r>
              <a:rPr lang="zh-CN" altLang="en-US" dirty="0" smtClean="0">
                <a:solidFill>
                  <a:schemeClr val="tx1"/>
                </a:solidFill>
              </a:rPr>
              <a:t>语句块</a:t>
            </a:r>
          </a:p>
        </p:txBody>
      </p:sp>
      <p:sp>
        <p:nvSpPr>
          <p:cNvPr id="15367" name="Text Box 10"/>
          <p:cNvSpPr txBox="1">
            <a:spLocks noChangeArrowheads="1"/>
          </p:cNvSpPr>
          <p:nvPr/>
        </p:nvSpPr>
        <p:spPr bwMode="auto">
          <a:xfrm>
            <a:off x="683568" y="1268413"/>
            <a:ext cx="7920880" cy="83099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dirty="0" smtClean="0">
                <a:solidFill>
                  <a:schemeClr val="hlink"/>
                </a:solidFill>
                <a:ea typeface="黑体" panose="02010609060101010101" pitchFamily="49" charset="-122"/>
              </a:rPr>
              <a:t>激活条件由敏感信号条件表决定，当敏感条件满足时，过程块被激活。</a:t>
            </a:r>
            <a:endParaRPr lang="zh-CN" altLang="en-US" dirty="0">
              <a:solidFill>
                <a:schemeClr val="hlink"/>
              </a:solidFill>
              <a:ea typeface="黑体" panose="02010609060101010101" pitchFamily="49" charset="-122"/>
            </a:endParaRPr>
          </a:p>
        </p:txBody>
      </p:sp>
      <p:sp>
        <p:nvSpPr>
          <p:cNvPr id="32" name="Text Box 11"/>
          <p:cNvSpPr txBox="1">
            <a:spLocks noChangeArrowheads="1"/>
          </p:cNvSpPr>
          <p:nvPr/>
        </p:nvSpPr>
        <p:spPr bwMode="auto">
          <a:xfrm>
            <a:off x="664096" y="2185135"/>
            <a:ext cx="7653338" cy="603250"/>
          </a:xfrm>
          <a:prstGeom prst="rect">
            <a:avLst/>
          </a:prstGeom>
          <a:solidFill>
            <a:srgbClr val="E3E3F1"/>
          </a:solidFill>
          <a:ln w="28575" algn="ctr">
            <a:noFill/>
            <a:miter lim="800000"/>
            <a:headEnd/>
            <a:tailEnd/>
          </a:ln>
        </p:spPr>
        <p:txBody>
          <a:bodyPr>
            <a:spAutoFit/>
          </a:bodyPr>
          <a:lstStyle/>
          <a:p>
            <a:pPr>
              <a:lnSpc>
                <a:spcPct val="140000"/>
              </a:lnSpc>
              <a:spcBef>
                <a:spcPct val="50000"/>
              </a:spcBef>
            </a:pPr>
            <a:r>
              <a:rPr lang="zh-CN" altLang="en-US" dirty="0">
                <a:solidFill>
                  <a:srgbClr val="000032"/>
                </a:solidFill>
                <a:ea typeface="黑体" pitchFamily="2" charset="-122"/>
              </a:rPr>
              <a:t>敏感条件有两种，一种是边沿敏感，一种是电平敏感。</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5"/>
          <p:cNvSpPr txBox="1">
            <a:spLocks noChangeArrowheads="1"/>
          </p:cNvSpPr>
          <p:nvPr/>
        </p:nvSpPr>
        <p:spPr bwMode="auto">
          <a:xfrm>
            <a:off x="238125" y="4363815"/>
            <a:ext cx="1716088" cy="457200"/>
          </a:xfrm>
          <a:prstGeom prst="rect">
            <a:avLst/>
          </a:prstGeom>
          <a:noFill/>
          <a:ln w="28575" algn="ctr">
            <a:noFill/>
            <a:miter lim="800000"/>
            <a:headEnd/>
            <a:tailEnd/>
          </a:ln>
        </p:spPr>
        <p:txBody>
          <a:bodyPr wrap="none">
            <a:spAutoFit/>
          </a:bodyPr>
          <a:lstStyle/>
          <a:p>
            <a:pPr eaLnBrk="1" hangingPunct="1"/>
            <a:r>
              <a:rPr lang="zh-CN" altLang="en-US" b="1">
                <a:solidFill>
                  <a:srgbClr val="880000"/>
                </a:solidFill>
                <a:latin typeface="+mj-ea"/>
                <a:ea typeface="+mj-ea"/>
              </a:rPr>
              <a:t>电平敏感：</a:t>
            </a:r>
          </a:p>
        </p:txBody>
      </p:sp>
      <p:sp>
        <p:nvSpPr>
          <p:cNvPr id="48132" name="Text Box 6"/>
          <p:cNvSpPr txBox="1">
            <a:spLocks noChangeArrowheads="1"/>
          </p:cNvSpPr>
          <p:nvPr/>
        </p:nvSpPr>
        <p:spPr bwMode="auto">
          <a:xfrm>
            <a:off x="1908175" y="1350740"/>
            <a:ext cx="3311525" cy="631825"/>
          </a:xfrm>
          <a:prstGeom prst="rect">
            <a:avLst/>
          </a:prstGeom>
          <a:solidFill>
            <a:srgbClr val="CDDD9C"/>
          </a:solidFill>
          <a:ln w="28575" algn="ctr">
            <a:solidFill>
              <a:srgbClr val="99CCCD"/>
            </a:solidFill>
            <a:miter lim="800000"/>
            <a:headEnd/>
            <a:tailEnd/>
          </a:ln>
        </p:spPr>
        <p:txBody>
          <a:bodyPr anchor="ctr" anchorCtr="1">
            <a:spAutoFit/>
          </a:bodyPr>
          <a:lstStyle/>
          <a:p>
            <a:pPr eaLnBrk="1" hangingPunct="1">
              <a:lnSpc>
                <a:spcPct val="140000"/>
              </a:lnSpc>
            </a:pPr>
            <a:r>
              <a:rPr lang="en-US" altLang="zh-CN" b="1">
                <a:solidFill>
                  <a:srgbClr val="000032"/>
                </a:solidFill>
                <a:latin typeface="+mj-ea"/>
                <a:ea typeface="+mj-ea"/>
              </a:rPr>
              <a:t>(posedge </a:t>
            </a:r>
            <a:r>
              <a:rPr lang="zh-CN" altLang="en-US" b="1">
                <a:solidFill>
                  <a:srgbClr val="000032"/>
                </a:solidFill>
                <a:latin typeface="+mj-ea"/>
                <a:ea typeface="+mj-ea"/>
              </a:rPr>
              <a:t>信号名</a:t>
            </a:r>
            <a:r>
              <a:rPr lang="en-US" altLang="zh-CN" b="1">
                <a:solidFill>
                  <a:srgbClr val="000032"/>
                </a:solidFill>
                <a:latin typeface="+mj-ea"/>
                <a:ea typeface="+mj-ea"/>
              </a:rPr>
              <a:t>)</a:t>
            </a:r>
          </a:p>
        </p:txBody>
      </p:sp>
      <p:sp>
        <p:nvSpPr>
          <p:cNvPr id="48134" name="Text Box 12"/>
          <p:cNvSpPr txBox="1">
            <a:spLocks noChangeArrowheads="1"/>
          </p:cNvSpPr>
          <p:nvPr/>
        </p:nvSpPr>
        <p:spPr bwMode="auto">
          <a:xfrm>
            <a:off x="250825" y="1196752"/>
            <a:ext cx="1716088" cy="457200"/>
          </a:xfrm>
          <a:prstGeom prst="rect">
            <a:avLst/>
          </a:prstGeom>
          <a:noFill/>
          <a:ln w="28575" algn="ctr">
            <a:noFill/>
            <a:miter lim="800000"/>
            <a:headEnd/>
            <a:tailEnd/>
          </a:ln>
        </p:spPr>
        <p:txBody>
          <a:bodyPr wrap="none">
            <a:spAutoFit/>
          </a:bodyPr>
          <a:lstStyle/>
          <a:p>
            <a:pPr eaLnBrk="1" hangingPunct="1"/>
            <a:r>
              <a:rPr lang="zh-CN" altLang="en-US" b="1">
                <a:solidFill>
                  <a:srgbClr val="880000"/>
                </a:solidFill>
                <a:latin typeface="+mj-ea"/>
                <a:ea typeface="+mj-ea"/>
              </a:rPr>
              <a:t>边沿敏感：</a:t>
            </a:r>
          </a:p>
        </p:txBody>
      </p:sp>
      <p:sp>
        <p:nvSpPr>
          <p:cNvPr id="48135" name="Text Box 13"/>
          <p:cNvSpPr txBox="1">
            <a:spLocks noChangeArrowheads="1"/>
          </p:cNvSpPr>
          <p:nvPr/>
        </p:nvSpPr>
        <p:spPr bwMode="auto">
          <a:xfrm>
            <a:off x="1908175" y="2142902"/>
            <a:ext cx="3241675" cy="631825"/>
          </a:xfrm>
          <a:prstGeom prst="rect">
            <a:avLst/>
          </a:prstGeom>
          <a:solidFill>
            <a:srgbClr val="CDDD9C"/>
          </a:solidFill>
          <a:ln w="28575" algn="ctr">
            <a:solidFill>
              <a:srgbClr val="99CCCD"/>
            </a:solidFill>
            <a:miter lim="800000"/>
            <a:headEnd/>
            <a:tailEnd/>
          </a:ln>
        </p:spPr>
        <p:txBody>
          <a:bodyPr anchor="ctr" anchorCtr="1">
            <a:spAutoFit/>
          </a:bodyPr>
          <a:lstStyle/>
          <a:p>
            <a:pPr eaLnBrk="1" hangingPunct="1">
              <a:lnSpc>
                <a:spcPct val="140000"/>
              </a:lnSpc>
            </a:pPr>
            <a:r>
              <a:rPr lang="en-US" altLang="zh-CN" b="1">
                <a:solidFill>
                  <a:srgbClr val="000032"/>
                </a:solidFill>
                <a:latin typeface="+mj-ea"/>
                <a:ea typeface="+mj-ea"/>
              </a:rPr>
              <a:t>(negedge </a:t>
            </a:r>
            <a:r>
              <a:rPr lang="zh-CN" altLang="en-US" b="1">
                <a:solidFill>
                  <a:srgbClr val="000032"/>
                </a:solidFill>
                <a:latin typeface="+mj-ea"/>
                <a:ea typeface="+mj-ea"/>
              </a:rPr>
              <a:t>信号名</a:t>
            </a:r>
            <a:r>
              <a:rPr lang="en-US" altLang="zh-CN" b="1">
                <a:solidFill>
                  <a:srgbClr val="000032"/>
                </a:solidFill>
                <a:latin typeface="+mj-ea"/>
                <a:ea typeface="+mj-ea"/>
              </a:rPr>
              <a:t>)</a:t>
            </a:r>
          </a:p>
        </p:txBody>
      </p:sp>
      <p:sp>
        <p:nvSpPr>
          <p:cNvPr id="48136" name="Text Box 14"/>
          <p:cNvSpPr txBox="1">
            <a:spLocks noChangeArrowheads="1"/>
          </p:cNvSpPr>
          <p:nvPr/>
        </p:nvSpPr>
        <p:spPr bwMode="auto">
          <a:xfrm>
            <a:off x="1835150" y="4303490"/>
            <a:ext cx="2089150" cy="631825"/>
          </a:xfrm>
          <a:prstGeom prst="rect">
            <a:avLst/>
          </a:prstGeom>
          <a:solidFill>
            <a:srgbClr val="CDDD9C"/>
          </a:solidFill>
          <a:ln w="28575" algn="ctr">
            <a:solidFill>
              <a:srgbClr val="99CCCD"/>
            </a:solidFill>
            <a:miter lim="800000"/>
            <a:headEnd/>
            <a:tailEnd/>
          </a:ln>
        </p:spPr>
        <p:txBody>
          <a:bodyPr anchor="ctr" anchorCtr="1">
            <a:spAutoFit/>
          </a:bodyPr>
          <a:lstStyle/>
          <a:p>
            <a:pPr eaLnBrk="1" hangingPunct="1">
              <a:lnSpc>
                <a:spcPct val="140000"/>
              </a:lnSpc>
            </a:pPr>
            <a:r>
              <a:rPr lang="en-US" altLang="zh-CN" b="1">
                <a:solidFill>
                  <a:srgbClr val="000032"/>
                </a:solidFill>
                <a:latin typeface="+mj-ea"/>
                <a:ea typeface="+mj-ea"/>
              </a:rPr>
              <a:t>(</a:t>
            </a:r>
            <a:r>
              <a:rPr lang="zh-CN" altLang="en-US" b="1">
                <a:solidFill>
                  <a:srgbClr val="000032"/>
                </a:solidFill>
                <a:latin typeface="+mj-ea"/>
                <a:ea typeface="+mj-ea"/>
              </a:rPr>
              <a:t>信号名列表</a:t>
            </a:r>
            <a:r>
              <a:rPr lang="en-US" altLang="zh-CN" b="1">
                <a:solidFill>
                  <a:srgbClr val="000032"/>
                </a:solidFill>
                <a:latin typeface="+mj-ea"/>
                <a:ea typeface="+mj-ea"/>
              </a:rPr>
              <a:t>)</a:t>
            </a:r>
          </a:p>
        </p:txBody>
      </p:sp>
      <p:sp>
        <p:nvSpPr>
          <p:cNvPr id="48137" name="Text Box 15"/>
          <p:cNvSpPr txBox="1">
            <a:spLocks noChangeArrowheads="1"/>
          </p:cNvSpPr>
          <p:nvPr/>
        </p:nvSpPr>
        <p:spPr bwMode="auto">
          <a:xfrm>
            <a:off x="5272088" y="1423765"/>
            <a:ext cx="2328862" cy="457200"/>
          </a:xfrm>
          <a:prstGeom prst="rect">
            <a:avLst/>
          </a:prstGeom>
          <a:noFill/>
          <a:ln w="28575" algn="ctr">
            <a:noFill/>
            <a:miter lim="800000"/>
            <a:headEnd/>
            <a:tailEnd/>
          </a:ln>
        </p:spPr>
        <p:txBody>
          <a:bodyPr wrap="none">
            <a:spAutoFit/>
          </a:bodyPr>
          <a:lstStyle/>
          <a:p>
            <a:pPr eaLnBrk="1" hangingPunct="1"/>
            <a:r>
              <a:rPr lang="zh-CN" altLang="en-US" b="1">
                <a:latin typeface="+mj-ea"/>
                <a:ea typeface="+mj-ea"/>
              </a:rPr>
              <a:t>信号上升沿到来</a:t>
            </a:r>
          </a:p>
        </p:txBody>
      </p:sp>
      <p:sp>
        <p:nvSpPr>
          <p:cNvPr id="48138" name="Text Box 16"/>
          <p:cNvSpPr txBox="1">
            <a:spLocks noChangeArrowheads="1"/>
          </p:cNvSpPr>
          <p:nvPr/>
        </p:nvSpPr>
        <p:spPr bwMode="auto">
          <a:xfrm>
            <a:off x="5292725" y="2215927"/>
            <a:ext cx="2328863" cy="457200"/>
          </a:xfrm>
          <a:prstGeom prst="rect">
            <a:avLst/>
          </a:prstGeom>
          <a:noFill/>
          <a:ln w="28575" algn="ctr">
            <a:noFill/>
            <a:miter lim="800000"/>
            <a:headEnd/>
            <a:tailEnd/>
          </a:ln>
        </p:spPr>
        <p:txBody>
          <a:bodyPr wrap="none">
            <a:spAutoFit/>
          </a:bodyPr>
          <a:lstStyle/>
          <a:p>
            <a:pPr eaLnBrk="1" hangingPunct="1"/>
            <a:r>
              <a:rPr lang="zh-CN" altLang="en-US" b="1">
                <a:latin typeface="+mj-ea"/>
                <a:ea typeface="+mj-ea"/>
              </a:rPr>
              <a:t>信号下降沿到来</a:t>
            </a:r>
          </a:p>
        </p:txBody>
      </p:sp>
      <p:sp>
        <p:nvSpPr>
          <p:cNvPr id="48139" name="Rectangle 17"/>
          <p:cNvSpPr>
            <a:spLocks noChangeArrowheads="1"/>
          </p:cNvSpPr>
          <p:nvPr/>
        </p:nvSpPr>
        <p:spPr bwMode="auto">
          <a:xfrm>
            <a:off x="1908175" y="3068415"/>
            <a:ext cx="2160588" cy="731837"/>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(posedge clk)</a:t>
            </a:r>
            <a:endParaRPr lang="zh-CN" altLang="en-US" sz="2000" b="1">
              <a:solidFill>
                <a:srgbClr val="B43000"/>
              </a:solidFill>
              <a:latin typeface="+mj-ea"/>
              <a:ea typeface="+mj-ea"/>
            </a:endParaRPr>
          </a:p>
        </p:txBody>
      </p:sp>
      <p:sp>
        <p:nvSpPr>
          <p:cNvPr id="48140" name="Rectangle 18"/>
          <p:cNvSpPr>
            <a:spLocks noChangeArrowheads="1"/>
          </p:cNvSpPr>
          <p:nvPr/>
        </p:nvSpPr>
        <p:spPr bwMode="auto">
          <a:xfrm>
            <a:off x="4787900" y="3068415"/>
            <a:ext cx="2160588" cy="731837"/>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(negedge clk)</a:t>
            </a:r>
            <a:endParaRPr lang="zh-CN" altLang="en-US" sz="2000" b="1">
              <a:solidFill>
                <a:srgbClr val="B43000"/>
              </a:solidFill>
              <a:latin typeface="+mj-ea"/>
              <a:ea typeface="+mj-ea"/>
            </a:endParaRPr>
          </a:p>
        </p:txBody>
      </p:sp>
      <p:sp>
        <p:nvSpPr>
          <p:cNvPr id="48141" name="Text Box 19"/>
          <p:cNvSpPr txBox="1">
            <a:spLocks noChangeArrowheads="1"/>
          </p:cNvSpPr>
          <p:nvPr/>
        </p:nvSpPr>
        <p:spPr bwMode="auto">
          <a:xfrm>
            <a:off x="4067175" y="4374927"/>
            <a:ext cx="4473575" cy="457200"/>
          </a:xfrm>
          <a:prstGeom prst="rect">
            <a:avLst/>
          </a:prstGeom>
          <a:noFill/>
          <a:ln w="28575" algn="ctr">
            <a:noFill/>
            <a:miter lim="800000"/>
            <a:headEnd/>
            <a:tailEnd/>
          </a:ln>
        </p:spPr>
        <p:txBody>
          <a:bodyPr wrap="none">
            <a:spAutoFit/>
          </a:bodyPr>
          <a:lstStyle/>
          <a:p>
            <a:pPr eaLnBrk="1" hangingPunct="1"/>
            <a:r>
              <a:rPr lang="zh-CN" altLang="en-US" b="1">
                <a:latin typeface="+mj-ea"/>
                <a:ea typeface="+mj-ea"/>
              </a:rPr>
              <a:t>信号列表中的任一个信号有变化</a:t>
            </a:r>
          </a:p>
        </p:txBody>
      </p:sp>
      <p:sp>
        <p:nvSpPr>
          <p:cNvPr id="48142" name="Rectangle 20"/>
          <p:cNvSpPr>
            <a:spLocks noChangeArrowheads="1"/>
          </p:cNvSpPr>
          <p:nvPr/>
        </p:nvSpPr>
        <p:spPr bwMode="auto">
          <a:xfrm>
            <a:off x="1835150" y="5095652"/>
            <a:ext cx="1441450" cy="731838"/>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(a,b,c)</a:t>
            </a:r>
            <a:endParaRPr lang="zh-CN" altLang="en-US" sz="2000" b="1">
              <a:solidFill>
                <a:srgbClr val="B43000"/>
              </a:solidFill>
              <a:latin typeface="+mj-ea"/>
              <a:ea typeface="+mj-ea"/>
            </a:endParaRPr>
          </a:p>
        </p:txBody>
      </p:sp>
      <p:sp>
        <p:nvSpPr>
          <p:cNvPr id="48143" name="Text Box 21"/>
          <p:cNvSpPr txBox="1">
            <a:spLocks noChangeArrowheads="1"/>
          </p:cNvSpPr>
          <p:nvPr/>
        </p:nvSpPr>
        <p:spPr bwMode="auto">
          <a:xfrm>
            <a:off x="3276600" y="5167090"/>
            <a:ext cx="3756025" cy="457200"/>
          </a:xfrm>
          <a:prstGeom prst="rect">
            <a:avLst/>
          </a:prstGeom>
          <a:noFill/>
          <a:ln w="28575" algn="ctr">
            <a:noFill/>
            <a:miter lim="800000"/>
            <a:headEnd/>
            <a:tailEnd/>
          </a:ln>
        </p:spPr>
        <p:txBody>
          <a:bodyPr wrap="none">
            <a:spAutoFit/>
          </a:bodyPr>
          <a:lstStyle/>
          <a:p>
            <a:pPr eaLnBrk="1" hangingPunct="1"/>
            <a:r>
              <a:rPr lang="zh-CN" altLang="en-US" b="1">
                <a:latin typeface="+mj-ea"/>
                <a:ea typeface="+mj-ea"/>
              </a:rPr>
              <a:t>当</a:t>
            </a:r>
            <a:r>
              <a:rPr lang="en-US" altLang="zh-CN" b="1">
                <a:latin typeface="+mj-ea"/>
                <a:ea typeface="+mj-ea"/>
              </a:rPr>
              <a:t>a,b,c</a:t>
            </a:r>
            <a:r>
              <a:rPr lang="zh-CN" altLang="en-US" b="1">
                <a:latin typeface="+mj-ea"/>
                <a:ea typeface="+mj-ea"/>
              </a:rPr>
              <a:t>中有一个发生变化</a:t>
            </a:r>
          </a:p>
        </p:txBody>
      </p:sp>
      <p:sp>
        <p:nvSpPr>
          <p:cNvPr id="48144" name="Text Box 22"/>
          <p:cNvSpPr txBox="1">
            <a:spLocks noChangeArrowheads="1"/>
          </p:cNvSpPr>
          <p:nvPr/>
        </p:nvSpPr>
        <p:spPr bwMode="auto">
          <a:xfrm>
            <a:off x="3708400" y="5743352"/>
            <a:ext cx="3251200" cy="461665"/>
          </a:xfrm>
          <a:prstGeom prst="rect">
            <a:avLst/>
          </a:prstGeom>
          <a:noFill/>
          <a:ln w="28575" algn="ctr">
            <a:solidFill>
              <a:srgbClr val="880000"/>
            </a:solidFill>
            <a:miter lim="800000"/>
            <a:headEnd/>
            <a:tailEnd/>
          </a:ln>
        </p:spPr>
        <p:txBody>
          <a:bodyPr>
            <a:spAutoFit/>
          </a:bodyPr>
          <a:lstStyle/>
          <a:p>
            <a:pPr eaLnBrk="1" hangingPunct="1"/>
            <a:r>
              <a:rPr lang="zh-CN" altLang="en-US" b="1">
                <a:solidFill>
                  <a:srgbClr val="880000"/>
                </a:solidFill>
                <a:latin typeface="+mj-ea"/>
                <a:ea typeface="+mj-ea"/>
              </a:rPr>
              <a:t>说明</a:t>
            </a:r>
            <a:r>
              <a:rPr lang="en-US" altLang="zh-CN" b="1">
                <a:solidFill>
                  <a:srgbClr val="880000"/>
                </a:solidFill>
                <a:latin typeface="+mj-ea"/>
                <a:ea typeface="+mj-ea"/>
              </a:rPr>
              <a:t>: </a:t>
            </a:r>
            <a:r>
              <a:rPr lang="zh-CN" altLang="en-US" b="1">
                <a:solidFill>
                  <a:srgbClr val="880000"/>
                </a:solidFill>
                <a:latin typeface="+mj-ea"/>
                <a:ea typeface="+mj-ea"/>
              </a:rPr>
              <a:t>逗号可以换成</a:t>
            </a:r>
            <a:r>
              <a:rPr lang="en-US" altLang="zh-CN" b="1">
                <a:solidFill>
                  <a:srgbClr val="880000"/>
                </a:solidFill>
                <a:latin typeface="+mj-ea"/>
                <a:ea typeface="+mj-ea"/>
              </a:rPr>
              <a:t>or</a:t>
            </a:r>
            <a:endParaRPr lang="zh-CN" altLang="en-US" b="1">
              <a:solidFill>
                <a:srgbClr val="880000"/>
              </a:solidFill>
              <a:latin typeface="+mj-ea"/>
              <a:ea typeface="+mj-ea"/>
            </a:endParaRPr>
          </a:p>
        </p:txBody>
      </p:sp>
      <p:sp>
        <p:nvSpPr>
          <p:cNvPr id="48145" name="Rectangle 23"/>
          <p:cNvSpPr>
            <a:spLocks noChangeArrowheads="1"/>
          </p:cNvSpPr>
          <p:nvPr/>
        </p:nvSpPr>
        <p:spPr bwMode="auto">
          <a:xfrm>
            <a:off x="6983413" y="5600477"/>
            <a:ext cx="2160587" cy="731838"/>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(a or b or c)</a:t>
            </a:r>
            <a:endParaRPr lang="zh-CN" altLang="en-US" sz="2000" b="1">
              <a:solidFill>
                <a:srgbClr val="B43000"/>
              </a:solidFill>
              <a:latin typeface="+mj-ea"/>
              <a:ea typeface="+mj-ea"/>
            </a:endParaRPr>
          </a:p>
        </p:txBody>
      </p:sp>
      <p:sp>
        <p:nvSpPr>
          <p:cNvPr id="2" name="标题 1"/>
          <p:cNvSpPr>
            <a:spLocks noGrp="1"/>
          </p:cNvSpPr>
          <p:nvPr>
            <p:ph type="title"/>
          </p:nvPr>
        </p:nvSpPr>
        <p:spPr/>
        <p:txBody>
          <a:bodyPr/>
          <a:lstStyle/>
          <a:p>
            <a:r>
              <a:rPr lang="en-US" altLang="zh-CN" dirty="0">
                <a:solidFill>
                  <a:srgbClr val="000000"/>
                </a:solidFill>
              </a:rPr>
              <a:t>3. always</a:t>
            </a:r>
            <a:r>
              <a:rPr lang="zh-CN" altLang="en-US" dirty="0">
                <a:solidFill>
                  <a:srgbClr val="000000"/>
                </a:solidFill>
              </a:rPr>
              <a:t>语句块</a:t>
            </a:r>
            <a:endParaRPr lang="zh-CN" altLang="en-US" dirty="0"/>
          </a:p>
        </p:txBody>
      </p:sp>
    </p:spTree>
    <p:extLst>
      <p:ext uri="{BB962C8B-B14F-4D97-AF65-F5344CB8AC3E}">
        <p14:creationId xmlns:p14="http://schemas.microsoft.com/office/powerpoint/2010/main" val="31721098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11"/>
          <p:cNvSpPr>
            <a:spLocks noChangeArrowheads="1"/>
          </p:cNvSpPr>
          <p:nvPr/>
        </p:nvSpPr>
        <p:spPr bwMode="auto">
          <a:xfrm>
            <a:off x="395288" y="1124421"/>
            <a:ext cx="3671887" cy="1066800"/>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dirty="0">
                <a:solidFill>
                  <a:srgbClr val="B43000"/>
                </a:solidFill>
                <a:latin typeface="+mj-ea"/>
                <a:ea typeface="+mj-ea"/>
              </a:rPr>
              <a:t>例：</a:t>
            </a:r>
          </a:p>
          <a:p>
            <a:pPr eaLnBrk="1" hangingPunct="1">
              <a:spcBef>
                <a:spcPct val="10000"/>
              </a:spcBef>
            </a:pPr>
            <a:r>
              <a:rPr lang="en-US" altLang="zh-CN" sz="2000" dirty="0">
                <a:solidFill>
                  <a:srgbClr val="B43000"/>
                </a:solidFill>
                <a:latin typeface="+mj-ea"/>
                <a:ea typeface="+mj-ea"/>
              </a:rPr>
              <a:t>always @ (posedge CLK)</a:t>
            </a:r>
          </a:p>
          <a:p>
            <a:pPr eaLnBrk="1" hangingPunct="1">
              <a:spcBef>
                <a:spcPct val="10000"/>
              </a:spcBef>
            </a:pPr>
            <a:r>
              <a:rPr lang="en-US" altLang="zh-CN" sz="2000" dirty="0">
                <a:solidFill>
                  <a:srgbClr val="B43000"/>
                </a:solidFill>
                <a:latin typeface="+mj-ea"/>
                <a:ea typeface="+mj-ea"/>
              </a:rPr>
              <a:t>    Q=D</a:t>
            </a:r>
            <a:r>
              <a:rPr lang="zh-CN" altLang="en-US" sz="2000" dirty="0">
                <a:solidFill>
                  <a:srgbClr val="B43000"/>
                </a:solidFill>
                <a:latin typeface="+mj-ea"/>
                <a:ea typeface="+mj-ea"/>
              </a:rPr>
              <a:t>；</a:t>
            </a:r>
          </a:p>
        </p:txBody>
      </p:sp>
      <p:sp>
        <p:nvSpPr>
          <p:cNvPr id="49156" name="Text Box 13"/>
          <p:cNvSpPr txBox="1">
            <a:spLocks noChangeArrowheads="1"/>
          </p:cNvSpPr>
          <p:nvPr/>
        </p:nvSpPr>
        <p:spPr bwMode="auto">
          <a:xfrm>
            <a:off x="4140200" y="1135534"/>
            <a:ext cx="5003800" cy="1569660"/>
          </a:xfrm>
          <a:prstGeom prst="rect">
            <a:avLst/>
          </a:prstGeom>
          <a:noFill/>
          <a:ln w="28575" algn="ctr">
            <a:noFill/>
            <a:miter lim="800000"/>
            <a:headEnd/>
            <a:tailEnd/>
          </a:ln>
        </p:spPr>
        <p:txBody>
          <a:bodyPr>
            <a:spAutoFit/>
          </a:bodyPr>
          <a:lstStyle/>
          <a:p>
            <a:pPr eaLnBrk="1" hangingPunct="1"/>
            <a:r>
              <a:rPr lang="zh-CN" altLang="en-US">
                <a:latin typeface="+mj-ea"/>
                <a:ea typeface="+mj-ea"/>
              </a:rPr>
              <a:t>当</a:t>
            </a:r>
            <a:r>
              <a:rPr lang="en-US" altLang="zh-CN">
                <a:latin typeface="+mj-ea"/>
                <a:ea typeface="+mj-ea"/>
              </a:rPr>
              <a:t>CLK</a:t>
            </a:r>
            <a:r>
              <a:rPr lang="zh-CN" altLang="en-US">
                <a:latin typeface="+mj-ea"/>
                <a:ea typeface="+mj-ea"/>
              </a:rPr>
              <a:t>上升沿到来时，激活该语句块，将</a:t>
            </a:r>
            <a:r>
              <a:rPr lang="en-US" altLang="zh-CN">
                <a:latin typeface="+mj-ea"/>
                <a:ea typeface="+mj-ea"/>
              </a:rPr>
              <a:t>D</a:t>
            </a:r>
            <a:r>
              <a:rPr lang="zh-CN" altLang="en-US">
                <a:latin typeface="+mj-ea"/>
                <a:ea typeface="+mj-ea"/>
              </a:rPr>
              <a:t>的值赋给</a:t>
            </a:r>
            <a:r>
              <a:rPr lang="en-US" altLang="zh-CN">
                <a:latin typeface="+mj-ea"/>
                <a:ea typeface="+mj-ea"/>
              </a:rPr>
              <a:t>Q</a:t>
            </a:r>
            <a:r>
              <a:rPr lang="zh-CN" altLang="en-US">
                <a:latin typeface="+mj-ea"/>
                <a:ea typeface="+mj-ea"/>
              </a:rPr>
              <a:t>；</a:t>
            </a:r>
          </a:p>
          <a:p>
            <a:pPr eaLnBrk="1" hangingPunct="1"/>
            <a:r>
              <a:rPr lang="zh-CN" altLang="en-US">
                <a:latin typeface="+mj-ea"/>
                <a:ea typeface="+mj-ea"/>
              </a:rPr>
              <a:t>否则，该语句块挂起，即使</a:t>
            </a:r>
            <a:r>
              <a:rPr lang="en-US" altLang="zh-CN">
                <a:latin typeface="+mj-ea"/>
                <a:ea typeface="+mj-ea"/>
              </a:rPr>
              <a:t>D</a:t>
            </a:r>
            <a:r>
              <a:rPr lang="zh-CN" altLang="en-US">
                <a:latin typeface="+mj-ea"/>
                <a:ea typeface="+mj-ea"/>
              </a:rPr>
              <a:t>有变化，</a:t>
            </a:r>
            <a:r>
              <a:rPr lang="en-US" altLang="zh-CN">
                <a:latin typeface="+mj-ea"/>
                <a:ea typeface="+mj-ea"/>
              </a:rPr>
              <a:t>Q</a:t>
            </a:r>
            <a:r>
              <a:rPr lang="zh-CN" altLang="en-US">
                <a:latin typeface="+mj-ea"/>
                <a:ea typeface="+mj-ea"/>
              </a:rPr>
              <a:t>的值也保持不变，直到下一次赋值。</a:t>
            </a:r>
          </a:p>
        </p:txBody>
      </p:sp>
      <p:sp>
        <p:nvSpPr>
          <p:cNvPr id="49157" name="Rectangle 16"/>
          <p:cNvSpPr>
            <a:spLocks noChangeArrowheads="1"/>
          </p:cNvSpPr>
          <p:nvPr/>
        </p:nvSpPr>
        <p:spPr bwMode="auto">
          <a:xfrm>
            <a:off x="395288" y="3932709"/>
            <a:ext cx="3671887" cy="1066800"/>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a:solidFill>
                  <a:srgbClr val="B43000"/>
                </a:solidFill>
                <a:latin typeface="+mj-ea"/>
                <a:ea typeface="+mj-ea"/>
              </a:rPr>
              <a:t>例：</a:t>
            </a:r>
          </a:p>
          <a:p>
            <a:pPr eaLnBrk="1" hangingPunct="1">
              <a:spcBef>
                <a:spcPct val="10000"/>
              </a:spcBef>
            </a:pPr>
            <a:r>
              <a:rPr lang="en-US" altLang="zh-CN" sz="2000">
                <a:solidFill>
                  <a:srgbClr val="B43000"/>
                </a:solidFill>
                <a:latin typeface="+mj-ea"/>
                <a:ea typeface="+mj-ea"/>
              </a:rPr>
              <a:t>always @ (D)</a:t>
            </a:r>
          </a:p>
          <a:p>
            <a:pPr eaLnBrk="1" hangingPunct="1">
              <a:spcBef>
                <a:spcPct val="10000"/>
              </a:spcBef>
            </a:pPr>
            <a:r>
              <a:rPr lang="en-US" altLang="zh-CN" sz="2000">
                <a:solidFill>
                  <a:srgbClr val="B43000"/>
                </a:solidFill>
                <a:latin typeface="+mj-ea"/>
                <a:ea typeface="+mj-ea"/>
              </a:rPr>
              <a:t>    Q=D</a:t>
            </a:r>
            <a:r>
              <a:rPr lang="zh-CN" altLang="en-US" sz="2000">
                <a:solidFill>
                  <a:srgbClr val="B43000"/>
                </a:solidFill>
                <a:latin typeface="+mj-ea"/>
                <a:ea typeface="+mj-ea"/>
              </a:rPr>
              <a:t>；</a:t>
            </a:r>
          </a:p>
        </p:txBody>
      </p:sp>
      <p:sp>
        <p:nvSpPr>
          <p:cNvPr id="49158" name="Text Box 17"/>
          <p:cNvSpPr txBox="1">
            <a:spLocks noChangeArrowheads="1"/>
          </p:cNvSpPr>
          <p:nvPr/>
        </p:nvSpPr>
        <p:spPr bwMode="auto">
          <a:xfrm>
            <a:off x="4140200" y="3932709"/>
            <a:ext cx="5003800" cy="1938992"/>
          </a:xfrm>
          <a:prstGeom prst="rect">
            <a:avLst/>
          </a:prstGeom>
          <a:noFill/>
          <a:ln w="28575" algn="ctr">
            <a:noFill/>
            <a:miter lim="800000"/>
            <a:headEnd/>
            <a:tailEnd/>
          </a:ln>
        </p:spPr>
        <p:txBody>
          <a:bodyPr>
            <a:spAutoFit/>
          </a:bodyPr>
          <a:lstStyle/>
          <a:p>
            <a:pPr eaLnBrk="1" hangingPunct="1"/>
            <a:r>
              <a:rPr lang="zh-CN" altLang="en-US">
                <a:latin typeface="+mj-ea"/>
                <a:ea typeface="+mj-ea"/>
              </a:rPr>
              <a:t>当</a:t>
            </a:r>
            <a:r>
              <a:rPr lang="en-US" altLang="zh-CN">
                <a:latin typeface="+mj-ea"/>
                <a:ea typeface="+mj-ea"/>
              </a:rPr>
              <a:t>D</a:t>
            </a:r>
            <a:r>
              <a:rPr lang="zh-CN" altLang="en-US">
                <a:latin typeface="+mj-ea"/>
                <a:ea typeface="+mj-ea"/>
              </a:rPr>
              <a:t>有变化时（不管是由</a:t>
            </a:r>
            <a:r>
              <a:rPr lang="en-US" altLang="zh-CN">
                <a:latin typeface="+mj-ea"/>
                <a:ea typeface="+mj-ea"/>
              </a:rPr>
              <a:t>1</a:t>
            </a:r>
            <a:r>
              <a:rPr lang="zh-CN" altLang="en-US">
                <a:latin typeface="+mj-ea"/>
                <a:ea typeface="+mj-ea"/>
              </a:rPr>
              <a:t>变</a:t>
            </a:r>
            <a:r>
              <a:rPr lang="en-US" altLang="zh-CN">
                <a:latin typeface="+mj-ea"/>
                <a:ea typeface="+mj-ea"/>
              </a:rPr>
              <a:t>0</a:t>
            </a:r>
            <a:r>
              <a:rPr lang="zh-CN" altLang="en-US">
                <a:latin typeface="+mj-ea"/>
                <a:ea typeface="+mj-ea"/>
              </a:rPr>
              <a:t>还是由</a:t>
            </a:r>
            <a:r>
              <a:rPr lang="en-US" altLang="zh-CN">
                <a:latin typeface="+mj-ea"/>
                <a:ea typeface="+mj-ea"/>
              </a:rPr>
              <a:t>0</a:t>
            </a:r>
            <a:r>
              <a:rPr lang="zh-CN" altLang="en-US">
                <a:latin typeface="+mj-ea"/>
                <a:ea typeface="+mj-ea"/>
              </a:rPr>
              <a:t>变</a:t>
            </a:r>
            <a:r>
              <a:rPr lang="en-US" altLang="zh-CN">
                <a:latin typeface="+mj-ea"/>
                <a:ea typeface="+mj-ea"/>
              </a:rPr>
              <a:t>1</a:t>
            </a:r>
            <a:r>
              <a:rPr lang="zh-CN" altLang="en-US">
                <a:latin typeface="+mj-ea"/>
                <a:ea typeface="+mj-ea"/>
              </a:rPr>
              <a:t>），激活该语句块，将</a:t>
            </a:r>
            <a:r>
              <a:rPr lang="en-US" altLang="zh-CN">
                <a:latin typeface="+mj-ea"/>
                <a:ea typeface="+mj-ea"/>
              </a:rPr>
              <a:t>D</a:t>
            </a:r>
            <a:r>
              <a:rPr lang="zh-CN" altLang="en-US">
                <a:latin typeface="+mj-ea"/>
                <a:ea typeface="+mj-ea"/>
              </a:rPr>
              <a:t>的值赋给</a:t>
            </a:r>
            <a:r>
              <a:rPr lang="en-US" altLang="zh-CN">
                <a:latin typeface="+mj-ea"/>
                <a:ea typeface="+mj-ea"/>
              </a:rPr>
              <a:t>Q</a:t>
            </a:r>
            <a:r>
              <a:rPr lang="zh-CN" altLang="en-US">
                <a:latin typeface="+mj-ea"/>
                <a:ea typeface="+mj-ea"/>
              </a:rPr>
              <a:t>；</a:t>
            </a:r>
          </a:p>
          <a:p>
            <a:pPr eaLnBrk="1" hangingPunct="1"/>
            <a:r>
              <a:rPr lang="zh-CN" altLang="en-US">
                <a:latin typeface="+mj-ea"/>
                <a:ea typeface="+mj-ea"/>
              </a:rPr>
              <a:t>否则，该语句块挂起，</a:t>
            </a:r>
            <a:r>
              <a:rPr lang="en-US" altLang="zh-CN">
                <a:latin typeface="+mj-ea"/>
                <a:ea typeface="+mj-ea"/>
              </a:rPr>
              <a:t>Q</a:t>
            </a:r>
            <a:r>
              <a:rPr lang="zh-CN" altLang="en-US">
                <a:latin typeface="+mj-ea"/>
                <a:ea typeface="+mj-ea"/>
              </a:rPr>
              <a:t>的值保持不变，直到下一次赋值。</a:t>
            </a:r>
          </a:p>
        </p:txBody>
      </p:sp>
      <p:sp>
        <p:nvSpPr>
          <p:cNvPr id="49159" name="Text Box 20"/>
          <p:cNvSpPr txBox="1">
            <a:spLocks noChangeArrowheads="1"/>
          </p:cNvSpPr>
          <p:nvPr/>
        </p:nvSpPr>
        <p:spPr bwMode="auto">
          <a:xfrm>
            <a:off x="974725" y="2419821"/>
            <a:ext cx="301686" cy="590931"/>
          </a:xfrm>
          <a:prstGeom prst="rect">
            <a:avLst/>
          </a:prstGeom>
          <a:noFill/>
          <a:ln w="9525">
            <a:noFill/>
            <a:miter lim="800000"/>
            <a:headEnd/>
            <a:tailEnd/>
          </a:ln>
        </p:spPr>
        <p:txBody>
          <a:bodyPr wrap="none">
            <a:spAutoFit/>
          </a:bodyPr>
          <a:lstStyle/>
          <a:p>
            <a:pPr eaLnBrk="1" hangingPunct="1">
              <a:lnSpc>
                <a:spcPct val="90000"/>
              </a:lnSpc>
            </a:pPr>
            <a:r>
              <a:rPr lang="en-US" altLang="zh-CN" sz="1800">
                <a:latin typeface="+mj-ea"/>
                <a:ea typeface="+mj-ea"/>
              </a:rPr>
              <a:t>D</a:t>
            </a:r>
          </a:p>
          <a:p>
            <a:pPr eaLnBrk="1" hangingPunct="1">
              <a:lnSpc>
                <a:spcPct val="90000"/>
              </a:lnSpc>
            </a:pPr>
            <a:endParaRPr lang="zh-CN" altLang="en-US" sz="1800">
              <a:latin typeface="+mj-ea"/>
              <a:ea typeface="+mj-ea"/>
            </a:endParaRPr>
          </a:p>
        </p:txBody>
      </p:sp>
      <p:sp>
        <p:nvSpPr>
          <p:cNvPr id="49160" name="Rectangle 21"/>
          <p:cNvSpPr>
            <a:spLocks noChangeArrowheads="1"/>
          </p:cNvSpPr>
          <p:nvPr/>
        </p:nvSpPr>
        <p:spPr bwMode="auto">
          <a:xfrm>
            <a:off x="2773363" y="2430934"/>
            <a:ext cx="301686" cy="369332"/>
          </a:xfrm>
          <a:prstGeom prst="rect">
            <a:avLst/>
          </a:prstGeom>
          <a:noFill/>
          <a:ln w="9525">
            <a:noFill/>
            <a:miter lim="800000"/>
            <a:headEnd/>
            <a:tailEnd/>
          </a:ln>
        </p:spPr>
        <p:txBody>
          <a:bodyPr wrap="none">
            <a:spAutoFit/>
          </a:bodyPr>
          <a:lstStyle/>
          <a:p>
            <a:pPr eaLnBrk="1" hangingPunct="1"/>
            <a:r>
              <a:rPr lang="en-US" altLang="zh-CN" sz="1800">
                <a:latin typeface="+mj-ea"/>
                <a:ea typeface="+mj-ea"/>
              </a:rPr>
              <a:t>Q</a:t>
            </a:r>
          </a:p>
        </p:txBody>
      </p:sp>
      <p:sp>
        <p:nvSpPr>
          <p:cNvPr id="49161" name="Rectangle 22"/>
          <p:cNvSpPr>
            <a:spLocks noChangeArrowheads="1"/>
          </p:cNvSpPr>
          <p:nvPr/>
        </p:nvSpPr>
        <p:spPr bwMode="auto">
          <a:xfrm>
            <a:off x="1981200" y="2448396"/>
            <a:ext cx="576263" cy="792163"/>
          </a:xfrm>
          <a:prstGeom prst="rect">
            <a:avLst/>
          </a:prstGeom>
          <a:solidFill>
            <a:srgbClr val="CDFFF2"/>
          </a:solidFill>
          <a:ln w="28575">
            <a:solidFill>
              <a:srgbClr val="00A87C"/>
            </a:solidFill>
            <a:miter lim="800000"/>
            <a:headEnd/>
            <a:tailEnd/>
          </a:ln>
        </p:spPr>
        <p:txBody>
          <a:bodyPr wrap="none" anchor="ctr"/>
          <a:lstStyle/>
          <a:p>
            <a:pPr eaLnBrk="1" hangingPunct="1"/>
            <a:endParaRPr lang="zh-CN" altLang="en-US">
              <a:latin typeface="+mj-ea"/>
              <a:ea typeface="+mj-ea"/>
            </a:endParaRPr>
          </a:p>
        </p:txBody>
      </p:sp>
      <p:sp>
        <p:nvSpPr>
          <p:cNvPr id="49162" name="Line 23"/>
          <p:cNvSpPr>
            <a:spLocks noChangeShapeType="1"/>
          </p:cNvSpPr>
          <p:nvPr/>
        </p:nvSpPr>
        <p:spPr bwMode="auto">
          <a:xfrm>
            <a:off x="2557463" y="2651596"/>
            <a:ext cx="287337" cy="0"/>
          </a:xfrm>
          <a:prstGeom prst="line">
            <a:avLst/>
          </a:prstGeom>
          <a:noFill/>
          <a:ln w="38100">
            <a:solidFill>
              <a:srgbClr val="00A87C"/>
            </a:solidFill>
            <a:round/>
            <a:headEnd/>
            <a:tailEnd/>
          </a:ln>
        </p:spPr>
        <p:txBody>
          <a:bodyPr/>
          <a:lstStyle/>
          <a:p>
            <a:endParaRPr lang="zh-CN" altLang="en-US">
              <a:latin typeface="+mj-ea"/>
              <a:ea typeface="+mj-ea"/>
            </a:endParaRPr>
          </a:p>
        </p:txBody>
      </p:sp>
      <p:sp>
        <p:nvSpPr>
          <p:cNvPr id="49163" name="Text Box 24"/>
          <p:cNvSpPr txBox="1">
            <a:spLocks noChangeArrowheads="1"/>
          </p:cNvSpPr>
          <p:nvPr/>
        </p:nvSpPr>
        <p:spPr bwMode="auto">
          <a:xfrm>
            <a:off x="1917700" y="2456334"/>
            <a:ext cx="301686" cy="369332"/>
          </a:xfrm>
          <a:prstGeom prst="rect">
            <a:avLst/>
          </a:prstGeom>
          <a:noFill/>
          <a:ln w="9525">
            <a:noFill/>
            <a:miter lim="800000"/>
            <a:headEnd/>
            <a:tailEnd/>
          </a:ln>
        </p:spPr>
        <p:txBody>
          <a:bodyPr wrap="none">
            <a:spAutoFit/>
          </a:bodyPr>
          <a:lstStyle/>
          <a:p>
            <a:pPr eaLnBrk="1" hangingPunct="1"/>
            <a:r>
              <a:rPr lang="en-US" altLang="zh-CN" sz="1800">
                <a:latin typeface="+mj-ea"/>
                <a:ea typeface="+mj-ea"/>
              </a:rPr>
              <a:t>D</a:t>
            </a:r>
          </a:p>
        </p:txBody>
      </p:sp>
      <p:sp>
        <p:nvSpPr>
          <p:cNvPr id="49164" name="Freeform 25"/>
          <p:cNvSpPr>
            <a:spLocks/>
          </p:cNvSpPr>
          <p:nvPr/>
        </p:nvSpPr>
        <p:spPr bwMode="auto">
          <a:xfrm>
            <a:off x="1968500" y="2999259"/>
            <a:ext cx="144463" cy="142875"/>
          </a:xfrm>
          <a:custGeom>
            <a:avLst/>
            <a:gdLst>
              <a:gd name="T0" fmla="*/ 0 w 91"/>
              <a:gd name="T1" fmla="*/ 0 h 90"/>
              <a:gd name="T2" fmla="*/ 2147483647 w 91"/>
              <a:gd name="T3" fmla="*/ 2147483647 h 90"/>
              <a:gd name="T4" fmla="*/ 0 w 91"/>
              <a:gd name="T5" fmla="*/ 2147483647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0" y="0"/>
                </a:moveTo>
                <a:lnTo>
                  <a:pt x="91" y="45"/>
                </a:lnTo>
                <a:lnTo>
                  <a:pt x="0" y="90"/>
                </a:lnTo>
              </a:path>
            </a:pathLst>
          </a:custGeom>
          <a:noFill/>
          <a:ln w="38100">
            <a:solidFill>
              <a:srgbClr val="00A87C"/>
            </a:solidFill>
            <a:round/>
            <a:headEnd/>
            <a:tailEnd/>
          </a:ln>
        </p:spPr>
        <p:txBody>
          <a:bodyPr/>
          <a:lstStyle/>
          <a:p>
            <a:endParaRPr lang="zh-CN" altLang="en-US">
              <a:latin typeface="+mj-ea"/>
              <a:ea typeface="+mj-ea"/>
            </a:endParaRPr>
          </a:p>
        </p:txBody>
      </p:sp>
      <p:sp>
        <p:nvSpPr>
          <p:cNvPr id="49165" name="Text Box 26"/>
          <p:cNvSpPr txBox="1">
            <a:spLocks noChangeArrowheads="1"/>
          </p:cNvSpPr>
          <p:nvPr/>
        </p:nvSpPr>
        <p:spPr bwMode="auto">
          <a:xfrm>
            <a:off x="827088" y="2892896"/>
            <a:ext cx="955675" cy="366713"/>
          </a:xfrm>
          <a:prstGeom prst="rect">
            <a:avLst/>
          </a:prstGeom>
          <a:noFill/>
          <a:ln w="9525">
            <a:noFill/>
            <a:miter lim="800000"/>
            <a:headEnd/>
            <a:tailEnd/>
          </a:ln>
        </p:spPr>
        <p:txBody>
          <a:bodyPr>
            <a:spAutoFit/>
          </a:bodyPr>
          <a:lstStyle/>
          <a:p>
            <a:pPr eaLnBrk="1" hangingPunct="1">
              <a:spcBef>
                <a:spcPct val="50000"/>
              </a:spcBef>
            </a:pPr>
            <a:r>
              <a:rPr lang="en-US" altLang="zh-CN" sz="1800">
                <a:latin typeface="+mj-ea"/>
                <a:ea typeface="+mj-ea"/>
              </a:rPr>
              <a:t>CLK</a:t>
            </a:r>
          </a:p>
        </p:txBody>
      </p:sp>
      <p:sp>
        <p:nvSpPr>
          <p:cNvPr id="49166" name="Rectangle 27"/>
          <p:cNvSpPr>
            <a:spLocks noChangeArrowheads="1"/>
          </p:cNvSpPr>
          <p:nvPr/>
        </p:nvSpPr>
        <p:spPr bwMode="auto">
          <a:xfrm>
            <a:off x="2247900" y="2451571"/>
            <a:ext cx="301686" cy="369332"/>
          </a:xfrm>
          <a:prstGeom prst="rect">
            <a:avLst/>
          </a:prstGeom>
          <a:noFill/>
          <a:ln w="9525">
            <a:noFill/>
            <a:miter lim="800000"/>
            <a:headEnd/>
            <a:tailEnd/>
          </a:ln>
        </p:spPr>
        <p:txBody>
          <a:bodyPr wrap="none">
            <a:spAutoFit/>
          </a:bodyPr>
          <a:lstStyle/>
          <a:p>
            <a:pPr eaLnBrk="1" hangingPunct="1"/>
            <a:r>
              <a:rPr lang="en-US" altLang="zh-CN" sz="1800">
                <a:latin typeface="+mj-ea"/>
                <a:ea typeface="+mj-ea"/>
              </a:rPr>
              <a:t>Q</a:t>
            </a:r>
          </a:p>
        </p:txBody>
      </p:sp>
      <p:sp>
        <p:nvSpPr>
          <p:cNvPr id="49167" name="Line 28"/>
          <p:cNvSpPr>
            <a:spLocks noChangeShapeType="1"/>
          </p:cNvSpPr>
          <p:nvPr/>
        </p:nvSpPr>
        <p:spPr bwMode="auto">
          <a:xfrm>
            <a:off x="1398588" y="2607146"/>
            <a:ext cx="576262" cy="0"/>
          </a:xfrm>
          <a:prstGeom prst="line">
            <a:avLst/>
          </a:prstGeom>
          <a:noFill/>
          <a:ln w="38100">
            <a:solidFill>
              <a:srgbClr val="00A87C"/>
            </a:solidFill>
            <a:round/>
            <a:headEnd/>
            <a:tailEnd/>
          </a:ln>
        </p:spPr>
        <p:txBody>
          <a:bodyPr/>
          <a:lstStyle/>
          <a:p>
            <a:endParaRPr lang="zh-CN" altLang="en-US">
              <a:latin typeface="+mj-ea"/>
              <a:ea typeface="+mj-ea"/>
            </a:endParaRPr>
          </a:p>
        </p:txBody>
      </p:sp>
      <p:sp>
        <p:nvSpPr>
          <p:cNvPr id="49168" name="Line 29"/>
          <p:cNvSpPr>
            <a:spLocks noChangeShapeType="1"/>
          </p:cNvSpPr>
          <p:nvPr/>
        </p:nvSpPr>
        <p:spPr bwMode="auto">
          <a:xfrm>
            <a:off x="1385888" y="3064346"/>
            <a:ext cx="576262" cy="0"/>
          </a:xfrm>
          <a:prstGeom prst="line">
            <a:avLst/>
          </a:prstGeom>
          <a:noFill/>
          <a:ln w="38100">
            <a:solidFill>
              <a:srgbClr val="00A87C"/>
            </a:solidFill>
            <a:round/>
            <a:headEnd/>
            <a:tailEnd/>
          </a:ln>
        </p:spPr>
        <p:txBody>
          <a:bodyPr/>
          <a:lstStyle/>
          <a:p>
            <a:endParaRPr lang="zh-CN" altLang="en-US">
              <a:latin typeface="+mj-ea"/>
              <a:ea typeface="+mj-ea"/>
            </a:endParaRPr>
          </a:p>
        </p:txBody>
      </p:sp>
      <p:grpSp>
        <p:nvGrpSpPr>
          <p:cNvPr id="49169" name="Group 33"/>
          <p:cNvGrpSpPr>
            <a:grpSpLocks/>
          </p:cNvGrpSpPr>
          <p:nvPr/>
        </p:nvGrpSpPr>
        <p:grpSpPr bwMode="auto">
          <a:xfrm>
            <a:off x="611188" y="5156671"/>
            <a:ext cx="1635125" cy="936625"/>
            <a:chOff x="794" y="3385"/>
            <a:chExt cx="1030" cy="590"/>
          </a:xfrm>
        </p:grpSpPr>
        <p:grpSp>
          <p:nvGrpSpPr>
            <p:cNvPr id="49170" name="Group 34"/>
            <p:cNvGrpSpPr>
              <a:grpSpLocks/>
            </p:cNvGrpSpPr>
            <p:nvPr/>
          </p:nvGrpSpPr>
          <p:grpSpPr bwMode="auto">
            <a:xfrm>
              <a:off x="1020" y="3385"/>
              <a:ext cx="635" cy="590"/>
              <a:chOff x="1020" y="3385"/>
              <a:chExt cx="635" cy="590"/>
            </a:xfrm>
          </p:grpSpPr>
          <p:pic>
            <p:nvPicPr>
              <p:cNvPr id="49173" name="Picture 35"/>
              <p:cNvPicPr>
                <a:picLocks noChangeAspect="1" noChangeArrowheads="1"/>
              </p:cNvPicPr>
              <p:nvPr/>
            </p:nvPicPr>
            <p:blipFill>
              <a:blip r:embed="rId3" cstate="print"/>
              <a:srcRect l="18773" t="14218" r="65622" b="64339"/>
              <a:stretch>
                <a:fillRect/>
              </a:stretch>
            </p:blipFill>
            <p:spPr bwMode="auto">
              <a:xfrm rot="-5400000">
                <a:off x="904" y="3501"/>
                <a:ext cx="590" cy="357"/>
              </a:xfrm>
              <a:prstGeom prst="rect">
                <a:avLst/>
              </a:prstGeom>
              <a:noFill/>
              <a:ln w="9525">
                <a:noFill/>
                <a:miter lim="800000"/>
                <a:headEnd/>
                <a:tailEnd/>
              </a:ln>
            </p:spPr>
          </p:pic>
          <p:sp>
            <p:nvSpPr>
              <p:cNvPr id="49174" name="Line 36"/>
              <p:cNvSpPr>
                <a:spLocks noChangeShapeType="1"/>
              </p:cNvSpPr>
              <p:nvPr/>
            </p:nvSpPr>
            <p:spPr bwMode="auto">
              <a:xfrm>
                <a:off x="1383" y="3693"/>
                <a:ext cx="272" cy="0"/>
              </a:xfrm>
              <a:prstGeom prst="line">
                <a:avLst/>
              </a:prstGeom>
              <a:noFill/>
              <a:ln w="38100">
                <a:solidFill>
                  <a:schemeClr val="tx1"/>
                </a:solidFill>
                <a:round/>
                <a:headEnd/>
                <a:tailEnd/>
              </a:ln>
            </p:spPr>
            <p:txBody>
              <a:bodyPr/>
              <a:lstStyle/>
              <a:p>
                <a:endParaRPr lang="zh-CN" altLang="en-US">
                  <a:latin typeface="+mj-ea"/>
                  <a:ea typeface="+mj-ea"/>
                </a:endParaRPr>
              </a:p>
            </p:txBody>
          </p:sp>
        </p:grpSp>
        <p:sp>
          <p:nvSpPr>
            <p:cNvPr id="49171" name="Text Box 37"/>
            <p:cNvSpPr txBox="1">
              <a:spLocks noChangeArrowheads="1"/>
            </p:cNvSpPr>
            <p:nvPr/>
          </p:nvSpPr>
          <p:spPr bwMode="auto">
            <a:xfrm>
              <a:off x="794" y="3530"/>
              <a:ext cx="214" cy="291"/>
            </a:xfrm>
            <a:prstGeom prst="rect">
              <a:avLst/>
            </a:prstGeom>
            <a:noFill/>
            <a:ln w="9525">
              <a:noFill/>
              <a:miter lim="800000"/>
              <a:headEnd/>
              <a:tailEnd/>
            </a:ln>
          </p:spPr>
          <p:txBody>
            <a:bodyPr wrap="none">
              <a:spAutoFit/>
            </a:bodyPr>
            <a:lstStyle/>
            <a:p>
              <a:pPr eaLnBrk="1" hangingPunct="1"/>
              <a:r>
                <a:rPr lang="en-US" altLang="zh-CN">
                  <a:latin typeface="+mj-ea"/>
                  <a:ea typeface="+mj-ea"/>
                </a:rPr>
                <a:t>D</a:t>
              </a:r>
            </a:p>
          </p:txBody>
        </p:sp>
        <p:sp>
          <p:nvSpPr>
            <p:cNvPr id="49172" name="Text Box 38"/>
            <p:cNvSpPr txBox="1">
              <a:spLocks noChangeArrowheads="1"/>
            </p:cNvSpPr>
            <p:nvPr/>
          </p:nvSpPr>
          <p:spPr bwMode="auto">
            <a:xfrm>
              <a:off x="1610" y="3521"/>
              <a:ext cx="214" cy="291"/>
            </a:xfrm>
            <a:prstGeom prst="rect">
              <a:avLst/>
            </a:prstGeom>
            <a:noFill/>
            <a:ln w="9525">
              <a:noFill/>
              <a:miter lim="800000"/>
              <a:headEnd/>
              <a:tailEnd/>
            </a:ln>
          </p:spPr>
          <p:txBody>
            <a:bodyPr wrap="none">
              <a:spAutoFit/>
            </a:bodyPr>
            <a:lstStyle/>
            <a:p>
              <a:pPr eaLnBrk="1" hangingPunct="1"/>
              <a:r>
                <a:rPr lang="en-US" altLang="zh-CN">
                  <a:latin typeface="+mj-ea"/>
                  <a:ea typeface="+mj-ea"/>
                </a:rPr>
                <a:t>Q</a:t>
              </a:r>
            </a:p>
          </p:txBody>
        </p:sp>
      </p:grpSp>
      <p:sp>
        <p:nvSpPr>
          <p:cNvPr id="2" name="标题 1"/>
          <p:cNvSpPr>
            <a:spLocks noGrp="1"/>
          </p:cNvSpPr>
          <p:nvPr>
            <p:ph type="title"/>
          </p:nvPr>
        </p:nvSpPr>
        <p:spPr/>
        <p:txBody>
          <a:bodyPr/>
          <a:lstStyle/>
          <a:p>
            <a:r>
              <a:rPr lang="en-US" altLang="zh-CN" dirty="0" smtClean="0">
                <a:solidFill>
                  <a:srgbClr val="000000"/>
                </a:solidFill>
              </a:rPr>
              <a:t>3. always</a:t>
            </a:r>
            <a:r>
              <a:rPr lang="zh-CN" altLang="en-US" dirty="0" smtClean="0">
                <a:solidFill>
                  <a:srgbClr val="000000"/>
                </a:solidFill>
              </a:rPr>
              <a:t>语句块</a:t>
            </a:r>
            <a:endParaRPr lang="zh-CN" altLang="en-US" dirty="0"/>
          </a:p>
        </p:txBody>
      </p:sp>
    </p:spTree>
    <p:extLst>
      <p:ext uri="{BB962C8B-B14F-4D97-AF65-F5344CB8AC3E}">
        <p14:creationId xmlns:p14="http://schemas.microsoft.com/office/powerpoint/2010/main" val="26271507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24"/>
          <p:cNvSpPr txBox="1">
            <a:spLocks noChangeArrowheads="1"/>
          </p:cNvSpPr>
          <p:nvPr/>
        </p:nvSpPr>
        <p:spPr bwMode="auto">
          <a:xfrm>
            <a:off x="539750" y="1073869"/>
            <a:ext cx="8247063" cy="2751138"/>
          </a:xfrm>
          <a:prstGeom prst="rect">
            <a:avLst/>
          </a:prstGeom>
          <a:noFill/>
          <a:ln w="28575">
            <a:solidFill>
              <a:srgbClr val="FF0000"/>
            </a:solidFill>
            <a:miter lim="800000"/>
            <a:headEnd/>
            <a:tailEnd/>
          </a:ln>
        </p:spPr>
        <p:txBody>
          <a:bodyPr>
            <a:spAutoFit/>
          </a:bodyPr>
          <a:lstStyle/>
          <a:p>
            <a:pPr marL="261938" indent="-261938" eaLnBrk="1" hangingPunct="1">
              <a:lnSpc>
                <a:spcPct val="120000"/>
              </a:lnSpc>
              <a:buFont typeface="Wingdings" pitchFamily="2" charset="2"/>
              <a:buNone/>
            </a:pPr>
            <a:r>
              <a:rPr lang="zh-CN" altLang="en-US" b="1">
                <a:solidFill>
                  <a:srgbClr val="000000"/>
                </a:solidFill>
                <a:latin typeface="+mj-ea"/>
                <a:ea typeface="+mj-ea"/>
              </a:rPr>
              <a:t>说明：</a:t>
            </a:r>
          </a:p>
          <a:p>
            <a:pPr marL="261938" indent="-261938" eaLnBrk="1" hangingPunct="1">
              <a:lnSpc>
                <a:spcPct val="120000"/>
              </a:lnSpc>
              <a:buClr>
                <a:srgbClr val="C00000"/>
              </a:buClr>
              <a:buFont typeface="Wingdings" pitchFamily="2" charset="2"/>
              <a:buChar char="l"/>
            </a:pPr>
            <a:r>
              <a:rPr lang="zh-CN" altLang="en-US" b="1">
                <a:solidFill>
                  <a:srgbClr val="000000"/>
                </a:solidFill>
                <a:latin typeface="+mj-ea"/>
                <a:ea typeface="+mj-ea"/>
              </a:rPr>
              <a:t>过程块中的赋值目标必须是</a:t>
            </a:r>
            <a:r>
              <a:rPr lang="en-US" altLang="zh-CN" b="1">
                <a:solidFill>
                  <a:srgbClr val="000000"/>
                </a:solidFill>
                <a:latin typeface="+mj-ea"/>
                <a:ea typeface="+mj-ea"/>
              </a:rPr>
              <a:t>reg</a:t>
            </a:r>
            <a:r>
              <a:rPr lang="zh-CN" altLang="en-US" b="1">
                <a:solidFill>
                  <a:srgbClr val="000000"/>
                </a:solidFill>
                <a:latin typeface="+mj-ea"/>
                <a:ea typeface="+mj-ea"/>
              </a:rPr>
              <a:t>型的。</a:t>
            </a:r>
            <a:endParaRPr lang="en-US" altLang="zh-CN" b="1">
              <a:solidFill>
                <a:srgbClr val="000000"/>
              </a:solidFill>
              <a:latin typeface="+mj-ea"/>
              <a:ea typeface="+mj-ea"/>
            </a:endParaRPr>
          </a:p>
          <a:p>
            <a:pPr marL="261938" indent="-261938" eaLnBrk="1" hangingPunct="1">
              <a:lnSpc>
                <a:spcPct val="120000"/>
              </a:lnSpc>
              <a:buClr>
                <a:srgbClr val="C00000"/>
              </a:buClr>
              <a:buFont typeface="Wingdings" pitchFamily="2" charset="2"/>
              <a:buChar char="l"/>
            </a:pPr>
            <a:r>
              <a:rPr lang="zh-CN" altLang="en-US" b="1">
                <a:solidFill>
                  <a:srgbClr val="000000"/>
                </a:solidFill>
                <a:latin typeface="+mj-ea"/>
                <a:ea typeface="+mj-ea"/>
              </a:rPr>
              <a:t>由于</a:t>
            </a:r>
            <a:r>
              <a:rPr lang="en-US" altLang="zh-CN" b="1">
                <a:solidFill>
                  <a:srgbClr val="000000"/>
                </a:solidFill>
                <a:latin typeface="+mj-ea"/>
                <a:ea typeface="+mj-ea"/>
              </a:rPr>
              <a:t>always</a:t>
            </a:r>
            <a:r>
              <a:rPr lang="zh-CN" altLang="en-US" b="1">
                <a:solidFill>
                  <a:srgbClr val="000000"/>
                </a:solidFill>
                <a:latin typeface="+mj-ea"/>
                <a:ea typeface="+mj-ea"/>
              </a:rPr>
              <a:t>语句可以描述边沿变化，在设计时序电路中得到广泛应用。</a:t>
            </a:r>
            <a:endParaRPr lang="en-US" altLang="zh-CN" b="1">
              <a:solidFill>
                <a:srgbClr val="000000"/>
              </a:solidFill>
              <a:latin typeface="+mj-ea"/>
              <a:ea typeface="+mj-ea"/>
            </a:endParaRPr>
          </a:p>
          <a:p>
            <a:pPr marL="261938" indent="-261938" eaLnBrk="1" hangingPunct="1">
              <a:lnSpc>
                <a:spcPct val="120000"/>
              </a:lnSpc>
              <a:buClr>
                <a:srgbClr val="C00000"/>
              </a:buClr>
              <a:buFont typeface="Wingdings" pitchFamily="2" charset="2"/>
              <a:buChar char="l"/>
            </a:pPr>
            <a:r>
              <a:rPr lang="en-US" altLang="zh-CN" b="1">
                <a:solidFill>
                  <a:srgbClr val="000000"/>
                </a:solidFill>
                <a:latin typeface="+mj-ea"/>
                <a:ea typeface="+mj-ea"/>
              </a:rPr>
              <a:t>always</a:t>
            </a:r>
            <a:r>
              <a:rPr lang="zh-CN" altLang="en-US" b="1">
                <a:solidFill>
                  <a:srgbClr val="000000"/>
                </a:solidFill>
                <a:latin typeface="+mj-ea"/>
                <a:ea typeface="+mj-ea"/>
              </a:rPr>
              <a:t>语句中还可以使用</a:t>
            </a:r>
            <a:r>
              <a:rPr lang="en-US" altLang="zh-CN" b="1">
                <a:solidFill>
                  <a:srgbClr val="000000"/>
                </a:solidFill>
                <a:latin typeface="+mj-ea"/>
                <a:ea typeface="+mj-ea"/>
              </a:rPr>
              <a:t>if</a:t>
            </a:r>
            <a:r>
              <a:rPr lang="zh-CN" altLang="en-US" b="1">
                <a:solidFill>
                  <a:srgbClr val="000000"/>
                </a:solidFill>
                <a:latin typeface="+mj-ea"/>
                <a:ea typeface="+mj-ea"/>
              </a:rPr>
              <a:t>、</a:t>
            </a:r>
            <a:r>
              <a:rPr lang="en-US" altLang="zh-CN" b="1">
                <a:solidFill>
                  <a:srgbClr val="000000"/>
                </a:solidFill>
                <a:latin typeface="+mj-ea"/>
                <a:ea typeface="+mj-ea"/>
              </a:rPr>
              <a:t>case</a:t>
            </a:r>
            <a:r>
              <a:rPr lang="zh-CN" altLang="en-US" b="1">
                <a:solidFill>
                  <a:srgbClr val="000000"/>
                </a:solidFill>
                <a:latin typeface="+mj-ea"/>
                <a:ea typeface="+mj-ea"/>
              </a:rPr>
              <a:t>、</a:t>
            </a:r>
            <a:r>
              <a:rPr lang="en-US" altLang="zh-CN" b="1">
                <a:solidFill>
                  <a:srgbClr val="000000"/>
                </a:solidFill>
                <a:latin typeface="+mj-ea"/>
                <a:ea typeface="+mj-ea"/>
              </a:rPr>
              <a:t>for</a:t>
            </a:r>
            <a:r>
              <a:rPr lang="zh-CN" altLang="en-US" b="1">
                <a:solidFill>
                  <a:srgbClr val="000000"/>
                </a:solidFill>
                <a:latin typeface="+mj-ea"/>
                <a:ea typeface="+mj-ea"/>
              </a:rPr>
              <a:t>循环等语句，其功能更加强大。</a:t>
            </a:r>
          </a:p>
        </p:txBody>
      </p:sp>
      <p:sp>
        <p:nvSpPr>
          <p:cNvPr id="50180" name="Rectangle 25"/>
          <p:cNvSpPr>
            <a:spLocks noChangeArrowheads="1"/>
          </p:cNvSpPr>
          <p:nvPr/>
        </p:nvSpPr>
        <p:spPr bwMode="auto">
          <a:xfrm>
            <a:off x="539750" y="4218707"/>
            <a:ext cx="3671888" cy="1066800"/>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always @ (posedge CLK)</a:t>
            </a:r>
          </a:p>
          <a:p>
            <a:pPr eaLnBrk="1" hangingPunct="1">
              <a:spcBef>
                <a:spcPct val="10000"/>
              </a:spcBef>
            </a:pPr>
            <a:r>
              <a:rPr lang="en-US" altLang="zh-CN" sz="2000" b="1">
                <a:solidFill>
                  <a:srgbClr val="B43000"/>
                </a:solidFill>
                <a:latin typeface="+mj-ea"/>
                <a:ea typeface="+mj-ea"/>
              </a:rPr>
              <a:t>    Q=D</a:t>
            </a:r>
            <a:r>
              <a:rPr lang="zh-CN" altLang="en-US" sz="2000" b="1">
                <a:solidFill>
                  <a:srgbClr val="B43000"/>
                </a:solidFill>
                <a:latin typeface="+mj-ea"/>
                <a:ea typeface="+mj-ea"/>
              </a:rPr>
              <a:t>；</a:t>
            </a:r>
          </a:p>
        </p:txBody>
      </p:sp>
      <p:sp>
        <p:nvSpPr>
          <p:cNvPr id="50181" name="Rectangle 26"/>
          <p:cNvSpPr>
            <a:spLocks noChangeArrowheads="1"/>
          </p:cNvSpPr>
          <p:nvPr/>
        </p:nvSpPr>
        <p:spPr bwMode="auto">
          <a:xfrm>
            <a:off x="539750" y="5442669"/>
            <a:ext cx="3671888" cy="1066800"/>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latin typeface="+mj-ea"/>
                <a:ea typeface="+mj-ea"/>
              </a:rPr>
              <a:t>例：</a:t>
            </a:r>
          </a:p>
          <a:p>
            <a:pPr eaLnBrk="1" hangingPunct="1">
              <a:spcBef>
                <a:spcPct val="10000"/>
              </a:spcBef>
            </a:pPr>
            <a:r>
              <a:rPr lang="en-US" altLang="zh-CN" sz="2000" b="1">
                <a:solidFill>
                  <a:srgbClr val="B43000"/>
                </a:solidFill>
                <a:latin typeface="+mj-ea"/>
                <a:ea typeface="+mj-ea"/>
              </a:rPr>
              <a:t>always @ (D)</a:t>
            </a:r>
          </a:p>
          <a:p>
            <a:pPr eaLnBrk="1" hangingPunct="1">
              <a:spcBef>
                <a:spcPct val="10000"/>
              </a:spcBef>
            </a:pPr>
            <a:r>
              <a:rPr lang="en-US" altLang="zh-CN" sz="2000" b="1">
                <a:solidFill>
                  <a:srgbClr val="B43000"/>
                </a:solidFill>
                <a:latin typeface="+mj-ea"/>
                <a:ea typeface="+mj-ea"/>
              </a:rPr>
              <a:t>    Q=D</a:t>
            </a:r>
            <a:r>
              <a:rPr lang="zh-CN" altLang="en-US" sz="2000" b="1">
                <a:solidFill>
                  <a:srgbClr val="B43000"/>
                </a:solidFill>
                <a:latin typeface="+mj-ea"/>
                <a:ea typeface="+mj-ea"/>
              </a:rPr>
              <a:t>；</a:t>
            </a:r>
          </a:p>
        </p:txBody>
      </p:sp>
      <p:sp>
        <p:nvSpPr>
          <p:cNvPr id="50182" name="Oval 27"/>
          <p:cNvSpPr>
            <a:spLocks noChangeArrowheads="1"/>
          </p:cNvSpPr>
          <p:nvPr/>
        </p:nvSpPr>
        <p:spPr bwMode="auto">
          <a:xfrm>
            <a:off x="900113" y="4866407"/>
            <a:ext cx="358775" cy="433387"/>
          </a:xfrm>
          <a:prstGeom prst="ellipse">
            <a:avLst/>
          </a:prstGeom>
          <a:noFill/>
          <a:ln w="28575" algn="ctr">
            <a:solidFill>
              <a:schemeClr val="bg2"/>
            </a:solidFill>
            <a:round/>
            <a:headEnd/>
            <a:tailEnd/>
          </a:ln>
        </p:spPr>
        <p:txBody>
          <a:bodyPr wrap="none" anchor="ctr"/>
          <a:lstStyle/>
          <a:p>
            <a:pPr eaLnBrk="1" hangingPunct="1"/>
            <a:endParaRPr lang="zh-CN" altLang="en-US" b="1">
              <a:latin typeface="+mj-ea"/>
              <a:ea typeface="+mj-ea"/>
            </a:endParaRPr>
          </a:p>
        </p:txBody>
      </p:sp>
      <p:sp>
        <p:nvSpPr>
          <p:cNvPr id="50183" name="Oval 28"/>
          <p:cNvSpPr>
            <a:spLocks noChangeArrowheads="1"/>
          </p:cNvSpPr>
          <p:nvPr/>
        </p:nvSpPr>
        <p:spPr bwMode="auto">
          <a:xfrm>
            <a:off x="900113" y="6091957"/>
            <a:ext cx="358775" cy="433387"/>
          </a:xfrm>
          <a:prstGeom prst="ellipse">
            <a:avLst/>
          </a:prstGeom>
          <a:noFill/>
          <a:ln w="28575" algn="ctr">
            <a:solidFill>
              <a:schemeClr val="bg2"/>
            </a:solidFill>
            <a:round/>
            <a:headEnd/>
            <a:tailEnd/>
          </a:ln>
        </p:spPr>
        <p:txBody>
          <a:bodyPr wrap="none" anchor="ctr"/>
          <a:lstStyle/>
          <a:p>
            <a:pPr eaLnBrk="1" hangingPunct="1"/>
            <a:endParaRPr lang="zh-CN" altLang="en-US" b="1">
              <a:latin typeface="+mj-ea"/>
              <a:ea typeface="+mj-ea"/>
            </a:endParaRPr>
          </a:p>
        </p:txBody>
      </p:sp>
      <p:sp>
        <p:nvSpPr>
          <p:cNvPr id="50184" name="AutoShape 29"/>
          <p:cNvSpPr>
            <a:spLocks/>
          </p:cNvSpPr>
          <p:nvPr/>
        </p:nvSpPr>
        <p:spPr bwMode="auto">
          <a:xfrm>
            <a:off x="4360863" y="5617294"/>
            <a:ext cx="2371725" cy="609600"/>
          </a:xfrm>
          <a:prstGeom prst="borderCallout1">
            <a:avLst>
              <a:gd name="adj1" fmla="val 18750"/>
              <a:gd name="adj2" fmla="val -3213"/>
              <a:gd name="adj3" fmla="val -64065"/>
              <a:gd name="adj4" fmla="val -133801"/>
            </a:avLst>
          </a:prstGeom>
          <a:noFill/>
          <a:ln w="28575" algn="ctr">
            <a:solidFill>
              <a:schemeClr val="bg2"/>
            </a:solidFill>
            <a:miter lim="800000"/>
            <a:headEnd/>
            <a:tailEnd type="arrow" w="med" len="med"/>
          </a:ln>
        </p:spPr>
        <p:txBody>
          <a:bodyPr anchor="ctr"/>
          <a:lstStyle/>
          <a:p>
            <a:pPr algn="ctr" eaLnBrk="1" hangingPunct="1"/>
            <a:r>
              <a:rPr lang="zh-CN" altLang="en-US" b="1">
                <a:latin typeface="+mj-ea"/>
                <a:ea typeface="+mj-ea"/>
              </a:rPr>
              <a:t>必须是</a:t>
            </a:r>
            <a:r>
              <a:rPr lang="en-US" altLang="zh-CN" b="1">
                <a:latin typeface="+mj-ea"/>
                <a:ea typeface="+mj-ea"/>
              </a:rPr>
              <a:t>reg</a:t>
            </a:r>
            <a:r>
              <a:rPr lang="zh-CN" altLang="en-US" b="1">
                <a:latin typeface="+mj-ea"/>
                <a:ea typeface="+mj-ea"/>
              </a:rPr>
              <a:t>型的</a:t>
            </a:r>
          </a:p>
        </p:txBody>
      </p:sp>
      <p:sp>
        <p:nvSpPr>
          <p:cNvPr id="50185" name="Line 30"/>
          <p:cNvSpPr>
            <a:spLocks noChangeShapeType="1"/>
          </p:cNvSpPr>
          <p:nvPr/>
        </p:nvSpPr>
        <p:spPr bwMode="auto">
          <a:xfrm flipH="1">
            <a:off x="1258888" y="5803032"/>
            <a:ext cx="3025775" cy="360362"/>
          </a:xfrm>
          <a:prstGeom prst="line">
            <a:avLst/>
          </a:prstGeom>
          <a:noFill/>
          <a:ln w="28575">
            <a:solidFill>
              <a:schemeClr val="bg2"/>
            </a:solidFill>
            <a:round/>
            <a:headEnd/>
            <a:tailEnd type="arrow" w="med" len="med"/>
          </a:ln>
        </p:spPr>
        <p:txBody>
          <a:bodyPr wrap="none" anchor="ctr"/>
          <a:lstStyle/>
          <a:p>
            <a:endParaRPr lang="zh-CN" altLang="en-US">
              <a:latin typeface="+mj-ea"/>
              <a:ea typeface="+mj-ea"/>
            </a:endParaRPr>
          </a:p>
        </p:txBody>
      </p:sp>
      <p:sp>
        <p:nvSpPr>
          <p:cNvPr id="2" name="标题 1"/>
          <p:cNvSpPr>
            <a:spLocks noGrp="1"/>
          </p:cNvSpPr>
          <p:nvPr>
            <p:ph type="title"/>
          </p:nvPr>
        </p:nvSpPr>
        <p:spPr/>
        <p:txBody>
          <a:bodyPr/>
          <a:lstStyle/>
          <a:p>
            <a:r>
              <a:rPr lang="en-US" altLang="zh-CN" dirty="0" smtClean="0">
                <a:solidFill>
                  <a:srgbClr val="000000"/>
                </a:solidFill>
              </a:rPr>
              <a:t>3. always</a:t>
            </a:r>
            <a:r>
              <a:rPr lang="zh-CN" altLang="en-US" dirty="0" smtClean="0">
                <a:solidFill>
                  <a:srgbClr val="000000"/>
                </a:solidFill>
              </a:rPr>
              <a:t>语句块</a:t>
            </a:r>
            <a:endParaRPr lang="zh-CN" altLang="en-US" dirty="0"/>
          </a:p>
        </p:txBody>
      </p:sp>
    </p:spTree>
    <p:extLst>
      <p:ext uri="{BB962C8B-B14F-4D97-AF65-F5344CB8AC3E}">
        <p14:creationId xmlns:p14="http://schemas.microsoft.com/office/powerpoint/2010/main" val="23872694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CB0C59FB-0510-4BCB-BA8B-61ED8A009951}" type="slidenum">
              <a:rPr lang="en-US" altLang="zh-CN" sz="1400" b="0">
                <a:latin typeface="Tahoma" panose="020B0604030504040204" pitchFamily="34" charset="0"/>
              </a:rPr>
              <a:pPr eaLnBrk="1" hangingPunct="1"/>
              <a:t>25</a:t>
            </a:fld>
            <a:endParaRPr lang="en-US" altLang="zh-CN" sz="1400" b="0">
              <a:latin typeface="Tahoma" panose="020B0604030504040204" pitchFamily="34" charset="0"/>
            </a:endParaRPr>
          </a:p>
        </p:txBody>
      </p:sp>
      <p:sp>
        <p:nvSpPr>
          <p:cNvPr id="16387" name="Rectangle 6"/>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16388" name="Text Box 7"/>
          <p:cNvSpPr txBox="1">
            <a:spLocks noChangeArrowheads="1"/>
          </p:cNvSpPr>
          <p:nvPr/>
        </p:nvSpPr>
        <p:spPr bwMode="auto">
          <a:xfrm>
            <a:off x="0" y="1125538"/>
            <a:ext cx="8786813"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dirty="0">
                <a:solidFill>
                  <a:schemeClr val="hlink"/>
                </a:solidFill>
                <a:ea typeface="黑体" panose="02010609060101010101" pitchFamily="49" charset="-122"/>
              </a:rPr>
              <a:t>assign</a:t>
            </a:r>
            <a:r>
              <a:rPr lang="zh-CN" altLang="en-US" dirty="0">
                <a:solidFill>
                  <a:schemeClr val="hlink"/>
                </a:solidFill>
                <a:ea typeface="黑体" panose="02010609060101010101" pitchFamily="49" charset="-122"/>
              </a:rPr>
              <a:t>语句和</a:t>
            </a:r>
            <a:r>
              <a:rPr lang="en-US" altLang="zh-CN" dirty="0">
                <a:solidFill>
                  <a:schemeClr val="hlink"/>
                </a:solidFill>
                <a:ea typeface="黑体" panose="02010609060101010101" pitchFamily="49" charset="-122"/>
              </a:rPr>
              <a:t>always</a:t>
            </a:r>
            <a:r>
              <a:rPr lang="zh-CN" altLang="en-US" dirty="0">
                <a:solidFill>
                  <a:schemeClr val="hlink"/>
                </a:solidFill>
                <a:ea typeface="黑体" panose="02010609060101010101" pitchFamily="49" charset="-122"/>
              </a:rPr>
              <a:t>语句的主要区别：</a:t>
            </a:r>
          </a:p>
          <a:p>
            <a:pPr eaLnBrk="1" hangingPunct="1">
              <a:spcBef>
                <a:spcPct val="20000"/>
              </a:spcBef>
              <a:buFontTx/>
              <a:buChar char="•"/>
            </a:pPr>
            <a:r>
              <a:rPr lang="zh-CN" altLang="en-US" dirty="0">
                <a:solidFill>
                  <a:srgbClr val="333399"/>
                </a:solidFill>
                <a:ea typeface="黑体" panose="02010609060101010101" pitchFamily="49" charset="-122"/>
              </a:rPr>
              <a:t>连续赋值语句总是处于激活状态，只要操作数有变化马上进行计算和赋值；</a:t>
            </a:r>
          </a:p>
          <a:p>
            <a:pPr eaLnBrk="1" hangingPunct="1">
              <a:spcBef>
                <a:spcPct val="20000"/>
              </a:spcBef>
              <a:buFontTx/>
              <a:buChar char="•"/>
            </a:pPr>
            <a:r>
              <a:rPr lang="zh-CN" altLang="en-US" dirty="0">
                <a:solidFill>
                  <a:srgbClr val="333399"/>
                </a:solidFill>
                <a:ea typeface="黑体" panose="02010609060101010101" pitchFamily="49" charset="-122"/>
              </a:rPr>
              <a:t>过程赋值语句只有当激活该过程时，才会进行计算和赋值，如果该过程不被激活，即使操作数发生变化也不会计算和赋值。</a:t>
            </a:r>
          </a:p>
          <a:p>
            <a:pPr eaLnBrk="1" hangingPunct="1">
              <a:spcBef>
                <a:spcPct val="20000"/>
              </a:spcBef>
              <a:buFontTx/>
              <a:buChar char="•"/>
            </a:pPr>
            <a:r>
              <a:rPr lang="en-US" altLang="zh-CN" dirty="0" err="1">
                <a:solidFill>
                  <a:srgbClr val="333399"/>
                </a:solidFill>
                <a:ea typeface="黑体" panose="02010609060101010101" pitchFamily="49" charset="-122"/>
              </a:rPr>
              <a:t>verilog</a:t>
            </a:r>
            <a:r>
              <a:rPr lang="zh-CN" altLang="en-US" dirty="0">
                <a:solidFill>
                  <a:srgbClr val="333399"/>
                </a:solidFill>
                <a:ea typeface="黑体" panose="02010609060101010101" pitchFamily="49" charset="-122"/>
              </a:rPr>
              <a:t>规定</a:t>
            </a:r>
            <a:r>
              <a:rPr lang="en-US" altLang="zh-CN" dirty="0">
                <a:solidFill>
                  <a:srgbClr val="333399"/>
                </a:solidFill>
                <a:ea typeface="黑体" panose="02010609060101010101" pitchFamily="49" charset="-122"/>
              </a:rPr>
              <a:t>assign</a:t>
            </a:r>
            <a:r>
              <a:rPr lang="zh-CN" altLang="en-US" dirty="0">
                <a:solidFill>
                  <a:srgbClr val="333399"/>
                </a:solidFill>
                <a:ea typeface="黑体" panose="02010609060101010101" pitchFamily="49" charset="-122"/>
              </a:rPr>
              <a:t>中的赋值目标必须是</a:t>
            </a:r>
            <a:r>
              <a:rPr lang="en-US" altLang="zh-CN" dirty="0">
                <a:solidFill>
                  <a:srgbClr val="333399"/>
                </a:solidFill>
                <a:ea typeface="黑体" panose="02010609060101010101" pitchFamily="49" charset="-122"/>
              </a:rPr>
              <a:t>wire</a:t>
            </a:r>
            <a:r>
              <a:rPr lang="zh-CN" altLang="en-US" dirty="0">
                <a:solidFill>
                  <a:srgbClr val="333399"/>
                </a:solidFill>
                <a:ea typeface="黑体" panose="02010609060101010101" pitchFamily="49" charset="-122"/>
              </a:rPr>
              <a:t>型的，而</a:t>
            </a:r>
            <a:r>
              <a:rPr lang="en-US" altLang="zh-CN" dirty="0">
                <a:solidFill>
                  <a:srgbClr val="333399"/>
                </a:solidFill>
                <a:ea typeface="黑体" panose="02010609060101010101" pitchFamily="49" charset="-122"/>
              </a:rPr>
              <a:t>always</a:t>
            </a:r>
            <a:r>
              <a:rPr lang="zh-CN" altLang="en-US" dirty="0">
                <a:solidFill>
                  <a:srgbClr val="333399"/>
                </a:solidFill>
                <a:ea typeface="黑体" panose="02010609060101010101" pitchFamily="49" charset="-122"/>
              </a:rPr>
              <a:t>语句中的赋值目标必须是</a:t>
            </a:r>
            <a:r>
              <a:rPr lang="en-US" altLang="zh-CN" dirty="0">
                <a:solidFill>
                  <a:srgbClr val="333399"/>
                </a:solidFill>
                <a:ea typeface="黑体" panose="02010609060101010101" pitchFamily="49" charset="-122"/>
              </a:rPr>
              <a:t>reg</a:t>
            </a:r>
            <a:r>
              <a:rPr lang="zh-CN" altLang="en-US" dirty="0">
                <a:solidFill>
                  <a:srgbClr val="333399"/>
                </a:solidFill>
                <a:ea typeface="黑体" panose="02010609060101010101" pitchFamily="49" charset="-122"/>
              </a:rPr>
              <a:t>型的。</a:t>
            </a:r>
          </a:p>
        </p:txBody>
      </p:sp>
      <p:sp>
        <p:nvSpPr>
          <p:cNvPr id="16389" name="Rectangle 9"/>
          <p:cNvSpPr>
            <a:spLocks noChangeArrowheads="1"/>
          </p:cNvSpPr>
          <p:nvPr/>
        </p:nvSpPr>
        <p:spPr bwMode="auto">
          <a:xfrm>
            <a:off x="900113" y="4111625"/>
            <a:ext cx="2232025" cy="425450"/>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000">
                <a:solidFill>
                  <a:srgbClr val="333399"/>
                </a:solidFill>
                <a:ea typeface="黑体" panose="02010609060101010101" pitchFamily="49" charset="-122"/>
              </a:rPr>
              <a:t>assign Q=D</a:t>
            </a:r>
          </a:p>
        </p:txBody>
      </p:sp>
      <p:sp>
        <p:nvSpPr>
          <p:cNvPr id="16390" name="Rectangle 10"/>
          <p:cNvSpPr>
            <a:spLocks noChangeArrowheads="1"/>
          </p:cNvSpPr>
          <p:nvPr/>
        </p:nvSpPr>
        <p:spPr bwMode="auto">
          <a:xfrm>
            <a:off x="4140200" y="4071938"/>
            <a:ext cx="3889375" cy="790575"/>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lang="en-US" altLang="zh-CN" sz="2000">
                <a:solidFill>
                  <a:srgbClr val="333399"/>
                </a:solidFill>
                <a:ea typeface="黑体" panose="02010609060101010101" pitchFamily="49" charset="-122"/>
              </a:rPr>
              <a:t>always @ </a:t>
            </a:r>
            <a:r>
              <a:rPr lang="zh-CN" altLang="en-US" sz="2000">
                <a:solidFill>
                  <a:srgbClr val="333399"/>
                </a:solidFill>
                <a:ea typeface="黑体" panose="02010609060101010101" pitchFamily="49" charset="-122"/>
              </a:rPr>
              <a:t>（</a:t>
            </a:r>
            <a:r>
              <a:rPr lang="en-US" altLang="zh-CN" sz="2000">
                <a:solidFill>
                  <a:srgbClr val="333399"/>
                </a:solidFill>
                <a:ea typeface="黑体" panose="02010609060101010101" pitchFamily="49" charset="-122"/>
              </a:rPr>
              <a:t>posedge clk</a:t>
            </a:r>
            <a:r>
              <a:rPr lang="zh-CN" altLang="en-US" sz="2000">
                <a:solidFill>
                  <a:srgbClr val="333399"/>
                </a:solidFill>
                <a:ea typeface="黑体" panose="02010609060101010101" pitchFamily="49" charset="-122"/>
              </a:rPr>
              <a:t>）                     </a:t>
            </a:r>
          </a:p>
          <a:p>
            <a:pPr eaLnBrk="1" hangingPunct="1">
              <a:spcBef>
                <a:spcPct val="20000"/>
              </a:spcBef>
            </a:pPr>
            <a:r>
              <a:rPr lang="zh-CN" altLang="en-US" sz="2000">
                <a:solidFill>
                  <a:srgbClr val="333399"/>
                </a:solidFill>
                <a:ea typeface="黑体" panose="02010609060101010101" pitchFamily="49" charset="-122"/>
              </a:rPr>
              <a:t>             </a:t>
            </a:r>
            <a:r>
              <a:rPr lang="en-US" altLang="zh-CN" sz="2000">
                <a:solidFill>
                  <a:srgbClr val="333399"/>
                </a:solidFill>
                <a:ea typeface="黑体" panose="02010609060101010101" pitchFamily="49" charset="-122"/>
              </a:rPr>
              <a:t>Q=D</a:t>
            </a:r>
            <a:r>
              <a:rPr lang="zh-CN" altLang="en-US" sz="2000">
                <a:solidFill>
                  <a:srgbClr val="333399"/>
                </a:solidFill>
                <a:ea typeface="黑体" panose="02010609060101010101" pitchFamily="49" charset="-122"/>
              </a:rPr>
              <a:t>；</a:t>
            </a:r>
          </a:p>
        </p:txBody>
      </p:sp>
      <p:sp>
        <p:nvSpPr>
          <p:cNvPr id="16391" name="Rectangle 11"/>
          <p:cNvSpPr>
            <a:spLocks noChangeArrowheads="1"/>
          </p:cNvSpPr>
          <p:nvPr/>
        </p:nvSpPr>
        <p:spPr bwMode="auto">
          <a:xfrm>
            <a:off x="179388" y="411162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rgbClr val="333399"/>
                </a:solidFill>
                <a:ea typeface="黑体" panose="02010609060101010101" pitchFamily="49" charset="-122"/>
              </a:rPr>
              <a:t>例：</a:t>
            </a:r>
          </a:p>
        </p:txBody>
      </p:sp>
      <p:sp>
        <p:nvSpPr>
          <p:cNvPr id="16392" name="Rectangle 12"/>
          <p:cNvSpPr>
            <a:spLocks noChangeArrowheads="1"/>
          </p:cNvSpPr>
          <p:nvPr/>
        </p:nvSpPr>
        <p:spPr bwMode="auto">
          <a:xfrm>
            <a:off x="755650" y="4687888"/>
            <a:ext cx="26654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a:solidFill>
                  <a:schemeClr val="hlink"/>
                </a:solidFill>
                <a:ea typeface="黑体" panose="02010609060101010101" pitchFamily="49" charset="-122"/>
              </a:rPr>
              <a:t>只要</a:t>
            </a:r>
            <a:r>
              <a:rPr lang="en-US" altLang="zh-CN" sz="2000">
                <a:solidFill>
                  <a:schemeClr val="hlink"/>
                </a:solidFill>
                <a:ea typeface="黑体" panose="02010609060101010101" pitchFamily="49" charset="-122"/>
              </a:rPr>
              <a:t>D</a:t>
            </a:r>
            <a:r>
              <a:rPr lang="zh-CN" altLang="en-US" sz="2000">
                <a:solidFill>
                  <a:schemeClr val="hlink"/>
                </a:solidFill>
                <a:ea typeface="黑体" panose="02010609060101010101" pitchFamily="49" charset="-122"/>
              </a:rPr>
              <a:t>发生变化，马上进行计算和赋值； </a:t>
            </a:r>
            <a:r>
              <a:rPr lang="en-US" altLang="zh-CN" sz="2000">
                <a:solidFill>
                  <a:schemeClr val="hlink"/>
                </a:solidFill>
                <a:ea typeface="黑体" panose="02010609060101010101" pitchFamily="49" charset="-122"/>
              </a:rPr>
              <a:t>Q</a:t>
            </a:r>
            <a:r>
              <a:rPr lang="zh-CN" altLang="en-US" sz="2000">
                <a:solidFill>
                  <a:schemeClr val="hlink"/>
                </a:solidFill>
                <a:ea typeface="黑体" panose="02010609060101010101" pitchFamily="49" charset="-122"/>
              </a:rPr>
              <a:t>必须是</a:t>
            </a:r>
            <a:r>
              <a:rPr lang="en-US" altLang="zh-CN" sz="2000">
                <a:solidFill>
                  <a:schemeClr val="hlink"/>
                </a:solidFill>
                <a:ea typeface="黑体" panose="02010609060101010101" pitchFamily="49" charset="-122"/>
              </a:rPr>
              <a:t>wire</a:t>
            </a:r>
            <a:r>
              <a:rPr lang="zh-CN" altLang="en-US" sz="2000">
                <a:solidFill>
                  <a:schemeClr val="hlink"/>
                </a:solidFill>
                <a:ea typeface="黑体" panose="02010609060101010101" pitchFamily="49" charset="-122"/>
              </a:rPr>
              <a:t>型。</a:t>
            </a:r>
          </a:p>
        </p:txBody>
      </p:sp>
      <p:sp>
        <p:nvSpPr>
          <p:cNvPr id="16393" name="Rectangle 14"/>
          <p:cNvSpPr>
            <a:spLocks noChangeArrowheads="1"/>
          </p:cNvSpPr>
          <p:nvPr/>
        </p:nvSpPr>
        <p:spPr bwMode="auto">
          <a:xfrm>
            <a:off x="3995738" y="4975225"/>
            <a:ext cx="450532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just" eaLnBrk="1" hangingPunct="1"/>
            <a:r>
              <a:rPr lang="zh-CN" altLang="en-US" sz="2000" dirty="0">
                <a:solidFill>
                  <a:schemeClr val="hlink"/>
                </a:solidFill>
                <a:ea typeface="黑体" panose="02010609060101010101" pitchFamily="49" charset="-122"/>
              </a:rPr>
              <a:t>只有当</a:t>
            </a:r>
            <a:r>
              <a:rPr lang="en-US" altLang="zh-CN" sz="2000" dirty="0">
                <a:solidFill>
                  <a:schemeClr val="hlink"/>
                </a:solidFill>
                <a:ea typeface="黑体" panose="02010609060101010101" pitchFamily="49" charset="-122"/>
              </a:rPr>
              <a:t>clk</a:t>
            </a:r>
            <a:r>
              <a:rPr lang="zh-CN" altLang="en-US" sz="2000" dirty="0">
                <a:solidFill>
                  <a:schemeClr val="hlink"/>
                </a:solidFill>
                <a:ea typeface="黑体" panose="02010609060101010101" pitchFamily="49" charset="-122"/>
              </a:rPr>
              <a:t>上升沿到来时，才能激活该块语句，才能进行计算和赋值；否则，即使</a:t>
            </a:r>
            <a:r>
              <a:rPr lang="en-US" altLang="zh-CN" sz="2000" dirty="0">
                <a:solidFill>
                  <a:schemeClr val="hlink"/>
                </a:solidFill>
                <a:ea typeface="黑体" panose="02010609060101010101" pitchFamily="49" charset="-122"/>
              </a:rPr>
              <a:t>D</a:t>
            </a:r>
            <a:r>
              <a:rPr lang="zh-CN" altLang="en-US" sz="2000" dirty="0">
                <a:solidFill>
                  <a:schemeClr val="hlink"/>
                </a:solidFill>
                <a:ea typeface="黑体" panose="02010609060101010101" pitchFamily="49" charset="-122"/>
              </a:rPr>
              <a:t>发生变化也不会计算和赋值。在未被激活时，</a:t>
            </a:r>
            <a:r>
              <a:rPr lang="en-US" altLang="zh-CN" sz="2000" dirty="0">
                <a:solidFill>
                  <a:schemeClr val="hlink"/>
                </a:solidFill>
                <a:ea typeface="黑体" panose="02010609060101010101" pitchFamily="49" charset="-122"/>
              </a:rPr>
              <a:t>Q</a:t>
            </a:r>
            <a:r>
              <a:rPr lang="zh-CN" altLang="en-US" sz="2000" dirty="0">
                <a:solidFill>
                  <a:schemeClr val="hlink"/>
                </a:solidFill>
                <a:ea typeface="黑体" panose="02010609060101010101" pitchFamily="49" charset="-122"/>
              </a:rPr>
              <a:t>的值保持不变。</a:t>
            </a:r>
          </a:p>
          <a:p>
            <a:pPr algn="just" eaLnBrk="1" hangingPunct="1"/>
            <a:r>
              <a:rPr lang="en-US" altLang="zh-CN" sz="2000" dirty="0">
                <a:solidFill>
                  <a:schemeClr val="hlink"/>
                </a:solidFill>
                <a:ea typeface="黑体" panose="02010609060101010101" pitchFamily="49" charset="-122"/>
              </a:rPr>
              <a:t>Q</a:t>
            </a:r>
            <a:r>
              <a:rPr lang="zh-CN" altLang="en-US" sz="2000" dirty="0">
                <a:solidFill>
                  <a:schemeClr val="hlink"/>
                </a:solidFill>
                <a:ea typeface="黑体" panose="02010609060101010101" pitchFamily="49" charset="-122"/>
              </a:rPr>
              <a:t>必须是</a:t>
            </a:r>
            <a:r>
              <a:rPr lang="en-US" altLang="zh-CN" sz="2000" dirty="0">
                <a:solidFill>
                  <a:schemeClr val="hlink"/>
                </a:solidFill>
                <a:ea typeface="黑体" panose="02010609060101010101" pitchFamily="49" charset="-122"/>
              </a:rPr>
              <a:t>reg</a:t>
            </a:r>
            <a:r>
              <a:rPr lang="zh-CN" altLang="en-US" sz="2000" dirty="0">
                <a:solidFill>
                  <a:schemeClr val="hlink"/>
                </a:solidFill>
                <a:ea typeface="黑体" panose="02010609060101010101" pitchFamily="49" charset="-122"/>
              </a:rPr>
              <a:t>型。</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5EACF449-39A4-49E9-BE38-CF8082A0D03E}" type="slidenum">
              <a:rPr lang="en-US" altLang="zh-CN" sz="1400" b="0">
                <a:latin typeface="Tahoma" panose="020B0604030504040204" pitchFamily="34" charset="0"/>
              </a:rPr>
              <a:pPr eaLnBrk="1" hangingPunct="1"/>
              <a:t>26</a:t>
            </a:fld>
            <a:endParaRPr lang="en-US" altLang="zh-CN" sz="1400" b="0">
              <a:latin typeface="Tahoma" panose="020B0604030504040204" pitchFamily="34" charset="0"/>
            </a:endParaRPr>
          </a:p>
        </p:txBody>
      </p:sp>
      <p:sp>
        <p:nvSpPr>
          <p:cNvPr id="17411"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17412" name="Text Box 5"/>
          <p:cNvSpPr txBox="1">
            <a:spLocks noChangeArrowheads="1"/>
          </p:cNvSpPr>
          <p:nvPr/>
        </p:nvSpPr>
        <p:spPr bwMode="auto">
          <a:xfrm>
            <a:off x="250825" y="1208088"/>
            <a:ext cx="876776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1938" indent="-261938"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a:solidFill>
                  <a:schemeClr val="hlink"/>
                </a:solidFill>
                <a:ea typeface="黑体" panose="02010609060101010101" pitchFamily="49" charset="-122"/>
              </a:rPr>
              <a:t>always</a:t>
            </a:r>
            <a:r>
              <a:rPr lang="zh-CN" altLang="en-US">
                <a:solidFill>
                  <a:schemeClr val="hlink"/>
                </a:solidFill>
                <a:ea typeface="黑体" panose="02010609060101010101" pitchFamily="49" charset="-122"/>
              </a:rPr>
              <a:t>语句块中除了可以使用表达式赋值以外，还可以使用</a:t>
            </a:r>
            <a:r>
              <a:rPr lang="en-US" altLang="zh-CN">
                <a:solidFill>
                  <a:schemeClr val="hlink"/>
                </a:solidFill>
                <a:ea typeface="黑体" panose="02010609060101010101" pitchFamily="49" charset="-122"/>
              </a:rPr>
              <a:t>if</a:t>
            </a:r>
            <a:r>
              <a:rPr lang="zh-CN" altLang="en-US">
                <a:solidFill>
                  <a:schemeClr val="hlink"/>
                </a:solidFill>
                <a:ea typeface="黑体" panose="02010609060101010101" pitchFamily="49" charset="-122"/>
              </a:rPr>
              <a:t>，</a:t>
            </a:r>
            <a:r>
              <a:rPr lang="en-US" altLang="zh-CN">
                <a:solidFill>
                  <a:schemeClr val="hlink"/>
                </a:solidFill>
                <a:ea typeface="黑体" panose="02010609060101010101" pitchFamily="49" charset="-122"/>
              </a:rPr>
              <a:t>case</a:t>
            </a:r>
            <a:r>
              <a:rPr lang="zh-CN" altLang="en-US">
                <a:solidFill>
                  <a:schemeClr val="hlink"/>
                </a:solidFill>
                <a:ea typeface="黑体" panose="02010609060101010101" pitchFamily="49" charset="-122"/>
              </a:rPr>
              <a:t>等行为描述语句，还能够描述边沿变化，因此其功能比</a:t>
            </a:r>
            <a:r>
              <a:rPr lang="en-US" altLang="zh-CN">
                <a:solidFill>
                  <a:schemeClr val="hlink"/>
                </a:solidFill>
                <a:ea typeface="黑体" panose="02010609060101010101" pitchFamily="49" charset="-122"/>
              </a:rPr>
              <a:t>assign</a:t>
            </a:r>
            <a:r>
              <a:rPr lang="zh-CN" altLang="en-US">
                <a:solidFill>
                  <a:schemeClr val="hlink"/>
                </a:solidFill>
                <a:ea typeface="黑体" panose="02010609060101010101" pitchFamily="49" charset="-122"/>
              </a:rPr>
              <a:t>语句更强大（</a:t>
            </a:r>
            <a:r>
              <a:rPr lang="en-US" altLang="zh-CN">
                <a:solidFill>
                  <a:schemeClr val="hlink"/>
                </a:solidFill>
                <a:ea typeface="黑体" panose="02010609060101010101" pitchFamily="49" charset="-122"/>
              </a:rPr>
              <a:t>assign</a:t>
            </a:r>
            <a:r>
              <a:rPr lang="zh-CN" altLang="en-US">
                <a:solidFill>
                  <a:schemeClr val="hlink"/>
                </a:solidFill>
                <a:ea typeface="黑体" panose="02010609060101010101" pitchFamily="49" charset="-122"/>
              </a:rPr>
              <a:t>语句不能使用</a:t>
            </a:r>
            <a:r>
              <a:rPr lang="en-US" altLang="zh-CN">
                <a:solidFill>
                  <a:schemeClr val="hlink"/>
                </a:solidFill>
                <a:ea typeface="黑体" panose="02010609060101010101" pitchFamily="49" charset="-122"/>
              </a:rPr>
              <a:t>if</a:t>
            </a:r>
            <a:r>
              <a:rPr lang="zh-CN" altLang="en-US">
                <a:solidFill>
                  <a:schemeClr val="hlink"/>
                </a:solidFill>
                <a:ea typeface="黑体" panose="02010609060101010101" pitchFamily="49" charset="-122"/>
              </a:rPr>
              <a:t>等语句，也不能描述边沿变化）。</a:t>
            </a:r>
          </a:p>
        </p:txBody>
      </p:sp>
      <p:sp>
        <p:nvSpPr>
          <p:cNvPr id="17413" name="Text Box 6"/>
          <p:cNvSpPr txBox="1">
            <a:spLocks noChangeArrowheads="1"/>
          </p:cNvSpPr>
          <p:nvPr/>
        </p:nvSpPr>
        <p:spPr bwMode="auto">
          <a:xfrm>
            <a:off x="246063" y="283845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17414" name="Text Box 9"/>
          <p:cNvSpPr txBox="1">
            <a:spLocks noChangeArrowheads="1"/>
          </p:cNvSpPr>
          <p:nvPr/>
        </p:nvSpPr>
        <p:spPr bwMode="auto">
          <a:xfrm>
            <a:off x="1116013" y="2911475"/>
            <a:ext cx="6192837" cy="347027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110000"/>
              </a:lnSpc>
            </a:pPr>
            <a:r>
              <a:rPr lang="en-US" altLang="zh-CN" sz="2000" dirty="0">
                <a:ea typeface="黑体" panose="02010609060101010101" pitchFamily="49" charset="-122"/>
              </a:rPr>
              <a:t>module DFF2 (CLK,D,Q,RST,EN)</a:t>
            </a:r>
          </a:p>
          <a:p>
            <a:pPr eaLnBrk="1" hangingPunct="1">
              <a:lnSpc>
                <a:spcPct val="110000"/>
              </a:lnSpc>
            </a:pPr>
            <a:r>
              <a:rPr lang="en-US" altLang="zh-CN" sz="2000" dirty="0">
                <a:ea typeface="黑体" panose="02010609060101010101" pitchFamily="49" charset="-122"/>
              </a:rPr>
              <a:t>input CLK,D,RST,EN;</a:t>
            </a:r>
          </a:p>
          <a:p>
            <a:pPr eaLnBrk="1" hangingPunct="1">
              <a:lnSpc>
                <a:spcPct val="110000"/>
              </a:lnSpc>
            </a:pPr>
            <a:r>
              <a:rPr lang="en-US" altLang="zh-CN" sz="2000" dirty="0">
                <a:ea typeface="黑体" panose="02010609060101010101" pitchFamily="49" charset="-122"/>
              </a:rPr>
              <a:t>output Q;</a:t>
            </a:r>
          </a:p>
          <a:p>
            <a:pPr eaLnBrk="1" hangingPunct="1">
              <a:lnSpc>
                <a:spcPct val="110000"/>
              </a:lnSpc>
            </a:pPr>
            <a:r>
              <a:rPr lang="en-US" altLang="zh-CN" sz="2000" dirty="0">
                <a:ea typeface="黑体" panose="02010609060101010101" pitchFamily="49" charset="-122"/>
              </a:rPr>
              <a:t>reg Q;</a:t>
            </a:r>
          </a:p>
          <a:p>
            <a:pPr eaLnBrk="1" hangingPunct="1">
              <a:lnSpc>
                <a:spcPct val="110000"/>
              </a:lnSpc>
            </a:pPr>
            <a:r>
              <a:rPr lang="en-US" altLang="zh-CN" sz="2000" dirty="0">
                <a:ea typeface="黑体" panose="02010609060101010101" pitchFamily="49" charset="-122"/>
              </a:rPr>
              <a:t>always @(posedge CLK or </a:t>
            </a:r>
            <a:r>
              <a:rPr lang="en-US" altLang="zh-CN" sz="2000" dirty="0" err="1">
                <a:ea typeface="黑体" panose="02010609060101010101" pitchFamily="49" charset="-122"/>
              </a:rPr>
              <a:t>negedge</a:t>
            </a:r>
            <a:r>
              <a:rPr lang="en-US" altLang="zh-CN" sz="2000" dirty="0">
                <a:ea typeface="黑体" panose="02010609060101010101" pitchFamily="49" charset="-122"/>
              </a:rPr>
              <a:t> RST)</a:t>
            </a:r>
          </a:p>
          <a:p>
            <a:pPr eaLnBrk="1" hangingPunct="1">
              <a:lnSpc>
                <a:spcPct val="110000"/>
              </a:lnSpc>
            </a:pPr>
            <a:r>
              <a:rPr lang="en-US" altLang="zh-CN" sz="2000" dirty="0">
                <a:ea typeface="黑体" panose="02010609060101010101" pitchFamily="49" charset="-122"/>
              </a:rPr>
              <a:t>begin </a:t>
            </a:r>
          </a:p>
          <a:p>
            <a:pPr eaLnBrk="1" hangingPunct="1">
              <a:lnSpc>
                <a:spcPct val="110000"/>
              </a:lnSpc>
            </a:pPr>
            <a:r>
              <a:rPr lang="en-US" altLang="zh-CN" sz="2000" dirty="0">
                <a:ea typeface="黑体" panose="02010609060101010101" pitchFamily="49" charset="-122"/>
              </a:rPr>
              <a:t>        if (!RST) Q&lt;=0</a:t>
            </a:r>
            <a:r>
              <a:rPr lang="zh-CN" altLang="en-US" sz="2000" dirty="0">
                <a:ea typeface="黑体" panose="02010609060101010101" pitchFamily="49" charset="-122"/>
              </a:rPr>
              <a:t>；</a:t>
            </a:r>
          </a:p>
          <a:p>
            <a:pPr eaLnBrk="1" hangingPunct="1">
              <a:lnSpc>
                <a:spcPct val="110000"/>
              </a:lnSpc>
            </a:pPr>
            <a:r>
              <a:rPr lang="zh-CN" altLang="en-US" sz="2000" dirty="0">
                <a:ea typeface="黑体" panose="02010609060101010101" pitchFamily="49" charset="-122"/>
              </a:rPr>
              <a:t>        </a:t>
            </a:r>
            <a:r>
              <a:rPr lang="en-US" altLang="zh-CN" sz="2000" dirty="0">
                <a:ea typeface="黑体" panose="02010609060101010101" pitchFamily="49" charset="-122"/>
              </a:rPr>
              <a:t>else if (EN) Q&lt;=D</a:t>
            </a:r>
          </a:p>
          <a:p>
            <a:pPr eaLnBrk="1" hangingPunct="1">
              <a:lnSpc>
                <a:spcPct val="110000"/>
              </a:lnSpc>
            </a:pPr>
            <a:r>
              <a:rPr lang="en-US" altLang="zh-CN" sz="2000" dirty="0">
                <a:ea typeface="黑体" panose="02010609060101010101" pitchFamily="49" charset="-122"/>
              </a:rPr>
              <a:t>end</a:t>
            </a:r>
          </a:p>
          <a:p>
            <a:pPr eaLnBrk="1" hangingPunct="1">
              <a:lnSpc>
                <a:spcPct val="110000"/>
              </a:lnSpc>
            </a:pPr>
            <a:r>
              <a:rPr lang="en-US" altLang="zh-CN" sz="2000" dirty="0" err="1">
                <a:ea typeface="黑体" panose="02010609060101010101" pitchFamily="49" charset="-122"/>
              </a:rPr>
              <a:t>endmodule</a:t>
            </a:r>
            <a:endParaRPr lang="en-US" altLang="zh-CN" sz="2000" dirty="0">
              <a:ea typeface="黑体" panose="02010609060101010101" pitchFamily="49" charset="-122"/>
            </a:endParaRPr>
          </a:p>
        </p:txBody>
      </p:sp>
      <p:sp>
        <p:nvSpPr>
          <p:cNvPr id="17415" name="Rectangle 10"/>
          <p:cNvSpPr>
            <a:spLocks noChangeArrowheads="1"/>
          </p:cNvSpPr>
          <p:nvPr/>
        </p:nvSpPr>
        <p:spPr bwMode="auto">
          <a:xfrm>
            <a:off x="1835150" y="4927600"/>
            <a:ext cx="2808288" cy="792163"/>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grpSp>
        <p:nvGrpSpPr>
          <p:cNvPr id="17416" name="Group 31"/>
          <p:cNvGrpSpPr>
            <a:grpSpLocks/>
          </p:cNvGrpSpPr>
          <p:nvPr/>
        </p:nvGrpSpPr>
        <p:grpSpPr bwMode="auto">
          <a:xfrm>
            <a:off x="6516688" y="2967038"/>
            <a:ext cx="2324100" cy="1398587"/>
            <a:chOff x="4183" y="1842"/>
            <a:chExt cx="1464" cy="881"/>
          </a:xfrm>
        </p:grpSpPr>
        <p:sp>
          <p:nvSpPr>
            <p:cNvPr id="17417" name="Text Box 15"/>
            <p:cNvSpPr txBox="1">
              <a:spLocks noChangeArrowheads="1"/>
            </p:cNvSpPr>
            <p:nvPr/>
          </p:nvSpPr>
          <p:spPr bwMode="auto">
            <a:xfrm>
              <a:off x="4276" y="1842"/>
              <a:ext cx="336"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90000"/>
                </a:lnSpc>
              </a:pPr>
              <a:r>
                <a:rPr lang="en-US" altLang="zh-CN" sz="1800">
                  <a:ea typeface="黑体" panose="02010609060101010101" pitchFamily="49" charset="-122"/>
                </a:rPr>
                <a:t>D</a:t>
              </a:r>
            </a:p>
            <a:p>
              <a:pPr eaLnBrk="1" hangingPunct="1">
                <a:lnSpc>
                  <a:spcPct val="90000"/>
                </a:lnSpc>
              </a:pPr>
              <a:r>
                <a:rPr lang="en-US" altLang="zh-CN" sz="1800">
                  <a:ea typeface="黑体" panose="02010609060101010101" pitchFamily="49" charset="-122"/>
                </a:rPr>
                <a:t>EN</a:t>
              </a:r>
            </a:p>
          </p:txBody>
        </p:sp>
        <p:sp>
          <p:nvSpPr>
            <p:cNvPr id="17418" name="Rectangle 16"/>
            <p:cNvSpPr>
              <a:spLocks noChangeArrowheads="1"/>
            </p:cNvSpPr>
            <p:nvPr/>
          </p:nvSpPr>
          <p:spPr bwMode="auto">
            <a:xfrm>
              <a:off x="5409" y="1849"/>
              <a:ext cx="2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a:ea typeface="黑体" panose="02010609060101010101" pitchFamily="49" charset="-122"/>
                </a:rPr>
                <a:t>Q</a:t>
              </a:r>
            </a:p>
          </p:txBody>
        </p:sp>
        <p:sp>
          <p:nvSpPr>
            <p:cNvPr id="17419" name="Rectangle 17"/>
            <p:cNvSpPr>
              <a:spLocks noChangeArrowheads="1"/>
            </p:cNvSpPr>
            <p:nvPr/>
          </p:nvSpPr>
          <p:spPr bwMode="auto">
            <a:xfrm>
              <a:off x="4910" y="1860"/>
              <a:ext cx="363" cy="499"/>
            </a:xfrm>
            <a:prstGeom prst="rect">
              <a:avLst/>
            </a:prstGeom>
            <a:solidFill>
              <a:srgbClr val="CDFFF2"/>
            </a:solidFill>
            <a:ln w="28575">
              <a:solidFill>
                <a:srgbClr val="00A87C"/>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17420" name="Line 19"/>
            <p:cNvSpPr>
              <a:spLocks noChangeShapeType="1"/>
            </p:cNvSpPr>
            <p:nvPr/>
          </p:nvSpPr>
          <p:spPr bwMode="auto">
            <a:xfrm>
              <a:off x="5273" y="1988"/>
              <a:ext cx="181" cy="0"/>
            </a:xfrm>
            <a:prstGeom prst="line">
              <a:avLst/>
            </a:prstGeom>
            <a:noFill/>
            <a:ln w="38100">
              <a:solidFill>
                <a:srgbClr val="00A87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Text Box 20"/>
            <p:cNvSpPr txBox="1">
              <a:spLocks noChangeArrowheads="1"/>
            </p:cNvSpPr>
            <p:nvPr/>
          </p:nvSpPr>
          <p:spPr bwMode="auto">
            <a:xfrm>
              <a:off x="4870" y="1865"/>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a:ea typeface="黑体" panose="02010609060101010101" pitchFamily="49" charset="-122"/>
                </a:rPr>
                <a:t>D</a:t>
              </a:r>
            </a:p>
          </p:txBody>
        </p:sp>
        <p:sp>
          <p:nvSpPr>
            <p:cNvPr id="17422" name="Freeform 21"/>
            <p:cNvSpPr>
              <a:spLocks/>
            </p:cNvSpPr>
            <p:nvPr/>
          </p:nvSpPr>
          <p:spPr bwMode="auto">
            <a:xfrm>
              <a:off x="4902" y="2207"/>
              <a:ext cx="91" cy="90"/>
            </a:xfrm>
            <a:custGeom>
              <a:avLst/>
              <a:gdLst>
                <a:gd name="T0" fmla="*/ 0 w 91"/>
                <a:gd name="T1" fmla="*/ 0 h 90"/>
                <a:gd name="T2" fmla="*/ 91 w 91"/>
                <a:gd name="T3" fmla="*/ 45 h 90"/>
                <a:gd name="T4" fmla="*/ 0 w 91"/>
                <a:gd name="T5" fmla="*/ 90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0" y="0"/>
                  </a:moveTo>
                  <a:lnTo>
                    <a:pt x="91" y="45"/>
                  </a:lnTo>
                  <a:lnTo>
                    <a:pt x="0" y="90"/>
                  </a:lnTo>
                </a:path>
              </a:pathLst>
            </a:custGeom>
            <a:noFill/>
            <a:ln w="38100">
              <a:solidFill>
                <a:srgbClr val="00A87C"/>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17423" name="Text Box 22"/>
            <p:cNvSpPr txBox="1">
              <a:spLocks noChangeArrowheads="1"/>
            </p:cNvSpPr>
            <p:nvPr/>
          </p:nvSpPr>
          <p:spPr bwMode="auto">
            <a:xfrm>
              <a:off x="4183" y="2140"/>
              <a:ext cx="6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1800">
                  <a:ea typeface="黑体" panose="02010609060101010101" pitchFamily="49" charset="-122"/>
                </a:rPr>
                <a:t>CLK</a:t>
              </a:r>
            </a:p>
          </p:txBody>
        </p:sp>
        <p:sp>
          <p:nvSpPr>
            <p:cNvPr id="17424" name="Rectangle 23"/>
            <p:cNvSpPr>
              <a:spLocks noChangeArrowheads="1"/>
            </p:cNvSpPr>
            <p:nvPr/>
          </p:nvSpPr>
          <p:spPr bwMode="auto">
            <a:xfrm>
              <a:off x="5078" y="1862"/>
              <a:ext cx="2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a:ea typeface="黑体" panose="02010609060101010101" pitchFamily="49" charset="-122"/>
                </a:rPr>
                <a:t>Q</a:t>
              </a:r>
            </a:p>
          </p:txBody>
        </p:sp>
        <p:sp>
          <p:nvSpPr>
            <p:cNvPr id="17425" name="Line 24"/>
            <p:cNvSpPr>
              <a:spLocks noChangeShapeType="1"/>
            </p:cNvSpPr>
            <p:nvPr/>
          </p:nvSpPr>
          <p:spPr bwMode="auto">
            <a:xfrm>
              <a:off x="4543" y="1960"/>
              <a:ext cx="363" cy="0"/>
            </a:xfrm>
            <a:prstGeom prst="line">
              <a:avLst/>
            </a:prstGeom>
            <a:noFill/>
            <a:ln w="38100">
              <a:solidFill>
                <a:srgbClr val="00A87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6" name="Line 25"/>
            <p:cNvSpPr>
              <a:spLocks noChangeShapeType="1"/>
            </p:cNvSpPr>
            <p:nvPr/>
          </p:nvSpPr>
          <p:spPr bwMode="auto">
            <a:xfrm>
              <a:off x="4543" y="2096"/>
              <a:ext cx="363" cy="0"/>
            </a:xfrm>
            <a:prstGeom prst="line">
              <a:avLst/>
            </a:prstGeom>
            <a:noFill/>
            <a:ln w="38100">
              <a:solidFill>
                <a:srgbClr val="00A87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7" name="Line 26"/>
            <p:cNvSpPr>
              <a:spLocks noChangeShapeType="1"/>
            </p:cNvSpPr>
            <p:nvPr/>
          </p:nvSpPr>
          <p:spPr bwMode="auto">
            <a:xfrm>
              <a:off x="4535" y="2248"/>
              <a:ext cx="363" cy="0"/>
            </a:xfrm>
            <a:prstGeom prst="line">
              <a:avLst/>
            </a:prstGeom>
            <a:noFill/>
            <a:ln w="38100">
              <a:solidFill>
                <a:srgbClr val="00A87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8" name="Line 27"/>
            <p:cNvSpPr>
              <a:spLocks noChangeShapeType="1"/>
            </p:cNvSpPr>
            <p:nvPr/>
          </p:nvSpPr>
          <p:spPr bwMode="auto">
            <a:xfrm rot="-5400000">
              <a:off x="4919" y="2542"/>
              <a:ext cx="363" cy="0"/>
            </a:xfrm>
            <a:prstGeom prst="line">
              <a:avLst/>
            </a:prstGeom>
            <a:noFill/>
            <a:ln w="38100">
              <a:solidFill>
                <a:srgbClr val="00A87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9" name="Text Box 28"/>
            <p:cNvSpPr txBox="1">
              <a:spLocks noChangeArrowheads="1"/>
            </p:cNvSpPr>
            <p:nvPr/>
          </p:nvSpPr>
          <p:spPr bwMode="auto">
            <a:xfrm>
              <a:off x="5066" y="2413"/>
              <a:ext cx="3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600">
                  <a:ea typeface="黑体" panose="02010609060101010101" pitchFamily="49" charset="-122"/>
                </a:rPr>
                <a:t>RST</a:t>
              </a:r>
            </a:p>
          </p:txBody>
        </p:sp>
        <p:sp>
          <p:nvSpPr>
            <p:cNvPr id="17430" name="Oval 29"/>
            <p:cNvSpPr>
              <a:spLocks noChangeArrowheads="1"/>
            </p:cNvSpPr>
            <p:nvPr/>
          </p:nvSpPr>
          <p:spPr bwMode="auto">
            <a:xfrm>
              <a:off x="5074" y="2373"/>
              <a:ext cx="45" cy="46"/>
            </a:xfrm>
            <a:prstGeom prst="ellipse">
              <a:avLst/>
            </a:prstGeom>
            <a:solidFill>
              <a:srgbClr val="FFFFFF"/>
            </a:solidFill>
            <a:ln w="38100">
              <a:solidFill>
                <a:srgbClr val="00A87C"/>
              </a:solidFill>
              <a:round/>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8DD7DACC-4689-4682-9BE7-D433EF953013}" type="slidenum">
              <a:rPr lang="en-US" altLang="zh-CN" sz="1400" b="0">
                <a:latin typeface="Tahoma" panose="020B0604030504040204" pitchFamily="34" charset="0"/>
              </a:rPr>
              <a:pPr eaLnBrk="1" hangingPunct="1"/>
              <a:t>27</a:t>
            </a:fld>
            <a:endParaRPr lang="en-US" altLang="zh-CN" sz="1400" b="0">
              <a:latin typeface="Tahoma" panose="020B0604030504040204" pitchFamily="34" charset="0"/>
            </a:endParaRPr>
          </a:p>
        </p:txBody>
      </p:sp>
      <p:sp>
        <p:nvSpPr>
          <p:cNvPr id="18435"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18436" name="Text Box 5"/>
          <p:cNvSpPr txBox="1">
            <a:spLocks noChangeArrowheads="1"/>
          </p:cNvSpPr>
          <p:nvPr/>
        </p:nvSpPr>
        <p:spPr bwMode="auto">
          <a:xfrm>
            <a:off x="468313" y="1268413"/>
            <a:ext cx="8207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solidFill>
                  <a:schemeClr val="hlink"/>
                </a:solidFill>
                <a:ea typeface="黑体" panose="02010609060101010101" pitchFamily="49" charset="-122"/>
              </a:rPr>
              <a:t>always</a:t>
            </a:r>
            <a:r>
              <a:rPr lang="zh-CN" altLang="en-US">
                <a:solidFill>
                  <a:schemeClr val="hlink"/>
                </a:solidFill>
                <a:ea typeface="黑体" panose="02010609060101010101" pitchFamily="49" charset="-122"/>
              </a:rPr>
              <a:t>语句块中如果有多条赋值语句必须将其用</a:t>
            </a:r>
            <a:r>
              <a:rPr lang="en-US" altLang="zh-CN">
                <a:solidFill>
                  <a:schemeClr val="hlink"/>
                </a:solidFill>
                <a:ea typeface="黑体" panose="02010609060101010101" pitchFamily="49" charset="-122"/>
              </a:rPr>
              <a:t>begin end</a:t>
            </a:r>
            <a:r>
              <a:rPr lang="zh-CN" altLang="en-US">
                <a:solidFill>
                  <a:schemeClr val="hlink"/>
                </a:solidFill>
                <a:ea typeface="黑体" panose="02010609060101010101" pitchFamily="49" charset="-122"/>
              </a:rPr>
              <a:t>包括起来，</a:t>
            </a:r>
            <a:r>
              <a:rPr lang="en-US" altLang="zh-CN">
                <a:solidFill>
                  <a:schemeClr val="hlink"/>
                </a:solidFill>
                <a:ea typeface="黑体" panose="02010609060101010101" pitchFamily="49" charset="-122"/>
              </a:rPr>
              <a:t>assign</a:t>
            </a:r>
            <a:r>
              <a:rPr lang="zh-CN" altLang="en-US">
                <a:solidFill>
                  <a:schemeClr val="hlink"/>
                </a:solidFill>
                <a:ea typeface="黑体" panose="02010609060101010101" pitchFamily="49" charset="-122"/>
              </a:rPr>
              <a:t>语句中没有</a:t>
            </a:r>
            <a:r>
              <a:rPr lang="en-US" altLang="zh-CN">
                <a:solidFill>
                  <a:schemeClr val="hlink"/>
                </a:solidFill>
                <a:ea typeface="黑体" panose="02010609060101010101" pitchFamily="49" charset="-122"/>
              </a:rPr>
              <a:t>begin end</a:t>
            </a:r>
            <a:r>
              <a:rPr lang="zh-CN" altLang="en-US">
                <a:solidFill>
                  <a:schemeClr val="hlink"/>
                </a:solidFill>
                <a:ea typeface="黑体" panose="02010609060101010101" pitchFamily="49" charset="-122"/>
              </a:rPr>
              <a:t>。</a:t>
            </a:r>
          </a:p>
        </p:txBody>
      </p:sp>
      <p:sp>
        <p:nvSpPr>
          <p:cNvPr id="18437" name="Text Box 6"/>
          <p:cNvSpPr txBox="1">
            <a:spLocks noChangeArrowheads="1"/>
          </p:cNvSpPr>
          <p:nvPr/>
        </p:nvSpPr>
        <p:spPr bwMode="auto">
          <a:xfrm>
            <a:off x="468313" y="22764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18438" name="Text Box 7"/>
          <p:cNvSpPr txBox="1">
            <a:spLocks noChangeArrowheads="1"/>
          </p:cNvSpPr>
          <p:nvPr/>
        </p:nvSpPr>
        <p:spPr bwMode="auto">
          <a:xfrm>
            <a:off x="1187450" y="2349500"/>
            <a:ext cx="5400675" cy="4238625"/>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90000"/>
              </a:lnSpc>
              <a:spcBef>
                <a:spcPct val="50000"/>
              </a:spcBef>
            </a:pPr>
            <a:r>
              <a:rPr lang="en-US" altLang="zh-CN" sz="2000" dirty="0">
                <a:ea typeface="黑体" panose="02010609060101010101" pitchFamily="49" charset="-122"/>
              </a:rPr>
              <a:t>module adder (</a:t>
            </a:r>
            <a:r>
              <a:rPr lang="en-US" altLang="zh-CN" sz="2000" dirty="0" err="1">
                <a:ea typeface="黑体" panose="02010609060101010101" pitchFamily="49" charset="-122"/>
              </a:rPr>
              <a:t>a,b,cin,s,cout</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    input </a:t>
            </a:r>
            <a:r>
              <a:rPr lang="en-US" altLang="zh-CN" sz="2000" dirty="0" err="1">
                <a:ea typeface="黑体" panose="02010609060101010101" pitchFamily="49" charset="-122"/>
              </a:rPr>
              <a:t>a,b,cin</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    output </a:t>
            </a:r>
            <a:r>
              <a:rPr lang="en-US" altLang="zh-CN" sz="2000" dirty="0" err="1">
                <a:ea typeface="黑体" panose="02010609060101010101" pitchFamily="49" charset="-122"/>
              </a:rPr>
              <a:t>s,cout</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    reg </a:t>
            </a:r>
            <a:r>
              <a:rPr lang="en-US" altLang="zh-CN" sz="2000" dirty="0" err="1">
                <a:ea typeface="黑体" panose="02010609060101010101" pitchFamily="49" charset="-122"/>
              </a:rPr>
              <a:t>s,cout</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always @ (</a:t>
            </a:r>
            <a:r>
              <a:rPr lang="en-US" altLang="zh-CN" sz="2000" dirty="0" err="1">
                <a:ea typeface="黑体" panose="02010609060101010101" pitchFamily="49" charset="-122"/>
              </a:rPr>
              <a:t>a,b,cin</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begin</a:t>
            </a:r>
          </a:p>
          <a:p>
            <a:pPr eaLnBrk="1" hangingPunct="1">
              <a:lnSpc>
                <a:spcPct val="90000"/>
              </a:lnSpc>
              <a:spcBef>
                <a:spcPct val="50000"/>
              </a:spcBef>
            </a:pPr>
            <a:r>
              <a:rPr lang="en-US" altLang="zh-CN" sz="2000" dirty="0">
                <a:ea typeface="黑体" panose="02010609060101010101" pitchFamily="49" charset="-122"/>
              </a:rPr>
              <a:t>    s=</a:t>
            </a:r>
            <a:r>
              <a:rPr lang="en-US" altLang="zh-CN" sz="2000" dirty="0" err="1">
                <a:ea typeface="黑体" panose="02010609060101010101" pitchFamily="49" charset="-122"/>
              </a:rPr>
              <a:t>a^b^cin</a:t>
            </a:r>
            <a:r>
              <a:rPr lang="zh-CN" altLang="en-US" sz="2000" dirty="0">
                <a:ea typeface="黑体" panose="02010609060101010101" pitchFamily="49" charset="-122"/>
              </a:rPr>
              <a:t>；</a:t>
            </a:r>
          </a:p>
          <a:p>
            <a:pPr eaLnBrk="1" hangingPunct="1">
              <a:lnSpc>
                <a:spcPct val="90000"/>
              </a:lnSpc>
              <a:spcBef>
                <a:spcPct val="50000"/>
              </a:spcBef>
            </a:pPr>
            <a:r>
              <a:rPr lang="zh-CN" altLang="en-US" sz="2000" dirty="0">
                <a:ea typeface="黑体" panose="02010609060101010101" pitchFamily="49" charset="-122"/>
              </a:rPr>
              <a:t>    </a:t>
            </a:r>
            <a:r>
              <a:rPr lang="en-US" altLang="zh-CN" sz="2000" dirty="0" err="1">
                <a:ea typeface="黑体" panose="02010609060101010101" pitchFamily="49" charset="-122"/>
              </a:rPr>
              <a:t>cout</a:t>
            </a:r>
            <a:r>
              <a:rPr lang="en-US" altLang="zh-CN" sz="2000" dirty="0">
                <a:ea typeface="黑体" panose="02010609060101010101" pitchFamily="49" charset="-122"/>
              </a:rPr>
              <a:t>=(</a:t>
            </a:r>
            <a:r>
              <a:rPr lang="en-US" altLang="zh-CN" sz="2000" dirty="0" err="1">
                <a:ea typeface="黑体" panose="02010609060101010101" pitchFamily="49" charset="-122"/>
              </a:rPr>
              <a:t>a&amp;b</a:t>
            </a:r>
            <a:r>
              <a:rPr lang="en-US" altLang="zh-CN" sz="2000" dirty="0">
                <a:ea typeface="黑体" panose="02010609060101010101" pitchFamily="49" charset="-122"/>
              </a:rPr>
              <a:t>)|(</a:t>
            </a:r>
            <a:r>
              <a:rPr lang="en-US" altLang="zh-CN" sz="2000" dirty="0" err="1">
                <a:ea typeface="黑体" panose="02010609060101010101" pitchFamily="49" charset="-122"/>
              </a:rPr>
              <a:t>a&amp;cin</a:t>
            </a:r>
            <a:r>
              <a:rPr lang="en-US" altLang="zh-CN" sz="2000" dirty="0">
                <a:ea typeface="黑体" panose="02010609060101010101" pitchFamily="49" charset="-122"/>
              </a:rPr>
              <a:t>)|(</a:t>
            </a:r>
            <a:r>
              <a:rPr lang="en-US" altLang="zh-CN" sz="2000" dirty="0" err="1">
                <a:ea typeface="黑体" panose="02010609060101010101" pitchFamily="49" charset="-122"/>
              </a:rPr>
              <a:t>b&amp;cin</a:t>
            </a:r>
            <a:r>
              <a:rPr lang="en-US" altLang="zh-CN" sz="2000" dirty="0">
                <a:ea typeface="黑体" panose="02010609060101010101" pitchFamily="49" charset="-122"/>
              </a:rPr>
              <a:t>);</a:t>
            </a:r>
          </a:p>
          <a:p>
            <a:pPr eaLnBrk="1" hangingPunct="1">
              <a:lnSpc>
                <a:spcPct val="90000"/>
              </a:lnSpc>
              <a:spcBef>
                <a:spcPct val="50000"/>
              </a:spcBef>
            </a:pPr>
            <a:r>
              <a:rPr lang="en-US" altLang="zh-CN" sz="2000" dirty="0">
                <a:ea typeface="黑体" panose="02010609060101010101" pitchFamily="49" charset="-122"/>
              </a:rPr>
              <a:t>end</a:t>
            </a:r>
          </a:p>
          <a:p>
            <a:pPr eaLnBrk="1" hangingPunct="1">
              <a:lnSpc>
                <a:spcPct val="90000"/>
              </a:lnSpc>
              <a:spcBef>
                <a:spcPct val="50000"/>
              </a:spcBef>
            </a:pPr>
            <a:r>
              <a:rPr lang="en-US" altLang="zh-CN" sz="2000" dirty="0" err="1">
                <a:ea typeface="黑体" panose="02010609060101010101" pitchFamily="49" charset="-122"/>
              </a:rPr>
              <a:t>endmodule</a:t>
            </a:r>
            <a:endParaRPr lang="en-US" altLang="zh-CN" sz="2000" dirty="0">
              <a:ea typeface="黑体" panose="02010609060101010101" pitchFamily="49" charset="-122"/>
            </a:endParaRPr>
          </a:p>
        </p:txBody>
      </p:sp>
      <p:sp>
        <p:nvSpPr>
          <p:cNvPr id="18439" name="Oval 8"/>
          <p:cNvSpPr>
            <a:spLocks noChangeArrowheads="1"/>
          </p:cNvSpPr>
          <p:nvPr/>
        </p:nvSpPr>
        <p:spPr bwMode="auto">
          <a:xfrm>
            <a:off x="3851275" y="1298575"/>
            <a:ext cx="720725" cy="431800"/>
          </a:xfrm>
          <a:prstGeom prst="ellipse">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solidFill>
                <a:schemeClr val="hlink"/>
              </a:solidFill>
              <a:ea typeface="黑体" panose="02010609060101010101" pitchFamily="49" charset="-122"/>
            </a:endParaRPr>
          </a:p>
        </p:txBody>
      </p:sp>
      <p:sp>
        <p:nvSpPr>
          <p:cNvPr id="18440" name="Rectangle 9"/>
          <p:cNvSpPr>
            <a:spLocks noChangeArrowheads="1"/>
          </p:cNvSpPr>
          <p:nvPr/>
        </p:nvSpPr>
        <p:spPr bwMode="auto">
          <a:xfrm>
            <a:off x="1258888" y="4508500"/>
            <a:ext cx="4681537" cy="158432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18441" name="Text Box 10"/>
          <p:cNvSpPr txBox="1">
            <a:spLocks noChangeArrowheads="1"/>
          </p:cNvSpPr>
          <p:nvPr/>
        </p:nvSpPr>
        <p:spPr bwMode="auto">
          <a:xfrm>
            <a:off x="6640513" y="4076700"/>
            <a:ext cx="250348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just" eaLnBrk="1" hangingPunct="1"/>
            <a:r>
              <a:rPr lang="zh-CN" altLang="en-US">
                <a:ea typeface="黑体" panose="02010609060101010101" pitchFamily="49" charset="-122"/>
              </a:rPr>
              <a:t>思考问题：在仿真时，</a:t>
            </a:r>
            <a:r>
              <a:rPr lang="en-US" altLang="zh-CN">
                <a:ea typeface="黑体" panose="02010609060101010101" pitchFamily="49" charset="-122"/>
              </a:rPr>
              <a:t>begin</a:t>
            </a:r>
            <a:r>
              <a:rPr lang="zh-CN" altLang="en-US">
                <a:ea typeface="黑体" panose="02010609060101010101" pitchFamily="49" charset="-122"/>
              </a:rPr>
              <a:t>和</a:t>
            </a:r>
            <a:r>
              <a:rPr lang="en-US" altLang="zh-CN">
                <a:ea typeface="黑体" panose="02010609060101010101" pitchFamily="49" charset="-122"/>
              </a:rPr>
              <a:t>end</a:t>
            </a:r>
            <a:r>
              <a:rPr lang="zh-CN" altLang="en-US">
                <a:ea typeface="黑体" panose="02010609060101010101" pitchFamily="49" charset="-122"/>
              </a:rPr>
              <a:t>之间的语句执行顺序如何？</a:t>
            </a:r>
          </a:p>
        </p:txBody>
      </p:sp>
      <p:sp>
        <p:nvSpPr>
          <p:cNvPr id="18442" name="TextBox 11"/>
          <p:cNvSpPr txBox="1">
            <a:spLocks noChangeArrowheads="1"/>
          </p:cNvSpPr>
          <p:nvPr/>
        </p:nvSpPr>
        <p:spPr bwMode="auto">
          <a:xfrm>
            <a:off x="6732588" y="2420938"/>
            <a:ext cx="22669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请大家画出该模块的端口符号图和电路图</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19460" name="Text Box 5"/>
          <p:cNvSpPr txBox="1">
            <a:spLocks noChangeArrowheads="1"/>
          </p:cNvSpPr>
          <p:nvPr/>
        </p:nvSpPr>
        <p:spPr bwMode="auto">
          <a:xfrm>
            <a:off x="303213" y="1125538"/>
            <a:ext cx="8840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chemeClr val="hlink"/>
                </a:solidFill>
                <a:ea typeface="黑体" panose="02010609060101010101" pitchFamily="49" charset="-122"/>
              </a:rPr>
              <a:t>begin end</a:t>
            </a:r>
            <a:r>
              <a:rPr lang="zh-CN" altLang="en-US">
                <a:solidFill>
                  <a:schemeClr val="hlink"/>
                </a:solidFill>
                <a:ea typeface="黑体" panose="02010609060101010101" pitchFamily="49" charset="-122"/>
              </a:rPr>
              <a:t>之间的赋值语句有阻塞赋值和非阻塞赋值之分。</a:t>
            </a:r>
          </a:p>
        </p:txBody>
      </p:sp>
      <p:sp>
        <p:nvSpPr>
          <p:cNvPr id="21" name="Text Box 16"/>
          <p:cNvSpPr txBox="1">
            <a:spLocks noChangeArrowheads="1"/>
          </p:cNvSpPr>
          <p:nvPr/>
        </p:nvSpPr>
        <p:spPr bwMode="auto">
          <a:xfrm>
            <a:off x="250825" y="1627188"/>
            <a:ext cx="8137525" cy="3711575"/>
          </a:xfrm>
          <a:prstGeom prst="rect">
            <a:avLst/>
          </a:prstGeom>
          <a:solidFill>
            <a:srgbClr val="E3E3F1"/>
          </a:solidFill>
          <a:ln w="28575" algn="ctr">
            <a:noFill/>
            <a:miter lim="800000"/>
            <a:headEnd/>
            <a:tailEnd/>
          </a:ln>
        </p:spPr>
        <p:txBody>
          <a:bodyPr>
            <a:spAutoFit/>
          </a:bodyPr>
          <a:lstStyle/>
          <a:p>
            <a:pPr>
              <a:lnSpc>
                <a:spcPct val="140000"/>
              </a:lnSpc>
            </a:pPr>
            <a:r>
              <a:rPr lang="zh-CN" altLang="en-US">
                <a:solidFill>
                  <a:srgbClr val="880000"/>
                </a:solidFill>
                <a:ea typeface="黑体" pitchFamily="2" charset="-122"/>
              </a:rPr>
              <a:t>阻塞赋值：语句顺序执行，前面的执行完才能执行后面；</a:t>
            </a:r>
          </a:p>
          <a:p>
            <a:pPr>
              <a:lnSpc>
                <a:spcPct val="140000"/>
              </a:lnSpc>
            </a:pPr>
            <a:r>
              <a:rPr lang="zh-CN" altLang="en-US">
                <a:solidFill>
                  <a:srgbClr val="880000"/>
                </a:solidFill>
                <a:ea typeface="黑体" pitchFamily="2" charset="-122"/>
              </a:rPr>
              <a:t>		赋值符号：</a:t>
            </a:r>
            <a:r>
              <a:rPr lang="en-US" altLang="zh-CN">
                <a:solidFill>
                  <a:srgbClr val="880000"/>
                </a:solidFill>
                <a:ea typeface="黑体" pitchFamily="2" charset="-122"/>
              </a:rPr>
              <a:t>=</a:t>
            </a:r>
          </a:p>
          <a:p>
            <a:pPr>
              <a:lnSpc>
                <a:spcPct val="140000"/>
              </a:lnSpc>
            </a:pPr>
            <a:endParaRPr lang="en-US" altLang="zh-CN">
              <a:solidFill>
                <a:srgbClr val="880000"/>
              </a:solidFill>
              <a:ea typeface="黑体" pitchFamily="2" charset="-122"/>
            </a:endParaRPr>
          </a:p>
          <a:p>
            <a:pPr>
              <a:lnSpc>
                <a:spcPct val="140000"/>
              </a:lnSpc>
            </a:pPr>
            <a:endParaRPr lang="en-US" altLang="zh-CN">
              <a:solidFill>
                <a:srgbClr val="880000"/>
              </a:solidFill>
              <a:ea typeface="黑体" pitchFamily="2" charset="-122"/>
            </a:endParaRPr>
          </a:p>
          <a:p>
            <a:pPr>
              <a:lnSpc>
                <a:spcPct val="140000"/>
              </a:lnSpc>
            </a:pPr>
            <a:endParaRPr lang="zh-CN" altLang="en-US">
              <a:solidFill>
                <a:srgbClr val="880000"/>
              </a:solidFill>
              <a:ea typeface="黑体" pitchFamily="2" charset="-122"/>
            </a:endParaRPr>
          </a:p>
          <a:p>
            <a:pPr>
              <a:lnSpc>
                <a:spcPct val="140000"/>
              </a:lnSpc>
            </a:pPr>
            <a:r>
              <a:rPr lang="zh-CN" altLang="en-US">
                <a:solidFill>
                  <a:srgbClr val="880000"/>
                </a:solidFill>
                <a:ea typeface="黑体" pitchFamily="2" charset="-122"/>
              </a:rPr>
              <a:t>非阻塞赋值：所有语句并行执行。</a:t>
            </a:r>
          </a:p>
          <a:p>
            <a:pPr>
              <a:lnSpc>
                <a:spcPct val="140000"/>
              </a:lnSpc>
            </a:pPr>
            <a:r>
              <a:rPr lang="zh-CN" altLang="en-US">
                <a:solidFill>
                  <a:srgbClr val="880000"/>
                </a:solidFill>
                <a:ea typeface="黑体" pitchFamily="2" charset="-122"/>
              </a:rPr>
              <a:t>		赋值符号：</a:t>
            </a:r>
            <a:r>
              <a:rPr lang="en-US" altLang="zh-CN">
                <a:solidFill>
                  <a:srgbClr val="880000"/>
                </a:solidFill>
                <a:ea typeface="黑体" pitchFamily="2" charset="-122"/>
              </a:rPr>
              <a:t>&lt;=</a:t>
            </a:r>
          </a:p>
        </p:txBody>
      </p:sp>
      <p:sp>
        <p:nvSpPr>
          <p:cNvPr id="22" name="Text Box 10"/>
          <p:cNvSpPr txBox="1">
            <a:spLocks noChangeArrowheads="1"/>
          </p:cNvSpPr>
          <p:nvPr/>
        </p:nvSpPr>
        <p:spPr bwMode="auto">
          <a:xfrm>
            <a:off x="2124075" y="2852738"/>
            <a:ext cx="3527425" cy="850900"/>
          </a:xfrm>
          <a:prstGeom prst="rect">
            <a:avLst/>
          </a:prstGeom>
          <a:solidFill>
            <a:srgbClr val="CDDD9C"/>
          </a:solidFill>
          <a:ln w="28575" algn="ctr">
            <a:solidFill>
              <a:srgbClr val="99CCCD"/>
            </a:solidFill>
            <a:miter lim="800000"/>
            <a:headEnd/>
            <a:tailEnd/>
          </a:ln>
        </p:spPr>
        <p:txBody>
          <a:bodyPr>
            <a:spAutoFit/>
          </a:bodyPr>
          <a:lstStyle/>
          <a:p>
            <a:r>
              <a:rPr lang="zh-CN" altLang="en-US">
                <a:solidFill>
                  <a:srgbClr val="000032"/>
                </a:solidFill>
                <a:ea typeface="黑体" pitchFamily="2" charset="-122"/>
              </a:rPr>
              <a:t>赋值目标</a:t>
            </a:r>
            <a:r>
              <a:rPr lang="en-US" altLang="zh-CN">
                <a:solidFill>
                  <a:srgbClr val="000032"/>
                </a:solidFill>
                <a:ea typeface="黑体" pitchFamily="2" charset="-122"/>
              </a:rPr>
              <a:t>1=</a:t>
            </a:r>
            <a:r>
              <a:rPr lang="zh-CN" altLang="en-US">
                <a:solidFill>
                  <a:srgbClr val="000032"/>
                </a:solidFill>
                <a:ea typeface="黑体" pitchFamily="2" charset="-122"/>
              </a:rPr>
              <a:t>表达式</a:t>
            </a:r>
            <a:r>
              <a:rPr lang="en-US" altLang="zh-CN">
                <a:solidFill>
                  <a:srgbClr val="000032"/>
                </a:solidFill>
                <a:ea typeface="黑体" pitchFamily="2" charset="-122"/>
              </a:rPr>
              <a:t>1</a:t>
            </a:r>
            <a:r>
              <a:rPr lang="zh-CN" altLang="en-US">
                <a:solidFill>
                  <a:srgbClr val="000032"/>
                </a:solidFill>
                <a:ea typeface="黑体" pitchFamily="2" charset="-122"/>
              </a:rPr>
              <a:t>；</a:t>
            </a:r>
          </a:p>
          <a:p>
            <a:r>
              <a:rPr lang="zh-CN" altLang="en-US">
                <a:solidFill>
                  <a:srgbClr val="000032"/>
                </a:solidFill>
                <a:ea typeface="黑体" pitchFamily="2" charset="-122"/>
              </a:rPr>
              <a:t>赋值目标</a:t>
            </a:r>
            <a:r>
              <a:rPr lang="en-US" altLang="zh-CN">
                <a:solidFill>
                  <a:srgbClr val="000032"/>
                </a:solidFill>
                <a:ea typeface="黑体" pitchFamily="2" charset="-122"/>
              </a:rPr>
              <a:t>2=</a:t>
            </a:r>
            <a:r>
              <a:rPr lang="zh-CN" altLang="en-US">
                <a:solidFill>
                  <a:srgbClr val="000032"/>
                </a:solidFill>
                <a:ea typeface="黑体" pitchFamily="2" charset="-122"/>
              </a:rPr>
              <a:t>表达式</a:t>
            </a:r>
            <a:r>
              <a:rPr lang="en-US" altLang="zh-CN">
                <a:solidFill>
                  <a:srgbClr val="000032"/>
                </a:solidFill>
                <a:ea typeface="黑体" pitchFamily="2" charset="-122"/>
              </a:rPr>
              <a:t>2</a:t>
            </a:r>
            <a:r>
              <a:rPr lang="zh-CN" altLang="en-US">
                <a:solidFill>
                  <a:srgbClr val="000032"/>
                </a:solidFill>
                <a:ea typeface="黑体" pitchFamily="2" charset="-122"/>
              </a:rPr>
              <a:t>；</a:t>
            </a:r>
          </a:p>
        </p:txBody>
      </p:sp>
      <p:sp>
        <p:nvSpPr>
          <p:cNvPr id="23" name="Text Box 12"/>
          <p:cNvSpPr txBox="1">
            <a:spLocks noChangeArrowheads="1"/>
          </p:cNvSpPr>
          <p:nvPr/>
        </p:nvSpPr>
        <p:spPr bwMode="auto">
          <a:xfrm>
            <a:off x="2124075" y="5457825"/>
            <a:ext cx="3816350" cy="850900"/>
          </a:xfrm>
          <a:prstGeom prst="rect">
            <a:avLst/>
          </a:prstGeom>
          <a:solidFill>
            <a:srgbClr val="CDDD9C"/>
          </a:solidFill>
          <a:ln w="28575" algn="ctr">
            <a:solidFill>
              <a:srgbClr val="99CCCD"/>
            </a:solidFill>
            <a:miter lim="800000"/>
            <a:headEnd/>
            <a:tailEnd/>
          </a:ln>
        </p:spPr>
        <p:txBody>
          <a:bodyPr>
            <a:spAutoFit/>
          </a:bodyPr>
          <a:lstStyle/>
          <a:p>
            <a:r>
              <a:rPr lang="zh-CN" altLang="en-US">
                <a:solidFill>
                  <a:srgbClr val="000032"/>
                </a:solidFill>
                <a:ea typeface="黑体" pitchFamily="2" charset="-122"/>
              </a:rPr>
              <a:t>赋值目标</a:t>
            </a:r>
            <a:r>
              <a:rPr lang="en-US" altLang="zh-CN">
                <a:solidFill>
                  <a:srgbClr val="000032"/>
                </a:solidFill>
                <a:ea typeface="黑体" pitchFamily="2" charset="-122"/>
              </a:rPr>
              <a:t>1&lt;=</a:t>
            </a:r>
            <a:r>
              <a:rPr lang="zh-CN" altLang="en-US">
                <a:solidFill>
                  <a:srgbClr val="000032"/>
                </a:solidFill>
                <a:ea typeface="黑体" pitchFamily="2" charset="-122"/>
              </a:rPr>
              <a:t>表达式</a:t>
            </a:r>
            <a:r>
              <a:rPr lang="en-US" altLang="zh-CN">
                <a:solidFill>
                  <a:srgbClr val="000032"/>
                </a:solidFill>
                <a:ea typeface="黑体" pitchFamily="2" charset="-122"/>
              </a:rPr>
              <a:t>1</a:t>
            </a:r>
            <a:r>
              <a:rPr lang="zh-CN" altLang="en-US">
                <a:solidFill>
                  <a:srgbClr val="000032"/>
                </a:solidFill>
                <a:ea typeface="黑体" pitchFamily="2" charset="-122"/>
              </a:rPr>
              <a:t>；</a:t>
            </a:r>
          </a:p>
          <a:p>
            <a:r>
              <a:rPr lang="zh-CN" altLang="en-US">
                <a:solidFill>
                  <a:srgbClr val="000032"/>
                </a:solidFill>
                <a:ea typeface="黑体" pitchFamily="2" charset="-122"/>
              </a:rPr>
              <a:t>赋值目标</a:t>
            </a:r>
            <a:r>
              <a:rPr lang="en-US" altLang="zh-CN">
                <a:solidFill>
                  <a:srgbClr val="000032"/>
                </a:solidFill>
                <a:ea typeface="黑体" pitchFamily="2" charset="-122"/>
              </a:rPr>
              <a:t>2&lt;=</a:t>
            </a:r>
            <a:r>
              <a:rPr lang="zh-CN" altLang="en-US">
                <a:solidFill>
                  <a:srgbClr val="000032"/>
                </a:solidFill>
                <a:ea typeface="黑体" pitchFamily="2" charset="-122"/>
              </a:rPr>
              <a:t>表达式</a:t>
            </a:r>
            <a:r>
              <a:rPr lang="en-US" altLang="zh-CN">
                <a:solidFill>
                  <a:srgbClr val="000032"/>
                </a:solidFill>
                <a:ea typeface="黑体" pitchFamily="2" charset="-122"/>
              </a:rPr>
              <a:t>2</a:t>
            </a:r>
            <a:r>
              <a:rPr lang="zh-CN" altLang="en-US">
                <a:solidFill>
                  <a:srgbClr val="000032"/>
                </a:solidFill>
                <a:ea typeface="黑体" pitchFamily="2" charset="-122"/>
              </a:rPr>
              <a:t>；</a:t>
            </a:r>
          </a:p>
        </p:txBody>
      </p:sp>
      <p:sp>
        <p:nvSpPr>
          <p:cNvPr id="24" name="Text Box 11"/>
          <p:cNvSpPr txBox="1">
            <a:spLocks noChangeArrowheads="1"/>
          </p:cNvSpPr>
          <p:nvPr/>
        </p:nvSpPr>
        <p:spPr bwMode="auto">
          <a:xfrm>
            <a:off x="5724525" y="2708275"/>
            <a:ext cx="3205163" cy="1006475"/>
          </a:xfrm>
          <a:prstGeom prst="rect">
            <a:avLst/>
          </a:prstGeom>
          <a:noFill/>
          <a:ln w="9525">
            <a:noFill/>
            <a:miter lim="800000"/>
            <a:headEnd/>
            <a:tailEnd/>
          </a:ln>
        </p:spPr>
        <p:txBody>
          <a:bodyPr>
            <a:spAutoFit/>
          </a:bodyPr>
          <a:lstStyle/>
          <a:p>
            <a:pPr>
              <a:spcBef>
                <a:spcPct val="50000"/>
              </a:spcBef>
            </a:pPr>
            <a:r>
              <a:rPr lang="zh-CN" altLang="en-US" sz="2000">
                <a:solidFill>
                  <a:srgbClr val="000000"/>
                </a:solidFill>
                <a:ea typeface="黑体" pitchFamily="2" charset="-122"/>
              </a:rPr>
              <a:t>赋值语句</a:t>
            </a:r>
            <a:r>
              <a:rPr lang="en-US" altLang="zh-CN" sz="2000">
                <a:solidFill>
                  <a:srgbClr val="000000"/>
                </a:solidFill>
                <a:ea typeface="黑体" pitchFamily="2" charset="-122"/>
              </a:rPr>
              <a:t>1</a:t>
            </a:r>
            <a:r>
              <a:rPr lang="zh-CN" altLang="en-US" sz="2000">
                <a:solidFill>
                  <a:srgbClr val="000000"/>
                </a:solidFill>
                <a:ea typeface="黑体" pitchFamily="2" charset="-122"/>
              </a:rPr>
              <a:t>会阻塞赋值语句</a:t>
            </a:r>
            <a:r>
              <a:rPr lang="en-US" altLang="zh-CN" sz="2000">
                <a:solidFill>
                  <a:srgbClr val="000000"/>
                </a:solidFill>
                <a:ea typeface="黑体" pitchFamily="2" charset="-122"/>
              </a:rPr>
              <a:t>2 </a:t>
            </a:r>
            <a:r>
              <a:rPr lang="zh-CN" altLang="en-US" sz="2000">
                <a:solidFill>
                  <a:srgbClr val="000000"/>
                </a:solidFill>
                <a:ea typeface="黑体" pitchFamily="2" charset="-122"/>
              </a:rPr>
              <a:t>，即只有当赋值语句</a:t>
            </a:r>
            <a:r>
              <a:rPr lang="en-US" altLang="zh-CN" sz="2000">
                <a:solidFill>
                  <a:srgbClr val="000000"/>
                </a:solidFill>
                <a:ea typeface="黑体" pitchFamily="2" charset="-122"/>
              </a:rPr>
              <a:t>1</a:t>
            </a:r>
            <a:r>
              <a:rPr lang="zh-CN" altLang="en-US" sz="2000">
                <a:solidFill>
                  <a:srgbClr val="000000"/>
                </a:solidFill>
                <a:ea typeface="黑体" pitchFamily="2" charset="-122"/>
              </a:rPr>
              <a:t>执行完才能执行赋值语句</a:t>
            </a:r>
            <a:r>
              <a:rPr lang="en-US" altLang="zh-CN" sz="2000">
                <a:solidFill>
                  <a:srgbClr val="000000"/>
                </a:solidFill>
                <a:ea typeface="黑体" pitchFamily="2" charset="-122"/>
              </a:rPr>
              <a:t>2</a:t>
            </a:r>
            <a:r>
              <a:rPr lang="zh-CN" altLang="en-US" sz="2000">
                <a:solidFill>
                  <a:srgbClr val="000000"/>
                </a:solidFill>
                <a:ea typeface="黑体" pitchFamily="2" charset="-122"/>
              </a:rPr>
              <a:t>。</a:t>
            </a:r>
          </a:p>
        </p:txBody>
      </p:sp>
      <p:sp>
        <p:nvSpPr>
          <p:cNvPr id="25" name="Text Box 13"/>
          <p:cNvSpPr txBox="1">
            <a:spLocks noChangeArrowheads="1"/>
          </p:cNvSpPr>
          <p:nvPr/>
        </p:nvSpPr>
        <p:spPr bwMode="auto">
          <a:xfrm>
            <a:off x="6084888" y="5302250"/>
            <a:ext cx="2808287" cy="1006475"/>
          </a:xfrm>
          <a:prstGeom prst="rect">
            <a:avLst/>
          </a:prstGeom>
          <a:noFill/>
          <a:ln w="9525">
            <a:noFill/>
            <a:miter lim="800000"/>
            <a:headEnd/>
            <a:tailEnd/>
          </a:ln>
        </p:spPr>
        <p:txBody>
          <a:bodyPr>
            <a:spAutoFit/>
          </a:bodyPr>
          <a:lstStyle/>
          <a:p>
            <a:pPr>
              <a:spcBef>
                <a:spcPct val="50000"/>
              </a:spcBef>
            </a:pPr>
            <a:r>
              <a:rPr lang="zh-CN" altLang="en-US" sz="2000">
                <a:solidFill>
                  <a:srgbClr val="000000"/>
                </a:solidFill>
                <a:ea typeface="黑体" pitchFamily="2" charset="-122"/>
              </a:rPr>
              <a:t>赋值语句</a:t>
            </a:r>
            <a:r>
              <a:rPr lang="en-US" altLang="zh-CN" sz="2000">
                <a:solidFill>
                  <a:srgbClr val="000000"/>
                </a:solidFill>
                <a:ea typeface="黑体" pitchFamily="2" charset="-122"/>
              </a:rPr>
              <a:t>1</a:t>
            </a:r>
            <a:r>
              <a:rPr lang="zh-CN" altLang="en-US" sz="2000">
                <a:solidFill>
                  <a:srgbClr val="000000"/>
                </a:solidFill>
                <a:ea typeface="黑体" pitchFamily="2" charset="-122"/>
              </a:rPr>
              <a:t>不会阻塞赋值语句</a:t>
            </a:r>
            <a:r>
              <a:rPr lang="en-US" altLang="zh-CN" sz="2000">
                <a:solidFill>
                  <a:srgbClr val="000000"/>
                </a:solidFill>
                <a:ea typeface="黑体" pitchFamily="2" charset="-122"/>
              </a:rPr>
              <a:t>2 </a:t>
            </a:r>
            <a:r>
              <a:rPr lang="zh-CN" altLang="en-US" sz="2000">
                <a:solidFill>
                  <a:srgbClr val="000000"/>
                </a:solidFill>
                <a:ea typeface="黑体" pitchFamily="2" charset="-122"/>
              </a:rPr>
              <a:t>，赋值语句</a:t>
            </a:r>
            <a:r>
              <a:rPr lang="en-US" altLang="zh-CN" sz="2000">
                <a:solidFill>
                  <a:srgbClr val="000000"/>
                </a:solidFill>
                <a:ea typeface="黑体" pitchFamily="2" charset="-122"/>
              </a:rPr>
              <a:t>1</a:t>
            </a:r>
            <a:r>
              <a:rPr lang="zh-CN" altLang="en-US" sz="2000">
                <a:solidFill>
                  <a:srgbClr val="000000"/>
                </a:solidFill>
                <a:ea typeface="黑体" pitchFamily="2" charset="-122"/>
              </a:rPr>
              <a:t>和赋值语句</a:t>
            </a:r>
            <a:r>
              <a:rPr lang="en-US" altLang="zh-CN" sz="2000">
                <a:solidFill>
                  <a:srgbClr val="000000"/>
                </a:solidFill>
                <a:ea typeface="黑体" pitchFamily="2" charset="-122"/>
              </a:rPr>
              <a:t>2</a:t>
            </a:r>
            <a:r>
              <a:rPr lang="zh-CN" altLang="en-US" sz="2000">
                <a:solidFill>
                  <a:srgbClr val="000000"/>
                </a:solidFill>
                <a:ea typeface="黑体" pitchFamily="2" charset="-122"/>
              </a:rPr>
              <a:t>并行执行。</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23" name="Text Box 6"/>
          <p:cNvSpPr txBox="1">
            <a:spLocks noChangeArrowheads="1"/>
          </p:cNvSpPr>
          <p:nvPr/>
        </p:nvSpPr>
        <p:spPr bwMode="auto">
          <a:xfrm>
            <a:off x="250825" y="1171922"/>
            <a:ext cx="1716088" cy="457200"/>
          </a:xfrm>
          <a:prstGeom prst="rect">
            <a:avLst/>
          </a:prstGeom>
          <a:noFill/>
          <a:ln w="9525">
            <a:noFill/>
            <a:miter lim="800000"/>
            <a:headEnd/>
            <a:tailEnd/>
          </a:ln>
        </p:spPr>
        <p:txBody>
          <a:bodyPr wrap="none">
            <a:spAutoFit/>
          </a:bodyPr>
          <a:lstStyle/>
          <a:p>
            <a:r>
              <a:rPr lang="zh-CN" altLang="en-US">
                <a:solidFill>
                  <a:srgbClr val="B43000"/>
                </a:solidFill>
                <a:ea typeface="黑体" pitchFamily="2" charset="-122"/>
              </a:rPr>
              <a:t>举例比较：</a:t>
            </a:r>
          </a:p>
        </p:txBody>
      </p:sp>
      <p:sp>
        <p:nvSpPr>
          <p:cNvPr id="24" name="Rectangle 7"/>
          <p:cNvSpPr>
            <a:spLocks noChangeArrowheads="1"/>
          </p:cNvSpPr>
          <p:nvPr/>
        </p:nvSpPr>
        <p:spPr bwMode="auto">
          <a:xfrm>
            <a:off x="250825" y="1773584"/>
            <a:ext cx="1944688" cy="1736725"/>
          </a:xfrm>
          <a:prstGeom prst="rect">
            <a:avLst/>
          </a:prstGeom>
          <a:solidFill>
            <a:srgbClr val="E3E3F1"/>
          </a:solidFill>
          <a:ln w="28575" algn="ctr">
            <a:noFill/>
            <a:miter lim="800000"/>
            <a:headEnd/>
            <a:tailEnd/>
          </a:ln>
        </p:spPr>
        <p:txBody>
          <a:bodyPr>
            <a:spAutoFit/>
          </a:bodyPr>
          <a:lstStyle/>
          <a:p>
            <a:pPr>
              <a:spcBef>
                <a:spcPct val="10000"/>
              </a:spcBef>
              <a:buFont typeface="Wingdings" pitchFamily="2" charset="2"/>
              <a:buChar char="l"/>
            </a:pPr>
            <a:r>
              <a:rPr lang="zh-CN" altLang="en-US" sz="2000">
                <a:solidFill>
                  <a:srgbClr val="00007D"/>
                </a:solidFill>
                <a:ea typeface="黑体" pitchFamily="2" charset="-122"/>
              </a:rPr>
              <a:t>阻塞赋值</a:t>
            </a:r>
            <a:endParaRPr lang="en-US" altLang="zh-CN" sz="2000">
              <a:solidFill>
                <a:srgbClr val="00007D"/>
              </a:solidFill>
              <a:ea typeface="黑体" pitchFamily="2" charset="-122"/>
            </a:endParaRPr>
          </a:p>
          <a:p>
            <a:pPr>
              <a:spcBef>
                <a:spcPct val="10000"/>
              </a:spcBef>
            </a:pPr>
            <a:r>
              <a:rPr lang="en-US" altLang="zh-CN" sz="2000">
                <a:solidFill>
                  <a:srgbClr val="B43000"/>
                </a:solidFill>
                <a:ea typeface="黑体" pitchFamily="2" charset="-122"/>
              </a:rPr>
              <a:t>begin</a:t>
            </a:r>
          </a:p>
          <a:p>
            <a:pPr>
              <a:spcBef>
                <a:spcPct val="10000"/>
              </a:spcBef>
            </a:pPr>
            <a:r>
              <a:rPr lang="en-US" altLang="zh-CN" sz="2000">
                <a:solidFill>
                  <a:srgbClr val="B43000"/>
                </a:solidFill>
                <a:ea typeface="黑体" pitchFamily="2" charset="-122"/>
              </a:rPr>
              <a:t>    m=a*b;</a:t>
            </a:r>
          </a:p>
          <a:p>
            <a:pPr>
              <a:spcBef>
                <a:spcPct val="10000"/>
              </a:spcBef>
            </a:pPr>
            <a:r>
              <a:rPr lang="en-US" altLang="zh-CN" sz="2000">
                <a:solidFill>
                  <a:srgbClr val="B43000"/>
                </a:solidFill>
                <a:ea typeface="黑体" pitchFamily="2" charset="-122"/>
              </a:rPr>
              <a:t>    y=m;</a:t>
            </a:r>
          </a:p>
          <a:p>
            <a:pPr>
              <a:spcBef>
                <a:spcPct val="10000"/>
              </a:spcBef>
            </a:pPr>
            <a:r>
              <a:rPr lang="en-US" altLang="zh-CN" sz="2000">
                <a:solidFill>
                  <a:srgbClr val="B43000"/>
                </a:solidFill>
                <a:ea typeface="黑体" pitchFamily="2" charset="-122"/>
              </a:rPr>
              <a:t>end</a:t>
            </a:r>
          </a:p>
        </p:txBody>
      </p:sp>
      <p:sp>
        <p:nvSpPr>
          <p:cNvPr id="25" name="Rectangle 9"/>
          <p:cNvSpPr>
            <a:spLocks noChangeArrowheads="1"/>
          </p:cNvSpPr>
          <p:nvPr/>
        </p:nvSpPr>
        <p:spPr bwMode="auto">
          <a:xfrm>
            <a:off x="179388" y="4170709"/>
            <a:ext cx="2016125" cy="1706563"/>
          </a:xfrm>
          <a:prstGeom prst="rect">
            <a:avLst/>
          </a:prstGeom>
          <a:solidFill>
            <a:srgbClr val="E3E3F1"/>
          </a:solidFill>
          <a:ln w="28575" algn="ctr">
            <a:noFill/>
            <a:miter lim="800000"/>
            <a:headEnd/>
            <a:tailEnd/>
          </a:ln>
        </p:spPr>
        <p:txBody>
          <a:bodyPr>
            <a:spAutoFit/>
          </a:bodyPr>
          <a:lstStyle/>
          <a:p>
            <a:pPr>
              <a:spcBef>
                <a:spcPct val="10000"/>
              </a:spcBef>
              <a:buClr>
                <a:srgbClr val="00007D"/>
              </a:buClr>
              <a:buFont typeface="Wingdings" pitchFamily="2" charset="2"/>
              <a:buChar char="l"/>
            </a:pPr>
            <a:r>
              <a:rPr lang="zh-CN" altLang="en-US" sz="2000">
                <a:solidFill>
                  <a:srgbClr val="00007D"/>
                </a:solidFill>
                <a:ea typeface="黑体" pitchFamily="2" charset="-122"/>
              </a:rPr>
              <a:t>非阻塞赋值</a:t>
            </a:r>
            <a:r>
              <a:rPr lang="en-US" altLang="zh-CN" sz="2000">
                <a:solidFill>
                  <a:srgbClr val="B43000"/>
                </a:solidFill>
                <a:ea typeface="黑体" pitchFamily="2" charset="-122"/>
              </a:rPr>
              <a:t>begin</a:t>
            </a:r>
          </a:p>
          <a:p>
            <a:pPr>
              <a:spcBef>
                <a:spcPct val="10000"/>
              </a:spcBef>
            </a:pPr>
            <a:r>
              <a:rPr lang="en-US" altLang="zh-CN" sz="2000">
                <a:solidFill>
                  <a:srgbClr val="B43000"/>
                </a:solidFill>
                <a:ea typeface="黑体" pitchFamily="2" charset="-122"/>
              </a:rPr>
              <a:t>    m&lt;=a*b;</a:t>
            </a:r>
          </a:p>
          <a:p>
            <a:pPr>
              <a:spcBef>
                <a:spcPct val="10000"/>
              </a:spcBef>
            </a:pPr>
            <a:r>
              <a:rPr lang="en-US" altLang="zh-CN" sz="2000">
                <a:solidFill>
                  <a:srgbClr val="B43000"/>
                </a:solidFill>
                <a:ea typeface="黑体" pitchFamily="2" charset="-122"/>
              </a:rPr>
              <a:t>    y&lt;=m;</a:t>
            </a:r>
          </a:p>
          <a:p>
            <a:pPr>
              <a:spcBef>
                <a:spcPct val="10000"/>
              </a:spcBef>
            </a:pPr>
            <a:r>
              <a:rPr lang="en-US" altLang="zh-CN" sz="2000">
                <a:solidFill>
                  <a:srgbClr val="B43000"/>
                </a:solidFill>
                <a:ea typeface="黑体" pitchFamily="2" charset="-122"/>
              </a:rPr>
              <a:t>end</a:t>
            </a:r>
          </a:p>
        </p:txBody>
      </p:sp>
      <p:sp>
        <p:nvSpPr>
          <p:cNvPr id="26" name="Text Box 11"/>
          <p:cNvSpPr txBox="1">
            <a:spLocks noChangeArrowheads="1"/>
          </p:cNvSpPr>
          <p:nvPr/>
        </p:nvSpPr>
        <p:spPr bwMode="auto">
          <a:xfrm>
            <a:off x="2411413" y="1603722"/>
            <a:ext cx="5329237" cy="457200"/>
          </a:xfrm>
          <a:prstGeom prst="rect">
            <a:avLst/>
          </a:prstGeom>
          <a:noFill/>
          <a:ln w="9525">
            <a:noFill/>
            <a:miter lim="800000"/>
            <a:headEnd/>
            <a:tailEnd/>
          </a:ln>
        </p:spPr>
        <p:txBody>
          <a:bodyPr>
            <a:spAutoFit/>
          </a:bodyPr>
          <a:lstStyle/>
          <a:p>
            <a:pPr>
              <a:spcBef>
                <a:spcPct val="50000"/>
              </a:spcBef>
            </a:pPr>
            <a:r>
              <a:rPr lang="zh-CN" altLang="en-US">
                <a:solidFill>
                  <a:srgbClr val="000000"/>
                </a:solidFill>
                <a:ea typeface="黑体" pitchFamily="2" charset="-122"/>
              </a:rPr>
              <a:t>当</a:t>
            </a:r>
            <a:r>
              <a:rPr lang="en-US" altLang="zh-CN" sz="2000">
                <a:solidFill>
                  <a:srgbClr val="B43000"/>
                </a:solidFill>
                <a:ea typeface="黑体" pitchFamily="2" charset="-122"/>
              </a:rPr>
              <a:t>m=a*b</a:t>
            </a:r>
            <a:r>
              <a:rPr lang="zh-CN" altLang="en-US">
                <a:solidFill>
                  <a:srgbClr val="000000"/>
                </a:solidFill>
                <a:ea typeface="黑体" pitchFamily="2" charset="-122"/>
              </a:rPr>
              <a:t> 执行完才能执行</a:t>
            </a:r>
            <a:r>
              <a:rPr lang="en-US" altLang="zh-CN" sz="2000">
                <a:solidFill>
                  <a:srgbClr val="B43000"/>
                </a:solidFill>
                <a:ea typeface="黑体" pitchFamily="2" charset="-122"/>
              </a:rPr>
              <a:t>y=m</a:t>
            </a:r>
            <a:r>
              <a:rPr lang="en-US" altLang="zh-CN">
                <a:solidFill>
                  <a:srgbClr val="000000"/>
                </a:solidFill>
                <a:ea typeface="黑体" pitchFamily="2" charset="-122"/>
              </a:rPr>
              <a:t> </a:t>
            </a:r>
            <a:r>
              <a:rPr lang="zh-CN" altLang="en-US">
                <a:solidFill>
                  <a:srgbClr val="000000"/>
                </a:solidFill>
                <a:ea typeface="黑体" pitchFamily="2" charset="-122"/>
              </a:rPr>
              <a:t>。</a:t>
            </a:r>
          </a:p>
        </p:txBody>
      </p:sp>
      <p:sp>
        <p:nvSpPr>
          <p:cNvPr id="27" name="Text Box 14"/>
          <p:cNvSpPr txBox="1">
            <a:spLocks noChangeArrowheads="1"/>
          </p:cNvSpPr>
          <p:nvPr/>
        </p:nvSpPr>
        <p:spPr bwMode="auto">
          <a:xfrm>
            <a:off x="2411413" y="2205384"/>
            <a:ext cx="6680200" cy="830997"/>
          </a:xfrm>
          <a:prstGeom prst="rect">
            <a:avLst/>
          </a:prstGeom>
          <a:noFill/>
          <a:ln w="38100">
            <a:solidFill>
              <a:srgbClr val="9999CC"/>
            </a:solidFill>
            <a:miter lim="800000"/>
            <a:headEnd/>
            <a:tailEnd/>
          </a:ln>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i="0" u="none" strike="noStrike" kern="0" cap="none" spc="0" normalizeH="0" baseline="0" noProof="0">
                <a:ln>
                  <a:noFill/>
                </a:ln>
                <a:solidFill>
                  <a:srgbClr val="000000"/>
                </a:solidFill>
                <a:effectLst/>
                <a:uLnTx/>
                <a:uFillTx/>
                <a:ea typeface="黑体" pitchFamily="2" charset="-122"/>
              </a:rPr>
              <a:t>当</a:t>
            </a:r>
            <a:r>
              <a:rPr kumimoji="0" lang="en-US" altLang="zh-CN" i="0" u="none" strike="noStrike" kern="0" cap="none" spc="0" normalizeH="0" baseline="0" noProof="0">
                <a:ln>
                  <a:noFill/>
                </a:ln>
                <a:solidFill>
                  <a:srgbClr val="000000"/>
                </a:solidFill>
                <a:effectLst/>
                <a:uLnTx/>
                <a:uFillTx/>
                <a:ea typeface="黑体" pitchFamily="2" charset="-122"/>
              </a:rPr>
              <a:t>m</a:t>
            </a:r>
            <a:r>
              <a:rPr kumimoji="0" lang="zh-CN" altLang="en-US" i="0" u="none" strike="noStrike" kern="0" cap="none" spc="0" normalizeH="0" baseline="0" noProof="0">
                <a:ln>
                  <a:noFill/>
                </a:ln>
                <a:solidFill>
                  <a:srgbClr val="000000"/>
                </a:solidFill>
                <a:effectLst/>
                <a:uLnTx/>
                <a:uFillTx/>
                <a:ea typeface="黑体" pitchFamily="2" charset="-122"/>
              </a:rPr>
              <a:t>赋值完成后，才能执行</a:t>
            </a:r>
            <a:r>
              <a:rPr kumimoji="0" lang="en-US" altLang="zh-CN" i="0" u="none" strike="noStrike" kern="0" cap="none" spc="0" normalizeH="0" baseline="0" noProof="0">
                <a:ln>
                  <a:noFill/>
                </a:ln>
                <a:solidFill>
                  <a:srgbClr val="000000"/>
                </a:solidFill>
                <a:effectLst/>
                <a:uLnTx/>
                <a:uFillTx/>
                <a:ea typeface="黑体" pitchFamily="2" charset="-122"/>
              </a:rPr>
              <a:t>y</a:t>
            </a:r>
            <a:r>
              <a:rPr kumimoji="0" lang="zh-CN" altLang="en-US" i="0" u="none" strike="noStrike" kern="0" cap="none" spc="0" normalizeH="0" baseline="0" noProof="0">
                <a:ln>
                  <a:noFill/>
                </a:ln>
                <a:solidFill>
                  <a:srgbClr val="000000"/>
                </a:solidFill>
                <a:effectLst/>
                <a:uLnTx/>
                <a:uFillTx/>
                <a:ea typeface="黑体" pitchFamily="2" charset="-122"/>
              </a:rPr>
              <a:t>的赋值，</a:t>
            </a:r>
            <a:r>
              <a:rPr kumimoji="0" lang="en-US" altLang="zh-CN" i="0" u="none" strike="noStrike" kern="0" cap="none" spc="0" normalizeH="0" baseline="0" noProof="0">
                <a:ln>
                  <a:noFill/>
                </a:ln>
                <a:solidFill>
                  <a:srgbClr val="000000"/>
                </a:solidFill>
                <a:effectLst/>
                <a:uLnTx/>
                <a:uFillTx/>
                <a:ea typeface="黑体" pitchFamily="2" charset="-122"/>
              </a:rPr>
              <a:t>y</a:t>
            </a:r>
            <a:r>
              <a:rPr kumimoji="0" lang="zh-CN" altLang="en-US" i="0" u="none" strike="noStrike" kern="0" cap="none" spc="0" normalizeH="0" baseline="0" noProof="0">
                <a:ln>
                  <a:noFill/>
                </a:ln>
                <a:solidFill>
                  <a:srgbClr val="000000"/>
                </a:solidFill>
                <a:effectLst/>
                <a:uLnTx/>
                <a:uFillTx/>
                <a:ea typeface="黑体" pitchFamily="2" charset="-122"/>
              </a:rPr>
              <a:t>得到的是</a:t>
            </a:r>
            <a:r>
              <a:rPr kumimoji="0" lang="en-US" altLang="zh-CN" i="0" u="none" strike="noStrike" kern="0" cap="none" spc="0" normalizeH="0" baseline="0" noProof="0">
                <a:ln>
                  <a:noFill/>
                </a:ln>
                <a:solidFill>
                  <a:srgbClr val="000000"/>
                </a:solidFill>
                <a:effectLst/>
                <a:uLnTx/>
                <a:uFillTx/>
                <a:ea typeface="黑体" pitchFamily="2" charset="-122"/>
              </a:rPr>
              <a:t>m</a:t>
            </a:r>
            <a:r>
              <a:rPr kumimoji="0" lang="zh-CN" altLang="en-US" i="0" u="none" strike="noStrike" kern="0" cap="none" spc="0" normalizeH="0" baseline="0" noProof="0">
                <a:ln>
                  <a:noFill/>
                </a:ln>
                <a:solidFill>
                  <a:srgbClr val="000000"/>
                </a:solidFill>
                <a:effectLst/>
                <a:uLnTx/>
                <a:uFillTx/>
                <a:ea typeface="黑体" pitchFamily="2" charset="-122"/>
              </a:rPr>
              <a:t>的新值。</a:t>
            </a:r>
          </a:p>
        </p:txBody>
      </p:sp>
      <p:sp>
        <p:nvSpPr>
          <p:cNvPr id="28" name="Text Box 15"/>
          <p:cNvSpPr txBox="1">
            <a:spLocks noChangeArrowheads="1"/>
          </p:cNvSpPr>
          <p:nvPr/>
        </p:nvSpPr>
        <p:spPr bwMode="auto">
          <a:xfrm>
            <a:off x="2411413" y="4578697"/>
            <a:ext cx="6495689" cy="461665"/>
          </a:xfrm>
          <a:prstGeom prst="rect">
            <a:avLst/>
          </a:prstGeom>
          <a:noFill/>
          <a:ln w="38100">
            <a:solidFill>
              <a:srgbClr val="9999CC"/>
            </a:solid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a:ln>
                  <a:noFill/>
                </a:ln>
                <a:solidFill>
                  <a:srgbClr val="000000"/>
                </a:solidFill>
                <a:effectLst/>
                <a:uLnTx/>
                <a:uFillTx/>
                <a:ea typeface="黑体" pitchFamily="2" charset="-122"/>
              </a:rPr>
              <a:t>m</a:t>
            </a:r>
            <a:r>
              <a:rPr kumimoji="0" lang="zh-CN" altLang="en-US" i="0" u="none" strike="noStrike" kern="0" cap="none" spc="0" normalizeH="0" baseline="0" noProof="0">
                <a:ln>
                  <a:noFill/>
                </a:ln>
                <a:solidFill>
                  <a:srgbClr val="000000"/>
                </a:solidFill>
                <a:effectLst/>
                <a:uLnTx/>
                <a:uFillTx/>
                <a:ea typeface="黑体" pitchFamily="2" charset="-122"/>
              </a:rPr>
              <a:t>和</a:t>
            </a:r>
            <a:r>
              <a:rPr kumimoji="0" lang="en-US" altLang="zh-CN" i="0" u="none" strike="noStrike" kern="0" cap="none" spc="0" normalizeH="0" baseline="0" noProof="0">
                <a:ln>
                  <a:noFill/>
                </a:ln>
                <a:solidFill>
                  <a:srgbClr val="000000"/>
                </a:solidFill>
                <a:effectLst/>
                <a:uLnTx/>
                <a:uFillTx/>
                <a:ea typeface="黑体" pitchFamily="2" charset="-122"/>
              </a:rPr>
              <a:t>y</a:t>
            </a:r>
            <a:r>
              <a:rPr kumimoji="0" lang="zh-CN" altLang="en-US" i="0" u="none" strike="noStrike" kern="0" cap="none" spc="0" normalizeH="0" baseline="0" noProof="0">
                <a:ln>
                  <a:noFill/>
                </a:ln>
                <a:solidFill>
                  <a:srgbClr val="000000"/>
                </a:solidFill>
                <a:effectLst/>
                <a:uLnTx/>
                <a:uFillTx/>
                <a:ea typeface="黑体" pitchFamily="2" charset="-122"/>
              </a:rPr>
              <a:t>的赋值并行执行，</a:t>
            </a:r>
            <a:r>
              <a:rPr kumimoji="0" lang="en-US" altLang="zh-CN" i="0" u="none" strike="noStrike" kern="0" cap="none" spc="0" normalizeH="0" baseline="0" noProof="0">
                <a:ln>
                  <a:noFill/>
                </a:ln>
                <a:solidFill>
                  <a:srgbClr val="000000"/>
                </a:solidFill>
                <a:effectLst/>
                <a:uLnTx/>
                <a:uFillTx/>
                <a:ea typeface="黑体" pitchFamily="2" charset="-122"/>
              </a:rPr>
              <a:t>y</a:t>
            </a:r>
            <a:r>
              <a:rPr kumimoji="0" lang="zh-CN" altLang="en-US" i="0" u="none" strike="noStrike" kern="0" cap="none" spc="0" normalizeH="0" baseline="0" noProof="0">
                <a:ln>
                  <a:noFill/>
                </a:ln>
                <a:solidFill>
                  <a:srgbClr val="000000"/>
                </a:solidFill>
                <a:effectLst/>
                <a:uLnTx/>
                <a:uFillTx/>
                <a:ea typeface="黑体" pitchFamily="2" charset="-122"/>
              </a:rPr>
              <a:t>得到的是</a:t>
            </a:r>
            <a:r>
              <a:rPr kumimoji="0" lang="en-US" altLang="zh-CN" i="0" u="none" strike="noStrike" kern="0" cap="none" spc="0" normalizeH="0" baseline="0" noProof="0">
                <a:ln>
                  <a:noFill/>
                </a:ln>
                <a:solidFill>
                  <a:srgbClr val="000000"/>
                </a:solidFill>
                <a:effectLst/>
                <a:uLnTx/>
                <a:uFillTx/>
                <a:ea typeface="黑体" pitchFamily="2" charset="-122"/>
              </a:rPr>
              <a:t>m</a:t>
            </a:r>
            <a:r>
              <a:rPr kumimoji="0" lang="zh-CN" altLang="en-US" i="0" u="none" strike="noStrike" kern="0" cap="none" spc="0" normalizeH="0" baseline="0" noProof="0">
                <a:ln>
                  <a:noFill/>
                </a:ln>
                <a:solidFill>
                  <a:srgbClr val="000000"/>
                </a:solidFill>
                <a:effectLst/>
                <a:uLnTx/>
                <a:uFillTx/>
                <a:ea typeface="黑体" pitchFamily="2" charset="-122"/>
              </a:rPr>
              <a:t>的旧值。</a:t>
            </a:r>
          </a:p>
        </p:txBody>
      </p:sp>
      <p:sp>
        <p:nvSpPr>
          <p:cNvPr id="29" name="Text Box 11"/>
          <p:cNvSpPr txBox="1">
            <a:spLocks noChangeArrowheads="1"/>
          </p:cNvSpPr>
          <p:nvPr/>
        </p:nvSpPr>
        <p:spPr bwMode="auto">
          <a:xfrm>
            <a:off x="2627313" y="3930997"/>
            <a:ext cx="3889375" cy="457200"/>
          </a:xfrm>
          <a:prstGeom prst="rect">
            <a:avLst/>
          </a:prstGeom>
          <a:noFill/>
          <a:ln w="9525">
            <a:noFill/>
            <a:miter lim="800000"/>
            <a:headEnd/>
            <a:tailEnd/>
          </a:ln>
        </p:spPr>
        <p:txBody>
          <a:bodyPr>
            <a:spAutoFit/>
          </a:bodyPr>
          <a:lstStyle/>
          <a:p>
            <a:pPr>
              <a:spcBef>
                <a:spcPct val="50000"/>
              </a:spcBef>
            </a:pPr>
            <a:r>
              <a:rPr lang="en-US" altLang="zh-CN" sz="2000">
                <a:solidFill>
                  <a:srgbClr val="B43000"/>
                </a:solidFill>
                <a:ea typeface="黑体" pitchFamily="2" charset="-122"/>
              </a:rPr>
              <a:t>m=a*b</a:t>
            </a:r>
            <a:r>
              <a:rPr lang="zh-CN" altLang="en-US">
                <a:solidFill>
                  <a:srgbClr val="000000"/>
                </a:solidFill>
                <a:ea typeface="黑体" pitchFamily="2" charset="-122"/>
              </a:rPr>
              <a:t> 和</a:t>
            </a:r>
            <a:r>
              <a:rPr lang="en-US" altLang="zh-CN" sz="2000">
                <a:solidFill>
                  <a:srgbClr val="B43000"/>
                </a:solidFill>
                <a:ea typeface="黑体" pitchFamily="2" charset="-122"/>
              </a:rPr>
              <a:t>y=m</a:t>
            </a:r>
            <a:r>
              <a:rPr lang="zh-CN" altLang="en-US">
                <a:solidFill>
                  <a:srgbClr val="000000"/>
                </a:solidFill>
                <a:ea typeface="黑体" pitchFamily="2" charset="-122"/>
              </a:rPr>
              <a:t>并行执行</a:t>
            </a:r>
            <a:r>
              <a:rPr lang="en-US" altLang="zh-CN">
                <a:solidFill>
                  <a:srgbClr val="000000"/>
                </a:solidFill>
                <a:ea typeface="黑体" pitchFamily="2" charset="-122"/>
              </a:rPr>
              <a:t> </a:t>
            </a:r>
            <a:r>
              <a:rPr lang="zh-CN" altLang="en-US">
                <a:solidFill>
                  <a:srgbClr val="000000"/>
                </a:solidFill>
                <a:ea typeface="黑体" pitchFamily="2" charset="-122"/>
              </a:rPr>
              <a:t>。</a:t>
            </a:r>
          </a:p>
        </p:txBody>
      </p:sp>
    </p:spTree>
    <p:extLst>
      <p:ext uri="{BB962C8B-B14F-4D97-AF65-F5344CB8AC3E}">
        <p14:creationId xmlns:p14="http://schemas.microsoft.com/office/powerpoint/2010/main" val="37057888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16"/>
          <p:cNvSpPr txBox="1">
            <a:spLocks noChangeArrowheads="1"/>
          </p:cNvSpPr>
          <p:nvPr/>
        </p:nvSpPr>
        <p:spPr bwMode="auto">
          <a:xfrm>
            <a:off x="250825" y="620713"/>
            <a:ext cx="8678863" cy="5669244"/>
          </a:xfrm>
          <a:prstGeom prst="rect">
            <a:avLst/>
          </a:prstGeom>
          <a:solidFill>
            <a:srgbClr val="E3E3F1"/>
          </a:solidFill>
          <a:ln w="28575" algn="ctr">
            <a:noFill/>
            <a:miter lim="800000"/>
            <a:headEnd/>
            <a:tailEnd/>
          </a:ln>
        </p:spPr>
        <p:txBody>
          <a:bodyPr>
            <a:spAutoFit/>
          </a:bodyPr>
          <a:lstStyle/>
          <a:p>
            <a:pPr marL="261938" indent="-261938" eaLnBrk="1" hangingPunct="1">
              <a:lnSpc>
                <a:spcPct val="140000"/>
              </a:lnSpc>
              <a:spcBef>
                <a:spcPct val="50000"/>
              </a:spcBef>
              <a:buFont typeface="Wingdings" pitchFamily="2" charset="2"/>
              <a:buChar char="l"/>
            </a:pPr>
            <a:r>
              <a:rPr lang="zh-CN" altLang="en-US" b="1" dirty="0">
                <a:solidFill>
                  <a:srgbClr val="000032"/>
                </a:solidFill>
                <a:latin typeface="+mj-ea"/>
                <a:ea typeface="+mj-ea"/>
              </a:rPr>
              <a:t>阻塞赋值的实质：</a:t>
            </a:r>
            <a:r>
              <a:rPr lang="zh-CN" altLang="en-US" b="1" dirty="0">
                <a:solidFill>
                  <a:srgbClr val="990033"/>
                </a:solidFill>
                <a:latin typeface="+mj-ea"/>
                <a:ea typeface="+mj-ea"/>
              </a:rPr>
              <a:t>右边表达式的计算和对左边寄存器变量的赋值是一个统一的原子操作中的两个动作，这两个动作之间不能再插入其他任何动作。</a:t>
            </a:r>
          </a:p>
          <a:p>
            <a:pPr marL="261938" indent="-261938" eaLnBrk="1" hangingPunct="1">
              <a:lnSpc>
                <a:spcPct val="140000"/>
              </a:lnSpc>
              <a:spcBef>
                <a:spcPct val="50000"/>
              </a:spcBef>
              <a:buFont typeface="Wingdings" pitchFamily="2" charset="2"/>
              <a:buChar char="l"/>
            </a:pPr>
            <a:endParaRPr lang="zh-CN" altLang="en-US" b="1" dirty="0">
              <a:solidFill>
                <a:srgbClr val="990033"/>
              </a:solidFill>
              <a:latin typeface="+mj-ea"/>
              <a:ea typeface="+mj-ea"/>
            </a:endParaRPr>
          </a:p>
          <a:p>
            <a:pPr marL="261938" indent="-261938" eaLnBrk="1" hangingPunct="1">
              <a:lnSpc>
                <a:spcPct val="140000"/>
              </a:lnSpc>
              <a:spcBef>
                <a:spcPct val="50000"/>
              </a:spcBef>
              <a:buFont typeface="Wingdings" pitchFamily="2" charset="2"/>
              <a:buChar char="l"/>
            </a:pPr>
            <a:endParaRPr lang="zh-CN" altLang="en-US" b="1" dirty="0">
              <a:solidFill>
                <a:srgbClr val="990033"/>
              </a:solidFill>
              <a:latin typeface="+mj-ea"/>
              <a:ea typeface="+mj-ea"/>
            </a:endParaRPr>
          </a:p>
          <a:p>
            <a:pPr marL="261938" indent="-261938" eaLnBrk="1" hangingPunct="1">
              <a:lnSpc>
                <a:spcPct val="140000"/>
              </a:lnSpc>
              <a:spcBef>
                <a:spcPct val="50000"/>
              </a:spcBef>
              <a:buFont typeface="Wingdings" pitchFamily="2" charset="2"/>
              <a:buChar char="l"/>
            </a:pPr>
            <a:r>
              <a:rPr lang="zh-CN" altLang="en-US" b="1" dirty="0">
                <a:solidFill>
                  <a:srgbClr val="000032"/>
                </a:solidFill>
                <a:latin typeface="+mj-ea"/>
                <a:ea typeface="+mj-ea"/>
              </a:rPr>
              <a:t>非阻塞赋值的实质：</a:t>
            </a:r>
            <a:r>
              <a:rPr lang="zh-CN" altLang="en-US" b="1" dirty="0">
                <a:solidFill>
                  <a:srgbClr val="990033"/>
                </a:solidFill>
                <a:latin typeface="+mj-ea"/>
                <a:ea typeface="+mj-ea"/>
              </a:rPr>
              <a:t>首先按顺序计算右边表达式的值，但是并不马上赋值，而是要等到过程结束时再按顺序赋值。</a:t>
            </a:r>
          </a:p>
          <a:p>
            <a:pPr marL="261938" indent="-261938" eaLnBrk="1" hangingPunct="1">
              <a:lnSpc>
                <a:spcPct val="140000"/>
              </a:lnSpc>
              <a:spcBef>
                <a:spcPct val="50000"/>
              </a:spcBef>
              <a:buFont typeface="Wingdings" pitchFamily="2" charset="2"/>
              <a:buChar char="l"/>
            </a:pPr>
            <a:endParaRPr lang="zh-CN" altLang="en-US" b="1" dirty="0">
              <a:solidFill>
                <a:srgbClr val="990033"/>
              </a:solidFill>
              <a:latin typeface="+mj-ea"/>
              <a:ea typeface="+mj-ea"/>
            </a:endParaRPr>
          </a:p>
          <a:p>
            <a:pPr marL="261938" indent="-261938" eaLnBrk="1" hangingPunct="1">
              <a:lnSpc>
                <a:spcPct val="140000"/>
              </a:lnSpc>
              <a:spcBef>
                <a:spcPct val="50000"/>
              </a:spcBef>
              <a:buFont typeface="Wingdings" pitchFamily="2" charset="2"/>
              <a:buChar char="l"/>
            </a:pPr>
            <a:endParaRPr lang="zh-CN" altLang="en-US" b="1" dirty="0">
              <a:solidFill>
                <a:srgbClr val="000032"/>
              </a:solidFill>
              <a:latin typeface="+mj-ea"/>
              <a:ea typeface="+mj-ea"/>
            </a:endParaRPr>
          </a:p>
        </p:txBody>
      </p:sp>
      <p:sp>
        <p:nvSpPr>
          <p:cNvPr id="69636" name="Text Box 10"/>
          <p:cNvSpPr txBox="1">
            <a:spLocks noChangeArrowheads="1"/>
          </p:cNvSpPr>
          <p:nvPr/>
        </p:nvSpPr>
        <p:spPr bwMode="auto">
          <a:xfrm>
            <a:off x="4356100" y="1773238"/>
            <a:ext cx="3527425" cy="850900"/>
          </a:xfrm>
          <a:prstGeom prst="rect">
            <a:avLst/>
          </a:prstGeom>
          <a:solidFill>
            <a:srgbClr val="CDDD9C"/>
          </a:solidFill>
          <a:ln w="28575" algn="ctr">
            <a:solidFill>
              <a:srgbClr val="99CCCD"/>
            </a:solidFill>
            <a:miter lim="800000"/>
            <a:headEnd/>
            <a:tailEnd/>
          </a:ln>
        </p:spPr>
        <p:txBody>
          <a:bodyPr>
            <a:spAutoFit/>
          </a:bodyPr>
          <a:lstStyle/>
          <a:p>
            <a:pPr eaLnBrk="1" hangingPunct="1"/>
            <a:r>
              <a:rPr lang="zh-CN" altLang="en-US" b="1">
                <a:solidFill>
                  <a:srgbClr val="000032"/>
                </a:solidFill>
              </a:rPr>
              <a:t>赋值目标</a:t>
            </a:r>
            <a:r>
              <a:rPr lang="en-US" altLang="zh-CN" b="1">
                <a:solidFill>
                  <a:srgbClr val="000032"/>
                </a:solidFill>
              </a:rPr>
              <a:t>1=</a:t>
            </a:r>
            <a:r>
              <a:rPr lang="zh-CN" altLang="en-US" b="1">
                <a:solidFill>
                  <a:srgbClr val="000032"/>
                </a:solidFill>
              </a:rPr>
              <a:t>表达式</a:t>
            </a:r>
            <a:r>
              <a:rPr lang="en-US" altLang="zh-CN" b="1">
                <a:solidFill>
                  <a:srgbClr val="000032"/>
                </a:solidFill>
              </a:rPr>
              <a:t>1</a:t>
            </a:r>
            <a:r>
              <a:rPr lang="zh-CN" altLang="en-US" b="1">
                <a:solidFill>
                  <a:srgbClr val="000032"/>
                </a:solidFill>
              </a:rPr>
              <a:t>；</a:t>
            </a:r>
          </a:p>
          <a:p>
            <a:pPr eaLnBrk="1" hangingPunct="1"/>
            <a:r>
              <a:rPr lang="zh-CN" altLang="en-US" b="1">
                <a:solidFill>
                  <a:srgbClr val="000032"/>
                </a:solidFill>
              </a:rPr>
              <a:t>赋值目标</a:t>
            </a:r>
            <a:r>
              <a:rPr lang="en-US" altLang="zh-CN" b="1">
                <a:solidFill>
                  <a:srgbClr val="000032"/>
                </a:solidFill>
              </a:rPr>
              <a:t>2=</a:t>
            </a:r>
            <a:r>
              <a:rPr lang="zh-CN" altLang="en-US" b="1">
                <a:solidFill>
                  <a:srgbClr val="000032"/>
                </a:solidFill>
              </a:rPr>
              <a:t>表达式</a:t>
            </a:r>
            <a:r>
              <a:rPr lang="en-US" altLang="zh-CN" b="1">
                <a:solidFill>
                  <a:srgbClr val="000032"/>
                </a:solidFill>
              </a:rPr>
              <a:t>2</a:t>
            </a:r>
            <a:r>
              <a:rPr lang="zh-CN" altLang="en-US" b="1">
                <a:solidFill>
                  <a:srgbClr val="000032"/>
                </a:solidFill>
              </a:rPr>
              <a:t>；</a:t>
            </a:r>
          </a:p>
        </p:txBody>
      </p:sp>
      <p:sp>
        <p:nvSpPr>
          <p:cNvPr id="69637" name="Text Box 12"/>
          <p:cNvSpPr txBox="1">
            <a:spLocks noChangeArrowheads="1"/>
          </p:cNvSpPr>
          <p:nvPr/>
        </p:nvSpPr>
        <p:spPr bwMode="auto">
          <a:xfrm>
            <a:off x="4284663" y="5013325"/>
            <a:ext cx="3816350" cy="850900"/>
          </a:xfrm>
          <a:prstGeom prst="rect">
            <a:avLst/>
          </a:prstGeom>
          <a:solidFill>
            <a:srgbClr val="CDDD9C"/>
          </a:solidFill>
          <a:ln w="28575" algn="ctr">
            <a:solidFill>
              <a:srgbClr val="99CCCD"/>
            </a:solidFill>
            <a:miter lim="800000"/>
            <a:headEnd/>
            <a:tailEnd/>
          </a:ln>
        </p:spPr>
        <p:txBody>
          <a:bodyPr>
            <a:spAutoFit/>
          </a:bodyPr>
          <a:lstStyle/>
          <a:p>
            <a:pPr eaLnBrk="1" hangingPunct="1"/>
            <a:r>
              <a:rPr lang="zh-CN" altLang="en-US" b="1">
                <a:solidFill>
                  <a:srgbClr val="000032"/>
                </a:solidFill>
              </a:rPr>
              <a:t>赋值目标</a:t>
            </a:r>
            <a:r>
              <a:rPr lang="en-US" altLang="zh-CN" b="1">
                <a:solidFill>
                  <a:srgbClr val="000032"/>
                </a:solidFill>
              </a:rPr>
              <a:t>1&lt;=</a:t>
            </a:r>
            <a:r>
              <a:rPr lang="zh-CN" altLang="en-US" b="1">
                <a:solidFill>
                  <a:srgbClr val="000032"/>
                </a:solidFill>
              </a:rPr>
              <a:t>表达式</a:t>
            </a:r>
            <a:r>
              <a:rPr lang="en-US" altLang="zh-CN" b="1">
                <a:solidFill>
                  <a:srgbClr val="000032"/>
                </a:solidFill>
              </a:rPr>
              <a:t>1</a:t>
            </a:r>
            <a:r>
              <a:rPr lang="zh-CN" altLang="en-US" b="1">
                <a:solidFill>
                  <a:srgbClr val="000032"/>
                </a:solidFill>
              </a:rPr>
              <a:t>；</a:t>
            </a:r>
          </a:p>
          <a:p>
            <a:pPr eaLnBrk="1" hangingPunct="1"/>
            <a:r>
              <a:rPr lang="zh-CN" altLang="en-US" b="1">
                <a:solidFill>
                  <a:srgbClr val="000032"/>
                </a:solidFill>
              </a:rPr>
              <a:t>赋值目标</a:t>
            </a:r>
            <a:r>
              <a:rPr lang="en-US" altLang="zh-CN" b="1">
                <a:solidFill>
                  <a:srgbClr val="000032"/>
                </a:solidFill>
              </a:rPr>
              <a:t>2&lt;=</a:t>
            </a:r>
            <a:r>
              <a:rPr lang="zh-CN" altLang="en-US" b="1">
                <a:solidFill>
                  <a:srgbClr val="000032"/>
                </a:solidFill>
              </a:rPr>
              <a:t>表达式</a:t>
            </a:r>
            <a:r>
              <a:rPr lang="en-US" altLang="zh-CN" b="1">
                <a:solidFill>
                  <a:srgbClr val="000032"/>
                </a:solidFill>
              </a:rPr>
              <a:t>2</a:t>
            </a:r>
            <a:r>
              <a:rPr lang="zh-CN" altLang="en-US" b="1">
                <a:solidFill>
                  <a:srgbClr val="000032"/>
                </a:solidFill>
              </a:rPr>
              <a:t>；</a:t>
            </a:r>
          </a:p>
        </p:txBody>
      </p:sp>
    </p:spTree>
    <p:extLst>
      <p:ext uri="{BB962C8B-B14F-4D97-AF65-F5344CB8AC3E}">
        <p14:creationId xmlns:p14="http://schemas.microsoft.com/office/powerpoint/2010/main" val="38980414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12"/>
          <p:cNvSpPr txBox="1">
            <a:spLocks noChangeArrowheads="1"/>
          </p:cNvSpPr>
          <p:nvPr/>
        </p:nvSpPr>
        <p:spPr bwMode="auto">
          <a:xfrm>
            <a:off x="250825" y="1268413"/>
            <a:ext cx="3051175" cy="2176462"/>
          </a:xfrm>
          <a:prstGeom prst="rect">
            <a:avLst/>
          </a:prstGeom>
          <a:solidFill>
            <a:srgbClr val="E3E3F1"/>
          </a:solidFill>
          <a:ln w="28575" algn="ctr">
            <a:noFill/>
            <a:miter lim="800000"/>
            <a:headEnd/>
            <a:tailEnd/>
          </a:ln>
        </p:spPr>
        <p:txBody>
          <a:bodyPr>
            <a:spAutoFit/>
          </a:bodyPr>
          <a:lstStyle/>
          <a:p>
            <a:pPr eaLnBrk="1" hangingPunct="1">
              <a:spcBef>
                <a:spcPct val="10000"/>
              </a:spcBef>
              <a:buClr>
                <a:schemeClr val="bg2"/>
              </a:buClr>
              <a:buFont typeface="Wingdings" pitchFamily="2" charset="2"/>
              <a:buChar char="l"/>
            </a:pPr>
            <a:r>
              <a:rPr lang="zh-CN" altLang="en-US" sz="1800" b="1" dirty="0">
                <a:solidFill>
                  <a:schemeClr val="bg2"/>
                </a:solidFill>
              </a:rPr>
              <a:t> 阻塞</a:t>
            </a:r>
            <a:r>
              <a:rPr lang="zh-CN" altLang="en-US" sz="1800" b="1" dirty="0" smtClean="0">
                <a:solidFill>
                  <a:schemeClr val="bg2"/>
                </a:solidFill>
              </a:rPr>
              <a:t>赋值</a:t>
            </a:r>
            <a:r>
              <a:rPr lang="en-US" altLang="zh-CN" sz="1800" b="1" dirty="0" smtClean="0">
                <a:solidFill>
                  <a:schemeClr val="bg2"/>
                </a:solidFill>
              </a:rPr>
              <a:t>【</a:t>
            </a:r>
            <a:r>
              <a:rPr lang="zh-CN" altLang="en-US" sz="1800" b="1" dirty="0" smtClean="0">
                <a:solidFill>
                  <a:schemeClr val="bg2"/>
                </a:solidFill>
              </a:rPr>
              <a:t>例</a:t>
            </a:r>
            <a:r>
              <a:rPr lang="en-US" altLang="zh-CN" sz="1800" b="1" dirty="0" smtClean="0">
                <a:solidFill>
                  <a:schemeClr val="bg2"/>
                </a:solidFill>
              </a:rPr>
              <a:t>8-6】</a:t>
            </a:r>
            <a:endParaRPr lang="zh-CN" altLang="en-US" sz="1800" b="1" dirty="0">
              <a:solidFill>
                <a:schemeClr val="bg2"/>
              </a:solidFill>
            </a:endParaRPr>
          </a:p>
          <a:p>
            <a:pPr eaLnBrk="1" hangingPunct="1">
              <a:spcBef>
                <a:spcPct val="10000"/>
              </a:spcBef>
            </a:pPr>
            <a:r>
              <a:rPr lang="en-US" altLang="zh-CN" sz="1800" b="1" dirty="0">
                <a:solidFill>
                  <a:srgbClr val="B43000"/>
                </a:solidFill>
              </a:rPr>
              <a:t>always @ (A,B)</a:t>
            </a:r>
          </a:p>
          <a:p>
            <a:pPr eaLnBrk="1" hangingPunct="1">
              <a:spcBef>
                <a:spcPct val="10000"/>
              </a:spcBef>
            </a:pPr>
            <a:r>
              <a:rPr lang="en-US" altLang="zh-CN" sz="1800" b="1" dirty="0">
                <a:solidFill>
                  <a:srgbClr val="B43000"/>
                </a:solidFill>
              </a:rPr>
              <a:t>begin</a:t>
            </a:r>
          </a:p>
          <a:p>
            <a:pPr eaLnBrk="1" hangingPunct="1">
              <a:spcBef>
                <a:spcPct val="10000"/>
              </a:spcBef>
            </a:pPr>
            <a:r>
              <a:rPr lang="en-US" altLang="zh-CN" sz="1800" b="1" dirty="0">
                <a:solidFill>
                  <a:srgbClr val="B43000"/>
                </a:solidFill>
              </a:rPr>
              <a:t>	M1=A;</a:t>
            </a:r>
          </a:p>
          <a:p>
            <a:pPr eaLnBrk="1" hangingPunct="1">
              <a:spcBef>
                <a:spcPct val="10000"/>
              </a:spcBef>
            </a:pPr>
            <a:r>
              <a:rPr lang="en-US" altLang="zh-CN" sz="1800" b="1" dirty="0">
                <a:solidFill>
                  <a:srgbClr val="B43000"/>
                </a:solidFill>
              </a:rPr>
              <a:t>	M2=B&amp;M1;</a:t>
            </a:r>
          </a:p>
          <a:p>
            <a:pPr eaLnBrk="1" hangingPunct="1">
              <a:spcBef>
                <a:spcPct val="10000"/>
              </a:spcBef>
            </a:pPr>
            <a:r>
              <a:rPr lang="en-US" altLang="zh-CN" sz="1800" b="1" dirty="0">
                <a:solidFill>
                  <a:srgbClr val="B43000"/>
                </a:solidFill>
              </a:rPr>
              <a:t>	Q=M1|M2;</a:t>
            </a:r>
          </a:p>
          <a:p>
            <a:pPr eaLnBrk="1" hangingPunct="1">
              <a:spcBef>
                <a:spcPct val="10000"/>
              </a:spcBef>
            </a:pPr>
            <a:r>
              <a:rPr lang="en-US" altLang="zh-CN" sz="1800" b="1" dirty="0">
                <a:solidFill>
                  <a:srgbClr val="B43000"/>
                </a:solidFill>
              </a:rPr>
              <a:t>end</a:t>
            </a:r>
          </a:p>
        </p:txBody>
      </p:sp>
      <p:sp>
        <p:nvSpPr>
          <p:cNvPr id="70660" name="Text Box 13"/>
          <p:cNvSpPr txBox="1">
            <a:spLocks noChangeArrowheads="1"/>
          </p:cNvSpPr>
          <p:nvPr/>
        </p:nvSpPr>
        <p:spPr bwMode="auto">
          <a:xfrm>
            <a:off x="3635375" y="666750"/>
            <a:ext cx="3240088" cy="457200"/>
          </a:xfrm>
          <a:prstGeom prst="rect">
            <a:avLst/>
          </a:prstGeom>
          <a:solidFill>
            <a:srgbClr val="B3FFEB"/>
          </a:solidFill>
          <a:ln w="9525">
            <a:noFill/>
            <a:miter lim="800000"/>
            <a:headEnd/>
            <a:tailEnd/>
          </a:ln>
        </p:spPr>
        <p:txBody>
          <a:bodyPr>
            <a:spAutoFit/>
          </a:bodyPr>
          <a:lstStyle/>
          <a:p>
            <a:pPr eaLnBrk="1" hangingPunct="1">
              <a:spcBef>
                <a:spcPct val="50000"/>
              </a:spcBef>
            </a:pPr>
            <a:r>
              <a:rPr lang="zh-CN" altLang="en-US" b="1" dirty="0"/>
              <a:t>设</a:t>
            </a:r>
            <a:r>
              <a:rPr lang="en-US" altLang="zh-CN" b="1" dirty="0"/>
              <a:t>A</a:t>
            </a:r>
            <a:r>
              <a:rPr lang="zh-CN" altLang="en-US" b="1" dirty="0"/>
              <a:t>、</a:t>
            </a:r>
            <a:r>
              <a:rPr lang="en-US" altLang="zh-CN" b="1" dirty="0"/>
              <a:t>B</a:t>
            </a:r>
            <a:r>
              <a:rPr lang="zh-CN" altLang="en-US" b="1" dirty="0"/>
              <a:t>同时由</a:t>
            </a:r>
            <a:r>
              <a:rPr lang="en-US" altLang="zh-CN" b="1" dirty="0"/>
              <a:t>0</a:t>
            </a:r>
            <a:r>
              <a:rPr lang="zh-CN" altLang="en-US" b="1" dirty="0"/>
              <a:t>变</a:t>
            </a:r>
            <a:r>
              <a:rPr lang="en-US" altLang="zh-CN" b="1" dirty="0"/>
              <a:t>1</a:t>
            </a:r>
          </a:p>
        </p:txBody>
      </p:sp>
      <p:sp>
        <p:nvSpPr>
          <p:cNvPr id="70661" name="Text Box 14"/>
          <p:cNvSpPr txBox="1">
            <a:spLocks noChangeArrowheads="1"/>
          </p:cNvSpPr>
          <p:nvPr/>
        </p:nvSpPr>
        <p:spPr bwMode="auto">
          <a:xfrm>
            <a:off x="3614738" y="1254125"/>
            <a:ext cx="4732337" cy="457200"/>
          </a:xfrm>
          <a:prstGeom prst="rect">
            <a:avLst/>
          </a:prstGeom>
          <a:noFill/>
          <a:ln w="9525">
            <a:noFill/>
            <a:miter lim="800000"/>
            <a:headEnd/>
            <a:tailEnd/>
          </a:ln>
        </p:spPr>
        <p:txBody>
          <a:bodyPr wrap="none">
            <a:spAutoFit/>
          </a:bodyPr>
          <a:lstStyle/>
          <a:p>
            <a:pPr eaLnBrk="1" hangingPunct="1"/>
            <a:r>
              <a:rPr lang="zh-CN" altLang="en-US" b="1"/>
              <a:t>激活前：</a:t>
            </a:r>
            <a:r>
              <a:rPr lang="en-US" altLang="zh-CN" b="1"/>
              <a:t>M1=0</a:t>
            </a:r>
            <a:r>
              <a:rPr lang="zh-CN" altLang="en-US" b="1"/>
              <a:t>，</a:t>
            </a:r>
            <a:r>
              <a:rPr lang="en-US" altLang="zh-CN" b="1"/>
              <a:t>M2=0</a:t>
            </a:r>
            <a:r>
              <a:rPr lang="zh-CN" altLang="en-US" b="1"/>
              <a:t>，</a:t>
            </a:r>
            <a:r>
              <a:rPr lang="en-US" altLang="zh-CN" b="1"/>
              <a:t>Q=0</a:t>
            </a:r>
          </a:p>
        </p:txBody>
      </p:sp>
      <p:sp>
        <p:nvSpPr>
          <p:cNvPr id="70662" name="Rectangle 15"/>
          <p:cNvSpPr>
            <a:spLocks noChangeArrowheads="1"/>
          </p:cNvSpPr>
          <p:nvPr/>
        </p:nvSpPr>
        <p:spPr bwMode="auto">
          <a:xfrm>
            <a:off x="3635375" y="1746250"/>
            <a:ext cx="1403350" cy="457200"/>
          </a:xfrm>
          <a:prstGeom prst="rect">
            <a:avLst/>
          </a:prstGeom>
          <a:noFill/>
          <a:ln w="9525">
            <a:noFill/>
            <a:miter lim="800000"/>
            <a:headEnd/>
            <a:tailEnd/>
          </a:ln>
        </p:spPr>
        <p:txBody>
          <a:bodyPr wrap="none">
            <a:spAutoFit/>
          </a:bodyPr>
          <a:lstStyle/>
          <a:p>
            <a:pPr eaLnBrk="1" hangingPunct="1"/>
            <a:r>
              <a:rPr lang="zh-CN" altLang="en-US" b="1"/>
              <a:t>激活后：</a:t>
            </a:r>
          </a:p>
        </p:txBody>
      </p:sp>
      <p:sp>
        <p:nvSpPr>
          <p:cNvPr id="70663" name="Text Box 16"/>
          <p:cNvSpPr txBox="1">
            <a:spLocks noChangeArrowheads="1"/>
          </p:cNvSpPr>
          <p:nvPr/>
        </p:nvSpPr>
        <p:spPr bwMode="auto">
          <a:xfrm>
            <a:off x="3706813" y="2363788"/>
            <a:ext cx="4610100" cy="1063625"/>
          </a:xfrm>
          <a:prstGeom prst="rect">
            <a:avLst/>
          </a:prstGeom>
          <a:noFill/>
          <a:ln w="57150">
            <a:solidFill>
              <a:srgbClr val="FFCC99"/>
            </a:solidFill>
            <a:miter lim="800000"/>
            <a:headEnd/>
            <a:tailEnd/>
          </a:ln>
        </p:spPr>
        <p:txBody>
          <a:bodyPr>
            <a:spAutoFit/>
          </a:bodyPr>
          <a:lstStyle/>
          <a:p>
            <a:pPr eaLnBrk="1" hangingPunct="1"/>
            <a:r>
              <a:rPr lang="zh-CN" altLang="en-US" sz="2000" b="1"/>
              <a:t>先计算</a:t>
            </a:r>
            <a:r>
              <a:rPr lang="en-US" altLang="zh-CN" sz="2000" b="1"/>
              <a:t>A=1</a:t>
            </a:r>
            <a:r>
              <a:rPr lang="zh-CN" altLang="en-US" sz="2000" b="1"/>
              <a:t>，马上赋值给</a:t>
            </a:r>
            <a:r>
              <a:rPr lang="en-US" altLang="zh-CN" sz="2000" b="1"/>
              <a:t>M1</a:t>
            </a:r>
          </a:p>
          <a:p>
            <a:pPr eaLnBrk="1" hangingPunct="1"/>
            <a:r>
              <a:rPr lang="zh-CN" altLang="en-US" sz="2000" b="1"/>
              <a:t>再计算</a:t>
            </a:r>
            <a:r>
              <a:rPr lang="en-US" altLang="zh-CN" sz="2000" b="1"/>
              <a:t>B&amp;M1=1</a:t>
            </a:r>
            <a:r>
              <a:rPr lang="zh-CN" altLang="en-US" sz="2000" b="1"/>
              <a:t>，马上赋值给</a:t>
            </a:r>
            <a:r>
              <a:rPr lang="en-US" altLang="zh-CN" sz="2000" b="1"/>
              <a:t>M2</a:t>
            </a:r>
          </a:p>
          <a:p>
            <a:pPr eaLnBrk="1" hangingPunct="1"/>
            <a:r>
              <a:rPr lang="zh-CN" altLang="en-US" sz="2000" b="1"/>
              <a:t>再计算</a:t>
            </a:r>
            <a:r>
              <a:rPr lang="en-US" altLang="zh-CN" sz="2000" b="1"/>
              <a:t>M1|M2=1</a:t>
            </a:r>
            <a:r>
              <a:rPr lang="zh-CN" altLang="en-US" sz="2000" b="1"/>
              <a:t>，马上赋值给</a:t>
            </a:r>
            <a:r>
              <a:rPr lang="en-US" altLang="zh-CN" sz="2000" b="1"/>
              <a:t>Q</a:t>
            </a:r>
          </a:p>
        </p:txBody>
      </p:sp>
      <p:sp>
        <p:nvSpPr>
          <p:cNvPr id="70664" name="Text Box 17"/>
          <p:cNvSpPr txBox="1">
            <a:spLocks noChangeArrowheads="1"/>
          </p:cNvSpPr>
          <p:nvPr/>
        </p:nvSpPr>
        <p:spPr bwMode="auto">
          <a:xfrm>
            <a:off x="179388" y="3916363"/>
            <a:ext cx="3316287" cy="2176462"/>
          </a:xfrm>
          <a:prstGeom prst="rect">
            <a:avLst/>
          </a:prstGeom>
          <a:solidFill>
            <a:srgbClr val="E3E3F1"/>
          </a:solidFill>
          <a:ln w="28575" algn="ctr">
            <a:noFill/>
            <a:miter lim="800000"/>
            <a:headEnd/>
            <a:tailEnd/>
          </a:ln>
        </p:spPr>
        <p:txBody>
          <a:bodyPr>
            <a:spAutoFit/>
          </a:bodyPr>
          <a:lstStyle/>
          <a:p>
            <a:pPr eaLnBrk="1" hangingPunct="1">
              <a:spcBef>
                <a:spcPct val="10000"/>
              </a:spcBef>
              <a:buClr>
                <a:schemeClr val="bg2"/>
              </a:buClr>
              <a:buFont typeface="Wingdings" pitchFamily="2" charset="2"/>
              <a:buChar char="l"/>
            </a:pPr>
            <a:r>
              <a:rPr lang="zh-CN" altLang="en-US" sz="1800" b="1" dirty="0">
                <a:solidFill>
                  <a:srgbClr val="B43000"/>
                </a:solidFill>
              </a:rPr>
              <a:t> </a:t>
            </a:r>
            <a:r>
              <a:rPr lang="zh-CN" altLang="en-US" sz="1800" b="1" dirty="0">
                <a:solidFill>
                  <a:schemeClr val="bg2"/>
                </a:solidFill>
              </a:rPr>
              <a:t>非阻塞</a:t>
            </a:r>
            <a:r>
              <a:rPr lang="zh-CN" altLang="en-US" sz="1800" b="1" dirty="0" smtClean="0">
                <a:solidFill>
                  <a:schemeClr val="bg2"/>
                </a:solidFill>
              </a:rPr>
              <a:t>赋值</a:t>
            </a:r>
            <a:r>
              <a:rPr lang="en-US" altLang="zh-CN" sz="1800" b="1" dirty="0" smtClean="0">
                <a:solidFill>
                  <a:schemeClr val="bg2"/>
                </a:solidFill>
              </a:rPr>
              <a:t>【</a:t>
            </a:r>
            <a:r>
              <a:rPr lang="zh-CN" altLang="en-US" sz="1800" b="1" dirty="0" smtClean="0">
                <a:solidFill>
                  <a:schemeClr val="bg2"/>
                </a:solidFill>
              </a:rPr>
              <a:t>例</a:t>
            </a:r>
            <a:r>
              <a:rPr lang="en-US" altLang="zh-CN" sz="1800" b="1" dirty="0" smtClean="0">
                <a:solidFill>
                  <a:schemeClr val="bg2"/>
                </a:solidFill>
              </a:rPr>
              <a:t>8-7】</a:t>
            </a:r>
            <a:endParaRPr lang="zh-CN" altLang="en-US" sz="1800" b="1" dirty="0">
              <a:solidFill>
                <a:schemeClr val="bg2"/>
              </a:solidFill>
            </a:endParaRPr>
          </a:p>
          <a:p>
            <a:pPr eaLnBrk="1" hangingPunct="1">
              <a:spcBef>
                <a:spcPct val="10000"/>
              </a:spcBef>
            </a:pPr>
            <a:r>
              <a:rPr lang="en-US" altLang="zh-CN" sz="1800" b="1" dirty="0">
                <a:solidFill>
                  <a:srgbClr val="B43000"/>
                </a:solidFill>
              </a:rPr>
              <a:t>always @ (A,B)</a:t>
            </a:r>
          </a:p>
          <a:p>
            <a:pPr eaLnBrk="1" hangingPunct="1">
              <a:spcBef>
                <a:spcPct val="10000"/>
              </a:spcBef>
            </a:pPr>
            <a:r>
              <a:rPr lang="en-US" altLang="zh-CN" sz="1800" b="1" dirty="0">
                <a:solidFill>
                  <a:srgbClr val="B43000"/>
                </a:solidFill>
              </a:rPr>
              <a:t>begin</a:t>
            </a:r>
          </a:p>
          <a:p>
            <a:pPr eaLnBrk="1" hangingPunct="1">
              <a:spcBef>
                <a:spcPct val="10000"/>
              </a:spcBef>
            </a:pPr>
            <a:r>
              <a:rPr lang="en-US" altLang="zh-CN" sz="1800" b="1" dirty="0">
                <a:solidFill>
                  <a:srgbClr val="B43000"/>
                </a:solidFill>
              </a:rPr>
              <a:t>	M1&lt;=A;</a:t>
            </a:r>
          </a:p>
          <a:p>
            <a:pPr eaLnBrk="1" hangingPunct="1">
              <a:spcBef>
                <a:spcPct val="10000"/>
              </a:spcBef>
            </a:pPr>
            <a:r>
              <a:rPr lang="en-US" altLang="zh-CN" sz="1800" b="1" dirty="0">
                <a:solidFill>
                  <a:srgbClr val="B43000"/>
                </a:solidFill>
              </a:rPr>
              <a:t>	M2&lt;=B&amp;M1;</a:t>
            </a:r>
          </a:p>
          <a:p>
            <a:pPr eaLnBrk="1" hangingPunct="1">
              <a:spcBef>
                <a:spcPct val="10000"/>
              </a:spcBef>
            </a:pPr>
            <a:r>
              <a:rPr lang="en-US" altLang="zh-CN" sz="1800" b="1" dirty="0">
                <a:solidFill>
                  <a:srgbClr val="B43000"/>
                </a:solidFill>
              </a:rPr>
              <a:t>	Q&lt;=M1|M2;</a:t>
            </a:r>
          </a:p>
          <a:p>
            <a:pPr eaLnBrk="1" hangingPunct="1">
              <a:spcBef>
                <a:spcPct val="10000"/>
              </a:spcBef>
            </a:pPr>
            <a:r>
              <a:rPr lang="en-US" altLang="zh-CN" sz="1800" b="1" dirty="0">
                <a:solidFill>
                  <a:srgbClr val="B43000"/>
                </a:solidFill>
              </a:rPr>
              <a:t>end</a:t>
            </a:r>
          </a:p>
        </p:txBody>
      </p:sp>
      <p:sp>
        <p:nvSpPr>
          <p:cNvPr id="70665" name="Text Box 18"/>
          <p:cNvSpPr txBox="1">
            <a:spLocks noChangeArrowheads="1"/>
          </p:cNvSpPr>
          <p:nvPr/>
        </p:nvSpPr>
        <p:spPr bwMode="auto">
          <a:xfrm>
            <a:off x="3708400" y="3954463"/>
            <a:ext cx="4610100" cy="2282825"/>
          </a:xfrm>
          <a:prstGeom prst="rect">
            <a:avLst/>
          </a:prstGeom>
          <a:noFill/>
          <a:ln w="57150">
            <a:solidFill>
              <a:srgbClr val="FFCC99"/>
            </a:solidFill>
            <a:miter lim="800000"/>
            <a:headEnd/>
            <a:tailEnd/>
          </a:ln>
        </p:spPr>
        <p:txBody>
          <a:bodyPr>
            <a:spAutoFit/>
          </a:bodyPr>
          <a:lstStyle/>
          <a:p>
            <a:pPr eaLnBrk="1" hangingPunct="1"/>
            <a:r>
              <a:rPr lang="zh-CN" altLang="en-US" sz="2000" b="1"/>
              <a:t>先计算</a:t>
            </a:r>
            <a:r>
              <a:rPr lang="en-US" altLang="zh-CN" sz="2000" b="1"/>
              <a:t>A=1</a:t>
            </a:r>
            <a:r>
              <a:rPr lang="zh-CN" altLang="en-US" sz="2000" b="1"/>
              <a:t>，（等待，不赋值）</a:t>
            </a:r>
          </a:p>
          <a:p>
            <a:pPr eaLnBrk="1" hangingPunct="1"/>
            <a:r>
              <a:rPr lang="zh-CN" altLang="en-US" sz="2000" b="1"/>
              <a:t>再计算</a:t>
            </a:r>
            <a:r>
              <a:rPr lang="en-US" altLang="zh-CN" sz="2000" b="1"/>
              <a:t>B&amp;M1=0</a:t>
            </a:r>
            <a:r>
              <a:rPr lang="zh-CN" altLang="en-US" sz="2000" b="1"/>
              <a:t>，（等待，不赋值）</a:t>
            </a:r>
          </a:p>
          <a:p>
            <a:pPr eaLnBrk="1" hangingPunct="1"/>
            <a:r>
              <a:rPr lang="zh-CN" altLang="en-US" sz="2000" b="1"/>
              <a:t>再计算</a:t>
            </a:r>
            <a:r>
              <a:rPr lang="en-US" altLang="zh-CN" sz="2000" b="1"/>
              <a:t>M1|M2=0</a:t>
            </a:r>
            <a:r>
              <a:rPr lang="zh-CN" altLang="en-US" sz="2000" b="1"/>
              <a:t>，（等待，不赋值）</a:t>
            </a:r>
          </a:p>
          <a:p>
            <a:pPr eaLnBrk="1" hangingPunct="1"/>
            <a:r>
              <a:rPr lang="zh-CN" altLang="en-US" sz="2000" b="1"/>
              <a:t>过程结束</a:t>
            </a:r>
          </a:p>
          <a:p>
            <a:pPr eaLnBrk="1" hangingPunct="1"/>
            <a:r>
              <a:rPr lang="zh-CN" altLang="en-US" sz="2000" b="1"/>
              <a:t>先赋值给</a:t>
            </a:r>
            <a:r>
              <a:rPr lang="en-US" altLang="zh-CN" sz="2000" b="1"/>
              <a:t>M1=1</a:t>
            </a:r>
          </a:p>
          <a:p>
            <a:pPr eaLnBrk="1" hangingPunct="1"/>
            <a:r>
              <a:rPr lang="zh-CN" altLang="en-US" sz="2000" b="1"/>
              <a:t>再赋值给</a:t>
            </a:r>
            <a:r>
              <a:rPr lang="en-US" altLang="zh-CN" sz="2000" b="1"/>
              <a:t>M2=0</a:t>
            </a:r>
          </a:p>
          <a:p>
            <a:pPr eaLnBrk="1" hangingPunct="1"/>
            <a:r>
              <a:rPr lang="zh-CN" altLang="en-US" sz="2000" b="1"/>
              <a:t>再赋值给</a:t>
            </a:r>
            <a:r>
              <a:rPr lang="en-US" altLang="zh-CN" sz="2000" b="1"/>
              <a:t>Q=0</a:t>
            </a:r>
          </a:p>
        </p:txBody>
      </p:sp>
      <p:sp>
        <p:nvSpPr>
          <p:cNvPr id="70666" name="Rectangle 19"/>
          <p:cNvSpPr>
            <a:spLocks noChangeArrowheads="1"/>
          </p:cNvSpPr>
          <p:nvPr/>
        </p:nvSpPr>
        <p:spPr bwMode="auto">
          <a:xfrm>
            <a:off x="1115616" y="339725"/>
            <a:ext cx="1716087" cy="457200"/>
          </a:xfrm>
          <a:prstGeom prst="rect">
            <a:avLst/>
          </a:prstGeom>
          <a:noFill/>
          <a:ln w="28575" algn="ctr">
            <a:noFill/>
            <a:miter lim="800000"/>
            <a:headEnd/>
            <a:tailEnd/>
          </a:ln>
        </p:spPr>
        <p:txBody>
          <a:bodyPr wrap="none">
            <a:spAutoFit/>
          </a:bodyPr>
          <a:lstStyle/>
          <a:p>
            <a:pPr eaLnBrk="1" hangingPunct="1"/>
            <a:r>
              <a:rPr lang="zh-CN" altLang="en-US" b="1" dirty="0">
                <a:solidFill>
                  <a:srgbClr val="B43000"/>
                </a:solidFill>
                <a:latin typeface="+mj-ea"/>
                <a:ea typeface="+mj-ea"/>
              </a:rPr>
              <a:t>举例比较：</a:t>
            </a:r>
          </a:p>
        </p:txBody>
      </p:sp>
    </p:spTree>
    <p:extLst>
      <p:ext uri="{BB962C8B-B14F-4D97-AF65-F5344CB8AC3E}">
        <p14:creationId xmlns:p14="http://schemas.microsoft.com/office/powerpoint/2010/main" val="12100497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5"/>
          <p:cNvSpPr>
            <a:spLocks noGrp="1" noChangeArrowheads="1"/>
          </p:cNvSpPr>
          <p:nvPr>
            <p:ph type="title" idx="4294967295"/>
          </p:nvPr>
        </p:nvSpPr>
        <p:spPr>
          <a:xfrm>
            <a:off x="5148263" y="115888"/>
            <a:ext cx="3538537" cy="360362"/>
          </a:xfrm>
        </p:spPr>
        <p:txBody>
          <a:bodyPr/>
          <a:lstStyle/>
          <a:p>
            <a:pPr algn="r" eaLnBrk="1" hangingPunct="1"/>
            <a:r>
              <a:rPr lang="en-US" altLang="zh-CN" sz="1800" smtClean="0">
                <a:solidFill>
                  <a:srgbClr val="821006"/>
                </a:solidFill>
              </a:rPr>
              <a:t>3</a:t>
            </a:r>
            <a:r>
              <a:rPr lang="en-US" altLang="en-US" sz="1800" smtClean="0">
                <a:solidFill>
                  <a:srgbClr val="821006"/>
                </a:solidFill>
              </a:rPr>
              <a:t>.</a:t>
            </a:r>
            <a:r>
              <a:rPr lang="en-US" altLang="zh-CN" sz="1800" smtClean="0">
                <a:solidFill>
                  <a:srgbClr val="821006"/>
                </a:solidFill>
              </a:rPr>
              <a:t>2</a:t>
            </a:r>
            <a:r>
              <a:rPr lang="zh-CN" altLang="en-US" sz="1800" smtClean="0">
                <a:solidFill>
                  <a:srgbClr val="821006"/>
                </a:solidFill>
              </a:rPr>
              <a:t>多路选择器的</a:t>
            </a:r>
            <a:r>
              <a:rPr lang="en-US" altLang="zh-CN" sz="1800" smtClean="0">
                <a:solidFill>
                  <a:srgbClr val="821006"/>
                </a:solidFill>
              </a:rPr>
              <a:t>Verilog</a:t>
            </a:r>
            <a:r>
              <a:rPr lang="zh-CN" altLang="en-US" sz="1800" smtClean="0">
                <a:solidFill>
                  <a:srgbClr val="821006"/>
                </a:solidFill>
              </a:rPr>
              <a:t>描述</a:t>
            </a:r>
          </a:p>
        </p:txBody>
      </p:sp>
      <p:sp>
        <p:nvSpPr>
          <p:cNvPr id="71683" name="Text Box 16"/>
          <p:cNvSpPr txBox="1">
            <a:spLocks noChangeArrowheads="1"/>
          </p:cNvSpPr>
          <p:nvPr/>
        </p:nvSpPr>
        <p:spPr bwMode="auto">
          <a:xfrm>
            <a:off x="179388" y="115888"/>
            <a:ext cx="8713787" cy="2225675"/>
          </a:xfrm>
          <a:prstGeom prst="rect">
            <a:avLst/>
          </a:prstGeom>
          <a:solidFill>
            <a:srgbClr val="E3E3F1"/>
          </a:solidFill>
          <a:ln w="28575" algn="ctr">
            <a:noFill/>
            <a:miter lim="800000"/>
            <a:headEnd/>
            <a:tailEnd/>
          </a:ln>
        </p:spPr>
        <p:txBody>
          <a:bodyPr>
            <a:spAutoFit/>
          </a:bodyPr>
          <a:lstStyle/>
          <a:p>
            <a:pPr marL="261938" indent="-261938" eaLnBrk="1" hangingPunct="1">
              <a:spcBef>
                <a:spcPct val="50000"/>
              </a:spcBef>
              <a:buClr>
                <a:srgbClr val="B43000"/>
              </a:buClr>
              <a:buFont typeface="Wingdings" pitchFamily="2" charset="2"/>
              <a:buNone/>
            </a:pPr>
            <a:r>
              <a:rPr lang="zh-CN" altLang="en-US" sz="2000" b="1">
                <a:solidFill>
                  <a:srgbClr val="000032"/>
                </a:solidFill>
              </a:rPr>
              <a:t>应用：</a:t>
            </a:r>
          </a:p>
          <a:p>
            <a:pPr marL="261938" indent="-261938" eaLnBrk="1" hangingPunct="1">
              <a:spcBef>
                <a:spcPct val="50000"/>
              </a:spcBef>
              <a:buClr>
                <a:srgbClr val="B43000"/>
              </a:buClr>
              <a:buFont typeface="Wingdings" pitchFamily="2" charset="2"/>
              <a:buChar char="l"/>
            </a:pPr>
            <a:r>
              <a:rPr lang="zh-CN" altLang="en-US" sz="2000" b="1">
                <a:solidFill>
                  <a:srgbClr val="000032"/>
                </a:solidFill>
              </a:rPr>
              <a:t>设计组合电路时常用阻塞赋值；</a:t>
            </a:r>
          </a:p>
          <a:p>
            <a:pPr marL="261938" indent="-261938" eaLnBrk="1" hangingPunct="1">
              <a:spcBef>
                <a:spcPct val="50000"/>
              </a:spcBef>
              <a:buClr>
                <a:srgbClr val="B43000"/>
              </a:buClr>
              <a:buFont typeface="Wingdings" pitchFamily="2" charset="2"/>
              <a:buChar char="l"/>
            </a:pPr>
            <a:r>
              <a:rPr lang="zh-CN" altLang="en-US" sz="2000" b="1">
                <a:solidFill>
                  <a:srgbClr val="000032"/>
                </a:solidFill>
              </a:rPr>
              <a:t>设计时序电路时常用非阻塞赋值；</a:t>
            </a:r>
          </a:p>
          <a:p>
            <a:pPr marL="261938" indent="-261938" eaLnBrk="1" hangingPunct="1">
              <a:spcBef>
                <a:spcPct val="50000"/>
              </a:spcBef>
              <a:buClr>
                <a:srgbClr val="B43000"/>
              </a:buClr>
              <a:buFont typeface="Wingdings" pitchFamily="2" charset="2"/>
              <a:buChar char="l"/>
            </a:pPr>
            <a:r>
              <a:rPr lang="zh-CN" altLang="en-US" sz="2000" b="1">
                <a:solidFill>
                  <a:srgbClr val="000032"/>
                </a:solidFill>
              </a:rPr>
              <a:t>但不是绝对的。</a:t>
            </a:r>
          </a:p>
          <a:p>
            <a:pPr marL="261938" indent="-261938" eaLnBrk="1" hangingPunct="1">
              <a:spcBef>
                <a:spcPct val="50000"/>
              </a:spcBef>
              <a:buClr>
                <a:srgbClr val="B43000"/>
              </a:buClr>
              <a:buFont typeface="Wingdings" pitchFamily="2" charset="2"/>
              <a:buChar char="l"/>
            </a:pPr>
            <a:r>
              <a:rPr lang="zh-CN" altLang="en-US" sz="2000" b="1">
                <a:solidFill>
                  <a:srgbClr val="000032"/>
                </a:solidFill>
              </a:rPr>
              <a:t>不建议在一个</a:t>
            </a:r>
            <a:r>
              <a:rPr lang="en-US" altLang="zh-CN" sz="2000" b="1">
                <a:solidFill>
                  <a:srgbClr val="000032"/>
                </a:solidFill>
              </a:rPr>
              <a:t>always</a:t>
            </a:r>
            <a:r>
              <a:rPr lang="zh-CN" altLang="en-US" sz="2000" b="1">
                <a:solidFill>
                  <a:srgbClr val="000032"/>
                </a:solidFill>
              </a:rPr>
              <a:t>块中混合使用阻塞赋值和非阻塞赋值</a:t>
            </a:r>
          </a:p>
        </p:txBody>
      </p:sp>
      <p:sp>
        <p:nvSpPr>
          <p:cNvPr id="71684" name="Text Box 6"/>
          <p:cNvSpPr txBox="1">
            <a:spLocks noChangeArrowheads="1"/>
          </p:cNvSpPr>
          <p:nvPr/>
        </p:nvSpPr>
        <p:spPr bwMode="auto">
          <a:xfrm>
            <a:off x="323850" y="2660650"/>
            <a:ext cx="3743325" cy="4081463"/>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rPr>
              <a:t>例：阻塞赋值实现的组合电路</a:t>
            </a:r>
          </a:p>
          <a:p>
            <a:pPr eaLnBrk="1" hangingPunct="1">
              <a:spcBef>
                <a:spcPct val="10000"/>
              </a:spcBef>
            </a:pPr>
            <a:r>
              <a:rPr lang="en-US" altLang="zh-CN" sz="2000" b="1">
                <a:solidFill>
                  <a:srgbClr val="B43000"/>
                </a:solidFill>
              </a:rPr>
              <a:t>module MY (A,B,C,Y)</a:t>
            </a:r>
          </a:p>
          <a:p>
            <a:pPr eaLnBrk="1" hangingPunct="1">
              <a:spcBef>
                <a:spcPct val="10000"/>
              </a:spcBef>
            </a:pPr>
            <a:r>
              <a:rPr lang="en-US" altLang="zh-CN" sz="2000" b="1">
                <a:solidFill>
                  <a:srgbClr val="B43000"/>
                </a:solidFill>
              </a:rPr>
              <a:t>    input A,B,C;</a:t>
            </a:r>
          </a:p>
          <a:p>
            <a:pPr eaLnBrk="1" hangingPunct="1">
              <a:spcBef>
                <a:spcPct val="10000"/>
              </a:spcBef>
            </a:pPr>
            <a:r>
              <a:rPr lang="en-US" altLang="zh-CN" sz="2000" b="1">
                <a:solidFill>
                  <a:srgbClr val="B43000"/>
                </a:solidFill>
              </a:rPr>
              <a:t>    output Y;</a:t>
            </a:r>
          </a:p>
          <a:p>
            <a:pPr eaLnBrk="1" hangingPunct="1">
              <a:spcBef>
                <a:spcPct val="10000"/>
              </a:spcBef>
            </a:pPr>
            <a:r>
              <a:rPr lang="en-US" altLang="zh-CN" sz="2000" b="1">
                <a:solidFill>
                  <a:srgbClr val="B43000"/>
                </a:solidFill>
              </a:rPr>
              <a:t>    reg Y;</a:t>
            </a:r>
          </a:p>
          <a:p>
            <a:pPr eaLnBrk="1" hangingPunct="1">
              <a:spcBef>
                <a:spcPct val="10000"/>
              </a:spcBef>
            </a:pPr>
            <a:r>
              <a:rPr lang="en-US" altLang="zh-CN" sz="2000" b="1">
                <a:solidFill>
                  <a:srgbClr val="B43000"/>
                </a:solidFill>
              </a:rPr>
              <a:t>    reg M</a:t>
            </a:r>
            <a:r>
              <a:rPr lang="zh-CN" altLang="en-US" sz="2000" b="1">
                <a:solidFill>
                  <a:srgbClr val="B43000"/>
                </a:solidFill>
              </a:rPr>
              <a:t>；</a:t>
            </a:r>
          </a:p>
          <a:p>
            <a:pPr eaLnBrk="1" hangingPunct="1">
              <a:spcBef>
                <a:spcPct val="10000"/>
              </a:spcBef>
            </a:pPr>
            <a:r>
              <a:rPr lang="en-US" altLang="zh-CN" sz="2000" b="1">
                <a:solidFill>
                  <a:srgbClr val="B43000"/>
                </a:solidFill>
              </a:rPr>
              <a:t>always @ (A,B,C)</a:t>
            </a:r>
          </a:p>
          <a:p>
            <a:pPr eaLnBrk="1" hangingPunct="1">
              <a:spcBef>
                <a:spcPct val="10000"/>
              </a:spcBef>
            </a:pPr>
            <a:r>
              <a:rPr lang="en-US" altLang="zh-CN" sz="2000" b="1">
                <a:solidFill>
                  <a:srgbClr val="B43000"/>
                </a:solidFill>
              </a:rPr>
              <a:t>begin</a:t>
            </a:r>
          </a:p>
          <a:p>
            <a:pPr eaLnBrk="1" hangingPunct="1">
              <a:spcBef>
                <a:spcPct val="10000"/>
              </a:spcBef>
            </a:pPr>
            <a:r>
              <a:rPr lang="en-US" altLang="zh-CN" sz="2000" b="1">
                <a:solidFill>
                  <a:srgbClr val="B43000"/>
                </a:solidFill>
              </a:rPr>
              <a:t>    M</a:t>
            </a:r>
            <a:r>
              <a:rPr lang="en-US" altLang="en-US" sz="2000" b="1">
                <a:solidFill>
                  <a:srgbClr val="B43000"/>
                </a:solidFill>
              </a:rPr>
              <a:t>=B|C;</a:t>
            </a:r>
          </a:p>
          <a:p>
            <a:pPr eaLnBrk="1" hangingPunct="1">
              <a:spcBef>
                <a:spcPct val="10000"/>
              </a:spcBef>
            </a:pPr>
            <a:r>
              <a:rPr lang="en-US" altLang="en-US" sz="2000" b="1">
                <a:solidFill>
                  <a:srgbClr val="B43000"/>
                </a:solidFill>
              </a:rPr>
              <a:t>    Y=A&amp;M;      </a:t>
            </a:r>
          </a:p>
          <a:p>
            <a:pPr eaLnBrk="1" hangingPunct="1">
              <a:spcBef>
                <a:spcPct val="10000"/>
              </a:spcBef>
            </a:pPr>
            <a:r>
              <a:rPr lang="en-US" altLang="zh-CN" sz="2000" b="1">
                <a:solidFill>
                  <a:srgbClr val="B43000"/>
                </a:solidFill>
              </a:rPr>
              <a:t>end</a:t>
            </a:r>
          </a:p>
          <a:p>
            <a:pPr eaLnBrk="1" hangingPunct="1">
              <a:spcBef>
                <a:spcPct val="10000"/>
              </a:spcBef>
            </a:pPr>
            <a:r>
              <a:rPr lang="en-US" altLang="zh-CN" sz="2000" b="1">
                <a:solidFill>
                  <a:srgbClr val="B43000"/>
                </a:solidFill>
              </a:rPr>
              <a:t>endmodule</a:t>
            </a:r>
          </a:p>
        </p:txBody>
      </p:sp>
      <p:grpSp>
        <p:nvGrpSpPr>
          <p:cNvPr id="71685" name="Group 14"/>
          <p:cNvGrpSpPr>
            <a:grpSpLocks/>
          </p:cNvGrpSpPr>
          <p:nvPr/>
        </p:nvGrpSpPr>
        <p:grpSpPr bwMode="auto">
          <a:xfrm>
            <a:off x="1979613" y="5157788"/>
            <a:ext cx="2665412" cy="811212"/>
            <a:chOff x="1292" y="2999"/>
            <a:chExt cx="1679" cy="511"/>
          </a:xfrm>
        </p:grpSpPr>
        <p:pic>
          <p:nvPicPr>
            <p:cNvPr id="71689" name="Picture 8"/>
            <p:cNvPicPr>
              <a:picLocks noChangeAspect="1" noChangeArrowheads="1"/>
            </p:cNvPicPr>
            <p:nvPr/>
          </p:nvPicPr>
          <p:blipFill>
            <a:blip r:embed="rId3" cstate="print"/>
            <a:srcRect l="4724" t="10872" r="7140"/>
            <a:stretch>
              <a:fillRect/>
            </a:stretch>
          </p:blipFill>
          <p:spPr bwMode="auto">
            <a:xfrm>
              <a:off x="1292" y="2999"/>
              <a:ext cx="1679" cy="498"/>
            </a:xfrm>
            <a:prstGeom prst="rect">
              <a:avLst/>
            </a:prstGeom>
            <a:noFill/>
            <a:ln w="9525">
              <a:noFill/>
              <a:miter lim="800000"/>
              <a:headEnd/>
              <a:tailEnd/>
            </a:ln>
          </p:spPr>
        </p:pic>
        <p:sp>
          <p:nvSpPr>
            <p:cNvPr id="71690" name="Rectangle 9"/>
            <p:cNvSpPr>
              <a:spLocks noChangeArrowheads="1"/>
            </p:cNvSpPr>
            <p:nvPr/>
          </p:nvSpPr>
          <p:spPr bwMode="auto">
            <a:xfrm>
              <a:off x="2070" y="3298"/>
              <a:ext cx="237" cy="212"/>
            </a:xfrm>
            <a:prstGeom prst="rect">
              <a:avLst/>
            </a:prstGeom>
            <a:noFill/>
            <a:ln w="9525">
              <a:noFill/>
              <a:miter lim="800000"/>
              <a:headEnd/>
              <a:tailEnd/>
            </a:ln>
          </p:spPr>
          <p:txBody>
            <a:bodyPr wrap="none">
              <a:spAutoFit/>
            </a:bodyPr>
            <a:lstStyle/>
            <a:p>
              <a:pPr eaLnBrk="1" hangingPunct="1"/>
              <a:r>
                <a:rPr lang="en-US" altLang="zh-CN" sz="1600" b="1"/>
                <a:t>M</a:t>
              </a:r>
            </a:p>
          </p:txBody>
        </p:sp>
      </p:grpSp>
      <p:sp>
        <p:nvSpPr>
          <p:cNvPr id="71686" name="灯片编号占位符 4"/>
          <p:cNvSpPr>
            <a:spLocks noGrp="1"/>
          </p:cNvSpPr>
          <p:nvPr>
            <p:ph type="sldNum" sz="quarter" idx="11"/>
          </p:nvPr>
        </p:nvSpPr>
        <p:spPr>
          <a:xfrm>
            <a:off x="7042150" y="6243638"/>
            <a:ext cx="1905000" cy="457200"/>
          </a:xfrm>
          <a:noFill/>
        </p:spPr>
        <p:txBody>
          <a:bodyPr/>
          <a:lstStyle/>
          <a:p>
            <a:pPr algn="l"/>
            <a:fld id="{3C739165-B0E5-45E1-87D8-A80085BEBE02}" type="slidenum">
              <a:rPr lang="en-US" altLang="zh-CN"/>
              <a:pPr algn="l"/>
              <a:t>32</a:t>
            </a:fld>
            <a:endParaRPr lang="en-US" altLang="zh-CN"/>
          </a:p>
        </p:txBody>
      </p:sp>
      <p:sp>
        <p:nvSpPr>
          <p:cNvPr id="71687" name="Text Box 13"/>
          <p:cNvSpPr txBox="1">
            <a:spLocks noChangeArrowheads="1"/>
          </p:cNvSpPr>
          <p:nvPr/>
        </p:nvSpPr>
        <p:spPr bwMode="auto">
          <a:xfrm>
            <a:off x="4922838" y="2851150"/>
            <a:ext cx="4051300" cy="3746500"/>
          </a:xfrm>
          <a:prstGeom prst="rect">
            <a:avLst/>
          </a:prstGeom>
          <a:solidFill>
            <a:srgbClr val="E3E3F1"/>
          </a:solidFill>
          <a:ln w="28575" algn="ctr">
            <a:noFill/>
            <a:miter lim="800000"/>
            <a:headEnd/>
            <a:tailEnd/>
          </a:ln>
        </p:spPr>
        <p:txBody>
          <a:bodyPr>
            <a:spAutoFit/>
          </a:bodyPr>
          <a:lstStyle/>
          <a:p>
            <a:pPr eaLnBrk="1" hangingPunct="1">
              <a:spcBef>
                <a:spcPct val="10000"/>
              </a:spcBef>
            </a:pPr>
            <a:r>
              <a:rPr lang="zh-CN" altLang="en-US" sz="2000" b="1">
                <a:solidFill>
                  <a:srgbClr val="B43000"/>
                </a:solidFill>
              </a:rPr>
              <a:t>例：非阻塞赋值实现的移位寄存器</a:t>
            </a:r>
          </a:p>
          <a:p>
            <a:pPr eaLnBrk="1" hangingPunct="1">
              <a:spcBef>
                <a:spcPct val="10000"/>
              </a:spcBef>
            </a:pPr>
            <a:r>
              <a:rPr lang="en-US" altLang="zh-CN" sz="2000" b="1">
                <a:solidFill>
                  <a:srgbClr val="B43000"/>
                </a:solidFill>
              </a:rPr>
              <a:t>module DDF3(CLK,D,Q)</a:t>
            </a:r>
          </a:p>
          <a:p>
            <a:pPr eaLnBrk="1" hangingPunct="1">
              <a:spcBef>
                <a:spcPct val="10000"/>
              </a:spcBef>
            </a:pPr>
            <a:r>
              <a:rPr lang="en-US" altLang="zh-CN" sz="2000" b="1">
                <a:solidFill>
                  <a:srgbClr val="B43000"/>
                </a:solidFill>
              </a:rPr>
              <a:t>output Q;</a:t>
            </a:r>
          </a:p>
          <a:p>
            <a:pPr eaLnBrk="1" hangingPunct="1">
              <a:spcBef>
                <a:spcPct val="10000"/>
              </a:spcBef>
            </a:pPr>
            <a:r>
              <a:rPr lang="en-US" altLang="zh-CN" sz="2000" b="1">
                <a:solidFill>
                  <a:srgbClr val="B43000"/>
                </a:solidFill>
              </a:rPr>
              <a:t>input  CLK,D;</a:t>
            </a:r>
          </a:p>
          <a:p>
            <a:pPr eaLnBrk="1" hangingPunct="1">
              <a:spcBef>
                <a:spcPct val="10000"/>
              </a:spcBef>
            </a:pPr>
            <a:r>
              <a:rPr lang="en-US" altLang="zh-CN" sz="2000" b="1">
                <a:solidFill>
                  <a:srgbClr val="B43000"/>
                </a:solidFill>
              </a:rPr>
              <a:t>reg a,b,Q;</a:t>
            </a:r>
          </a:p>
          <a:p>
            <a:pPr eaLnBrk="1" hangingPunct="1">
              <a:spcBef>
                <a:spcPct val="10000"/>
              </a:spcBef>
            </a:pPr>
            <a:r>
              <a:rPr lang="en-US" altLang="zh-CN" sz="2000" b="1">
                <a:solidFill>
                  <a:srgbClr val="B43000"/>
                </a:solidFill>
              </a:rPr>
              <a:t>always @ (posedge CLK)</a:t>
            </a:r>
          </a:p>
          <a:p>
            <a:pPr eaLnBrk="1" hangingPunct="1">
              <a:spcBef>
                <a:spcPct val="10000"/>
              </a:spcBef>
            </a:pPr>
            <a:r>
              <a:rPr lang="en-US" altLang="zh-CN" sz="2000" b="1">
                <a:solidFill>
                  <a:srgbClr val="B43000"/>
                </a:solidFill>
              </a:rPr>
              <a:t>begin</a:t>
            </a:r>
          </a:p>
          <a:p>
            <a:pPr eaLnBrk="1" hangingPunct="1">
              <a:spcBef>
                <a:spcPct val="10000"/>
              </a:spcBef>
            </a:pPr>
            <a:r>
              <a:rPr lang="en-US" altLang="zh-CN" sz="2000" b="1">
                <a:solidFill>
                  <a:srgbClr val="B43000"/>
                </a:solidFill>
              </a:rPr>
              <a:t>	a&lt;=D;</a:t>
            </a:r>
          </a:p>
          <a:p>
            <a:pPr eaLnBrk="1" hangingPunct="1">
              <a:spcBef>
                <a:spcPct val="10000"/>
              </a:spcBef>
            </a:pPr>
            <a:r>
              <a:rPr lang="en-US" altLang="zh-CN" sz="2000" b="1">
                <a:solidFill>
                  <a:srgbClr val="B43000"/>
                </a:solidFill>
              </a:rPr>
              <a:t>	b&lt;=a;</a:t>
            </a:r>
          </a:p>
          <a:p>
            <a:pPr eaLnBrk="1" hangingPunct="1">
              <a:spcBef>
                <a:spcPct val="10000"/>
              </a:spcBef>
            </a:pPr>
            <a:r>
              <a:rPr lang="en-US" altLang="zh-CN" sz="2000" b="1">
                <a:solidFill>
                  <a:srgbClr val="B43000"/>
                </a:solidFill>
              </a:rPr>
              <a:t>	Q&lt;=b;</a:t>
            </a:r>
          </a:p>
          <a:p>
            <a:pPr eaLnBrk="1" hangingPunct="1">
              <a:spcBef>
                <a:spcPct val="10000"/>
              </a:spcBef>
            </a:pPr>
            <a:r>
              <a:rPr lang="en-US" altLang="zh-CN" sz="2000" b="1">
                <a:solidFill>
                  <a:srgbClr val="B43000"/>
                </a:solidFill>
              </a:rPr>
              <a:t>end</a:t>
            </a:r>
          </a:p>
        </p:txBody>
      </p:sp>
      <p:pic>
        <p:nvPicPr>
          <p:cNvPr id="71688" name="Picture 15"/>
          <p:cNvPicPr>
            <a:picLocks noChangeAspect="1" noChangeArrowheads="1"/>
          </p:cNvPicPr>
          <p:nvPr/>
        </p:nvPicPr>
        <p:blipFill>
          <a:blip r:embed="rId4" cstate="print"/>
          <a:srcRect b="23174"/>
          <a:stretch>
            <a:fillRect/>
          </a:stretch>
        </p:blipFill>
        <p:spPr bwMode="auto">
          <a:xfrm>
            <a:off x="4356100" y="188913"/>
            <a:ext cx="4608513" cy="1368425"/>
          </a:xfrm>
          <a:prstGeom prst="rect">
            <a:avLst/>
          </a:prstGeom>
          <a:solidFill>
            <a:srgbClr val="E3E3F1"/>
          </a:solidFill>
          <a:ln w="28575" algn="ctr">
            <a:noFill/>
            <a:miter lim="800000"/>
            <a:headEnd/>
            <a:tailEnd/>
          </a:ln>
        </p:spPr>
      </p:pic>
    </p:spTree>
    <p:extLst>
      <p:ext uri="{BB962C8B-B14F-4D97-AF65-F5344CB8AC3E}">
        <p14:creationId xmlns:p14="http://schemas.microsoft.com/office/powerpoint/2010/main" val="3502931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63981275-2495-4716-8024-A0966CEC0A1C}" type="slidenum">
              <a:rPr lang="en-US" altLang="zh-CN" sz="1400" b="0">
                <a:latin typeface="Tahoma" panose="020B0604030504040204" pitchFamily="34" charset="0"/>
              </a:rPr>
              <a:pPr eaLnBrk="1" hangingPunct="1"/>
              <a:t>33</a:t>
            </a:fld>
            <a:endParaRPr lang="en-US" altLang="zh-CN" sz="1400" b="0">
              <a:latin typeface="Tahoma" panose="020B0604030504040204" pitchFamily="34" charset="0"/>
            </a:endParaRPr>
          </a:p>
        </p:txBody>
      </p:sp>
      <p:sp>
        <p:nvSpPr>
          <p:cNvPr id="21507" name="Rectangle 4"/>
          <p:cNvSpPr>
            <a:spLocks noGrp="1" noChangeArrowheads="1"/>
          </p:cNvSpPr>
          <p:nvPr>
            <p:ph type="title"/>
          </p:nvPr>
        </p:nvSpPr>
        <p:spPr/>
        <p:txBody>
          <a:bodyPr/>
          <a:lstStyle/>
          <a:p>
            <a:pPr eaLnBrk="1" hangingPunct="1"/>
            <a:r>
              <a:rPr lang="en-US" altLang="zh-CN" smtClean="0">
                <a:solidFill>
                  <a:schemeClr val="tx1"/>
                </a:solidFill>
              </a:rPr>
              <a:t>3. always</a:t>
            </a:r>
            <a:r>
              <a:rPr lang="zh-CN" altLang="en-US" smtClean="0">
                <a:solidFill>
                  <a:schemeClr val="tx1"/>
                </a:solidFill>
              </a:rPr>
              <a:t>语句块</a:t>
            </a:r>
          </a:p>
        </p:txBody>
      </p:sp>
      <p:sp>
        <p:nvSpPr>
          <p:cNvPr id="21508" name="Text Box 6"/>
          <p:cNvSpPr txBox="1">
            <a:spLocks noChangeArrowheads="1"/>
          </p:cNvSpPr>
          <p:nvPr/>
        </p:nvSpPr>
        <p:spPr bwMode="auto">
          <a:xfrm>
            <a:off x="447675" y="1279525"/>
            <a:ext cx="4735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smtClean="0">
                <a:ea typeface="黑体" panose="02010609060101010101" pitchFamily="49" charset="-122"/>
              </a:rPr>
              <a:t>综合举例：</a:t>
            </a:r>
            <a:r>
              <a:rPr lang="en-US" altLang="zh-CN" dirty="0">
                <a:ea typeface="黑体" panose="02010609060101010101" pitchFamily="49" charset="-122"/>
              </a:rPr>
              <a:t>4</a:t>
            </a:r>
            <a:r>
              <a:rPr lang="zh-CN" altLang="en-US" dirty="0">
                <a:ea typeface="黑体" panose="02010609060101010101" pitchFamily="49" charset="-122"/>
              </a:rPr>
              <a:t>位二进制加法计数器</a:t>
            </a:r>
          </a:p>
        </p:txBody>
      </p:sp>
      <p:sp>
        <p:nvSpPr>
          <p:cNvPr id="21509" name="Text Box 7"/>
          <p:cNvSpPr txBox="1">
            <a:spLocks noChangeArrowheads="1"/>
          </p:cNvSpPr>
          <p:nvPr/>
        </p:nvSpPr>
        <p:spPr bwMode="auto">
          <a:xfrm>
            <a:off x="468313" y="1844675"/>
            <a:ext cx="3816350" cy="4387850"/>
          </a:xfrm>
          <a:prstGeom prst="rect">
            <a:avLst/>
          </a:prstGeom>
          <a:solidFill>
            <a:schemeClr val="accent2"/>
          </a:solidFill>
          <a:ln w="28575">
            <a:solidFill>
              <a:schemeClr val="accent1"/>
            </a:solidFill>
            <a:miter lim="800000"/>
            <a:headEnd/>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dirty="0">
                <a:ea typeface="黑体" panose="02010609060101010101" pitchFamily="49" charset="-122"/>
              </a:rPr>
              <a:t>module CNT4 (CLK,Q);</a:t>
            </a:r>
          </a:p>
          <a:p>
            <a:pPr eaLnBrk="1" hangingPunct="1"/>
            <a:r>
              <a:rPr lang="en-US" altLang="zh-CN" sz="2000" dirty="0">
                <a:ea typeface="黑体" panose="02010609060101010101" pitchFamily="49" charset="-122"/>
              </a:rPr>
              <a:t>  input CLK;</a:t>
            </a:r>
          </a:p>
          <a:p>
            <a:pPr eaLnBrk="1" hangingPunct="1"/>
            <a:r>
              <a:rPr lang="en-US" altLang="zh-CN" sz="2000" dirty="0">
                <a:ea typeface="黑体" panose="02010609060101010101" pitchFamily="49" charset="-122"/>
              </a:rPr>
              <a:t>  output [3:0] Q;</a:t>
            </a:r>
          </a:p>
          <a:p>
            <a:pPr eaLnBrk="1" hangingPunct="1"/>
            <a:endParaRPr lang="en-US" altLang="zh-CN" sz="2000" dirty="0">
              <a:ea typeface="黑体" panose="02010609060101010101" pitchFamily="49" charset="-122"/>
            </a:endParaRPr>
          </a:p>
          <a:p>
            <a:pPr eaLnBrk="1" hangingPunct="1"/>
            <a:r>
              <a:rPr lang="en-US" altLang="zh-CN" sz="2000" dirty="0">
                <a:ea typeface="黑体" panose="02010609060101010101" pitchFamily="49" charset="-122"/>
              </a:rPr>
              <a:t>  reg [3:0] Q1;</a:t>
            </a:r>
          </a:p>
          <a:p>
            <a:pPr eaLnBrk="1" hangingPunct="1"/>
            <a:endParaRPr lang="en-US" altLang="zh-CN" sz="2000" dirty="0">
              <a:ea typeface="黑体" panose="02010609060101010101" pitchFamily="49" charset="-122"/>
            </a:endParaRPr>
          </a:p>
          <a:p>
            <a:pPr eaLnBrk="1" hangingPunct="1"/>
            <a:r>
              <a:rPr lang="en-US" altLang="zh-CN" sz="2000" dirty="0">
                <a:ea typeface="黑体" panose="02010609060101010101" pitchFamily="49" charset="-122"/>
              </a:rPr>
              <a:t>always @ (posedge CLK)</a:t>
            </a:r>
          </a:p>
          <a:p>
            <a:pPr eaLnBrk="1" hangingPunct="1"/>
            <a:r>
              <a:rPr lang="en-US" altLang="zh-CN" sz="2000" dirty="0">
                <a:ea typeface="黑体" panose="02010609060101010101" pitchFamily="49" charset="-122"/>
              </a:rPr>
              <a:t>begin</a:t>
            </a:r>
          </a:p>
          <a:p>
            <a:pPr eaLnBrk="1" hangingPunct="1"/>
            <a:r>
              <a:rPr lang="en-US" altLang="zh-CN" sz="2000" dirty="0">
                <a:ea typeface="黑体" panose="02010609060101010101" pitchFamily="49" charset="-122"/>
              </a:rPr>
              <a:t>  Q1&lt;=Q1+1;</a:t>
            </a:r>
          </a:p>
          <a:p>
            <a:pPr eaLnBrk="1" hangingPunct="1"/>
            <a:r>
              <a:rPr lang="en-US" altLang="zh-CN" sz="2000" dirty="0">
                <a:ea typeface="黑体" panose="02010609060101010101" pitchFamily="49" charset="-122"/>
              </a:rPr>
              <a:t>end</a:t>
            </a:r>
          </a:p>
          <a:p>
            <a:pPr eaLnBrk="1" hangingPunct="1"/>
            <a:endParaRPr lang="en-US" altLang="zh-CN" sz="2000" dirty="0">
              <a:ea typeface="黑体" panose="02010609060101010101" pitchFamily="49" charset="-122"/>
            </a:endParaRPr>
          </a:p>
          <a:p>
            <a:pPr eaLnBrk="1" hangingPunct="1"/>
            <a:r>
              <a:rPr lang="en-US" altLang="zh-CN" sz="2000" dirty="0">
                <a:ea typeface="黑体" panose="02010609060101010101" pitchFamily="49" charset="-122"/>
              </a:rPr>
              <a:t>assign Q=Q1;</a:t>
            </a:r>
          </a:p>
          <a:p>
            <a:pPr eaLnBrk="1" hangingPunct="1"/>
            <a:endParaRPr lang="en-US" altLang="zh-CN" sz="2000" dirty="0">
              <a:ea typeface="黑体" panose="02010609060101010101" pitchFamily="49" charset="-122"/>
            </a:endParaRPr>
          </a:p>
          <a:p>
            <a:pPr eaLnBrk="1" hangingPunct="1"/>
            <a:r>
              <a:rPr lang="en-US" altLang="zh-CN" sz="2000" dirty="0" err="1">
                <a:ea typeface="黑体" panose="02010609060101010101" pitchFamily="49" charset="-122"/>
              </a:rPr>
              <a:t>endmodule</a:t>
            </a:r>
            <a:endParaRPr lang="en-US" altLang="zh-CN" sz="2000" dirty="0">
              <a:ea typeface="黑体" panose="02010609060101010101" pitchFamily="49" charset="-122"/>
            </a:endParaRPr>
          </a:p>
        </p:txBody>
      </p:sp>
      <p:sp>
        <p:nvSpPr>
          <p:cNvPr id="21510" name="Text Box 8"/>
          <p:cNvSpPr txBox="1">
            <a:spLocks noChangeArrowheads="1"/>
          </p:cNvSpPr>
          <p:nvPr/>
        </p:nvSpPr>
        <p:spPr bwMode="auto">
          <a:xfrm>
            <a:off x="4643438" y="1857375"/>
            <a:ext cx="3887787" cy="1339850"/>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a:ea typeface="黑体" panose="02010609060101010101" pitchFamily="49" charset="-122"/>
              </a:rPr>
              <a:t>此程序中有</a:t>
            </a:r>
            <a:r>
              <a:rPr lang="en-US" altLang="zh-CN" sz="2000">
                <a:ea typeface="黑体" panose="02010609060101010101" pitchFamily="49" charset="-122"/>
              </a:rPr>
              <a:t>always</a:t>
            </a:r>
            <a:r>
              <a:rPr lang="zh-CN" altLang="en-US" sz="2000">
                <a:ea typeface="黑体" panose="02010609060101010101" pitchFamily="49" charset="-122"/>
              </a:rPr>
              <a:t>和</a:t>
            </a:r>
            <a:r>
              <a:rPr lang="en-US" altLang="zh-CN" sz="2000">
                <a:ea typeface="黑体" panose="02010609060101010101" pitchFamily="49" charset="-122"/>
              </a:rPr>
              <a:t>assign</a:t>
            </a:r>
            <a:r>
              <a:rPr lang="zh-CN" altLang="en-US" sz="2000">
                <a:ea typeface="黑体" panose="02010609060101010101" pitchFamily="49" charset="-122"/>
              </a:rPr>
              <a:t>两条语句，他们之间是并行的；</a:t>
            </a:r>
          </a:p>
          <a:p>
            <a:pPr eaLnBrk="1" hangingPunct="1"/>
            <a:r>
              <a:rPr lang="zh-CN" altLang="en-US" sz="2000">
                <a:ea typeface="黑体" panose="02010609060101010101" pitchFamily="49" charset="-122"/>
              </a:rPr>
              <a:t>此程序中有一个内部变量</a:t>
            </a:r>
            <a:r>
              <a:rPr lang="en-US" altLang="zh-CN" sz="2000">
                <a:ea typeface="黑体" panose="02010609060101010101" pitchFamily="49" charset="-122"/>
              </a:rPr>
              <a:t>Q1</a:t>
            </a:r>
            <a:r>
              <a:rPr lang="zh-CN" altLang="en-US" sz="2000">
                <a:ea typeface="黑体" panose="02010609060101010101" pitchFamily="49" charset="-122"/>
              </a:rPr>
              <a:t>，使用时要进行声明；</a:t>
            </a:r>
          </a:p>
        </p:txBody>
      </p:sp>
      <p:sp>
        <p:nvSpPr>
          <p:cNvPr id="23" name="TextBox 22"/>
          <p:cNvSpPr txBox="1">
            <a:spLocks noChangeArrowheads="1"/>
          </p:cNvSpPr>
          <p:nvPr/>
        </p:nvSpPr>
        <p:spPr bwMode="auto">
          <a:xfrm>
            <a:off x="4572000" y="3529013"/>
            <a:ext cx="2506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a:solidFill>
                  <a:srgbClr val="A50021"/>
                </a:solidFill>
                <a:ea typeface="黑体" panose="02010609060101010101" pitchFamily="49" charset="-122"/>
              </a:rPr>
              <a:t>内部信号声明格式：</a:t>
            </a:r>
          </a:p>
        </p:txBody>
      </p:sp>
      <p:sp>
        <p:nvSpPr>
          <p:cNvPr id="25" name="TextBox 24"/>
          <p:cNvSpPr txBox="1">
            <a:spLocks noChangeArrowheads="1"/>
          </p:cNvSpPr>
          <p:nvPr/>
        </p:nvSpPr>
        <p:spPr bwMode="auto">
          <a:xfrm>
            <a:off x="4643438" y="4071938"/>
            <a:ext cx="4149725" cy="400050"/>
          </a:xfrm>
          <a:prstGeom prst="rect">
            <a:avLst/>
          </a:prstGeom>
          <a:solidFill>
            <a:srgbClr val="CDFFF2"/>
          </a:solidFill>
          <a:ln w="38100">
            <a:solidFill>
              <a:srgbClr val="A50021"/>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a:solidFill>
                  <a:srgbClr val="A50021"/>
                </a:solidFill>
                <a:ea typeface="黑体" panose="02010609060101010101" pitchFamily="49" charset="-122"/>
              </a:rPr>
              <a:t>数据类型  位宽 信号名称 元素个数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wipe(left)">
                                      <p:cBhvr>
                                        <p:cTn id="12" dur="500"/>
                                        <p:tgtEl>
                                          <p:spTgt spid="215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wipe(left)">
                                      <p:cBhvr>
                                        <p:cTn id="17" dur="500"/>
                                        <p:tgtEl>
                                          <p:spTgt spid="215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wipe(left)">
                                      <p:cBhvr>
                                        <p:cTn id="22" dur="500"/>
                                        <p:tgtEl>
                                          <p:spTgt spid="215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1508" grpId="0"/>
      <p:bldP spid="21509" grpId="0" animBg="1"/>
      <p:bldP spid="21510" grpId="0" animBg="1"/>
      <p:bldP spid="23" grpId="0"/>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9A7E4DE4-FB52-467C-A644-515A1A81F2A2}" type="slidenum">
              <a:rPr lang="en-US" altLang="zh-CN" sz="1400" b="0">
                <a:latin typeface="Tahoma" panose="020B0604030504040204" pitchFamily="34" charset="0"/>
              </a:rPr>
              <a:pPr eaLnBrk="1" hangingPunct="1"/>
              <a:t>34</a:t>
            </a:fld>
            <a:endParaRPr lang="en-US" altLang="zh-CN" sz="1400" b="0">
              <a:latin typeface="Tahoma" panose="020B0604030504040204" pitchFamily="34" charset="0"/>
            </a:endParaRPr>
          </a:p>
        </p:txBody>
      </p:sp>
      <p:sp>
        <p:nvSpPr>
          <p:cNvPr id="22531" name="Rectangle 4"/>
          <p:cNvSpPr>
            <a:spLocks noGrp="1" noChangeArrowheads="1"/>
          </p:cNvSpPr>
          <p:nvPr>
            <p:ph type="title"/>
          </p:nvPr>
        </p:nvSpPr>
        <p:spPr/>
        <p:txBody>
          <a:bodyPr/>
          <a:lstStyle/>
          <a:p>
            <a:pPr eaLnBrk="1" hangingPunct="1"/>
            <a:r>
              <a:rPr lang="en-US" altLang="zh-CN" dirty="0" smtClean="0">
                <a:solidFill>
                  <a:schemeClr val="tx1"/>
                </a:solidFill>
              </a:rPr>
              <a:t>4. </a:t>
            </a:r>
            <a:r>
              <a:rPr lang="zh-CN" altLang="en-US" dirty="0" smtClean="0">
                <a:solidFill>
                  <a:schemeClr val="tx1"/>
                </a:solidFill>
              </a:rPr>
              <a:t>底层模块和门原语调用</a:t>
            </a:r>
          </a:p>
        </p:txBody>
      </p:sp>
      <p:sp>
        <p:nvSpPr>
          <p:cNvPr id="22532" name="Text Box 7"/>
          <p:cNvSpPr txBox="1">
            <a:spLocks noChangeArrowheads="1"/>
          </p:cNvSpPr>
          <p:nvPr/>
        </p:nvSpPr>
        <p:spPr bwMode="auto">
          <a:xfrm>
            <a:off x="421481" y="1728491"/>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a:ea typeface="黑体" panose="02010609060101010101" pitchFamily="49" charset="-122"/>
              </a:rPr>
              <a:t>例：图示电路的描述</a:t>
            </a:r>
          </a:p>
        </p:txBody>
      </p:sp>
      <p:grpSp>
        <p:nvGrpSpPr>
          <p:cNvPr id="22533" name="Group 31"/>
          <p:cNvGrpSpPr>
            <a:grpSpLocks/>
          </p:cNvGrpSpPr>
          <p:nvPr/>
        </p:nvGrpSpPr>
        <p:grpSpPr bwMode="auto">
          <a:xfrm>
            <a:off x="250825" y="2565400"/>
            <a:ext cx="4532313" cy="1724025"/>
            <a:chOff x="2735" y="2435"/>
            <a:chExt cx="2855" cy="1086"/>
          </a:xfrm>
        </p:grpSpPr>
        <p:pic>
          <p:nvPicPr>
            <p:cNvPr id="22543" name="Picture 10"/>
            <p:cNvPicPr>
              <a:picLocks noChangeAspect="1" noChangeArrowheads="1"/>
            </p:cNvPicPr>
            <p:nvPr/>
          </p:nvPicPr>
          <p:blipFill>
            <a:blip r:embed="rId2">
              <a:extLst>
                <a:ext uri="{28A0092B-C50C-407E-A947-70E740481C1C}">
                  <a14:useLocalDpi xmlns:a14="http://schemas.microsoft.com/office/drawing/2010/main" val="0"/>
                </a:ext>
              </a:extLst>
            </a:blip>
            <a:srcRect l="67137" t="7483" r="24120" b="75128"/>
            <a:stretch>
              <a:fillRect/>
            </a:stretch>
          </p:blipFill>
          <p:spPr bwMode="auto">
            <a:xfrm>
              <a:off x="3878" y="2750"/>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2544" name="Picture 11"/>
            <p:cNvPicPr>
              <a:picLocks noChangeAspect="1" noChangeArrowheads="1"/>
            </p:cNvPicPr>
            <p:nvPr/>
          </p:nvPicPr>
          <p:blipFill>
            <a:blip r:embed="rId2">
              <a:extLst>
                <a:ext uri="{28A0092B-C50C-407E-A947-70E740481C1C}">
                  <a14:useLocalDpi xmlns:a14="http://schemas.microsoft.com/office/drawing/2010/main" val="0"/>
                </a:ext>
              </a:extLst>
            </a:blip>
            <a:srcRect l="67137" t="7483" r="24120" b="75128"/>
            <a:stretch>
              <a:fillRect/>
            </a:stretch>
          </p:blipFill>
          <p:spPr bwMode="auto">
            <a:xfrm>
              <a:off x="4604" y="2478"/>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2545" name="Line 12"/>
            <p:cNvSpPr>
              <a:spLocks noChangeShapeType="1"/>
            </p:cNvSpPr>
            <p:nvPr/>
          </p:nvSpPr>
          <p:spPr bwMode="auto">
            <a:xfrm>
              <a:off x="4286" y="2840"/>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2546" name="Picture 13"/>
            <p:cNvPicPr>
              <a:picLocks noChangeAspect="1" noChangeArrowheads="1"/>
            </p:cNvPicPr>
            <p:nvPr/>
          </p:nvPicPr>
          <p:blipFill>
            <a:blip r:embed="rId2">
              <a:extLst>
                <a:ext uri="{28A0092B-C50C-407E-A947-70E740481C1C}">
                  <a14:useLocalDpi xmlns:a14="http://schemas.microsoft.com/office/drawing/2010/main" val="0"/>
                </a:ext>
              </a:extLst>
            </a:blip>
            <a:srcRect l="23395" t="22180" r="63803" b="59242"/>
            <a:stretch>
              <a:fillRect/>
            </a:stretch>
          </p:blipFill>
          <p:spPr bwMode="auto">
            <a:xfrm>
              <a:off x="3234" y="2659"/>
              <a:ext cx="54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7" name="Line 14"/>
            <p:cNvSpPr>
              <a:spLocks noChangeShapeType="1"/>
            </p:cNvSpPr>
            <p:nvPr/>
          </p:nvSpPr>
          <p:spPr bwMode="auto">
            <a:xfrm>
              <a:off x="3651" y="283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Line 15"/>
            <p:cNvSpPr>
              <a:spLocks noChangeShapeType="1"/>
            </p:cNvSpPr>
            <p:nvPr/>
          </p:nvSpPr>
          <p:spPr bwMode="auto">
            <a:xfrm flipH="1">
              <a:off x="3061" y="3113"/>
              <a:ext cx="81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Line 16"/>
            <p:cNvSpPr>
              <a:spLocks noChangeShapeType="1"/>
            </p:cNvSpPr>
            <p:nvPr/>
          </p:nvSpPr>
          <p:spPr bwMode="auto">
            <a:xfrm flipH="1">
              <a:off x="3107" y="2568"/>
              <a:ext cx="149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0" name="Line 18"/>
            <p:cNvSpPr>
              <a:spLocks noChangeShapeType="1"/>
            </p:cNvSpPr>
            <p:nvPr/>
          </p:nvSpPr>
          <p:spPr bwMode="auto">
            <a:xfrm>
              <a:off x="5012" y="2568"/>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1" name="Freeform 19"/>
            <p:cNvSpPr>
              <a:spLocks/>
            </p:cNvSpPr>
            <p:nvPr/>
          </p:nvSpPr>
          <p:spPr bwMode="auto">
            <a:xfrm>
              <a:off x="3237" y="2568"/>
              <a:ext cx="1956" cy="953"/>
            </a:xfrm>
            <a:custGeom>
              <a:avLst/>
              <a:gdLst>
                <a:gd name="T0" fmla="*/ 1956 w 1956"/>
                <a:gd name="T1" fmla="*/ 0 h 953"/>
                <a:gd name="T2" fmla="*/ 1956 w 1956"/>
                <a:gd name="T3" fmla="*/ 953 h 953"/>
                <a:gd name="T4" fmla="*/ 6 w 1956"/>
                <a:gd name="T5" fmla="*/ 953 h 953"/>
                <a:gd name="T6" fmla="*/ 0 w 1956"/>
                <a:gd name="T7" fmla="*/ 184 h 953"/>
                <a:gd name="T8" fmla="*/ 0 60000 65536"/>
                <a:gd name="T9" fmla="*/ 0 60000 65536"/>
                <a:gd name="T10" fmla="*/ 0 60000 65536"/>
                <a:gd name="T11" fmla="*/ 0 60000 65536"/>
                <a:gd name="T12" fmla="*/ 0 w 1956"/>
                <a:gd name="T13" fmla="*/ 0 h 953"/>
                <a:gd name="T14" fmla="*/ 1956 w 1956"/>
                <a:gd name="T15" fmla="*/ 953 h 953"/>
              </a:gdLst>
              <a:ahLst/>
              <a:cxnLst>
                <a:cxn ang="T8">
                  <a:pos x="T0" y="T1"/>
                </a:cxn>
                <a:cxn ang="T9">
                  <a:pos x="T2" y="T3"/>
                </a:cxn>
                <a:cxn ang="T10">
                  <a:pos x="T4" y="T5"/>
                </a:cxn>
                <a:cxn ang="T11">
                  <a:pos x="T6" y="T7"/>
                </a:cxn>
              </a:cxnLst>
              <a:rect l="T12" t="T13" r="T14" b="T15"/>
              <a:pathLst>
                <a:path w="1956" h="953">
                  <a:moveTo>
                    <a:pt x="1956" y="0"/>
                  </a:moveTo>
                  <a:lnTo>
                    <a:pt x="1956" y="953"/>
                  </a:lnTo>
                  <a:lnTo>
                    <a:pt x="6" y="953"/>
                  </a:lnTo>
                  <a:lnTo>
                    <a:pt x="0" y="184"/>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2552" name="Line 21"/>
            <p:cNvSpPr>
              <a:spLocks noChangeShapeType="1"/>
            </p:cNvSpPr>
            <p:nvPr/>
          </p:nvSpPr>
          <p:spPr bwMode="auto">
            <a:xfrm>
              <a:off x="3079" y="2904"/>
              <a:ext cx="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3" name="Oval 23"/>
            <p:cNvSpPr>
              <a:spLocks noChangeArrowheads="1"/>
            </p:cNvSpPr>
            <p:nvPr/>
          </p:nvSpPr>
          <p:spPr bwMode="auto">
            <a:xfrm>
              <a:off x="5175" y="2550"/>
              <a:ext cx="45" cy="45"/>
            </a:xfrm>
            <a:prstGeom prst="ellipse">
              <a:avLst/>
            </a:prstGeom>
            <a:solidFill>
              <a:schemeClr val="tx1"/>
            </a:solidFill>
            <a:ln w="9525">
              <a:solidFill>
                <a:schemeClr val="tx1"/>
              </a:solidFill>
              <a:round/>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2554" name="Text Box 24"/>
            <p:cNvSpPr txBox="1">
              <a:spLocks noChangeArrowheads="1"/>
            </p:cNvSpPr>
            <p:nvPr/>
          </p:nvSpPr>
          <p:spPr bwMode="auto">
            <a:xfrm>
              <a:off x="2832" y="2448"/>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d</a:t>
              </a:r>
            </a:p>
          </p:txBody>
        </p:sp>
        <p:sp>
          <p:nvSpPr>
            <p:cNvPr id="22555" name="Text Box 25"/>
            <p:cNvSpPr txBox="1">
              <a:spLocks noChangeArrowheads="1"/>
            </p:cNvSpPr>
            <p:nvPr/>
          </p:nvSpPr>
          <p:spPr bwMode="auto">
            <a:xfrm>
              <a:off x="2835" y="273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a</a:t>
              </a:r>
            </a:p>
          </p:txBody>
        </p:sp>
        <p:sp>
          <p:nvSpPr>
            <p:cNvPr id="22556" name="Text Box 26"/>
            <p:cNvSpPr txBox="1">
              <a:spLocks noChangeArrowheads="1"/>
            </p:cNvSpPr>
            <p:nvPr/>
          </p:nvSpPr>
          <p:spPr bwMode="auto">
            <a:xfrm>
              <a:off x="2735" y="2976"/>
              <a:ext cx="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clk</a:t>
              </a:r>
            </a:p>
          </p:txBody>
        </p:sp>
        <p:sp>
          <p:nvSpPr>
            <p:cNvPr id="22557" name="Text Box 27"/>
            <p:cNvSpPr txBox="1">
              <a:spLocks noChangeArrowheads="1"/>
            </p:cNvSpPr>
            <p:nvPr/>
          </p:nvSpPr>
          <p:spPr bwMode="auto">
            <a:xfrm>
              <a:off x="5362" y="2435"/>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q</a:t>
              </a:r>
            </a:p>
          </p:txBody>
        </p:sp>
        <p:sp>
          <p:nvSpPr>
            <p:cNvPr id="22558" name="Text Box 29"/>
            <p:cNvSpPr txBox="1">
              <a:spLocks noChangeArrowheads="1"/>
            </p:cNvSpPr>
            <p:nvPr/>
          </p:nvSpPr>
          <p:spPr bwMode="auto">
            <a:xfrm>
              <a:off x="4658" y="2714"/>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2559" name="Text Box 30"/>
            <p:cNvSpPr txBox="1">
              <a:spLocks noChangeArrowheads="1"/>
            </p:cNvSpPr>
            <p:nvPr/>
          </p:nvSpPr>
          <p:spPr bwMode="auto">
            <a:xfrm>
              <a:off x="3932" y="2985"/>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grpSp>
      <p:grpSp>
        <p:nvGrpSpPr>
          <p:cNvPr id="22534" name="Group 57"/>
          <p:cNvGrpSpPr>
            <a:grpSpLocks/>
          </p:cNvGrpSpPr>
          <p:nvPr/>
        </p:nvGrpSpPr>
        <p:grpSpPr bwMode="auto">
          <a:xfrm>
            <a:off x="5076825" y="1052513"/>
            <a:ext cx="3600450" cy="3622675"/>
            <a:chOff x="113" y="740"/>
            <a:chExt cx="2268" cy="2282"/>
          </a:xfrm>
        </p:grpSpPr>
        <p:sp>
          <p:nvSpPr>
            <p:cNvPr id="22536" name="Rectangle 58"/>
            <p:cNvSpPr>
              <a:spLocks noChangeArrowheads="1"/>
            </p:cNvSpPr>
            <p:nvPr/>
          </p:nvSpPr>
          <p:spPr bwMode="auto">
            <a:xfrm>
              <a:off x="113" y="740"/>
              <a:ext cx="2268" cy="2282"/>
            </a:xfrm>
            <a:prstGeom prst="rect">
              <a:avLst/>
            </a:prstGeom>
            <a:solidFill>
              <a:srgbClr val="E6E6F2"/>
            </a:solidFill>
            <a:ln w="28575" algn="ctr">
              <a:solidFill>
                <a:schemeClr val="hlink"/>
              </a:solidFill>
              <a:miter lim="800000"/>
              <a:headEnd type="none" w="lg" len="lg"/>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000">
                <a:solidFill>
                  <a:srgbClr val="000099"/>
                </a:solidFill>
                <a:latin typeface="Arial" panose="020B0604020202020204" pitchFamily="34" charset="0"/>
                <a:ea typeface="黑体" panose="02010609060101010101" pitchFamily="49" charset="-122"/>
              </a:endParaRPr>
            </a:p>
          </p:txBody>
        </p:sp>
        <p:sp>
          <p:nvSpPr>
            <p:cNvPr id="22537" name="Text Box 59"/>
            <p:cNvSpPr txBox="1">
              <a:spLocks noChangeArrowheads="1"/>
            </p:cNvSpPr>
            <p:nvPr/>
          </p:nvSpPr>
          <p:spPr bwMode="auto">
            <a:xfrm>
              <a:off x="249" y="1570"/>
              <a:ext cx="953"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000">
                  <a:solidFill>
                    <a:srgbClr val="000099"/>
                  </a:solidFill>
                  <a:latin typeface="Arial" panose="020B0604020202020204" pitchFamily="34" charset="0"/>
                  <a:ea typeface="黑体" panose="02010609060101010101" pitchFamily="49" charset="-122"/>
                </a:rPr>
                <a:t>内部信号</a:t>
              </a:r>
            </a:p>
            <a:p>
              <a:pPr algn="ctr" eaLnBrk="1" hangingPunct="1"/>
              <a:r>
                <a:rPr lang="zh-CN" altLang="en-US" sz="2000">
                  <a:solidFill>
                    <a:srgbClr val="000099"/>
                  </a:solidFill>
                  <a:latin typeface="Arial" panose="020B0604020202020204" pitchFamily="34" charset="0"/>
                  <a:ea typeface="黑体" panose="02010609060101010101" pitchFamily="49" charset="-122"/>
                </a:rPr>
                <a:t>声明</a:t>
              </a:r>
            </a:p>
          </p:txBody>
        </p:sp>
        <p:sp>
          <p:nvSpPr>
            <p:cNvPr id="22538" name="Text Box 60"/>
            <p:cNvSpPr txBox="1">
              <a:spLocks noChangeArrowheads="1"/>
            </p:cNvSpPr>
            <p:nvPr/>
          </p:nvSpPr>
          <p:spPr bwMode="auto">
            <a:xfrm>
              <a:off x="1338" y="1570"/>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assign</a:t>
              </a:r>
              <a:r>
                <a:rPr lang="zh-CN" altLang="en-US" sz="2000">
                  <a:solidFill>
                    <a:srgbClr val="000099"/>
                  </a:solidFill>
                  <a:latin typeface="Arial" panose="020B0604020202020204" pitchFamily="34" charset="0"/>
                  <a:ea typeface="黑体" panose="02010609060101010101" pitchFamily="49" charset="-122"/>
                </a:rPr>
                <a:t>语句</a:t>
              </a:r>
            </a:p>
          </p:txBody>
        </p:sp>
        <p:sp>
          <p:nvSpPr>
            <p:cNvPr id="22539" name="Text Box 61"/>
            <p:cNvSpPr txBox="1">
              <a:spLocks noChangeArrowheads="1"/>
            </p:cNvSpPr>
            <p:nvPr/>
          </p:nvSpPr>
          <p:spPr bwMode="auto">
            <a:xfrm>
              <a:off x="249" y="2205"/>
              <a:ext cx="953" cy="460"/>
            </a:xfrm>
            <a:prstGeom prst="rect">
              <a:avLst/>
            </a:prstGeom>
            <a:solidFill>
              <a:srgbClr val="E6E6F2"/>
            </a:solidFill>
            <a:ln w="28575" algn="ctr">
              <a:solidFill>
                <a:schemeClr val="hlink"/>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000">
                  <a:solidFill>
                    <a:schemeClr val="hlink"/>
                  </a:solidFill>
                  <a:latin typeface="Arial" panose="020B0604020202020204" pitchFamily="34" charset="0"/>
                  <a:ea typeface="黑体" panose="02010609060101010101" pitchFamily="49" charset="-122"/>
                </a:rPr>
                <a:t>底层模块或门原语调用</a:t>
              </a:r>
            </a:p>
          </p:txBody>
        </p:sp>
        <p:sp>
          <p:nvSpPr>
            <p:cNvPr id="22540" name="Text Box 62"/>
            <p:cNvSpPr txBox="1">
              <a:spLocks noChangeArrowheads="1"/>
            </p:cNvSpPr>
            <p:nvPr/>
          </p:nvSpPr>
          <p:spPr bwMode="auto">
            <a:xfrm>
              <a:off x="1338" y="2205"/>
              <a:ext cx="771" cy="460"/>
            </a:xfrm>
            <a:prstGeom prst="rect">
              <a:avLst/>
            </a:prstGeom>
            <a:solidFill>
              <a:srgbClr val="E6E6F2"/>
            </a:solidFill>
            <a:ln w="28575" algn="ctr">
              <a:solidFill>
                <a:srgbClr val="000099"/>
              </a:solidFill>
              <a:miter lim="800000"/>
              <a:headEnd type="none" w="lg" len="lg"/>
              <a:tailEnd/>
            </a:ln>
          </p:spPr>
          <p:txBody>
            <a:bodyPr tIns="46800" bIns="46800">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000">
                  <a:solidFill>
                    <a:srgbClr val="000099"/>
                  </a:solidFill>
                  <a:latin typeface="Arial" panose="020B0604020202020204" pitchFamily="34" charset="0"/>
                  <a:ea typeface="黑体" panose="02010609060101010101" pitchFamily="49" charset="-122"/>
                </a:rPr>
                <a:t>always</a:t>
              </a:r>
            </a:p>
            <a:p>
              <a:pPr algn="ctr" eaLnBrk="1" hangingPunct="1"/>
              <a:r>
                <a:rPr lang="zh-CN" altLang="en-US" sz="2000">
                  <a:solidFill>
                    <a:srgbClr val="000099"/>
                  </a:solidFill>
                  <a:latin typeface="Arial" panose="020B0604020202020204" pitchFamily="34" charset="0"/>
                  <a:ea typeface="黑体" panose="02010609060101010101" pitchFamily="49" charset="-122"/>
                </a:rPr>
                <a:t>语句块</a:t>
              </a:r>
            </a:p>
          </p:txBody>
        </p:sp>
        <p:sp>
          <p:nvSpPr>
            <p:cNvPr id="22541" name="Text Box 63"/>
            <p:cNvSpPr txBox="1">
              <a:spLocks noChangeArrowheads="1"/>
            </p:cNvSpPr>
            <p:nvPr/>
          </p:nvSpPr>
          <p:spPr bwMode="auto">
            <a:xfrm>
              <a:off x="113" y="740"/>
              <a:ext cx="2268" cy="479"/>
            </a:xfrm>
            <a:prstGeom prst="rect">
              <a:avLst/>
            </a:prstGeom>
            <a:solidFill>
              <a:srgbClr val="E6E6F2"/>
            </a:solidFill>
            <a:ln w="28575" algn="ctr">
              <a:solidFill>
                <a:srgbClr val="000099"/>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module </a:t>
              </a:r>
              <a:r>
                <a:rPr lang="zh-CN" altLang="en-US" sz="2000">
                  <a:solidFill>
                    <a:srgbClr val="000099"/>
                  </a:solidFill>
                  <a:latin typeface="Arial" panose="020B0604020202020204" pitchFamily="34" charset="0"/>
                  <a:ea typeface="黑体" panose="02010609060101010101" pitchFamily="49" charset="-122"/>
                </a:rPr>
                <a:t>模块名 </a:t>
              </a:r>
              <a:r>
                <a:rPr lang="en-US" altLang="zh-CN" sz="2000">
                  <a:solidFill>
                    <a:srgbClr val="000099"/>
                  </a:solidFill>
                  <a:latin typeface="Arial" panose="020B0604020202020204" pitchFamily="34" charset="0"/>
                  <a:ea typeface="黑体" panose="02010609060101010101" pitchFamily="49" charset="-122"/>
                </a:rPr>
                <a:t>([</a:t>
              </a:r>
              <a:r>
                <a:rPr lang="zh-CN" altLang="en-US" sz="2000">
                  <a:solidFill>
                    <a:srgbClr val="000099"/>
                  </a:solidFill>
                  <a:latin typeface="Arial" panose="020B0604020202020204" pitchFamily="34" charset="0"/>
                  <a:ea typeface="黑体" panose="02010609060101010101" pitchFamily="49" charset="-122"/>
                </a:rPr>
                <a:t>端口列表</a:t>
              </a:r>
              <a:r>
                <a:rPr lang="en-US" altLang="zh-CN" sz="2000">
                  <a:solidFill>
                    <a:srgbClr val="000099"/>
                  </a:solidFill>
                  <a:latin typeface="Arial" panose="020B0604020202020204" pitchFamily="34" charset="0"/>
                  <a:ea typeface="黑体" panose="02010609060101010101" pitchFamily="49" charset="-122"/>
                </a:rPr>
                <a:t>]);</a:t>
              </a:r>
            </a:p>
            <a:p>
              <a:pPr eaLnBrk="1" hangingPunct="1">
                <a:spcBef>
                  <a:spcPct val="10000"/>
                </a:spcBef>
              </a:pPr>
              <a:r>
                <a:rPr lang="en-US" altLang="zh-CN" sz="2000">
                  <a:solidFill>
                    <a:srgbClr val="000099"/>
                  </a:solidFill>
                  <a:latin typeface="Arial" panose="020B0604020202020204" pitchFamily="34" charset="0"/>
                  <a:ea typeface="黑体" panose="02010609060101010101" pitchFamily="49" charset="-122"/>
                </a:rPr>
                <a:t>  [</a:t>
              </a:r>
              <a:r>
                <a:rPr lang="zh-CN" altLang="en-US" sz="2000">
                  <a:solidFill>
                    <a:srgbClr val="000099"/>
                  </a:solidFill>
                  <a:latin typeface="Arial" panose="020B0604020202020204" pitchFamily="34" charset="0"/>
                  <a:ea typeface="黑体" panose="02010609060101010101" pitchFamily="49" charset="-122"/>
                </a:rPr>
                <a:t>端口信号声明</a:t>
              </a:r>
              <a:r>
                <a:rPr lang="en-US" altLang="zh-CN" sz="2000">
                  <a:solidFill>
                    <a:srgbClr val="000099"/>
                  </a:solidFill>
                  <a:latin typeface="Arial" panose="020B0604020202020204" pitchFamily="34" charset="0"/>
                  <a:ea typeface="黑体" panose="02010609060101010101" pitchFamily="49" charset="-122"/>
                </a:rPr>
                <a:t>;]</a:t>
              </a:r>
            </a:p>
          </p:txBody>
        </p:sp>
        <p:sp>
          <p:nvSpPr>
            <p:cNvPr id="22542" name="Text Box 64"/>
            <p:cNvSpPr txBox="1">
              <a:spLocks noChangeArrowheads="1"/>
            </p:cNvSpPr>
            <p:nvPr/>
          </p:nvSpPr>
          <p:spPr bwMode="auto">
            <a:xfrm>
              <a:off x="113" y="2750"/>
              <a:ext cx="2268" cy="268"/>
            </a:xfrm>
            <a:prstGeom prst="rect">
              <a:avLst/>
            </a:prstGeom>
            <a:solidFill>
              <a:srgbClr val="E6E6F2"/>
            </a:solidFill>
            <a:ln w="28575" algn="ctr">
              <a:solidFill>
                <a:srgbClr val="000099"/>
              </a:solidFill>
              <a:miter lim="800000"/>
              <a:headEnd type="none" w="lg" len="lg"/>
              <a:tailEnd/>
            </a:ln>
          </p:spPr>
          <p:txBody>
            <a:bodyPr tIns="46800" bIns="46800" anchor="ct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000">
                  <a:solidFill>
                    <a:srgbClr val="000099"/>
                  </a:solidFill>
                  <a:latin typeface="Arial" panose="020B0604020202020204" pitchFamily="34" charset="0"/>
                  <a:ea typeface="黑体" panose="02010609060101010101" pitchFamily="49" charset="-122"/>
                </a:rPr>
                <a:t>endmodule</a:t>
              </a:r>
            </a:p>
          </p:txBody>
        </p:sp>
      </p:grpSp>
      <p:sp>
        <p:nvSpPr>
          <p:cNvPr id="22535" name="Text Box 65"/>
          <p:cNvSpPr txBox="1">
            <a:spLocks noChangeArrowheads="1"/>
          </p:cNvSpPr>
          <p:nvPr/>
        </p:nvSpPr>
        <p:spPr bwMode="auto">
          <a:xfrm>
            <a:off x="590550" y="4870450"/>
            <a:ext cx="80851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该电路是由两个</a:t>
            </a:r>
            <a:r>
              <a:rPr lang="en-US" altLang="zh-CN">
                <a:ea typeface="黑体" panose="02010609060101010101" pitchFamily="49" charset="-122"/>
              </a:rPr>
              <a:t>D</a:t>
            </a:r>
            <a:r>
              <a:rPr lang="zh-CN" altLang="en-US">
                <a:ea typeface="黑体" panose="02010609060101010101" pitchFamily="49" charset="-122"/>
              </a:rPr>
              <a:t>触发器和一个或门构成的，设计思路之一是先设计底层电路</a:t>
            </a:r>
            <a:r>
              <a:rPr lang="en-US" altLang="zh-CN">
                <a:ea typeface="黑体" panose="02010609060101010101" pitchFamily="49" charset="-122"/>
              </a:rPr>
              <a:t>D</a:t>
            </a:r>
            <a:r>
              <a:rPr lang="zh-CN" altLang="en-US">
                <a:ea typeface="黑体" panose="02010609060101010101" pitchFamily="49" charset="-122"/>
              </a:rPr>
              <a:t>触发器，然后再设计顶层电路，在顶层电路中可调用底层模块。</a:t>
            </a:r>
          </a:p>
        </p:txBody>
      </p:sp>
      <p:sp>
        <p:nvSpPr>
          <p:cNvPr id="2" name="文本框 1"/>
          <p:cNvSpPr txBox="1"/>
          <p:nvPr/>
        </p:nvSpPr>
        <p:spPr>
          <a:xfrm>
            <a:off x="467544" y="1052736"/>
            <a:ext cx="2659702" cy="461665"/>
          </a:xfrm>
          <a:prstGeom prst="rect">
            <a:avLst/>
          </a:prstGeom>
          <a:noFill/>
        </p:spPr>
        <p:txBody>
          <a:bodyPr wrap="none" rtlCol="0">
            <a:spAutoFit/>
          </a:bodyPr>
          <a:lstStyle/>
          <a:p>
            <a:r>
              <a:rPr lang="zh-CN" altLang="en-US" dirty="0" smtClean="0">
                <a:solidFill>
                  <a:schemeClr val="tx2"/>
                </a:solidFill>
                <a:latin typeface="+mj-ea"/>
                <a:ea typeface="+mj-ea"/>
              </a:rPr>
              <a:t>一、底层模块调用</a:t>
            </a:r>
            <a:endParaRPr lang="zh-CN" altLang="en-US" dirty="0">
              <a:solidFill>
                <a:schemeClr val="tx2"/>
              </a:solidFill>
              <a:latin typeface="+mj-ea"/>
              <a:ea typeface="+mj-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9107A69D-8328-40B0-968D-14A9534781F3}" type="slidenum">
              <a:rPr lang="en-US" altLang="zh-CN" sz="1400" b="0">
                <a:latin typeface="Tahoma" panose="020B0604030504040204" pitchFamily="34" charset="0"/>
              </a:rPr>
              <a:pPr eaLnBrk="1" hangingPunct="1"/>
              <a:t>35</a:t>
            </a:fld>
            <a:endParaRPr lang="en-US" altLang="zh-CN" sz="1400" b="0">
              <a:latin typeface="Tahoma" panose="020B0604030504040204" pitchFamily="34" charset="0"/>
            </a:endParaRPr>
          </a:p>
        </p:txBody>
      </p:sp>
      <p:sp>
        <p:nvSpPr>
          <p:cNvPr id="23555" name="Rectangle 2"/>
          <p:cNvSpPr>
            <a:spLocks noGrp="1" noChangeArrowheads="1"/>
          </p:cNvSpPr>
          <p:nvPr>
            <p:ph type="title"/>
          </p:nvPr>
        </p:nvSpPr>
        <p:spPr>
          <a:xfrm>
            <a:off x="35496" y="188913"/>
            <a:ext cx="7793037" cy="692150"/>
          </a:xfrm>
        </p:spPr>
        <p:txBody>
          <a:bodyPr/>
          <a:lstStyle/>
          <a:p>
            <a:pPr eaLnBrk="1" hangingPunct="1"/>
            <a:r>
              <a:rPr lang="en-US" altLang="zh-CN" dirty="0" smtClean="0">
                <a:solidFill>
                  <a:schemeClr val="tx1"/>
                </a:solidFill>
              </a:rPr>
              <a:t>4. </a:t>
            </a:r>
            <a:r>
              <a:rPr lang="zh-CN" altLang="en-US" dirty="0" smtClean="0">
                <a:solidFill>
                  <a:schemeClr val="tx1"/>
                </a:solidFill>
              </a:rPr>
              <a:t>底层模块和门原语调用</a:t>
            </a:r>
          </a:p>
        </p:txBody>
      </p:sp>
      <p:sp>
        <p:nvSpPr>
          <p:cNvPr id="23556" name="Text Box 3"/>
          <p:cNvSpPr txBox="1">
            <a:spLocks noChangeArrowheads="1"/>
          </p:cNvSpPr>
          <p:nvPr/>
        </p:nvSpPr>
        <p:spPr bwMode="auto">
          <a:xfrm>
            <a:off x="376238" y="11239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底层模块描述</a:t>
            </a:r>
          </a:p>
        </p:txBody>
      </p:sp>
      <p:sp>
        <p:nvSpPr>
          <p:cNvPr id="23557" name="Text Box 6"/>
          <p:cNvSpPr txBox="1">
            <a:spLocks noChangeArrowheads="1"/>
          </p:cNvSpPr>
          <p:nvPr/>
        </p:nvSpPr>
        <p:spPr bwMode="auto">
          <a:xfrm>
            <a:off x="285750" y="2714625"/>
            <a:ext cx="3370263" cy="176847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dirty="0">
                <a:ea typeface="黑体" panose="02010609060101010101" pitchFamily="49" charset="-122"/>
              </a:rPr>
              <a:t>module DFF(CLK,D,Q)</a:t>
            </a:r>
          </a:p>
          <a:p>
            <a:pPr eaLnBrk="1" hangingPunct="1"/>
            <a:r>
              <a:rPr lang="en-US" altLang="zh-CN" sz="1800" dirty="0">
                <a:ea typeface="黑体" panose="02010609060101010101" pitchFamily="49" charset="-122"/>
              </a:rPr>
              <a:t>    output reg Q;</a:t>
            </a:r>
          </a:p>
          <a:p>
            <a:pPr eaLnBrk="1" hangingPunct="1"/>
            <a:r>
              <a:rPr lang="en-US" altLang="zh-CN" sz="1800" dirty="0">
                <a:ea typeface="黑体" panose="02010609060101010101" pitchFamily="49" charset="-122"/>
              </a:rPr>
              <a:t>    input CLK,D;</a:t>
            </a:r>
          </a:p>
          <a:p>
            <a:pPr eaLnBrk="1" hangingPunct="1"/>
            <a:r>
              <a:rPr lang="en-US" altLang="zh-CN" sz="1800" dirty="0">
                <a:solidFill>
                  <a:srgbClr val="A50021"/>
                </a:solidFill>
                <a:ea typeface="黑体" panose="02010609060101010101" pitchFamily="49" charset="-122"/>
              </a:rPr>
              <a:t>always @ (posedge CLK)</a:t>
            </a:r>
          </a:p>
          <a:p>
            <a:pPr eaLnBrk="1" hangingPunct="1"/>
            <a:r>
              <a:rPr lang="en-US" altLang="zh-CN" sz="1800" dirty="0">
                <a:solidFill>
                  <a:srgbClr val="A50021"/>
                </a:solidFill>
                <a:ea typeface="黑体" panose="02010609060101010101" pitchFamily="49" charset="-122"/>
              </a:rPr>
              <a:t>    Q&lt;=D;</a:t>
            </a:r>
          </a:p>
          <a:p>
            <a:pPr eaLnBrk="1" hangingPunct="1"/>
            <a:r>
              <a:rPr lang="en-US" altLang="zh-CN" sz="1800" dirty="0" err="1">
                <a:ea typeface="黑体" panose="02010609060101010101" pitchFamily="49" charset="-122"/>
              </a:rPr>
              <a:t>endmodule</a:t>
            </a:r>
            <a:endParaRPr lang="en-US" altLang="zh-CN" sz="1800" dirty="0">
              <a:ea typeface="黑体" panose="02010609060101010101" pitchFamily="49" charset="-122"/>
            </a:endParaRPr>
          </a:p>
        </p:txBody>
      </p:sp>
      <p:grpSp>
        <p:nvGrpSpPr>
          <p:cNvPr id="2" name="Group 26"/>
          <p:cNvGrpSpPr>
            <a:grpSpLocks/>
          </p:cNvGrpSpPr>
          <p:nvPr/>
        </p:nvGrpSpPr>
        <p:grpSpPr bwMode="auto">
          <a:xfrm>
            <a:off x="785813" y="1643063"/>
            <a:ext cx="2511425" cy="801687"/>
            <a:chOff x="612" y="3702"/>
            <a:chExt cx="1582" cy="505"/>
          </a:xfrm>
        </p:grpSpPr>
        <p:grpSp>
          <p:nvGrpSpPr>
            <p:cNvPr id="23591" name="Group 27"/>
            <p:cNvGrpSpPr>
              <a:grpSpLocks/>
            </p:cNvGrpSpPr>
            <p:nvPr/>
          </p:nvGrpSpPr>
          <p:grpSpPr bwMode="auto">
            <a:xfrm>
              <a:off x="612" y="3702"/>
              <a:ext cx="1582" cy="505"/>
              <a:chOff x="4148" y="2475"/>
              <a:chExt cx="1582" cy="505"/>
            </a:xfrm>
          </p:grpSpPr>
          <p:pic>
            <p:nvPicPr>
              <p:cNvPr id="23593" name="Picture 28"/>
              <p:cNvPicPr>
                <a:picLocks noChangeAspect="1" noChangeArrowheads="1"/>
              </p:cNvPicPr>
              <p:nvPr/>
            </p:nvPicPr>
            <p:blipFill>
              <a:blip r:embed="rId2">
                <a:extLst>
                  <a:ext uri="{28A0092B-C50C-407E-A947-70E740481C1C}">
                    <a14:useLocalDpi xmlns:a14="http://schemas.microsoft.com/office/drawing/2010/main" val="0"/>
                  </a:ext>
                </a:extLst>
              </a:blip>
              <a:srcRect l="67137" t="7483" r="24120" b="75128"/>
              <a:stretch>
                <a:fillRect/>
              </a:stretch>
            </p:blipFill>
            <p:spPr bwMode="auto">
              <a:xfrm>
                <a:off x="4774" y="2475"/>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3594" name="Line 29"/>
              <p:cNvSpPr>
                <a:spLocks noChangeShapeType="1"/>
              </p:cNvSpPr>
              <p:nvPr/>
            </p:nvSpPr>
            <p:spPr bwMode="auto">
              <a:xfrm>
                <a:off x="4456" y="2837"/>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5" name="Line 30"/>
              <p:cNvSpPr>
                <a:spLocks noChangeShapeType="1"/>
              </p:cNvSpPr>
              <p:nvPr/>
            </p:nvSpPr>
            <p:spPr bwMode="auto">
              <a:xfrm flipH="1">
                <a:off x="4468" y="2565"/>
                <a:ext cx="30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6" name="Line 31"/>
              <p:cNvSpPr>
                <a:spLocks noChangeShapeType="1"/>
              </p:cNvSpPr>
              <p:nvPr/>
            </p:nvSpPr>
            <p:spPr bwMode="auto">
              <a:xfrm>
                <a:off x="5182" y="2565"/>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7" name="Text Box 32"/>
              <p:cNvSpPr txBox="1">
                <a:spLocks noChangeArrowheads="1"/>
              </p:cNvSpPr>
              <p:nvPr/>
            </p:nvSpPr>
            <p:spPr bwMode="auto">
              <a:xfrm>
                <a:off x="5532" y="2478"/>
                <a:ext cx="1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Q</a:t>
                </a:r>
              </a:p>
            </p:txBody>
          </p:sp>
          <p:sp>
            <p:nvSpPr>
              <p:cNvPr id="23598" name="Text Box 33"/>
              <p:cNvSpPr txBox="1">
                <a:spLocks noChangeArrowheads="1"/>
              </p:cNvSpPr>
              <p:nvPr/>
            </p:nvSpPr>
            <p:spPr bwMode="auto">
              <a:xfrm>
                <a:off x="4828" y="2711"/>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3599" name="Text Box 34"/>
              <p:cNvSpPr txBox="1">
                <a:spLocks noChangeArrowheads="1"/>
              </p:cNvSpPr>
              <p:nvPr/>
            </p:nvSpPr>
            <p:spPr bwMode="auto">
              <a:xfrm>
                <a:off x="4148" y="2750"/>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3600" name="Text Box 35"/>
              <p:cNvSpPr txBox="1">
                <a:spLocks noChangeArrowheads="1"/>
              </p:cNvSpPr>
              <p:nvPr/>
            </p:nvSpPr>
            <p:spPr bwMode="auto">
              <a:xfrm>
                <a:off x="4226" y="2478"/>
                <a:ext cx="1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D</a:t>
                </a:r>
              </a:p>
            </p:txBody>
          </p:sp>
        </p:grpSp>
        <p:sp>
          <p:nvSpPr>
            <p:cNvPr id="23592" name="Rectangle 36"/>
            <p:cNvSpPr>
              <a:spLocks noChangeArrowheads="1"/>
            </p:cNvSpPr>
            <p:nvPr/>
          </p:nvSpPr>
          <p:spPr bwMode="auto">
            <a:xfrm>
              <a:off x="1265" y="3811"/>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grpSp>
      <p:sp>
        <p:nvSpPr>
          <p:cNvPr id="23559" name="Text Box 45"/>
          <p:cNvSpPr txBox="1">
            <a:spLocks noChangeArrowheads="1"/>
          </p:cNvSpPr>
          <p:nvPr/>
        </p:nvSpPr>
        <p:spPr bwMode="auto">
          <a:xfrm>
            <a:off x="250825" y="47244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顶层模块描述</a:t>
            </a:r>
          </a:p>
        </p:txBody>
      </p:sp>
      <p:sp>
        <p:nvSpPr>
          <p:cNvPr id="23560" name="Text Box 47"/>
          <p:cNvSpPr txBox="1">
            <a:spLocks noChangeArrowheads="1"/>
          </p:cNvSpPr>
          <p:nvPr/>
        </p:nvSpPr>
        <p:spPr bwMode="auto">
          <a:xfrm>
            <a:off x="269875" y="5300663"/>
            <a:ext cx="3836988" cy="13398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sz="2000" dirty="0">
                <a:ea typeface="黑体" panose="02010609060101010101" pitchFamily="49" charset="-122"/>
              </a:rPr>
              <a:t>为了调用底层模块，需要加两个内部变量</a:t>
            </a:r>
            <a:r>
              <a:rPr lang="en-US" altLang="zh-CN" sz="2000" dirty="0">
                <a:ea typeface="黑体" panose="02010609060101010101" pitchFamily="49" charset="-122"/>
              </a:rPr>
              <a:t>d1</a:t>
            </a:r>
            <a:r>
              <a:rPr lang="zh-CN" altLang="en-US" sz="2000" dirty="0">
                <a:ea typeface="黑体" panose="02010609060101010101" pitchFamily="49" charset="-122"/>
              </a:rPr>
              <a:t>和</a:t>
            </a:r>
            <a:r>
              <a:rPr lang="en-US" altLang="zh-CN" sz="2000" dirty="0">
                <a:ea typeface="黑体" panose="02010609060101010101" pitchFamily="49" charset="-122"/>
              </a:rPr>
              <a:t>q1</a:t>
            </a:r>
            <a:r>
              <a:rPr lang="zh-CN" altLang="en-US" sz="2000" dirty="0">
                <a:ea typeface="黑体" panose="02010609060101010101" pitchFamily="49" charset="-122"/>
              </a:rPr>
              <a:t>；</a:t>
            </a:r>
          </a:p>
          <a:p>
            <a:pPr eaLnBrk="1" hangingPunct="1"/>
            <a:r>
              <a:rPr lang="zh-CN" altLang="en-US" sz="2000" dirty="0">
                <a:ea typeface="黑体" panose="02010609060101010101" pitchFamily="49" charset="-122"/>
              </a:rPr>
              <a:t>并给两次调用的模块进行命名；</a:t>
            </a:r>
          </a:p>
          <a:p>
            <a:pPr eaLnBrk="1" hangingPunct="1"/>
            <a:r>
              <a:rPr lang="zh-CN" altLang="en-US" sz="2000" dirty="0">
                <a:ea typeface="黑体" panose="02010609060101010101" pitchFamily="49" charset="-122"/>
              </a:rPr>
              <a:t>调用时例化名不能省略。</a:t>
            </a:r>
          </a:p>
        </p:txBody>
      </p:sp>
      <p:grpSp>
        <p:nvGrpSpPr>
          <p:cNvPr id="23561" name="Group 48"/>
          <p:cNvGrpSpPr>
            <a:grpSpLocks/>
          </p:cNvGrpSpPr>
          <p:nvPr/>
        </p:nvGrpSpPr>
        <p:grpSpPr bwMode="auto">
          <a:xfrm>
            <a:off x="4576763" y="115888"/>
            <a:ext cx="4532312" cy="1724025"/>
            <a:chOff x="2883" y="709"/>
            <a:chExt cx="2855" cy="1086"/>
          </a:xfrm>
        </p:grpSpPr>
        <p:grpSp>
          <p:nvGrpSpPr>
            <p:cNvPr id="23565" name="Group 49"/>
            <p:cNvGrpSpPr>
              <a:grpSpLocks/>
            </p:cNvGrpSpPr>
            <p:nvPr/>
          </p:nvGrpSpPr>
          <p:grpSpPr bwMode="auto">
            <a:xfrm>
              <a:off x="2883" y="709"/>
              <a:ext cx="2855" cy="1086"/>
              <a:chOff x="2883" y="709"/>
              <a:chExt cx="2855" cy="1086"/>
            </a:xfrm>
          </p:grpSpPr>
          <p:grpSp>
            <p:nvGrpSpPr>
              <p:cNvPr id="23568" name="Group 50"/>
              <p:cNvGrpSpPr>
                <a:grpSpLocks/>
              </p:cNvGrpSpPr>
              <p:nvPr/>
            </p:nvGrpSpPr>
            <p:grpSpPr bwMode="auto">
              <a:xfrm>
                <a:off x="2883" y="709"/>
                <a:ext cx="2855" cy="1086"/>
                <a:chOff x="2744" y="300"/>
                <a:chExt cx="2855" cy="1086"/>
              </a:xfrm>
            </p:grpSpPr>
            <p:grpSp>
              <p:nvGrpSpPr>
                <p:cNvPr id="23571" name="Group 51"/>
                <p:cNvGrpSpPr>
                  <a:grpSpLocks/>
                </p:cNvGrpSpPr>
                <p:nvPr/>
              </p:nvGrpSpPr>
              <p:grpSpPr bwMode="auto">
                <a:xfrm>
                  <a:off x="2744" y="300"/>
                  <a:ext cx="2855" cy="1086"/>
                  <a:chOff x="2735" y="2435"/>
                  <a:chExt cx="2855" cy="1086"/>
                </a:xfrm>
              </p:grpSpPr>
              <p:pic>
                <p:nvPicPr>
                  <p:cNvPr id="23574" name="Picture 52"/>
                  <p:cNvPicPr>
                    <a:picLocks noChangeAspect="1" noChangeArrowheads="1"/>
                  </p:cNvPicPr>
                  <p:nvPr/>
                </p:nvPicPr>
                <p:blipFill>
                  <a:blip r:embed="rId2">
                    <a:extLst>
                      <a:ext uri="{28A0092B-C50C-407E-A947-70E740481C1C}">
                        <a14:useLocalDpi xmlns:a14="http://schemas.microsoft.com/office/drawing/2010/main" val="0"/>
                      </a:ext>
                    </a:extLst>
                  </a:blip>
                  <a:srcRect l="67137" t="7483" r="24120" b="75128"/>
                  <a:stretch>
                    <a:fillRect/>
                  </a:stretch>
                </p:blipFill>
                <p:spPr bwMode="auto">
                  <a:xfrm>
                    <a:off x="3878" y="2750"/>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3575" name="Picture 53"/>
                  <p:cNvPicPr>
                    <a:picLocks noChangeAspect="1" noChangeArrowheads="1"/>
                  </p:cNvPicPr>
                  <p:nvPr/>
                </p:nvPicPr>
                <p:blipFill>
                  <a:blip r:embed="rId2">
                    <a:extLst>
                      <a:ext uri="{28A0092B-C50C-407E-A947-70E740481C1C}">
                        <a14:useLocalDpi xmlns:a14="http://schemas.microsoft.com/office/drawing/2010/main" val="0"/>
                      </a:ext>
                    </a:extLst>
                  </a:blip>
                  <a:srcRect l="67137" t="7483" r="24120" b="75128"/>
                  <a:stretch>
                    <a:fillRect/>
                  </a:stretch>
                </p:blipFill>
                <p:spPr bwMode="auto">
                  <a:xfrm>
                    <a:off x="4604" y="2478"/>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3576" name="Line 54"/>
                  <p:cNvSpPr>
                    <a:spLocks noChangeShapeType="1"/>
                  </p:cNvSpPr>
                  <p:nvPr/>
                </p:nvSpPr>
                <p:spPr bwMode="auto">
                  <a:xfrm>
                    <a:off x="4286" y="2840"/>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3577" name="Picture 55"/>
                  <p:cNvPicPr>
                    <a:picLocks noChangeAspect="1" noChangeArrowheads="1"/>
                  </p:cNvPicPr>
                  <p:nvPr/>
                </p:nvPicPr>
                <p:blipFill>
                  <a:blip r:embed="rId2">
                    <a:extLst>
                      <a:ext uri="{28A0092B-C50C-407E-A947-70E740481C1C}">
                        <a14:useLocalDpi xmlns:a14="http://schemas.microsoft.com/office/drawing/2010/main" val="0"/>
                      </a:ext>
                    </a:extLst>
                  </a:blip>
                  <a:srcRect l="23395" t="22180" r="63803" b="59242"/>
                  <a:stretch>
                    <a:fillRect/>
                  </a:stretch>
                </p:blipFill>
                <p:spPr bwMode="auto">
                  <a:xfrm>
                    <a:off x="3234" y="2659"/>
                    <a:ext cx="54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8" name="Line 56"/>
                  <p:cNvSpPr>
                    <a:spLocks noChangeShapeType="1"/>
                  </p:cNvSpPr>
                  <p:nvPr/>
                </p:nvSpPr>
                <p:spPr bwMode="auto">
                  <a:xfrm>
                    <a:off x="3651" y="283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9" name="Line 57"/>
                  <p:cNvSpPr>
                    <a:spLocks noChangeShapeType="1"/>
                  </p:cNvSpPr>
                  <p:nvPr/>
                </p:nvSpPr>
                <p:spPr bwMode="auto">
                  <a:xfrm flipH="1">
                    <a:off x="3061" y="3113"/>
                    <a:ext cx="81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0" name="Line 58"/>
                  <p:cNvSpPr>
                    <a:spLocks noChangeShapeType="1"/>
                  </p:cNvSpPr>
                  <p:nvPr/>
                </p:nvSpPr>
                <p:spPr bwMode="auto">
                  <a:xfrm flipH="1">
                    <a:off x="3107" y="2568"/>
                    <a:ext cx="149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1" name="Line 59"/>
                  <p:cNvSpPr>
                    <a:spLocks noChangeShapeType="1"/>
                  </p:cNvSpPr>
                  <p:nvPr/>
                </p:nvSpPr>
                <p:spPr bwMode="auto">
                  <a:xfrm>
                    <a:off x="5012" y="2568"/>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2" name="Freeform 60"/>
                  <p:cNvSpPr>
                    <a:spLocks/>
                  </p:cNvSpPr>
                  <p:nvPr/>
                </p:nvSpPr>
                <p:spPr bwMode="auto">
                  <a:xfrm>
                    <a:off x="3237" y="2568"/>
                    <a:ext cx="1956" cy="953"/>
                  </a:xfrm>
                  <a:custGeom>
                    <a:avLst/>
                    <a:gdLst>
                      <a:gd name="T0" fmla="*/ 1956 w 1956"/>
                      <a:gd name="T1" fmla="*/ 0 h 953"/>
                      <a:gd name="T2" fmla="*/ 1956 w 1956"/>
                      <a:gd name="T3" fmla="*/ 953 h 953"/>
                      <a:gd name="T4" fmla="*/ 6 w 1956"/>
                      <a:gd name="T5" fmla="*/ 953 h 953"/>
                      <a:gd name="T6" fmla="*/ 0 w 1956"/>
                      <a:gd name="T7" fmla="*/ 184 h 953"/>
                      <a:gd name="T8" fmla="*/ 0 60000 65536"/>
                      <a:gd name="T9" fmla="*/ 0 60000 65536"/>
                      <a:gd name="T10" fmla="*/ 0 60000 65536"/>
                      <a:gd name="T11" fmla="*/ 0 60000 65536"/>
                      <a:gd name="T12" fmla="*/ 0 w 1956"/>
                      <a:gd name="T13" fmla="*/ 0 h 953"/>
                      <a:gd name="T14" fmla="*/ 1956 w 1956"/>
                      <a:gd name="T15" fmla="*/ 953 h 953"/>
                    </a:gdLst>
                    <a:ahLst/>
                    <a:cxnLst>
                      <a:cxn ang="T8">
                        <a:pos x="T0" y="T1"/>
                      </a:cxn>
                      <a:cxn ang="T9">
                        <a:pos x="T2" y="T3"/>
                      </a:cxn>
                      <a:cxn ang="T10">
                        <a:pos x="T4" y="T5"/>
                      </a:cxn>
                      <a:cxn ang="T11">
                        <a:pos x="T6" y="T7"/>
                      </a:cxn>
                    </a:cxnLst>
                    <a:rect l="T12" t="T13" r="T14" b="T15"/>
                    <a:pathLst>
                      <a:path w="1956" h="953">
                        <a:moveTo>
                          <a:pt x="1956" y="0"/>
                        </a:moveTo>
                        <a:lnTo>
                          <a:pt x="1956" y="953"/>
                        </a:lnTo>
                        <a:lnTo>
                          <a:pt x="6" y="953"/>
                        </a:lnTo>
                        <a:lnTo>
                          <a:pt x="0" y="184"/>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3583" name="Line 61"/>
                  <p:cNvSpPr>
                    <a:spLocks noChangeShapeType="1"/>
                  </p:cNvSpPr>
                  <p:nvPr/>
                </p:nvSpPr>
                <p:spPr bwMode="auto">
                  <a:xfrm>
                    <a:off x="3079" y="2904"/>
                    <a:ext cx="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4" name="Oval 62"/>
                  <p:cNvSpPr>
                    <a:spLocks noChangeArrowheads="1"/>
                  </p:cNvSpPr>
                  <p:nvPr/>
                </p:nvSpPr>
                <p:spPr bwMode="auto">
                  <a:xfrm>
                    <a:off x="5175" y="2550"/>
                    <a:ext cx="45" cy="45"/>
                  </a:xfrm>
                  <a:prstGeom prst="ellipse">
                    <a:avLst/>
                  </a:prstGeom>
                  <a:solidFill>
                    <a:schemeClr val="tx1"/>
                  </a:solidFill>
                  <a:ln w="9525">
                    <a:solidFill>
                      <a:schemeClr val="tx1"/>
                    </a:solidFill>
                    <a:round/>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3585" name="Text Box 63"/>
                  <p:cNvSpPr txBox="1">
                    <a:spLocks noChangeArrowheads="1"/>
                  </p:cNvSpPr>
                  <p:nvPr/>
                </p:nvSpPr>
                <p:spPr bwMode="auto">
                  <a:xfrm>
                    <a:off x="2832" y="2448"/>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d</a:t>
                    </a:r>
                  </a:p>
                </p:txBody>
              </p:sp>
              <p:sp>
                <p:nvSpPr>
                  <p:cNvPr id="23586" name="Text Box 64"/>
                  <p:cNvSpPr txBox="1">
                    <a:spLocks noChangeArrowheads="1"/>
                  </p:cNvSpPr>
                  <p:nvPr/>
                </p:nvSpPr>
                <p:spPr bwMode="auto">
                  <a:xfrm>
                    <a:off x="2835" y="273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a</a:t>
                    </a:r>
                  </a:p>
                </p:txBody>
              </p:sp>
              <p:sp>
                <p:nvSpPr>
                  <p:cNvPr id="23587" name="Text Box 65"/>
                  <p:cNvSpPr txBox="1">
                    <a:spLocks noChangeArrowheads="1"/>
                  </p:cNvSpPr>
                  <p:nvPr/>
                </p:nvSpPr>
                <p:spPr bwMode="auto">
                  <a:xfrm>
                    <a:off x="2735" y="2976"/>
                    <a:ext cx="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clk</a:t>
                    </a:r>
                  </a:p>
                </p:txBody>
              </p:sp>
              <p:sp>
                <p:nvSpPr>
                  <p:cNvPr id="23588" name="Text Box 66"/>
                  <p:cNvSpPr txBox="1">
                    <a:spLocks noChangeArrowheads="1"/>
                  </p:cNvSpPr>
                  <p:nvPr/>
                </p:nvSpPr>
                <p:spPr bwMode="auto">
                  <a:xfrm>
                    <a:off x="5362" y="2435"/>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q</a:t>
                    </a:r>
                  </a:p>
                </p:txBody>
              </p:sp>
              <p:sp>
                <p:nvSpPr>
                  <p:cNvPr id="23589" name="Text Box 67"/>
                  <p:cNvSpPr txBox="1">
                    <a:spLocks noChangeArrowheads="1"/>
                  </p:cNvSpPr>
                  <p:nvPr/>
                </p:nvSpPr>
                <p:spPr bwMode="auto">
                  <a:xfrm>
                    <a:off x="4658" y="2714"/>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3590" name="Text Box 68"/>
                  <p:cNvSpPr txBox="1">
                    <a:spLocks noChangeArrowheads="1"/>
                  </p:cNvSpPr>
                  <p:nvPr/>
                </p:nvSpPr>
                <p:spPr bwMode="auto">
                  <a:xfrm>
                    <a:off x="3932" y="2985"/>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grpSp>
            <p:sp>
              <p:nvSpPr>
                <p:cNvPr id="23572" name="Text Box 69"/>
                <p:cNvSpPr txBox="1">
                  <a:spLocks noChangeArrowheads="1"/>
                </p:cNvSpPr>
                <p:nvPr/>
              </p:nvSpPr>
              <p:spPr bwMode="auto">
                <a:xfrm>
                  <a:off x="4286" y="459"/>
                  <a:ext cx="3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chemeClr val="hlink"/>
                      </a:solidFill>
                      <a:ea typeface="黑体" panose="02010609060101010101" pitchFamily="49" charset="-122"/>
                    </a:rPr>
                    <a:t>q1</a:t>
                  </a:r>
                </a:p>
              </p:txBody>
            </p:sp>
            <p:sp>
              <p:nvSpPr>
                <p:cNvPr id="23573" name="Text Box 70"/>
                <p:cNvSpPr txBox="1">
                  <a:spLocks noChangeArrowheads="1"/>
                </p:cNvSpPr>
                <p:nvPr/>
              </p:nvSpPr>
              <p:spPr bwMode="auto">
                <a:xfrm>
                  <a:off x="3570" y="481"/>
                  <a:ext cx="3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chemeClr val="hlink"/>
                      </a:solidFill>
                      <a:ea typeface="黑体" panose="02010609060101010101" pitchFamily="49" charset="-122"/>
                    </a:rPr>
                    <a:t>d1</a:t>
                  </a:r>
                </a:p>
              </p:txBody>
            </p:sp>
          </p:grpSp>
          <p:sp>
            <p:nvSpPr>
              <p:cNvPr id="23569" name="Rectangle 71"/>
              <p:cNvSpPr>
                <a:spLocks noChangeArrowheads="1"/>
              </p:cNvSpPr>
              <p:nvPr/>
            </p:nvSpPr>
            <p:spPr bwMode="auto">
              <a:xfrm>
                <a:off x="4068" y="1135"/>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sp>
            <p:nvSpPr>
              <p:cNvPr id="23570" name="Rectangle 72"/>
              <p:cNvSpPr>
                <a:spLocks noChangeArrowheads="1"/>
              </p:cNvSpPr>
              <p:nvPr/>
            </p:nvSpPr>
            <p:spPr bwMode="auto">
              <a:xfrm>
                <a:off x="4794" y="872"/>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grpSp>
        <p:sp>
          <p:nvSpPr>
            <p:cNvPr id="23566" name="Rectangle 73"/>
            <p:cNvSpPr>
              <a:spLocks noChangeArrowheads="1"/>
            </p:cNvSpPr>
            <p:nvPr/>
          </p:nvSpPr>
          <p:spPr bwMode="auto">
            <a:xfrm>
              <a:off x="4014" y="1539"/>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600">
                  <a:solidFill>
                    <a:schemeClr val="folHlink"/>
                  </a:solidFill>
                  <a:ea typeface="黑体" panose="02010609060101010101" pitchFamily="49" charset="-122"/>
                </a:rPr>
                <a:t>dff1</a:t>
              </a:r>
            </a:p>
          </p:txBody>
        </p:sp>
        <p:sp>
          <p:nvSpPr>
            <p:cNvPr id="23567" name="Rectangle 74"/>
            <p:cNvSpPr>
              <a:spLocks noChangeArrowheads="1"/>
            </p:cNvSpPr>
            <p:nvPr/>
          </p:nvSpPr>
          <p:spPr bwMode="auto">
            <a:xfrm>
              <a:off x="4740" y="1268"/>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600">
                  <a:solidFill>
                    <a:schemeClr val="folHlink"/>
                  </a:solidFill>
                  <a:ea typeface="黑体" panose="02010609060101010101" pitchFamily="49" charset="-122"/>
                </a:rPr>
                <a:t>dff2</a:t>
              </a:r>
            </a:p>
          </p:txBody>
        </p:sp>
      </p:grpSp>
      <p:sp>
        <p:nvSpPr>
          <p:cNvPr id="23562" name="Text Box 79"/>
          <p:cNvSpPr txBox="1">
            <a:spLocks noChangeArrowheads="1"/>
          </p:cNvSpPr>
          <p:nvPr/>
        </p:nvSpPr>
        <p:spPr bwMode="auto">
          <a:xfrm>
            <a:off x="4356100" y="3051175"/>
            <a:ext cx="4673600" cy="3690938"/>
          </a:xfrm>
          <a:prstGeom prst="rect">
            <a:avLst/>
          </a:prstGeom>
          <a:solidFill>
            <a:srgbClr val="FFFF66"/>
          </a:solidFill>
          <a:ln w="28575">
            <a:solidFill>
              <a:schemeClr val="hlink"/>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800" dirty="0">
                <a:ea typeface="黑体" panose="02010609060101010101" pitchFamily="49" charset="-122"/>
              </a:rPr>
              <a:t>module </a:t>
            </a:r>
            <a:r>
              <a:rPr lang="en-US" altLang="zh-CN" sz="1800" dirty="0" err="1">
                <a:ea typeface="黑体" panose="02010609060101010101" pitchFamily="49" charset="-122"/>
              </a:rPr>
              <a:t>examp</a:t>
            </a:r>
            <a:r>
              <a:rPr lang="en-US" altLang="zh-CN" sz="1800" dirty="0">
                <a:ea typeface="黑体" panose="02010609060101010101" pitchFamily="49" charset="-122"/>
              </a:rPr>
              <a:t> (</a:t>
            </a:r>
            <a:r>
              <a:rPr lang="en-US" altLang="zh-CN" sz="1800" dirty="0" err="1">
                <a:ea typeface="黑体" panose="02010609060101010101" pitchFamily="49" charset="-122"/>
              </a:rPr>
              <a:t>clk,d,a,q</a:t>
            </a:r>
            <a:r>
              <a:rPr lang="en-US" altLang="zh-CN" sz="1800" dirty="0">
                <a:ea typeface="黑体" panose="02010609060101010101" pitchFamily="49" charset="-122"/>
              </a:rPr>
              <a:t>)</a:t>
            </a:r>
          </a:p>
          <a:p>
            <a:pPr eaLnBrk="1" hangingPunct="1"/>
            <a:r>
              <a:rPr lang="en-US" altLang="zh-CN" sz="1800" dirty="0">
                <a:ea typeface="黑体" panose="02010609060101010101" pitchFamily="49" charset="-122"/>
              </a:rPr>
              <a:t>    output  q;</a:t>
            </a:r>
          </a:p>
          <a:p>
            <a:pPr eaLnBrk="1" hangingPunct="1"/>
            <a:r>
              <a:rPr lang="en-US" altLang="zh-CN" sz="1800" dirty="0">
                <a:ea typeface="黑体" panose="02010609060101010101" pitchFamily="49" charset="-122"/>
              </a:rPr>
              <a:t>    input </a:t>
            </a:r>
            <a:r>
              <a:rPr lang="en-US" altLang="zh-CN" sz="1800" dirty="0" err="1">
                <a:ea typeface="黑体" panose="02010609060101010101" pitchFamily="49" charset="-122"/>
              </a:rPr>
              <a:t>clk,d,a</a:t>
            </a:r>
            <a:r>
              <a:rPr lang="en-US" altLang="zh-CN" sz="1800" dirty="0">
                <a:ea typeface="黑体" panose="02010609060101010101" pitchFamily="49" charset="-122"/>
              </a:rPr>
              <a:t>;</a:t>
            </a:r>
          </a:p>
          <a:p>
            <a:pPr eaLnBrk="1" hangingPunct="1"/>
            <a:endParaRPr lang="en-US" altLang="zh-CN" sz="1800" dirty="0">
              <a:ea typeface="黑体" panose="02010609060101010101" pitchFamily="49" charset="-122"/>
            </a:endParaRPr>
          </a:p>
          <a:p>
            <a:pPr eaLnBrk="1" hangingPunct="1"/>
            <a:r>
              <a:rPr lang="en-US" altLang="zh-CN" sz="1800" dirty="0">
                <a:ea typeface="黑体" panose="02010609060101010101" pitchFamily="49" charset="-122"/>
              </a:rPr>
              <a:t>    wire d1;</a:t>
            </a:r>
          </a:p>
          <a:p>
            <a:pPr eaLnBrk="1" hangingPunct="1"/>
            <a:r>
              <a:rPr lang="en-US" altLang="zh-CN" sz="1800" dirty="0">
                <a:ea typeface="黑体" panose="02010609060101010101" pitchFamily="49" charset="-122"/>
              </a:rPr>
              <a:t>    wire q1;</a:t>
            </a:r>
          </a:p>
          <a:p>
            <a:pPr eaLnBrk="1" hangingPunct="1"/>
            <a:endParaRPr lang="en-US" altLang="zh-CN" sz="1800" dirty="0">
              <a:ea typeface="黑体" panose="02010609060101010101" pitchFamily="49" charset="-122"/>
            </a:endParaRPr>
          </a:p>
          <a:p>
            <a:pPr eaLnBrk="1" hangingPunct="1"/>
            <a:r>
              <a:rPr lang="en-US" altLang="zh-CN" sz="1800" dirty="0">
                <a:solidFill>
                  <a:srgbClr val="A50021"/>
                </a:solidFill>
                <a:ea typeface="黑体" panose="02010609060101010101" pitchFamily="49" charset="-122"/>
              </a:rPr>
              <a:t>DFF dff1(.CLK(</a:t>
            </a:r>
            <a:r>
              <a:rPr lang="en-US" altLang="zh-CN" sz="1800" dirty="0" err="1">
                <a:solidFill>
                  <a:srgbClr val="A50021"/>
                </a:solidFill>
                <a:ea typeface="黑体" panose="02010609060101010101" pitchFamily="49" charset="-122"/>
              </a:rPr>
              <a:t>clk</a:t>
            </a:r>
            <a:r>
              <a:rPr lang="en-US" altLang="zh-CN" sz="1800" dirty="0">
                <a:solidFill>
                  <a:srgbClr val="A50021"/>
                </a:solidFill>
                <a:ea typeface="黑体" panose="02010609060101010101" pitchFamily="49" charset="-122"/>
              </a:rPr>
              <a:t>),.D(d1),.Q(q1));</a:t>
            </a:r>
          </a:p>
          <a:p>
            <a:pPr eaLnBrk="1" hangingPunct="1"/>
            <a:r>
              <a:rPr lang="en-US" altLang="zh-CN" sz="1800" dirty="0">
                <a:solidFill>
                  <a:srgbClr val="A50021"/>
                </a:solidFill>
                <a:ea typeface="黑体" panose="02010609060101010101" pitchFamily="49" charset="-122"/>
              </a:rPr>
              <a:t>DFF dff2(q1,d,q);</a:t>
            </a:r>
          </a:p>
          <a:p>
            <a:pPr eaLnBrk="1" hangingPunct="1"/>
            <a:endParaRPr lang="en-US" altLang="zh-CN" sz="1800" dirty="0">
              <a:ea typeface="黑体" panose="02010609060101010101" pitchFamily="49" charset="-122"/>
            </a:endParaRPr>
          </a:p>
          <a:p>
            <a:pPr eaLnBrk="1" hangingPunct="1"/>
            <a:r>
              <a:rPr lang="en-US" altLang="zh-CN" sz="1800" dirty="0">
                <a:ea typeface="黑体" panose="02010609060101010101" pitchFamily="49" charset="-122"/>
              </a:rPr>
              <a:t>or (d1,a,q);</a:t>
            </a:r>
          </a:p>
          <a:p>
            <a:pPr eaLnBrk="1" hangingPunct="1"/>
            <a:endParaRPr lang="en-US" altLang="zh-CN" sz="1800" dirty="0">
              <a:ea typeface="黑体" panose="02010609060101010101" pitchFamily="49" charset="-122"/>
            </a:endParaRPr>
          </a:p>
          <a:p>
            <a:pPr eaLnBrk="1" hangingPunct="1"/>
            <a:r>
              <a:rPr lang="en-US" altLang="zh-CN" sz="1800" dirty="0" err="1">
                <a:ea typeface="黑体" panose="02010609060101010101" pitchFamily="49" charset="-122"/>
              </a:rPr>
              <a:t>endmodule</a:t>
            </a:r>
            <a:endParaRPr lang="en-US" altLang="zh-CN" sz="1800" dirty="0">
              <a:ea typeface="黑体" panose="02010609060101010101" pitchFamily="49" charset="-122"/>
            </a:endParaRPr>
          </a:p>
        </p:txBody>
      </p:sp>
      <p:sp>
        <p:nvSpPr>
          <p:cNvPr id="23563" name="Text Box 80"/>
          <p:cNvSpPr txBox="1">
            <a:spLocks noChangeArrowheads="1"/>
          </p:cNvSpPr>
          <p:nvPr/>
        </p:nvSpPr>
        <p:spPr bwMode="auto">
          <a:xfrm>
            <a:off x="4356100" y="1916113"/>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底层模块调用格式：</a:t>
            </a:r>
          </a:p>
        </p:txBody>
      </p:sp>
      <p:sp>
        <p:nvSpPr>
          <p:cNvPr id="23564" name="Text Box 81"/>
          <p:cNvSpPr txBox="1">
            <a:spLocks noChangeArrowheads="1"/>
          </p:cNvSpPr>
          <p:nvPr/>
        </p:nvSpPr>
        <p:spPr bwMode="auto">
          <a:xfrm>
            <a:off x="4356100" y="2492375"/>
            <a:ext cx="4551363" cy="485775"/>
          </a:xfrm>
          <a:prstGeom prst="rect">
            <a:avLst/>
          </a:prstGeom>
          <a:solidFill>
            <a:schemeClr val="accent1"/>
          </a:solidFill>
          <a:ln w="28575">
            <a:solidFill>
              <a:schemeClr val="hlink"/>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底层模块名 例化名 </a:t>
            </a:r>
            <a:r>
              <a:rPr lang="en-US" altLang="zh-CN">
                <a:ea typeface="黑体" panose="02010609060101010101" pitchFamily="49" charset="-122"/>
              </a:rPr>
              <a:t>(</a:t>
            </a:r>
            <a:r>
              <a:rPr lang="zh-CN" altLang="en-US">
                <a:ea typeface="黑体" panose="02010609060101010101" pitchFamily="49" charset="-122"/>
              </a:rPr>
              <a:t>端口映射</a:t>
            </a:r>
            <a:r>
              <a:rPr lang="en-US" altLang="zh-CN">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wipe(left)">
                                      <p:cBhvr>
                                        <p:cTn id="7" dur="500"/>
                                        <p:tgtEl>
                                          <p:spTgt spid="23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557"/>
                                        </p:tgtEl>
                                        <p:attrNameLst>
                                          <p:attrName>style.visibility</p:attrName>
                                        </p:attrNameLst>
                                      </p:cBhvr>
                                      <p:to>
                                        <p:strVal val="visible"/>
                                      </p:to>
                                    </p:set>
                                    <p:animEffect transition="in" filter="wipe(left)">
                                      <p:cBhvr>
                                        <p:cTn id="17" dur="500"/>
                                        <p:tgtEl>
                                          <p:spTgt spid="235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9"/>
                                        </p:tgtEl>
                                        <p:attrNameLst>
                                          <p:attrName>style.visibility</p:attrName>
                                        </p:attrNameLst>
                                      </p:cBhvr>
                                      <p:to>
                                        <p:strVal val="visible"/>
                                      </p:to>
                                    </p:set>
                                    <p:animEffect transition="in" filter="wipe(left)">
                                      <p:cBhvr>
                                        <p:cTn id="22" dur="500"/>
                                        <p:tgtEl>
                                          <p:spTgt spid="235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63"/>
                                        </p:tgtEl>
                                        <p:attrNameLst>
                                          <p:attrName>style.visibility</p:attrName>
                                        </p:attrNameLst>
                                      </p:cBhvr>
                                      <p:to>
                                        <p:strVal val="visible"/>
                                      </p:to>
                                    </p:set>
                                    <p:animEffect transition="in" filter="wipe(left)">
                                      <p:cBhvr>
                                        <p:cTn id="27" dur="500"/>
                                        <p:tgtEl>
                                          <p:spTgt spid="235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564"/>
                                        </p:tgtEl>
                                        <p:attrNameLst>
                                          <p:attrName>style.visibility</p:attrName>
                                        </p:attrNameLst>
                                      </p:cBhvr>
                                      <p:to>
                                        <p:strVal val="visible"/>
                                      </p:to>
                                    </p:set>
                                    <p:animEffect transition="in" filter="wipe(left)">
                                      <p:cBhvr>
                                        <p:cTn id="32" dur="500"/>
                                        <p:tgtEl>
                                          <p:spTgt spid="235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62"/>
                                        </p:tgtEl>
                                        <p:attrNameLst>
                                          <p:attrName>style.visibility</p:attrName>
                                        </p:attrNameLst>
                                      </p:cBhvr>
                                      <p:to>
                                        <p:strVal val="visible"/>
                                      </p:to>
                                    </p:set>
                                    <p:animEffect transition="in" filter="wipe(left)">
                                      <p:cBhvr>
                                        <p:cTn id="37" dur="500"/>
                                        <p:tgtEl>
                                          <p:spTgt spid="235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560"/>
                                        </p:tgtEl>
                                        <p:attrNameLst>
                                          <p:attrName>style.visibility</p:attrName>
                                        </p:attrNameLst>
                                      </p:cBhvr>
                                      <p:to>
                                        <p:strVal val="visible"/>
                                      </p:to>
                                    </p:set>
                                    <p:animEffect transition="in" filter="wipe(left)">
                                      <p:cBhvr>
                                        <p:cTn id="42" dur="500"/>
                                        <p:tgtEl>
                                          <p:spTgt spid="23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23557" grpId="0" animBg="1"/>
      <p:bldP spid="23559" grpId="0"/>
      <p:bldP spid="23560" grpId="0" animBg="1"/>
      <p:bldP spid="23562" grpId="0" animBg="1"/>
      <p:bldP spid="23563" grpId="0"/>
      <p:bldP spid="2356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0C46BA1C-6980-49F8-B529-DEBD6861C390}" type="slidenum">
              <a:rPr lang="en-US" altLang="zh-CN" sz="1400" b="0">
                <a:latin typeface="Tahoma" panose="020B0604030504040204" pitchFamily="34" charset="0"/>
              </a:rPr>
              <a:pPr eaLnBrk="1" hangingPunct="1"/>
              <a:t>36</a:t>
            </a:fld>
            <a:endParaRPr lang="en-US" altLang="zh-CN" sz="1400" b="0">
              <a:latin typeface="Tahoma" panose="020B0604030504040204" pitchFamily="34" charset="0"/>
            </a:endParaRPr>
          </a:p>
        </p:txBody>
      </p:sp>
      <p:sp>
        <p:nvSpPr>
          <p:cNvPr id="24579" name="Rectangle 4"/>
          <p:cNvSpPr>
            <a:spLocks noGrp="1" noChangeArrowheads="1"/>
          </p:cNvSpPr>
          <p:nvPr>
            <p:ph type="title"/>
          </p:nvPr>
        </p:nvSpPr>
        <p:spPr>
          <a:xfrm>
            <a:off x="-36511" y="188913"/>
            <a:ext cx="4889500" cy="692150"/>
          </a:xfrm>
        </p:spPr>
        <p:txBody>
          <a:bodyPr/>
          <a:lstStyle/>
          <a:p>
            <a:pPr eaLnBrk="1" hangingPunct="1"/>
            <a:r>
              <a:rPr lang="en-US" altLang="zh-CN" dirty="0" smtClean="0">
                <a:solidFill>
                  <a:schemeClr val="tx1"/>
                </a:solidFill>
              </a:rPr>
              <a:t>4. </a:t>
            </a:r>
            <a:r>
              <a:rPr lang="zh-CN" altLang="en-US" dirty="0" smtClean="0">
                <a:solidFill>
                  <a:schemeClr val="tx1"/>
                </a:solidFill>
              </a:rPr>
              <a:t>底层模块和门原语调用</a:t>
            </a:r>
          </a:p>
        </p:txBody>
      </p:sp>
      <p:sp>
        <p:nvSpPr>
          <p:cNvPr id="24580" name="Text Box 5"/>
          <p:cNvSpPr txBox="1">
            <a:spLocks noChangeArrowheads="1"/>
          </p:cNvSpPr>
          <p:nvPr/>
        </p:nvSpPr>
        <p:spPr bwMode="auto">
          <a:xfrm>
            <a:off x="369888" y="1162050"/>
            <a:ext cx="3554412"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端口映射有两种方法：</a:t>
            </a:r>
          </a:p>
          <a:p>
            <a:pPr eaLnBrk="1" hangingPunct="1"/>
            <a:r>
              <a:rPr lang="zh-CN" altLang="en-US">
                <a:solidFill>
                  <a:schemeClr val="tx2"/>
                </a:solidFill>
                <a:ea typeface="黑体" panose="02010609060101010101" pitchFamily="49" charset="-122"/>
              </a:rPr>
              <a:t>端口名关联法（命名法）</a:t>
            </a:r>
            <a:endParaRPr lang="zh-CN" altLang="en-US">
              <a:ea typeface="黑体" panose="02010609060101010101" pitchFamily="49" charset="-122"/>
            </a:endParaRPr>
          </a:p>
          <a:p>
            <a:pPr eaLnBrk="1" hangingPunct="1"/>
            <a:r>
              <a:rPr lang="zh-CN" altLang="en-US">
                <a:solidFill>
                  <a:schemeClr val="tx2"/>
                </a:solidFill>
                <a:ea typeface="黑体" panose="02010609060101010101" pitchFamily="49" charset="-122"/>
              </a:rPr>
              <a:t>位置关联法（顺序法）</a:t>
            </a:r>
          </a:p>
        </p:txBody>
      </p:sp>
      <p:sp>
        <p:nvSpPr>
          <p:cNvPr id="24581" name="Text Box 6"/>
          <p:cNvSpPr txBox="1">
            <a:spLocks noChangeArrowheads="1"/>
          </p:cNvSpPr>
          <p:nvPr/>
        </p:nvSpPr>
        <p:spPr bwMode="auto">
          <a:xfrm>
            <a:off x="317500" y="24320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hlink"/>
                </a:solidFill>
                <a:ea typeface="黑体" panose="02010609060101010101" pitchFamily="49" charset="-122"/>
              </a:rPr>
              <a:t>命名法格式：</a:t>
            </a:r>
          </a:p>
        </p:txBody>
      </p:sp>
      <p:sp>
        <p:nvSpPr>
          <p:cNvPr id="24582" name="Text Box 7"/>
          <p:cNvSpPr txBox="1">
            <a:spLocks noChangeArrowheads="1"/>
          </p:cNvSpPr>
          <p:nvPr/>
        </p:nvSpPr>
        <p:spPr bwMode="auto">
          <a:xfrm>
            <a:off x="323850" y="3008313"/>
            <a:ext cx="7483475"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a:t>
            </a:r>
            <a:r>
              <a:rPr lang="zh-CN" altLang="en-US" sz="2000">
                <a:ea typeface="黑体" panose="02010609060101010101" pitchFamily="49" charset="-122"/>
              </a:rPr>
              <a:t>底层端口名</a:t>
            </a:r>
            <a:r>
              <a:rPr lang="en-US" altLang="zh-CN" sz="2000">
                <a:ea typeface="黑体" panose="02010609060101010101" pitchFamily="49" charset="-122"/>
              </a:rPr>
              <a:t>1(</a:t>
            </a:r>
            <a:r>
              <a:rPr lang="zh-CN" altLang="en-US" sz="2000">
                <a:ea typeface="黑体" panose="02010609060101010101" pitchFamily="49" charset="-122"/>
              </a:rPr>
              <a:t>外接信号名</a:t>
            </a:r>
            <a:r>
              <a:rPr lang="en-US" altLang="zh-CN" sz="2000">
                <a:ea typeface="黑体" panose="02010609060101010101" pitchFamily="49" charset="-122"/>
              </a:rPr>
              <a:t>1),.</a:t>
            </a:r>
            <a:r>
              <a:rPr lang="zh-CN" altLang="en-US" sz="2000">
                <a:ea typeface="黑体" panose="02010609060101010101" pitchFamily="49" charset="-122"/>
              </a:rPr>
              <a:t>底层端口名</a:t>
            </a:r>
            <a:r>
              <a:rPr lang="en-US" altLang="zh-CN" sz="2000">
                <a:ea typeface="黑体" panose="02010609060101010101" pitchFamily="49" charset="-122"/>
              </a:rPr>
              <a:t>2(</a:t>
            </a:r>
            <a:r>
              <a:rPr lang="zh-CN" altLang="en-US" sz="2000">
                <a:ea typeface="黑体" panose="02010609060101010101" pitchFamily="49" charset="-122"/>
              </a:rPr>
              <a:t>外接信号名</a:t>
            </a:r>
            <a:r>
              <a:rPr lang="en-US" altLang="zh-CN" sz="2000">
                <a:ea typeface="黑体" panose="02010609060101010101" pitchFamily="49" charset="-122"/>
              </a:rPr>
              <a:t>2),…)</a:t>
            </a:r>
          </a:p>
        </p:txBody>
      </p:sp>
      <p:sp>
        <p:nvSpPr>
          <p:cNvPr id="24583" name="Text Box 8"/>
          <p:cNvSpPr txBox="1">
            <a:spLocks noChangeArrowheads="1"/>
          </p:cNvSpPr>
          <p:nvPr/>
        </p:nvSpPr>
        <p:spPr bwMode="auto">
          <a:xfrm>
            <a:off x="323850" y="4748213"/>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hlink"/>
                </a:solidFill>
                <a:ea typeface="黑体" panose="02010609060101010101" pitchFamily="49" charset="-122"/>
              </a:rPr>
              <a:t>顺序法格式：</a:t>
            </a:r>
          </a:p>
        </p:txBody>
      </p:sp>
      <p:sp>
        <p:nvSpPr>
          <p:cNvPr id="24584" name="Text Box 9"/>
          <p:cNvSpPr txBox="1">
            <a:spLocks noChangeArrowheads="1"/>
          </p:cNvSpPr>
          <p:nvPr/>
        </p:nvSpPr>
        <p:spPr bwMode="auto">
          <a:xfrm>
            <a:off x="395288" y="5259388"/>
            <a:ext cx="3829050" cy="396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a:t>
            </a:r>
            <a:r>
              <a:rPr lang="zh-CN" altLang="en-US" sz="2000">
                <a:ea typeface="黑体" panose="02010609060101010101" pitchFamily="49" charset="-122"/>
              </a:rPr>
              <a:t>外接信号名</a:t>
            </a:r>
            <a:r>
              <a:rPr lang="en-US" altLang="zh-CN" sz="2000">
                <a:ea typeface="黑体" panose="02010609060101010101" pitchFamily="49" charset="-122"/>
              </a:rPr>
              <a:t>1,</a:t>
            </a:r>
            <a:r>
              <a:rPr lang="zh-CN" altLang="en-US" sz="2000">
                <a:ea typeface="黑体" panose="02010609060101010101" pitchFamily="49" charset="-122"/>
              </a:rPr>
              <a:t>外接信号名</a:t>
            </a:r>
            <a:r>
              <a:rPr lang="en-US" altLang="zh-CN" sz="2000">
                <a:ea typeface="黑体" panose="02010609060101010101" pitchFamily="49" charset="-122"/>
              </a:rPr>
              <a:t>2,…)</a:t>
            </a:r>
          </a:p>
        </p:txBody>
      </p:sp>
      <p:sp>
        <p:nvSpPr>
          <p:cNvPr id="24585" name="Text Box 10"/>
          <p:cNvSpPr txBox="1">
            <a:spLocks noChangeArrowheads="1"/>
          </p:cNvSpPr>
          <p:nvPr/>
        </p:nvSpPr>
        <p:spPr bwMode="auto">
          <a:xfrm>
            <a:off x="323850" y="6284913"/>
            <a:ext cx="6681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必须严格按照底层模块的端口信号列表顺序书写</a:t>
            </a:r>
          </a:p>
        </p:txBody>
      </p:sp>
      <p:sp>
        <p:nvSpPr>
          <p:cNvPr id="24586" name="Text Box 11"/>
          <p:cNvSpPr txBox="1">
            <a:spLocks noChangeArrowheads="1"/>
          </p:cNvSpPr>
          <p:nvPr/>
        </p:nvSpPr>
        <p:spPr bwMode="auto">
          <a:xfrm>
            <a:off x="323850" y="4124325"/>
            <a:ext cx="753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因为有名字对应，不必按底层模块的端口信号列表顺序</a:t>
            </a:r>
          </a:p>
        </p:txBody>
      </p:sp>
      <p:grpSp>
        <p:nvGrpSpPr>
          <p:cNvPr id="2" name="Group 57"/>
          <p:cNvGrpSpPr>
            <a:grpSpLocks/>
          </p:cNvGrpSpPr>
          <p:nvPr/>
        </p:nvGrpSpPr>
        <p:grpSpPr bwMode="auto">
          <a:xfrm>
            <a:off x="4611688" y="476250"/>
            <a:ext cx="4532312" cy="2016125"/>
            <a:chOff x="2905" y="300"/>
            <a:chExt cx="2855" cy="1270"/>
          </a:xfrm>
        </p:grpSpPr>
        <p:sp>
          <p:nvSpPr>
            <p:cNvPr id="24604" name="Rectangle 55"/>
            <p:cNvSpPr>
              <a:spLocks noChangeArrowheads="1"/>
            </p:cNvSpPr>
            <p:nvPr/>
          </p:nvSpPr>
          <p:spPr bwMode="auto">
            <a:xfrm>
              <a:off x="2925" y="300"/>
              <a:ext cx="2835" cy="1270"/>
            </a:xfrm>
            <a:prstGeom prst="rect">
              <a:avLst/>
            </a:prstGeom>
            <a:solidFill>
              <a:srgbClr val="FFFF66"/>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grpSp>
          <p:nvGrpSpPr>
            <p:cNvPr id="24605" name="Group 12"/>
            <p:cNvGrpSpPr>
              <a:grpSpLocks/>
            </p:cNvGrpSpPr>
            <p:nvPr/>
          </p:nvGrpSpPr>
          <p:grpSpPr bwMode="auto">
            <a:xfrm>
              <a:off x="2905" y="391"/>
              <a:ext cx="2855" cy="1086"/>
              <a:chOff x="2883" y="709"/>
              <a:chExt cx="2855" cy="1086"/>
            </a:xfrm>
          </p:grpSpPr>
          <p:grpSp>
            <p:nvGrpSpPr>
              <p:cNvPr id="24606" name="Group 13"/>
              <p:cNvGrpSpPr>
                <a:grpSpLocks/>
              </p:cNvGrpSpPr>
              <p:nvPr/>
            </p:nvGrpSpPr>
            <p:grpSpPr bwMode="auto">
              <a:xfrm>
                <a:off x="2883" y="709"/>
                <a:ext cx="2855" cy="1086"/>
                <a:chOff x="2883" y="709"/>
                <a:chExt cx="2855" cy="1086"/>
              </a:xfrm>
            </p:grpSpPr>
            <p:grpSp>
              <p:nvGrpSpPr>
                <p:cNvPr id="24609" name="Group 14"/>
                <p:cNvGrpSpPr>
                  <a:grpSpLocks/>
                </p:cNvGrpSpPr>
                <p:nvPr/>
              </p:nvGrpSpPr>
              <p:grpSpPr bwMode="auto">
                <a:xfrm>
                  <a:off x="2883" y="709"/>
                  <a:ext cx="2855" cy="1086"/>
                  <a:chOff x="2744" y="300"/>
                  <a:chExt cx="2855" cy="1086"/>
                </a:xfrm>
              </p:grpSpPr>
              <p:grpSp>
                <p:nvGrpSpPr>
                  <p:cNvPr id="24612" name="Group 15"/>
                  <p:cNvGrpSpPr>
                    <a:grpSpLocks/>
                  </p:cNvGrpSpPr>
                  <p:nvPr/>
                </p:nvGrpSpPr>
                <p:grpSpPr bwMode="auto">
                  <a:xfrm>
                    <a:off x="2744" y="300"/>
                    <a:ext cx="2855" cy="1086"/>
                    <a:chOff x="2735" y="2435"/>
                    <a:chExt cx="2855" cy="1086"/>
                  </a:xfrm>
                </p:grpSpPr>
                <p:pic>
                  <p:nvPicPr>
                    <p:cNvPr id="24615" name="Picture 16"/>
                    <p:cNvPicPr>
                      <a:picLocks noChangeAspect="1" noChangeArrowheads="1"/>
                    </p:cNvPicPr>
                    <p:nvPr/>
                  </p:nvPicPr>
                  <p:blipFill>
                    <a:blip r:embed="rId3">
                      <a:extLst>
                        <a:ext uri="{28A0092B-C50C-407E-A947-70E740481C1C}">
                          <a14:useLocalDpi xmlns:a14="http://schemas.microsoft.com/office/drawing/2010/main" val="0"/>
                        </a:ext>
                      </a:extLst>
                    </a:blip>
                    <a:srcRect l="67137" t="7483" r="24120" b="75128"/>
                    <a:stretch>
                      <a:fillRect/>
                    </a:stretch>
                  </p:blipFill>
                  <p:spPr bwMode="auto">
                    <a:xfrm>
                      <a:off x="3878" y="2750"/>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4616" name="Picture 17"/>
                    <p:cNvPicPr>
                      <a:picLocks noChangeAspect="1" noChangeArrowheads="1"/>
                    </p:cNvPicPr>
                    <p:nvPr/>
                  </p:nvPicPr>
                  <p:blipFill>
                    <a:blip r:embed="rId3">
                      <a:extLst>
                        <a:ext uri="{28A0092B-C50C-407E-A947-70E740481C1C}">
                          <a14:useLocalDpi xmlns:a14="http://schemas.microsoft.com/office/drawing/2010/main" val="0"/>
                        </a:ext>
                      </a:extLst>
                    </a:blip>
                    <a:srcRect l="67137" t="7483" r="24120" b="75128"/>
                    <a:stretch>
                      <a:fillRect/>
                    </a:stretch>
                  </p:blipFill>
                  <p:spPr bwMode="auto">
                    <a:xfrm>
                      <a:off x="4604" y="2478"/>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4617" name="Line 18"/>
                    <p:cNvSpPr>
                      <a:spLocks noChangeShapeType="1"/>
                    </p:cNvSpPr>
                    <p:nvPr/>
                  </p:nvSpPr>
                  <p:spPr bwMode="auto">
                    <a:xfrm>
                      <a:off x="4286" y="2840"/>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618" name="Picture 19"/>
                    <p:cNvPicPr>
                      <a:picLocks noChangeAspect="1" noChangeArrowheads="1"/>
                    </p:cNvPicPr>
                    <p:nvPr/>
                  </p:nvPicPr>
                  <p:blipFill>
                    <a:blip r:embed="rId3">
                      <a:extLst>
                        <a:ext uri="{28A0092B-C50C-407E-A947-70E740481C1C}">
                          <a14:useLocalDpi xmlns:a14="http://schemas.microsoft.com/office/drawing/2010/main" val="0"/>
                        </a:ext>
                      </a:extLst>
                    </a:blip>
                    <a:srcRect l="23395" t="22180" r="63803" b="59242"/>
                    <a:stretch>
                      <a:fillRect/>
                    </a:stretch>
                  </p:blipFill>
                  <p:spPr bwMode="auto">
                    <a:xfrm>
                      <a:off x="3234" y="2659"/>
                      <a:ext cx="544"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19" name="Line 20"/>
                    <p:cNvSpPr>
                      <a:spLocks noChangeShapeType="1"/>
                    </p:cNvSpPr>
                    <p:nvPr/>
                  </p:nvSpPr>
                  <p:spPr bwMode="auto">
                    <a:xfrm>
                      <a:off x="3651" y="2831"/>
                      <a:ext cx="22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0" name="Line 21"/>
                    <p:cNvSpPr>
                      <a:spLocks noChangeShapeType="1"/>
                    </p:cNvSpPr>
                    <p:nvPr/>
                  </p:nvSpPr>
                  <p:spPr bwMode="auto">
                    <a:xfrm flipH="1">
                      <a:off x="3061" y="3113"/>
                      <a:ext cx="81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1" name="Line 22"/>
                    <p:cNvSpPr>
                      <a:spLocks noChangeShapeType="1"/>
                    </p:cNvSpPr>
                    <p:nvPr/>
                  </p:nvSpPr>
                  <p:spPr bwMode="auto">
                    <a:xfrm flipH="1">
                      <a:off x="3107" y="2568"/>
                      <a:ext cx="149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2" name="Line 23"/>
                    <p:cNvSpPr>
                      <a:spLocks noChangeShapeType="1"/>
                    </p:cNvSpPr>
                    <p:nvPr/>
                  </p:nvSpPr>
                  <p:spPr bwMode="auto">
                    <a:xfrm>
                      <a:off x="5012" y="2568"/>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3" name="Freeform 24"/>
                    <p:cNvSpPr>
                      <a:spLocks/>
                    </p:cNvSpPr>
                    <p:nvPr/>
                  </p:nvSpPr>
                  <p:spPr bwMode="auto">
                    <a:xfrm>
                      <a:off x="3237" y="2568"/>
                      <a:ext cx="1956" cy="953"/>
                    </a:xfrm>
                    <a:custGeom>
                      <a:avLst/>
                      <a:gdLst>
                        <a:gd name="T0" fmla="*/ 1956 w 1956"/>
                        <a:gd name="T1" fmla="*/ 0 h 953"/>
                        <a:gd name="T2" fmla="*/ 1956 w 1956"/>
                        <a:gd name="T3" fmla="*/ 953 h 953"/>
                        <a:gd name="T4" fmla="*/ 6 w 1956"/>
                        <a:gd name="T5" fmla="*/ 953 h 953"/>
                        <a:gd name="T6" fmla="*/ 0 w 1956"/>
                        <a:gd name="T7" fmla="*/ 184 h 953"/>
                        <a:gd name="T8" fmla="*/ 0 60000 65536"/>
                        <a:gd name="T9" fmla="*/ 0 60000 65536"/>
                        <a:gd name="T10" fmla="*/ 0 60000 65536"/>
                        <a:gd name="T11" fmla="*/ 0 60000 65536"/>
                        <a:gd name="T12" fmla="*/ 0 w 1956"/>
                        <a:gd name="T13" fmla="*/ 0 h 953"/>
                        <a:gd name="T14" fmla="*/ 1956 w 1956"/>
                        <a:gd name="T15" fmla="*/ 953 h 953"/>
                      </a:gdLst>
                      <a:ahLst/>
                      <a:cxnLst>
                        <a:cxn ang="T8">
                          <a:pos x="T0" y="T1"/>
                        </a:cxn>
                        <a:cxn ang="T9">
                          <a:pos x="T2" y="T3"/>
                        </a:cxn>
                        <a:cxn ang="T10">
                          <a:pos x="T4" y="T5"/>
                        </a:cxn>
                        <a:cxn ang="T11">
                          <a:pos x="T6" y="T7"/>
                        </a:cxn>
                      </a:cxnLst>
                      <a:rect l="T12" t="T13" r="T14" b="T15"/>
                      <a:pathLst>
                        <a:path w="1956" h="953">
                          <a:moveTo>
                            <a:pt x="1956" y="0"/>
                          </a:moveTo>
                          <a:lnTo>
                            <a:pt x="1956" y="953"/>
                          </a:lnTo>
                          <a:lnTo>
                            <a:pt x="6" y="953"/>
                          </a:lnTo>
                          <a:lnTo>
                            <a:pt x="0" y="184"/>
                          </a:ln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4624" name="Line 25"/>
                    <p:cNvSpPr>
                      <a:spLocks noChangeShapeType="1"/>
                    </p:cNvSpPr>
                    <p:nvPr/>
                  </p:nvSpPr>
                  <p:spPr bwMode="auto">
                    <a:xfrm>
                      <a:off x="3079" y="2904"/>
                      <a:ext cx="27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5" name="Oval 26"/>
                    <p:cNvSpPr>
                      <a:spLocks noChangeArrowheads="1"/>
                    </p:cNvSpPr>
                    <p:nvPr/>
                  </p:nvSpPr>
                  <p:spPr bwMode="auto">
                    <a:xfrm>
                      <a:off x="5175" y="2550"/>
                      <a:ext cx="45" cy="45"/>
                    </a:xfrm>
                    <a:prstGeom prst="ellipse">
                      <a:avLst/>
                    </a:prstGeom>
                    <a:solidFill>
                      <a:schemeClr val="tx1"/>
                    </a:solidFill>
                    <a:ln w="9525">
                      <a:solidFill>
                        <a:schemeClr val="tx1"/>
                      </a:solidFill>
                      <a:round/>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4626" name="Text Box 27"/>
                    <p:cNvSpPr txBox="1">
                      <a:spLocks noChangeArrowheads="1"/>
                    </p:cNvSpPr>
                    <p:nvPr/>
                  </p:nvSpPr>
                  <p:spPr bwMode="auto">
                    <a:xfrm>
                      <a:off x="2832" y="2448"/>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d</a:t>
                      </a:r>
                    </a:p>
                  </p:txBody>
                </p:sp>
                <p:sp>
                  <p:nvSpPr>
                    <p:cNvPr id="24627" name="Text Box 28"/>
                    <p:cNvSpPr txBox="1">
                      <a:spLocks noChangeArrowheads="1"/>
                    </p:cNvSpPr>
                    <p:nvPr/>
                  </p:nvSpPr>
                  <p:spPr bwMode="auto">
                    <a:xfrm>
                      <a:off x="2835" y="273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a</a:t>
                      </a:r>
                    </a:p>
                  </p:txBody>
                </p:sp>
                <p:sp>
                  <p:nvSpPr>
                    <p:cNvPr id="24628" name="Text Box 29"/>
                    <p:cNvSpPr txBox="1">
                      <a:spLocks noChangeArrowheads="1"/>
                    </p:cNvSpPr>
                    <p:nvPr/>
                  </p:nvSpPr>
                  <p:spPr bwMode="auto">
                    <a:xfrm>
                      <a:off x="2735" y="2976"/>
                      <a:ext cx="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clk</a:t>
                      </a:r>
                    </a:p>
                  </p:txBody>
                </p:sp>
                <p:sp>
                  <p:nvSpPr>
                    <p:cNvPr id="24629" name="Text Box 30"/>
                    <p:cNvSpPr txBox="1">
                      <a:spLocks noChangeArrowheads="1"/>
                    </p:cNvSpPr>
                    <p:nvPr/>
                  </p:nvSpPr>
                  <p:spPr bwMode="auto">
                    <a:xfrm>
                      <a:off x="5362" y="2435"/>
                      <a:ext cx="2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q</a:t>
                      </a:r>
                    </a:p>
                  </p:txBody>
                </p:sp>
                <p:sp>
                  <p:nvSpPr>
                    <p:cNvPr id="24630" name="Text Box 31"/>
                    <p:cNvSpPr txBox="1">
                      <a:spLocks noChangeArrowheads="1"/>
                    </p:cNvSpPr>
                    <p:nvPr/>
                  </p:nvSpPr>
                  <p:spPr bwMode="auto">
                    <a:xfrm>
                      <a:off x="4658" y="2714"/>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4631" name="Text Box 32"/>
                    <p:cNvSpPr txBox="1">
                      <a:spLocks noChangeArrowheads="1"/>
                    </p:cNvSpPr>
                    <p:nvPr/>
                  </p:nvSpPr>
                  <p:spPr bwMode="auto">
                    <a:xfrm>
                      <a:off x="3932" y="2985"/>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grpSp>
              <p:sp>
                <p:nvSpPr>
                  <p:cNvPr id="24613" name="Text Box 33"/>
                  <p:cNvSpPr txBox="1">
                    <a:spLocks noChangeArrowheads="1"/>
                  </p:cNvSpPr>
                  <p:nvPr/>
                </p:nvSpPr>
                <p:spPr bwMode="auto">
                  <a:xfrm>
                    <a:off x="4286" y="459"/>
                    <a:ext cx="3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chemeClr val="hlink"/>
                        </a:solidFill>
                        <a:ea typeface="黑体" panose="02010609060101010101" pitchFamily="49" charset="-122"/>
                      </a:rPr>
                      <a:t>q1</a:t>
                    </a:r>
                  </a:p>
                </p:txBody>
              </p:sp>
              <p:sp>
                <p:nvSpPr>
                  <p:cNvPr id="24614" name="Text Box 34"/>
                  <p:cNvSpPr txBox="1">
                    <a:spLocks noChangeArrowheads="1"/>
                  </p:cNvSpPr>
                  <p:nvPr/>
                </p:nvSpPr>
                <p:spPr bwMode="auto">
                  <a:xfrm>
                    <a:off x="3570" y="481"/>
                    <a:ext cx="3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solidFill>
                          <a:schemeClr val="hlink"/>
                        </a:solidFill>
                        <a:ea typeface="黑体" panose="02010609060101010101" pitchFamily="49" charset="-122"/>
                      </a:rPr>
                      <a:t>d1</a:t>
                    </a:r>
                  </a:p>
                </p:txBody>
              </p:sp>
            </p:grpSp>
            <p:sp>
              <p:nvSpPr>
                <p:cNvPr id="24610" name="Rectangle 35"/>
                <p:cNvSpPr>
                  <a:spLocks noChangeArrowheads="1"/>
                </p:cNvSpPr>
                <p:nvPr/>
              </p:nvSpPr>
              <p:spPr bwMode="auto">
                <a:xfrm>
                  <a:off x="4068" y="1135"/>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sp>
              <p:nvSpPr>
                <p:cNvPr id="24611" name="Rectangle 36"/>
                <p:cNvSpPr>
                  <a:spLocks noChangeArrowheads="1"/>
                </p:cNvSpPr>
                <p:nvPr/>
              </p:nvSpPr>
              <p:spPr bwMode="auto">
                <a:xfrm>
                  <a:off x="4794" y="872"/>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grpSp>
          <p:sp>
            <p:nvSpPr>
              <p:cNvPr id="24607" name="Rectangle 37"/>
              <p:cNvSpPr>
                <a:spLocks noChangeArrowheads="1"/>
              </p:cNvSpPr>
              <p:nvPr/>
            </p:nvSpPr>
            <p:spPr bwMode="auto">
              <a:xfrm>
                <a:off x="4014" y="1539"/>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600">
                    <a:solidFill>
                      <a:schemeClr val="folHlink"/>
                    </a:solidFill>
                    <a:ea typeface="黑体" panose="02010609060101010101" pitchFamily="49" charset="-122"/>
                  </a:rPr>
                  <a:t>dff1</a:t>
                </a:r>
              </a:p>
            </p:txBody>
          </p:sp>
          <p:sp>
            <p:nvSpPr>
              <p:cNvPr id="24608" name="Rectangle 38"/>
              <p:cNvSpPr>
                <a:spLocks noChangeArrowheads="1"/>
              </p:cNvSpPr>
              <p:nvPr/>
            </p:nvSpPr>
            <p:spPr bwMode="auto">
              <a:xfrm>
                <a:off x="4740" y="1268"/>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600">
                    <a:solidFill>
                      <a:schemeClr val="folHlink"/>
                    </a:solidFill>
                    <a:ea typeface="黑体" panose="02010609060101010101" pitchFamily="49" charset="-122"/>
                  </a:rPr>
                  <a:t>dff2</a:t>
                </a:r>
              </a:p>
            </p:txBody>
          </p:sp>
        </p:grpSp>
      </p:grpSp>
      <p:grpSp>
        <p:nvGrpSpPr>
          <p:cNvPr id="7" name="Group 58"/>
          <p:cNvGrpSpPr>
            <a:grpSpLocks/>
          </p:cNvGrpSpPr>
          <p:nvPr/>
        </p:nvGrpSpPr>
        <p:grpSpPr bwMode="auto">
          <a:xfrm>
            <a:off x="5292725" y="4629150"/>
            <a:ext cx="3527425" cy="1727200"/>
            <a:chOff x="3334" y="2614"/>
            <a:chExt cx="2222" cy="1088"/>
          </a:xfrm>
        </p:grpSpPr>
        <p:sp>
          <p:nvSpPr>
            <p:cNvPr id="24591" name="Rectangle 56"/>
            <p:cNvSpPr>
              <a:spLocks noChangeArrowheads="1"/>
            </p:cNvSpPr>
            <p:nvPr/>
          </p:nvSpPr>
          <p:spPr bwMode="auto">
            <a:xfrm>
              <a:off x="3334" y="2614"/>
              <a:ext cx="2222" cy="1088"/>
            </a:xfrm>
            <a:prstGeom prst="rect">
              <a:avLst/>
            </a:prstGeom>
            <a:solidFill>
              <a:srgbClr val="FFFF66"/>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24592" name="Text Box 39"/>
            <p:cNvSpPr txBox="1">
              <a:spLocks noChangeArrowheads="1"/>
            </p:cNvSpPr>
            <p:nvPr/>
          </p:nvSpPr>
          <p:spPr bwMode="auto">
            <a:xfrm>
              <a:off x="3379" y="3339"/>
              <a:ext cx="2096" cy="268"/>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module DFF(CLK,D,Q)</a:t>
              </a:r>
            </a:p>
          </p:txBody>
        </p:sp>
        <p:grpSp>
          <p:nvGrpSpPr>
            <p:cNvPr id="24593" name="Group 40"/>
            <p:cNvGrpSpPr>
              <a:grpSpLocks/>
            </p:cNvGrpSpPr>
            <p:nvPr/>
          </p:nvGrpSpPr>
          <p:grpSpPr bwMode="auto">
            <a:xfrm>
              <a:off x="3606" y="2704"/>
              <a:ext cx="1582" cy="505"/>
              <a:chOff x="3696" y="1933"/>
              <a:chExt cx="1582" cy="505"/>
            </a:xfrm>
          </p:grpSpPr>
          <p:grpSp>
            <p:nvGrpSpPr>
              <p:cNvPr id="24594" name="Group 41"/>
              <p:cNvGrpSpPr>
                <a:grpSpLocks/>
              </p:cNvGrpSpPr>
              <p:nvPr/>
            </p:nvGrpSpPr>
            <p:grpSpPr bwMode="auto">
              <a:xfrm>
                <a:off x="3696" y="1933"/>
                <a:ext cx="1582" cy="505"/>
                <a:chOff x="4148" y="2475"/>
                <a:chExt cx="1582" cy="505"/>
              </a:xfrm>
            </p:grpSpPr>
            <p:pic>
              <p:nvPicPr>
                <p:cNvPr id="24596" name="Picture 42"/>
                <p:cNvPicPr>
                  <a:picLocks noChangeAspect="1" noChangeArrowheads="1"/>
                </p:cNvPicPr>
                <p:nvPr/>
              </p:nvPicPr>
              <p:blipFill>
                <a:blip r:embed="rId3">
                  <a:extLst>
                    <a:ext uri="{28A0092B-C50C-407E-A947-70E740481C1C}">
                      <a14:useLocalDpi xmlns:a14="http://schemas.microsoft.com/office/drawing/2010/main" val="0"/>
                    </a:ext>
                  </a:extLst>
                </a:blip>
                <a:srcRect l="67137" t="7483" r="24120" b="75128"/>
                <a:stretch>
                  <a:fillRect/>
                </a:stretch>
              </p:blipFill>
              <p:spPr bwMode="auto">
                <a:xfrm>
                  <a:off x="4774" y="2475"/>
                  <a:ext cx="408" cy="5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4597" name="Line 43"/>
                <p:cNvSpPr>
                  <a:spLocks noChangeShapeType="1"/>
                </p:cNvSpPr>
                <p:nvPr/>
              </p:nvSpPr>
              <p:spPr bwMode="auto">
                <a:xfrm>
                  <a:off x="4456" y="2837"/>
                  <a:ext cx="31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8" name="Line 44"/>
                <p:cNvSpPr>
                  <a:spLocks noChangeShapeType="1"/>
                </p:cNvSpPr>
                <p:nvPr/>
              </p:nvSpPr>
              <p:spPr bwMode="auto">
                <a:xfrm flipH="1">
                  <a:off x="4468" y="2565"/>
                  <a:ext cx="30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9" name="Line 45"/>
                <p:cNvSpPr>
                  <a:spLocks noChangeShapeType="1"/>
                </p:cNvSpPr>
                <p:nvPr/>
              </p:nvSpPr>
              <p:spPr bwMode="auto">
                <a:xfrm>
                  <a:off x="5182" y="2565"/>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0" name="Text Box 46"/>
                <p:cNvSpPr txBox="1">
                  <a:spLocks noChangeArrowheads="1"/>
                </p:cNvSpPr>
                <p:nvPr/>
              </p:nvSpPr>
              <p:spPr bwMode="auto">
                <a:xfrm>
                  <a:off x="5532" y="2478"/>
                  <a:ext cx="1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Q</a:t>
                  </a:r>
                </a:p>
              </p:txBody>
            </p:sp>
            <p:sp>
              <p:nvSpPr>
                <p:cNvPr id="24601" name="Text Box 47"/>
                <p:cNvSpPr txBox="1">
                  <a:spLocks noChangeArrowheads="1"/>
                </p:cNvSpPr>
                <p:nvPr/>
              </p:nvSpPr>
              <p:spPr bwMode="auto">
                <a:xfrm>
                  <a:off x="4828" y="2711"/>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4602" name="Text Box 48"/>
                <p:cNvSpPr txBox="1">
                  <a:spLocks noChangeArrowheads="1"/>
                </p:cNvSpPr>
                <p:nvPr/>
              </p:nvSpPr>
              <p:spPr bwMode="auto">
                <a:xfrm>
                  <a:off x="4148" y="2750"/>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CLK</a:t>
                  </a:r>
                </a:p>
              </p:txBody>
            </p:sp>
            <p:sp>
              <p:nvSpPr>
                <p:cNvPr id="24603" name="Text Box 49"/>
                <p:cNvSpPr txBox="1">
                  <a:spLocks noChangeArrowheads="1"/>
                </p:cNvSpPr>
                <p:nvPr/>
              </p:nvSpPr>
              <p:spPr bwMode="auto">
                <a:xfrm>
                  <a:off x="4226" y="2478"/>
                  <a:ext cx="1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ea typeface="黑体" panose="02010609060101010101" pitchFamily="49" charset="-122"/>
                    </a:rPr>
                    <a:t>D</a:t>
                  </a:r>
                </a:p>
              </p:txBody>
            </p:sp>
          </p:grpSp>
          <p:sp>
            <p:nvSpPr>
              <p:cNvPr id="24595" name="Rectangle 50"/>
              <p:cNvSpPr>
                <a:spLocks noChangeArrowheads="1"/>
              </p:cNvSpPr>
              <p:nvPr/>
            </p:nvSpPr>
            <p:spPr bwMode="auto">
              <a:xfrm>
                <a:off x="4368" y="2051"/>
                <a:ext cx="3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1200">
                    <a:solidFill>
                      <a:schemeClr val="hlink"/>
                    </a:solidFill>
                    <a:ea typeface="黑体" panose="02010609060101010101" pitchFamily="49" charset="-122"/>
                  </a:rPr>
                  <a:t>DFF</a:t>
                </a:r>
              </a:p>
            </p:txBody>
          </p:sp>
        </p:grpSp>
      </p:grpSp>
      <p:sp>
        <p:nvSpPr>
          <p:cNvPr id="24589" name="Rectangle 52"/>
          <p:cNvSpPr>
            <a:spLocks noChangeArrowheads="1"/>
          </p:cNvSpPr>
          <p:nvPr/>
        </p:nvSpPr>
        <p:spPr bwMode="auto">
          <a:xfrm>
            <a:off x="323850" y="3549650"/>
            <a:ext cx="5175250" cy="4254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DFF dff1(.CLK(clk),.D(d1),.Q(q1));</a:t>
            </a:r>
          </a:p>
        </p:txBody>
      </p:sp>
      <p:sp>
        <p:nvSpPr>
          <p:cNvPr id="24590" name="Rectangle 54"/>
          <p:cNvSpPr>
            <a:spLocks noChangeArrowheads="1"/>
          </p:cNvSpPr>
          <p:nvPr/>
        </p:nvSpPr>
        <p:spPr bwMode="auto">
          <a:xfrm>
            <a:off x="395288" y="5781675"/>
            <a:ext cx="2692400" cy="425450"/>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ea typeface="黑体" panose="02010609060101010101" pitchFamily="49" charset="-122"/>
              </a:rPr>
              <a:t>DFF dff2(q1,d,q);</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wipe(left)">
                                      <p:cBhvr>
                                        <p:cTn id="12" dur="500"/>
                                        <p:tgtEl>
                                          <p:spTgt spid="24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wipe(left)">
                                      <p:cBhvr>
                                        <p:cTn id="17" dur="500"/>
                                        <p:tgtEl>
                                          <p:spTgt spid="245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89"/>
                                        </p:tgtEl>
                                        <p:attrNameLst>
                                          <p:attrName>style.visibility</p:attrName>
                                        </p:attrNameLst>
                                      </p:cBhvr>
                                      <p:to>
                                        <p:strVal val="visible"/>
                                      </p:to>
                                    </p:set>
                                    <p:animEffect transition="in" filter="wipe(left)">
                                      <p:cBhvr>
                                        <p:cTn id="27" dur="500"/>
                                        <p:tgtEl>
                                          <p:spTgt spid="245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86"/>
                                        </p:tgtEl>
                                        <p:attrNameLst>
                                          <p:attrName>style.visibility</p:attrName>
                                        </p:attrNameLst>
                                      </p:cBhvr>
                                      <p:to>
                                        <p:strVal val="visible"/>
                                      </p:to>
                                    </p:set>
                                    <p:animEffect transition="in" filter="wipe(left)">
                                      <p:cBhvr>
                                        <p:cTn id="32" dur="500"/>
                                        <p:tgtEl>
                                          <p:spTgt spid="245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83"/>
                                        </p:tgtEl>
                                        <p:attrNameLst>
                                          <p:attrName>style.visibility</p:attrName>
                                        </p:attrNameLst>
                                      </p:cBhvr>
                                      <p:to>
                                        <p:strVal val="visible"/>
                                      </p:to>
                                    </p:set>
                                    <p:animEffect transition="in" filter="wipe(left)">
                                      <p:cBhvr>
                                        <p:cTn id="37" dur="500"/>
                                        <p:tgtEl>
                                          <p:spTgt spid="245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584"/>
                                        </p:tgtEl>
                                        <p:attrNameLst>
                                          <p:attrName>style.visibility</p:attrName>
                                        </p:attrNameLst>
                                      </p:cBhvr>
                                      <p:to>
                                        <p:strVal val="visible"/>
                                      </p:to>
                                    </p:set>
                                    <p:animEffect transition="in" filter="wipe(left)">
                                      <p:cBhvr>
                                        <p:cTn id="42" dur="500"/>
                                        <p:tgtEl>
                                          <p:spTgt spid="2458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590"/>
                                        </p:tgtEl>
                                        <p:attrNameLst>
                                          <p:attrName>style.visibility</p:attrName>
                                        </p:attrNameLst>
                                      </p:cBhvr>
                                      <p:to>
                                        <p:strVal val="visible"/>
                                      </p:to>
                                    </p:set>
                                    <p:animEffect transition="in" filter="wipe(left)">
                                      <p:cBhvr>
                                        <p:cTn id="52" dur="500"/>
                                        <p:tgtEl>
                                          <p:spTgt spid="2459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85"/>
                                        </p:tgtEl>
                                        <p:attrNameLst>
                                          <p:attrName>style.visibility</p:attrName>
                                        </p:attrNameLst>
                                      </p:cBhvr>
                                      <p:to>
                                        <p:strVal val="visible"/>
                                      </p:to>
                                    </p:set>
                                    <p:animEffect transition="in" filter="wipe(left)">
                                      <p:cBhvr>
                                        <p:cTn id="57"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24581" grpId="0"/>
      <p:bldP spid="24582" grpId="0" animBg="1"/>
      <p:bldP spid="24583" grpId="0"/>
      <p:bldP spid="24584" grpId="0" animBg="1"/>
      <p:bldP spid="24585" grpId="0"/>
      <p:bldP spid="24586" grpId="0"/>
      <p:bldP spid="24589" grpId="0" animBg="1"/>
      <p:bldP spid="2459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92"/>
          <p:cNvSpPr>
            <a:spLocks noGrp="1" noChangeArrowheads="1"/>
          </p:cNvSpPr>
          <p:nvPr>
            <p:ph type="title"/>
          </p:nvPr>
        </p:nvSpPr>
        <p:spPr/>
        <p:txBody>
          <a:bodyPr/>
          <a:lstStyle/>
          <a:p>
            <a:pPr eaLnBrk="1" hangingPunct="1"/>
            <a:r>
              <a:rPr lang="en-US" altLang="zh-CN" dirty="0" smtClean="0">
                <a:solidFill>
                  <a:schemeClr val="tx1"/>
                </a:solidFill>
              </a:rPr>
              <a:t>4. </a:t>
            </a:r>
            <a:r>
              <a:rPr lang="zh-CN" altLang="en-US" dirty="0" smtClean="0">
                <a:solidFill>
                  <a:schemeClr val="tx1"/>
                </a:solidFill>
              </a:rPr>
              <a:t>底层模块和门原语调用</a:t>
            </a:r>
          </a:p>
        </p:txBody>
      </p:sp>
      <p:sp>
        <p:nvSpPr>
          <p:cNvPr id="25604" name="Text Box 5"/>
          <p:cNvSpPr txBox="1">
            <a:spLocks noChangeArrowheads="1"/>
          </p:cNvSpPr>
          <p:nvPr/>
        </p:nvSpPr>
        <p:spPr bwMode="auto">
          <a:xfrm>
            <a:off x="323850" y="1052736"/>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smtClean="0">
                <a:solidFill>
                  <a:schemeClr val="tx2"/>
                </a:solidFill>
                <a:ea typeface="黑体" panose="02010609060101010101" pitchFamily="49" charset="-122"/>
              </a:rPr>
              <a:t>二、门</a:t>
            </a:r>
            <a:r>
              <a:rPr lang="zh-CN" altLang="en-US" dirty="0">
                <a:solidFill>
                  <a:schemeClr val="tx2"/>
                </a:solidFill>
                <a:ea typeface="黑体" panose="02010609060101010101" pitchFamily="49" charset="-122"/>
              </a:rPr>
              <a:t>原语调</a:t>
            </a:r>
            <a:r>
              <a:rPr lang="zh-CN" altLang="en-US" dirty="0" smtClean="0">
                <a:solidFill>
                  <a:schemeClr val="tx2"/>
                </a:solidFill>
                <a:ea typeface="黑体" panose="02010609060101010101" pitchFamily="49" charset="-122"/>
              </a:rPr>
              <a:t>用</a:t>
            </a:r>
            <a:endParaRPr lang="zh-CN" altLang="en-US" dirty="0">
              <a:solidFill>
                <a:schemeClr val="tx2"/>
              </a:solidFill>
              <a:ea typeface="黑体" panose="02010609060101010101" pitchFamily="49" charset="-122"/>
            </a:endParaRPr>
          </a:p>
        </p:txBody>
      </p:sp>
      <p:sp>
        <p:nvSpPr>
          <p:cNvPr id="48" name="Text Box 12"/>
          <p:cNvSpPr txBox="1">
            <a:spLocks noChangeArrowheads="1"/>
          </p:cNvSpPr>
          <p:nvPr/>
        </p:nvSpPr>
        <p:spPr bwMode="auto">
          <a:xfrm>
            <a:off x="3135313" y="2685304"/>
            <a:ext cx="4419600" cy="485775"/>
          </a:xfrm>
          <a:prstGeom prst="rect">
            <a:avLst/>
          </a:prstGeom>
          <a:solidFill>
            <a:srgbClr val="CCECFF"/>
          </a:solidFill>
          <a:ln w="28575" algn="ctr">
            <a:solidFill>
              <a:srgbClr val="990033"/>
            </a:solidFill>
            <a:miter lim="800000"/>
            <a:headEnd/>
            <a:tailEnd/>
          </a:ln>
        </p:spPr>
        <p:txBody>
          <a:bodyPr>
            <a:spAutoFit/>
          </a:bodyPr>
          <a:lstStyle/>
          <a:p>
            <a:pPr>
              <a:spcBef>
                <a:spcPct val="50000"/>
              </a:spcBef>
            </a:pPr>
            <a:r>
              <a:rPr lang="zh-CN" altLang="en-US">
                <a:solidFill>
                  <a:srgbClr val="990033"/>
                </a:solidFill>
                <a:latin typeface="Arial" pitchFamily="34" charset="0"/>
                <a:ea typeface="黑体" pitchFamily="2" charset="-122"/>
              </a:rPr>
              <a:t>门原语名    实例名  </a:t>
            </a:r>
            <a:r>
              <a:rPr lang="en-US" altLang="zh-CN">
                <a:solidFill>
                  <a:srgbClr val="990033"/>
                </a:solidFill>
                <a:latin typeface="Arial" pitchFamily="34" charset="0"/>
                <a:ea typeface="黑体" pitchFamily="2" charset="-122"/>
              </a:rPr>
              <a:t>(</a:t>
            </a:r>
            <a:r>
              <a:rPr lang="zh-CN" altLang="en-US">
                <a:solidFill>
                  <a:srgbClr val="990033"/>
                </a:solidFill>
                <a:latin typeface="Arial" pitchFamily="34" charset="0"/>
                <a:ea typeface="黑体" pitchFamily="2" charset="-122"/>
              </a:rPr>
              <a:t>端口连接</a:t>
            </a:r>
            <a:r>
              <a:rPr lang="en-US" altLang="zh-CN">
                <a:solidFill>
                  <a:srgbClr val="990033"/>
                </a:solidFill>
                <a:latin typeface="Arial" pitchFamily="34" charset="0"/>
                <a:ea typeface="黑体" pitchFamily="2" charset="-122"/>
              </a:rPr>
              <a:t>)</a:t>
            </a:r>
          </a:p>
        </p:txBody>
      </p:sp>
      <p:sp>
        <p:nvSpPr>
          <p:cNvPr id="49" name="Text Box 13"/>
          <p:cNvSpPr txBox="1">
            <a:spLocks noChangeArrowheads="1"/>
          </p:cNvSpPr>
          <p:nvPr/>
        </p:nvSpPr>
        <p:spPr bwMode="auto">
          <a:xfrm>
            <a:off x="468313" y="2677367"/>
            <a:ext cx="2819400" cy="457200"/>
          </a:xfrm>
          <a:prstGeom prst="rect">
            <a:avLst/>
          </a:prstGeom>
          <a:noFill/>
          <a:ln w="9525" algn="ctr">
            <a:noFill/>
            <a:miter lim="800000"/>
            <a:headEnd/>
            <a:tailEnd/>
          </a:ln>
        </p:spPr>
        <p:txBody>
          <a:bodyPr>
            <a:spAutoFit/>
          </a:bodyPr>
          <a:lstStyle/>
          <a:p>
            <a:pPr>
              <a:spcBef>
                <a:spcPct val="50000"/>
              </a:spcBef>
            </a:pPr>
            <a:r>
              <a:rPr lang="zh-CN" altLang="en-US" dirty="0">
                <a:solidFill>
                  <a:srgbClr val="990033"/>
                </a:solidFill>
                <a:latin typeface="Arial" pitchFamily="34" charset="0"/>
                <a:ea typeface="黑体" pitchFamily="2" charset="-122"/>
              </a:rPr>
              <a:t>门原语调用格式：</a:t>
            </a:r>
          </a:p>
        </p:txBody>
      </p:sp>
      <p:sp>
        <p:nvSpPr>
          <p:cNvPr id="50" name="Rectangle 14"/>
          <p:cNvSpPr>
            <a:spLocks noChangeArrowheads="1"/>
          </p:cNvSpPr>
          <p:nvPr/>
        </p:nvSpPr>
        <p:spPr bwMode="auto">
          <a:xfrm>
            <a:off x="539750" y="4261692"/>
            <a:ext cx="4165600" cy="457200"/>
          </a:xfrm>
          <a:prstGeom prst="rect">
            <a:avLst/>
          </a:prstGeom>
          <a:noFill/>
          <a:ln w="9525">
            <a:noFill/>
            <a:miter lim="800000"/>
            <a:headEnd/>
            <a:tailEnd/>
          </a:ln>
        </p:spPr>
        <p:txBody>
          <a:bodyPr wrap="none">
            <a:spAutoFit/>
          </a:bodyPr>
          <a:lstStyle/>
          <a:p>
            <a:pPr>
              <a:spcBef>
                <a:spcPct val="20000"/>
              </a:spcBef>
            </a:pPr>
            <a:r>
              <a:rPr lang="zh-CN" altLang="en-US">
                <a:solidFill>
                  <a:srgbClr val="000000"/>
                </a:solidFill>
                <a:ea typeface="黑体" pitchFamily="2" charset="-122"/>
              </a:rPr>
              <a:t>例：</a:t>
            </a:r>
            <a:r>
              <a:rPr lang="en-US" altLang="zh-CN">
                <a:solidFill>
                  <a:srgbClr val="000000"/>
                </a:solidFill>
                <a:ea typeface="黑体" pitchFamily="2" charset="-122"/>
              </a:rPr>
              <a:t>and (out, in1, in2); </a:t>
            </a:r>
          </a:p>
        </p:txBody>
      </p:sp>
      <p:sp>
        <p:nvSpPr>
          <p:cNvPr id="51" name="Text Box 15"/>
          <p:cNvSpPr txBox="1">
            <a:spLocks noChangeArrowheads="1"/>
          </p:cNvSpPr>
          <p:nvPr/>
        </p:nvSpPr>
        <p:spPr bwMode="auto">
          <a:xfrm>
            <a:off x="400050" y="3253629"/>
            <a:ext cx="7916863" cy="895350"/>
          </a:xfrm>
          <a:prstGeom prst="rect">
            <a:avLst/>
          </a:prstGeom>
          <a:noFill/>
          <a:ln w="9525">
            <a:noFill/>
            <a:miter lim="800000"/>
            <a:headEnd/>
            <a:tailEnd/>
          </a:ln>
        </p:spPr>
        <p:txBody>
          <a:bodyPr>
            <a:spAutoFit/>
          </a:bodyPr>
          <a:lstStyle/>
          <a:p>
            <a:pPr>
              <a:lnSpc>
                <a:spcPct val="110000"/>
              </a:lnSpc>
            </a:pPr>
            <a:r>
              <a:rPr lang="zh-CN" altLang="en-US">
                <a:solidFill>
                  <a:srgbClr val="184077"/>
                </a:solidFill>
                <a:ea typeface="黑体" pitchFamily="2" charset="-122"/>
              </a:rPr>
              <a:t>其中实例名可省略（和模块调用不同），端口连接只能采用顺序法，输出在前，输入在后。</a:t>
            </a:r>
          </a:p>
        </p:txBody>
      </p:sp>
      <p:grpSp>
        <p:nvGrpSpPr>
          <p:cNvPr id="52" name="Group 16"/>
          <p:cNvGrpSpPr>
            <a:grpSpLocks/>
          </p:cNvGrpSpPr>
          <p:nvPr/>
        </p:nvGrpSpPr>
        <p:grpSpPr bwMode="auto">
          <a:xfrm>
            <a:off x="5724525" y="4117229"/>
            <a:ext cx="2549525" cy="817563"/>
            <a:chOff x="3606" y="2659"/>
            <a:chExt cx="1606" cy="515"/>
          </a:xfrm>
        </p:grpSpPr>
        <p:pic>
          <p:nvPicPr>
            <p:cNvPr id="53" name="Picture 17"/>
            <p:cNvPicPr>
              <a:picLocks noChangeAspect="1" noChangeArrowheads="1"/>
            </p:cNvPicPr>
            <p:nvPr/>
          </p:nvPicPr>
          <p:blipFill>
            <a:blip r:embed="rId3" cstate="print"/>
            <a:srcRect l="24843" t="34520" r="60628" b="46989"/>
            <a:stretch>
              <a:fillRect/>
            </a:stretch>
          </p:blipFill>
          <p:spPr bwMode="auto">
            <a:xfrm>
              <a:off x="4017" y="2675"/>
              <a:ext cx="677" cy="443"/>
            </a:xfrm>
            <a:prstGeom prst="rect">
              <a:avLst/>
            </a:prstGeom>
            <a:noFill/>
            <a:ln w="9525" algn="ctr">
              <a:noFill/>
              <a:miter lim="800000"/>
              <a:headEnd/>
              <a:tailEnd/>
            </a:ln>
          </p:spPr>
        </p:pic>
        <p:sp>
          <p:nvSpPr>
            <p:cNvPr id="54" name="Text Box 18"/>
            <p:cNvSpPr txBox="1">
              <a:spLocks noChangeArrowheads="1"/>
            </p:cNvSpPr>
            <p:nvPr/>
          </p:nvSpPr>
          <p:spPr bwMode="auto">
            <a:xfrm>
              <a:off x="4740" y="2750"/>
              <a:ext cx="472" cy="288"/>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out</a:t>
              </a:r>
            </a:p>
          </p:txBody>
        </p:sp>
        <p:sp>
          <p:nvSpPr>
            <p:cNvPr id="55" name="Text Box 19"/>
            <p:cNvSpPr txBox="1">
              <a:spLocks noChangeArrowheads="1"/>
            </p:cNvSpPr>
            <p:nvPr/>
          </p:nvSpPr>
          <p:spPr bwMode="auto">
            <a:xfrm>
              <a:off x="3606" y="2659"/>
              <a:ext cx="456" cy="288"/>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in1</a:t>
              </a:r>
            </a:p>
          </p:txBody>
        </p:sp>
        <p:sp>
          <p:nvSpPr>
            <p:cNvPr id="56" name="Text Box 20"/>
            <p:cNvSpPr txBox="1">
              <a:spLocks noChangeArrowheads="1"/>
            </p:cNvSpPr>
            <p:nvPr/>
          </p:nvSpPr>
          <p:spPr bwMode="auto">
            <a:xfrm>
              <a:off x="3609" y="2886"/>
              <a:ext cx="456" cy="288"/>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in1</a:t>
              </a:r>
            </a:p>
          </p:txBody>
        </p:sp>
      </p:grpSp>
      <p:sp>
        <p:nvSpPr>
          <p:cNvPr id="57" name="AutoShape 21"/>
          <p:cNvSpPr>
            <a:spLocks noChangeArrowheads="1"/>
          </p:cNvSpPr>
          <p:nvPr/>
        </p:nvSpPr>
        <p:spPr bwMode="auto">
          <a:xfrm>
            <a:off x="4930775" y="4333129"/>
            <a:ext cx="649288" cy="360363"/>
          </a:xfrm>
          <a:prstGeom prst="rightArrow">
            <a:avLst>
              <a:gd name="adj1" fmla="val 50000"/>
              <a:gd name="adj2" fmla="val 45044"/>
            </a:avLst>
          </a:prstGeom>
          <a:solidFill>
            <a:srgbClr val="9999FF"/>
          </a:solidFill>
          <a:ln w="9525">
            <a:solidFill>
              <a:srgbClr val="00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黑体" pitchFamily="2" charset="-122"/>
            </a:endParaRPr>
          </a:p>
        </p:txBody>
      </p:sp>
      <p:graphicFrame>
        <p:nvGraphicFramePr>
          <p:cNvPr id="58" name="Group 22"/>
          <p:cNvGraphicFramePr>
            <a:graphicFrameLocks noGrp="1"/>
          </p:cNvGraphicFramePr>
          <p:nvPr>
            <p:extLst>
              <p:ext uri="{D42A27DB-BD31-4B8C-83A1-F6EECF244321}">
                <p14:modId xmlns:p14="http://schemas.microsoft.com/office/powerpoint/2010/main" val="381140433"/>
              </p:ext>
            </p:extLst>
          </p:nvPr>
        </p:nvGraphicFramePr>
        <p:xfrm>
          <a:off x="2286000" y="5830142"/>
          <a:ext cx="6103938" cy="911226"/>
        </p:xfrm>
        <a:graphic>
          <a:graphicData uri="http://schemas.openxmlformats.org/drawingml/2006/table">
            <a:tbl>
              <a:tblPr/>
              <a:tblGrid>
                <a:gridCol w="2134750"/>
                <a:gridCol w="1902434"/>
                <a:gridCol w="2066754"/>
              </a:tblGrid>
              <a:tr h="455613">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and </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（与）</a:t>
                      </a:r>
                    </a:p>
                  </a:txBody>
                  <a:tcPr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or</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（或）</a:t>
                      </a:r>
                    </a:p>
                  </a:txBody>
                  <a:tcPr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xor</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（异或）</a:t>
                      </a:r>
                    </a:p>
                  </a:txBody>
                  <a:tcPr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r>
              <a:tr h="455613">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nand</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（与非）</a:t>
                      </a:r>
                    </a:p>
                  </a:txBody>
                  <a:tcPr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nor</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（或非）</a:t>
                      </a:r>
                    </a:p>
                  </a:txBody>
                  <a:tcPr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err="1" smtClean="0">
                          <a:ln>
                            <a:noFill/>
                          </a:ln>
                          <a:solidFill>
                            <a:srgbClr val="080808"/>
                          </a:solidFill>
                          <a:effectLst/>
                          <a:latin typeface="Verdana" pitchFamily="34" charset="0"/>
                          <a:ea typeface="黑体" pitchFamily="2" charset="-122"/>
                        </a:rPr>
                        <a:t>xnor</a:t>
                      </a:r>
                      <a:r>
                        <a:rPr kumimoji="0" lang="zh-CN" altLang="en-US" sz="2000" b="0" i="0" u="none" strike="noStrike" cap="none" normalizeH="0" baseline="0" dirty="0" smtClean="0">
                          <a:ln>
                            <a:noFill/>
                          </a:ln>
                          <a:solidFill>
                            <a:srgbClr val="080808"/>
                          </a:solidFill>
                          <a:effectLst/>
                          <a:latin typeface="Verdana" pitchFamily="34" charset="0"/>
                          <a:ea typeface="黑体" pitchFamily="2" charset="-122"/>
                        </a:rPr>
                        <a:t>（同或）</a:t>
                      </a:r>
                    </a:p>
                  </a:txBody>
                  <a:tcPr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r>
            </a:tbl>
          </a:graphicData>
        </a:graphic>
      </p:graphicFrame>
      <p:sp>
        <p:nvSpPr>
          <p:cNvPr id="59" name="Rectangle 39"/>
          <p:cNvSpPr>
            <a:spLocks noChangeArrowheads="1"/>
          </p:cNvSpPr>
          <p:nvPr/>
        </p:nvSpPr>
        <p:spPr bwMode="auto">
          <a:xfrm>
            <a:off x="468313" y="5053854"/>
            <a:ext cx="7843837" cy="457200"/>
          </a:xfrm>
          <a:prstGeom prst="rect">
            <a:avLst/>
          </a:prstGeom>
          <a:solidFill>
            <a:srgbClr val="A3B7C1"/>
          </a:solidFill>
          <a:ln w="9525">
            <a:noFill/>
            <a:miter lim="800000"/>
            <a:headEnd/>
            <a:tailEnd/>
          </a:ln>
        </p:spPr>
        <p:txBody>
          <a:bodyPr wrap="none">
            <a:spAutoFit/>
          </a:bodyPr>
          <a:lstStyle/>
          <a:p>
            <a:r>
              <a:rPr lang="zh-CN" altLang="en-US">
                <a:solidFill>
                  <a:srgbClr val="184077"/>
                </a:solidFill>
                <a:ea typeface="黑体" pitchFamily="2" charset="-122"/>
              </a:rPr>
              <a:t>端口连接中第一个是输出，其余是输入，输入个数不限。</a:t>
            </a:r>
          </a:p>
        </p:txBody>
      </p:sp>
      <p:sp>
        <p:nvSpPr>
          <p:cNvPr id="60" name="Text Box 40"/>
          <p:cNvSpPr txBox="1">
            <a:spLocks noChangeArrowheads="1"/>
          </p:cNvSpPr>
          <p:nvPr/>
        </p:nvSpPr>
        <p:spPr bwMode="auto">
          <a:xfrm>
            <a:off x="395288" y="1524842"/>
            <a:ext cx="8424862" cy="1006475"/>
          </a:xfrm>
          <a:prstGeom prst="rect">
            <a:avLst/>
          </a:prstGeom>
          <a:noFill/>
          <a:ln w="9525">
            <a:noFill/>
            <a:miter lim="800000"/>
            <a:headEnd/>
            <a:tailEnd/>
          </a:ln>
        </p:spPr>
        <p:txBody>
          <a:bodyPr>
            <a:spAutoFit/>
          </a:bodyPr>
          <a:lstStyle/>
          <a:p>
            <a:pPr>
              <a:lnSpc>
                <a:spcPct val="125000"/>
              </a:lnSpc>
            </a:pPr>
            <a:r>
              <a:rPr lang="en-US" altLang="zh-CN" dirty="0">
                <a:solidFill>
                  <a:srgbClr val="000000"/>
                </a:solidFill>
                <a:latin typeface="Arial" pitchFamily="34" charset="0"/>
                <a:ea typeface="黑体" pitchFamily="2" charset="-122"/>
              </a:rPr>
              <a:t>Verilog</a:t>
            </a:r>
            <a:r>
              <a:rPr lang="zh-CN" altLang="en-US" dirty="0">
                <a:solidFill>
                  <a:srgbClr val="000000"/>
                </a:solidFill>
                <a:latin typeface="Arial" pitchFamily="34" charset="0"/>
                <a:ea typeface="黑体" pitchFamily="2" charset="-122"/>
              </a:rPr>
              <a:t>语言提供已经设计好的门，称为门原语（</a:t>
            </a:r>
            <a:r>
              <a:rPr lang="en-US" altLang="zh-CN" dirty="0">
                <a:solidFill>
                  <a:srgbClr val="000000"/>
                </a:solidFill>
                <a:latin typeface="Arial" pitchFamily="34" charset="0"/>
                <a:ea typeface="黑体" pitchFamily="2" charset="-122"/>
              </a:rPr>
              <a:t>primitive</a:t>
            </a:r>
            <a:r>
              <a:rPr lang="zh-CN" altLang="en-US" dirty="0">
                <a:solidFill>
                  <a:srgbClr val="000000"/>
                </a:solidFill>
                <a:latin typeface="Arial" pitchFamily="34" charset="0"/>
                <a:ea typeface="黑体" pitchFamily="2" charset="-122"/>
              </a:rPr>
              <a:t>，共</a:t>
            </a:r>
            <a:r>
              <a:rPr lang="en-US" altLang="zh-CN" dirty="0">
                <a:solidFill>
                  <a:srgbClr val="000000"/>
                </a:solidFill>
                <a:latin typeface="Arial" pitchFamily="34" charset="0"/>
                <a:ea typeface="黑体" pitchFamily="2" charset="-122"/>
              </a:rPr>
              <a:t>12</a:t>
            </a:r>
            <a:r>
              <a:rPr lang="zh-CN" altLang="en-US" dirty="0">
                <a:solidFill>
                  <a:srgbClr val="000000"/>
                </a:solidFill>
                <a:latin typeface="Arial" pitchFamily="34" charset="0"/>
                <a:ea typeface="黑体" pitchFamily="2" charset="-122"/>
              </a:rPr>
              <a:t>个），这些门可直接调用，不用再对其进行功能描述。</a:t>
            </a:r>
          </a:p>
        </p:txBody>
      </p:sp>
      <p:sp>
        <p:nvSpPr>
          <p:cNvPr id="61" name="Text Box 60"/>
          <p:cNvSpPr txBox="1">
            <a:spLocks noChangeArrowheads="1"/>
          </p:cNvSpPr>
          <p:nvPr/>
        </p:nvSpPr>
        <p:spPr bwMode="auto">
          <a:xfrm>
            <a:off x="357188" y="5830142"/>
            <a:ext cx="1785937" cy="461962"/>
          </a:xfrm>
          <a:prstGeom prst="rect">
            <a:avLst/>
          </a:prstGeom>
          <a:solidFill>
            <a:srgbClr val="FFFF66"/>
          </a:solidFill>
          <a:ln w="9525" algn="ctr">
            <a:noFill/>
            <a:miter lim="800000"/>
            <a:headEnd/>
            <a:tailEnd/>
          </a:ln>
        </p:spPr>
        <p:txBody>
          <a:bodyPr>
            <a:spAutoFit/>
          </a:bodyPr>
          <a:lstStyle/>
          <a:p>
            <a:pPr>
              <a:spcBef>
                <a:spcPct val="50000"/>
              </a:spcBef>
            </a:pPr>
            <a:r>
              <a:rPr lang="zh-CN" altLang="en-US">
                <a:solidFill>
                  <a:srgbClr val="000000"/>
                </a:solidFill>
                <a:latin typeface="Arial" pitchFamily="34" charset="0"/>
                <a:ea typeface="黑体" pitchFamily="2" charset="-122"/>
              </a:rPr>
              <a:t>与门等</a:t>
            </a:r>
            <a:r>
              <a:rPr lang="en-US" altLang="zh-CN">
                <a:solidFill>
                  <a:srgbClr val="000000"/>
                </a:solidFill>
                <a:latin typeface="Arial" pitchFamily="34" charset="0"/>
                <a:ea typeface="黑体" pitchFamily="2" charset="-122"/>
              </a:rPr>
              <a:t>6</a:t>
            </a:r>
            <a:r>
              <a:rPr lang="zh-CN" altLang="en-US">
                <a:solidFill>
                  <a:srgbClr val="000000"/>
                </a:solidFill>
                <a:latin typeface="Arial" pitchFamily="34" charset="0"/>
                <a:ea typeface="黑体" pitchFamily="2" charset="-122"/>
              </a:rPr>
              <a:t>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wipe(left)">
                                      <p:cBhvr>
                                        <p:cTn id="7"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AA20AA26-1EEE-4650-A0E0-5A14925C7819}" type="slidenum">
              <a:rPr lang="en-US" altLang="zh-CN" sz="1400" b="0">
                <a:latin typeface="Tahoma" panose="020B0604030504040204" pitchFamily="34" charset="0"/>
              </a:rPr>
              <a:pPr eaLnBrk="1" hangingPunct="1"/>
              <a:t>38</a:t>
            </a:fld>
            <a:endParaRPr lang="en-US" altLang="zh-CN" sz="1400" b="0">
              <a:latin typeface="Tahoma" panose="020B0604030504040204" pitchFamily="34" charset="0"/>
            </a:endParaRPr>
          </a:p>
        </p:txBody>
      </p:sp>
      <p:sp>
        <p:nvSpPr>
          <p:cNvPr id="26627" name="Rectangle 4"/>
          <p:cNvSpPr>
            <a:spLocks noGrp="1" noChangeArrowheads="1"/>
          </p:cNvSpPr>
          <p:nvPr>
            <p:ph type="title"/>
          </p:nvPr>
        </p:nvSpPr>
        <p:spPr/>
        <p:txBody>
          <a:bodyPr/>
          <a:lstStyle/>
          <a:p>
            <a:pPr eaLnBrk="1" hangingPunct="1"/>
            <a:r>
              <a:rPr lang="en-US" altLang="zh-CN" smtClean="0">
                <a:solidFill>
                  <a:schemeClr val="tx1"/>
                </a:solidFill>
              </a:rPr>
              <a:t>4. </a:t>
            </a:r>
            <a:r>
              <a:rPr lang="zh-CN" altLang="en-US" smtClean="0">
                <a:solidFill>
                  <a:schemeClr val="tx1"/>
                </a:solidFill>
              </a:rPr>
              <a:t>底层模块调用</a:t>
            </a:r>
          </a:p>
        </p:txBody>
      </p:sp>
      <p:pic>
        <p:nvPicPr>
          <p:cNvPr id="72" name="Picture 33"/>
          <p:cNvPicPr>
            <a:picLocks noChangeAspect="1" noChangeArrowheads="1"/>
          </p:cNvPicPr>
          <p:nvPr/>
        </p:nvPicPr>
        <p:blipFill>
          <a:blip r:embed="rId2" cstate="print"/>
          <a:srcRect b="32985"/>
          <a:stretch>
            <a:fillRect/>
          </a:stretch>
        </p:blipFill>
        <p:spPr bwMode="auto">
          <a:xfrm>
            <a:off x="2916238" y="1820317"/>
            <a:ext cx="5327650" cy="847725"/>
          </a:xfrm>
          <a:prstGeom prst="rect">
            <a:avLst/>
          </a:prstGeom>
          <a:noFill/>
          <a:ln w="28575">
            <a:solidFill>
              <a:srgbClr val="990033"/>
            </a:solidFill>
            <a:miter lim="800000"/>
            <a:headEnd/>
            <a:tailEnd/>
          </a:ln>
        </p:spPr>
      </p:pic>
      <p:sp>
        <p:nvSpPr>
          <p:cNvPr id="73" name="Rectangle 34"/>
          <p:cNvSpPr>
            <a:spLocks noChangeArrowheads="1"/>
          </p:cNvSpPr>
          <p:nvPr/>
        </p:nvSpPr>
        <p:spPr bwMode="auto">
          <a:xfrm>
            <a:off x="395288" y="5708104"/>
            <a:ext cx="8150225" cy="457200"/>
          </a:xfrm>
          <a:prstGeom prst="rect">
            <a:avLst/>
          </a:prstGeom>
          <a:solidFill>
            <a:srgbClr val="A3B7C1"/>
          </a:solidFill>
          <a:ln w="9525" algn="ctr">
            <a:noFill/>
            <a:miter lim="800000"/>
            <a:headEnd/>
            <a:tailEnd/>
          </a:ln>
        </p:spPr>
        <p:txBody>
          <a:bodyPr wrap="none">
            <a:spAutoFit/>
          </a:bodyPr>
          <a:lstStyle/>
          <a:p>
            <a:r>
              <a:rPr lang="zh-CN" altLang="en-US">
                <a:solidFill>
                  <a:srgbClr val="184077"/>
                </a:solidFill>
                <a:ea typeface="黑体" pitchFamily="2" charset="-122"/>
              </a:rPr>
              <a:t>端口列表中前面是输出，最后一个是输入，输出个数不限。</a:t>
            </a:r>
          </a:p>
        </p:txBody>
      </p:sp>
      <p:graphicFrame>
        <p:nvGraphicFramePr>
          <p:cNvPr id="74" name="Group 35"/>
          <p:cNvGraphicFramePr>
            <a:graphicFrameLocks noGrp="1"/>
          </p:cNvGraphicFramePr>
          <p:nvPr>
            <p:extLst>
              <p:ext uri="{D42A27DB-BD31-4B8C-83A1-F6EECF244321}">
                <p14:modId xmlns:p14="http://schemas.microsoft.com/office/powerpoint/2010/main" val="3761993705"/>
              </p:ext>
            </p:extLst>
          </p:nvPr>
        </p:nvGraphicFramePr>
        <p:xfrm>
          <a:off x="468313" y="1820317"/>
          <a:ext cx="2219325" cy="831850"/>
        </p:xfrm>
        <a:graphic>
          <a:graphicData uri="http://schemas.openxmlformats.org/drawingml/2006/table">
            <a:tbl>
              <a:tblPr/>
              <a:tblGrid>
                <a:gridCol w="2219325"/>
              </a:tblGrid>
              <a:tr h="415925">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not </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（非门）</a:t>
                      </a:r>
                    </a:p>
                  </a:txBody>
                  <a:tcPr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r>
              <a:tr h="415925">
                <a:tc>
                  <a:txBody>
                    <a:bodyPr/>
                    <a:lstStyle>
                      <a:lvl1pPr marL="0" algn="l" defTabSz="914400" rtl="0" eaLnBrk="1" latinLnBrk="0" hangingPunct="1">
                        <a:defRPr sz="1800" kern="1200">
                          <a:solidFill>
                            <a:schemeClr val="tx1"/>
                          </a:solidFill>
                          <a:latin typeface="Verdana"/>
                          <a:ea typeface="黑体"/>
                          <a:cs typeface=""/>
                        </a:defRPr>
                      </a:lvl1pPr>
                      <a:lvl2pPr marL="457200" algn="l" defTabSz="914400" rtl="0" eaLnBrk="1" latinLnBrk="0" hangingPunct="1">
                        <a:defRPr sz="1800" kern="1200">
                          <a:solidFill>
                            <a:schemeClr val="tx1"/>
                          </a:solidFill>
                          <a:latin typeface="Verdana"/>
                          <a:ea typeface="黑体"/>
                          <a:cs typeface=""/>
                        </a:defRPr>
                      </a:lvl2pPr>
                      <a:lvl3pPr marL="914400" algn="l" defTabSz="914400" rtl="0" eaLnBrk="1" latinLnBrk="0" hangingPunct="1">
                        <a:defRPr sz="1800" kern="1200">
                          <a:solidFill>
                            <a:schemeClr val="tx1"/>
                          </a:solidFill>
                          <a:latin typeface="Verdana"/>
                          <a:ea typeface="黑体"/>
                          <a:cs typeface=""/>
                        </a:defRPr>
                      </a:lvl3pPr>
                      <a:lvl4pPr marL="1371600" algn="l" defTabSz="914400" rtl="0" eaLnBrk="1" latinLnBrk="0" hangingPunct="1">
                        <a:defRPr sz="1800" kern="1200">
                          <a:solidFill>
                            <a:schemeClr val="tx1"/>
                          </a:solidFill>
                          <a:latin typeface="Verdana"/>
                          <a:ea typeface="黑体"/>
                          <a:cs typeface=""/>
                        </a:defRPr>
                      </a:lvl4pPr>
                      <a:lvl5pPr marL="1828800" algn="l" defTabSz="914400" rtl="0" eaLnBrk="1" latinLnBrk="0" hangingPunct="1">
                        <a:defRPr sz="1800" kern="1200">
                          <a:solidFill>
                            <a:schemeClr val="tx1"/>
                          </a:solidFill>
                          <a:latin typeface="Verdana"/>
                          <a:ea typeface="黑体"/>
                          <a:cs typeface=""/>
                        </a:defRPr>
                      </a:lvl5pPr>
                      <a:lvl6pPr marL="2286000" algn="l" defTabSz="914400" rtl="0" eaLnBrk="1" latinLnBrk="0" hangingPunct="1">
                        <a:defRPr sz="1800" kern="1200">
                          <a:solidFill>
                            <a:schemeClr val="tx1"/>
                          </a:solidFill>
                          <a:latin typeface="Verdana"/>
                          <a:ea typeface="黑体"/>
                          <a:cs typeface=""/>
                        </a:defRPr>
                      </a:lvl6pPr>
                      <a:lvl7pPr marL="2743200" algn="l" defTabSz="914400" rtl="0" eaLnBrk="1" latinLnBrk="0" hangingPunct="1">
                        <a:defRPr sz="1800" kern="1200">
                          <a:solidFill>
                            <a:schemeClr val="tx1"/>
                          </a:solidFill>
                          <a:latin typeface="Verdana"/>
                          <a:ea typeface="黑体"/>
                          <a:cs typeface=""/>
                        </a:defRPr>
                      </a:lvl7pPr>
                      <a:lvl8pPr marL="3200400" algn="l" defTabSz="914400" rtl="0" eaLnBrk="1" latinLnBrk="0" hangingPunct="1">
                        <a:defRPr sz="1800" kern="1200">
                          <a:solidFill>
                            <a:schemeClr val="tx1"/>
                          </a:solidFill>
                          <a:latin typeface="Verdana"/>
                          <a:ea typeface="黑体"/>
                          <a:cs typeface=""/>
                        </a:defRPr>
                      </a:lvl8pPr>
                      <a:lvl9pPr marL="3657600" algn="l" defTabSz="914400" rtl="0" eaLnBrk="1" latinLnBrk="0" hangingPunct="1">
                        <a:defRPr sz="1800" kern="1200">
                          <a:solidFill>
                            <a:schemeClr val="tx1"/>
                          </a:solidFill>
                          <a:latin typeface="Verdana"/>
                          <a:ea typeface="黑体"/>
                          <a:cs typeface=""/>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smtClean="0">
                          <a:ln>
                            <a:noFill/>
                          </a:ln>
                          <a:solidFill>
                            <a:srgbClr val="080808"/>
                          </a:solidFill>
                          <a:effectLst/>
                          <a:latin typeface="Verdana" pitchFamily="34" charset="0"/>
                          <a:ea typeface="黑体" pitchFamily="2" charset="-122"/>
                        </a:rPr>
                        <a:t>buf</a:t>
                      </a:r>
                      <a:r>
                        <a:rPr kumimoji="0" lang="zh-CN" altLang="en-US" sz="2000" b="0" i="0" u="none" strike="noStrike" cap="none" normalizeH="0" baseline="0" smtClean="0">
                          <a:ln>
                            <a:noFill/>
                          </a:ln>
                          <a:solidFill>
                            <a:srgbClr val="080808"/>
                          </a:solidFill>
                          <a:effectLst/>
                          <a:latin typeface="Verdana" pitchFamily="34" charset="0"/>
                          <a:ea typeface="黑体" pitchFamily="2" charset="-122"/>
                        </a:rPr>
                        <a:t>（缓冲器）</a:t>
                      </a:r>
                    </a:p>
                  </a:txBody>
                  <a:tcPr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r>
            </a:tbl>
          </a:graphicData>
        </a:graphic>
      </p:graphicFrame>
      <p:sp>
        <p:nvSpPr>
          <p:cNvPr id="75" name="Rectangle 43"/>
          <p:cNvSpPr>
            <a:spLocks noChangeArrowheads="1"/>
          </p:cNvSpPr>
          <p:nvPr/>
        </p:nvSpPr>
        <p:spPr bwMode="auto">
          <a:xfrm>
            <a:off x="468313" y="3620542"/>
            <a:ext cx="4572000" cy="485775"/>
          </a:xfrm>
          <a:prstGeom prst="rect">
            <a:avLst/>
          </a:prstGeom>
          <a:noFill/>
          <a:ln w="28575">
            <a:solidFill>
              <a:srgbClr val="666699"/>
            </a:solidFill>
            <a:miter lim="800000"/>
            <a:headEnd/>
            <a:tailEnd/>
          </a:ln>
        </p:spPr>
        <p:txBody>
          <a:bodyPr>
            <a:spAutoFit/>
          </a:bodyPr>
          <a:lstStyle/>
          <a:p>
            <a:pPr marL="0" marR="0" lvl="0" indent="0" defTabSz="914400" eaLnBrk="1" fontAlgn="auto" latinLnBrk="0" hangingPunct="1">
              <a:lnSpc>
                <a:spcPct val="100000"/>
              </a:lnSpc>
              <a:spcBef>
                <a:spcPct val="20000"/>
              </a:spcBef>
              <a:spcAft>
                <a:spcPts val="0"/>
              </a:spcAft>
              <a:buClrTx/>
              <a:buSzTx/>
              <a:buFontTx/>
              <a:buNone/>
              <a:tabLst/>
              <a:defRPr/>
            </a:pPr>
            <a:r>
              <a:rPr kumimoji="0" lang="en-US" altLang="zh-CN" sz="1800" b="0" i="0" u="none" strike="noStrike" kern="0" cap="none" spc="0" normalizeH="0" baseline="0" noProof="0">
                <a:ln>
                  <a:noFill/>
                </a:ln>
                <a:solidFill>
                  <a:srgbClr val="080808"/>
                </a:solidFill>
                <a:effectLst/>
                <a:uLnTx/>
                <a:uFillTx/>
                <a:latin typeface="Arial" pitchFamily="34" charset="0"/>
                <a:ea typeface="黑体" pitchFamily="2" charset="-122"/>
              </a:rPr>
              <a:t>not (OUT1, IN); </a:t>
            </a:r>
          </a:p>
        </p:txBody>
      </p:sp>
      <p:grpSp>
        <p:nvGrpSpPr>
          <p:cNvPr id="76" name="Group 44"/>
          <p:cNvGrpSpPr>
            <a:grpSpLocks/>
          </p:cNvGrpSpPr>
          <p:nvPr/>
        </p:nvGrpSpPr>
        <p:grpSpPr bwMode="auto">
          <a:xfrm>
            <a:off x="5435600" y="3331617"/>
            <a:ext cx="2592388" cy="936625"/>
            <a:chOff x="657" y="2976"/>
            <a:chExt cx="1633" cy="590"/>
          </a:xfrm>
        </p:grpSpPr>
        <p:pic>
          <p:nvPicPr>
            <p:cNvPr id="77" name="Picture 45"/>
            <p:cNvPicPr>
              <a:picLocks noChangeAspect="1" noChangeArrowheads="1"/>
            </p:cNvPicPr>
            <p:nvPr/>
          </p:nvPicPr>
          <p:blipFill>
            <a:blip r:embed="rId3" cstate="print"/>
            <a:srcRect l="18773" t="14218" r="65622" b="52672"/>
            <a:stretch>
              <a:fillRect/>
            </a:stretch>
          </p:blipFill>
          <p:spPr bwMode="auto">
            <a:xfrm rot="-5400000">
              <a:off x="1020" y="3021"/>
              <a:ext cx="590" cy="500"/>
            </a:xfrm>
            <a:prstGeom prst="rect">
              <a:avLst/>
            </a:prstGeom>
            <a:noFill/>
            <a:ln w="9525">
              <a:noFill/>
              <a:miter lim="800000"/>
              <a:headEnd/>
              <a:tailEnd/>
            </a:ln>
          </p:spPr>
        </p:pic>
        <p:grpSp>
          <p:nvGrpSpPr>
            <p:cNvPr id="78" name="Group 46"/>
            <p:cNvGrpSpPr>
              <a:grpSpLocks/>
            </p:cNvGrpSpPr>
            <p:nvPr/>
          </p:nvGrpSpPr>
          <p:grpSpPr bwMode="auto">
            <a:xfrm>
              <a:off x="657" y="3121"/>
              <a:ext cx="1633" cy="303"/>
              <a:chOff x="657" y="3121"/>
              <a:chExt cx="1633" cy="303"/>
            </a:xfrm>
          </p:grpSpPr>
          <p:sp>
            <p:nvSpPr>
              <p:cNvPr id="79" name="Text Box 47"/>
              <p:cNvSpPr txBox="1">
                <a:spLocks noChangeArrowheads="1"/>
              </p:cNvSpPr>
              <p:nvPr/>
            </p:nvSpPr>
            <p:spPr bwMode="auto">
              <a:xfrm>
                <a:off x="657" y="3121"/>
                <a:ext cx="384" cy="288"/>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IN</a:t>
                </a:r>
              </a:p>
            </p:txBody>
          </p:sp>
          <p:sp>
            <p:nvSpPr>
              <p:cNvPr id="80" name="Text Box 48"/>
              <p:cNvSpPr txBox="1">
                <a:spLocks noChangeArrowheads="1"/>
              </p:cNvSpPr>
              <p:nvPr/>
            </p:nvSpPr>
            <p:spPr bwMode="auto">
              <a:xfrm>
                <a:off x="1587" y="3136"/>
                <a:ext cx="703" cy="288"/>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OUT1</a:t>
                </a:r>
              </a:p>
            </p:txBody>
          </p:sp>
        </p:grpSp>
      </p:grpSp>
      <p:grpSp>
        <p:nvGrpSpPr>
          <p:cNvPr id="81" name="Group 49"/>
          <p:cNvGrpSpPr>
            <a:grpSpLocks/>
          </p:cNvGrpSpPr>
          <p:nvPr/>
        </p:nvGrpSpPr>
        <p:grpSpPr bwMode="auto">
          <a:xfrm>
            <a:off x="5473700" y="4339679"/>
            <a:ext cx="2627313" cy="1050925"/>
            <a:chOff x="521" y="3454"/>
            <a:chExt cx="1655" cy="662"/>
          </a:xfrm>
        </p:grpSpPr>
        <p:grpSp>
          <p:nvGrpSpPr>
            <p:cNvPr id="82" name="Group 50"/>
            <p:cNvGrpSpPr>
              <a:grpSpLocks/>
            </p:cNvGrpSpPr>
            <p:nvPr/>
          </p:nvGrpSpPr>
          <p:grpSpPr bwMode="auto">
            <a:xfrm>
              <a:off x="883" y="3454"/>
              <a:ext cx="635" cy="590"/>
              <a:chOff x="1020" y="3385"/>
              <a:chExt cx="635" cy="590"/>
            </a:xfrm>
          </p:grpSpPr>
          <p:pic>
            <p:nvPicPr>
              <p:cNvPr id="88" name="Picture 51"/>
              <p:cNvPicPr>
                <a:picLocks noChangeAspect="1" noChangeArrowheads="1"/>
              </p:cNvPicPr>
              <p:nvPr/>
            </p:nvPicPr>
            <p:blipFill>
              <a:blip r:embed="rId3" cstate="print"/>
              <a:srcRect l="18773" t="14218" r="65622" b="64339"/>
              <a:stretch>
                <a:fillRect/>
              </a:stretch>
            </p:blipFill>
            <p:spPr bwMode="auto">
              <a:xfrm rot="-5400000">
                <a:off x="904" y="3501"/>
                <a:ext cx="590" cy="357"/>
              </a:xfrm>
              <a:prstGeom prst="rect">
                <a:avLst/>
              </a:prstGeom>
              <a:noFill/>
              <a:ln w="9525">
                <a:noFill/>
                <a:miter lim="800000"/>
                <a:headEnd/>
                <a:tailEnd/>
              </a:ln>
            </p:spPr>
          </p:pic>
          <p:sp>
            <p:nvSpPr>
              <p:cNvPr id="89" name="Line 52"/>
              <p:cNvSpPr>
                <a:spLocks noChangeShapeType="1"/>
              </p:cNvSpPr>
              <p:nvPr/>
            </p:nvSpPr>
            <p:spPr bwMode="auto">
              <a:xfrm>
                <a:off x="1383" y="3693"/>
                <a:ext cx="272" cy="0"/>
              </a:xfrm>
              <a:prstGeom prst="line">
                <a:avLst/>
              </a:prstGeom>
              <a:noFill/>
              <a:ln w="38100">
                <a:solidFill>
                  <a:srgbClr val="000000"/>
                </a:solidFill>
                <a:round/>
                <a:headEnd/>
                <a:tailEnd/>
              </a:ln>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黑体" pitchFamily="2" charset="-122"/>
                </a:endParaRPr>
              </a:p>
            </p:txBody>
          </p:sp>
        </p:grpSp>
        <p:sp>
          <p:nvSpPr>
            <p:cNvPr id="83" name="Text Box 53"/>
            <p:cNvSpPr txBox="1">
              <a:spLocks noChangeArrowheads="1"/>
            </p:cNvSpPr>
            <p:nvPr/>
          </p:nvSpPr>
          <p:spPr bwMode="auto">
            <a:xfrm>
              <a:off x="521" y="3599"/>
              <a:ext cx="384" cy="28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srgbClr val="000000"/>
                  </a:solidFill>
                  <a:effectLst/>
                  <a:uLnTx/>
                  <a:uFillTx/>
                  <a:ea typeface="黑体" pitchFamily="2" charset="-122"/>
                </a:rPr>
                <a:t>IN</a:t>
              </a:r>
            </a:p>
          </p:txBody>
        </p:sp>
        <p:sp>
          <p:nvSpPr>
            <p:cNvPr id="84" name="Text Box 54"/>
            <p:cNvSpPr txBox="1">
              <a:spLocks noChangeArrowheads="1"/>
            </p:cNvSpPr>
            <p:nvPr/>
          </p:nvSpPr>
          <p:spPr bwMode="auto">
            <a:xfrm>
              <a:off x="1473" y="3590"/>
              <a:ext cx="703" cy="28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srgbClr val="000000"/>
                  </a:solidFill>
                  <a:effectLst/>
                  <a:uLnTx/>
                  <a:uFillTx/>
                  <a:ea typeface="黑体" pitchFamily="2" charset="-122"/>
                </a:rPr>
                <a:t>OUT1</a:t>
              </a:r>
            </a:p>
          </p:txBody>
        </p:sp>
        <p:sp>
          <p:nvSpPr>
            <p:cNvPr id="85" name="Freeform 55"/>
            <p:cNvSpPr>
              <a:spLocks/>
            </p:cNvSpPr>
            <p:nvPr/>
          </p:nvSpPr>
          <p:spPr bwMode="auto">
            <a:xfrm>
              <a:off x="1378" y="3748"/>
              <a:ext cx="136" cy="226"/>
            </a:xfrm>
            <a:custGeom>
              <a:avLst/>
              <a:gdLst>
                <a:gd name="T0" fmla="*/ 0 w 136"/>
                <a:gd name="T1" fmla="*/ 0 h 226"/>
                <a:gd name="T2" fmla="*/ 0 w 136"/>
                <a:gd name="T3" fmla="*/ 226 h 226"/>
                <a:gd name="T4" fmla="*/ 136 w 136"/>
                <a:gd name="T5" fmla="*/ 226 h 226"/>
                <a:gd name="T6" fmla="*/ 0 60000 65536"/>
                <a:gd name="T7" fmla="*/ 0 60000 65536"/>
                <a:gd name="T8" fmla="*/ 0 60000 65536"/>
                <a:gd name="T9" fmla="*/ 0 w 136"/>
                <a:gd name="T10" fmla="*/ 0 h 226"/>
                <a:gd name="T11" fmla="*/ 136 w 136"/>
                <a:gd name="T12" fmla="*/ 226 h 226"/>
              </a:gdLst>
              <a:ahLst/>
              <a:cxnLst>
                <a:cxn ang="T6">
                  <a:pos x="T0" y="T1"/>
                </a:cxn>
                <a:cxn ang="T7">
                  <a:pos x="T2" y="T3"/>
                </a:cxn>
                <a:cxn ang="T8">
                  <a:pos x="T4" y="T5"/>
                </a:cxn>
              </a:cxnLst>
              <a:rect l="T9" t="T10" r="T11" b="T12"/>
              <a:pathLst>
                <a:path w="136" h="226">
                  <a:moveTo>
                    <a:pt x="0" y="0"/>
                  </a:moveTo>
                  <a:lnTo>
                    <a:pt x="0" y="226"/>
                  </a:lnTo>
                  <a:lnTo>
                    <a:pt x="136" y="226"/>
                  </a:lnTo>
                </a:path>
              </a:pathLst>
            </a:custGeom>
            <a:noFill/>
            <a:ln w="28575">
              <a:solidFill>
                <a:srgbClr val="000000"/>
              </a:solidFill>
              <a:round/>
              <a:headEnd/>
              <a:tailEnd/>
            </a:ln>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86" name="Rectangle 56"/>
            <p:cNvSpPr>
              <a:spLocks noChangeArrowheads="1"/>
            </p:cNvSpPr>
            <p:nvPr/>
          </p:nvSpPr>
          <p:spPr bwMode="auto">
            <a:xfrm>
              <a:off x="1469" y="3828"/>
              <a:ext cx="703" cy="288"/>
            </a:xfrm>
            <a:prstGeom prst="rect">
              <a:avLst/>
            </a:prstGeom>
            <a:no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a:ln>
                    <a:noFill/>
                  </a:ln>
                  <a:solidFill>
                    <a:srgbClr val="000000"/>
                  </a:solidFill>
                  <a:effectLst/>
                  <a:uLnTx/>
                  <a:uFillTx/>
                  <a:ea typeface="黑体" pitchFamily="2" charset="-122"/>
                </a:rPr>
                <a:t>OUT2</a:t>
              </a:r>
            </a:p>
          </p:txBody>
        </p:sp>
        <p:sp>
          <p:nvSpPr>
            <p:cNvPr id="87" name="Oval 57"/>
            <p:cNvSpPr>
              <a:spLocks noChangeArrowheads="1"/>
            </p:cNvSpPr>
            <p:nvPr/>
          </p:nvSpPr>
          <p:spPr bwMode="auto">
            <a:xfrm>
              <a:off x="1354" y="3740"/>
              <a:ext cx="46" cy="46"/>
            </a:xfrm>
            <a:prstGeom prst="ellipse">
              <a:avLst/>
            </a:prstGeom>
            <a:solidFill>
              <a:srgbClr val="000000"/>
            </a:solidFill>
            <a:ln w="28575" algn="ctr">
              <a:solidFill>
                <a:srgbClr val="000000"/>
              </a:solidFill>
              <a:round/>
              <a:headEnd/>
              <a:tailEnd/>
            </a:ln>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ea typeface="黑体" pitchFamily="2" charset="-122"/>
              </a:endParaRPr>
            </a:p>
          </p:txBody>
        </p:sp>
      </p:grpSp>
      <p:sp>
        <p:nvSpPr>
          <p:cNvPr id="90" name="Rectangle 58"/>
          <p:cNvSpPr>
            <a:spLocks noChangeArrowheads="1"/>
          </p:cNvSpPr>
          <p:nvPr/>
        </p:nvSpPr>
        <p:spPr bwMode="auto">
          <a:xfrm>
            <a:off x="466725" y="4628604"/>
            <a:ext cx="4572000" cy="485775"/>
          </a:xfrm>
          <a:prstGeom prst="rect">
            <a:avLst/>
          </a:prstGeom>
          <a:noFill/>
          <a:ln w="28575">
            <a:solidFill>
              <a:srgbClr val="666699"/>
            </a:solidFill>
            <a:miter lim="800000"/>
            <a:headEnd/>
            <a:tailEnd/>
          </a:ln>
        </p:spPr>
        <p:txBody>
          <a:bodyPr>
            <a:spAutoFit/>
          </a:bodyPr>
          <a:lstStyle/>
          <a:p>
            <a:pPr marL="0" marR="0" lvl="0" indent="0" defTabSz="914400" eaLnBrk="1" fontAlgn="auto" latinLnBrk="0" hangingPunct="1">
              <a:lnSpc>
                <a:spcPct val="100000"/>
              </a:lnSpc>
              <a:spcBef>
                <a:spcPct val="20000"/>
              </a:spcBef>
              <a:spcAft>
                <a:spcPts val="0"/>
              </a:spcAft>
              <a:buClrTx/>
              <a:buSzTx/>
              <a:buFontTx/>
              <a:buNone/>
              <a:tabLst/>
              <a:defRPr/>
            </a:pPr>
            <a:r>
              <a:rPr kumimoji="0" lang="en-US" altLang="zh-CN" sz="1800" b="0" i="0" u="none" strike="noStrike" kern="0" cap="none" spc="0" normalizeH="0" baseline="0" noProof="0">
                <a:ln>
                  <a:noFill/>
                </a:ln>
                <a:solidFill>
                  <a:srgbClr val="080808"/>
                </a:solidFill>
                <a:effectLst/>
                <a:uLnTx/>
                <a:uFillTx/>
                <a:latin typeface="Arial" pitchFamily="34" charset="0"/>
                <a:ea typeface="黑体" pitchFamily="2" charset="-122"/>
              </a:rPr>
              <a:t>buf b1_2out(OUT1, OUT2, IN);</a:t>
            </a:r>
          </a:p>
        </p:txBody>
      </p:sp>
      <p:sp>
        <p:nvSpPr>
          <p:cNvPr id="91" name="Rectangle 59"/>
          <p:cNvSpPr>
            <a:spLocks noChangeArrowheads="1"/>
          </p:cNvSpPr>
          <p:nvPr/>
        </p:nvSpPr>
        <p:spPr bwMode="auto">
          <a:xfrm>
            <a:off x="468313" y="2971254"/>
            <a:ext cx="793750" cy="457200"/>
          </a:xfrm>
          <a:prstGeom prst="rect">
            <a:avLst/>
          </a:prstGeom>
          <a:noFill/>
          <a:ln w="28575" algn="ctr">
            <a:noFill/>
            <a:miter lim="800000"/>
            <a:headEnd/>
            <a:tailEnd/>
          </a:ln>
        </p:spPr>
        <p:txBody>
          <a:bodyPr wrap="none">
            <a:spAutoFit/>
          </a:bodyPr>
          <a:lstStyle/>
          <a:p>
            <a:pPr>
              <a:spcBef>
                <a:spcPct val="20000"/>
              </a:spcBef>
            </a:pPr>
            <a:r>
              <a:rPr lang="zh-CN" altLang="en-US">
                <a:solidFill>
                  <a:srgbClr val="080808"/>
                </a:solidFill>
                <a:ea typeface="黑体" pitchFamily="2" charset="-122"/>
              </a:rPr>
              <a:t>例：</a:t>
            </a:r>
          </a:p>
        </p:txBody>
      </p:sp>
      <p:sp>
        <p:nvSpPr>
          <p:cNvPr id="92" name="Text Box 60"/>
          <p:cNvSpPr txBox="1">
            <a:spLocks noChangeArrowheads="1"/>
          </p:cNvSpPr>
          <p:nvPr/>
        </p:nvSpPr>
        <p:spPr bwMode="auto">
          <a:xfrm>
            <a:off x="468313" y="1171029"/>
            <a:ext cx="2374900" cy="457200"/>
          </a:xfrm>
          <a:prstGeom prst="rect">
            <a:avLst/>
          </a:prstGeom>
          <a:solidFill>
            <a:srgbClr val="FFFF66"/>
          </a:solidFill>
          <a:ln w="9525" algn="ctr">
            <a:noFill/>
            <a:miter lim="800000"/>
            <a:headEnd/>
            <a:tailEnd/>
          </a:ln>
        </p:spPr>
        <p:txBody>
          <a:bodyPr>
            <a:spAutoFit/>
          </a:bodyPr>
          <a:lstStyle/>
          <a:p>
            <a:pPr>
              <a:spcBef>
                <a:spcPct val="50000"/>
              </a:spcBef>
            </a:pPr>
            <a:r>
              <a:rPr lang="zh-CN" altLang="en-US">
                <a:solidFill>
                  <a:srgbClr val="000000"/>
                </a:solidFill>
                <a:latin typeface="Arial" pitchFamily="34" charset="0"/>
                <a:ea typeface="黑体" pitchFamily="2" charset="-122"/>
              </a:rPr>
              <a:t>非门和缓冲器</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p:cNvSpPr>
            <a:spLocks noGrp="1" noChangeArrowheads="1"/>
          </p:cNvSpPr>
          <p:nvPr>
            <p:ph type="title"/>
          </p:nvPr>
        </p:nvSpPr>
        <p:spPr/>
        <p:txBody>
          <a:bodyPr/>
          <a:lstStyle/>
          <a:p>
            <a:pPr eaLnBrk="1" hangingPunct="1"/>
            <a:r>
              <a:rPr lang="en-US" altLang="zh-CN" smtClean="0">
                <a:solidFill>
                  <a:schemeClr val="tx1"/>
                </a:solidFill>
              </a:rPr>
              <a:t>4. </a:t>
            </a:r>
            <a:r>
              <a:rPr lang="zh-CN" altLang="en-US" smtClean="0">
                <a:solidFill>
                  <a:schemeClr val="tx1"/>
                </a:solidFill>
              </a:rPr>
              <a:t>底层模块调用</a:t>
            </a:r>
          </a:p>
        </p:txBody>
      </p:sp>
      <p:sp>
        <p:nvSpPr>
          <p:cNvPr id="32" name="Text Box 30"/>
          <p:cNvSpPr txBox="1">
            <a:spLocks noChangeArrowheads="1"/>
          </p:cNvSpPr>
          <p:nvPr/>
        </p:nvSpPr>
        <p:spPr bwMode="auto">
          <a:xfrm>
            <a:off x="250825" y="842789"/>
            <a:ext cx="1296988" cy="457200"/>
          </a:xfrm>
          <a:prstGeom prst="rect">
            <a:avLst/>
          </a:prstGeom>
          <a:solidFill>
            <a:srgbClr val="FFFF66"/>
          </a:solidFill>
          <a:ln w="9525" algn="ctr">
            <a:noFill/>
            <a:miter lim="800000"/>
            <a:headEnd/>
            <a:tailEnd/>
          </a:ln>
        </p:spPr>
        <p:txBody>
          <a:bodyPr>
            <a:spAutoFit/>
          </a:bodyPr>
          <a:lstStyle/>
          <a:p>
            <a:pPr>
              <a:spcBef>
                <a:spcPct val="50000"/>
              </a:spcBef>
            </a:pPr>
            <a:r>
              <a:rPr lang="zh-CN" altLang="en-US">
                <a:solidFill>
                  <a:srgbClr val="000000"/>
                </a:solidFill>
                <a:latin typeface="Arial" pitchFamily="34" charset="0"/>
                <a:ea typeface="黑体" pitchFamily="2" charset="-122"/>
              </a:rPr>
              <a:t>三态门</a:t>
            </a:r>
          </a:p>
        </p:txBody>
      </p:sp>
      <p:sp>
        <p:nvSpPr>
          <p:cNvPr id="33" name="Text Box 31"/>
          <p:cNvSpPr txBox="1">
            <a:spLocks noChangeArrowheads="1"/>
          </p:cNvSpPr>
          <p:nvPr/>
        </p:nvSpPr>
        <p:spPr bwMode="auto">
          <a:xfrm>
            <a:off x="250825" y="1347614"/>
            <a:ext cx="8686800" cy="1004887"/>
          </a:xfrm>
          <a:prstGeom prst="rect">
            <a:avLst/>
          </a:prstGeom>
          <a:noFill/>
          <a:ln w="9525" algn="ctr">
            <a:noFill/>
            <a:miter lim="800000"/>
            <a:headEnd/>
            <a:tailEnd/>
          </a:ln>
        </p:spPr>
        <p:txBody>
          <a:bodyPr>
            <a:spAutoFit/>
          </a:bodyPr>
          <a:lstStyle/>
          <a:p>
            <a:pPr>
              <a:spcBef>
                <a:spcPct val="50000"/>
              </a:spcBef>
            </a:pPr>
            <a:r>
              <a:rPr lang="en-US" altLang="zh-CN">
                <a:solidFill>
                  <a:srgbClr val="000000"/>
                </a:solidFill>
                <a:latin typeface="Arial" pitchFamily="34" charset="0"/>
                <a:ea typeface="黑体" pitchFamily="2" charset="-122"/>
              </a:rPr>
              <a:t>bufif1(</a:t>
            </a:r>
            <a:r>
              <a:rPr lang="zh-CN" altLang="en-US">
                <a:solidFill>
                  <a:srgbClr val="000000"/>
                </a:solidFill>
                <a:latin typeface="Arial" pitchFamily="34" charset="0"/>
                <a:ea typeface="黑体" pitchFamily="2" charset="-122"/>
              </a:rPr>
              <a:t>控制端</a:t>
            </a:r>
            <a:r>
              <a:rPr lang="en-US" altLang="zh-CN">
                <a:solidFill>
                  <a:srgbClr val="000000"/>
                </a:solidFill>
                <a:latin typeface="Arial" pitchFamily="34" charset="0"/>
                <a:ea typeface="黑体" pitchFamily="2" charset="-122"/>
              </a:rPr>
              <a:t>1</a:t>
            </a:r>
            <a:r>
              <a:rPr lang="zh-CN" altLang="en-US">
                <a:solidFill>
                  <a:srgbClr val="000000"/>
                </a:solidFill>
                <a:latin typeface="Arial" pitchFamily="34" charset="0"/>
                <a:ea typeface="黑体" pitchFamily="2" charset="-122"/>
              </a:rPr>
              <a:t>有效缓冲器</a:t>
            </a:r>
            <a:r>
              <a:rPr lang="en-US" altLang="zh-CN">
                <a:solidFill>
                  <a:srgbClr val="000000"/>
                </a:solidFill>
                <a:latin typeface="Arial" pitchFamily="34" charset="0"/>
                <a:ea typeface="黑体" pitchFamily="2" charset="-122"/>
              </a:rPr>
              <a:t>)		notif1</a:t>
            </a:r>
            <a:r>
              <a:rPr lang="zh-CN" altLang="en-US">
                <a:solidFill>
                  <a:srgbClr val="000000"/>
                </a:solidFill>
                <a:latin typeface="Arial" pitchFamily="34" charset="0"/>
                <a:ea typeface="黑体" pitchFamily="2" charset="-122"/>
              </a:rPr>
              <a:t>（控制端</a:t>
            </a:r>
            <a:r>
              <a:rPr lang="en-US" altLang="zh-CN">
                <a:solidFill>
                  <a:srgbClr val="000000"/>
                </a:solidFill>
                <a:latin typeface="Arial" pitchFamily="34" charset="0"/>
                <a:ea typeface="黑体" pitchFamily="2" charset="-122"/>
              </a:rPr>
              <a:t>1</a:t>
            </a:r>
            <a:r>
              <a:rPr lang="zh-CN" altLang="en-US">
                <a:solidFill>
                  <a:srgbClr val="000000"/>
                </a:solidFill>
                <a:latin typeface="Arial" pitchFamily="34" charset="0"/>
                <a:ea typeface="黑体" pitchFamily="2" charset="-122"/>
              </a:rPr>
              <a:t>有效非门）</a:t>
            </a:r>
          </a:p>
          <a:p>
            <a:pPr>
              <a:spcBef>
                <a:spcPct val="50000"/>
              </a:spcBef>
            </a:pPr>
            <a:r>
              <a:rPr lang="en-US" altLang="zh-CN">
                <a:solidFill>
                  <a:srgbClr val="000000"/>
                </a:solidFill>
                <a:latin typeface="Arial" pitchFamily="34" charset="0"/>
                <a:ea typeface="黑体" pitchFamily="2" charset="-122"/>
              </a:rPr>
              <a:t>bufif0 (</a:t>
            </a:r>
            <a:r>
              <a:rPr lang="zh-CN" altLang="en-US">
                <a:solidFill>
                  <a:srgbClr val="000000"/>
                </a:solidFill>
                <a:latin typeface="Arial" pitchFamily="34" charset="0"/>
                <a:ea typeface="黑体" pitchFamily="2" charset="-122"/>
              </a:rPr>
              <a:t>控制端</a:t>
            </a:r>
            <a:r>
              <a:rPr lang="en-US" altLang="zh-CN">
                <a:solidFill>
                  <a:srgbClr val="000000"/>
                </a:solidFill>
                <a:latin typeface="Arial" pitchFamily="34" charset="0"/>
                <a:ea typeface="黑体" pitchFamily="2" charset="-122"/>
              </a:rPr>
              <a:t>0</a:t>
            </a:r>
            <a:r>
              <a:rPr lang="zh-CN" altLang="en-US">
                <a:solidFill>
                  <a:srgbClr val="000000"/>
                </a:solidFill>
                <a:latin typeface="Arial" pitchFamily="34" charset="0"/>
                <a:ea typeface="黑体" pitchFamily="2" charset="-122"/>
              </a:rPr>
              <a:t>有效缓冲器</a:t>
            </a:r>
            <a:r>
              <a:rPr lang="en-US" altLang="zh-CN">
                <a:solidFill>
                  <a:srgbClr val="000000"/>
                </a:solidFill>
                <a:latin typeface="Arial" pitchFamily="34" charset="0"/>
                <a:ea typeface="黑体" pitchFamily="2" charset="-122"/>
              </a:rPr>
              <a:t>)	notif0</a:t>
            </a:r>
            <a:r>
              <a:rPr lang="zh-CN" altLang="en-US">
                <a:solidFill>
                  <a:srgbClr val="000000"/>
                </a:solidFill>
                <a:latin typeface="Arial" pitchFamily="34" charset="0"/>
                <a:ea typeface="黑体" pitchFamily="2" charset="-122"/>
              </a:rPr>
              <a:t>（控制端</a:t>
            </a:r>
            <a:r>
              <a:rPr lang="en-US" altLang="zh-CN">
                <a:solidFill>
                  <a:srgbClr val="000000"/>
                </a:solidFill>
                <a:latin typeface="Arial" pitchFamily="34" charset="0"/>
                <a:ea typeface="黑体" pitchFamily="2" charset="-122"/>
              </a:rPr>
              <a:t>0</a:t>
            </a:r>
            <a:r>
              <a:rPr lang="zh-CN" altLang="en-US">
                <a:solidFill>
                  <a:srgbClr val="000000"/>
                </a:solidFill>
                <a:latin typeface="Arial" pitchFamily="34" charset="0"/>
                <a:ea typeface="黑体" pitchFamily="2" charset="-122"/>
              </a:rPr>
              <a:t>有效非门）</a:t>
            </a:r>
          </a:p>
        </p:txBody>
      </p:sp>
      <p:sp>
        <p:nvSpPr>
          <p:cNvPr id="34" name="Text Box 32"/>
          <p:cNvSpPr txBox="1">
            <a:spLocks noChangeArrowheads="1"/>
          </p:cNvSpPr>
          <p:nvPr/>
        </p:nvSpPr>
        <p:spPr bwMode="auto">
          <a:xfrm>
            <a:off x="5724525" y="2571576"/>
            <a:ext cx="3200400" cy="2711450"/>
          </a:xfrm>
          <a:prstGeom prst="rect">
            <a:avLst/>
          </a:prstGeom>
          <a:noFill/>
          <a:ln w="28575" algn="ctr">
            <a:solidFill>
              <a:srgbClr val="990033"/>
            </a:solidFill>
            <a:miter lim="800000"/>
            <a:headEnd/>
            <a:tailEnd/>
          </a:ln>
        </p:spPr>
        <p:txBody>
          <a:bodyPr>
            <a:spAutoFit/>
          </a:bodyPr>
          <a:lstStyle/>
          <a:p>
            <a:pPr>
              <a:spcBef>
                <a:spcPct val="50000"/>
              </a:spcBef>
            </a:pPr>
            <a:r>
              <a:rPr lang="zh-CN" altLang="en-US" sz="2000">
                <a:solidFill>
                  <a:srgbClr val="000000"/>
                </a:solidFill>
                <a:latin typeface="Arial" pitchFamily="34" charset="0"/>
                <a:ea typeface="黑体" pitchFamily="2" charset="-122"/>
              </a:rPr>
              <a:t>例：</a:t>
            </a:r>
          </a:p>
          <a:p>
            <a:pPr>
              <a:spcBef>
                <a:spcPct val="50000"/>
              </a:spcBef>
            </a:pPr>
            <a:r>
              <a:rPr lang="en-US" altLang="zh-CN" sz="2000">
                <a:solidFill>
                  <a:srgbClr val="000000"/>
                </a:solidFill>
                <a:latin typeface="Arial" pitchFamily="34" charset="0"/>
                <a:ea typeface="黑体" pitchFamily="2" charset="-122"/>
              </a:rPr>
              <a:t>bufif1 b1 (out, in, ctrl);</a:t>
            </a:r>
          </a:p>
          <a:p>
            <a:pPr>
              <a:spcBef>
                <a:spcPct val="50000"/>
              </a:spcBef>
            </a:pPr>
            <a:r>
              <a:rPr lang="en-US" altLang="zh-CN" sz="2000">
                <a:solidFill>
                  <a:srgbClr val="000000"/>
                </a:solidFill>
                <a:latin typeface="Arial" pitchFamily="34" charset="0"/>
                <a:ea typeface="黑体" pitchFamily="2" charset="-122"/>
              </a:rPr>
              <a:t>bufif0 b0 (out, in, ctrl);</a:t>
            </a:r>
          </a:p>
          <a:p>
            <a:pPr>
              <a:spcBef>
                <a:spcPct val="50000"/>
              </a:spcBef>
            </a:pPr>
            <a:endParaRPr lang="en-US" altLang="zh-CN" sz="2000">
              <a:solidFill>
                <a:srgbClr val="000000"/>
              </a:solidFill>
              <a:latin typeface="Arial" pitchFamily="34" charset="0"/>
              <a:ea typeface="黑体" pitchFamily="2" charset="-122"/>
            </a:endParaRPr>
          </a:p>
          <a:p>
            <a:pPr>
              <a:spcBef>
                <a:spcPct val="50000"/>
              </a:spcBef>
            </a:pPr>
            <a:r>
              <a:rPr lang="en-US" altLang="zh-CN" sz="2000">
                <a:solidFill>
                  <a:srgbClr val="000000"/>
                </a:solidFill>
                <a:latin typeface="Arial" pitchFamily="34" charset="0"/>
                <a:ea typeface="黑体" pitchFamily="2" charset="-122"/>
              </a:rPr>
              <a:t>notif1 n1 (out, in, ctrl);</a:t>
            </a:r>
          </a:p>
          <a:p>
            <a:pPr>
              <a:spcBef>
                <a:spcPct val="50000"/>
              </a:spcBef>
            </a:pPr>
            <a:r>
              <a:rPr lang="en-US" altLang="zh-CN" sz="2000">
                <a:solidFill>
                  <a:srgbClr val="000000"/>
                </a:solidFill>
                <a:latin typeface="Arial" pitchFamily="34" charset="0"/>
                <a:ea typeface="黑体" pitchFamily="2" charset="-122"/>
              </a:rPr>
              <a:t>notif0 n0 (out, in, ctrl);</a:t>
            </a:r>
          </a:p>
        </p:txBody>
      </p:sp>
      <p:sp>
        <p:nvSpPr>
          <p:cNvPr id="35" name="Rectangle 33"/>
          <p:cNvSpPr>
            <a:spLocks noChangeArrowheads="1"/>
          </p:cNvSpPr>
          <p:nvPr/>
        </p:nvSpPr>
        <p:spPr bwMode="auto">
          <a:xfrm>
            <a:off x="250825" y="5991051"/>
            <a:ext cx="8281988" cy="822325"/>
          </a:xfrm>
          <a:prstGeom prst="rect">
            <a:avLst/>
          </a:prstGeom>
          <a:solidFill>
            <a:srgbClr val="A3B7C1"/>
          </a:solidFill>
          <a:ln w="9525" algn="ctr">
            <a:noFill/>
            <a:miter lim="800000"/>
            <a:headEnd/>
            <a:tailEnd/>
          </a:ln>
        </p:spPr>
        <p:txBody>
          <a:bodyPr>
            <a:spAutoFit/>
          </a:bodyPr>
          <a:lstStyle/>
          <a:p>
            <a:r>
              <a:rPr lang="zh-CN" altLang="en-US">
                <a:solidFill>
                  <a:srgbClr val="184077"/>
                </a:solidFill>
                <a:ea typeface="黑体" pitchFamily="2" charset="-122"/>
              </a:rPr>
              <a:t>端口列表中前面是输出，中间是输入，最后是使能端，输出个数不限。</a:t>
            </a:r>
          </a:p>
        </p:txBody>
      </p:sp>
      <p:grpSp>
        <p:nvGrpSpPr>
          <p:cNvPr id="36" name="Group 34"/>
          <p:cNvGrpSpPr>
            <a:grpSpLocks/>
          </p:cNvGrpSpPr>
          <p:nvPr/>
        </p:nvGrpSpPr>
        <p:grpSpPr bwMode="auto">
          <a:xfrm>
            <a:off x="323850" y="2571576"/>
            <a:ext cx="5249863" cy="2879725"/>
            <a:chOff x="204" y="1752"/>
            <a:chExt cx="3307" cy="1814"/>
          </a:xfrm>
        </p:grpSpPr>
        <p:pic>
          <p:nvPicPr>
            <p:cNvPr id="37" name="Picture 35"/>
            <p:cNvPicPr>
              <a:picLocks noChangeAspect="1" noChangeArrowheads="1"/>
            </p:cNvPicPr>
            <p:nvPr/>
          </p:nvPicPr>
          <p:blipFill>
            <a:blip r:embed="rId2" cstate="print"/>
            <a:srcRect b="9164"/>
            <a:stretch>
              <a:fillRect/>
            </a:stretch>
          </p:blipFill>
          <p:spPr bwMode="auto">
            <a:xfrm>
              <a:off x="204" y="1752"/>
              <a:ext cx="3307" cy="1814"/>
            </a:xfrm>
            <a:prstGeom prst="rect">
              <a:avLst/>
            </a:prstGeom>
            <a:noFill/>
            <a:ln w="28575">
              <a:solidFill>
                <a:srgbClr val="990033"/>
              </a:solidFill>
              <a:miter lim="800000"/>
              <a:headEnd/>
              <a:tailEnd/>
            </a:ln>
          </p:spPr>
        </p:pic>
        <p:sp>
          <p:nvSpPr>
            <p:cNvPr id="38" name="Text Box 36"/>
            <p:cNvSpPr txBox="1">
              <a:spLocks noChangeArrowheads="1"/>
            </p:cNvSpPr>
            <p:nvPr/>
          </p:nvSpPr>
          <p:spPr bwMode="auto">
            <a:xfrm>
              <a:off x="1338" y="1887"/>
              <a:ext cx="353"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out</a:t>
              </a:r>
            </a:p>
          </p:txBody>
        </p:sp>
        <p:sp>
          <p:nvSpPr>
            <p:cNvPr id="39" name="Text Box 37"/>
            <p:cNvSpPr txBox="1">
              <a:spLocks noChangeArrowheads="1"/>
            </p:cNvSpPr>
            <p:nvPr/>
          </p:nvSpPr>
          <p:spPr bwMode="auto">
            <a:xfrm>
              <a:off x="1338" y="2856"/>
              <a:ext cx="353"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out</a:t>
              </a:r>
            </a:p>
          </p:txBody>
        </p:sp>
        <p:sp>
          <p:nvSpPr>
            <p:cNvPr id="40" name="Text Box 38"/>
            <p:cNvSpPr txBox="1">
              <a:spLocks noChangeArrowheads="1"/>
            </p:cNvSpPr>
            <p:nvPr/>
          </p:nvSpPr>
          <p:spPr bwMode="auto">
            <a:xfrm>
              <a:off x="3061" y="1866"/>
              <a:ext cx="353"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out</a:t>
              </a:r>
            </a:p>
          </p:txBody>
        </p:sp>
        <p:sp>
          <p:nvSpPr>
            <p:cNvPr id="41" name="Text Box 39"/>
            <p:cNvSpPr txBox="1">
              <a:spLocks noChangeArrowheads="1"/>
            </p:cNvSpPr>
            <p:nvPr/>
          </p:nvSpPr>
          <p:spPr bwMode="auto">
            <a:xfrm>
              <a:off x="3067" y="2870"/>
              <a:ext cx="353"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out</a:t>
              </a:r>
            </a:p>
          </p:txBody>
        </p:sp>
        <p:sp>
          <p:nvSpPr>
            <p:cNvPr id="42" name="Text Box 40"/>
            <p:cNvSpPr txBox="1">
              <a:spLocks noChangeArrowheads="1"/>
            </p:cNvSpPr>
            <p:nvPr/>
          </p:nvSpPr>
          <p:spPr bwMode="auto">
            <a:xfrm>
              <a:off x="1973" y="1866"/>
              <a:ext cx="251"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in</a:t>
              </a:r>
            </a:p>
          </p:txBody>
        </p:sp>
        <p:sp>
          <p:nvSpPr>
            <p:cNvPr id="43" name="Text Box 41"/>
            <p:cNvSpPr txBox="1">
              <a:spLocks noChangeArrowheads="1"/>
            </p:cNvSpPr>
            <p:nvPr/>
          </p:nvSpPr>
          <p:spPr bwMode="auto">
            <a:xfrm>
              <a:off x="2018" y="2864"/>
              <a:ext cx="251"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in</a:t>
              </a:r>
            </a:p>
          </p:txBody>
        </p:sp>
        <p:sp>
          <p:nvSpPr>
            <p:cNvPr id="44" name="Text Box 42"/>
            <p:cNvSpPr txBox="1">
              <a:spLocks noChangeArrowheads="1"/>
            </p:cNvSpPr>
            <p:nvPr/>
          </p:nvSpPr>
          <p:spPr bwMode="auto">
            <a:xfrm>
              <a:off x="295" y="1872"/>
              <a:ext cx="251"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in</a:t>
              </a:r>
            </a:p>
          </p:txBody>
        </p:sp>
        <p:sp>
          <p:nvSpPr>
            <p:cNvPr id="45" name="Text Box 43"/>
            <p:cNvSpPr txBox="1">
              <a:spLocks noChangeArrowheads="1"/>
            </p:cNvSpPr>
            <p:nvPr/>
          </p:nvSpPr>
          <p:spPr bwMode="auto">
            <a:xfrm>
              <a:off x="311" y="2856"/>
              <a:ext cx="251"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in</a:t>
              </a:r>
            </a:p>
          </p:txBody>
        </p:sp>
        <p:sp>
          <p:nvSpPr>
            <p:cNvPr id="46" name="Text Box 44"/>
            <p:cNvSpPr txBox="1">
              <a:spLocks noChangeArrowheads="1"/>
            </p:cNvSpPr>
            <p:nvPr/>
          </p:nvSpPr>
          <p:spPr bwMode="auto">
            <a:xfrm>
              <a:off x="385" y="2160"/>
              <a:ext cx="35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ctrl</a:t>
              </a:r>
            </a:p>
          </p:txBody>
        </p:sp>
        <p:sp>
          <p:nvSpPr>
            <p:cNvPr id="47" name="Text Box 45"/>
            <p:cNvSpPr txBox="1">
              <a:spLocks noChangeArrowheads="1"/>
            </p:cNvSpPr>
            <p:nvPr/>
          </p:nvSpPr>
          <p:spPr bwMode="auto">
            <a:xfrm>
              <a:off x="2154" y="2160"/>
              <a:ext cx="35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ctrl</a:t>
              </a:r>
            </a:p>
          </p:txBody>
        </p:sp>
        <p:sp>
          <p:nvSpPr>
            <p:cNvPr id="48" name="Text Box 46"/>
            <p:cNvSpPr txBox="1">
              <a:spLocks noChangeArrowheads="1"/>
            </p:cNvSpPr>
            <p:nvPr/>
          </p:nvSpPr>
          <p:spPr bwMode="auto">
            <a:xfrm>
              <a:off x="2109" y="3206"/>
              <a:ext cx="35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ctrl</a:t>
              </a:r>
            </a:p>
          </p:txBody>
        </p:sp>
        <p:sp>
          <p:nvSpPr>
            <p:cNvPr id="49" name="Text Box 47"/>
            <p:cNvSpPr txBox="1">
              <a:spLocks noChangeArrowheads="1"/>
            </p:cNvSpPr>
            <p:nvPr/>
          </p:nvSpPr>
          <p:spPr bwMode="auto">
            <a:xfrm>
              <a:off x="431" y="3174"/>
              <a:ext cx="35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00000"/>
                  </a:solidFill>
                  <a:effectLst/>
                  <a:uLnTx/>
                  <a:uFillTx/>
                  <a:ea typeface="黑体" pitchFamily="2" charset="-122"/>
                </a:rPr>
                <a:t>ctrl</a:t>
              </a:r>
            </a:p>
          </p:txBody>
        </p:sp>
        <p:sp>
          <p:nvSpPr>
            <p:cNvPr id="50" name="Text Box 48"/>
            <p:cNvSpPr txBox="1">
              <a:spLocks noChangeArrowheads="1"/>
            </p:cNvSpPr>
            <p:nvPr/>
          </p:nvSpPr>
          <p:spPr bwMode="auto">
            <a:xfrm>
              <a:off x="657" y="2387"/>
              <a:ext cx="92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184077"/>
                  </a:solidFill>
                  <a:effectLst/>
                  <a:uLnTx/>
                  <a:uFillTx/>
                  <a:ea typeface="黑体" pitchFamily="2" charset="-122"/>
                </a:rPr>
                <a:t>bufif1</a:t>
              </a:r>
              <a:r>
                <a:rPr kumimoji="0" lang="zh-CN" altLang="en-US" sz="1600" b="0" i="0" u="none" strike="noStrike" kern="0" cap="none" spc="0" normalizeH="0" baseline="0" noProof="0">
                  <a:ln>
                    <a:noFill/>
                  </a:ln>
                  <a:solidFill>
                    <a:srgbClr val="184077"/>
                  </a:solidFill>
                  <a:effectLst/>
                  <a:uLnTx/>
                  <a:uFillTx/>
                  <a:ea typeface="黑体" pitchFamily="2" charset="-122"/>
                </a:rPr>
                <a:t>三态门</a:t>
              </a:r>
            </a:p>
          </p:txBody>
        </p:sp>
        <p:sp>
          <p:nvSpPr>
            <p:cNvPr id="51" name="Text Box 49"/>
            <p:cNvSpPr txBox="1">
              <a:spLocks noChangeArrowheads="1"/>
            </p:cNvSpPr>
            <p:nvPr/>
          </p:nvSpPr>
          <p:spPr bwMode="auto">
            <a:xfrm>
              <a:off x="657" y="3337"/>
              <a:ext cx="927"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184077"/>
                  </a:solidFill>
                  <a:effectLst/>
                  <a:uLnTx/>
                  <a:uFillTx/>
                  <a:ea typeface="黑体" pitchFamily="2" charset="-122"/>
                </a:rPr>
                <a:t>bufif0</a:t>
              </a:r>
              <a:r>
                <a:rPr kumimoji="0" lang="zh-CN" altLang="en-US" sz="1600" b="0" i="0" u="none" strike="noStrike" kern="0" cap="none" spc="0" normalizeH="0" baseline="0" noProof="0">
                  <a:ln>
                    <a:noFill/>
                  </a:ln>
                  <a:solidFill>
                    <a:srgbClr val="184077"/>
                  </a:solidFill>
                  <a:effectLst/>
                  <a:uLnTx/>
                  <a:uFillTx/>
                  <a:ea typeface="黑体" pitchFamily="2" charset="-122"/>
                </a:rPr>
                <a:t>三态门</a:t>
              </a:r>
            </a:p>
          </p:txBody>
        </p:sp>
        <p:sp>
          <p:nvSpPr>
            <p:cNvPr id="52" name="Text Box 50"/>
            <p:cNvSpPr txBox="1">
              <a:spLocks noChangeArrowheads="1"/>
            </p:cNvSpPr>
            <p:nvPr/>
          </p:nvSpPr>
          <p:spPr bwMode="auto">
            <a:xfrm>
              <a:off x="2426" y="2387"/>
              <a:ext cx="929"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184077"/>
                  </a:solidFill>
                  <a:effectLst/>
                  <a:uLnTx/>
                  <a:uFillTx/>
                  <a:ea typeface="黑体" pitchFamily="2" charset="-122"/>
                </a:rPr>
                <a:t>notif1</a:t>
              </a:r>
              <a:r>
                <a:rPr kumimoji="0" lang="zh-CN" altLang="en-US" sz="1600" b="0" i="0" u="none" strike="noStrike" kern="0" cap="none" spc="0" normalizeH="0" baseline="0" noProof="0">
                  <a:ln>
                    <a:noFill/>
                  </a:ln>
                  <a:solidFill>
                    <a:srgbClr val="184077"/>
                  </a:solidFill>
                  <a:effectLst/>
                  <a:uLnTx/>
                  <a:uFillTx/>
                  <a:ea typeface="黑体" pitchFamily="2" charset="-122"/>
                </a:rPr>
                <a:t>三态门</a:t>
              </a:r>
            </a:p>
          </p:txBody>
        </p:sp>
        <p:sp>
          <p:nvSpPr>
            <p:cNvPr id="53" name="Text Box 51"/>
            <p:cNvSpPr txBox="1">
              <a:spLocks noChangeArrowheads="1"/>
            </p:cNvSpPr>
            <p:nvPr/>
          </p:nvSpPr>
          <p:spPr bwMode="auto">
            <a:xfrm>
              <a:off x="2426" y="3337"/>
              <a:ext cx="929" cy="212"/>
            </a:xfrm>
            <a:prstGeom prst="rect">
              <a:avLst/>
            </a:prstGeom>
            <a:solidFill>
              <a:srgbClr val="FFFFFF"/>
            </a:solidFill>
            <a:ln w="2857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184077"/>
                  </a:solidFill>
                  <a:effectLst/>
                  <a:uLnTx/>
                  <a:uFillTx/>
                  <a:ea typeface="黑体" pitchFamily="2" charset="-122"/>
                </a:rPr>
                <a:t>notif0</a:t>
              </a:r>
              <a:r>
                <a:rPr kumimoji="0" lang="zh-CN" altLang="en-US" sz="1600" b="0" i="0" u="none" strike="noStrike" kern="0" cap="none" spc="0" normalizeH="0" baseline="0" noProof="0">
                  <a:ln>
                    <a:noFill/>
                  </a:ln>
                  <a:solidFill>
                    <a:srgbClr val="184077"/>
                  </a:solidFill>
                  <a:effectLst/>
                  <a:uLnTx/>
                  <a:uFillTx/>
                  <a:ea typeface="黑体" pitchFamily="2" charset="-122"/>
                </a:rPr>
                <a:t>三态门</a:t>
              </a: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a:xfrm>
            <a:off x="1385888" y="188913"/>
            <a:ext cx="7793037" cy="692150"/>
          </a:xfrm>
        </p:spPr>
        <p:txBody>
          <a:bodyPr/>
          <a:lstStyle/>
          <a:p>
            <a:pPr eaLnBrk="1" hangingPunct="1"/>
            <a:r>
              <a:rPr lang="en-US" altLang="zh-CN" smtClean="0">
                <a:solidFill>
                  <a:schemeClr val="tx1"/>
                </a:solidFill>
              </a:rPr>
              <a:t>5. Verilog</a:t>
            </a:r>
            <a:r>
              <a:rPr lang="zh-CN" altLang="en-US" smtClean="0">
                <a:solidFill>
                  <a:schemeClr val="tx1"/>
                </a:solidFill>
              </a:rPr>
              <a:t>中的数据类型</a:t>
            </a:r>
          </a:p>
        </p:txBody>
      </p:sp>
      <p:sp>
        <p:nvSpPr>
          <p:cNvPr id="28675" name="TextBox 15"/>
          <p:cNvSpPr txBox="1">
            <a:spLocks noChangeArrowheads="1"/>
          </p:cNvSpPr>
          <p:nvPr/>
        </p:nvSpPr>
        <p:spPr bwMode="auto">
          <a:xfrm>
            <a:off x="500063" y="1357313"/>
            <a:ext cx="4819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Verilog</a:t>
            </a:r>
            <a:r>
              <a:rPr lang="zh-CN" altLang="en-US">
                <a:ea typeface="黑体" panose="02010609060101010101" pitchFamily="49" charset="-122"/>
              </a:rPr>
              <a:t>中的数据类型分为两大类</a:t>
            </a:r>
          </a:p>
        </p:txBody>
      </p:sp>
      <p:sp>
        <p:nvSpPr>
          <p:cNvPr id="28676" name="Text Box 12"/>
          <p:cNvSpPr txBox="1">
            <a:spLocks noChangeArrowheads="1"/>
          </p:cNvSpPr>
          <p:nvPr/>
        </p:nvSpPr>
        <p:spPr bwMode="auto">
          <a:xfrm>
            <a:off x="1428750" y="1928813"/>
            <a:ext cx="2605088" cy="46196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rgbClr val="0070C0"/>
                </a:solidFill>
                <a:ea typeface="黑体" panose="02010609060101010101" pitchFamily="49" charset="-122"/>
              </a:rPr>
              <a:t>线网类（</a:t>
            </a:r>
            <a:r>
              <a:rPr lang="en-US" altLang="zh-CN">
                <a:solidFill>
                  <a:srgbClr val="0070C0"/>
                </a:solidFill>
                <a:ea typeface="黑体" panose="02010609060101010101" pitchFamily="49" charset="-122"/>
              </a:rPr>
              <a:t>net</a:t>
            </a:r>
            <a:r>
              <a:rPr lang="zh-CN" altLang="en-US">
                <a:solidFill>
                  <a:srgbClr val="0070C0"/>
                </a:solidFill>
                <a:ea typeface="黑体" panose="02010609060101010101" pitchFamily="49" charset="-122"/>
              </a:rPr>
              <a:t>类）</a:t>
            </a:r>
          </a:p>
        </p:txBody>
      </p:sp>
      <p:sp>
        <p:nvSpPr>
          <p:cNvPr id="28677" name="Text Box 10"/>
          <p:cNvSpPr txBox="1">
            <a:spLocks noChangeArrowheads="1"/>
          </p:cNvSpPr>
          <p:nvPr/>
        </p:nvSpPr>
        <p:spPr bwMode="auto">
          <a:xfrm>
            <a:off x="1428750" y="2571750"/>
            <a:ext cx="4884671" cy="46166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dirty="0">
                <a:solidFill>
                  <a:srgbClr val="0070C0"/>
                </a:solidFill>
                <a:ea typeface="黑体" panose="02010609060101010101" pitchFamily="49" charset="-122"/>
              </a:rPr>
              <a:t>变量</a:t>
            </a:r>
            <a:r>
              <a:rPr lang="zh-CN" altLang="en-US" dirty="0" smtClean="0">
                <a:solidFill>
                  <a:srgbClr val="0070C0"/>
                </a:solidFill>
                <a:ea typeface="黑体" panose="02010609060101010101" pitchFamily="49" charset="-122"/>
              </a:rPr>
              <a:t>类</a:t>
            </a:r>
            <a:r>
              <a:rPr lang="en-US" altLang="zh-CN" dirty="0" smtClean="0">
                <a:solidFill>
                  <a:srgbClr val="0070C0"/>
                </a:solidFill>
                <a:ea typeface="黑体" panose="02010609060101010101" pitchFamily="49" charset="-122"/>
              </a:rPr>
              <a:t>/</a:t>
            </a:r>
            <a:r>
              <a:rPr lang="zh-CN" altLang="en-US" dirty="0" smtClean="0">
                <a:solidFill>
                  <a:srgbClr val="0070C0"/>
                </a:solidFill>
                <a:ea typeface="黑体" panose="02010609060101010101" pitchFamily="49" charset="-122"/>
              </a:rPr>
              <a:t>寄存器型（</a:t>
            </a:r>
            <a:r>
              <a:rPr lang="en-US" altLang="zh-CN" dirty="0">
                <a:solidFill>
                  <a:srgbClr val="0070C0"/>
                </a:solidFill>
                <a:ea typeface="黑体" panose="02010609060101010101" pitchFamily="49" charset="-122"/>
              </a:rPr>
              <a:t>variable</a:t>
            </a:r>
            <a:r>
              <a:rPr lang="zh-CN" altLang="en-US" dirty="0">
                <a:solidFill>
                  <a:srgbClr val="0070C0"/>
                </a:solidFill>
                <a:ea typeface="黑体" panose="02010609060101010101" pitchFamily="49" charset="-122"/>
              </a:rPr>
              <a:t>类）</a:t>
            </a:r>
          </a:p>
        </p:txBody>
      </p:sp>
      <p:sp>
        <p:nvSpPr>
          <p:cNvPr id="28678" name="TextBox 18"/>
          <p:cNvSpPr txBox="1">
            <a:spLocks noChangeArrowheads="1"/>
          </p:cNvSpPr>
          <p:nvPr/>
        </p:nvSpPr>
        <p:spPr bwMode="auto">
          <a:xfrm>
            <a:off x="285750" y="3286125"/>
            <a:ext cx="8643938" cy="2862263"/>
          </a:xfrm>
          <a:prstGeom prst="rect">
            <a:avLst/>
          </a:prstGeom>
          <a:solidFill>
            <a:srgbClr val="FFE9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pPr>
            <a:r>
              <a:rPr lang="zh-CN" altLang="en-US" dirty="0">
                <a:ea typeface="黑体" panose="02010609060101010101" pitchFamily="49" charset="-122"/>
              </a:rPr>
              <a:t>因连续赋值语句和过程赋值语句的激活特点不同，故赋值目标特点也不同，前者不需要保存，后者需要保存，因此规定两种数据类型，</a:t>
            </a:r>
            <a:r>
              <a:rPr lang="en-US" altLang="zh-CN" dirty="0">
                <a:ea typeface="黑体" panose="02010609060101010101" pitchFamily="49" charset="-122"/>
              </a:rPr>
              <a:t>net</a:t>
            </a:r>
            <a:r>
              <a:rPr lang="zh-CN" altLang="en-US" dirty="0">
                <a:ea typeface="黑体" panose="02010609060101010101" pitchFamily="49" charset="-122"/>
              </a:rPr>
              <a:t>型用于连续赋值的赋值目标或</a:t>
            </a:r>
            <a:r>
              <a:rPr lang="zh-CN" altLang="en-US" dirty="0" smtClean="0">
                <a:ea typeface="黑体" panose="02010609060101010101" pitchFamily="49" charset="-122"/>
              </a:rPr>
              <a:t>门原语的</a:t>
            </a:r>
            <a:r>
              <a:rPr lang="zh-CN" altLang="en-US" dirty="0">
                <a:ea typeface="黑体" panose="02010609060101010101" pitchFamily="49" charset="-122"/>
              </a:rPr>
              <a:t>输出，且仿真时不需要分配内存空间，</a:t>
            </a:r>
            <a:r>
              <a:rPr lang="en-US" altLang="zh-CN" dirty="0">
                <a:ea typeface="黑体" panose="02010609060101010101" pitchFamily="49" charset="-122"/>
              </a:rPr>
              <a:t>variable</a:t>
            </a:r>
            <a:r>
              <a:rPr lang="zh-CN" altLang="en-US" dirty="0">
                <a:ea typeface="黑体" panose="02010609060101010101" pitchFamily="49" charset="-122"/>
              </a:rPr>
              <a:t>用于过程赋值的赋值目标，且仿真时需要分配内存空间。</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45"/>
          <p:cNvSpPr txBox="1">
            <a:spLocks noChangeArrowheads="1"/>
          </p:cNvSpPr>
          <p:nvPr/>
        </p:nvSpPr>
        <p:spPr bwMode="auto">
          <a:xfrm>
            <a:off x="250825" y="620713"/>
            <a:ext cx="3744913" cy="457200"/>
          </a:xfrm>
          <a:prstGeom prst="rect">
            <a:avLst/>
          </a:prstGeom>
          <a:solidFill>
            <a:srgbClr val="FEA104"/>
          </a:solidFill>
          <a:ln w="28575" algn="ctr">
            <a:noFill/>
            <a:miter lim="800000"/>
            <a:headEnd/>
            <a:tailEnd/>
          </a:ln>
        </p:spPr>
        <p:txBody>
          <a:bodyPr>
            <a:spAutoFit/>
          </a:bodyPr>
          <a:lstStyle/>
          <a:p>
            <a:pPr eaLnBrk="1" hangingPunct="1">
              <a:spcBef>
                <a:spcPct val="50000"/>
              </a:spcBef>
              <a:buClr>
                <a:srgbClr val="990100"/>
              </a:buClr>
              <a:buFont typeface="Wingdings" pitchFamily="2" charset="2"/>
              <a:buChar char="l"/>
            </a:pPr>
            <a:r>
              <a:rPr lang="en-US" altLang="zh-CN" b="1">
                <a:solidFill>
                  <a:srgbClr val="000032"/>
                </a:solidFill>
              </a:rPr>
              <a:t>net</a:t>
            </a:r>
            <a:r>
              <a:rPr lang="zh-CN" altLang="en-US" b="1">
                <a:solidFill>
                  <a:srgbClr val="000032"/>
                </a:solidFill>
              </a:rPr>
              <a:t>类中的数据类型</a:t>
            </a:r>
          </a:p>
        </p:txBody>
      </p:sp>
      <p:graphicFrame>
        <p:nvGraphicFramePr>
          <p:cNvPr id="241753" name="Group 89"/>
          <p:cNvGraphicFramePr>
            <a:graphicFrameLocks noGrp="1"/>
          </p:cNvGraphicFramePr>
          <p:nvPr/>
        </p:nvGraphicFramePr>
        <p:xfrm>
          <a:off x="250825" y="1236663"/>
          <a:ext cx="8461375" cy="1112838"/>
        </p:xfrm>
        <a:graphic>
          <a:graphicData uri="http://schemas.openxmlformats.org/drawingml/2006/table">
            <a:tbl>
              <a:tblPr/>
              <a:tblGrid>
                <a:gridCol w="1800225"/>
                <a:gridCol w="2089150"/>
                <a:gridCol w="2503488"/>
                <a:gridCol w="2068512"/>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C00000"/>
                          </a:solidFill>
                          <a:effectLst/>
                          <a:latin typeface="Verdana" pitchFamily="34" charset="0"/>
                          <a:ea typeface="黑体" pitchFamily="2" charset="-122"/>
                        </a:rPr>
                        <a:t>wire</a:t>
                      </a:r>
                      <a:r>
                        <a:rPr kumimoji="0" lang="zh-CN" altLang="en-US" sz="1800" b="1" i="0" u="none" strike="noStrike" cap="none" normalizeH="0" baseline="0" smtClean="0">
                          <a:ln>
                            <a:noFill/>
                          </a:ln>
                          <a:solidFill>
                            <a:srgbClr val="C00000"/>
                          </a:solidFill>
                          <a:effectLst/>
                          <a:latin typeface="Verdana" pitchFamily="34" charset="0"/>
                          <a:ea typeface="黑体" pitchFamily="2" charset="-122"/>
                        </a:rPr>
                        <a:t>（线型）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9A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（三态）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tri0</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（下拉电阻）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supply0</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98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wand</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（线与）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triand</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（三态与）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tri1</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（上拉电阻）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supply1</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（电源）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wor</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（线或）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trior</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（三态或）</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trireg</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（电容性线网）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rgbClr val="0070C0"/>
                        </a:solidFill>
                        <a:effectLst/>
                        <a:latin typeface="Verdana" pitchFamily="34"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r>
            </a:tbl>
          </a:graphicData>
        </a:graphic>
      </p:graphicFrame>
      <p:graphicFrame>
        <p:nvGraphicFramePr>
          <p:cNvPr id="241736" name="Group 72"/>
          <p:cNvGraphicFramePr>
            <a:graphicFrameLocks noGrp="1"/>
          </p:cNvGraphicFramePr>
          <p:nvPr/>
        </p:nvGraphicFramePr>
        <p:xfrm>
          <a:off x="252413" y="4403725"/>
          <a:ext cx="4652962" cy="1112838"/>
        </p:xfrm>
        <a:graphic>
          <a:graphicData uri="http://schemas.openxmlformats.org/drawingml/2006/table">
            <a:tbl>
              <a:tblPr/>
              <a:tblGrid>
                <a:gridCol w="2024062"/>
                <a:gridCol w="2628900"/>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C00000"/>
                          </a:solidFill>
                          <a:effectLst/>
                          <a:latin typeface="Verdana" pitchFamily="34" charset="0"/>
                          <a:ea typeface="黑体" pitchFamily="2" charset="-122"/>
                        </a:rPr>
                        <a:t>reg</a:t>
                      </a:r>
                      <a:r>
                        <a:rPr kumimoji="0" lang="zh-CN" altLang="en-US" sz="1800" b="1" i="0" u="none" strike="noStrike" cap="none" normalizeH="0" baseline="0" dirty="0" smtClean="0">
                          <a:ln>
                            <a:noFill/>
                          </a:ln>
                          <a:solidFill>
                            <a:srgbClr val="C00000"/>
                          </a:solidFill>
                          <a:effectLst/>
                          <a:latin typeface="Verdana" pitchFamily="34" charset="0"/>
                          <a:ea typeface="黑体" pitchFamily="2" charset="-122"/>
                        </a:rPr>
                        <a:t>（寄存器型）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9A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smtClean="0">
                        <a:ln>
                          <a:noFill/>
                        </a:ln>
                        <a:solidFill>
                          <a:srgbClr val="C00000"/>
                        </a:solidFill>
                        <a:effectLst/>
                        <a:latin typeface="Verdana" pitchFamily="34"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FD1"/>
                    </a:solidFill>
                  </a:tcPr>
                </a:tc>
              </a:tr>
              <a:tr h="3698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integer</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（整型）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time</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（时间型）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2F9EE"/>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rgbClr val="0070C0"/>
                          </a:solidFill>
                          <a:effectLst/>
                          <a:latin typeface="Verdana" pitchFamily="34" charset="0"/>
                          <a:ea typeface="黑体" pitchFamily="2" charset="-122"/>
                        </a:rPr>
                        <a:t>real</a:t>
                      </a:r>
                      <a:r>
                        <a:rPr kumimoji="0" lang="zh-CN" altLang="en-US" sz="1800" b="1" i="0" u="none" strike="noStrike" cap="none" normalizeH="0" baseline="0" smtClean="0">
                          <a:ln>
                            <a:noFill/>
                          </a:ln>
                          <a:solidFill>
                            <a:srgbClr val="0070C0"/>
                          </a:solidFill>
                          <a:effectLst/>
                          <a:latin typeface="Verdana" pitchFamily="34" charset="0"/>
                          <a:ea typeface="黑体" pitchFamily="2" charset="-122"/>
                        </a:rPr>
                        <a:t>（实型）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smtClean="0">
                          <a:ln>
                            <a:noFill/>
                          </a:ln>
                          <a:solidFill>
                            <a:srgbClr val="0070C0"/>
                          </a:solidFill>
                          <a:effectLst/>
                          <a:latin typeface="Verdana" pitchFamily="34" charset="0"/>
                          <a:ea typeface="黑体" pitchFamily="2" charset="-122"/>
                        </a:rPr>
                        <a:t>realtime</a:t>
                      </a:r>
                      <a:r>
                        <a:rPr kumimoji="0" lang="zh-CN" altLang="en-US" sz="1800" b="1" i="0" u="none" strike="noStrike" cap="none" normalizeH="0" baseline="0" dirty="0" smtClean="0">
                          <a:ln>
                            <a:noFill/>
                          </a:ln>
                          <a:solidFill>
                            <a:srgbClr val="0070C0"/>
                          </a:solidFill>
                          <a:effectLst/>
                          <a:latin typeface="Verdana" pitchFamily="34" charset="0"/>
                          <a:ea typeface="黑体" pitchFamily="2" charset="-122"/>
                        </a:rPr>
                        <a:t>（实时间型）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1FCF7"/>
                    </a:solidFill>
                  </a:tcPr>
                </a:tc>
              </a:tr>
            </a:tbl>
          </a:graphicData>
        </a:graphic>
      </p:graphicFrame>
      <p:sp>
        <p:nvSpPr>
          <p:cNvPr id="36904" name="Text Box 86"/>
          <p:cNvSpPr txBox="1">
            <a:spLocks noChangeArrowheads="1"/>
          </p:cNvSpPr>
          <p:nvPr/>
        </p:nvSpPr>
        <p:spPr bwMode="auto">
          <a:xfrm>
            <a:off x="250825" y="3808413"/>
            <a:ext cx="4033838" cy="457200"/>
          </a:xfrm>
          <a:prstGeom prst="rect">
            <a:avLst/>
          </a:prstGeom>
          <a:solidFill>
            <a:srgbClr val="FEA104"/>
          </a:solidFill>
          <a:ln w="28575" algn="ctr">
            <a:noFill/>
            <a:miter lim="800000"/>
            <a:headEnd/>
            <a:tailEnd/>
          </a:ln>
        </p:spPr>
        <p:txBody>
          <a:bodyPr>
            <a:spAutoFit/>
          </a:bodyPr>
          <a:lstStyle/>
          <a:p>
            <a:pPr eaLnBrk="1" hangingPunct="1">
              <a:spcBef>
                <a:spcPct val="50000"/>
              </a:spcBef>
              <a:buClr>
                <a:srgbClr val="990100"/>
              </a:buClr>
              <a:buFont typeface="Wingdings" pitchFamily="2" charset="2"/>
              <a:buChar char="l"/>
            </a:pPr>
            <a:r>
              <a:rPr lang="en-US" altLang="zh-CN" b="1">
                <a:solidFill>
                  <a:srgbClr val="000000"/>
                </a:solidFill>
              </a:rPr>
              <a:t>variable</a:t>
            </a:r>
            <a:r>
              <a:rPr lang="zh-CN" altLang="en-US" b="1">
                <a:solidFill>
                  <a:srgbClr val="000032"/>
                </a:solidFill>
              </a:rPr>
              <a:t>类中的数据类型</a:t>
            </a:r>
          </a:p>
        </p:txBody>
      </p:sp>
      <p:sp>
        <p:nvSpPr>
          <p:cNvPr id="36905" name="Text Box 87"/>
          <p:cNvSpPr txBox="1">
            <a:spLocks noChangeArrowheads="1"/>
          </p:cNvSpPr>
          <p:nvPr/>
        </p:nvSpPr>
        <p:spPr bwMode="auto">
          <a:xfrm>
            <a:off x="158750" y="2492375"/>
            <a:ext cx="2473325" cy="457200"/>
          </a:xfrm>
          <a:prstGeom prst="rect">
            <a:avLst/>
          </a:prstGeom>
          <a:noFill/>
          <a:ln w="28575" algn="ctr">
            <a:noFill/>
            <a:miter lim="800000"/>
            <a:headEnd/>
            <a:tailEnd/>
          </a:ln>
        </p:spPr>
        <p:txBody>
          <a:bodyPr wrap="none">
            <a:spAutoFit/>
          </a:bodyPr>
          <a:lstStyle/>
          <a:p>
            <a:pPr eaLnBrk="1" hangingPunct="1"/>
            <a:r>
              <a:rPr lang="zh-CN" altLang="en-US" b="1"/>
              <a:t>最常用的是</a:t>
            </a:r>
            <a:r>
              <a:rPr lang="en-US" altLang="zh-CN" b="1"/>
              <a:t>wire</a:t>
            </a:r>
          </a:p>
        </p:txBody>
      </p:sp>
      <p:sp>
        <p:nvSpPr>
          <p:cNvPr id="36906" name="Text Box 88"/>
          <p:cNvSpPr txBox="1">
            <a:spLocks noChangeArrowheads="1"/>
          </p:cNvSpPr>
          <p:nvPr/>
        </p:nvSpPr>
        <p:spPr bwMode="auto">
          <a:xfrm>
            <a:off x="250825" y="5661025"/>
            <a:ext cx="2282825" cy="457200"/>
          </a:xfrm>
          <a:prstGeom prst="rect">
            <a:avLst/>
          </a:prstGeom>
          <a:noFill/>
          <a:ln w="28575" algn="ctr">
            <a:noFill/>
            <a:miter lim="800000"/>
            <a:headEnd/>
            <a:tailEnd/>
          </a:ln>
        </p:spPr>
        <p:txBody>
          <a:bodyPr wrap="none">
            <a:spAutoFit/>
          </a:bodyPr>
          <a:lstStyle/>
          <a:p>
            <a:pPr eaLnBrk="1" hangingPunct="1"/>
            <a:r>
              <a:rPr lang="zh-CN" altLang="en-US" b="1"/>
              <a:t>最常用的是</a:t>
            </a:r>
            <a:r>
              <a:rPr lang="en-US" altLang="zh-CN" b="1"/>
              <a:t>reg</a:t>
            </a:r>
          </a:p>
        </p:txBody>
      </p:sp>
      <p:sp>
        <p:nvSpPr>
          <p:cNvPr id="36907" name="Rectangle 90"/>
          <p:cNvSpPr>
            <a:spLocks noChangeArrowheads="1"/>
          </p:cNvSpPr>
          <p:nvPr/>
        </p:nvSpPr>
        <p:spPr bwMode="auto">
          <a:xfrm>
            <a:off x="4140200" y="1254125"/>
            <a:ext cx="2303463" cy="720725"/>
          </a:xfrm>
          <a:prstGeom prst="rect">
            <a:avLst/>
          </a:prstGeom>
          <a:noFill/>
          <a:ln w="28575" algn="ctr">
            <a:solidFill>
              <a:srgbClr val="AC4600"/>
            </a:solidFill>
            <a:miter lim="800000"/>
            <a:headEnd/>
            <a:tailEnd/>
          </a:ln>
        </p:spPr>
        <p:txBody>
          <a:bodyPr wrap="none" anchor="ctr"/>
          <a:lstStyle/>
          <a:p>
            <a:pPr eaLnBrk="1" hangingPunct="1"/>
            <a:endParaRPr lang="zh-CN" altLang="en-US" b="1"/>
          </a:p>
        </p:txBody>
      </p:sp>
      <p:sp>
        <p:nvSpPr>
          <p:cNvPr id="36908" name="Rectangle 91"/>
          <p:cNvSpPr>
            <a:spLocks noChangeArrowheads="1"/>
          </p:cNvSpPr>
          <p:nvPr/>
        </p:nvSpPr>
        <p:spPr bwMode="auto">
          <a:xfrm>
            <a:off x="6659563" y="1254125"/>
            <a:ext cx="2016125" cy="720725"/>
          </a:xfrm>
          <a:prstGeom prst="rect">
            <a:avLst/>
          </a:prstGeom>
          <a:noFill/>
          <a:ln w="28575" algn="ctr">
            <a:solidFill>
              <a:srgbClr val="AC4600"/>
            </a:solidFill>
            <a:miter lim="800000"/>
            <a:headEnd/>
            <a:tailEnd/>
          </a:ln>
        </p:spPr>
        <p:txBody>
          <a:bodyPr wrap="none" anchor="ctr"/>
          <a:lstStyle/>
          <a:p>
            <a:pPr eaLnBrk="1" hangingPunct="1"/>
            <a:endParaRPr lang="zh-CN" altLang="en-US" b="1"/>
          </a:p>
        </p:txBody>
      </p:sp>
      <p:sp>
        <p:nvSpPr>
          <p:cNvPr id="36909" name="Rectangle 92"/>
          <p:cNvSpPr>
            <a:spLocks noChangeArrowheads="1"/>
          </p:cNvSpPr>
          <p:nvPr/>
        </p:nvSpPr>
        <p:spPr bwMode="auto">
          <a:xfrm>
            <a:off x="250825" y="1628775"/>
            <a:ext cx="1820863" cy="657225"/>
          </a:xfrm>
          <a:prstGeom prst="rect">
            <a:avLst/>
          </a:prstGeom>
          <a:noFill/>
          <a:ln w="28575" algn="ctr">
            <a:solidFill>
              <a:srgbClr val="AC4600"/>
            </a:solidFill>
            <a:miter lim="800000"/>
            <a:headEnd/>
            <a:tailEnd/>
          </a:ln>
        </p:spPr>
        <p:txBody>
          <a:bodyPr wrap="none" anchor="ctr"/>
          <a:lstStyle/>
          <a:p>
            <a:pPr eaLnBrk="1" hangingPunct="1"/>
            <a:endParaRPr lang="zh-CN" altLang="en-US" b="1"/>
          </a:p>
        </p:txBody>
      </p:sp>
    </p:spTree>
    <p:extLst>
      <p:ext uri="{BB962C8B-B14F-4D97-AF65-F5344CB8AC3E}">
        <p14:creationId xmlns:p14="http://schemas.microsoft.com/office/powerpoint/2010/main" val="2055008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7"/>
          <p:cNvSpPr txBox="1">
            <a:spLocks noChangeArrowheads="1"/>
          </p:cNvSpPr>
          <p:nvPr/>
        </p:nvSpPr>
        <p:spPr bwMode="auto">
          <a:xfrm>
            <a:off x="374650" y="549275"/>
            <a:ext cx="8374063" cy="4081463"/>
          </a:xfrm>
          <a:prstGeom prst="rect">
            <a:avLst/>
          </a:prstGeom>
          <a:solidFill>
            <a:srgbClr val="E3E3F1"/>
          </a:solidFill>
          <a:ln w="28575" algn="ctr">
            <a:noFill/>
            <a:miter lim="800000"/>
            <a:headEnd/>
            <a:tailEnd/>
          </a:ln>
        </p:spPr>
        <p:txBody>
          <a:bodyPr>
            <a:spAutoFit/>
          </a:bodyPr>
          <a:lstStyle/>
          <a:p>
            <a:pPr marL="457200" indent="-457200" algn="just">
              <a:lnSpc>
                <a:spcPct val="140000"/>
              </a:lnSpc>
              <a:spcBef>
                <a:spcPct val="50000"/>
              </a:spcBef>
              <a:defRPr/>
            </a:pPr>
            <a:r>
              <a:rPr lang="zh-CN" altLang="en-US" dirty="0">
                <a:solidFill>
                  <a:srgbClr val="000032"/>
                </a:solidFill>
                <a:ea typeface="黑体" pitchFamily="2" charset="-122"/>
              </a:rPr>
              <a:t>将一个信号定义成</a:t>
            </a:r>
            <a:r>
              <a:rPr lang="en-US" altLang="zh-CN" dirty="0">
                <a:solidFill>
                  <a:srgbClr val="000032"/>
                </a:solidFill>
                <a:ea typeface="黑体" pitchFamily="2" charset="-122"/>
              </a:rPr>
              <a:t>net</a:t>
            </a:r>
            <a:r>
              <a:rPr lang="zh-CN" altLang="en-US" dirty="0">
                <a:solidFill>
                  <a:srgbClr val="000032"/>
                </a:solidFill>
                <a:ea typeface="黑体" pitchFamily="2" charset="-122"/>
              </a:rPr>
              <a:t>型还是</a:t>
            </a:r>
            <a:r>
              <a:rPr lang="en-US" altLang="zh-CN" dirty="0">
                <a:solidFill>
                  <a:srgbClr val="000032"/>
                </a:solidFill>
                <a:ea typeface="黑体" pitchFamily="2" charset="-122"/>
              </a:rPr>
              <a:t>varible</a:t>
            </a:r>
            <a:r>
              <a:rPr lang="zh-CN" altLang="en-US" dirty="0">
                <a:solidFill>
                  <a:srgbClr val="000032"/>
                </a:solidFill>
                <a:ea typeface="黑体" pitchFamily="2" charset="-122"/>
              </a:rPr>
              <a:t>型，由以下两方面决定</a:t>
            </a:r>
          </a:p>
          <a:p>
            <a:pPr marL="457200" indent="-457200" algn="just">
              <a:lnSpc>
                <a:spcPct val="140000"/>
              </a:lnSpc>
              <a:spcBef>
                <a:spcPct val="50000"/>
              </a:spcBef>
              <a:buFontTx/>
              <a:buAutoNum type="alphaLcPeriod"/>
              <a:defRPr/>
            </a:pPr>
            <a:r>
              <a:rPr lang="zh-CN" altLang="en-US" dirty="0">
                <a:solidFill>
                  <a:srgbClr val="000032"/>
                </a:solidFill>
                <a:ea typeface="黑体" pitchFamily="2" charset="-122"/>
              </a:rPr>
              <a:t>使用何种赋值语句对该信号进行赋值，如果是</a:t>
            </a:r>
            <a:r>
              <a:rPr lang="zh-CN" altLang="en-US" dirty="0">
                <a:solidFill>
                  <a:srgbClr val="FF0000"/>
                </a:solidFill>
                <a:ea typeface="黑体" pitchFamily="2" charset="-122"/>
              </a:rPr>
              <a:t>连续赋值或门原语赋值</a:t>
            </a:r>
            <a:r>
              <a:rPr lang="zh-CN" altLang="en-US" dirty="0">
                <a:solidFill>
                  <a:srgbClr val="000032"/>
                </a:solidFill>
                <a:ea typeface="黑体" pitchFamily="2" charset="-122"/>
              </a:rPr>
              <a:t>或</a:t>
            </a:r>
            <a:r>
              <a:rPr lang="zh-CN" altLang="en-US" dirty="0">
                <a:solidFill>
                  <a:srgbClr val="FF0000"/>
                </a:solidFill>
                <a:ea typeface="黑体" pitchFamily="2" charset="-122"/>
              </a:rPr>
              <a:t>例化语句赋值</a:t>
            </a:r>
            <a:r>
              <a:rPr lang="zh-CN" altLang="en-US" dirty="0">
                <a:solidFill>
                  <a:srgbClr val="000032"/>
                </a:solidFill>
                <a:ea typeface="黑体" pitchFamily="2" charset="-122"/>
              </a:rPr>
              <a:t>，则定义成</a:t>
            </a:r>
            <a:r>
              <a:rPr lang="en-US" altLang="zh-CN" dirty="0">
                <a:solidFill>
                  <a:srgbClr val="FF0000"/>
                </a:solidFill>
                <a:ea typeface="黑体" pitchFamily="2" charset="-122"/>
              </a:rPr>
              <a:t>net</a:t>
            </a:r>
            <a:r>
              <a:rPr lang="zh-CN" altLang="en-US" dirty="0">
                <a:solidFill>
                  <a:srgbClr val="FF0000"/>
                </a:solidFill>
                <a:ea typeface="黑体" pitchFamily="2" charset="-122"/>
              </a:rPr>
              <a:t>型</a:t>
            </a:r>
            <a:r>
              <a:rPr lang="zh-CN" altLang="en-US" dirty="0">
                <a:solidFill>
                  <a:srgbClr val="000032"/>
                </a:solidFill>
                <a:ea typeface="黑体" pitchFamily="2" charset="-122"/>
              </a:rPr>
              <a:t>；如果是</a:t>
            </a:r>
            <a:r>
              <a:rPr lang="zh-CN" altLang="en-US" dirty="0">
                <a:solidFill>
                  <a:srgbClr val="00007D">
                    <a:lumMod val="60000"/>
                    <a:lumOff val="40000"/>
                  </a:srgbClr>
                </a:solidFill>
                <a:ea typeface="黑体" pitchFamily="2" charset="-122"/>
              </a:rPr>
              <a:t>过程赋值</a:t>
            </a:r>
            <a:r>
              <a:rPr lang="zh-CN" altLang="en-US" dirty="0">
                <a:solidFill>
                  <a:srgbClr val="000032"/>
                </a:solidFill>
                <a:ea typeface="黑体" pitchFamily="2" charset="-122"/>
              </a:rPr>
              <a:t>则定义成</a:t>
            </a:r>
            <a:r>
              <a:rPr lang="en-US" altLang="zh-CN" dirty="0">
                <a:solidFill>
                  <a:srgbClr val="00007D">
                    <a:lumMod val="60000"/>
                    <a:lumOff val="40000"/>
                  </a:srgbClr>
                </a:solidFill>
                <a:ea typeface="黑体" pitchFamily="2" charset="-122"/>
              </a:rPr>
              <a:t>variable</a:t>
            </a:r>
            <a:r>
              <a:rPr lang="zh-CN" altLang="en-US" dirty="0">
                <a:solidFill>
                  <a:srgbClr val="00007D">
                    <a:lumMod val="60000"/>
                    <a:lumOff val="40000"/>
                  </a:srgbClr>
                </a:solidFill>
                <a:ea typeface="黑体" pitchFamily="2" charset="-122"/>
              </a:rPr>
              <a:t>型</a:t>
            </a:r>
            <a:r>
              <a:rPr lang="zh-CN" altLang="en-US" dirty="0">
                <a:solidFill>
                  <a:srgbClr val="000032"/>
                </a:solidFill>
                <a:ea typeface="黑体" pitchFamily="2" charset="-122"/>
              </a:rPr>
              <a:t>。</a:t>
            </a:r>
          </a:p>
          <a:p>
            <a:pPr marL="457200" indent="-457200" algn="just">
              <a:lnSpc>
                <a:spcPct val="140000"/>
              </a:lnSpc>
              <a:spcBef>
                <a:spcPct val="50000"/>
              </a:spcBef>
              <a:buFontTx/>
              <a:buAutoNum type="alphaLcPeriod"/>
              <a:defRPr/>
            </a:pPr>
            <a:r>
              <a:rPr lang="zh-CN" altLang="en-US" dirty="0">
                <a:solidFill>
                  <a:srgbClr val="000032"/>
                </a:solidFill>
                <a:ea typeface="黑体" pitchFamily="2" charset="-122"/>
              </a:rPr>
              <a:t>对于端口信号来说，</a:t>
            </a:r>
            <a:r>
              <a:rPr lang="en-US" altLang="zh-CN" dirty="0">
                <a:solidFill>
                  <a:srgbClr val="990100"/>
                </a:solidFill>
                <a:ea typeface="黑体" pitchFamily="2" charset="-122"/>
              </a:rPr>
              <a:t>input</a:t>
            </a:r>
            <a:r>
              <a:rPr lang="zh-CN" altLang="en-US" dirty="0">
                <a:solidFill>
                  <a:srgbClr val="000032"/>
                </a:solidFill>
                <a:ea typeface="黑体" pitchFamily="2" charset="-122"/>
              </a:rPr>
              <a:t>信号和</a:t>
            </a:r>
            <a:r>
              <a:rPr lang="en-US" altLang="zh-CN" dirty="0">
                <a:solidFill>
                  <a:srgbClr val="990100"/>
                </a:solidFill>
                <a:ea typeface="黑体" pitchFamily="2" charset="-122"/>
              </a:rPr>
              <a:t>inout</a:t>
            </a:r>
            <a:r>
              <a:rPr lang="zh-CN" altLang="en-US" dirty="0">
                <a:solidFill>
                  <a:srgbClr val="000032"/>
                </a:solidFill>
                <a:ea typeface="黑体" pitchFamily="2" charset="-122"/>
              </a:rPr>
              <a:t>信号必须定义成</a:t>
            </a:r>
            <a:r>
              <a:rPr lang="en-US" altLang="zh-CN" dirty="0">
                <a:solidFill>
                  <a:srgbClr val="990100"/>
                </a:solidFill>
                <a:ea typeface="黑体" pitchFamily="2" charset="-122"/>
              </a:rPr>
              <a:t>net</a:t>
            </a:r>
            <a:r>
              <a:rPr lang="zh-CN" altLang="en-US" dirty="0">
                <a:solidFill>
                  <a:srgbClr val="000032"/>
                </a:solidFill>
                <a:ea typeface="黑体" pitchFamily="2" charset="-122"/>
              </a:rPr>
              <a:t>型的；</a:t>
            </a:r>
            <a:r>
              <a:rPr lang="en-US" altLang="zh-CN" dirty="0">
                <a:solidFill>
                  <a:srgbClr val="9999FF">
                    <a:lumMod val="50000"/>
                  </a:srgbClr>
                </a:solidFill>
                <a:ea typeface="黑体" pitchFamily="2" charset="-122"/>
              </a:rPr>
              <a:t>output</a:t>
            </a:r>
            <a:r>
              <a:rPr lang="zh-CN" altLang="en-US" dirty="0">
                <a:solidFill>
                  <a:srgbClr val="000032"/>
                </a:solidFill>
                <a:ea typeface="黑体" pitchFamily="2" charset="-122"/>
              </a:rPr>
              <a:t>信号可以是</a:t>
            </a:r>
            <a:r>
              <a:rPr lang="en-US" altLang="zh-CN" dirty="0">
                <a:solidFill>
                  <a:srgbClr val="9999FF">
                    <a:lumMod val="50000"/>
                  </a:srgbClr>
                </a:solidFill>
                <a:ea typeface="黑体" pitchFamily="2" charset="-122"/>
              </a:rPr>
              <a:t>net</a:t>
            </a:r>
            <a:r>
              <a:rPr lang="zh-CN" altLang="en-US" dirty="0">
                <a:solidFill>
                  <a:srgbClr val="000032"/>
                </a:solidFill>
                <a:ea typeface="黑体" pitchFamily="2" charset="-122"/>
              </a:rPr>
              <a:t>型的也可以是</a:t>
            </a:r>
            <a:r>
              <a:rPr lang="en-US" altLang="zh-CN" dirty="0">
                <a:solidFill>
                  <a:srgbClr val="9999FF">
                    <a:lumMod val="50000"/>
                  </a:srgbClr>
                </a:solidFill>
                <a:ea typeface="黑体" pitchFamily="2" charset="-122"/>
              </a:rPr>
              <a:t>variable</a:t>
            </a:r>
            <a:r>
              <a:rPr lang="zh-CN" altLang="en-US" dirty="0">
                <a:solidFill>
                  <a:srgbClr val="000032"/>
                </a:solidFill>
                <a:ea typeface="黑体" pitchFamily="2" charset="-122"/>
              </a:rPr>
              <a:t>型的，决定于如何对其赋值（同</a:t>
            </a:r>
            <a:r>
              <a:rPr lang="en-US" altLang="zh-CN" dirty="0">
                <a:solidFill>
                  <a:srgbClr val="000032"/>
                </a:solidFill>
                <a:ea typeface="黑体" pitchFamily="2" charset="-122"/>
              </a:rPr>
              <a:t>a</a:t>
            </a:r>
            <a:r>
              <a:rPr lang="zh-CN" altLang="en-US" dirty="0">
                <a:solidFill>
                  <a:srgbClr val="000032"/>
                </a:solidFill>
                <a:ea typeface="黑体" pitchFamily="2" charset="-122"/>
              </a:rPr>
              <a:t>）。</a:t>
            </a:r>
          </a:p>
        </p:txBody>
      </p:sp>
      <p:sp>
        <p:nvSpPr>
          <p:cNvPr id="33796" name="矩形 3"/>
          <p:cNvSpPr>
            <a:spLocks noChangeArrowheads="1"/>
          </p:cNvSpPr>
          <p:nvPr/>
        </p:nvSpPr>
        <p:spPr bwMode="auto">
          <a:xfrm>
            <a:off x="2857500" y="5143500"/>
            <a:ext cx="1214438" cy="1000125"/>
          </a:xfrm>
          <a:prstGeom prst="rect">
            <a:avLst/>
          </a:prstGeom>
          <a:noFill/>
          <a:ln w="28575" algn="ctr">
            <a:solidFill>
              <a:srgbClr val="AC4600"/>
            </a:solidFill>
            <a:round/>
            <a:headEnd/>
            <a:tailEnd/>
          </a:ln>
        </p:spPr>
        <p:txBody>
          <a:bodyPr wrap="none" anchor="ctr"/>
          <a:lstStyle/>
          <a:p>
            <a:endParaRPr lang="zh-CN" altLang="en-US">
              <a:solidFill>
                <a:srgbClr val="000000"/>
              </a:solidFill>
              <a:ea typeface="黑体" pitchFamily="2" charset="-122"/>
            </a:endParaRPr>
          </a:p>
        </p:txBody>
      </p:sp>
      <p:cxnSp>
        <p:nvCxnSpPr>
          <p:cNvPr id="33797" name="直接箭头连接符 5"/>
          <p:cNvCxnSpPr>
            <a:cxnSpLocks noChangeShapeType="1"/>
          </p:cNvCxnSpPr>
          <p:nvPr/>
        </p:nvCxnSpPr>
        <p:spPr bwMode="auto">
          <a:xfrm>
            <a:off x="2143125" y="5429250"/>
            <a:ext cx="714375" cy="1588"/>
          </a:xfrm>
          <a:prstGeom prst="straightConnector1">
            <a:avLst/>
          </a:prstGeom>
          <a:noFill/>
          <a:ln w="28575" algn="ctr">
            <a:solidFill>
              <a:srgbClr val="AC4600"/>
            </a:solidFill>
            <a:round/>
            <a:headEnd/>
            <a:tailEnd type="arrow" w="med" len="med"/>
          </a:ln>
        </p:spPr>
      </p:cxnSp>
      <p:cxnSp>
        <p:nvCxnSpPr>
          <p:cNvPr id="33798" name="直接箭头连接符 6"/>
          <p:cNvCxnSpPr>
            <a:cxnSpLocks noChangeShapeType="1"/>
          </p:cNvCxnSpPr>
          <p:nvPr/>
        </p:nvCxnSpPr>
        <p:spPr bwMode="auto">
          <a:xfrm>
            <a:off x="2143125" y="5784850"/>
            <a:ext cx="714375" cy="1588"/>
          </a:xfrm>
          <a:prstGeom prst="straightConnector1">
            <a:avLst/>
          </a:prstGeom>
          <a:noFill/>
          <a:ln w="28575" algn="ctr">
            <a:solidFill>
              <a:srgbClr val="AC4600"/>
            </a:solidFill>
            <a:round/>
            <a:headEnd type="arrow" w="med" len="med"/>
            <a:tailEnd type="arrow" w="med" len="med"/>
          </a:ln>
        </p:spPr>
      </p:cxnSp>
      <p:cxnSp>
        <p:nvCxnSpPr>
          <p:cNvPr id="33799" name="直接箭头连接符 7"/>
          <p:cNvCxnSpPr>
            <a:cxnSpLocks noChangeShapeType="1"/>
          </p:cNvCxnSpPr>
          <p:nvPr/>
        </p:nvCxnSpPr>
        <p:spPr bwMode="auto">
          <a:xfrm>
            <a:off x="4071938" y="5427663"/>
            <a:ext cx="714375" cy="1587"/>
          </a:xfrm>
          <a:prstGeom prst="straightConnector1">
            <a:avLst/>
          </a:prstGeom>
          <a:noFill/>
          <a:ln w="28575" algn="ctr">
            <a:solidFill>
              <a:srgbClr val="AC4600"/>
            </a:solidFill>
            <a:round/>
            <a:headEnd/>
            <a:tailEnd type="arrow" w="med" len="med"/>
          </a:ln>
        </p:spPr>
      </p:cxnSp>
      <p:cxnSp>
        <p:nvCxnSpPr>
          <p:cNvPr id="33800" name="直接箭头连接符 8"/>
          <p:cNvCxnSpPr>
            <a:cxnSpLocks noChangeShapeType="1"/>
          </p:cNvCxnSpPr>
          <p:nvPr/>
        </p:nvCxnSpPr>
        <p:spPr bwMode="auto">
          <a:xfrm>
            <a:off x="4071938" y="5784850"/>
            <a:ext cx="714375" cy="1588"/>
          </a:xfrm>
          <a:prstGeom prst="straightConnector1">
            <a:avLst/>
          </a:prstGeom>
          <a:noFill/>
          <a:ln w="28575" algn="ctr">
            <a:solidFill>
              <a:srgbClr val="AC4600"/>
            </a:solidFill>
            <a:round/>
            <a:headEnd/>
            <a:tailEnd type="arrow" w="med" len="med"/>
          </a:ln>
        </p:spPr>
      </p:cxnSp>
      <p:sp>
        <p:nvSpPr>
          <p:cNvPr id="33801" name="TextBox 9"/>
          <p:cNvSpPr txBox="1">
            <a:spLocks noChangeArrowheads="1"/>
          </p:cNvSpPr>
          <p:nvPr/>
        </p:nvSpPr>
        <p:spPr bwMode="auto">
          <a:xfrm>
            <a:off x="2071688" y="4967288"/>
            <a:ext cx="749300" cy="461962"/>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net</a:t>
            </a:r>
            <a:endParaRPr lang="zh-CN" altLang="en-US">
              <a:solidFill>
                <a:srgbClr val="000000"/>
              </a:solidFill>
              <a:ea typeface="黑体" pitchFamily="2" charset="-122"/>
            </a:endParaRPr>
          </a:p>
        </p:txBody>
      </p:sp>
      <p:sp>
        <p:nvSpPr>
          <p:cNvPr id="33802" name="TextBox 10"/>
          <p:cNvSpPr txBox="1">
            <a:spLocks noChangeArrowheads="1"/>
          </p:cNvSpPr>
          <p:nvPr/>
        </p:nvSpPr>
        <p:spPr bwMode="auto">
          <a:xfrm>
            <a:off x="2071688" y="5395913"/>
            <a:ext cx="749300" cy="461962"/>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net</a:t>
            </a:r>
            <a:endParaRPr lang="zh-CN" altLang="en-US">
              <a:solidFill>
                <a:srgbClr val="000000"/>
              </a:solidFill>
              <a:ea typeface="黑体" pitchFamily="2" charset="-122"/>
            </a:endParaRPr>
          </a:p>
        </p:txBody>
      </p:sp>
      <p:sp>
        <p:nvSpPr>
          <p:cNvPr id="33803" name="TextBox 12"/>
          <p:cNvSpPr txBox="1">
            <a:spLocks noChangeArrowheads="1"/>
          </p:cNvSpPr>
          <p:nvPr/>
        </p:nvSpPr>
        <p:spPr bwMode="auto">
          <a:xfrm>
            <a:off x="4857750" y="5357813"/>
            <a:ext cx="2700338" cy="461962"/>
          </a:xfrm>
          <a:prstGeom prst="rect">
            <a:avLst/>
          </a:prstGeom>
          <a:noFill/>
          <a:ln w="9525">
            <a:noFill/>
            <a:miter lim="800000"/>
            <a:headEnd/>
            <a:tailEnd/>
          </a:ln>
        </p:spPr>
        <p:txBody>
          <a:bodyPr wrap="none">
            <a:spAutoFit/>
          </a:bodyPr>
          <a:lstStyle/>
          <a:p>
            <a:r>
              <a:rPr lang="en-US" altLang="zh-CN">
                <a:solidFill>
                  <a:srgbClr val="000000"/>
                </a:solidFill>
                <a:ea typeface="黑体" pitchFamily="2" charset="-122"/>
              </a:rPr>
              <a:t>variable </a:t>
            </a:r>
            <a:r>
              <a:rPr lang="zh-CN" altLang="en-US">
                <a:solidFill>
                  <a:srgbClr val="000000"/>
                </a:solidFill>
                <a:ea typeface="黑体" pitchFamily="2" charset="-122"/>
              </a:rPr>
              <a:t>或 </a:t>
            </a:r>
            <a:r>
              <a:rPr lang="en-US" altLang="zh-CN">
                <a:solidFill>
                  <a:srgbClr val="000000"/>
                </a:solidFill>
                <a:ea typeface="黑体" pitchFamily="2" charset="-122"/>
              </a:rPr>
              <a:t>net</a:t>
            </a:r>
            <a:endParaRPr lang="zh-CN" altLang="en-US">
              <a:solidFill>
                <a:srgbClr val="000000"/>
              </a:solidFill>
              <a:ea typeface="黑体" pitchFamily="2" charset="-122"/>
            </a:endParaRPr>
          </a:p>
        </p:txBody>
      </p:sp>
    </p:spTree>
    <p:extLst>
      <p:ext uri="{BB962C8B-B14F-4D97-AF65-F5344CB8AC3E}">
        <p14:creationId xmlns:p14="http://schemas.microsoft.com/office/powerpoint/2010/main" val="36555367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21"/>
          <p:cNvSpPr txBox="1">
            <a:spLocks noChangeArrowheads="1"/>
          </p:cNvSpPr>
          <p:nvPr/>
        </p:nvSpPr>
        <p:spPr bwMode="auto">
          <a:xfrm>
            <a:off x="198438" y="549275"/>
            <a:ext cx="647700" cy="396875"/>
          </a:xfrm>
          <a:prstGeom prst="rect">
            <a:avLst/>
          </a:prstGeom>
          <a:solidFill>
            <a:srgbClr val="E3E3F1"/>
          </a:solidFill>
          <a:ln w="28575" algn="ctr">
            <a:noFill/>
            <a:miter lim="800000"/>
            <a:headEnd/>
            <a:tailEnd/>
          </a:ln>
        </p:spPr>
        <p:txBody>
          <a:bodyPr>
            <a:spAutoFit/>
          </a:bodyPr>
          <a:lstStyle/>
          <a:p>
            <a:pPr>
              <a:spcBef>
                <a:spcPct val="10000"/>
              </a:spcBef>
            </a:pPr>
            <a:r>
              <a:rPr lang="zh-CN" altLang="en-US" sz="2000">
                <a:solidFill>
                  <a:srgbClr val="B43000"/>
                </a:solidFill>
                <a:ea typeface="黑体" pitchFamily="2" charset="-122"/>
              </a:rPr>
              <a:t>例：</a:t>
            </a:r>
          </a:p>
        </p:txBody>
      </p:sp>
      <p:grpSp>
        <p:nvGrpSpPr>
          <p:cNvPr id="34820" name="Group 19"/>
          <p:cNvGrpSpPr>
            <a:grpSpLocks/>
          </p:cNvGrpSpPr>
          <p:nvPr/>
        </p:nvGrpSpPr>
        <p:grpSpPr bwMode="auto">
          <a:xfrm>
            <a:off x="5362575" y="476250"/>
            <a:ext cx="3584575" cy="2368550"/>
            <a:chOff x="3378" y="392"/>
            <a:chExt cx="2258" cy="1492"/>
          </a:xfrm>
        </p:grpSpPr>
        <p:pic>
          <p:nvPicPr>
            <p:cNvPr id="34836" name="Picture 5"/>
            <p:cNvPicPr>
              <a:picLocks noChangeAspect="1" noChangeArrowheads="1"/>
            </p:cNvPicPr>
            <p:nvPr/>
          </p:nvPicPr>
          <p:blipFill>
            <a:blip r:embed="rId2" cstate="print"/>
            <a:srcRect l="51990" t="15280" r="20050" b="44484"/>
            <a:stretch>
              <a:fillRect/>
            </a:stretch>
          </p:blipFill>
          <p:spPr bwMode="auto">
            <a:xfrm>
              <a:off x="3436" y="392"/>
              <a:ext cx="2200" cy="1492"/>
            </a:xfrm>
            <a:prstGeom prst="rect">
              <a:avLst/>
            </a:prstGeom>
            <a:noFill/>
            <a:ln w="19050">
              <a:noFill/>
              <a:miter lim="800000"/>
              <a:headEnd/>
              <a:tailEnd/>
            </a:ln>
          </p:spPr>
        </p:pic>
        <p:sp>
          <p:nvSpPr>
            <p:cNvPr id="34837" name="Text Box 6"/>
            <p:cNvSpPr txBox="1">
              <a:spLocks noChangeArrowheads="1"/>
            </p:cNvSpPr>
            <p:nvPr/>
          </p:nvSpPr>
          <p:spPr bwMode="auto">
            <a:xfrm>
              <a:off x="3378" y="438"/>
              <a:ext cx="244" cy="288"/>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a</a:t>
              </a:r>
            </a:p>
          </p:txBody>
        </p:sp>
        <p:sp>
          <p:nvSpPr>
            <p:cNvPr id="34838" name="Text Box 7"/>
            <p:cNvSpPr txBox="1">
              <a:spLocks noChangeArrowheads="1"/>
            </p:cNvSpPr>
            <p:nvPr/>
          </p:nvSpPr>
          <p:spPr bwMode="auto">
            <a:xfrm>
              <a:off x="3391" y="658"/>
              <a:ext cx="250" cy="288"/>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b</a:t>
              </a:r>
            </a:p>
          </p:txBody>
        </p:sp>
        <p:sp>
          <p:nvSpPr>
            <p:cNvPr id="34839" name="Text Box 8"/>
            <p:cNvSpPr txBox="1">
              <a:spLocks noChangeArrowheads="1"/>
            </p:cNvSpPr>
            <p:nvPr/>
          </p:nvSpPr>
          <p:spPr bwMode="auto">
            <a:xfrm>
              <a:off x="3389" y="1511"/>
              <a:ext cx="229" cy="288"/>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c</a:t>
              </a:r>
            </a:p>
          </p:txBody>
        </p:sp>
        <p:sp>
          <p:nvSpPr>
            <p:cNvPr id="34840" name="Text Box 9"/>
            <p:cNvSpPr txBox="1">
              <a:spLocks noChangeArrowheads="1"/>
            </p:cNvSpPr>
            <p:nvPr/>
          </p:nvSpPr>
          <p:spPr bwMode="auto">
            <a:xfrm>
              <a:off x="4208" y="529"/>
              <a:ext cx="250" cy="288"/>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d</a:t>
              </a:r>
            </a:p>
          </p:txBody>
        </p:sp>
        <p:sp>
          <p:nvSpPr>
            <p:cNvPr id="34841" name="Text Box 10"/>
            <p:cNvSpPr txBox="1">
              <a:spLocks noChangeArrowheads="1"/>
            </p:cNvSpPr>
            <p:nvPr/>
          </p:nvSpPr>
          <p:spPr bwMode="auto">
            <a:xfrm>
              <a:off x="5374" y="658"/>
              <a:ext cx="244" cy="288"/>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e</a:t>
              </a:r>
            </a:p>
          </p:txBody>
        </p:sp>
      </p:grpSp>
      <p:sp>
        <p:nvSpPr>
          <p:cNvPr id="34821" name="Text Box 11"/>
          <p:cNvSpPr txBox="1">
            <a:spLocks noChangeArrowheads="1"/>
          </p:cNvSpPr>
          <p:nvPr/>
        </p:nvSpPr>
        <p:spPr bwMode="auto">
          <a:xfrm>
            <a:off x="900113" y="487363"/>
            <a:ext cx="4276725" cy="457200"/>
          </a:xfrm>
          <a:prstGeom prst="rect">
            <a:avLst/>
          </a:prstGeom>
          <a:noFill/>
          <a:ln w="28575" algn="ctr">
            <a:noFill/>
            <a:miter lim="800000"/>
            <a:headEnd/>
            <a:tailEnd/>
          </a:ln>
        </p:spPr>
        <p:txBody>
          <a:bodyPr wrap="none">
            <a:spAutoFit/>
          </a:bodyPr>
          <a:lstStyle/>
          <a:p>
            <a:r>
              <a:rPr lang="zh-CN" altLang="en-US">
                <a:solidFill>
                  <a:srgbClr val="000000"/>
                </a:solidFill>
                <a:ea typeface="黑体" pitchFamily="2" charset="-122"/>
              </a:rPr>
              <a:t>该图中</a:t>
            </a:r>
            <a:r>
              <a:rPr lang="en-US" altLang="zh-CN">
                <a:solidFill>
                  <a:srgbClr val="000000"/>
                </a:solidFill>
                <a:ea typeface="黑体" pitchFamily="2" charset="-122"/>
              </a:rPr>
              <a:t>d</a:t>
            </a:r>
            <a:r>
              <a:rPr lang="zh-CN" altLang="en-US">
                <a:solidFill>
                  <a:srgbClr val="000000"/>
                </a:solidFill>
                <a:ea typeface="黑体" pitchFamily="2" charset="-122"/>
              </a:rPr>
              <a:t>和</a:t>
            </a:r>
            <a:r>
              <a:rPr lang="en-US" altLang="zh-CN">
                <a:solidFill>
                  <a:srgbClr val="000000"/>
                </a:solidFill>
                <a:ea typeface="黑体" pitchFamily="2" charset="-122"/>
              </a:rPr>
              <a:t>e</a:t>
            </a:r>
            <a:r>
              <a:rPr lang="zh-CN" altLang="en-US">
                <a:solidFill>
                  <a:srgbClr val="000000"/>
                </a:solidFill>
                <a:ea typeface="黑体" pitchFamily="2" charset="-122"/>
              </a:rPr>
              <a:t>的赋值有三种方法</a:t>
            </a:r>
          </a:p>
        </p:txBody>
      </p:sp>
      <p:sp>
        <p:nvSpPr>
          <p:cNvPr id="34822" name="Text Box 12"/>
          <p:cNvSpPr txBox="1">
            <a:spLocks noChangeArrowheads="1"/>
          </p:cNvSpPr>
          <p:nvPr/>
        </p:nvSpPr>
        <p:spPr bwMode="auto">
          <a:xfrm>
            <a:off x="250825" y="1268413"/>
            <a:ext cx="3287713" cy="457200"/>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(1) </a:t>
            </a:r>
            <a:r>
              <a:rPr lang="zh-CN" altLang="en-US">
                <a:solidFill>
                  <a:srgbClr val="000000"/>
                </a:solidFill>
                <a:ea typeface="黑体" pitchFamily="2" charset="-122"/>
              </a:rPr>
              <a:t>使用连续赋值语句</a:t>
            </a:r>
          </a:p>
        </p:txBody>
      </p:sp>
      <p:sp>
        <p:nvSpPr>
          <p:cNvPr id="34823" name="Text Box 13"/>
          <p:cNvSpPr txBox="1">
            <a:spLocks noChangeArrowheads="1"/>
          </p:cNvSpPr>
          <p:nvPr/>
        </p:nvSpPr>
        <p:spPr bwMode="auto">
          <a:xfrm>
            <a:off x="342900" y="1905000"/>
            <a:ext cx="2668588" cy="731838"/>
          </a:xfrm>
          <a:prstGeom prst="rect">
            <a:avLst/>
          </a:prstGeom>
          <a:solidFill>
            <a:srgbClr val="E3E3F1"/>
          </a:solidFill>
          <a:ln w="28575" algn="ctr">
            <a:noFill/>
            <a:miter lim="800000"/>
            <a:headEnd/>
            <a:tailEnd/>
          </a:ln>
        </p:spPr>
        <p:txBody>
          <a:bodyPr>
            <a:spAutoFit/>
          </a:bodyPr>
          <a:lstStyle/>
          <a:p>
            <a:pPr>
              <a:spcBef>
                <a:spcPct val="10000"/>
              </a:spcBef>
            </a:pPr>
            <a:r>
              <a:rPr lang="en-US" altLang="zh-CN" sz="2000">
                <a:solidFill>
                  <a:srgbClr val="B43000"/>
                </a:solidFill>
                <a:ea typeface="黑体" pitchFamily="2" charset="-122"/>
              </a:rPr>
              <a:t>assign d=a&amp;b;</a:t>
            </a:r>
          </a:p>
          <a:p>
            <a:pPr>
              <a:spcBef>
                <a:spcPct val="10000"/>
              </a:spcBef>
            </a:pPr>
            <a:r>
              <a:rPr lang="en-US" altLang="zh-CN" sz="2000">
                <a:solidFill>
                  <a:srgbClr val="B43000"/>
                </a:solidFill>
                <a:ea typeface="黑体" pitchFamily="2" charset="-122"/>
              </a:rPr>
              <a:t>assign e=d|c;</a:t>
            </a:r>
          </a:p>
        </p:txBody>
      </p:sp>
      <p:sp>
        <p:nvSpPr>
          <p:cNvPr id="34824" name="Text Box 14"/>
          <p:cNvSpPr txBox="1">
            <a:spLocks noChangeArrowheads="1"/>
          </p:cNvSpPr>
          <p:nvPr/>
        </p:nvSpPr>
        <p:spPr bwMode="auto">
          <a:xfrm>
            <a:off x="322263" y="2733675"/>
            <a:ext cx="2809875" cy="822325"/>
          </a:xfrm>
          <a:prstGeom prst="rect">
            <a:avLst/>
          </a:prstGeom>
          <a:noFill/>
          <a:ln w="28575" algn="ctr">
            <a:noFill/>
            <a:miter lim="800000"/>
            <a:headEnd/>
            <a:tailEnd/>
          </a:ln>
        </p:spPr>
        <p:txBody>
          <a:bodyPr>
            <a:spAutoFit/>
          </a:bodyPr>
          <a:lstStyle/>
          <a:p>
            <a:r>
              <a:rPr lang="zh-CN" altLang="en-US">
                <a:solidFill>
                  <a:srgbClr val="000000"/>
                </a:solidFill>
                <a:ea typeface="黑体" pitchFamily="2" charset="-122"/>
              </a:rPr>
              <a:t>此时，</a:t>
            </a:r>
            <a:r>
              <a:rPr lang="en-US" altLang="zh-CN">
                <a:solidFill>
                  <a:srgbClr val="000000"/>
                </a:solidFill>
                <a:ea typeface="黑体" pitchFamily="2" charset="-122"/>
              </a:rPr>
              <a:t>d</a:t>
            </a:r>
            <a:r>
              <a:rPr lang="zh-CN" altLang="en-US">
                <a:solidFill>
                  <a:srgbClr val="000000"/>
                </a:solidFill>
                <a:ea typeface="黑体" pitchFamily="2" charset="-122"/>
              </a:rPr>
              <a:t>和</a:t>
            </a:r>
            <a:r>
              <a:rPr lang="en-US" altLang="zh-CN">
                <a:solidFill>
                  <a:srgbClr val="000000"/>
                </a:solidFill>
                <a:ea typeface="黑体" pitchFamily="2" charset="-122"/>
              </a:rPr>
              <a:t>e</a:t>
            </a:r>
            <a:r>
              <a:rPr lang="zh-CN" altLang="en-US">
                <a:solidFill>
                  <a:srgbClr val="000000"/>
                </a:solidFill>
                <a:ea typeface="黑体" pitchFamily="2" charset="-122"/>
              </a:rPr>
              <a:t>必须定义为</a:t>
            </a:r>
            <a:r>
              <a:rPr lang="en-US" altLang="zh-CN">
                <a:solidFill>
                  <a:srgbClr val="000000"/>
                </a:solidFill>
                <a:ea typeface="黑体" pitchFamily="2" charset="-122"/>
              </a:rPr>
              <a:t>net</a:t>
            </a:r>
            <a:r>
              <a:rPr lang="zh-CN" altLang="en-US">
                <a:solidFill>
                  <a:srgbClr val="000000"/>
                </a:solidFill>
                <a:ea typeface="黑体" pitchFamily="2" charset="-122"/>
              </a:rPr>
              <a:t>型的。</a:t>
            </a:r>
          </a:p>
        </p:txBody>
      </p:sp>
      <p:sp>
        <p:nvSpPr>
          <p:cNvPr id="34825" name="Text Box 15"/>
          <p:cNvSpPr txBox="1">
            <a:spLocks noChangeArrowheads="1"/>
          </p:cNvSpPr>
          <p:nvPr/>
        </p:nvSpPr>
        <p:spPr bwMode="auto">
          <a:xfrm>
            <a:off x="323850" y="4310063"/>
            <a:ext cx="2981325" cy="457200"/>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(2) </a:t>
            </a:r>
            <a:r>
              <a:rPr lang="zh-CN" altLang="en-US">
                <a:solidFill>
                  <a:srgbClr val="000000"/>
                </a:solidFill>
                <a:ea typeface="黑体" pitchFamily="2" charset="-122"/>
              </a:rPr>
              <a:t>使用门原语赋值</a:t>
            </a:r>
          </a:p>
        </p:txBody>
      </p:sp>
      <p:sp>
        <p:nvSpPr>
          <p:cNvPr id="34826" name="Text Box 16"/>
          <p:cNvSpPr txBox="1">
            <a:spLocks noChangeArrowheads="1"/>
          </p:cNvSpPr>
          <p:nvPr/>
        </p:nvSpPr>
        <p:spPr bwMode="auto">
          <a:xfrm>
            <a:off x="415925" y="4946650"/>
            <a:ext cx="2668588" cy="731838"/>
          </a:xfrm>
          <a:prstGeom prst="rect">
            <a:avLst/>
          </a:prstGeom>
          <a:solidFill>
            <a:srgbClr val="E3E3F1"/>
          </a:solidFill>
          <a:ln w="28575" algn="ctr">
            <a:noFill/>
            <a:miter lim="800000"/>
            <a:headEnd/>
            <a:tailEnd/>
          </a:ln>
        </p:spPr>
        <p:txBody>
          <a:bodyPr>
            <a:spAutoFit/>
          </a:bodyPr>
          <a:lstStyle/>
          <a:p>
            <a:pPr>
              <a:spcBef>
                <a:spcPct val="10000"/>
              </a:spcBef>
            </a:pPr>
            <a:r>
              <a:rPr lang="en-US" altLang="zh-CN" sz="2000">
                <a:solidFill>
                  <a:srgbClr val="B43000"/>
                </a:solidFill>
                <a:ea typeface="黑体" pitchFamily="2" charset="-122"/>
              </a:rPr>
              <a:t>and (d,a,b);</a:t>
            </a:r>
          </a:p>
          <a:p>
            <a:pPr>
              <a:spcBef>
                <a:spcPct val="10000"/>
              </a:spcBef>
            </a:pPr>
            <a:r>
              <a:rPr lang="en-US" altLang="zh-CN" sz="2000">
                <a:solidFill>
                  <a:srgbClr val="B43000"/>
                </a:solidFill>
                <a:ea typeface="黑体" pitchFamily="2" charset="-122"/>
              </a:rPr>
              <a:t>or (e,d,c);</a:t>
            </a:r>
          </a:p>
        </p:txBody>
      </p:sp>
      <p:sp>
        <p:nvSpPr>
          <p:cNvPr id="34827" name="Text Box 17"/>
          <p:cNvSpPr txBox="1">
            <a:spLocks noChangeArrowheads="1"/>
          </p:cNvSpPr>
          <p:nvPr/>
        </p:nvSpPr>
        <p:spPr bwMode="auto">
          <a:xfrm>
            <a:off x="395288" y="5775325"/>
            <a:ext cx="2808287" cy="822325"/>
          </a:xfrm>
          <a:prstGeom prst="rect">
            <a:avLst/>
          </a:prstGeom>
          <a:noFill/>
          <a:ln w="28575" algn="ctr">
            <a:noFill/>
            <a:miter lim="800000"/>
            <a:headEnd/>
            <a:tailEnd/>
          </a:ln>
        </p:spPr>
        <p:txBody>
          <a:bodyPr>
            <a:spAutoFit/>
          </a:bodyPr>
          <a:lstStyle/>
          <a:p>
            <a:r>
              <a:rPr lang="zh-CN" altLang="en-US">
                <a:solidFill>
                  <a:srgbClr val="000000"/>
                </a:solidFill>
                <a:ea typeface="黑体" pitchFamily="2" charset="-122"/>
              </a:rPr>
              <a:t>此时，</a:t>
            </a:r>
            <a:r>
              <a:rPr lang="en-US" altLang="zh-CN">
                <a:solidFill>
                  <a:srgbClr val="000000"/>
                </a:solidFill>
                <a:ea typeface="黑体" pitchFamily="2" charset="-122"/>
              </a:rPr>
              <a:t>d</a:t>
            </a:r>
            <a:r>
              <a:rPr lang="zh-CN" altLang="en-US">
                <a:solidFill>
                  <a:srgbClr val="000000"/>
                </a:solidFill>
                <a:ea typeface="黑体" pitchFamily="2" charset="-122"/>
              </a:rPr>
              <a:t>和</a:t>
            </a:r>
            <a:r>
              <a:rPr lang="en-US" altLang="zh-CN">
                <a:solidFill>
                  <a:srgbClr val="000000"/>
                </a:solidFill>
                <a:ea typeface="黑体" pitchFamily="2" charset="-122"/>
              </a:rPr>
              <a:t>e</a:t>
            </a:r>
            <a:r>
              <a:rPr lang="zh-CN" altLang="en-US">
                <a:solidFill>
                  <a:srgbClr val="000000"/>
                </a:solidFill>
                <a:ea typeface="黑体" pitchFamily="2" charset="-122"/>
              </a:rPr>
              <a:t>也必须定义为</a:t>
            </a:r>
            <a:r>
              <a:rPr lang="en-US" altLang="zh-CN">
                <a:solidFill>
                  <a:srgbClr val="000000"/>
                </a:solidFill>
                <a:ea typeface="黑体" pitchFamily="2" charset="-122"/>
              </a:rPr>
              <a:t>net</a:t>
            </a:r>
            <a:r>
              <a:rPr lang="zh-CN" altLang="en-US">
                <a:solidFill>
                  <a:srgbClr val="000000"/>
                </a:solidFill>
                <a:ea typeface="黑体" pitchFamily="2" charset="-122"/>
              </a:rPr>
              <a:t>型的。</a:t>
            </a:r>
          </a:p>
        </p:txBody>
      </p:sp>
      <p:sp>
        <p:nvSpPr>
          <p:cNvPr id="34828" name="Text Box 20"/>
          <p:cNvSpPr txBox="1">
            <a:spLocks noChangeArrowheads="1"/>
          </p:cNvSpPr>
          <p:nvPr/>
        </p:nvSpPr>
        <p:spPr bwMode="auto">
          <a:xfrm>
            <a:off x="5014913" y="2924175"/>
            <a:ext cx="3287712" cy="457200"/>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(3) </a:t>
            </a:r>
            <a:r>
              <a:rPr lang="zh-CN" altLang="en-US">
                <a:solidFill>
                  <a:srgbClr val="000000"/>
                </a:solidFill>
                <a:ea typeface="黑体" pitchFamily="2" charset="-122"/>
              </a:rPr>
              <a:t>使用过程赋值语句</a:t>
            </a:r>
          </a:p>
        </p:txBody>
      </p:sp>
      <p:sp>
        <p:nvSpPr>
          <p:cNvPr id="34829" name="Text Box 21"/>
          <p:cNvSpPr txBox="1">
            <a:spLocks noChangeArrowheads="1"/>
          </p:cNvSpPr>
          <p:nvPr/>
        </p:nvSpPr>
        <p:spPr bwMode="auto">
          <a:xfrm>
            <a:off x="5106988" y="3560763"/>
            <a:ext cx="2952750" cy="1736725"/>
          </a:xfrm>
          <a:prstGeom prst="rect">
            <a:avLst/>
          </a:prstGeom>
          <a:solidFill>
            <a:srgbClr val="E3E3F1"/>
          </a:solidFill>
          <a:ln w="28575" algn="ctr">
            <a:noFill/>
            <a:miter lim="800000"/>
            <a:headEnd/>
            <a:tailEnd/>
          </a:ln>
        </p:spPr>
        <p:txBody>
          <a:bodyPr>
            <a:spAutoFit/>
          </a:bodyPr>
          <a:lstStyle/>
          <a:p>
            <a:pPr>
              <a:spcBef>
                <a:spcPct val="10000"/>
              </a:spcBef>
            </a:pPr>
            <a:r>
              <a:rPr lang="en-US" altLang="zh-CN" sz="2000">
                <a:solidFill>
                  <a:srgbClr val="B43000"/>
                </a:solidFill>
                <a:ea typeface="黑体" pitchFamily="2" charset="-122"/>
              </a:rPr>
              <a:t>always @(a,b,d,c)</a:t>
            </a:r>
          </a:p>
          <a:p>
            <a:pPr>
              <a:spcBef>
                <a:spcPct val="10000"/>
              </a:spcBef>
            </a:pPr>
            <a:r>
              <a:rPr lang="en-US" altLang="zh-CN" sz="2000">
                <a:solidFill>
                  <a:srgbClr val="B43000"/>
                </a:solidFill>
                <a:ea typeface="黑体" pitchFamily="2" charset="-122"/>
              </a:rPr>
              <a:t>begin</a:t>
            </a:r>
          </a:p>
          <a:p>
            <a:pPr>
              <a:spcBef>
                <a:spcPct val="10000"/>
              </a:spcBef>
            </a:pPr>
            <a:r>
              <a:rPr lang="en-US" altLang="zh-CN" sz="2000">
                <a:solidFill>
                  <a:srgbClr val="B43000"/>
                </a:solidFill>
                <a:ea typeface="黑体" pitchFamily="2" charset="-122"/>
              </a:rPr>
              <a:t>  d=a&amp;b;</a:t>
            </a:r>
          </a:p>
          <a:p>
            <a:pPr>
              <a:spcBef>
                <a:spcPct val="10000"/>
              </a:spcBef>
            </a:pPr>
            <a:r>
              <a:rPr lang="en-US" altLang="zh-CN" sz="2000">
                <a:solidFill>
                  <a:srgbClr val="B43000"/>
                </a:solidFill>
                <a:ea typeface="黑体" pitchFamily="2" charset="-122"/>
              </a:rPr>
              <a:t>  e=d|c;</a:t>
            </a:r>
          </a:p>
          <a:p>
            <a:pPr>
              <a:spcBef>
                <a:spcPct val="10000"/>
              </a:spcBef>
            </a:pPr>
            <a:r>
              <a:rPr lang="en-US" altLang="zh-CN" sz="2000">
                <a:solidFill>
                  <a:srgbClr val="B43000"/>
                </a:solidFill>
                <a:ea typeface="黑体" pitchFamily="2" charset="-122"/>
              </a:rPr>
              <a:t>end</a:t>
            </a:r>
          </a:p>
        </p:txBody>
      </p:sp>
      <p:sp>
        <p:nvSpPr>
          <p:cNvPr id="34830" name="Text Box 22"/>
          <p:cNvSpPr txBox="1">
            <a:spLocks noChangeArrowheads="1"/>
          </p:cNvSpPr>
          <p:nvPr/>
        </p:nvSpPr>
        <p:spPr bwMode="auto">
          <a:xfrm>
            <a:off x="5106988" y="5372100"/>
            <a:ext cx="3425825" cy="822325"/>
          </a:xfrm>
          <a:prstGeom prst="rect">
            <a:avLst/>
          </a:prstGeom>
          <a:noFill/>
          <a:ln w="28575" algn="ctr">
            <a:noFill/>
            <a:miter lim="800000"/>
            <a:headEnd/>
            <a:tailEnd/>
          </a:ln>
        </p:spPr>
        <p:txBody>
          <a:bodyPr>
            <a:spAutoFit/>
          </a:bodyPr>
          <a:lstStyle/>
          <a:p>
            <a:r>
              <a:rPr lang="zh-CN" altLang="en-US" dirty="0">
                <a:solidFill>
                  <a:srgbClr val="000000"/>
                </a:solidFill>
                <a:ea typeface="黑体" pitchFamily="2" charset="-122"/>
              </a:rPr>
              <a:t>此时，</a:t>
            </a:r>
            <a:r>
              <a:rPr lang="en-US" altLang="zh-CN" dirty="0">
                <a:solidFill>
                  <a:srgbClr val="000000"/>
                </a:solidFill>
                <a:ea typeface="黑体" pitchFamily="2" charset="-122"/>
              </a:rPr>
              <a:t>d</a:t>
            </a:r>
            <a:r>
              <a:rPr lang="zh-CN" altLang="en-US" dirty="0">
                <a:solidFill>
                  <a:srgbClr val="000000"/>
                </a:solidFill>
                <a:ea typeface="黑体" pitchFamily="2" charset="-122"/>
              </a:rPr>
              <a:t>和</a:t>
            </a:r>
            <a:r>
              <a:rPr lang="en-US" altLang="zh-CN" dirty="0">
                <a:solidFill>
                  <a:srgbClr val="000000"/>
                </a:solidFill>
                <a:ea typeface="黑体" pitchFamily="2" charset="-122"/>
              </a:rPr>
              <a:t>e</a:t>
            </a:r>
            <a:r>
              <a:rPr lang="zh-CN" altLang="en-US" dirty="0">
                <a:solidFill>
                  <a:srgbClr val="000000"/>
                </a:solidFill>
                <a:ea typeface="黑体" pitchFamily="2" charset="-122"/>
              </a:rPr>
              <a:t>必须定义为</a:t>
            </a:r>
            <a:r>
              <a:rPr lang="en-US" altLang="zh-CN" dirty="0">
                <a:solidFill>
                  <a:srgbClr val="000000"/>
                </a:solidFill>
                <a:ea typeface="黑体" pitchFamily="2" charset="-122"/>
              </a:rPr>
              <a:t>variable</a:t>
            </a:r>
            <a:r>
              <a:rPr lang="zh-CN" altLang="en-US" dirty="0">
                <a:solidFill>
                  <a:srgbClr val="000000"/>
                </a:solidFill>
                <a:ea typeface="黑体" pitchFamily="2" charset="-122"/>
              </a:rPr>
              <a:t>型的。</a:t>
            </a:r>
            <a:endParaRPr lang="en-US" altLang="zh-CN" dirty="0">
              <a:solidFill>
                <a:srgbClr val="000000"/>
              </a:solidFill>
              <a:ea typeface="黑体" pitchFamily="2" charset="-122"/>
            </a:endParaRPr>
          </a:p>
        </p:txBody>
      </p:sp>
      <p:sp>
        <p:nvSpPr>
          <p:cNvPr id="34831" name="Rectangle 23"/>
          <p:cNvSpPr>
            <a:spLocks noChangeArrowheads="1"/>
          </p:cNvSpPr>
          <p:nvPr/>
        </p:nvSpPr>
        <p:spPr bwMode="auto">
          <a:xfrm>
            <a:off x="0" y="1293813"/>
            <a:ext cx="3571875" cy="2376487"/>
          </a:xfrm>
          <a:prstGeom prst="rect">
            <a:avLst/>
          </a:prstGeom>
          <a:noFill/>
          <a:ln w="28575" algn="ctr">
            <a:solidFill>
              <a:srgbClr val="AC4600"/>
            </a:solidFill>
            <a:miter lim="800000"/>
            <a:headEnd/>
            <a:tailEnd/>
          </a:ln>
        </p:spPr>
        <p:txBody>
          <a:bodyPr wrap="none" anchor="ctr"/>
          <a:lstStyle/>
          <a:p>
            <a:endParaRPr lang="zh-CN" altLang="en-US">
              <a:solidFill>
                <a:srgbClr val="000000"/>
              </a:solidFill>
              <a:ea typeface="黑体" pitchFamily="2" charset="-122"/>
            </a:endParaRPr>
          </a:p>
        </p:txBody>
      </p:sp>
      <p:sp>
        <p:nvSpPr>
          <p:cNvPr id="34832" name="Rectangle 24"/>
          <p:cNvSpPr>
            <a:spLocks noChangeArrowheads="1"/>
          </p:cNvSpPr>
          <p:nvPr/>
        </p:nvSpPr>
        <p:spPr bwMode="auto">
          <a:xfrm>
            <a:off x="0" y="4149725"/>
            <a:ext cx="3492500" cy="2519363"/>
          </a:xfrm>
          <a:prstGeom prst="rect">
            <a:avLst/>
          </a:prstGeom>
          <a:noFill/>
          <a:ln w="28575" algn="ctr">
            <a:solidFill>
              <a:srgbClr val="AC4600"/>
            </a:solidFill>
            <a:miter lim="800000"/>
            <a:headEnd/>
            <a:tailEnd/>
          </a:ln>
        </p:spPr>
        <p:txBody>
          <a:bodyPr wrap="none" anchor="ctr"/>
          <a:lstStyle/>
          <a:p>
            <a:endParaRPr lang="zh-CN" altLang="en-US">
              <a:solidFill>
                <a:srgbClr val="000000"/>
              </a:solidFill>
              <a:ea typeface="黑体" pitchFamily="2" charset="-122"/>
            </a:endParaRPr>
          </a:p>
        </p:txBody>
      </p:sp>
      <p:sp>
        <p:nvSpPr>
          <p:cNvPr id="34833" name="Rectangle 25"/>
          <p:cNvSpPr>
            <a:spLocks noChangeArrowheads="1"/>
          </p:cNvSpPr>
          <p:nvPr/>
        </p:nvSpPr>
        <p:spPr bwMode="auto">
          <a:xfrm>
            <a:off x="4932363" y="2852738"/>
            <a:ext cx="3851275" cy="3455987"/>
          </a:xfrm>
          <a:prstGeom prst="rect">
            <a:avLst/>
          </a:prstGeom>
          <a:noFill/>
          <a:ln w="28575" algn="ctr">
            <a:solidFill>
              <a:srgbClr val="AC4600"/>
            </a:solidFill>
            <a:miter lim="800000"/>
            <a:headEnd/>
            <a:tailEnd/>
          </a:ln>
        </p:spPr>
        <p:txBody>
          <a:bodyPr wrap="none" anchor="ctr"/>
          <a:lstStyle/>
          <a:p>
            <a:endParaRPr lang="zh-CN" altLang="en-US">
              <a:solidFill>
                <a:srgbClr val="000000"/>
              </a:solidFill>
              <a:ea typeface="黑体" pitchFamily="2" charset="-122"/>
            </a:endParaRPr>
          </a:p>
        </p:txBody>
      </p:sp>
      <p:sp>
        <p:nvSpPr>
          <p:cNvPr id="34834" name="Oval 26"/>
          <p:cNvSpPr>
            <a:spLocks noChangeAspect="1" noChangeArrowheads="1"/>
          </p:cNvSpPr>
          <p:nvPr/>
        </p:nvSpPr>
        <p:spPr bwMode="auto">
          <a:xfrm>
            <a:off x="6675438" y="693738"/>
            <a:ext cx="446087" cy="446087"/>
          </a:xfrm>
          <a:prstGeom prst="ellipse">
            <a:avLst/>
          </a:prstGeom>
          <a:noFill/>
          <a:ln w="28575" algn="ctr">
            <a:solidFill>
              <a:srgbClr val="880000"/>
            </a:solidFill>
            <a:round/>
            <a:headEnd/>
            <a:tailEnd/>
          </a:ln>
        </p:spPr>
        <p:txBody>
          <a:bodyPr wrap="none" anchor="ctr"/>
          <a:lstStyle/>
          <a:p>
            <a:endParaRPr lang="zh-CN" altLang="en-US">
              <a:solidFill>
                <a:srgbClr val="000000"/>
              </a:solidFill>
              <a:ea typeface="黑体" pitchFamily="2" charset="-122"/>
            </a:endParaRPr>
          </a:p>
        </p:txBody>
      </p:sp>
      <p:sp>
        <p:nvSpPr>
          <p:cNvPr id="34835" name="Oval 27"/>
          <p:cNvSpPr>
            <a:spLocks noChangeAspect="1" noChangeArrowheads="1"/>
          </p:cNvSpPr>
          <p:nvPr/>
        </p:nvSpPr>
        <p:spPr bwMode="auto">
          <a:xfrm>
            <a:off x="8504238" y="923925"/>
            <a:ext cx="446087" cy="446088"/>
          </a:xfrm>
          <a:prstGeom prst="ellipse">
            <a:avLst/>
          </a:prstGeom>
          <a:noFill/>
          <a:ln w="28575" algn="ctr">
            <a:solidFill>
              <a:srgbClr val="880000"/>
            </a:solidFill>
            <a:round/>
            <a:headEnd/>
            <a:tailEnd/>
          </a:ln>
        </p:spPr>
        <p:txBody>
          <a:bodyPr wrap="none" anchor="ctr"/>
          <a:lstStyle/>
          <a:p>
            <a:endParaRPr lang="zh-CN" altLang="en-US">
              <a:solidFill>
                <a:srgbClr val="000000"/>
              </a:solidFill>
              <a:ea typeface="黑体" pitchFamily="2" charset="-122"/>
            </a:endParaRPr>
          </a:p>
        </p:txBody>
      </p:sp>
    </p:spTree>
    <p:extLst>
      <p:ext uri="{BB962C8B-B14F-4D97-AF65-F5344CB8AC3E}">
        <p14:creationId xmlns:p14="http://schemas.microsoft.com/office/powerpoint/2010/main" val="292898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19"/>
          <p:cNvSpPr txBox="1">
            <a:spLocks noChangeArrowheads="1"/>
          </p:cNvSpPr>
          <p:nvPr/>
        </p:nvSpPr>
        <p:spPr bwMode="auto">
          <a:xfrm>
            <a:off x="3276600" y="620713"/>
            <a:ext cx="5327650" cy="2136775"/>
          </a:xfrm>
          <a:prstGeom prst="rect">
            <a:avLst/>
          </a:prstGeom>
          <a:solidFill>
            <a:srgbClr val="E3E3F1"/>
          </a:solidFill>
          <a:ln w="28575" algn="ctr">
            <a:noFill/>
            <a:miter lim="800000"/>
            <a:headEnd/>
            <a:tailEnd/>
          </a:ln>
        </p:spPr>
        <p:txBody>
          <a:bodyPr>
            <a:spAutoFit/>
          </a:bodyPr>
          <a:lstStyle/>
          <a:p>
            <a:pPr algn="just">
              <a:lnSpc>
                <a:spcPct val="140000"/>
              </a:lnSpc>
            </a:pPr>
            <a:r>
              <a:rPr lang="zh-CN" altLang="en-US">
                <a:solidFill>
                  <a:srgbClr val="000032"/>
                </a:solidFill>
                <a:ea typeface="黑体" pitchFamily="2" charset="-122"/>
              </a:rPr>
              <a:t>四个端口信号中</a:t>
            </a:r>
          </a:p>
          <a:p>
            <a:pPr algn="just">
              <a:lnSpc>
                <a:spcPct val="140000"/>
              </a:lnSpc>
            </a:pPr>
            <a:r>
              <a:rPr lang="en-US" altLang="zh-CN">
                <a:solidFill>
                  <a:srgbClr val="000032"/>
                </a:solidFill>
                <a:ea typeface="黑体" pitchFamily="2" charset="-122"/>
              </a:rPr>
              <a:t>A</a:t>
            </a:r>
            <a:r>
              <a:rPr lang="zh-CN" altLang="en-US">
                <a:solidFill>
                  <a:srgbClr val="000032"/>
                </a:solidFill>
                <a:ea typeface="黑体" pitchFamily="2" charset="-122"/>
              </a:rPr>
              <a:t>、</a:t>
            </a:r>
            <a:r>
              <a:rPr lang="en-US" altLang="zh-CN">
                <a:solidFill>
                  <a:srgbClr val="000032"/>
                </a:solidFill>
                <a:ea typeface="黑体" pitchFamily="2" charset="-122"/>
              </a:rPr>
              <a:t>B</a:t>
            </a:r>
            <a:r>
              <a:rPr lang="zh-CN" altLang="en-US">
                <a:solidFill>
                  <a:srgbClr val="000032"/>
                </a:solidFill>
                <a:ea typeface="黑体" pitchFamily="2" charset="-122"/>
              </a:rPr>
              <a:t>必须是</a:t>
            </a:r>
            <a:r>
              <a:rPr lang="en-US" altLang="zh-CN">
                <a:solidFill>
                  <a:srgbClr val="000032"/>
                </a:solidFill>
                <a:ea typeface="黑体" pitchFamily="2" charset="-122"/>
              </a:rPr>
              <a:t>net</a:t>
            </a:r>
            <a:r>
              <a:rPr lang="zh-CN" altLang="en-US">
                <a:solidFill>
                  <a:srgbClr val="000032"/>
                </a:solidFill>
                <a:ea typeface="黑体" pitchFamily="2" charset="-122"/>
              </a:rPr>
              <a:t>型的；</a:t>
            </a:r>
          </a:p>
          <a:p>
            <a:pPr algn="just">
              <a:lnSpc>
                <a:spcPct val="140000"/>
              </a:lnSpc>
            </a:pPr>
            <a:r>
              <a:rPr lang="en-US" altLang="zh-CN">
                <a:solidFill>
                  <a:srgbClr val="000032"/>
                </a:solidFill>
                <a:ea typeface="黑体" pitchFamily="2" charset="-122"/>
              </a:rPr>
              <a:t>SO</a:t>
            </a:r>
            <a:r>
              <a:rPr lang="zh-CN" altLang="en-US">
                <a:solidFill>
                  <a:srgbClr val="000032"/>
                </a:solidFill>
                <a:ea typeface="黑体" pitchFamily="2" charset="-122"/>
              </a:rPr>
              <a:t>、</a:t>
            </a:r>
            <a:r>
              <a:rPr lang="en-US" altLang="zh-CN">
                <a:solidFill>
                  <a:srgbClr val="000032"/>
                </a:solidFill>
                <a:ea typeface="黑体" pitchFamily="2" charset="-122"/>
              </a:rPr>
              <a:t>CO</a:t>
            </a:r>
            <a:r>
              <a:rPr lang="zh-CN" altLang="en-US">
                <a:solidFill>
                  <a:srgbClr val="000032"/>
                </a:solidFill>
                <a:ea typeface="黑体" pitchFamily="2" charset="-122"/>
              </a:rPr>
              <a:t>可以是</a:t>
            </a:r>
            <a:r>
              <a:rPr lang="en-US" altLang="zh-CN">
                <a:solidFill>
                  <a:srgbClr val="000032"/>
                </a:solidFill>
                <a:ea typeface="黑体" pitchFamily="2" charset="-122"/>
              </a:rPr>
              <a:t>net</a:t>
            </a:r>
            <a:r>
              <a:rPr lang="zh-CN" altLang="en-US">
                <a:solidFill>
                  <a:srgbClr val="000032"/>
                </a:solidFill>
                <a:ea typeface="黑体" pitchFamily="2" charset="-122"/>
              </a:rPr>
              <a:t>型的也可以是</a:t>
            </a:r>
            <a:r>
              <a:rPr lang="en-US" altLang="zh-CN">
                <a:solidFill>
                  <a:srgbClr val="000032"/>
                </a:solidFill>
                <a:ea typeface="黑体" pitchFamily="2" charset="-122"/>
              </a:rPr>
              <a:t>variable</a:t>
            </a:r>
            <a:r>
              <a:rPr lang="zh-CN" altLang="en-US">
                <a:solidFill>
                  <a:srgbClr val="000032"/>
                </a:solidFill>
                <a:ea typeface="黑体" pitchFamily="2" charset="-122"/>
              </a:rPr>
              <a:t>型的，决定于如何对其赋值</a:t>
            </a:r>
          </a:p>
        </p:txBody>
      </p:sp>
      <p:sp>
        <p:nvSpPr>
          <p:cNvPr id="35844" name="Text Box 21"/>
          <p:cNvSpPr txBox="1">
            <a:spLocks noChangeArrowheads="1"/>
          </p:cNvSpPr>
          <p:nvPr/>
        </p:nvSpPr>
        <p:spPr bwMode="auto">
          <a:xfrm>
            <a:off x="198438" y="549275"/>
            <a:ext cx="647700" cy="396875"/>
          </a:xfrm>
          <a:prstGeom prst="rect">
            <a:avLst/>
          </a:prstGeom>
          <a:solidFill>
            <a:srgbClr val="E3E3F1"/>
          </a:solidFill>
          <a:ln w="28575" algn="ctr">
            <a:noFill/>
            <a:miter lim="800000"/>
            <a:headEnd/>
            <a:tailEnd/>
          </a:ln>
        </p:spPr>
        <p:txBody>
          <a:bodyPr>
            <a:spAutoFit/>
          </a:bodyPr>
          <a:lstStyle/>
          <a:p>
            <a:pPr>
              <a:spcBef>
                <a:spcPct val="10000"/>
              </a:spcBef>
            </a:pPr>
            <a:r>
              <a:rPr lang="zh-CN" altLang="en-US" sz="2000">
                <a:solidFill>
                  <a:srgbClr val="B43000"/>
                </a:solidFill>
                <a:ea typeface="黑体" pitchFamily="2" charset="-122"/>
              </a:rPr>
              <a:t>例：</a:t>
            </a:r>
          </a:p>
        </p:txBody>
      </p:sp>
      <p:sp>
        <p:nvSpPr>
          <p:cNvPr id="35846" name="Rectangle 67"/>
          <p:cNvSpPr>
            <a:spLocks noChangeArrowheads="1"/>
          </p:cNvSpPr>
          <p:nvPr/>
        </p:nvSpPr>
        <p:spPr bwMode="auto">
          <a:xfrm>
            <a:off x="900113" y="549275"/>
            <a:ext cx="7920037" cy="2232025"/>
          </a:xfrm>
          <a:prstGeom prst="rect">
            <a:avLst/>
          </a:prstGeom>
          <a:noFill/>
          <a:ln w="28575" algn="ctr">
            <a:solidFill>
              <a:srgbClr val="AC4600"/>
            </a:solidFill>
            <a:miter lim="800000"/>
            <a:headEnd/>
            <a:tailEnd/>
          </a:ln>
        </p:spPr>
        <p:txBody>
          <a:bodyPr wrap="none" anchor="ctr"/>
          <a:lstStyle/>
          <a:p>
            <a:endParaRPr lang="zh-CN" altLang="en-US">
              <a:solidFill>
                <a:srgbClr val="000000"/>
              </a:solidFill>
              <a:ea typeface="黑体" pitchFamily="2" charset="-122"/>
            </a:endParaRPr>
          </a:p>
        </p:txBody>
      </p:sp>
      <p:grpSp>
        <p:nvGrpSpPr>
          <p:cNvPr id="35848" name="Group 74"/>
          <p:cNvGrpSpPr>
            <a:grpSpLocks/>
          </p:cNvGrpSpPr>
          <p:nvPr/>
        </p:nvGrpSpPr>
        <p:grpSpPr bwMode="auto">
          <a:xfrm>
            <a:off x="1042988" y="901700"/>
            <a:ext cx="2016125" cy="1511300"/>
            <a:chOff x="657" y="568"/>
            <a:chExt cx="1270" cy="952"/>
          </a:xfrm>
        </p:grpSpPr>
        <p:grpSp>
          <p:nvGrpSpPr>
            <p:cNvPr id="35878" name="Group 34"/>
            <p:cNvGrpSpPr>
              <a:grpSpLocks/>
            </p:cNvGrpSpPr>
            <p:nvPr/>
          </p:nvGrpSpPr>
          <p:grpSpPr bwMode="auto">
            <a:xfrm>
              <a:off x="657" y="568"/>
              <a:ext cx="1270" cy="952"/>
              <a:chOff x="657" y="709"/>
              <a:chExt cx="1642" cy="1298"/>
            </a:xfrm>
          </p:grpSpPr>
          <p:pic>
            <p:nvPicPr>
              <p:cNvPr id="35880" name="Picture 20"/>
              <p:cNvPicPr>
                <a:picLocks noChangeAspect="1" noChangeArrowheads="1"/>
              </p:cNvPicPr>
              <p:nvPr/>
            </p:nvPicPr>
            <p:blipFill>
              <a:blip r:embed="rId3" cstate="print"/>
              <a:srcRect l="9482" t="18608" r="9554" b="14853"/>
              <a:stretch>
                <a:fillRect/>
              </a:stretch>
            </p:blipFill>
            <p:spPr bwMode="auto">
              <a:xfrm>
                <a:off x="657" y="709"/>
                <a:ext cx="1613" cy="1298"/>
              </a:xfrm>
              <a:prstGeom prst="rect">
                <a:avLst/>
              </a:prstGeom>
              <a:solidFill>
                <a:srgbClr val="CDDD9C"/>
              </a:solidFill>
              <a:ln w="28575" algn="ctr">
                <a:solidFill>
                  <a:srgbClr val="CDDD9C"/>
                </a:solidFill>
                <a:miter lim="800000"/>
                <a:headEnd/>
                <a:tailEnd/>
              </a:ln>
            </p:spPr>
          </p:pic>
          <p:sp>
            <p:nvSpPr>
              <p:cNvPr id="35881" name="Line 22"/>
              <p:cNvSpPr>
                <a:spLocks noChangeShapeType="1"/>
              </p:cNvSpPr>
              <p:nvPr/>
            </p:nvSpPr>
            <p:spPr bwMode="auto">
              <a:xfrm>
                <a:off x="657"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35882" name="Line 23"/>
              <p:cNvSpPr>
                <a:spLocks noChangeShapeType="1"/>
              </p:cNvSpPr>
              <p:nvPr/>
            </p:nvSpPr>
            <p:spPr bwMode="auto">
              <a:xfrm>
                <a:off x="657"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35883" name="Line 24"/>
              <p:cNvSpPr>
                <a:spLocks noChangeShapeType="1"/>
              </p:cNvSpPr>
              <p:nvPr/>
            </p:nvSpPr>
            <p:spPr bwMode="auto">
              <a:xfrm>
                <a:off x="2072"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35884" name="Line 25"/>
              <p:cNvSpPr>
                <a:spLocks noChangeShapeType="1"/>
              </p:cNvSpPr>
              <p:nvPr/>
            </p:nvSpPr>
            <p:spPr bwMode="auto">
              <a:xfrm>
                <a:off x="2072"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grpSp>
        <p:sp>
          <p:nvSpPr>
            <p:cNvPr id="35879" name="Text Box 69"/>
            <p:cNvSpPr txBox="1">
              <a:spLocks noChangeArrowheads="1"/>
            </p:cNvSpPr>
            <p:nvPr/>
          </p:nvSpPr>
          <p:spPr bwMode="auto">
            <a:xfrm>
              <a:off x="845" y="1214"/>
              <a:ext cx="861" cy="250"/>
            </a:xfrm>
            <a:prstGeom prst="rect">
              <a:avLst/>
            </a:prstGeom>
            <a:noFill/>
            <a:ln w="28575" algn="ctr">
              <a:noFill/>
              <a:miter lim="800000"/>
              <a:headEnd/>
              <a:tailEnd/>
            </a:ln>
          </p:spPr>
          <p:txBody>
            <a:bodyPr wrap="none">
              <a:spAutoFit/>
            </a:bodyPr>
            <a:lstStyle/>
            <a:p>
              <a:r>
                <a:rPr lang="en-US" altLang="zh-CN" sz="2000" dirty="0">
                  <a:solidFill>
                    <a:srgbClr val="990100"/>
                  </a:solidFill>
                  <a:ea typeface="黑体" pitchFamily="2" charset="-122"/>
                </a:rPr>
                <a:t>h_adder</a:t>
              </a:r>
            </a:p>
          </p:txBody>
        </p:sp>
      </p:grpSp>
    </p:spTree>
    <p:extLst>
      <p:ext uri="{BB962C8B-B14F-4D97-AF65-F5344CB8AC3E}">
        <p14:creationId xmlns:p14="http://schemas.microsoft.com/office/powerpoint/2010/main" val="408774011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21"/>
          <p:cNvSpPr txBox="1">
            <a:spLocks noChangeArrowheads="1"/>
          </p:cNvSpPr>
          <p:nvPr/>
        </p:nvSpPr>
        <p:spPr bwMode="auto">
          <a:xfrm>
            <a:off x="198438" y="549275"/>
            <a:ext cx="647700" cy="396875"/>
          </a:xfrm>
          <a:prstGeom prst="rect">
            <a:avLst/>
          </a:prstGeom>
          <a:solidFill>
            <a:srgbClr val="E3E3F1"/>
          </a:solidFill>
          <a:ln w="28575" algn="ctr">
            <a:noFill/>
            <a:miter lim="800000"/>
            <a:headEnd/>
            <a:tailEnd/>
          </a:ln>
        </p:spPr>
        <p:txBody>
          <a:bodyPr>
            <a:spAutoFit/>
          </a:bodyPr>
          <a:lstStyle/>
          <a:p>
            <a:pPr>
              <a:spcBef>
                <a:spcPct val="10000"/>
              </a:spcBef>
            </a:pPr>
            <a:r>
              <a:rPr lang="zh-CN" altLang="en-US" sz="2000">
                <a:solidFill>
                  <a:srgbClr val="B43000"/>
                </a:solidFill>
                <a:ea typeface="黑体" pitchFamily="2" charset="-122"/>
              </a:rPr>
              <a:t>例：</a:t>
            </a:r>
          </a:p>
        </p:txBody>
      </p:sp>
      <p:sp>
        <p:nvSpPr>
          <p:cNvPr id="35845" name="Text Box 66"/>
          <p:cNvSpPr txBox="1">
            <a:spLocks noChangeArrowheads="1"/>
          </p:cNvSpPr>
          <p:nvPr/>
        </p:nvSpPr>
        <p:spPr bwMode="auto">
          <a:xfrm>
            <a:off x="413019" y="3717032"/>
            <a:ext cx="8039484" cy="2160591"/>
          </a:xfrm>
          <a:prstGeom prst="rect">
            <a:avLst/>
          </a:prstGeom>
          <a:solidFill>
            <a:srgbClr val="E3E3F1"/>
          </a:solidFill>
          <a:ln w="28575" algn="ctr">
            <a:noFill/>
            <a:miter lim="800000"/>
            <a:headEnd/>
            <a:tailEnd/>
          </a:ln>
        </p:spPr>
        <p:txBody>
          <a:bodyPr wrap="square">
            <a:spAutoFit/>
          </a:bodyPr>
          <a:lstStyle/>
          <a:p>
            <a:pPr marL="342900" indent="-342900" algn="just">
              <a:lnSpc>
                <a:spcPct val="140000"/>
              </a:lnSpc>
              <a:buClr>
                <a:schemeClr val="bg2"/>
              </a:buClr>
              <a:buFont typeface="Wingdings" panose="05000000000000000000" pitchFamily="2" charset="2"/>
              <a:buChar char="l"/>
            </a:pPr>
            <a:r>
              <a:rPr lang="en-US" altLang="zh-CN" dirty="0" smtClean="0">
                <a:solidFill>
                  <a:srgbClr val="000032"/>
                </a:solidFill>
                <a:ea typeface="黑体" pitchFamily="2" charset="-122"/>
              </a:rPr>
              <a:t>c</a:t>
            </a:r>
            <a:r>
              <a:rPr lang="zh-CN" altLang="en-US" dirty="0" smtClean="0">
                <a:solidFill>
                  <a:srgbClr val="000032"/>
                </a:solidFill>
                <a:ea typeface="黑体" pitchFamily="2" charset="-122"/>
              </a:rPr>
              <a:t>决定于如何对其赋值</a:t>
            </a:r>
            <a:r>
              <a:rPr lang="en-US" altLang="zh-CN" dirty="0" smtClean="0">
                <a:solidFill>
                  <a:srgbClr val="000032"/>
                </a:solidFill>
                <a:ea typeface="黑体" pitchFamily="2" charset="-122"/>
              </a:rPr>
              <a:t>;</a:t>
            </a:r>
            <a:endParaRPr lang="zh-CN" altLang="en-US" dirty="0" smtClean="0">
              <a:solidFill>
                <a:srgbClr val="000032"/>
              </a:solidFill>
              <a:ea typeface="黑体" pitchFamily="2" charset="-122"/>
            </a:endParaRPr>
          </a:p>
          <a:p>
            <a:pPr marL="342900" indent="-342900" algn="just">
              <a:lnSpc>
                <a:spcPct val="140000"/>
              </a:lnSpc>
              <a:buClr>
                <a:schemeClr val="bg2"/>
              </a:buClr>
              <a:buFont typeface="Wingdings" panose="05000000000000000000" pitchFamily="2" charset="2"/>
              <a:buChar char="l"/>
            </a:pPr>
            <a:r>
              <a:rPr lang="en-US" altLang="zh-CN" dirty="0" smtClean="0">
                <a:solidFill>
                  <a:srgbClr val="000032"/>
                </a:solidFill>
                <a:ea typeface="黑体" pitchFamily="2" charset="-122"/>
              </a:rPr>
              <a:t>d</a:t>
            </a:r>
            <a:r>
              <a:rPr lang="zh-CN" altLang="en-US" dirty="0" smtClean="0">
                <a:solidFill>
                  <a:srgbClr val="000032"/>
                </a:solidFill>
                <a:ea typeface="黑体" pitchFamily="2" charset="-122"/>
              </a:rPr>
              <a:t>如果是端口信号，则必须是</a:t>
            </a:r>
            <a:r>
              <a:rPr lang="en-US" altLang="zh-CN" dirty="0" smtClean="0">
                <a:solidFill>
                  <a:srgbClr val="000032"/>
                </a:solidFill>
                <a:ea typeface="黑体" pitchFamily="2" charset="-122"/>
              </a:rPr>
              <a:t>net</a:t>
            </a:r>
            <a:r>
              <a:rPr lang="zh-CN" altLang="en-US" dirty="0" smtClean="0">
                <a:solidFill>
                  <a:srgbClr val="000032"/>
                </a:solidFill>
                <a:ea typeface="黑体" pitchFamily="2" charset="-122"/>
              </a:rPr>
              <a:t>型的；如果来自其它驱动源则决定于如何对其赋值。</a:t>
            </a:r>
            <a:endParaRPr lang="en-US" altLang="zh-CN" dirty="0" smtClean="0">
              <a:solidFill>
                <a:srgbClr val="000032"/>
              </a:solidFill>
              <a:ea typeface="黑体" pitchFamily="2" charset="-122"/>
            </a:endParaRPr>
          </a:p>
          <a:p>
            <a:pPr marL="342900" indent="-342900" algn="just">
              <a:lnSpc>
                <a:spcPct val="140000"/>
              </a:lnSpc>
              <a:buClr>
                <a:schemeClr val="bg2"/>
              </a:buClr>
              <a:buFont typeface="Wingdings" panose="05000000000000000000" pitchFamily="2" charset="2"/>
              <a:buChar char="l"/>
            </a:pPr>
            <a:r>
              <a:rPr lang="en-US" altLang="zh-CN" dirty="0" smtClean="0">
                <a:solidFill>
                  <a:srgbClr val="000032"/>
                </a:solidFill>
                <a:ea typeface="黑体" pitchFamily="2" charset="-122"/>
              </a:rPr>
              <a:t>e</a:t>
            </a:r>
            <a:r>
              <a:rPr lang="zh-CN" altLang="en-US" dirty="0">
                <a:solidFill>
                  <a:srgbClr val="000032"/>
                </a:solidFill>
                <a:ea typeface="黑体" pitchFamily="2" charset="-122"/>
              </a:rPr>
              <a:t>、</a:t>
            </a:r>
            <a:r>
              <a:rPr lang="en-US" altLang="zh-CN" dirty="0" smtClean="0">
                <a:solidFill>
                  <a:srgbClr val="000032"/>
                </a:solidFill>
                <a:ea typeface="黑体" pitchFamily="2" charset="-122"/>
              </a:rPr>
              <a:t>f</a:t>
            </a:r>
            <a:r>
              <a:rPr lang="zh-CN" altLang="en-US" dirty="0" smtClean="0">
                <a:solidFill>
                  <a:srgbClr val="000032"/>
                </a:solidFill>
                <a:ea typeface="黑体" pitchFamily="2" charset="-122"/>
              </a:rPr>
              <a:t>、</a:t>
            </a:r>
            <a:r>
              <a:rPr lang="en-US" altLang="zh-CN" dirty="0" smtClean="0">
                <a:solidFill>
                  <a:srgbClr val="000032"/>
                </a:solidFill>
                <a:ea typeface="黑体" pitchFamily="2" charset="-122"/>
              </a:rPr>
              <a:t>g</a:t>
            </a:r>
            <a:r>
              <a:rPr lang="zh-CN" altLang="en-US" dirty="0" smtClean="0">
                <a:solidFill>
                  <a:srgbClr val="000032"/>
                </a:solidFill>
                <a:ea typeface="黑体" pitchFamily="2" charset="-122"/>
              </a:rPr>
              <a:t>、</a:t>
            </a:r>
            <a:r>
              <a:rPr lang="en-US" altLang="zh-CN" dirty="0" smtClean="0">
                <a:solidFill>
                  <a:srgbClr val="000032"/>
                </a:solidFill>
                <a:ea typeface="黑体" pitchFamily="2" charset="-122"/>
              </a:rPr>
              <a:t>h</a:t>
            </a:r>
            <a:r>
              <a:rPr lang="zh-CN" altLang="en-US" dirty="0" smtClean="0">
                <a:solidFill>
                  <a:srgbClr val="000032"/>
                </a:solidFill>
                <a:ea typeface="黑体" pitchFamily="2" charset="-122"/>
              </a:rPr>
              <a:t>必</a:t>
            </a:r>
            <a:r>
              <a:rPr lang="zh-CN" altLang="en-US" dirty="0">
                <a:solidFill>
                  <a:srgbClr val="000032"/>
                </a:solidFill>
                <a:ea typeface="黑体" pitchFamily="2" charset="-122"/>
              </a:rPr>
              <a:t>须是</a:t>
            </a:r>
            <a:r>
              <a:rPr lang="en-US" altLang="zh-CN" dirty="0">
                <a:solidFill>
                  <a:srgbClr val="000032"/>
                </a:solidFill>
                <a:ea typeface="黑体" pitchFamily="2" charset="-122"/>
              </a:rPr>
              <a:t>net</a:t>
            </a:r>
            <a:r>
              <a:rPr lang="zh-CN" altLang="en-US" dirty="0">
                <a:solidFill>
                  <a:srgbClr val="000032"/>
                </a:solidFill>
                <a:ea typeface="黑体" pitchFamily="2" charset="-122"/>
              </a:rPr>
              <a:t>型</a:t>
            </a:r>
            <a:r>
              <a:rPr lang="zh-CN" altLang="en-US" dirty="0" smtClean="0">
                <a:solidFill>
                  <a:srgbClr val="000032"/>
                </a:solidFill>
                <a:ea typeface="黑体" pitchFamily="2" charset="-122"/>
              </a:rPr>
              <a:t>的；</a:t>
            </a:r>
            <a:endParaRPr lang="en-US" altLang="zh-CN" dirty="0" smtClean="0">
              <a:solidFill>
                <a:srgbClr val="000032"/>
              </a:solidFill>
              <a:ea typeface="黑体" pitchFamily="2" charset="-122"/>
            </a:endParaRPr>
          </a:p>
        </p:txBody>
      </p:sp>
      <p:pic>
        <p:nvPicPr>
          <p:cNvPr id="53" name="Picture 5"/>
          <p:cNvPicPr>
            <a:picLocks noChangeAspect="1" noChangeArrowheads="1"/>
          </p:cNvPicPr>
          <p:nvPr/>
        </p:nvPicPr>
        <p:blipFill>
          <a:blip r:embed="rId3" cstate="print"/>
          <a:srcRect l="51990" t="15280" r="20050" b="44484"/>
          <a:stretch>
            <a:fillRect/>
          </a:stretch>
        </p:blipFill>
        <p:spPr bwMode="auto">
          <a:xfrm>
            <a:off x="1144588" y="440364"/>
            <a:ext cx="3492500" cy="2368550"/>
          </a:xfrm>
          <a:prstGeom prst="rect">
            <a:avLst/>
          </a:prstGeom>
          <a:noFill/>
          <a:ln w="19050">
            <a:noFill/>
            <a:miter lim="800000"/>
            <a:headEnd/>
            <a:tailEnd/>
          </a:ln>
        </p:spPr>
      </p:pic>
      <p:sp>
        <p:nvSpPr>
          <p:cNvPr id="54" name="Text Box 6"/>
          <p:cNvSpPr txBox="1">
            <a:spLocks noChangeArrowheads="1"/>
          </p:cNvSpPr>
          <p:nvPr/>
        </p:nvSpPr>
        <p:spPr bwMode="auto">
          <a:xfrm>
            <a:off x="1052513" y="513389"/>
            <a:ext cx="387350" cy="457200"/>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a</a:t>
            </a:r>
          </a:p>
        </p:txBody>
      </p:sp>
      <p:sp>
        <p:nvSpPr>
          <p:cNvPr id="55" name="Text Box 7"/>
          <p:cNvSpPr txBox="1">
            <a:spLocks noChangeArrowheads="1"/>
          </p:cNvSpPr>
          <p:nvPr/>
        </p:nvSpPr>
        <p:spPr bwMode="auto">
          <a:xfrm>
            <a:off x="1073151" y="862639"/>
            <a:ext cx="396875" cy="457200"/>
          </a:xfrm>
          <a:prstGeom prst="rect">
            <a:avLst/>
          </a:prstGeom>
          <a:noFill/>
          <a:ln w="28575" algn="ctr">
            <a:noFill/>
            <a:miter lim="800000"/>
            <a:headEnd/>
            <a:tailEnd/>
          </a:ln>
        </p:spPr>
        <p:txBody>
          <a:bodyPr wrap="none">
            <a:spAutoFit/>
          </a:bodyPr>
          <a:lstStyle/>
          <a:p>
            <a:r>
              <a:rPr lang="en-US" altLang="zh-CN">
                <a:solidFill>
                  <a:srgbClr val="000000"/>
                </a:solidFill>
                <a:ea typeface="黑体" pitchFamily="2" charset="-122"/>
              </a:rPr>
              <a:t>b</a:t>
            </a:r>
          </a:p>
        </p:txBody>
      </p:sp>
      <p:sp>
        <p:nvSpPr>
          <p:cNvPr id="2" name="矩形 1"/>
          <p:cNvSpPr/>
          <p:nvPr/>
        </p:nvSpPr>
        <p:spPr bwMode="auto">
          <a:xfrm>
            <a:off x="1073151" y="1376890"/>
            <a:ext cx="3563937" cy="1281758"/>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Verdana" pitchFamily="34" charset="0"/>
              <a:ea typeface="黑体" pitchFamily="2" charset="-122"/>
            </a:endParaRPr>
          </a:p>
        </p:txBody>
      </p:sp>
      <p:sp>
        <p:nvSpPr>
          <p:cNvPr id="35866" name="Line 47"/>
          <p:cNvSpPr>
            <a:spLocks noChangeShapeType="1"/>
          </p:cNvSpPr>
          <p:nvPr/>
        </p:nvSpPr>
        <p:spPr bwMode="auto">
          <a:xfrm>
            <a:off x="2460625" y="1051266"/>
            <a:ext cx="611187" cy="0"/>
          </a:xfrm>
          <a:prstGeom prst="line">
            <a:avLst/>
          </a:prstGeom>
          <a:noFill/>
          <a:ln w="38100">
            <a:solidFill>
              <a:srgbClr val="AC4600"/>
            </a:solidFill>
            <a:round/>
            <a:headEnd/>
            <a:tailEnd/>
          </a:ln>
        </p:spPr>
        <p:txBody>
          <a:bodyPr wrap="none" anchor="ctr"/>
          <a:lstStyle/>
          <a:p>
            <a:pPr eaLnBrk="0" hangingPunct="0"/>
            <a:endParaRPr lang="zh-CN" altLang="en-US" b="0">
              <a:solidFill>
                <a:srgbClr val="000000"/>
              </a:solidFill>
              <a:ea typeface="黑体" pitchFamily="2" charset="-122"/>
            </a:endParaRPr>
          </a:p>
        </p:txBody>
      </p:sp>
      <p:sp>
        <p:nvSpPr>
          <p:cNvPr id="35867" name="Line 48"/>
          <p:cNvSpPr>
            <a:spLocks noChangeShapeType="1"/>
          </p:cNvSpPr>
          <p:nvPr/>
        </p:nvSpPr>
        <p:spPr bwMode="auto">
          <a:xfrm>
            <a:off x="2474912" y="1483066"/>
            <a:ext cx="576262" cy="0"/>
          </a:xfrm>
          <a:prstGeom prst="line">
            <a:avLst/>
          </a:prstGeom>
          <a:noFill/>
          <a:ln w="38100">
            <a:solidFill>
              <a:srgbClr val="AC4600"/>
            </a:solidFill>
            <a:round/>
            <a:headEnd/>
            <a:tailEnd/>
          </a:ln>
        </p:spPr>
        <p:txBody>
          <a:bodyPr wrap="none" anchor="ctr"/>
          <a:lstStyle/>
          <a:p>
            <a:pPr eaLnBrk="0" hangingPunct="0"/>
            <a:endParaRPr lang="zh-CN" altLang="en-US" b="0">
              <a:solidFill>
                <a:srgbClr val="000000"/>
              </a:solidFill>
              <a:ea typeface="黑体" pitchFamily="2" charset="-122"/>
            </a:endParaRPr>
          </a:p>
        </p:txBody>
      </p:sp>
      <p:grpSp>
        <p:nvGrpSpPr>
          <p:cNvPr id="35857" name="Group 59"/>
          <p:cNvGrpSpPr>
            <a:grpSpLocks/>
          </p:cNvGrpSpPr>
          <p:nvPr/>
        </p:nvGrpSpPr>
        <p:grpSpPr bwMode="auto">
          <a:xfrm>
            <a:off x="2445443" y="639595"/>
            <a:ext cx="396875" cy="903287"/>
            <a:chOff x="1224" y="2208"/>
            <a:chExt cx="250" cy="569"/>
          </a:xfrm>
        </p:grpSpPr>
        <p:sp>
          <p:nvSpPr>
            <p:cNvPr id="35861" name="Text Box 60"/>
            <p:cNvSpPr txBox="1">
              <a:spLocks noChangeArrowheads="1"/>
            </p:cNvSpPr>
            <p:nvPr/>
          </p:nvSpPr>
          <p:spPr bwMode="auto">
            <a:xfrm>
              <a:off x="1224" y="2208"/>
              <a:ext cx="229" cy="288"/>
            </a:xfrm>
            <a:prstGeom prst="rect">
              <a:avLst/>
            </a:prstGeom>
            <a:noFill/>
            <a:ln w="28575" algn="ctr">
              <a:noFill/>
              <a:miter lim="800000"/>
              <a:headEnd/>
              <a:tailEnd/>
            </a:ln>
          </p:spPr>
          <p:txBody>
            <a:bodyPr wrap="none">
              <a:spAutoFit/>
            </a:bodyPr>
            <a:lstStyle/>
            <a:p>
              <a:r>
                <a:rPr lang="en-US" altLang="zh-CN" dirty="0">
                  <a:solidFill>
                    <a:srgbClr val="990100"/>
                  </a:solidFill>
                  <a:ea typeface="黑体" pitchFamily="2" charset="-122"/>
                </a:rPr>
                <a:t>c</a:t>
              </a:r>
            </a:p>
          </p:txBody>
        </p:sp>
        <p:sp>
          <p:nvSpPr>
            <p:cNvPr id="35862" name="Text Box 61"/>
            <p:cNvSpPr txBox="1">
              <a:spLocks noChangeArrowheads="1"/>
            </p:cNvSpPr>
            <p:nvPr/>
          </p:nvSpPr>
          <p:spPr bwMode="auto">
            <a:xfrm>
              <a:off x="1224" y="2489"/>
              <a:ext cx="250" cy="288"/>
            </a:xfrm>
            <a:prstGeom prst="rect">
              <a:avLst/>
            </a:prstGeom>
            <a:noFill/>
            <a:ln w="28575" algn="ctr">
              <a:noFill/>
              <a:miter lim="800000"/>
              <a:headEnd/>
              <a:tailEnd/>
            </a:ln>
          </p:spPr>
          <p:txBody>
            <a:bodyPr wrap="none">
              <a:spAutoFit/>
            </a:bodyPr>
            <a:lstStyle/>
            <a:p>
              <a:r>
                <a:rPr lang="en-US" altLang="zh-CN">
                  <a:solidFill>
                    <a:srgbClr val="990100"/>
                  </a:solidFill>
                  <a:ea typeface="黑体" pitchFamily="2" charset="-122"/>
                </a:rPr>
                <a:t>d</a:t>
              </a:r>
            </a:p>
          </p:txBody>
        </p:sp>
      </p:grpSp>
      <p:grpSp>
        <p:nvGrpSpPr>
          <p:cNvPr id="66" name="Group 72"/>
          <p:cNvGrpSpPr>
            <a:grpSpLocks/>
          </p:cNvGrpSpPr>
          <p:nvPr/>
        </p:nvGrpSpPr>
        <p:grpSpPr bwMode="auto">
          <a:xfrm>
            <a:off x="3086264" y="538856"/>
            <a:ext cx="4400549" cy="1871662"/>
            <a:chOff x="681" y="1933"/>
            <a:chExt cx="2772" cy="1179"/>
          </a:xfrm>
        </p:grpSpPr>
        <p:grpSp>
          <p:nvGrpSpPr>
            <p:cNvPr id="67" name="Group 65"/>
            <p:cNvGrpSpPr>
              <a:grpSpLocks/>
            </p:cNvGrpSpPr>
            <p:nvPr/>
          </p:nvGrpSpPr>
          <p:grpSpPr bwMode="auto">
            <a:xfrm>
              <a:off x="681" y="1933"/>
              <a:ext cx="2772" cy="1179"/>
              <a:chOff x="1338" y="2160"/>
              <a:chExt cx="2772" cy="1179"/>
            </a:xfrm>
          </p:grpSpPr>
          <p:grpSp>
            <p:nvGrpSpPr>
              <p:cNvPr id="70" name="Group 35"/>
              <p:cNvGrpSpPr>
                <a:grpSpLocks/>
              </p:cNvGrpSpPr>
              <p:nvPr/>
            </p:nvGrpSpPr>
            <p:grpSpPr bwMode="auto">
              <a:xfrm>
                <a:off x="1338" y="2160"/>
                <a:ext cx="1188" cy="1179"/>
                <a:chOff x="657" y="709"/>
                <a:chExt cx="1642" cy="1298"/>
              </a:xfrm>
            </p:grpSpPr>
            <p:pic>
              <p:nvPicPr>
                <p:cNvPr id="89" name="Picture 36"/>
                <p:cNvPicPr>
                  <a:picLocks noChangeAspect="1" noChangeArrowheads="1"/>
                </p:cNvPicPr>
                <p:nvPr/>
              </p:nvPicPr>
              <p:blipFill>
                <a:blip r:embed="rId4" cstate="print"/>
                <a:srcRect l="9482" t="18608" r="9554" b="14853"/>
                <a:stretch>
                  <a:fillRect/>
                </a:stretch>
              </p:blipFill>
              <p:spPr bwMode="auto">
                <a:xfrm>
                  <a:off x="657" y="709"/>
                  <a:ext cx="1613" cy="1298"/>
                </a:xfrm>
                <a:prstGeom prst="rect">
                  <a:avLst/>
                </a:prstGeom>
                <a:solidFill>
                  <a:srgbClr val="CDDD9C"/>
                </a:solidFill>
                <a:ln w="28575" algn="ctr">
                  <a:solidFill>
                    <a:srgbClr val="CDDD9C"/>
                  </a:solidFill>
                  <a:miter lim="800000"/>
                  <a:headEnd/>
                  <a:tailEnd/>
                </a:ln>
              </p:spPr>
            </p:pic>
            <p:sp>
              <p:nvSpPr>
                <p:cNvPr id="90" name="Line 37"/>
                <p:cNvSpPr>
                  <a:spLocks noChangeShapeType="1"/>
                </p:cNvSpPr>
                <p:nvPr/>
              </p:nvSpPr>
              <p:spPr bwMode="auto">
                <a:xfrm>
                  <a:off x="657"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91" name="Line 38"/>
                <p:cNvSpPr>
                  <a:spLocks noChangeShapeType="1"/>
                </p:cNvSpPr>
                <p:nvPr/>
              </p:nvSpPr>
              <p:spPr bwMode="auto">
                <a:xfrm>
                  <a:off x="657"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92" name="Line 39"/>
                <p:cNvSpPr>
                  <a:spLocks noChangeShapeType="1"/>
                </p:cNvSpPr>
                <p:nvPr/>
              </p:nvSpPr>
              <p:spPr bwMode="auto">
                <a:xfrm>
                  <a:off x="2072"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93" name="Line 40"/>
                <p:cNvSpPr>
                  <a:spLocks noChangeShapeType="1"/>
                </p:cNvSpPr>
                <p:nvPr/>
              </p:nvSpPr>
              <p:spPr bwMode="auto">
                <a:xfrm>
                  <a:off x="2072"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grpSp>
          <p:grpSp>
            <p:nvGrpSpPr>
              <p:cNvPr id="71" name="Group 57"/>
              <p:cNvGrpSpPr>
                <a:grpSpLocks/>
              </p:cNvGrpSpPr>
              <p:nvPr/>
            </p:nvGrpSpPr>
            <p:grpSpPr bwMode="auto">
              <a:xfrm>
                <a:off x="2508" y="2160"/>
                <a:ext cx="1551" cy="1179"/>
                <a:chOff x="2508" y="2160"/>
                <a:chExt cx="1551" cy="1179"/>
              </a:xfrm>
            </p:grpSpPr>
            <p:grpSp>
              <p:nvGrpSpPr>
                <p:cNvPr id="81" name="Group 41"/>
                <p:cNvGrpSpPr>
                  <a:grpSpLocks/>
                </p:cNvGrpSpPr>
                <p:nvPr/>
              </p:nvGrpSpPr>
              <p:grpSpPr bwMode="auto">
                <a:xfrm>
                  <a:off x="2880" y="2160"/>
                  <a:ext cx="1179" cy="1179"/>
                  <a:chOff x="657" y="709"/>
                  <a:chExt cx="1642" cy="1298"/>
                </a:xfrm>
              </p:grpSpPr>
              <p:pic>
                <p:nvPicPr>
                  <p:cNvPr id="84" name="Picture 42"/>
                  <p:cNvPicPr>
                    <a:picLocks noChangeAspect="1" noChangeArrowheads="1"/>
                  </p:cNvPicPr>
                  <p:nvPr/>
                </p:nvPicPr>
                <p:blipFill>
                  <a:blip r:embed="rId4" cstate="print"/>
                  <a:srcRect l="9482" t="18608" r="9554" b="14853"/>
                  <a:stretch>
                    <a:fillRect/>
                  </a:stretch>
                </p:blipFill>
                <p:spPr bwMode="auto">
                  <a:xfrm>
                    <a:off x="657" y="709"/>
                    <a:ext cx="1613" cy="1298"/>
                  </a:xfrm>
                  <a:prstGeom prst="rect">
                    <a:avLst/>
                  </a:prstGeom>
                  <a:solidFill>
                    <a:srgbClr val="CDDD9C"/>
                  </a:solidFill>
                  <a:ln w="28575" algn="ctr">
                    <a:solidFill>
                      <a:srgbClr val="CDDD9C"/>
                    </a:solidFill>
                    <a:miter lim="800000"/>
                    <a:headEnd/>
                    <a:tailEnd/>
                  </a:ln>
                </p:spPr>
              </p:pic>
              <p:sp>
                <p:nvSpPr>
                  <p:cNvPr id="85" name="Line 43"/>
                  <p:cNvSpPr>
                    <a:spLocks noChangeShapeType="1"/>
                  </p:cNvSpPr>
                  <p:nvPr/>
                </p:nvSpPr>
                <p:spPr bwMode="auto">
                  <a:xfrm>
                    <a:off x="657"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86" name="Line 44"/>
                  <p:cNvSpPr>
                    <a:spLocks noChangeShapeType="1"/>
                  </p:cNvSpPr>
                  <p:nvPr/>
                </p:nvSpPr>
                <p:spPr bwMode="auto">
                  <a:xfrm>
                    <a:off x="657"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87" name="Line 45"/>
                  <p:cNvSpPr>
                    <a:spLocks noChangeShapeType="1"/>
                  </p:cNvSpPr>
                  <p:nvPr/>
                </p:nvSpPr>
                <p:spPr bwMode="auto">
                  <a:xfrm>
                    <a:off x="2072" y="10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sp>
                <p:nvSpPr>
                  <p:cNvPr id="88" name="Line 46"/>
                  <p:cNvSpPr>
                    <a:spLocks noChangeShapeType="1"/>
                  </p:cNvSpPr>
                  <p:nvPr/>
                </p:nvSpPr>
                <p:spPr bwMode="auto">
                  <a:xfrm>
                    <a:off x="2072" y="1371"/>
                    <a:ext cx="227" cy="0"/>
                  </a:xfrm>
                  <a:prstGeom prst="line">
                    <a:avLst/>
                  </a:prstGeom>
                  <a:noFill/>
                  <a:ln w="38100">
                    <a:solidFill>
                      <a:srgbClr val="000032"/>
                    </a:solidFill>
                    <a:round/>
                    <a:headEnd/>
                    <a:tailEnd type="triangle" w="med" len="med"/>
                  </a:ln>
                </p:spPr>
                <p:txBody>
                  <a:bodyPr wrap="none" anchor="ctr"/>
                  <a:lstStyle/>
                  <a:p>
                    <a:pPr eaLnBrk="0" hangingPunct="0"/>
                    <a:endParaRPr lang="zh-CN" altLang="en-US" b="0">
                      <a:solidFill>
                        <a:srgbClr val="000000"/>
                      </a:solidFill>
                      <a:ea typeface="黑体" pitchFamily="2" charset="-122"/>
                    </a:endParaRPr>
                  </a:p>
                </p:txBody>
              </p:sp>
            </p:grpSp>
            <p:sp>
              <p:nvSpPr>
                <p:cNvPr id="82" name="Line 47"/>
                <p:cNvSpPr>
                  <a:spLocks noChangeShapeType="1"/>
                </p:cNvSpPr>
                <p:nvPr/>
              </p:nvSpPr>
              <p:spPr bwMode="auto">
                <a:xfrm>
                  <a:off x="2508" y="2486"/>
                  <a:ext cx="385" cy="0"/>
                </a:xfrm>
                <a:prstGeom prst="line">
                  <a:avLst/>
                </a:prstGeom>
                <a:noFill/>
                <a:ln w="38100">
                  <a:solidFill>
                    <a:srgbClr val="AC4600"/>
                  </a:solidFill>
                  <a:round/>
                  <a:headEnd/>
                  <a:tailEnd/>
                </a:ln>
              </p:spPr>
              <p:txBody>
                <a:bodyPr wrap="none" anchor="ctr"/>
                <a:lstStyle/>
                <a:p>
                  <a:pPr eaLnBrk="0" hangingPunct="0"/>
                  <a:endParaRPr lang="zh-CN" altLang="en-US" b="0">
                    <a:solidFill>
                      <a:srgbClr val="000000"/>
                    </a:solidFill>
                    <a:ea typeface="黑体" pitchFamily="2" charset="-122"/>
                  </a:endParaRPr>
                </a:p>
              </p:txBody>
            </p:sp>
            <p:sp>
              <p:nvSpPr>
                <p:cNvPr id="83" name="Line 48"/>
                <p:cNvSpPr>
                  <a:spLocks noChangeShapeType="1"/>
                </p:cNvSpPr>
                <p:nvPr/>
              </p:nvSpPr>
              <p:spPr bwMode="auto">
                <a:xfrm>
                  <a:off x="2517" y="2758"/>
                  <a:ext cx="363" cy="0"/>
                </a:xfrm>
                <a:prstGeom prst="line">
                  <a:avLst/>
                </a:prstGeom>
                <a:noFill/>
                <a:ln w="38100">
                  <a:solidFill>
                    <a:srgbClr val="AC4600"/>
                  </a:solidFill>
                  <a:round/>
                  <a:headEnd/>
                  <a:tailEnd/>
                </a:ln>
              </p:spPr>
              <p:txBody>
                <a:bodyPr wrap="none" anchor="ctr"/>
                <a:lstStyle/>
                <a:p>
                  <a:pPr eaLnBrk="0" hangingPunct="0"/>
                  <a:endParaRPr lang="zh-CN" altLang="en-US" b="0">
                    <a:solidFill>
                      <a:srgbClr val="000000"/>
                    </a:solidFill>
                    <a:ea typeface="黑体" pitchFamily="2" charset="-122"/>
                  </a:endParaRPr>
                </a:p>
              </p:txBody>
            </p:sp>
          </p:grpSp>
          <p:grpSp>
            <p:nvGrpSpPr>
              <p:cNvPr id="73" name="Group 59"/>
              <p:cNvGrpSpPr>
                <a:grpSpLocks/>
              </p:cNvGrpSpPr>
              <p:nvPr/>
            </p:nvGrpSpPr>
            <p:grpSpPr bwMode="auto">
              <a:xfrm>
                <a:off x="2539" y="2205"/>
                <a:ext cx="246" cy="572"/>
                <a:chOff x="1224" y="2208"/>
                <a:chExt cx="246" cy="572"/>
              </a:xfrm>
            </p:grpSpPr>
            <p:sp>
              <p:nvSpPr>
                <p:cNvPr id="77" name="Text Box 60"/>
                <p:cNvSpPr txBox="1">
                  <a:spLocks noChangeArrowheads="1"/>
                </p:cNvSpPr>
                <p:nvPr/>
              </p:nvSpPr>
              <p:spPr bwMode="auto">
                <a:xfrm>
                  <a:off x="1224" y="2208"/>
                  <a:ext cx="246" cy="291"/>
                </a:xfrm>
                <a:prstGeom prst="rect">
                  <a:avLst/>
                </a:prstGeom>
                <a:noFill/>
                <a:ln w="28575" algn="ctr">
                  <a:noFill/>
                  <a:miter lim="800000"/>
                  <a:headEnd/>
                  <a:tailEnd/>
                </a:ln>
              </p:spPr>
              <p:txBody>
                <a:bodyPr wrap="none">
                  <a:spAutoFit/>
                </a:bodyPr>
                <a:lstStyle/>
                <a:p>
                  <a:r>
                    <a:rPr lang="en-US" altLang="zh-CN" dirty="0" smtClean="0">
                      <a:solidFill>
                        <a:srgbClr val="990100"/>
                      </a:solidFill>
                      <a:ea typeface="黑体" pitchFamily="2" charset="-122"/>
                    </a:rPr>
                    <a:t>e</a:t>
                  </a:r>
                  <a:endParaRPr lang="en-US" altLang="zh-CN" dirty="0">
                    <a:solidFill>
                      <a:srgbClr val="990100"/>
                    </a:solidFill>
                    <a:ea typeface="黑体" pitchFamily="2" charset="-122"/>
                  </a:endParaRPr>
                </a:p>
              </p:txBody>
            </p:sp>
            <p:sp>
              <p:nvSpPr>
                <p:cNvPr id="78" name="Text Box 61"/>
                <p:cNvSpPr txBox="1">
                  <a:spLocks noChangeArrowheads="1"/>
                </p:cNvSpPr>
                <p:nvPr/>
              </p:nvSpPr>
              <p:spPr bwMode="auto">
                <a:xfrm>
                  <a:off x="1224" y="2489"/>
                  <a:ext cx="198" cy="291"/>
                </a:xfrm>
                <a:prstGeom prst="rect">
                  <a:avLst/>
                </a:prstGeom>
                <a:noFill/>
                <a:ln w="28575" algn="ctr">
                  <a:noFill/>
                  <a:miter lim="800000"/>
                  <a:headEnd/>
                  <a:tailEnd/>
                </a:ln>
              </p:spPr>
              <p:txBody>
                <a:bodyPr wrap="none">
                  <a:spAutoFit/>
                </a:bodyPr>
                <a:lstStyle/>
                <a:p>
                  <a:r>
                    <a:rPr lang="en-US" altLang="zh-CN" dirty="0" smtClean="0">
                      <a:solidFill>
                        <a:srgbClr val="990100"/>
                      </a:solidFill>
                      <a:ea typeface="黑体" pitchFamily="2" charset="-122"/>
                    </a:rPr>
                    <a:t>f</a:t>
                  </a:r>
                  <a:endParaRPr lang="en-US" altLang="zh-CN" dirty="0">
                    <a:solidFill>
                      <a:srgbClr val="990100"/>
                    </a:solidFill>
                    <a:ea typeface="黑体" pitchFamily="2" charset="-122"/>
                  </a:endParaRPr>
                </a:p>
              </p:txBody>
            </p:sp>
          </p:grpSp>
          <p:grpSp>
            <p:nvGrpSpPr>
              <p:cNvPr id="74" name="Group 62"/>
              <p:cNvGrpSpPr>
                <a:grpSpLocks/>
              </p:cNvGrpSpPr>
              <p:nvPr/>
            </p:nvGrpSpPr>
            <p:grpSpPr bwMode="auto">
              <a:xfrm>
                <a:off x="3855" y="2205"/>
                <a:ext cx="255" cy="572"/>
                <a:chOff x="1224" y="2208"/>
                <a:chExt cx="255" cy="572"/>
              </a:xfrm>
            </p:grpSpPr>
            <p:sp>
              <p:nvSpPr>
                <p:cNvPr id="75" name="Text Box 63"/>
                <p:cNvSpPr txBox="1">
                  <a:spLocks noChangeArrowheads="1"/>
                </p:cNvSpPr>
                <p:nvPr/>
              </p:nvSpPr>
              <p:spPr bwMode="auto">
                <a:xfrm>
                  <a:off x="1224" y="2208"/>
                  <a:ext cx="252" cy="291"/>
                </a:xfrm>
                <a:prstGeom prst="rect">
                  <a:avLst/>
                </a:prstGeom>
                <a:noFill/>
                <a:ln w="28575" algn="ctr">
                  <a:noFill/>
                  <a:miter lim="800000"/>
                  <a:headEnd/>
                  <a:tailEnd/>
                </a:ln>
              </p:spPr>
              <p:txBody>
                <a:bodyPr wrap="none">
                  <a:spAutoFit/>
                </a:bodyPr>
                <a:lstStyle/>
                <a:p>
                  <a:r>
                    <a:rPr lang="en-US" altLang="zh-CN" dirty="0" smtClean="0">
                      <a:solidFill>
                        <a:srgbClr val="990100"/>
                      </a:solidFill>
                      <a:ea typeface="黑体" pitchFamily="2" charset="-122"/>
                    </a:rPr>
                    <a:t>g</a:t>
                  </a:r>
                  <a:endParaRPr lang="en-US" altLang="zh-CN" dirty="0">
                    <a:solidFill>
                      <a:srgbClr val="990100"/>
                    </a:solidFill>
                    <a:ea typeface="黑体" pitchFamily="2" charset="-122"/>
                  </a:endParaRPr>
                </a:p>
              </p:txBody>
            </p:sp>
            <p:sp>
              <p:nvSpPr>
                <p:cNvPr id="76" name="Text Box 64"/>
                <p:cNvSpPr txBox="1">
                  <a:spLocks noChangeArrowheads="1"/>
                </p:cNvSpPr>
                <p:nvPr/>
              </p:nvSpPr>
              <p:spPr bwMode="auto">
                <a:xfrm>
                  <a:off x="1224" y="2489"/>
                  <a:ext cx="255" cy="291"/>
                </a:xfrm>
                <a:prstGeom prst="rect">
                  <a:avLst/>
                </a:prstGeom>
                <a:noFill/>
                <a:ln w="28575" algn="ctr">
                  <a:noFill/>
                  <a:miter lim="800000"/>
                  <a:headEnd/>
                  <a:tailEnd/>
                </a:ln>
              </p:spPr>
              <p:txBody>
                <a:bodyPr wrap="none">
                  <a:spAutoFit/>
                </a:bodyPr>
                <a:lstStyle/>
                <a:p>
                  <a:r>
                    <a:rPr lang="en-US" altLang="zh-CN" dirty="0" smtClean="0">
                      <a:solidFill>
                        <a:srgbClr val="990100"/>
                      </a:solidFill>
                      <a:ea typeface="黑体" pitchFamily="2" charset="-122"/>
                    </a:rPr>
                    <a:t>h</a:t>
                  </a:r>
                  <a:endParaRPr lang="en-US" altLang="zh-CN" dirty="0">
                    <a:solidFill>
                      <a:srgbClr val="990100"/>
                    </a:solidFill>
                    <a:ea typeface="黑体" pitchFamily="2" charset="-122"/>
                  </a:endParaRPr>
                </a:p>
              </p:txBody>
            </p:sp>
          </p:grpSp>
        </p:grpSp>
        <p:sp>
          <p:nvSpPr>
            <p:cNvPr id="68" name="Text Box 70"/>
            <p:cNvSpPr txBox="1">
              <a:spLocks noChangeArrowheads="1"/>
            </p:cNvSpPr>
            <p:nvPr/>
          </p:nvSpPr>
          <p:spPr bwMode="auto">
            <a:xfrm>
              <a:off x="839" y="2817"/>
              <a:ext cx="861" cy="250"/>
            </a:xfrm>
            <a:prstGeom prst="rect">
              <a:avLst/>
            </a:prstGeom>
            <a:noFill/>
            <a:ln w="28575" algn="ctr">
              <a:noFill/>
              <a:miter lim="800000"/>
              <a:headEnd/>
              <a:tailEnd/>
            </a:ln>
          </p:spPr>
          <p:txBody>
            <a:bodyPr wrap="none">
              <a:spAutoFit/>
            </a:bodyPr>
            <a:lstStyle/>
            <a:p>
              <a:r>
                <a:rPr lang="en-US" altLang="zh-CN" sz="2000" dirty="0">
                  <a:solidFill>
                    <a:srgbClr val="990100"/>
                  </a:solidFill>
                  <a:ea typeface="黑体" pitchFamily="2" charset="-122"/>
                </a:rPr>
                <a:t>h_adder</a:t>
              </a:r>
            </a:p>
          </p:txBody>
        </p:sp>
        <p:sp>
          <p:nvSpPr>
            <p:cNvPr id="69" name="Text Box 71"/>
            <p:cNvSpPr txBox="1">
              <a:spLocks noChangeArrowheads="1"/>
            </p:cNvSpPr>
            <p:nvPr/>
          </p:nvSpPr>
          <p:spPr bwMode="auto">
            <a:xfrm>
              <a:off x="2382" y="2817"/>
              <a:ext cx="861" cy="250"/>
            </a:xfrm>
            <a:prstGeom prst="rect">
              <a:avLst/>
            </a:prstGeom>
            <a:noFill/>
            <a:ln w="28575" algn="ctr">
              <a:noFill/>
              <a:miter lim="800000"/>
              <a:headEnd/>
              <a:tailEnd/>
            </a:ln>
          </p:spPr>
          <p:txBody>
            <a:bodyPr wrap="none">
              <a:spAutoFit/>
            </a:bodyPr>
            <a:lstStyle/>
            <a:p>
              <a:r>
                <a:rPr lang="en-US" altLang="zh-CN" sz="2000" dirty="0">
                  <a:solidFill>
                    <a:srgbClr val="990100"/>
                  </a:solidFill>
                  <a:ea typeface="黑体" pitchFamily="2" charset="-122"/>
                </a:rPr>
                <a:t>h_adder</a:t>
              </a:r>
            </a:p>
          </p:txBody>
        </p:sp>
      </p:grpSp>
      <p:sp>
        <p:nvSpPr>
          <p:cNvPr id="94" name="Text Box 73"/>
          <p:cNvSpPr txBox="1">
            <a:spLocks noChangeArrowheads="1"/>
          </p:cNvSpPr>
          <p:nvPr/>
        </p:nvSpPr>
        <p:spPr bwMode="auto">
          <a:xfrm>
            <a:off x="5210828" y="2653466"/>
            <a:ext cx="3241675" cy="823912"/>
          </a:xfrm>
          <a:prstGeom prst="rect">
            <a:avLst/>
          </a:prstGeom>
          <a:solidFill>
            <a:srgbClr val="E3E3F1"/>
          </a:solidFill>
          <a:ln w="28575" algn="ctr">
            <a:noFill/>
            <a:miter lim="800000"/>
            <a:headEnd/>
            <a:tailEnd/>
          </a:ln>
        </p:spPr>
        <p:txBody>
          <a:bodyPr>
            <a:spAutoFit/>
          </a:bodyPr>
          <a:lstStyle/>
          <a:p>
            <a:pPr>
              <a:spcBef>
                <a:spcPct val="40000"/>
              </a:spcBef>
            </a:pPr>
            <a:r>
              <a:rPr lang="en-US" altLang="zh-CN" sz="2000" dirty="0">
                <a:solidFill>
                  <a:srgbClr val="B43000"/>
                </a:solidFill>
                <a:ea typeface="黑体" pitchFamily="2" charset="-122"/>
              </a:rPr>
              <a:t>h_adder U1(</a:t>
            </a:r>
            <a:r>
              <a:rPr lang="en-US" altLang="zh-CN" sz="2000" dirty="0" err="1">
                <a:solidFill>
                  <a:srgbClr val="B43000"/>
                </a:solidFill>
                <a:ea typeface="黑体" pitchFamily="2" charset="-122"/>
              </a:rPr>
              <a:t>a,b,c,d</a:t>
            </a:r>
            <a:r>
              <a:rPr lang="en-US" altLang="zh-CN" sz="2000" dirty="0">
                <a:solidFill>
                  <a:srgbClr val="B43000"/>
                </a:solidFill>
                <a:ea typeface="黑体" pitchFamily="2" charset="-122"/>
              </a:rPr>
              <a:t>);</a:t>
            </a:r>
          </a:p>
          <a:p>
            <a:pPr>
              <a:spcBef>
                <a:spcPct val="40000"/>
              </a:spcBef>
            </a:pPr>
            <a:r>
              <a:rPr lang="en-US" altLang="zh-CN" sz="2000" dirty="0">
                <a:solidFill>
                  <a:srgbClr val="B43000"/>
                </a:solidFill>
                <a:ea typeface="黑体" pitchFamily="2" charset="-122"/>
              </a:rPr>
              <a:t>h_adder </a:t>
            </a:r>
            <a:r>
              <a:rPr lang="en-US" altLang="zh-CN" sz="2000" dirty="0" smtClean="0">
                <a:solidFill>
                  <a:srgbClr val="B43000"/>
                </a:solidFill>
                <a:ea typeface="黑体" pitchFamily="2" charset="-122"/>
              </a:rPr>
              <a:t>U2(</a:t>
            </a:r>
            <a:r>
              <a:rPr lang="en-US" altLang="zh-CN" sz="2000" dirty="0" err="1" smtClean="0">
                <a:solidFill>
                  <a:srgbClr val="B43000"/>
                </a:solidFill>
                <a:ea typeface="黑体" pitchFamily="2" charset="-122"/>
              </a:rPr>
              <a:t>c,d,e,f</a:t>
            </a:r>
            <a:r>
              <a:rPr lang="en-US" altLang="zh-CN" sz="2000" dirty="0">
                <a:solidFill>
                  <a:srgbClr val="B43000"/>
                </a:solidFill>
                <a:ea typeface="黑体" pitchFamily="2" charset="-122"/>
              </a:rPr>
              <a:t>);</a:t>
            </a:r>
          </a:p>
        </p:txBody>
      </p:sp>
    </p:spTree>
    <p:extLst>
      <p:ext uri="{BB962C8B-B14F-4D97-AF65-F5344CB8AC3E}">
        <p14:creationId xmlns:p14="http://schemas.microsoft.com/office/powerpoint/2010/main" val="3419688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5"/>
          <p:cNvSpPr>
            <a:spLocks noGrp="1"/>
          </p:cNvSpPr>
          <p:nvPr>
            <p:ph type="sldNum" sz="quarter" idx="12"/>
          </p:nvPr>
        </p:nvSpPr>
        <p:spPr>
          <a:xfrm>
            <a:off x="7042150" y="5756275"/>
            <a:ext cx="1905000" cy="457200"/>
          </a:xfrm>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0B1957CE-0E21-41AB-8ADB-20D95F5C3726}" type="slidenum">
              <a:rPr lang="en-US" altLang="zh-CN" sz="1400" b="0">
                <a:latin typeface="Tahoma" panose="020B0604030504040204" pitchFamily="34" charset="0"/>
              </a:rPr>
              <a:pPr eaLnBrk="1" hangingPunct="1"/>
              <a:t>46</a:t>
            </a:fld>
            <a:endParaRPr lang="en-US" altLang="zh-CN" sz="1400" b="0">
              <a:latin typeface="Tahoma" panose="020B0604030504040204" pitchFamily="34" charset="0"/>
            </a:endParaRPr>
          </a:p>
        </p:txBody>
      </p:sp>
      <p:sp>
        <p:nvSpPr>
          <p:cNvPr id="33795" name="Text Box 5"/>
          <p:cNvSpPr txBox="1">
            <a:spLocks noChangeArrowheads="1"/>
          </p:cNvSpPr>
          <p:nvPr/>
        </p:nvSpPr>
        <p:spPr bwMode="auto">
          <a:xfrm>
            <a:off x="663575" y="21336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33796" name="Rectangle 6"/>
          <p:cNvSpPr>
            <a:spLocks noChangeArrowheads="1"/>
          </p:cNvSpPr>
          <p:nvPr/>
        </p:nvSpPr>
        <p:spPr bwMode="auto">
          <a:xfrm>
            <a:off x="1331913" y="2133600"/>
            <a:ext cx="1373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2’b00  </a:t>
            </a:r>
            <a:endParaRPr lang="en-US" altLang="zh-CN" baseline="-25000">
              <a:ea typeface="黑体" panose="02010609060101010101" pitchFamily="49" charset="-122"/>
            </a:endParaRPr>
          </a:p>
        </p:txBody>
      </p:sp>
      <p:sp>
        <p:nvSpPr>
          <p:cNvPr id="33797" name="Rectangle 7"/>
          <p:cNvSpPr>
            <a:spLocks noChangeArrowheads="1"/>
          </p:cNvSpPr>
          <p:nvPr/>
        </p:nvSpPr>
        <p:spPr bwMode="auto">
          <a:xfrm>
            <a:off x="1331913" y="2709863"/>
            <a:ext cx="1319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5’d8	  </a:t>
            </a:r>
            <a:endParaRPr lang="en-US" altLang="zh-CN" baseline="-25000">
              <a:ea typeface="黑体" panose="02010609060101010101" pitchFamily="49" charset="-122"/>
            </a:endParaRPr>
          </a:p>
        </p:txBody>
      </p:sp>
      <p:sp>
        <p:nvSpPr>
          <p:cNvPr id="33798" name="AutoShape 8"/>
          <p:cNvSpPr>
            <a:spLocks noChangeArrowheads="1"/>
          </p:cNvSpPr>
          <p:nvPr/>
        </p:nvSpPr>
        <p:spPr bwMode="auto">
          <a:xfrm>
            <a:off x="2916238" y="2278063"/>
            <a:ext cx="792162"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33799" name="AutoShape 9"/>
          <p:cNvSpPr>
            <a:spLocks noChangeArrowheads="1"/>
          </p:cNvSpPr>
          <p:nvPr/>
        </p:nvSpPr>
        <p:spPr bwMode="auto">
          <a:xfrm>
            <a:off x="2916238" y="2852738"/>
            <a:ext cx="792162"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33800" name="Text Box 10"/>
          <p:cNvSpPr txBox="1">
            <a:spLocks noChangeArrowheads="1"/>
          </p:cNvSpPr>
          <p:nvPr/>
        </p:nvSpPr>
        <p:spPr bwMode="auto">
          <a:xfrm>
            <a:off x="519113" y="1341438"/>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无符号数的表示方法：</a:t>
            </a:r>
          </a:p>
        </p:txBody>
      </p:sp>
      <p:sp>
        <p:nvSpPr>
          <p:cNvPr id="33801" name="Text Box 11"/>
          <p:cNvSpPr txBox="1">
            <a:spLocks noChangeArrowheads="1"/>
          </p:cNvSpPr>
          <p:nvPr/>
        </p:nvSpPr>
        <p:spPr bwMode="auto">
          <a:xfrm>
            <a:off x="590550" y="3575050"/>
            <a:ext cx="323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有符号数的表示方法：</a:t>
            </a:r>
          </a:p>
        </p:txBody>
      </p:sp>
      <p:sp>
        <p:nvSpPr>
          <p:cNvPr id="33802" name="Rectangle 12"/>
          <p:cNvSpPr>
            <a:spLocks noChangeArrowheads="1"/>
          </p:cNvSpPr>
          <p:nvPr/>
        </p:nvSpPr>
        <p:spPr bwMode="auto">
          <a:xfrm>
            <a:off x="3862388" y="3573463"/>
            <a:ext cx="3630612" cy="461962"/>
          </a:xfrm>
          <a:prstGeom prst="rect">
            <a:avLst/>
          </a:prstGeom>
          <a:solidFill>
            <a:srgbClr val="CDFFF2"/>
          </a:solidFill>
          <a:ln w="28575">
            <a:solidFill>
              <a:schemeClr val="accent1"/>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A50021"/>
                </a:solidFill>
                <a:ea typeface="黑体" panose="02010609060101010101" pitchFamily="49" charset="-122"/>
              </a:rPr>
              <a:t>&lt;</a:t>
            </a:r>
            <a:r>
              <a:rPr lang="zh-CN" altLang="en-US">
                <a:solidFill>
                  <a:srgbClr val="A50021"/>
                </a:solidFill>
                <a:ea typeface="黑体" panose="02010609060101010101" pitchFamily="49" charset="-122"/>
              </a:rPr>
              <a:t>位宽</a:t>
            </a:r>
            <a:r>
              <a:rPr lang="en-US" altLang="zh-CN">
                <a:solidFill>
                  <a:srgbClr val="A50021"/>
                </a:solidFill>
                <a:ea typeface="黑体" panose="02010609060101010101" pitchFamily="49" charset="-122"/>
              </a:rPr>
              <a:t>&gt;’&lt;sb&gt;&lt;</a:t>
            </a:r>
            <a:r>
              <a:rPr lang="zh-CN" altLang="en-US">
                <a:solidFill>
                  <a:srgbClr val="A50021"/>
                </a:solidFill>
                <a:ea typeface="黑体" panose="02010609060101010101" pitchFamily="49" charset="-122"/>
              </a:rPr>
              <a:t>数字</a:t>
            </a:r>
            <a:r>
              <a:rPr lang="en-US" altLang="zh-CN">
                <a:solidFill>
                  <a:srgbClr val="A50021"/>
                </a:solidFill>
                <a:ea typeface="黑体" panose="02010609060101010101" pitchFamily="49" charset="-122"/>
              </a:rPr>
              <a:t>&gt;</a:t>
            </a:r>
          </a:p>
        </p:txBody>
      </p:sp>
      <p:sp>
        <p:nvSpPr>
          <p:cNvPr id="33803" name="Text Box 13"/>
          <p:cNvSpPr txBox="1">
            <a:spLocks noChangeArrowheads="1"/>
          </p:cNvSpPr>
          <p:nvPr/>
        </p:nvSpPr>
        <p:spPr bwMode="auto">
          <a:xfrm>
            <a:off x="684213" y="42862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a:t>
            </a:r>
          </a:p>
        </p:txBody>
      </p:sp>
      <p:sp>
        <p:nvSpPr>
          <p:cNvPr id="33804" name="Rectangle 14"/>
          <p:cNvSpPr>
            <a:spLocks noChangeArrowheads="1"/>
          </p:cNvSpPr>
          <p:nvPr/>
        </p:nvSpPr>
        <p:spPr bwMode="auto">
          <a:xfrm>
            <a:off x="1352550" y="4286250"/>
            <a:ext cx="2978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8’sb10111011  </a:t>
            </a:r>
            <a:endParaRPr lang="en-US" altLang="zh-CN" baseline="-25000">
              <a:ea typeface="黑体" panose="02010609060101010101" pitchFamily="49" charset="-122"/>
            </a:endParaRPr>
          </a:p>
        </p:txBody>
      </p:sp>
      <p:sp>
        <p:nvSpPr>
          <p:cNvPr id="33805" name="Rectangle 15"/>
          <p:cNvSpPr>
            <a:spLocks noChangeArrowheads="1"/>
          </p:cNvSpPr>
          <p:nvPr/>
        </p:nvSpPr>
        <p:spPr bwMode="auto">
          <a:xfrm>
            <a:off x="1500188" y="5513388"/>
            <a:ext cx="26431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8’b10111011               	</a:t>
            </a:r>
            <a:endParaRPr lang="en-US" altLang="zh-CN" baseline="-25000">
              <a:ea typeface="黑体" panose="02010609060101010101" pitchFamily="49" charset="-122"/>
            </a:endParaRPr>
          </a:p>
        </p:txBody>
      </p:sp>
      <p:sp>
        <p:nvSpPr>
          <p:cNvPr id="33806" name="AutoShape 16"/>
          <p:cNvSpPr>
            <a:spLocks noChangeArrowheads="1"/>
          </p:cNvSpPr>
          <p:nvPr/>
        </p:nvSpPr>
        <p:spPr bwMode="auto">
          <a:xfrm>
            <a:off x="4211638" y="4430713"/>
            <a:ext cx="792162"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33807" name="AutoShape 17"/>
          <p:cNvSpPr>
            <a:spLocks noChangeArrowheads="1"/>
          </p:cNvSpPr>
          <p:nvPr/>
        </p:nvSpPr>
        <p:spPr bwMode="auto">
          <a:xfrm>
            <a:off x="4359275" y="5656263"/>
            <a:ext cx="792163" cy="215900"/>
          </a:xfrm>
          <a:prstGeom prst="rightArrow">
            <a:avLst>
              <a:gd name="adj1" fmla="val 50000"/>
              <a:gd name="adj2" fmla="val 91728"/>
            </a:avLst>
          </a:prstGeom>
          <a:solidFill>
            <a:schemeClr val="accent1"/>
          </a:solidFill>
          <a:ln w="9525">
            <a:solidFill>
              <a:schemeClr val="tx1"/>
            </a:solidFill>
            <a:miter lim="800000"/>
            <a:headEnd/>
            <a:tailEnd/>
          </a:ln>
        </p:spPr>
        <p:txBody>
          <a:bodyPr wrap="none" anchor="ct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lang="zh-CN" altLang="en-US">
              <a:ea typeface="黑体" panose="02010609060101010101" pitchFamily="49" charset="-122"/>
            </a:endParaRPr>
          </a:p>
        </p:txBody>
      </p:sp>
      <p:sp>
        <p:nvSpPr>
          <p:cNvPr id="33808" name="Text Box 18"/>
          <p:cNvSpPr txBox="1">
            <a:spLocks noChangeArrowheads="1"/>
          </p:cNvSpPr>
          <p:nvPr/>
        </p:nvSpPr>
        <p:spPr bwMode="auto">
          <a:xfrm>
            <a:off x="500063" y="4870450"/>
            <a:ext cx="7416800" cy="45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solidFill>
                  <a:schemeClr val="hlink"/>
                </a:solidFill>
                <a:ea typeface="黑体" panose="02010609060101010101" pitchFamily="49" charset="-122"/>
              </a:rPr>
              <a:t>注意有符号数是按照补码表示的，即第一位是符号位。</a:t>
            </a:r>
          </a:p>
        </p:txBody>
      </p:sp>
      <p:sp>
        <p:nvSpPr>
          <p:cNvPr id="35857" name="Rectangle 19"/>
          <p:cNvSpPr>
            <a:spLocks noGrp="1" noChangeArrowheads="1"/>
          </p:cNvSpPr>
          <p:nvPr>
            <p:ph type="title"/>
          </p:nvPr>
        </p:nvSpPr>
        <p:spPr/>
        <p:txBody>
          <a:bodyPr/>
          <a:lstStyle/>
          <a:p>
            <a:pPr eaLnBrk="1" hangingPunct="1"/>
            <a:r>
              <a:rPr lang="en-US" altLang="zh-CN" smtClean="0">
                <a:solidFill>
                  <a:schemeClr val="tx1"/>
                </a:solidFill>
              </a:rPr>
              <a:t>6. Verilog</a:t>
            </a:r>
            <a:r>
              <a:rPr lang="zh-CN" altLang="en-US" smtClean="0">
                <a:solidFill>
                  <a:schemeClr val="tx1"/>
                </a:solidFill>
              </a:rPr>
              <a:t>中数字的表示格式</a:t>
            </a:r>
          </a:p>
        </p:txBody>
      </p:sp>
      <p:sp>
        <p:nvSpPr>
          <p:cNvPr id="33810" name="Text Box 20"/>
          <p:cNvSpPr txBox="1">
            <a:spLocks noChangeArrowheads="1"/>
          </p:cNvSpPr>
          <p:nvPr/>
        </p:nvSpPr>
        <p:spPr bwMode="auto">
          <a:xfrm>
            <a:off x="595313" y="546417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比较：</a:t>
            </a:r>
          </a:p>
        </p:txBody>
      </p:sp>
      <p:sp>
        <p:nvSpPr>
          <p:cNvPr id="33811" name="Text Box 23"/>
          <p:cNvSpPr txBox="1">
            <a:spLocks noChangeArrowheads="1"/>
          </p:cNvSpPr>
          <p:nvPr/>
        </p:nvSpPr>
        <p:spPr bwMode="auto">
          <a:xfrm>
            <a:off x="3708400" y="1341438"/>
            <a:ext cx="3749675" cy="461962"/>
          </a:xfrm>
          <a:prstGeom prst="rect">
            <a:avLst/>
          </a:prstGeom>
          <a:solidFill>
            <a:srgbClr val="CDFFF2"/>
          </a:solidFill>
          <a:ln w="28575">
            <a:solidFill>
              <a:srgbClr val="00A87C"/>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A50021"/>
                </a:solidFill>
                <a:ea typeface="黑体" panose="02010609060101010101" pitchFamily="49" charset="-122"/>
              </a:rPr>
              <a:t>&lt;</a:t>
            </a:r>
            <a:r>
              <a:rPr lang="zh-CN" altLang="en-US">
                <a:solidFill>
                  <a:srgbClr val="A50021"/>
                </a:solidFill>
                <a:ea typeface="黑体" panose="02010609060101010101" pitchFamily="49" charset="-122"/>
              </a:rPr>
              <a:t>位宽</a:t>
            </a:r>
            <a:r>
              <a:rPr lang="en-US" altLang="zh-CN">
                <a:solidFill>
                  <a:srgbClr val="A50021"/>
                </a:solidFill>
                <a:ea typeface="黑体" panose="02010609060101010101" pitchFamily="49" charset="-122"/>
              </a:rPr>
              <a:t>&gt;’&lt;</a:t>
            </a:r>
            <a:r>
              <a:rPr lang="zh-CN" altLang="en-US">
                <a:solidFill>
                  <a:srgbClr val="A50021"/>
                </a:solidFill>
                <a:ea typeface="黑体" panose="02010609060101010101" pitchFamily="49" charset="-122"/>
              </a:rPr>
              <a:t>进制</a:t>
            </a:r>
            <a:r>
              <a:rPr lang="en-US" altLang="zh-CN">
                <a:solidFill>
                  <a:srgbClr val="A50021"/>
                </a:solidFill>
                <a:ea typeface="黑体" panose="02010609060101010101" pitchFamily="49" charset="-122"/>
              </a:rPr>
              <a:t>&gt;&lt;</a:t>
            </a:r>
            <a:r>
              <a:rPr lang="zh-CN" altLang="en-US">
                <a:solidFill>
                  <a:srgbClr val="A50021"/>
                </a:solidFill>
                <a:ea typeface="黑体" panose="02010609060101010101" pitchFamily="49" charset="-122"/>
              </a:rPr>
              <a:t>数字</a:t>
            </a:r>
            <a:r>
              <a:rPr lang="en-US" altLang="zh-CN">
                <a:solidFill>
                  <a:srgbClr val="A50021"/>
                </a:solidFill>
                <a:ea typeface="黑体" panose="02010609060101010101" pitchFamily="49" charset="-122"/>
              </a:rPr>
              <a:t>&gt;</a:t>
            </a:r>
          </a:p>
        </p:txBody>
      </p:sp>
      <p:sp>
        <p:nvSpPr>
          <p:cNvPr id="20" name="矩形 19"/>
          <p:cNvSpPr>
            <a:spLocks noChangeArrowheads="1"/>
          </p:cNvSpPr>
          <p:nvPr/>
        </p:nvSpPr>
        <p:spPr bwMode="auto">
          <a:xfrm>
            <a:off x="3929063" y="2143125"/>
            <a:ext cx="1103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000000"/>
                </a:solidFill>
                <a:ea typeface="黑体" panose="02010609060101010101" pitchFamily="49" charset="-122"/>
              </a:rPr>
              <a:t>(00)</a:t>
            </a:r>
            <a:r>
              <a:rPr lang="en-US" altLang="zh-CN" baseline="-25000">
                <a:solidFill>
                  <a:srgbClr val="000000"/>
                </a:solidFill>
                <a:ea typeface="黑体" panose="02010609060101010101" pitchFamily="49" charset="-122"/>
              </a:rPr>
              <a:t>2</a:t>
            </a:r>
          </a:p>
        </p:txBody>
      </p:sp>
      <p:sp>
        <p:nvSpPr>
          <p:cNvPr id="22" name="矩形 21"/>
          <p:cNvSpPr>
            <a:spLocks noChangeArrowheads="1"/>
          </p:cNvSpPr>
          <p:nvPr/>
        </p:nvSpPr>
        <p:spPr bwMode="auto">
          <a:xfrm>
            <a:off x="3929063" y="2714625"/>
            <a:ext cx="176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000000"/>
                </a:solidFill>
                <a:ea typeface="黑体" panose="02010609060101010101" pitchFamily="49" charset="-122"/>
              </a:rPr>
              <a:t>(01000)</a:t>
            </a:r>
            <a:r>
              <a:rPr lang="en-US" altLang="zh-CN" baseline="-25000">
                <a:solidFill>
                  <a:srgbClr val="000000"/>
                </a:solidFill>
                <a:ea typeface="黑体" panose="02010609060101010101" pitchFamily="49" charset="-122"/>
              </a:rPr>
              <a:t>2</a:t>
            </a:r>
            <a:endParaRPr lang="zh-CN" altLang="en-US">
              <a:ea typeface="黑体" panose="02010609060101010101" pitchFamily="49" charset="-122"/>
            </a:endParaRPr>
          </a:p>
        </p:txBody>
      </p:sp>
      <p:sp>
        <p:nvSpPr>
          <p:cNvPr id="33814" name="矩形 22"/>
          <p:cNvSpPr>
            <a:spLocks noChangeArrowheads="1"/>
          </p:cNvSpPr>
          <p:nvPr/>
        </p:nvSpPr>
        <p:spPr bwMode="auto">
          <a:xfrm>
            <a:off x="5214938" y="4286250"/>
            <a:ext cx="139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000000"/>
                </a:solidFill>
                <a:ea typeface="黑体" panose="02010609060101010101" pitchFamily="49" charset="-122"/>
              </a:rPr>
              <a:t>(-69)</a:t>
            </a:r>
            <a:r>
              <a:rPr lang="en-US" altLang="zh-CN" baseline="-25000">
                <a:solidFill>
                  <a:srgbClr val="000000"/>
                </a:solidFill>
                <a:ea typeface="黑体" panose="02010609060101010101" pitchFamily="49" charset="-122"/>
              </a:rPr>
              <a:t>10</a:t>
            </a:r>
            <a:endParaRPr lang="zh-CN" altLang="en-US">
              <a:ea typeface="黑体" panose="02010609060101010101" pitchFamily="49" charset="-122"/>
            </a:endParaRPr>
          </a:p>
        </p:txBody>
      </p:sp>
      <p:sp>
        <p:nvSpPr>
          <p:cNvPr id="33815" name="矩形 23"/>
          <p:cNvSpPr>
            <a:spLocks noChangeArrowheads="1"/>
          </p:cNvSpPr>
          <p:nvPr/>
        </p:nvSpPr>
        <p:spPr bwMode="auto">
          <a:xfrm>
            <a:off x="5214938" y="5500688"/>
            <a:ext cx="1312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r" eaLnBrk="1" hangingPunct="1"/>
            <a:r>
              <a:rPr lang="en-US" altLang="zh-CN">
                <a:solidFill>
                  <a:srgbClr val="000000"/>
                </a:solidFill>
                <a:latin typeface="Tahoma" panose="020B0604030504040204" pitchFamily="34" charset="0"/>
              </a:rPr>
              <a:t>(187)</a:t>
            </a:r>
            <a:r>
              <a:rPr lang="en-US" altLang="zh-CN" baseline="-25000">
                <a:solidFill>
                  <a:srgbClr val="000000"/>
                </a:solidFill>
                <a:latin typeface="Tahoma" panose="020B0604030504040204" pitchFamily="34" charset="0"/>
              </a:rPr>
              <a:t>10</a:t>
            </a:r>
            <a:endParaRPr lang="en-US" altLang="zh-CN">
              <a:solidFill>
                <a:srgbClr val="000000"/>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00"/>
                                        </p:tgtEl>
                                        <p:attrNameLst>
                                          <p:attrName>style.visibility</p:attrName>
                                        </p:attrNameLst>
                                      </p:cBhvr>
                                      <p:to>
                                        <p:strVal val="visible"/>
                                      </p:to>
                                    </p:set>
                                    <p:animEffect transition="in" filter="wipe(left)">
                                      <p:cBhvr>
                                        <p:cTn id="7" dur="500"/>
                                        <p:tgtEl>
                                          <p:spTgt spid="338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811"/>
                                        </p:tgtEl>
                                        <p:attrNameLst>
                                          <p:attrName>style.visibility</p:attrName>
                                        </p:attrNameLst>
                                      </p:cBhvr>
                                      <p:to>
                                        <p:strVal val="visible"/>
                                      </p:to>
                                    </p:set>
                                    <p:animEffect transition="in" filter="wipe(left)">
                                      <p:cBhvr>
                                        <p:cTn id="12" dur="500"/>
                                        <p:tgtEl>
                                          <p:spTgt spid="338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795"/>
                                        </p:tgtEl>
                                        <p:attrNameLst>
                                          <p:attrName>style.visibility</p:attrName>
                                        </p:attrNameLst>
                                      </p:cBhvr>
                                      <p:to>
                                        <p:strVal val="visible"/>
                                      </p:to>
                                    </p:set>
                                    <p:animEffect transition="in" filter="wipe(left)">
                                      <p:cBhvr>
                                        <p:cTn id="17" dur="500"/>
                                        <p:tgtEl>
                                          <p:spTgt spid="337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796"/>
                                        </p:tgtEl>
                                        <p:attrNameLst>
                                          <p:attrName>style.visibility</p:attrName>
                                        </p:attrNameLst>
                                      </p:cBhvr>
                                      <p:to>
                                        <p:strVal val="visible"/>
                                      </p:to>
                                    </p:set>
                                    <p:animEffect transition="in" filter="wipe(left)">
                                      <p:cBhvr>
                                        <p:cTn id="22" dur="500"/>
                                        <p:tgtEl>
                                          <p:spTgt spid="337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798"/>
                                        </p:tgtEl>
                                        <p:attrNameLst>
                                          <p:attrName>style.visibility</p:attrName>
                                        </p:attrNameLst>
                                      </p:cBhvr>
                                      <p:to>
                                        <p:strVal val="visible"/>
                                      </p:to>
                                    </p:set>
                                    <p:animEffect transition="in" filter="wipe(left)">
                                      <p:cBhvr>
                                        <p:cTn id="27" dur="500"/>
                                        <p:tgtEl>
                                          <p:spTgt spid="337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797"/>
                                        </p:tgtEl>
                                        <p:attrNameLst>
                                          <p:attrName>style.visibility</p:attrName>
                                        </p:attrNameLst>
                                      </p:cBhvr>
                                      <p:to>
                                        <p:strVal val="visible"/>
                                      </p:to>
                                    </p:set>
                                    <p:animEffect transition="in" filter="wipe(left)">
                                      <p:cBhvr>
                                        <p:cTn id="37" dur="500"/>
                                        <p:tgtEl>
                                          <p:spTgt spid="337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799"/>
                                        </p:tgtEl>
                                        <p:attrNameLst>
                                          <p:attrName>style.visibility</p:attrName>
                                        </p:attrNameLst>
                                      </p:cBhvr>
                                      <p:to>
                                        <p:strVal val="visible"/>
                                      </p:to>
                                    </p:set>
                                    <p:animEffect transition="in" filter="wipe(left)">
                                      <p:cBhvr>
                                        <p:cTn id="42" dur="500"/>
                                        <p:tgtEl>
                                          <p:spTgt spid="337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3801"/>
                                        </p:tgtEl>
                                        <p:attrNameLst>
                                          <p:attrName>style.visibility</p:attrName>
                                        </p:attrNameLst>
                                      </p:cBhvr>
                                      <p:to>
                                        <p:strVal val="visible"/>
                                      </p:to>
                                    </p:set>
                                    <p:animEffect transition="in" filter="wipe(left)">
                                      <p:cBhvr>
                                        <p:cTn id="52" dur="500"/>
                                        <p:tgtEl>
                                          <p:spTgt spid="338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3802"/>
                                        </p:tgtEl>
                                        <p:attrNameLst>
                                          <p:attrName>style.visibility</p:attrName>
                                        </p:attrNameLst>
                                      </p:cBhvr>
                                      <p:to>
                                        <p:strVal val="visible"/>
                                      </p:to>
                                    </p:set>
                                    <p:animEffect transition="in" filter="wipe(left)">
                                      <p:cBhvr>
                                        <p:cTn id="57" dur="500"/>
                                        <p:tgtEl>
                                          <p:spTgt spid="3380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3803"/>
                                        </p:tgtEl>
                                        <p:attrNameLst>
                                          <p:attrName>style.visibility</p:attrName>
                                        </p:attrNameLst>
                                      </p:cBhvr>
                                      <p:to>
                                        <p:strVal val="visible"/>
                                      </p:to>
                                    </p:set>
                                    <p:animEffect transition="in" filter="wipe(left)">
                                      <p:cBhvr>
                                        <p:cTn id="62" dur="500"/>
                                        <p:tgtEl>
                                          <p:spTgt spid="3380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3804"/>
                                        </p:tgtEl>
                                        <p:attrNameLst>
                                          <p:attrName>style.visibility</p:attrName>
                                        </p:attrNameLst>
                                      </p:cBhvr>
                                      <p:to>
                                        <p:strVal val="visible"/>
                                      </p:to>
                                    </p:set>
                                    <p:animEffect transition="in" filter="wipe(left)">
                                      <p:cBhvr>
                                        <p:cTn id="67" dur="500"/>
                                        <p:tgtEl>
                                          <p:spTgt spid="338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3808"/>
                                        </p:tgtEl>
                                        <p:attrNameLst>
                                          <p:attrName>style.visibility</p:attrName>
                                        </p:attrNameLst>
                                      </p:cBhvr>
                                      <p:to>
                                        <p:strVal val="visible"/>
                                      </p:to>
                                    </p:set>
                                    <p:animEffect transition="in" filter="wipe(left)">
                                      <p:cBhvr>
                                        <p:cTn id="72" dur="500"/>
                                        <p:tgtEl>
                                          <p:spTgt spid="3380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806"/>
                                        </p:tgtEl>
                                        <p:attrNameLst>
                                          <p:attrName>style.visibility</p:attrName>
                                        </p:attrNameLst>
                                      </p:cBhvr>
                                      <p:to>
                                        <p:strVal val="visible"/>
                                      </p:to>
                                    </p:set>
                                    <p:animEffect transition="in" filter="wipe(left)">
                                      <p:cBhvr>
                                        <p:cTn id="77" dur="500"/>
                                        <p:tgtEl>
                                          <p:spTgt spid="3380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3814"/>
                                        </p:tgtEl>
                                        <p:attrNameLst>
                                          <p:attrName>style.visibility</p:attrName>
                                        </p:attrNameLst>
                                      </p:cBhvr>
                                      <p:to>
                                        <p:strVal val="visible"/>
                                      </p:to>
                                    </p:set>
                                    <p:animEffect transition="in" filter="wipe(left)">
                                      <p:cBhvr>
                                        <p:cTn id="82" dur="500"/>
                                        <p:tgtEl>
                                          <p:spTgt spid="3381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3810"/>
                                        </p:tgtEl>
                                        <p:attrNameLst>
                                          <p:attrName>style.visibility</p:attrName>
                                        </p:attrNameLst>
                                      </p:cBhvr>
                                      <p:to>
                                        <p:strVal val="visible"/>
                                      </p:to>
                                    </p:set>
                                    <p:animEffect transition="in" filter="wipe(left)">
                                      <p:cBhvr>
                                        <p:cTn id="87" dur="500"/>
                                        <p:tgtEl>
                                          <p:spTgt spid="3381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3805"/>
                                        </p:tgtEl>
                                        <p:attrNameLst>
                                          <p:attrName>style.visibility</p:attrName>
                                        </p:attrNameLst>
                                      </p:cBhvr>
                                      <p:to>
                                        <p:strVal val="visible"/>
                                      </p:to>
                                    </p:set>
                                    <p:animEffect transition="in" filter="wipe(left)">
                                      <p:cBhvr>
                                        <p:cTn id="92" dur="500"/>
                                        <p:tgtEl>
                                          <p:spTgt spid="3380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3807"/>
                                        </p:tgtEl>
                                        <p:attrNameLst>
                                          <p:attrName>style.visibility</p:attrName>
                                        </p:attrNameLst>
                                      </p:cBhvr>
                                      <p:to>
                                        <p:strVal val="visible"/>
                                      </p:to>
                                    </p:set>
                                    <p:animEffect transition="in" filter="wipe(left)">
                                      <p:cBhvr>
                                        <p:cTn id="97" dur="500"/>
                                        <p:tgtEl>
                                          <p:spTgt spid="3380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3815"/>
                                        </p:tgtEl>
                                        <p:attrNameLst>
                                          <p:attrName>style.visibility</p:attrName>
                                        </p:attrNameLst>
                                      </p:cBhvr>
                                      <p:to>
                                        <p:strVal val="visible"/>
                                      </p:to>
                                    </p:set>
                                    <p:animEffect transition="in" filter="wipe(left)">
                                      <p:cBhvr>
                                        <p:cTn id="102" dur="500"/>
                                        <p:tgtEl>
                                          <p:spTgt spid="33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6" grpId="0"/>
      <p:bldP spid="33797" grpId="0"/>
      <p:bldP spid="33798" grpId="0" animBg="1"/>
      <p:bldP spid="33799" grpId="0" animBg="1"/>
      <p:bldP spid="33800" grpId="0"/>
      <p:bldP spid="33801" grpId="0"/>
      <p:bldP spid="33802" grpId="0" animBg="1"/>
      <p:bldP spid="33803" grpId="0"/>
      <p:bldP spid="33804" grpId="0"/>
      <p:bldP spid="33805" grpId="0"/>
      <p:bldP spid="33806" grpId="0" animBg="1"/>
      <p:bldP spid="33807" grpId="0" animBg="1"/>
      <p:bldP spid="33808" grpId="0" animBg="1"/>
      <p:bldP spid="33810" grpId="0"/>
      <p:bldP spid="33811" grpId="0" animBg="1"/>
      <p:bldP spid="20" grpId="0"/>
      <p:bldP spid="22" grpId="0"/>
      <p:bldP spid="33814" grpId="0"/>
      <p:bldP spid="3381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BDF87A57-93C2-4193-BC9D-08471D785524}" type="slidenum">
              <a:rPr lang="en-US" altLang="zh-CN" sz="1400" b="0">
                <a:latin typeface="Tahoma" panose="020B0604030504040204" pitchFamily="34" charset="0"/>
              </a:rPr>
              <a:pPr eaLnBrk="1" hangingPunct="1"/>
              <a:t>47</a:t>
            </a:fld>
            <a:endParaRPr lang="en-US" altLang="zh-CN" sz="1400" b="0">
              <a:latin typeface="Tahoma" panose="020B0604030504040204" pitchFamily="34" charset="0"/>
            </a:endParaRPr>
          </a:p>
        </p:txBody>
      </p:sp>
      <p:sp>
        <p:nvSpPr>
          <p:cNvPr id="36867" name="Rectangle 2"/>
          <p:cNvSpPr>
            <a:spLocks noGrp="1" noChangeArrowheads="1"/>
          </p:cNvSpPr>
          <p:nvPr>
            <p:ph type="title"/>
          </p:nvPr>
        </p:nvSpPr>
        <p:spPr/>
        <p:txBody>
          <a:bodyPr/>
          <a:lstStyle/>
          <a:p>
            <a:pPr eaLnBrk="1" hangingPunct="1"/>
            <a:r>
              <a:rPr lang="en-US" altLang="zh-CN" smtClean="0"/>
              <a:t>7. </a:t>
            </a:r>
            <a:r>
              <a:rPr lang="zh-CN" altLang="en-US" smtClean="0"/>
              <a:t>逻辑值</a:t>
            </a:r>
          </a:p>
        </p:txBody>
      </p:sp>
      <p:sp>
        <p:nvSpPr>
          <p:cNvPr id="36868" name="Text Box 4"/>
          <p:cNvSpPr txBox="1">
            <a:spLocks noChangeArrowheads="1"/>
          </p:cNvSpPr>
          <p:nvPr/>
        </p:nvSpPr>
        <p:spPr bwMode="auto">
          <a:xfrm>
            <a:off x="1187450" y="1919288"/>
            <a:ext cx="3929063" cy="1581150"/>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1</a:t>
            </a:r>
            <a:r>
              <a:rPr lang="zh-CN" altLang="en-US">
                <a:ea typeface="黑体" panose="02010609060101010101" pitchFamily="49" charset="-122"/>
              </a:rPr>
              <a:t>：逻辑</a:t>
            </a:r>
            <a:r>
              <a:rPr lang="en-US" altLang="zh-CN">
                <a:ea typeface="黑体" panose="02010609060101010101" pitchFamily="49" charset="-122"/>
              </a:rPr>
              <a:t>1</a:t>
            </a:r>
            <a:r>
              <a:rPr lang="zh-CN" altLang="en-US">
                <a:ea typeface="黑体" panose="02010609060101010101" pitchFamily="49" charset="-122"/>
              </a:rPr>
              <a:t>，高电平，数字</a:t>
            </a:r>
            <a:r>
              <a:rPr lang="en-US" altLang="zh-CN">
                <a:ea typeface="黑体" panose="02010609060101010101" pitchFamily="49" charset="-122"/>
              </a:rPr>
              <a:t>1</a:t>
            </a:r>
          </a:p>
          <a:p>
            <a:pPr eaLnBrk="1" hangingPunct="1"/>
            <a:r>
              <a:rPr lang="en-US" altLang="zh-CN">
                <a:ea typeface="黑体" panose="02010609060101010101" pitchFamily="49" charset="-122"/>
              </a:rPr>
              <a:t>0</a:t>
            </a:r>
            <a:r>
              <a:rPr lang="zh-CN" altLang="en-US">
                <a:ea typeface="黑体" panose="02010609060101010101" pitchFamily="49" charset="-122"/>
              </a:rPr>
              <a:t>：逻辑</a:t>
            </a:r>
            <a:r>
              <a:rPr lang="en-US" altLang="zh-CN">
                <a:ea typeface="黑体" panose="02010609060101010101" pitchFamily="49" charset="-122"/>
              </a:rPr>
              <a:t>0</a:t>
            </a:r>
            <a:r>
              <a:rPr lang="zh-CN" altLang="en-US">
                <a:ea typeface="黑体" panose="02010609060101010101" pitchFamily="49" charset="-122"/>
              </a:rPr>
              <a:t>，低电平，数字</a:t>
            </a:r>
            <a:r>
              <a:rPr lang="en-US" altLang="zh-CN">
                <a:ea typeface="黑体" panose="02010609060101010101" pitchFamily="49" charset="-122"/>
              </a:rPr>
              <a:t>0</a:t>
            </a:r>
          </a:p>
          <a:p>
            <a:pPr eaLnBrk="1" hangingPunct="1"/>
            <a:r>
              <a:rPr lang="en-US" altLang="zh-CN">
                <a:ea typeface="黑体" panose="02010609060101010101" pitchFamily="49" charset="-122"/>
              </a:rPr>
              <a:t>x</a:t>
            </a:r>
            <a:r>
              <a:rPr lang="zh-CN" altLang="en-US">
                <a:ea typeface="黑体" panose="02010609060101010101" pitchFamily="49" charset="-122"/>
              </a:rPr>
              <a:t>：不确定</a:t>
            </a:r>
          </a:p>
          <a:p>
            <a:pPr eaLnBrk="1" hangingPunct="1"/>
            <a:r>
              <a:rPr lang="en-US" altLang="zh-CN">
                <a:ea typeface="黑体" panose="02010609060101010101" pitchFamily="49" charset="-122"/>
              </a:rPr>
              <a:t>z</a:t>
            </a:r>
            <a:r>
              <a:rPr lang="zh-CN" altLang="en-US">
                <a:ea typeface="黑体" panose="02010609060101010101" pitchFamily="49" charset="-122"/>
              </a:rPr>
              <a:t>：高阻态</a:t>
            </a:r>
          </a:p>
        </p:txBody>
      </p:sp>
      <p:sp>
        <p:nvSpPr>
          <p:cNvPr id="36869" name="Text Box 5"/>
          <p:cNvSpPr txBox="1">
            <a:spLocks noChangeArrowheads="1"/>
          </p:cNvSpPr>
          <p:nvPr/>
        </p:nvSpPr>
        <p:spPr bwMode="auto">
          <a:xfrm>
            <a:off x="1095375" y="1208088"/>
            <a:ext cx="477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Verilog</a:t>
            </a:r>
            <a:r>
              <a:rPr lang="zh-CN" altLang="en-US">
                <a:ea typeface="黑体" panose="02010609060101010101" pitchFamily="49" charset="-122"/>
              </a:rPr>
              <a:t>语言中的逻辑值有四种</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5"/>
          <p:cNvSpPr>
            <a:spLocks noGrp="1"/>
          </p:cNvSpPr>
          <p:nvPr>
            <p:ph type="sldNum" sz="quarter" idx="12"/>
          </p:nvPr>
        </p:nvSpPr>
        <p:spPr/>
        <p:txBody>
          <a:bodyPr/>
          <a:lstStyle/>
          <a:p>
            <a:fld id="{D34AD87E-7004-46FA-AAE3-CAB21AC82295}" type="slidenum">
              <a:rPr lang="en-US" altLang="zh-CN">
                <a:solidFill>
                  <a:srgbClr val="000000"/>
                </a:solidFill>
              </a:rPr>
              <a:pPr/>
              <a:t>48</a:t>
            </a:fld>
            <a:endParaRPr lang="en-US" altLang="zh-CN">
              <a:solidFill>
                <a:srgbClr val="000000"/>
              </a:solidFill>
            </a:endParaRPr>
          </a:p>
        </p:txBody>
      </p:sp>
      <p:sp>
        <p:nvSpPr>
          <p:cNvPr id="208898" name="Rectangle 2"/>
          <p:cNvSpPr>
            <a:spLocks noGrp="1" noChangeArrowheads="1"/>
          </p:cNvSpPr>
          <p:nvPr>
            <p:ph type="title"/>
          </p:nvPr>
        </p:nvSpPr>
        <p:spPr>
          <a:xfrm>
            <a:off x="1350963" y="449263"/>
            <a:ext cx="2428875" cy="431800"/>
          </a:xfrm>
        </p:spPr>
        <p:txBody>
          <a:bodyPr/>
          <a:lstStyle/>
          <a:p>
            <a:r>
              <a:rPr lang="en-US" altLang="zh-CN"/>
              <a:t>8. if</a:t>
            </a:r>
            <a:r>
              <a:rPr lang="zh-CN" altLang="en-US"/>
              <a:t>语句</a:t>
            </a:r>
          </a:p>
        </p:txBody>
      </p:sp>
      <p:sp>
        <p:nvSpPr>
          <p:cNvPr id="208901" name="Text Box 5"/>
          <p:cNvSpPr txBox="1">
            <a:spLocks noChangeArrowheads="1"/>
          </p:cNvSpPr>
          <p:nvPr/>
        </p:nvSpPr>
        <p:spPr bwMode="auto">
          <a:xfrm>
            <a:off x="539750" y="1268413"/>
            <a:ext cx="2378075" cy="457200"/>
          </a:xfrm>
          <a:prstGeom prst="rect">
            <a:avLst/>
          </a:prstGeom>
          <a:noFill/>
          <a:ln>
            <a:noFill/>
          </a:ln>
          <a:effectLst/>
          <a:extLst>
            <a:ext uri="{909E8E84-426E-40DD-AFC4-6F175D3DCCD1}">
              <a14:hiddenFill xmlns:a14="http://schemas.microsoft.com/office/drawing/2010/main">
                <a:solidFill>
                  <a:srgbClr val="E6E6F2"/>
                </a:solidFill>
              </a14:hiddenFill>
            </a:ext>
            <a:ext uri="{91240B29-F687-4F45-9708-019B960494DF}">
              <a14:hiddenLine xmlns:a14="http://schemas.microsoft.com/office/drawing/2010/main" w="28575" algn="ctr">
                <a:solidFill>
                  <a:schemeClr val="tx2"/>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99"/>
                </a:solidFill>
                <a:latin typeface="Arial" panose="020B0604020202020204" pitchFamily="34" charset="0"/>
                <a:ea typeface="黑体" panose="02010609060101010101" pitchFamily="49" charset="-122"/>
              </a:rPr>
              <a:t>4</a:t>
            </a:r>
            <a:r>
              <a:rPr lang="zh-CN" altLang="en-US">
                <a:solidFill>
                  <a:srgbClr val="000099"/>
                </a:solidFill>
                <a:latin typeface="Arial" panose="020B0604020202020204" pitchFamily="34" charset="0"/>
                <a:ea typeface="黑体" panose="02010609060101010101" pitchFamily="49" charset="-122"/>
              </a:rPr>
              <a:t>种类型的</a:t>
            </a:r>
            <a:r>
              <a:rPr lang="en-US" altLang="zh-CN">
                <a:solidFill>
                  <a:srgbClr val="000099"/>
                </a:solidFill>
                <a:latin typeface="Arial" panose="020B0604020202020204" pitchFamily="34" charset="0"/>
                <a:ea typeface="黑体" panose="02010609060101010101" pitchFamily="49" charset="-122"/>
              </a:rPr>
              <a:t>if</a:t>
            </a:r>
            <a:r>
              <a:rPr lang="zh-CN" altLang="en-US">
                <a:solidFill>
                  <a:srgbClr val="000099"/>
                </a:solidFill>
                <a:latin typeface="Arial" panose="020B0604020202020204" pitchFamily="34" charset="0"/>
                <a:ea typeface="黑体" panose="02010609060101010101" pitchFamily="49" charset="-122"/>
              </a:rPr>
              <a:t>语句</a:t>
            </a:r>
          </a:p>
        </p:txBody>
      </p:sp>
      <p:sp>
        <p:nvSpPr>
          <p:cNvPr id="208902" name="Rectangle 6"/>
          <p:cNvSpPr>
            <a:spLocks noChangeArrowheads="1"/>
          </p:cNvSpPr>
          <p:nvPr/>
        </p:nvSpPr>
        <p:spPr bwMode="auto">
          <a:xfrm>
            <a:off x="533400" y="1773238"/>
            <a:ext cx="3455988" cy="485775"/>
          </a:xfrm>
          <a:prstGeom prst="rect">
            <a:avLst/>
          </a:prstGeom>
          <a:noFill/>
          <a:ln w="28575" algn="ctr">
            <a:solidFill>
              <a:srgbClr val="990033"/>
            </a:solidFill>
            <a:miter lim="800000"/>
            <a:headEnd type="none" w="lg" len="lg"/>
            <a:tailEn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990033"/>
                </a:solidFill>
                <a:latin typeface="Arial" panose="020B0604020202020204" pitchFamily="34" charset="0"/>
                <a:ea typeface="黑体" panose="02010609060101010101" pitchFamily="49" charset="-122"/>
              </a:rPr>
              <a:t>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latin typeface="Arial" panose="020B0604020202020204" pitchFamily="34" charset="0"/>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&gt;) </a:t>
            </a:r>
            <a:r>
              <a:rPr lang="zh-CN" altLang="en-US">
                <a:solidFill>
                  <a:srgbClr val="000099"/>
                </a:solidFill>
                <a:latin typeface="Arial" panose="020B0604020202020204" pitchFamily="34" charset="0"/>
                <a:ea typeface="黑体" panose="02010609060101010101" pitchFamily="49" charset="-122"/>
              </a:rPr>
              <a:t>语句 </a:t>
            </a:r>
            <a:r>
              <a:rPr lang="en-US" altLang="zh-CN">
                <a:solidFill>
                  <a:srgbClr val="000099"/>
                </a:solidFill>
                <a:latin typeface="Arial" panose="020B0604020202020204" pitchFamily="34" charset="0"/>
                <a:ea typeface="黑体" panose="02010609060101010101" pitchFamily="49" charset="-122"/>
              </a:rPr>
              <a:t>;</a:t>
            </a:r>
          </a:p>
        </p:txBody>
      </p:sp>
      <p:sp>
        <p:nvSpPr>
          <p:cNvPr id="208903" name="Rectangle 7"/>
          <p:cNvSpPr>
            <a:spLocks noChangeArrowheads="1"/>
          </p:cNvSpPr>
          <p:nvPr/>
        </p:nvSpPr>
        <p:spPr bwMode="auto">
          <a:xfrm>
            <a:off x="533400" y="2425700"/>
            <a:ext cx="5629275" cy="485775"/>
          </a:xfrm>
          <a:prstGeom prst="rect">
            <a:avLst/>
          </a:prstGeom>
          <a:noFill/>
          <a:ln w="28575" algn="ctr">
            <a:solidFill>
              <a:srgbClr val="990033"/>
            </a:solidFill>
            <a:miter lim="800000"/>
            <a:headEnd type="none" w="lg" len="lg"/>
            <a:tailEn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990033"/>
                </a:solidFill>
                <a:latin typeface="Arial" panose="020B0604020202020204" pitchFamily="34" charset="0"/>
                <a:ea typeface="黑体" panose="02010609060101010101" pitchFamily="49" charset="-122"/>
              </a:rPr>
              <a:t>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&gt;) </a:t>
            </a:r>
            <a:r>
              <a:rPr lang="zh-CN" altLang="en-US">
                <a:solidFill>
                  <a:srgbClr val="000099"/>
                </a:solidFill>
                <a:latin typeface="Arial" panose="020B0604020202020204" pitchFamily="34" charset="0"/>
                <a:ea typeface="黑体" panose="02010609060101010101" pitchFamily="49" charset="-122"/>
              </a:rPr>
              <a:t>真语句 </a:t>
            </a:r>
            <a:r>
              <a:rPr lang="en-US" altLang="zh-CN">
                <a:solidFill>
                  <a:srgbClr val="000099"/>
                </a:solidFill>
                <a:latin typeface="Arial" panose="020B0604020202020204" pitchFamily="34" charset="0"/>
                <a:ea typeface="黑体" panose="02010609060101010101" pitchFamily="49" charset="-122"/>
              </a:rPr>
              <a:t>; </a:t>
            </a:r>
            <a:r>
              <a:rPr lang="en-US" altLang="zh-CN">
                <a:solidFill>
                  <a:srgbClr val="990033"/>
                </a:solidFill>
                <a:latin typeface="Arial" panose="020B0604020202020204" pitchFamily="34" charset="0"/>
                <a:ea typeface="黑体" panose="02010609060101010101" pitchFamily="49" charset="-122"/>
              </a:rPr>
              <a:t>else </a:t>
            </a:r>
            <a:r>
              <a:rPr lang="zh-CN" altLang="en-US">
                <a:solidFill>
                  <a:srgbClr val="000099"/>
                </a:solidFill>
                <a:ea typeface="黑体" panose="02010609060101010101" pitchFamily="49" charset="-122"/>
              </a:rPr>
              <a:t>假语句</a:t>
            </a:r>
            <a:r>
              <a:rPr lang="zh-CN" altLang="en-US">
                <a:solidFill>
                  <a:srgbClr val="000099"/>
                </a:solidFill>
                <a:latin typeface="Arial" panose="020B0604020202020204" pitchFamily="34" charset="0"/>
                <a:ea typeface="黑体" panose="02010609060101010101" pitchFamily="49" charset="-122"/>
              </a:rPr>
              <a:t> </a:t>
            </a:r>
            <a:r>
              <a:rPr lang="en-US" altLang="zh-CN">
                <a:solidFill>
                  <a:srgbClr val="000099"/>
                </a:solidFill>
                <a:latin typeface="Arial" panose="020B0604020202020204" pitchFamily="34" charset="0"/>
                <a:ea typeface="黑体" panose="02010609060101010101" pitchFamily="49" charset="-122"/>
              </a:rPr>
              <a:t>;</a:t>
            </a:r>
          </a:p>
        </p:txBody>
      </p:sp>
      <p:sp>
        <p:nvSpPr>
          <p:cNvPr id="208904" name="Rectangle 8"/>
          <p:cNvSpPr>
            <a:spLocks noChangeArrowheads="1"/>
          </p:cNvSpPr>
          <p:nvPr/>
        </p:nvSpPr>
        <p:spPr bwMode="auto">
          <a:xfrm>
            <a:off x="533400" y="3078163"/>
            <a:ext cx="5622925" cy="1216025"/>
          </a:xfrm>
          <a:prstGeom prst="rect">
            <a:avLst/>
          </a:prstGeom>
          <a:noFill/>
          <a:ln w="28575" algn="ctr">
            <a:solidFill>
              <a:srgbClr val="990033"/>
            </a:solidFill>
            <a:miter lim="800000"/>
            <a:headEnd type="none" w="lg" len="lg"/>
            <a:tailEn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solidFill>
                  <a:srgbClr val="990033"/>
                </a:solidFill>
                <a:latin typeface="Arial" panose="020B0604020202020204" pitchFamily="34" charset="0"/>
                <a:ea typeface="黑体" panose="02010609060101010101" pitchFamily="49" charset="-122"/>
              </a:rPr>
              <a:t>if </a:t>
            </a:r>
            <a:r>
              <a:rPr lang="en-US" altLang="zh-CN">
                <a:solidFill>
                  <a:srgbClr val="000099"/>
                </a:solidFill>
                <a:latin typeface="Arial" panose="020B0604020202020204" pitchFamily="34" charset="0"/>
                <a:ea typeface="黑体" panose="02010609060101010101" pitchFamily="49" charset="-122"/>
              </a:rPr>
              <a:t>(&lt;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1&gt;) </a:t>
            </a:r>
            <a:r>
              <a:rPr lang="zh-CN" altLang="en-US">
                <a:solidFill>
                  <a:srgbClr val="000099"/>
                </a:solidFill>
                <a:latin typeface="Arial" panose="020B0604020202020204" pitchFamily="34" charset="0"/>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1 ;</a:t>
            </a:r>
          </a:p>
          <a:p>
            <a:r>
              <a:rPr lang="en-US" altLang="zh-CN">
                <a:solidFill>
                  <a:srgbClr val="990033"/>
                </a:solidFill>
                <a:latin typeface="Arial" panose="020B0604020202020204" pitchFamily="34" charset="0"/>
                <a:ea typeface="黑体" panose="02010609060101010101" pitchFamily="49" charset="-122"/>
              </a:rPr>
              <a:t>else 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2&gt;)</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2 ;</a:t>
            </a:r>
          </a:p>
          <a:p>
            <a:r>
              <a:rPr lang="en-US" altLang="zh-CN">
                <a:solidFill>
                  <a:srgbClr val="990033"/>
                </a:solidFill>
                <a:latin typeface="Arial" panose="020B0604020202020204" pitchFamily="34" charset="0"/>
                <a:ea typeface="黑体" panose="02010609060101010101" pitchFamily="49" charset="-122"/>
              </a:rPr>
              <a:t>else 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3&gt;)</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3 ;</a:t>
            </a:r>
          </a:p>
        </p:txBody>
      </p:sp>
      <p:sp>
        <p:nvSpPr>
          <p:cNvPr id="208905" name="Text Box 9"/>
          <p:cNvSpPr txBox="1">
            <a:spLocks noChangeArrowheads="1"/>
          </p:cNvSpPr>
          <p:nvPr/>
        </p:nvSpPr>
        <p:spPr bwMode="auto">
          <a:xfrm>
            <a:off x="60325" y="1773238"/>
            <a:ext cx="490538" cy="457200"/>
          </a:xfrm>
          <a:prstGeom prst="rect">
            <a:avLst/>
          </a:prstGeom>
          <a:noFill/>
          <a:ln>
            <a:noFill/>
          </a:ln>
          <a:effectLst/>
          <a:extLst>
            <a:ext uri="{909E8E84-426E-40DD-AFC4-6F175D3DCCD1}">
              <a14:hiddenFill xmlns:a14="http://schemas.microsoft.com/office/drawing/2010/main">
                <a:solidFill>
                  <a:srgbClr val="E6E6F2"/>
                </a:solidFill>
              </a14:hiddenFill>
            </a:ext>
            <a:ext uri="{91240B29-F687-4F45-9708-019B960494DF}">
              <a14:hiddenLine xmlns:a14="http://schemas.microsoft.com/office/drawing/2010/main" w="28575" algn="ctr">
                <a:solidFill>
                  <a:schemeClr val="tx2"/>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99"/>
                </a:solidFill>
                <a:latin typeface="Arial" panose="020B0604020202020204" pitchFamily="34" charset="0"/>
                <a:ea typeface="黑体" panose="02010609060101010101" pitchFamily="49" charset="-122"/>
              </a:rPr>
              <a:t>①</a:t>
            </a:r>
          </a:p>
        </p:txBody>
      </p:sp>
      <p:sp>
        <p:nvSpPr>
          <p:cNvPr id="208906" name="Rectangle 10"/>
          <p:cNvSpPr>
            <a:spLocks noChangeArrowheads="1"/>
          </p:cNvSpPr>
          <p:nvPr/>
        </p:nvSpPr>
        <p:spPr bwMode="auto">
          <a:xfrm>
            <a:off x="60325" y="2459038"/>
            <a:ext cx="490538" cy="457200"/>
          </a:xfrm>
          <a:prstGeom prst="rect">
            <a:avLst/>
          </a:prstGeom>
          <a:noFill/>
          <a:ln>
            <a:noFill/>
          </a:ln>
          <a:effectLst/>
          <a:extLst>
            <a:ext uri="{909E8E84-426E-40DD-AFC4-6F175D3DCCD1}">
              <a14:hiddenFill xmlns:a14="http://schemas.microsoft.com/office/drawing/2010/main">
                <a:solidFill>
                  <a:srgbClr val="E6E6F2"/>
                </a:solidFill>
              </a14:hiddenFill>
            </a:ext>
            <a:ext uri="{91240B29-F687-4F45-9708-019B960494DF}">
              <a14:hiddenLine xmlns:a14="http://schemas.microsoft.com/office/drawing/2010/main" w="28575" algn="ctr">
                <a:solidFill>
                  <a:schemeClr val="tx2"/>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99"/>
                </a:solidFill>
                <a:latin typeface="Arial" panose="020B0604020202020204" pitchFamily="34" charset="0"/>
                <a:ea typeface="黑体" panose="02010609060101010101" pitchFamily="49" charset="-122"/>
              </a:rPr>
              <a:t>②</a:t>
            </a:r>
          </a:p>
        </p:txBody>
      </p:sp>
      <p:sp>
        <p:nvSpPr>
          <p:cNvPr id="208907" name="Rectangle 11"/>
          <p:cNvSpPr>
            <a:spLocks noChangeArrowheads="1"/>
          </p:cNvSpPr>
          <p:nvPr/>
        </p:nvSpPr>
        <p:spPr bwMode="auto">
          <a:xfrm>
            <a:off x="60325" y="3525838"/>
            <a:ext cx="490538" cy="457200"/>
          </a:xfrm>
          <a:prstGeom prst="rect">
            <a:avLst/>
          </a:prstGeom>
          <a:noFill/>
          <a:ln>
            <a:noFill/>
          </a:ln>
          <a:effectLst/>
          <a:extLst>
            <a:ext uri="{909E8E84-426E-40DD-AFC4-6F175D3DCCD1}">
              <a14:hiddenFill xmlns:a14="http://schemas.microsoft.com/office/drawing/2010/main">
                <a:solidFill>
                  <a:srgbClr val="E6E6F2"/>
                </a:solidFill>
              </a14:hiddenFill>
            </a:ext>
            <a:ext uri="{91240B29-F687-4F45-9708-019B960494DF}">
              <a14:hiddenLine xmlns:a14="http://schemas.microsoft.com/office/drawing/2010/main" w="28575" algn="ctr">
                <a:solidFill>
                  <a:schemeClr val="tx2"/>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99"/>
                </a:solidFill>
                <a:latin typeface="Arial" panose="020B0604020202020204" pitchFamily="34" charset="0"/>
                <a:ea typeface="黑体" panose="02010609060101010101" pitchFamily="49" charset="-122"/>
              </a:rPr>
              <a:t>③</a:t>
            </a:r>
          </a:p>
        </p:txBody>
      </p:sp>
      <p:sp>
        <p:nvSpPr>
          <p:cNvPr id="208908" name="AutoShape 12"/>
          <p:cNvSpPr>
            <a:spLocks/>
          </p:cNvSpPr>
          <p:nvPr/>
        </p:nvSpPr>
        <p:spPr bwMode="auto">
          <a:xfrm>
            <a:off x="4321175" y="1125538"/>
            <a:ext cx="4643438" cy="944562"/>
          </a:xfrm>
          <a:prstGeom prst="borderCallout1">
            <a:avLst>
              <a:gd name="adj1" fmla="val 12102"/>
              <a:gd name="adj2" fmla="val -1639"/>
              <a:gd name="adj3" fmla="val 154116"/>
              <a:gd name="adj4" fmla="val -5917"/>
            </a:avLst>
          </a:prstGeom>
          <a:noFill/>
          <a:ln w="28575" algn="ctr">
            <a:solidFill>
              <a:srgbClr val="00A87C"/>
            </a:solidFill>
            <a:miter lim="800000"/>
            <a:headEnd/>
            <a:tailEnd type="arrow" w="med" len="me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1800">
                <a:solidFill>
                  <a:srgbClr val="990033"/>
                </a:solidFill>
                <a:latin typeface="Arial" panose="020B0604020202020204" pitchFamily="34" charset="0"/>
                <a:ea typeface="黑体" panose="02010609060101010101" pitchFamily="49" charset="-122"/>
              </a:rPr>
              <a:t>计算条件表达式</a:t>
            </a:r>
            <a:r>
              <a:rPr lang="en-US" altLang="zh-CN" sz="1800">
                <a:solidFill>
                  <a:srgbClr val="990033"/>
                </a:solidFill>
                <a:latin typeface="Arial" panose="020B0604020202020204" pitchFamily="34" charset="0"/>
                <a:ea typeface="黑体" panose="02010609060101010101" pitchFamily="49" charset="-122"/>
              </a:rPr>
              <a:t>,</a:t>
            </a:r>
          </a:p>
          <a:p>
            <a:pPr algn="just"/>
            <a:r>
              <a:rPr lang="zh-CN" altLang="en-US" sz="1800">
                <a:solidFill>
                  <a:srgbClr val="990033"/>
                </a:solidFill>
                <a:latin typeface="Arial" panose="020B0604020202020204" pitchFamily="34" charset="0"/>
                <a:ea typeface="黑体" panose="02010609060101010101" pitchFamily="49" charset="-122"/>
              </a:rPr>
              <a:t>如果结果为真</a:t>
            </a:r>
            <a:r>
              <a:rPr lang="en-US" altLang="zh-CN" sz="1800">
                <a:solidFill>
                  <a:srgbClr val="990033"/>
                </a:solidFill>
                <a:latin typeface="Arial" panose="020B0604020202020204" pitchFamily="34" charset="0"/>
                <a:ea typeface="黑体" panose="02010609060101010101" pitchFamily="49" charset="-122"/>
              </a:rPr>
              <a:t>(1</a:t>
            </a:r>
            <a:r>
              <a:rPr lang="zh-CN" altLang="en-US" sz="1800">
                <a:solidFill>
                  <a:srgbClr val="990033"/>
                </a:solidFill>
                <a:latin typeface="Arial" panose="020B0604020202020204" pitchFamily="34" charset="0"/>
                <a:ea typeface="黑体" panose="02010609060101010101" pitchFamily="49" charset="-122"/>
              </a:rPr>
              <a:t>或非</a:t>
            </a:r>
            <a:r>
              <a:rPr lang="en-US" altLang="zh-CN" sz="1800">
                <a:solidFill>
                  <a:srgbClr val="990033"/>
                </a:solidFill>
                <a:latin typeface="Arial" panose="020B0604020202020204" pitchFamily="34" charset="0"/>
                <a:ea typeface="黑体" panose="02010609060101010101" pitchFamily="49" charset="-122"/>
              </a:rPr>
              <a:t>0</a:t>
            </a:r>
            <a:r>
              <a:rPr lang="zh-CN" altLang="en-US" sz="1800">
                <a:solidFill>
                  <a:srgbClr val="990033"/>
                </a:solidFill>
                <a:latin typeface="Arial" panose="020B0604020202020204" pitchFamily="34" charset="0"/>
                <a:ea typeface="黑体" panose="02010609060101010101" pitchFamily="49" charset="-122"/>
              </a:rPr>
              <a:t>值</a:t>
            </a:r>
            <a:r>
              <a:rPr lang="en-US" altLang="zh-CN" sz="1800">
                <a:solidFill>
                  <a:srgbClr val="990033"/>
                </a:solidFill>
                <a:latin typeface="Arial" panose="020B0604020202020204" pitchFamily="34" charset="0"/>
                <a:ea typeface="黑体" panose="02010609060101010101" pitchFamily="49" charset="-122"/>
              </a:rPr>
              <a:t>)</a:t>
            </a:r>
            <a:r>
              <a:rPr lang="zh-CN" altLang="en-US" sz="1800">
                <a:solidFill>
                  <a:srgbClr val="990033"/>
                </a:solidFill>
                <a:latin typeface="Arial" panose="020B0604020202020204" pitchFamily="34" charset="0"/>
                <a:ea typeface="黑体" panose="02010609060101010101" pitchFamily="49" charset="-122"/>
              </a:rPr>
              <a:t>，则执行真语句，</a:t>
            </a:r>
          </a:p>
          <a:p>
            <a:pPr algn="just"/>
            <a:r>
              <a:rPr lang="zh-CN" altLang="en-US" sz="1800">
                <a:solidFill>
                  <a:srgbClr val="990033"/>
                </a:solidFill>
                <a:latin typeface="Arial" panose="020B0604020202020204" pitchFamily="34" charset="0"/>
                <a:ea typeface="黑体" panose="02010609060101010101" pitchFamily="49" charset="-122"/>
              </a:rPr>
              <a:t>如果条件为假</a:t>
            </a:r>
            <a:r>
              <a:rPr lang="en-US" altLang="zh-CN" sz="1800">
                <a:solidFill>
                  <a:srgbClr val="990033"/>
                </a:solidFill>
                <a:latin typeface="Arial" panose="020B0604020202020204" pitchFamily="34" charset="0"/>
                <a:ea typeface="黑体" panose="02010609060101010101" pitchFamily="49" charset="-122"/>
              </a:rPr>
              <a:t>(0</a:t>
            </a:r>
            <a:r>
              <a:rPr lang="zh-CN" altLang="en-US" sz="1800">
                <a:solidFill>
                  <a:srgbClr val="990033"/>
                </a:solidFill>
                <a:latin typeface="Arial" panose="020B0604020202020204" pitchFamily="34" charset="0"/>
                <a:ea typeface="黑体" panose="02010609060101010101" pitchFamily="49" charset="-122"/>
              </a:rPr>
              <a:t>或</a:t>
            </a:r>
            <a:r>
              <a:rPr lang="en-US" altLang="zh-CN" sz="1800">
                <a:solidFill>
                  <a:srgbClr val="990033"/>
                </a:solidFill>
                <a:latin typeface="Arial" panose="020B0604020202020204" pitchFamily="34" charset="0"/>
                <a:ea typeface="黑体" panose="02010609060101010101" pitchFamily="49" charset="-122"/>
              </a:rPr>
              <a:t>x)</a:t>
            </a:r>
            <a:r>
              <a:rPr lang="zh-CN" altLang="en-US" sz="1800">
                <a:solidFill>
                  <a:srgbClr val="990033"/>
                </a:solidFill>
                <a:latin typeface="Arial" panose="020B0604020202020204" pitchFamily="34" charset="0"/>
                <a:ea typeface="黑体" panose="02010609060101010101" pitchFamily="49" charset="-122"/>
              </a:rPr>
              <a:t>，则执行假语句。</a:t>
            </a:r>
          </a:p>
        </p:txBody>
      </p:sp>
      <p:sp>
        <p:nvSpPr>
          <p:cNvPr id="208910" name="Rectangle 14"/>
          <p:cNvSpPr>
            <a:spLocks noChangeArrowheads="1"/>
          </p:cNvSpPr>
          <p:nvPr/>
        </p:nvSpPr>
        <p:spPr bwMode="auto">
          <a:xfrm>
            <a:off x="530225" y="4462463"/>
            <a:ext cx="5626100" cy="1581150"/>
          </a:xfrm>
          <a:prstGeom prst="rect">
            <a:avLst/>
          </a:prstGeom>
          <a:noFill/>
          <a:ln w="28575" algn="ctr">
            <a:solidFill>
              <a:srgbClr val="990033"/>
            </a:solidFill>
            <a:miter lim="800000"/>
            <a:headEnd type="none" w="lg" len="lg"/>
            <a:tailEn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solidFill>
                  <a:srgbClr val="990033"/>
                </a:solidFill>
                <a:latin typeface="Arial" panose="020B0604020202020204" pitchFamily="34" charset="0"/>
                <a:ea typeface="黑体" panose="02010609060101010101" pitchFamily="49" charset="-122"/>
              </a:rPr>
              <a:t>if </a:t>
            </a:r>
            <a:r>
              <a:rPr lang="en-US" altLang="zh-CN">
                <a:solidFill>
                  <a:srgbClr val="000099"/>
                </a:solidFill>
                <a:latin typeface="Arial" panose="020B0604020202020204" pitchFamily="34" charset="0"/>
                <a:ea typeface="黑体" panose="02010609060101010101" pitchFamily="49" charset="-122"/>
              </a:rPr>
              <a:t>(&lt;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1&gt;)</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1 ;</a:t>
            </a:r>
          </a:p>
          <a:p>
            <a:r>
              <a:rPr lang="en-US" altLang="zh-CN">
                <a:solidFill>
                  <a:srgbClr val="990033"/>
                </a:solidFill>
                <a:latin typeface="Arial" panose="020B0604020202020204" pitchFamily="34" charset="0"/>
                <a:ea typeface="黑体" panose="02010609060101010101" pitchFamily="49" charset="-122"/>
              </a:rPr>
              <a:t>else 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2&gt;)</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2 ;</a:t>
            </a:r>
          </a:p>
          <a:p>
            <a:r>
              <a:rPr lang="en-US" altLang="zh-CN">
                <a:solidFill>
                  <a:srgbClr val="990033"/>
                </a:solidFill>
                <a:latin typeface="Arial" panose="020B0604020202020204" pitchFamily="34" charset="0"/>
                <a:ea typeface="黑体" panose="02010609060101010101" pitchFamily="49" charset="-122"/>
              </a:rPr>
              <a:t>else if</a:t>
            </a:r>
            <a:r>
              <a:rPr lang="en-US" altLang="zh-CN">
                <a:solidFill>
                  <a:srgbClr val="000099"/>
                </a:solidFill>
                <a:latin typeface="Arial" panose="020B0604020202020204" pitchFamily="34" charset="0"/>
                <a:ea typeface="黑体" panose="02010609060101010101" pitchFamily="49" charset="-122"/>
              </a:rPr>
              <a:t> (&lt;</a:t>
            </a:r>
            <a:r>
              <a:rPr lang="zh-CN" altLang="en-US">
                <a:solidFill>
                  <a:srgbClr val="000099"/>
                </a:solidFill>
                <a:ea typeface="黑体" panose="02010609060101010101" pitchFamily="49" charset="-122"/>
              </a:rPr>
              <a:t>条件表达式</a:t>
            </a:r>
            <a:r>
              <a:rPr lang="en-US" altLang="zh-CN">
                <a:solidFill>
                  <a:srgbClr val="000099"/>
                </a:solidFill>
                <a:latin typeface="Arial" panose="020B0604020202020204" pitchFamily="34" charset="0"/>
                <a:ea typeface="黑体" panose="02010609060101010101" pitchFamily="49" charset="-122"/>
              </a:rPr>
              <a:t>3&gt;)</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3 ;</a:t>
            </a:r>
          </a:p>
          <a:p>
            <a:r>
              <a:rPr lang="en-US" altLang="zh-CN">
                <a:solidFill>
                  <a:srgbClr val="990033"/>
                </a:solidFill>
                <a:latin typeface="Arial" panose="020B0604020202020204" pitchFamily="34" charset="0"/>
                <a:ea typeface="黑体" panose="02010609060101010101" pitchFamily="49" charset="-122"/>
              </a:rPr>
              <a:t>else</a:t>
            </a:r>
            <a:r>
              <a:rPr lang="en-US" altLang="zh-CN">
                <a:solidFill>
                  <a:srgbClr val="000099"/>
                </a:solidFill>
                <a:latin typeface="Arial" panose="020B0604020202020204" pitchFamily="34" charset="0"/>
                <a:ea typeface="黑体" panose="02010609060101010101" pitchFamily="49" charset="-122"/>
              </a:rPr>
              <a:t> </a:t>
            </a:r>
            <a:r>
              <a:rPr lang="zh-CN" altLang="en-US">
                <a:solidFill>
                  <a:srgbClr val="000099"/>
                </a:solidFill>
                <a:latin typeface="Arial" panose="020B0604020202020204" pitchFamily="34" charset="0"/>
                <a:ea typeface="黑体" panose="02010609060101010101" pitchFamily="49" charset="-122"/>
              </a:rPr>
              <a:t>默认语句 </a:t>
            </a:r>
            <a:r>
              <a:rPr lang="en-US" altLang="zh-CN">
                <a:solidFill>
                  <a:srgbClr val="000099"/>
                </a:solidFill>
                <a:latin typeface="Arial" panose="020B0604020202020204" pitchFamily="34" charset="0"/>
                <a:ea typeface="黑体" panose="02010609060101010101" pitchFamily="49" charset="-122"/>
              </a:rPr>
              <a:t>;</a:t>
            </a:r>
          </a:p>
        </p:txBody>
      </p:sp>
      <p:sp>
        <p:nvSpPr>
          <p:cNvPr id="208911" name="Rectangle 15"/>
          <p:cNvSpPr>
            <a:spLocks noChangeArrowheads="1"/>
          </p:cNvSpPr>
          <p:nvPr/>
        </p:nvSpPr>
        <p:spPr bwMode="auto">
          <a:xfrm>
            <a:off x="60325" y="4995863"/>
            <a:ext cx="490538" cy="457200"/>
          </a:xfrm>
          <a:prstGeom prst="rect">
            <a:avLst/>
          </a:prstGeom>
          <a:noFill/>
          <a:ln>
            <a:noFill/>
          </a:ln>
          <a:effectLst/>
          <a:extLst>
            <a:ext uri="{909E8E84-426E-40DD-AFC4-6F175D3DCCD1}">
              <a14:hiddenFill xmlns:a14="http://schemas.microsoft.com/office/drawing/2010/main">
                <a:solidFill>
                  <a:srgbClr val="E6E6F2"/>
                </a:solidFill>
              </a14:hiddenFill>
            </a:ext>
            <a:ext uri="{91240B29-F687-4F45-9708-019B960494DF}">
              <a14:hiddenLine xmlns:a14="http://schemas.microsoft.com/office/drawing/2010/main" w="28575" algn="ctr">
                <a:solidFill>
                  <a:schemeClr val="tx2"/>
                </a:solidFill>
                <a:miter lim="800000"/>
                <a:headEnd type="none" w="lg" len="lg"/>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99"/>
                </a:solidFill>
                <a:latin typeface="Arial" panose="020B0604020202020204" pitchFamily="34" charset="0"/>
                <a:ea typeface="黑体" panose="02010609060101010101" pitchFamily="49" charset="-122"/>
              </a:rPr>
              <a:t>④</a:t>
            </a:r>
          </a:p>
        </p:txBody>
      </p:sp>
      <p:sp>
        <p:nvSpPr>
          <p:cNvPr id="208912" name="Text Box 16"/>
          <p:cNvSpPr txBox="1">
            <a:spLocks noChangeArrowheads="1"/>
          </p:cNvSpPr>
          <p:nvPr/>
        </p:nvSpPr>
        <p:spPr bwMode="auto">
          <a:xfrm>
            <a:off x="6300788" y="2276475"/>
            <a:ext cx="2663825" cy="1651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a:solidFill>
                  <a:schemeClr val="tx1"/>
                </a:solidFill>
                <a:latin typeface="Arial" panose="020B0604020202020204" pitchFamily="34" charset="0"/>
                <a:ea typeface="宋体" panose="02010600030101010101" pitchFamily="2" charset="-122"/>
              </a:defRPr>
            </a:lvl1pPr>
            <a:lvl2pPr marL="539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Clr>
                <a:srgbClr val="333399"/>
              </a:buClr>
              <a:buFont typeface="Wingdings" panose="05000000000000000000" pitchFamily="2" charset="2"/>
              <a:buChar char="l"/>
            </a:pPr>
            <a:r>
              <a:rPr lang="zh-CN" altLang="en-US" sz="2000" dirty="0">
                <a:solidFill>
                  <a:srgbClr val="000000"/>
                </a:solidFill>
                <a:ea typeface="黑体" panose="02010609060101010101" pitchFamily="49" charset="-122"/>
              </a:rPr>
              <a:t>显然③、④种可比①、②种描述更复杂的条件关系。</a:t>
            </a:r>
          </a:p>
          <a:p>
            <a:pPr>
              <a:lnSpc>
                <a:spcPct val="130000"/>
              </a:lnSpc>
              <a:buClr>
                <a:srgbClr val="333399"/>
              </a:buClr>
              <a:buFont typeface="Wingdings" panose="05000000000000000000" pitchFamily="2" charset="2"/>
              <a:buChar char="l"/>
            </a:pPr>
            <a:endParaRPr lang="zh-CN" altLang="en-US" sz="2000" dirty="0">
              <a:solidFill>
                <a:srgbClr val="000000"/>
              </a:solidFill>
              <a:ea typeface="黑体" panose="02010609060101010101" pitchFamily="49" charset="-122"/>
            </a:endParaRPr>
          </a:p>
        </p:txBody>
      </p:sp>
      <p:sp>
        <p:nvSpPr>
          <p:cNvPr id="208913" name="AutoShape 17"/>
          <p:cNvSpPr>
            <a:spLocks/>
          </p:cNvSpPr>
          <p:nvPr/>
        </p:nvSpPr>
        <p:spPr bwMode="auto">
          <a:xfrm>
            <a:off x="4648200" y="6075363"/>
            <a:ext cx="3956050" cy="395287"/>
          </a:xfrm>
          <a:prstGeom prst="borderCallout1">
            <a:avLst>
              <a:gd name="adj1" fmla="val 28917"/>
              <a:gd name="adj2" fmla="val -1926"/>
              <a:gd name="adj3" fmla="val -128111"/>
              <a:gd name="adj4" fmla="val -9954"/>
            </a:avLst>
          </a:prstGeom>
          <a:noFill/>
          <a:ln w="28575" algn="ctr">
            <a:solidFill>
              <a:srgbClr val="00A87C"/>
            </a:solidFill>
            <a:miter lim="800000"/>
            <a:headEnd/>
            <a:tailEnd type="arrow" w="med" len="med"/>
          </a:ln>
          <a:effectLst/>
          <a:extLst>
            <a:ext uri="{909E8E84-426E-40DD-AFC4-6F175D3DCCD1}">
              <a14:hiddenFill xmlns:a14="http://schemas.microsoft.com/office/drawing/2010/main">
                <a:solidFill>
                  <a:srgbClr val="E6E6F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zh-CN" altLang="en-US" sz="1800">
                <a:solidFill>
                  <a:srgbClr val="990033"/>
                </a:solidFill>
                <a:latin typeface="Arial" panose="020B0604020202020204" pitchFamily="34" charset="0"/>
                <a:ea typeface="黑体" panose="02010609060101010101" pitchFamily="49" charset="-122"/>
              </a:rPr>
              <a:t>可以是一条语句，也可以是一组语句</a:t>
            </a:r>
          </a:p>
        </p:txBody>
      </p:sp>
    </p:spTree>
    <p:extLst>
      <p:ext uri="{BB962C8B-B14F-4D97-AF65-F5344CB8AC3E}">
        <p14:creationId xmlns:p14="http://schemas.microsoft.com/office/powerpoint/2010/main" val="14795834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7B145E4B-E02C-4706-AC50-B87EFC2B7468}" type="slidenum">
              <a:rPr lang="en-US" altLang="zh-CN" sz="1400" b="0">
                <a:latin typeface="Tahoma" panose="020B0604030504040204" pitchFamily="34" charset="0"/>
              </a:rPr>
              <a:pPr eaLnBrk="1" hangingPunct="1"/>
              <a:t>49</a:t>
            </a:fld>
            <a:endParaRPr lang="en-US" altLang="zh-CN" sz="1400" b="0">
              <a:latin typeface="Tahoma" panose="020B0604030504040204" pitchFamily="34" charset="0"/>
            </a:endParaRPr>
          </a:p>
        </p:txBody>
      </p:sp>
      <p:sp>
        <p:nvSpPr>
          <p:cNvPr id="38915" name="Rectangle 2"/>
          <p:cNvSpPr>
            <a:spLocks noGrp="1" noChangeArrowheads="1"/>
          </p:cNvSpPr>
          <p:nvPr>
            <p:ph type="title" idx="4294967295"/>
          </p:nvPr>
        </p:nvSpPr>
        <p:spPr/>
        <p:txBody>
          <a:bodyPr/>
          <a:lstStyle/>
          <a:p>
            <a:pPr eaLnBrk="1" hangingPunct="1"/>
            <a:r>
              <a:rPr lang="en-US" altLang="zh-CN" smtClean="0"/>
              <a:t>8. if</a:t>
            </a:r>
            <a:r>
              <a:rPr lang="zh-CN" altLang="en-US" smtClean="0"/>
              <a:t>语句</a:t>
            </a:r>
          </a:p>
        </p:txBody>
      </p:sp>
      <p:sp>
        <p:nvSpPr>
          <p:cNvPr id="38916" name="Text Box 10"/>
          <p:cNvSpPr txBox="1">
            <a:spLocks noChangeArrowheads="1"/>
          </p:cNvSpPr>
          <p:nvPr/>
        </p:nvSpPr>
        <p:spPr bwMode="auto">
          <a:xfrm>
            <a:off x="857250" y="1285875"/>
            <a:ext cx="4332288" cy="1938338"/>
          </a:xfrm>
          <a:prstGeom prst="rect">
            <a:avLst/>
          </a:prstGeom>
          <a:solidFill>
            <a:srgbClr val="CDFFF2"/>
          </a:solidFill>
          <a:ln w="9525">
            <a:solidFill>
              <a:schemeClr val="folHlink"/>
            </a:solidFill>
            <a:miter lim="800000"/>
            <a:headEnd/>
            <a:tailEnd/>
          </a:ln>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tx2"/>
                </a:solidFill>
                <a:ea typeface="黑体" panose="02010609060101010101" pitchFamily="49" charset="-122"/>
              </a:rPr>
              <a:t>例：计数器</a:t>
            </a:r>
            <a:endParaRPr lang="en-US" altLang="zh-CN">
              <a:solidFill>
                <a:schemeClr val="tx2"/>
              </a:solidFill>
              <a:ea typeface="黑体" panose="02010609060101010101" pitchFamily="49" charset="-122"/>
            </a:endParaRPr>
          </a:p>
          <a:p>
            <a:pPr eaLnBrk="1" hangingPunct="1"/>
            <a:endParaRPr lang="zh-CN" altLang="en-US">
              <a:solidFill>
                <a:schemeClr val="tx2"/>
              </a:solidFill>
              <a:ea typeface="黑体" panose="02010609060101010101" pitchFamily="49" charset="-122"/>
            </a:endParaRPr>
          </a:p>
          <a:p>
            <a:pPr eaLnBrk="1" hangingPunct="1"/>
            <a:r>
              <a:rPr lang="en-US" altLang="zh-CN">
                <a:ea typeface="黑体" panose="02010609060101010101" pitchFamily="49" charset="-122"/>
              </a:rPr>
              <a:t>always @(posedge CLK)</a:t>
            </a:r>
          </a:p>
          <a:p>
            <a:pPr eaLnBrk="1" hangingPunct="1"/>
            <a:r>
              <a:rPr lang="en-US" altLang="zh-CN">
                <a:ea typeface="黑体" panose="02010609060101010101" pitchFamily="49" charset="-122"/>
              </a:rPr>
              <a:t>  if (!RST) Q=0;</a:t>
            </a:r>
          </a:p>
          <a:p>
            <a:pPr eaLnBrk="1" hangingPunct="1"/>
            <a:r>
              <a:rPr lang="en-US" altLang="zh-CN">
                <a:ea typeface="黑体" panose="02010609060101010101" pitchFamily="49" charset="-122"/>
              </a:rPr>
              <a:t>  else Q=Q+1;  </a:t>
            </a:r>
          </a:p>
        </p:txBody>
      </p:sp>
      <p:pic>
        <p:nvPicPr>
          <p:cNvPr id="38917" name="Picture 17"/>
          <p:cNvPicPr>
            <a:picLocks noChangeAspect="1" noChangeArrowheads="1"/>
          </p:cNvPicPr>
          <p:nvPr/>
        </p:nvPicPr>
        <p:blipFill>
          <a:blip r:embed="rId3">
            <a:extLst>
              <a:ext uri="{28A0092B-C50C-407E-A947-70E740481C1C}">
                <a14:useLocalDpi xmlns:a14="http://schemas.microsoft.com/office/drawing/2010/main" val="0"/>
              </a:ext>
            </a:extLst>
          </a:blip>
          <a:srcRect t="7614" r="14507" b="9390"/>
          <a:stretch>
            <a:fillRect/>
          </a:stretch>
        </p:blipFill>
        <p:spPr bwMode="auto">
          <a:xfrm>
            <a:off x="857250" y="3643313"/>
            <a:ext cx="4248150" cy="139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idx="4294967295"/>
          </p:nvPr>
        </p:nvSpPr>
        <p:spPr/>
        <p:txBody>
          <a:bodyPr/>
          <a:lstStyle/>
          <a:p>
            <a:r>
              <a:rPr lang="en-US" altLang="zh-CN"/>
              <a:t>8. if</a:t>
            </a:r>
            <a:r>
              <a:rPr lang="zh-CN" altLang="en-US"/>
              <a:t>语句</a:t>
            </a:r>
          </a:p>
        </p:txBody>
      </p:sp>
      <p:sp>
        <p:nvSpPr>
          <p:cNvPr id="241668" name="Text Box 4"/>
          <p:cNvSpPr txBox="1">
            <a:spLocks noChangeArrowheads="1"/>
          </p:cNvSpPr>
          <p:nvPr/>
        </p:nvSpPr>
        <p:spPr bwMode="auto">
          <a:xfrm>
            <a:off x="373063" y="3141167"/>
            <a:ext cx="1535112" cy="466725"/>
          </a:xfrm>
          <a:prstGeom prst="rect">
            <a:avLst/>
          </a:prstGeom>
          <a:solidFill>
            <a:srgbClr val="FFFF66"/>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arabicPeriod"/>
            </a:pPr>
            <a:r>
              <a:rPr lang="zh-CN" altLang="en-US">
                <a:solidFill>
                  <a:srgbClr val="000000"/>
                </a:solidFill>
                <a:latin typeface="Verdana" panose="020B0604030504040204" pitchFamily="34" charset="0"/>
                <a:ea typeface="黑体" panose="02010609060101010101" pitchFamily="49" charset="-122"/>
              </a:rPr>
              <a:t>加</a:t>
            </a:r>
            <a:r>
              <a:rPr lang="en-US" altLang="zh-CN">
                <a:solidFill>
                  <a:srgbClr val="000000"/>
                </a:solidFill>
                <a:latin typeface="Verdana" panose="020B0604030504040204" pitchFamily="34" charset="0"/>
                <a:ea typeface="黑体" panose="02010609060101010101" pitchFamily="49" charset="-122"/>
              </a:rPr>
              <a:t>else</a:t>
            </a:r>
          </a:p>
        </p:txBody>
      </p:sp>
      <p:sp>
        <p:nvSpPr>
          <p:cNvPr id="241670" name="Text Box 6"/>
          <p:cNvSpPr txBox="1">
            <a:spLocks noChangeArrowheads="1"/>
          </p:cNvSpPr>
          <p:nvPr/>
        </p:nvSpPr>
        <p:spPr bwMode="auto">
          <a:xfrm>
            <a:off x="2124075" y="3141167"/>
            <a:ext cx="2636838" cy="1196975"/>
          </a:xfrm>
          <a:prstGeom prst="rect">
            <a:avLst/>
          </a:prstGeom>
          <a:solidFill>
            <a:srgbClr val="FFFFFF"/>
          </a:solidFill>
          <a:ln w="9525">
            <a:solidFill>
              <a:srgbClr val="00A87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00"/>
                </a:solidFill>
                <a:ea typeface="黑体" panose="02010609060101010101" pitchFamily="49" charset="-122"/>
              </a:rPr>
              <a:t>always @(a,b)</a:t>
            </a:r>
          </a:p>
          <a:p>
            <a:r>
              <a:rPr lang="en-US" altLang="zh-CN">
                <a:solidFill>
                  <a:srgbClr val="000000"/>
                </a:solidFill>
                <a:ea typeface="黑体" panose="02010609060101010101" pitchFamily="49" charset="-122"/>
              </a:rPr>
              <a:t>if (sel) Q=a;</a:t>
            </a:r>
          </a:p>
          <a:p>
            <a:r>
              <a:rPr lang="en-US" altLang="zh-CN">
                <a:solidFill>
                  <a:srgbClr val="000000"/>
                </a:solidFill>
                <a:ea typeface="黑体" panose="02010609060101010101" pitchFamily="49" charset="-122"/>
              </a:rPr>
              <a:t>else      Q=b;</a:t>
            </a:r>
          </a:p>
        </p:txBody>
      </p:sp>
      <p:sp>
        <p:nvSpPr>
          <p:cNvPr id="241672" name="Text Box 8"/>
          <p:cNvSpPr txBox="1">
            <a:spLocks noChangeArrowheads="1"/>
          </p:cNvSpPr>
          <p:nvPr/>
        </p:nvSpPr>
        <p:spPr bwMode="auto">
          <a:xfrm>
            <a:off x="2124075" y="4652467"/>
            <a:ext cx="2636838" cy="1196975"/>
          </a:xfrm>
          <a:prstGeom prst="rect">
            <a:avLst/>
          </a:prstGeom>
          <a:solidFill>
            <a:srgbClr val="FFFFFF"/>
          </a:solidFill>
          <a:ln w="9525">
            <a:solidFill>
              <a:srgbClr val="00A87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000000"/>
                </a:solidFill>
                <a:ea typeface="黑体" panose="02010609060101010101" pitchFamily="49" charset="-122"/>
              </a:rPr>
              <a:t>always @(a,b)</a:t>
            </a:r>
          </a:p>
          <a:p>
            <a:r>
              <a:rPr lang="en-US" altLang="zh-CN">
                <a:solidFill>
                  <a:srgbClr val="000000"/>
                </a:solidFill>
                <a:ea typeface="黑体" panose="02010609060101010101" pitchFamily="49" charset="-122"/>
              </a:rPr>
              <a:t>Q=a;</a:t>
            </a:r>
          </a:p>
          <a:p>
            <a:r>
              <a:rPr lang="en-US" altLang="zh-CN">
                <a:solidFill>
                  <a:srgbClr val="000000"/>
                </a:solidFill>
                <a:ea typeface="黑体" panose="02010609060101010101" pitchFamily="49" charset="-122"/>
              </a:rPr>
              <a:t>if (sel) Q=b;</a:t>
            </a:r>
          </a:p>
        </p:txBody>
      </p:sp>
      <p:sp>
        <p:nvSpPr>
          <p:cNvPr id="241674" name="Text Box 10"/>
          <p:cNvSpPr txBox="1">
            <a:spLocks noChangeArrowheads="1"/>
          </p:cNvSpPr>
          <p:nvPr/>
        </p:nvSpPr>
        <p:spPr bwMode="auto">
          <a:xfrm>
            <a:off x="250825" y="2564904"/>
            <a:ext cx="3563938" cy="46672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0000"/>
              </a:spcBef>
            </a:pPr>
            <a:r>
              <a:rPr lang="zh-CN" altLang="en-US">
                <a:solidFill>
                  <a:srgbClr val="000000"/>
                </a:solidFill>
                <a:ea typeface="黑体" panose="02010609060101010101" pitchFamily="49" charset="-122"/>
              </a:rPr>
              <a:t>使条件完整的两种方法：</a:t>
            </a:r>
          </a:p>
        </p:txBody>
      </p:sp>
      <p:pic>
        <p:nvPicPr>
          <p:cNvPr id="241675" name="Picture 11"/>
          <p:cNvPicPr>
            <a:picLocks noChangeAspect="1" noChangeArrowheads="1"/>
          </p:cNvPicPr>
          <p:nvPr/>
        </p:nvPicPr>
        <p:blipFill>
          <a:blip r:embed="rId3">
            <a:extLst>
              <a:ext uri="{28A0092B-C50C-407E-A947-70E740481C1C}">
                <a14:useLocalDpi xmlns:a14="http://schemas.microsoft.com/office/drawing/2010/main" val="0"/>
              </a:ext>
            </a:extLst>
          </a:blip>
          <a:srcRect l="5450" t="13994" r="23647" b="8646"/>
          <a:stretch>
            <a:fillRect/>
          </a:stretch>
        </p:blipFill>
        <p:spPr bwMode="auto">
          <a:xfrm>
            <a:off x="5219700" y="3285629"/>
            <a:ext cx="2808288"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1677" name="Picture 13"/>
          <p:cNvPicPr>
            <a:picLocks noChangeAspect="1" noChangeArrowheads="1"/>
          </p:cNvPicPr>
          <p:nvPr/>
        </p:nvPicPr>
        <p:blipFill>
          <a:blip r:embed="rId4">
            <a:extLst>
              <a:ext uri="{28A0092B-C50C-407E-A947-70E740481C1C}">
                <a14:useLocalDpi xmlns:a14="http://schemas.microsoft.com/office/drawing/2010/main" val="0"/>
              </a:ext>
            </a:extLst>
          </a:blip>
          <a:srcRect l="5261" t="14929" r="24565" b="15367"/>
          <a:stretch>
            <a:fillRect/>
          </a:stretch>
        </p:blipFill>
        <p:spPr bwMode="auto">
          <a:xfrm>
            <a:off x="5219700" y="4796929"/>
            <a:ext cx="2879725"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1678" name="Text Box 14"/>
          <p:cNvSpPr txBox="1">
            <a:spLocks noChangeArrowheads="1"/>
          </p:cNvSpPr>
          <p:nvPr/>
        </p:nvSpPr>
        <p:spPr bwMode="auto">
          <a:xfrm>
            <a:off x="395288" y="4652467"/>
            <a:ext cx="1439862" cy="466725"/>
          </a:xfrm>
          <a:prstGeom prst="rect">
            <a:avLst/>
          </a:prstGeom>
          <a:solidFill>
            <a:srgbClr val="FFFF66"/>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000000"/>
                </a:solidFill>
                <a:latin typeface="Verdana" panose="020B0604030504040204" pitchFamily="34" charset="0"/>
                <a:ea typeface="黑体" panose="02010609060101010101" pitchFamily="49" charset="-122"/>
              </a:rPr>
              <a:t>2.</a:t>
            </a:r>
            <a:r>
              <a:rPr lang="zh-CN" altLang="en-US">
                <a:solidFill>
                  <a:srgbClr val="000000"/>
                </a:solidFill>
                <a:latin typeface="Verdana" panose="020B0604030504040204" pitchFamily="34" charset="0"/>
                <a:ea typeface="黑体" panose="02010609060101010101" pitchFamily="49" charset="-122"/>
              </a:rPr>
              <a:t>设初值</a:t>
            </a:r>
          </a:p>
        </p:txBody>
      </p:sp>
      <p:sp>
        <p:nvSpPr>
          <p:cNvPr id="2" name="矩形 1"/>
          <p:cNvSpPr/>
          <p:nvPr/>
        </p:nvSpPr>
        <p:spPr>
          <a:xfrm>
            <a:off x="258374" y="1247103"/>
            <a:ext cx="8058042" cy="1052596"/>
          </a:xfrm>
          <a:prstGeom prst="rect">
            <a:avLst/>
          </a:prstGeom>
        </p:spPr>
        <p:txBody>
          <a:bodyPr wrap="square">
            <a:spAutoFit/>
          </a:bodyPr>
          <a:lstStyle/>
          <a:p>
            <a:pPr>
              <a:lnSpc>
                <a:spcPct val="130000"/>
              </a:lnSpc>
              <a:buClr>
                <a:srgbClr val="333399"/>
              </a:buClr>
              <a:buFont typeface="Wingdings" panose="05000000000000000000" pitchFamily="2" charset="2"/>
              <a:buChar char="l"/>
            </a:pPr>
            <a:r>
              <a:rPr lang="zh-CN" altLang="en-US" dirty="0">
                <a:solidFill>
                  <a:srgbClr val="000000"/>
                </a:solidFill>
                <a:ea typeface="黑体" panose="02010609060101010101" pitchFamily="49" charset="-122"/>
              </a:rPr>
              <a:t>在用</a:t>
            </a:r>
            <a:r>
              <a:rPr lang="en-US" altLang="zh-CN" dirty="0">
                <a:solidFill>
                  <a:srgbClr val="000000"/>
                </a:solidFill>
                <a:ea typeface="黑体" panose="02010609060101010101" pitchFamily="49" charset="-122"/>
              </a:rPr>
              <a:t>if</a:t>
            </a:r>
            <a:r>
              <a:rPr lang="zh-CN" altLang="en-US" dirty="0">
                <a:solidFill>
                  <a:srgbClr val="000000"/>
                </a:solidFill>
                <a:ea typeface="黑体" panose="02010609060101010101" pitchFamily="49" charset="-122"/>
              </a:rPr>
              <a:t>语句设</a:t>
            </a:r>
            <a:r>
              <a:rPr lang="zh-CN" altLang="en-US" dirty="0" smtClean="0">
                <a:solidFill>
                  <a:srgbClr val="000000"/>
                </a:solidFill>
                <a:ea typeface="黑体" panose="02010609060101010101" pitchFamily="49" charset="-122"/>
              </a:rPr>
              <a:t>计</a:t>
            </a:r>
            <a:r>
              <a:rPr lang="zh-CN" altLang="en-US" dirty="0" smtClean="0">
                <a:solidFill>
                  <a:schemeClr val="tx2"/>
                </a:solidFill>
                <a:ea typeface="黑体" panose="02010609060101010101" pitchFamily="49" charset="-122"/>
              </a:rPr>
              <a:t>“组</a:t>
            </a:r>
            <a:r>
              <a:rPr lang="zh-CN" altLang="en-US" dirty="0">
                <a:solidFill>
                  <a:schemeClr val="tx2"/>
                </a:solidFill>
                <a:ea typeface="黑体" panose="02010609060101010101" pitchFamily="49" charset="-122"/>
              </a:rPr>
              <a:t>合电</a:t>
            </a:r>
            <a:r>
              <a:rPr lang="zh-CN" altLang="en-US" dirty="0" smtClean="0">
                <a:solidFill>
                  <a:schemeClr val="tx2"/>
                </a:solidFill>
                <a:ea typeface="黑体" panose="02010609060101010101" pitchFamily="49" charset="-122"/>
              </a:rPr>
              <a:t>路”</a:t>
            </a:r>
            <a:r>
              <a:rPr lang="zh-CN" altLang="en-US" dirty="0" smtClean="0">
                <a:solidFill>
                  <a:srgbClr val="000000"/>
                </a:solidFill>
                <a:ea typeface="黑体" panose="02010609060101010101" pitchFamily="49" charset="-122"/>
              </a:rPr>
              <a:t>时</a:t>
            </a:r>
            <a:r>
              <a:rPr lang="zh-CN" altLang="en-US" dirty="0">
                <a:solidFill>
                  <a:srgbClr val="000000"/>
                </a:solidFill>
                <a:ea typeface="黑体" panose="02010609060101010101" pitchFamily="49" charset="-122"/>
              </a:rPr>
              <a:t>要注意，如果条件不完整，会综合出寄存器。</a:t>
            </a:r>
          </a:p>
        </p:txBody>
      </p:sp>
    </p:spTree>
    <p:extLst>
      <p:ext uri="{BB962C8B-B14F-4D97-AF65-F5344CB8AC3E}">
        <p14:creationId xmlns:p14="http://schemas.microsoft.com/office/powerpoint/2010/main" val="3134667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B68F4424-9E12-4C5F-9C16-0B720CC73FE8}" type="slidenum">
              <a:rPr lang="en-US" altLang="zh-CN" sz="1400" b="0">
                <a:latin typeface="Tahoma" panose="020B0604030504040204" pitchFamily="34" charset="0"/>
              </a:rPr>
              <a:pPr eaLnBrk="1" hangingPunct="1"/>
              <a:t>51</a:t>
            </a:fld>
            <a:endParaRPr lang="en-US" altLang="zh-CN" sz="1400" b="0">
              <a:latin typeface="Tahoma" panose="020B0604030504040204" pitchFamily="34" charset="0"/>
            </a:endParaRPr>
          </a:p>
        </p:txBody>
      </p:sp>
      <p:sp>
        <p:nvSpPr>
          <p:cNvPr id="39939" name="Rectangle 4"/>
          <p:cNvSpPr>
            <a:spLocks noGrp="1" noChangeArrowheads="1"/>
          </p:cNvSpPr>
          <p:nvPr>
            <p:ph type="title"/>
          </p:nvPr>
        </p:nvSpPr>
        <p:spPr/>
        <p:txBody>
          <a:bodyPr/>
          <a:lstStyle/>
          <a:p>
            <a:pPr eaLnBrk="1" hangingPunct="1"/>
            <a:r>
              <a:rPr lang="en-US" altLang="zh-CN" smtClean="0"/>
              <a:t>8. if</a:t>
            </a:r>
            <a:r>
              <a:rPr lang="zh-CN" altLang="en-US" smtClean="0"/>
              <a:t>语句</a:t>
            </a:r>
          </a:p>
        </p:txBody>
      </p:sp>
      <p:sp>
        <p:nvSpPr>
          <p:cNvPr id="39940" name="Text Box 5"/>
          <p:cNvSpPr txBox="1">
            <a:spLocks noChangeArrowheads="1"/>
          </p:cNvSpPr>
          <p:nvPr/>
        </p:nvSpPr>
        <p:spPr bwMode="auto">
          <a:xfrm>
            <a:off x="323850" y="1371600"/>
            <a:ext cx="7248525" cy="1016000"/>
          </a:xfrm>
          <a:prstGeom prst="rect">
            <a:avLst/>
          </a:prstGeom>
          <a:solidFill>
            <a:srgbClr val="FFFFFF"/>
          </a:solidFill>
          <a:ln w="9525">
            <a:solidFill>
              <a:srgbClr val="C00000"/>
            </a:solidFill>
            <a:prstDash val="dash"/>
            <a:miter lim="800000"/>
            <a:headEnd/>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just" eaLnBrk="1" hangingPunct="1"/>
            <a:r>
              <a:rPr lang="zh-CN" altLang="en-US" sz="2000">
                <a:ea typeface="黑体" panose="02010609060101010101" pitchFamily="49" charset="-122"/>
                <a:sym typeface="Wingdings" panose="05000000000000000000" pitchFamily="2" charset="2"/>
              </a:rPr>
              <a:t>计算表达式</a:t>
            </a:r>
            <a:r>
              <a:rPr lang="zh-CN" altLang="en-US" sz="2000">
                <a:ea typeface="黑体" panose="02010609060101010101" pitchFamily="49" charset="-122"/>
              </a:rPr>
              <a:t>可以是任意形式的表达式；</a:t>
            </a:r>
          </a:p>
          <a:p>
            <a:pPr algn="just" eaLnBrk="1" hangingPunct="1"/>
            <a:r>
              <a:rPr lang="zh-CN" altLang="en-US" sz="2000">
                <a:ea typeface="黑体" panose="02010609060101010101" pitchFamily="49" charset="-122"/>
              </a:rPr>
              <a:t>条件表达式的结果只有</a:t>
            </a:r>
            <a:r>
              <a:rPr lang="en-US" altLang="zh-CN" sz="2000">
                <a:ea typeface="黑体" panose="02010609060101010101" pitchFamily="49" charset="-122"/>
              </a:rPr>
              <a:t>0</a:t>
            </a:r>
            <a:r>
              <a:rPr lang="zh-CN" altLang="en-US" sz="2000">
                <a:ea typeface="黑体" panose="02010609060101010101" pitchFamily="49" charset="-122"/>
              </a:rPr>
              <a:t>和</a:t>
            </a:r>
            <a:r>
              <a:rPr lang="en-US" altLang="zh-CN" sz="2000">
                <a:ea typeface="黑体" panose="02010609060101010101" pitchFamily="49" charset="-122"/>
              </a:rPr>
              <a:t>1</a:t>
            </a:r>
            <a:r>
              <a:rPr lang="zh-CN" altLang="en-US" sz="2000">
                <a:ea typeface="黑体" panose="02010609060101010101" pitchFamily="49" charset="-122"/>
              </a:rPr>
              <a:t>两种，如果计算表达式的值为</a:t>
            </a:r>
            <a:r>
              <a:rPr lang="en-US" altLang="zh-CN" sz="2000">
                <a:ea typeface="黑体" panose="02010609060101010101" pitchFamily="49" charset="-122"/>
              </a:rPr>
              <a:t>0</a:t>
            </a:r>
            <a:r>
              <a:rPr lang="zh-CN" altLang="en-US" sz="2000">
                <a:ea typeface="黑体" panose="02010609060101010101" pitchFamily="49" charset="-122"/>
              </a:rPr>
              <a:t>，则条件表达式的值为</a:t>
            </a:r>
            <a:r>
              <a:rPr lang="en-US" altLang="zh-CN" sz="2000">
                <a:ea typeface="黑体" panose="02010609060101010101" pitchFamily="49" charset="-122"/>
              </a:rPr>
              <a:t>0</a:t>
            </a:r>
            <a:r>
              <a:rPr lang="zh-CN" altLang="en-US" sz="2000">
                <a:ea typeface="黑体" panose="02010609060101010101" pitchFamily="49" charset="-122"/>
              </a:rPr>
              <a:t>，否则为</a:t>
            </a:r>
            <a:r>
              <a:rPr lang="en-US" altLang="zh-CN" sz="2000">
                <a:ea typeface="黑体" panose="02010609060101010101" pitchFamily="49" charset="-122"/>
              </a:rPr>
              <a:t>1</a:t>
            </a:r>
            <a:r>
              <a:rPr lang="zh-CN" altLang="en-US" sz="2000">
                <a:ea typeface="黑体" panose="02010609060101010101" pitchFamily="49" charset="-122"/>
              </a:rPr>
              <a:t>。</a:t>
            </a:r>
          </a:p>
        </p:txBody>
      </p:sp>
      <p:sp>
        <p:nvSpPr>
          <p:cNvPr id="39941" name="Text Box 8"/>
          <p:cNvSpPr txBox="1">
            <a:spLocks noChangeArrowheads="1"/>
          </p:cNvSpPr>
          <p:nvPr/>
        </p:nvSpPr>
        <p:spPr bwMode="auto">
          <a:xfrm>
            <a:off x="323850" y="2478088"/>
            <a:ext cx="4310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rgbClr val="0070C0"/>
                </a:solidFill>
                <a:ea typeface="黑体" panose="02010609060101010101" pitchFamily="49" charset="-122"/>
              </a:rPr>
              <a:t>例如：设</a:t>
            </a:r>
            <a:r>
              <a:rPr lang="en-US" altLang="zh-CN">
                <a:solidFill>
                  <a:srgbClr val="0070C0"/>
                </a:solidFill>
                <a:ea typeface="黑体" panose="02010609060101010101" pitchFamily="49" charset="-122"/>
              </a:rPr>
              <a:t>a=1000, b=0110</a:t>
            </a:r>
          </a:p>
        </p:txBody>
      </p:sp>
      <p:graphicFrame>
        <p:nvGraphicFramePr>
          <p:cNvPr id="202919" name="Group 167"/>
          <p:cNvGraphicFramePr>
            <a:graphicFrameLocks noGrp="1"/>
          </p:cNvGraphicFramePr>
          <p:nvPr/>
        </p:nvGraphicFramePr>
        <p:xfrm>
          <a:off x="415925" y="3041650"/>
          <a:ext cx="6781800" cy="3556000"/>
        </p:xfrm>
        <a:graphic>
          <a:graphicData uri="http://schemas.openxmlformats.org/drawingml/2006/table">
            <a:tbl>
              <a:tblPr/>
              <a:tblGrid>
                <a:gridCol w="1901825"/>
                <a:gridCol w="3978275"/>
                <a:gridCol w="901700"/>
              </a:tblGrid>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条件表达式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计算表达式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结果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(a&gt;b)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11_0000(</a:t>
                      </a:r>
                      <a:r>
                        <a: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前两位被截掉</a:t>
                      </a: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1110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if (a&amp;b)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rPr>
                        <a:t>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smtClean="0">
                          <a:ln>
                            <a:noFill/>
                          </a:ln>
                          <a:solidFill>
                            <a:srgbClr val="0070C0"/>
                          </a:solidFill>
                          <a:effectLst/>
                          <a:latin typeface="Verdana" panose="020B0604030504040204" pitchFamily="34" charset="0"/>
                          <a:ea typeface="黑体" panose="02010609060101010101" pitchFamily="49"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976" name="矩形 6"/>
          <p:cNvSpPr>
            <a:spLocks noChangeArrowheads="1"/>
          </p:cNvSpPr>
          <p:nvPr/>
        </p:nvSpPr>
        <p:spPr bwMode="auto">
          <a:xfrm>
            <a:off x="3714750" y="785813"/>
            <a:ext cx="2286000" cy="461962"/>
          </a:xfrm>
          <a:prstGeom prst="rect">
            <a:avLst/>
          </a:prstGeom>
          <a:solidFill>
            <a:srgbClr val="CDFFF2"/>
          </a:solidFill>
          <a:ln w="28575">
            <a:solidFill>
              <a:srgbClr val="A50021"/>
            </a:solidFill>
            <a:miter lim="800000"/>
            <a:headEnd/>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rgbClr val="A50021"/>
                </a:solidFill>
                <a:ea typeface="黑体" panose="02010609060101010101" pitchFamily="49" charset="-122"/>
              </a:rPr>
              <a:t> </a:t>
            </a:r>
            <a:r>
              <a:rPr lang="en-US" altLang="zh-CN">
                <a:solidFill>
                  <a:srgbClr val="A50021"/>
                </a:solidFill>
                <a:ea typeface="黑体" panose="02010609060101010101" pitchFamily="49" charset="-122"/>
                <a:sym typeface="Wingdings" panose="05000000000000000000" pitchFamily="2" charset="2"/>
              </a:rPr>
              <a:t>(</a:t>
            </a:r>
            <a:r>
              <a:rPr lang="zh-CN" altLang="en-US">
                <a:solidFill>
                  <a:srgbClr val="A50021"/>
                </a:solidFill>
                <a:ea typeface="黑体" panose="02010609060101010101" pitchFamily="49" charset="-122"/>
                <a:sym typeface="Wingdings" panose="05000000000000000000" pitchFamily="2" charset="2"/>
              </a:rPr>
              <a:t>计算表达式</a:t>
            </a:r>
            <a:r>
              <a:rPr lang="en-US" altLang="zh-CN">
                <a:solidFill>
                  <a:srgbClr val="A50021"/>
                </a:solidFill>
                <a:ea typeface="黑体" panose="02010609060101010101" pitchFamily="49" charset="-122"/>
                <a:sym typeface="Wingdings" panose="05000000000000000000" pitchFamily="2" charset="2"/>
              </a:rPr>
              <a:t>)</a:t>
            </a:r>
            <a:endParaRPr lang="zh-CN" altLang="en-US">
              <a:solidFill>
                <a:srgbClr val="A50021"/>
              </a:solidFill>
              <a:ea typeface="黑体" panose="02010609060101010101" pitchFamily="49" charset="-122"/>
            </a:endParaRPr>
          </a:p>
        </p:txBody>
      </p:sp>
      <p:sp>
        <p:nvSpPr>
          <p:cNvPr id="39977" name="矩形 7"/>
          <p:cNvSpPr>
            <a:spLocks noChangeArrowheads="1"/>
          </p:cNvSpPr>
          <p:nvPr/>
        </p:nvSpPr>
        <p:spPr bwMode="auto">
          <a:xfrm>
            <a:off x="357188" y="857250"/>
            <a:ext cx="260985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algn="just" eaLnBrk="1" hangingPunct="1"/>
            <a:r>
              <a:rPr lang="zh-CN" altLang="en-US">
                <a:solidFill>
                  <a:srgbClr val="000000"/>
                </a:solidFill>
                <a:ea typeface="黑体" panose="02010609060101010101" pitchFamily="49" charset="-122"/>
              </a:rPr>
              <a:t>条件表达式格式：</a:t>
            </a:r>
            <a:endParaRPr lang="en-US" altLang="zh-CN">
              <a:solidFill>
                <a:srgbClr val="FF0000"/>
              </a:solidFill>
              <a:ea typeface="黑体" panose="02010609060101010101" pitchFamily="49" charset="-122"/>
              <a:sym typeface="Wingdings" panose="05000000000000000000" pitchFamily="2" charset="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974FA524-E3BF-4DF2-A872-EA45A193B05B}" type="slidenum">
              <a:rPr lang="en-US" altLang="zh-CN" sz="1400" b="0">
                <a:latin typeface="Tahoma" panose="020B0604030504040204" pitchFamily="34" charset="0"/>
              </a:rPr>
              <a:pPr eaLnBrk="1" hangingPunct="1"/>
              <a:t>52</a:t>
            </a:fld>
            <a:endParaRPr lang="en-US" altLang="zh-CN" sz="1400" b="0">
              <a:latin typeface="Tahoma" panose="020B0604030504040204" pitchFamily="34" charset="0"/>
            </a:endParaRPr>
          </a:p>
        </p:txBody>
      </p:sp>
      <p:sp>
        <p:nvSpPr>
          <p:cNvPr id="40963" name="Rectangle 2"/>
          <p:cNvSpPr>
            <a:spLocks noGrp="1" noChangeArrowheads="1"/>
          </p:cNvSpPr>
          <p:nvPr>
            <p:ph type="title"/>
          </p:nvPr>
        </p:nvSpPr>
        <p:spPr/>
        <p:txBody>
          <a:bodyPr/>
          <a:lstStyle/>
          <a:p>
            <a:pPr eaLnBrk="1" hangingPunct="1"/>
            <a:r>
              <a:rPr lang="en-US" altLang="zh-CN" smtClean="0"/>
              <a:t>9. case</a:t>
            </a:r>
            <a:r>
              <a:rPr lang="zh-CN" altLang="en-US" smtClean="0"/>
              <a:t>语句</a:t>
            </a:r>
          </a:p>
        </p:txBody>
      </p:sp>
      <p:sp>
        <p:nvSpPr>
          <p:cNvPr id="40964" name="Rectangle 3"/>
          <p:cNvSpPr>
            <a:spLocks noChangeArrowheads="1"/>
          </p:cNvSpPr>
          <p:nvPr/>
        </p:nvSpPr>
        <p:spPr bwMode="auto">
          <a:xfrm>
            <a:off x="2987675" y="1125538"/>
            <a:ext cx="2879725" cy="3013075"/>
          </a:xfrm>
          <a:prstGeom prst="rect">
            <a:avLst/>
          </a:prstGeom>
          <a:solidFill>
            <a:srgbClr val="66FFFF"/>
          </a:solidFill>
          <a:ln w="28575" algn="ctr">
            <a:solidFill>
              <a:srgbClr val="A50021"/>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990033"/>
                </a:solidFill>
                <a:latin typeface="Arial" panose="020B0604020202020204" pitchFamily="34" charset="0"/>
                <a:ea typeface="黑体" panose="02010609060101010101" pitchFamily="49" charset="-122"/>
              </a:rPr>
              <a:t>case</a:t>
            </a:r>
            <a:r>
              <a:rPr lang="en-US" altLang="zh-CN">
                <a:solidFill>
                  <a:srgbClr val="000099"/>
                </a:solidFill>
                <a:latin typeface="Arial" panose="020B0604020202020204" pitchFamily="34" charset="0"/>
                <a:ea typeface="黑体" panose="02010609060101010101" pitchFamily="49" charset="-122"/>
              </a:rPr>
              <a:t> (</a:t>
            </a:r>
            <a:r>
              <a:rPr lang="zh-CN" altLang="en-US">
                <a:solidFill>
                  <a:srgbClr val="000099"/>
                </a:solidFill>
                <a:latin typeface="Arial" panose="020B0604020202020204" pitchFamily="34" charset="0"/>
                <a:ea typeface="黑体" panose="02010609060101010101" pitchFamily="49" charset="-122"/>
              </a:rPr>
              <a:t>表达式</a:t>
            </a:r>
            <a:r>
              <a:rPr lang="en-US" altLang="zh-CN">
                <a:solidFill>
                  <a:srgbClr val="000099"/>
                </a:solidFill>
                <a:latin typeface="Arial" panose="020B0604020202020204" pitchFamily="34" charset="0"/>
                <a:ea typeface="黑体" panose="02010609060101010101" pitchFamily="49" charset="-122"/>
              </a:rPr>
              <a:t>)</a:t>
            </a:r>
          </a:p>
          <a:p>
            <a:pPr eaLnBrk="1" hangingPunct="1"/>
            <a:r>
              <a:rPr lang="zh-CN" altLang="en-US">
                <a:solidFill>
                  <a:srgbClr val="000099"/>
                </a:solidFill>
                <a:latin typeface="Arial" panose="020B0604020202020204" pitchFamily="34" charset="0"/>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1: </a:t>
            </a:r>
            <a:r>
              <a:rPr lang="zh-CN" altLang="en-US">
                <a:solidFill>
                  <a:srgbClr val="000099"/>
                </a:solidFill>
                <a:latin typeface="Arial" panose="020B0604020202020204" pitchFamily="34" charset="0"/>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1;</a:t>
            </a:r>
          </a:p>
          <a:p>
            <a:pPr eaLnBrk="1" hangingPunct="1"/>
            <a:r>
              <a:rPr lang="zh-CN" altLang="en-US">
                <a:solidFill>
                  <a:srgbClr val="000099"/>
                </a:solidFill>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2: </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2;</a:t>
            </a:r>
          </a:p>
          <a:p>
            <a:pPr eaLnBrk="1" hangingPunct="1"/>
            <a:r>
              <a:rPr lang="zh-CN" altLang="en-US">
                <a:solidFill>
                  <a:srgbClr val="000099"/>
                </a:solidFill>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3: </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3;</a:t>
            </a:r>
          </a:p>
          <a:p>
            <a:pPr eaLnBrk="1" hangingPunct="1"/>
            <a:r>
              <a:rPr lang="en-US" altLang="zh-CN">
                <a:solidFill>
                  <a:srgbClr val="000099"/>
                </a:solidFill>
                <a:latin typeface="Arial" panose="020B0604020202020204" pitchFamily="34" charset="0"/>
                <a:ea typeface="黑体" panose="02010609060101010101" pitchFamily="49" charset="-122"/>
              </a:rPr>
              <a:t>...</a:t>
            </a:r>
          </a:p>
          <a:p>
            <a:pPr eaLnBrk="1" hangingPunct="1"/>
            <a:r>
              <a:rPr lang="en-US" altLang="zh-CN">
                <a:solidFill>
                  <a:srgbClr val="000099"/>
                </a:solidFill>
                <a:latin typeface="Arial" panose="020B0604020202020204" pitchFamily="34" charset="0"/>
                <a:ea typeface="黑体" panose="02010609060101010101" pitchFamily="49" charset="-122"/>
              </a:rPr>
              <a:t>...</a:t>
            </a:r>
          </a:p>
          <a:p>
            <a:pPr eaLnBrk="1" hangingPunct="1"/>
            <a:r>
              <a:rPr lang="en-US" altLang="zh-CN">
                <a:solidFill>
                  <a:srgbClr val="990033"/>
                </a:solidFill>
                <a:latin typeface="Arial" panose="020B0604020202020204" pitchFamily="34" charset="0"/>
                <a:ea typeface="黑体" panose="02010609060101010101" pitchFamily="49" charset="-122"/>
              </a:rPr>
              <a:t>default:  </a:t>
            </a:r>
            <a:r>
              <a:rPr lang="zh-CN" altLang="en-US">
                <a:solidFill>
                  <a:srgbClr val="000099"/>
                </a:solidFill>
                <a:ea typeface="黑体" panose="02010609060101010101" pitchFamily="49" charset="-122"/>
              </a:rPr>
              <a:t>默认语句</a:t>
            </a:r>
            <a:r>
              <a:rPr lang="en-US" altLang="zh-CN">
                <a:solidFill>
                  <a:srgbClr val="000099"/>
                </a:solidFill>
                <a:latin typeface="Arial" panose="020B0604020202020204" pitchFamily="34" charset="0"/>
                <a:ea typeface="黑体" panose="02010609060101010101" pitchFamily="49" charset="-122"/>
              </a:rPr>
              <a:t>;</a:t>
            </a:r>
          </a:p>
          <a:p>
            <a:pPr eaLnBrk="1" hangingPunct="1"/>
            <a:r>
              <a:rPr lang="en-US" altLang="zh-CN">
                <a:solidFill>
                  <a:srgbClr val="990033"/>
                </a:solidFill>
                <a:latin typeface="Arial" panose="020B0604020202020204" pitchFamily="34" charset="0"/>
                <a:ea typeface="黑体" panose="02010609060101010101" pitchFamily="49" charset="-122"/>
              </a:rPr>
              <a:t>endcase</a:t>
            </a:r>
          </a:p>
        </p:txBody>
      </p:sp>
      <p:sp>
        <p:nvSpPr>
          <p:cNvPr id="40965" name="Rectangle 5"/>
          <p:cNvSpPr>
            <a:spLocks noChangeArrowheads="1"/>
          </p:cNvSpPr>
          <p:nvPr/>
        </p:nvSpPr>
        <p:spPr bwMode="auto">
          <a:xfrm>
            <a:off x="6156325" y="1125538"/>
            <a:ext cx="2303463" cy="2647950"/>
          </a:xfrm>
          <a:prstGeom prst="rect">
            <a:avLst/>
          </a:prstGeom>
          <a:solidFill>
            <a:srgbClr val="66FFFF"/>
          </a:solidFill>
          <a:ln w="28575" algn="ctr">
            <a:solidFill>
              <a:srgbClr val="A50021"/>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rgbClr val="990033"/>
                </a:solidFill>
                <a:latin typeface="Arial" panose="020B0604020202020204" pitchFamily="34" charset="0"/>
                <a:ea typeface="黑体" panose="02010609060101010101" pitchFamily="49" charset="-122"/>
              </a:rPr>
              <a:t>case</a:t>
            </a:r>
            <a:r>
              <a:rPr lang="en-US" altLang="zh-CN">
                <a:solidFill>
                  <a:srgbClr val="000099"/>
                </a:solidFill>
                <a:latin typeface="Arial" panose="020B0604020202020204" pitchFamily="34" charset="0"/>
                <a:ea typeface="黑体" panose="02010609060101010101" pitchFamily="49" charset="-122"/>
              </a:rPr>
              <a:t> (</a:t>
            </a:r>
            <a:r>
              <a:rPr lang="zh-CN" altLang="en-US">
                <a:solidFill>
                  <a:srgbClr val="000099"/>
                </a:solidFill>
                <a:latin typeface="Arial" panose="020B0604020202020204" pitchFamily="34" charset="0"/>
                <a:ea typeface="黑体" panose="02010609060101010101" pitchFamily="49" charset="-122"/>
              </a:rPr>
              <a:t>表达式</a:t>
            </a:r>
            <a:r>
              <a:rPr lang="en-US" altLang="zh-CN">
                <a:solidFill>
                  <a:srgbClr val="000099"/>
                </a:solidFill>
                <a:latin typeface="Arial" panose="020B0604020202020204" pitchFamily="34" charset="0"/>
                <a:ea typeface="黑体" panose="02010609060101010101" pitchFamily="49" charset="-122"/>
              </a:rPr>
              <a:t>)</a:t>
            </a:r>
          </a:p>
          <a:p>
            <a:pPr eaLnBrk="1" hangingPunct="1"/>
            <a:r>
              <a:rPr lang="zh-CN" altLang="en-US">
                <a:solidFill>
                  <a:srgbClr val="000099"/>
                </a:solidFill>
                <a:latin typeface="Arial" panose="020B0604020202020204" pitchFamily="34" charset="0"/>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1: </a:t>
            </a:r>
            <a:r>
              <a:rPr lang="zh-CN" altLang="en-US">
                <a:solidFill>
                  <a:srgbClr val="000099"/>
                </a:solidFill>
                <a:latin typeface="Arial" panose="020B0604020202020204" pitchFamily="34" charset="0"/>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1;</a:t>
            </a:r>
          </a:p>
          <a:p>
            <a:pPr eaLnBrk="1" hangingPunct="1"/>
            <a:r>
              <a:rPr lang="zh-CN" altLang="en-US">
                <a:solidFill>
                  <a:srgbClr val="000099"/>
                </a:solidFill>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2:</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2;</a:t>
            </a:r>
          </a:p>
          <a:p>
            <a:pPr eaLnBrk="1" hangingPunct="1"/>
            <a:r>
              <a:rPr lang="zh-CN" altLang="en-US">
                <a:solidFill>
                  <a:srgbClr val="000099"/>
                </a:solidFill>
                <a:ea typeface="黑体" panose="02010609060101010101" pitchFamily="49" charset="-122"/>
              </a:rPr>
              <a:t>取值</a:t>
            </a:r>
            <a:r>
              <a:rPr lang="en-US" altLang="zh-CN">
                <a:solidFill>
                  <a:srgbClr val="000099"/>
                </a:solidFill>
                <a:latin typeface="Arial" panose="020B0604020202020204" pitchFamily="34" charset="0"/>
                <a:ea typeface="黑体" panose="02010609060101010101" pitchFamily="49" charset="-122"/>
              </a:rPr>
              <a:t>3:</a:t>
            </a:r>
            <a:r>
              <a:rPr lang="zh-CN" altLang="en-US">
                <a:solidFill>
                  <a:srgbClr val="000099"/>
                </a:solidFill>
                <a:ea typeface="黑体" panose="02010609060101010101" pitchFamily="49" charset="-122"/>
              </a:rPr>
              <a:t>语句</a:t>
            </a:r>
            <a:r>
              <a:rPr lang="en-US" altLang="zh-CN">
                <a:solidFill>
                  <a:srgbClr val="000099"/>
                </a:solidFill>
                <a:latin typeface="Arial" panose="020B0604020202020204" pitchFamily="34" charset="0"/>
                <a:ea typeface="黑体" panose="02010609060101010101" pitchFamily="49" charset="-122"/>
              </a:rPr>
              <a:t>3;</a:t>
            </a:r>
          </a:p>
          <a:p>
            <a:pPr eaLnBrk="1" hangingPunct="1"/>
            <a:r>
              <a:rPr lang="en-US" altLang="zh-CN">
                <a:solidFill>
                  <a:srgbClr val="000099"/>
                </a:solidFill>
                <a:latin typeface="Arial" panose="020B0604020202020204" pitchFamily="34" charset="0"/>
                <a:ea typeface="黑体" panose="02010609060101010101" pitchFamily="49" charset="-122"/>
              </a:rPr>
              <a:t>...</a:t>
            </a:r>
          </a:p>
          <a:p>
            <a:pPr eaLnBrk="1" hangingPunct="1"/>
            <a:r>
              <a:rPr lang="en-US" altLang="zh-CN">
                <a:solidFill>
                  <a:srgbClr val="000099"/>
                </a:solidFill>
                <a:latin typeface="Arial" panose="020B0604020202020204" pitchFamily="34" charset="0"/>
                <a:ea typeface="黑体" panose="02010609060101010101" pitchFamily="49" charset="-122"/>
              </a:rPr>
              <a:t>...</a:t>
            </a:r>
          </a:p>
          <a:p>
            <a:pPr eaLnBrk="1" hangingPunct="1"/>
            <a:r>
              <a:rPr lang="en-US" altLang="zh-CN">
                <a:solidFill>
                  <a:srgbClr val="990033"/>
                </a:solidFill>
                <a:latin typeface="Arial" panose="020B0604020202020204" pitchFamily="34" charset="0"/>
                <a:ea typeface="黑体" panose="02010609060101010101" pitchFamily="49" charset="-122"/>
              </a:rPr>
              <a:t>endcase</a:t>
            </a:r>
          </a:p>
        </p:txBody>
      </p:sp>
      <p:sp>
        <p:nvSpPr>
          <p:cNvPr id="40966" name="Text Box 6"/>
          <p:cNvSpPr txBox="1">
            <a:spLocks noChangeArrowheads="1"/>
          </p:cNvSpPr>
          <p:nvPr/>
        </p:nvSpPr>
        <p:spPr bwMode="auto">
          <a:xfrm>
            <a:off x="539750" y="4376738"/>
            <a:ext cx="7872413" cy="2311400"/>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如果表达式的值</a:t>
            </a:r>
            <a:r>
              <a:rPr lang="en-US" altLang="zh-CN">
                <a:ea typeface="黑体" panose="02010609060101010101" pitchFamily="49" charset="-122"/>
              </a:rPr>
              <a:t>=</a:t>
            </a:r>
            <a:r>
              <a:rPr lang="zh-CN" altLang="en-US">
                <a:ea typeface="黑体" panose="02010609060101010101" pitchFamily="49" charset="-122"/>
              </a:rPr>
              <a:t>取值</a:t>
            </a:r>
            <a:r>
              <a:rPr lang="en-US" altLang="zh-CN">
                <a:ea typeface="黑体" panose="02010609060101010101" pitchFamily="49" charset="-122"/>
              </a:rPr>
              <a:t>1</a:t>
            </a:r>
            <a:r>
              <a:rPr lang="zh-CN" altLang="en-US">
                <a:ea typeface="黑体" panose="02010609060101010101" pitchFamily="49" charset="-122"/>
              </a:rPr>
              <a:t>，则执行语句</a:t>
            </a:r>
            <a:r>
              <a:rPr lang="en-US" altLang="zh-CN">
                <a:ea typeface="黑体" panose="02010609060101010101" pitchFamily="49" charset="-122"/>
              </a:rPr>
              <a:t>1</a:t>
            </a:r>
            <a:r>
              <a:rPr lang="zh-CN" altLang="en-US">
                <a:ea typeface="黑体" panose="02010609060101010101" pitchFamily="49" charset="-122"/>
              </a:rPr>
              <a:t>；</a:t>
            </a:r>
          </a:p>
          <a:p>
            <a:pPr eaLnBrk="1" hangingPunct="1"/>
            <a:r>
              <a:rPr lang="zh-CN" altLang="en-US">
                <a:ea typeface="黑体" panose="02010609060101010101" pitchFamily="49" charset="-122"/>
              </a:rPr>
              <a:t>如果表达式的值</a:t>
            </a:r>
            <a:r>
              <a:rPr lang="en-US" altLang="zh-CN">
                <a:ea typeface="黑体" panose="02010609060101010101" pitchFamily="49" charset="-122"/>
              </a:rPr>
              <a:t>=</a:t>
            </a:r>
            <a:r>
              <a:rPr lang="zh-CN" altLang="en-US">
                <a:ea typeface="黑体" panose="02010609060101010101" pitchFamily="49" charset="-122"/>
              </a:rPr>
              <a:t>取值</a:t>
            </a:r>
            <a:r>
              <a:rPr lang="en-US" altLang="zh-CN">
                <a:ea typeface="黑体" panose="02010609060101010101" pitchFamily="49" charset="-122"/>
              </a:rPr>
              <a:t>2</a:t>
            </a:r>
            <a:r>
              <a:rPr lang="zh-CN" altLang="en-US">
                <a:ea typeface="黑体" panose="02010609060101010101" pitchFamily="49" charset="-122"/>
              </a:rPr>
              <a:t>，则执行语句</a:t>
            </a:r>
            <a:r>
              <a:rPr lang="en-US" altLang="zh-CN">
                <a:ea typeface="黑体" panose="02010609060101010101" pitchFamily="49" charset="-122"/>
              </a:rPr>
              <a:t>2</a:t>
            </a:r>
            <a:r>
              <a:rPr lang="zh-CN" altLang="en-US">
                <a:ea typeface="黑体" panose="02010609060101010101" pitchFamily="49" charset="-122"/>
              </a:rPr>
              <a:t>；</a:t>
            </a:r>
          </a:p>
          <a:p>
            <a:pPr eaLnBrk="1" hangingPunct="1"/>
            <a:r>
              <a:rPr lang="zh-CN" altLang="en-US">
                <a:ea typeface="黑体" panose="02010609060101010101" pitchFamily="49" charset="-122"/>
              </a:rPr>
              <a:t>如果表达式的值</a:t>
            </a:r>
            <a:r>
              <a:rPr lang="en-US" altLang="zh-CN">
                <a:ea typeface="黑体" panose="02010609060101010101" pitchFamily="49" charset="-122"/>
              </a:rPr>
              <a:t>=</a:t>
            </a:r>
            <a:r>
              <a:rPr lang="zh-CN" altLang="en-US">
                <a:ea typeface="黑体" panose="02010609060101010101" pitchFamily="49" charset="-122"/>
              </a:rPr>
              <a:t>取值</a:t>
            </a:r>
            <a:r>
              <a:rPr lang="en-US" altLang="zh-CN">
                <a:ea typeface="黑体" panose="02010609060101010101" pitchFamily="49" charset="-122"/>
              </a:rPr>
              <a:t>3</a:t>
            </a:r>
            <a:r>
              <a:rPr lang="zh-CN" altLang="en-US">
                <a:ea typeface="黑体" panose="02010609060101010101" pitchFamily="49" charset="-122"/>
              </a:rPr>
              <a:t>，则执行语句</a:t>
            </a:r>
            <a:r>
              <a:rPr lang="en-US" altLang="zh-CN">
                <a:ea typeface="黑体" panose="02010609060101010101" pitchFamily="49" charset="-122"/>
              </a:rPr>
              <a:t>3</a:t>
            </a:r>
            <a:r>
              <a:rPr lang="zh-CN" altLang="en-US">
                <a:ea typeface="黑体" panose="02010609060101010101" pitchFamily="49" charset="-122"/>
              </a:rPr>
              <a:t>；</a:t>
            </a:r>
          </a:p>
          <a:p>
            <a:pPr eaLnBrk="1" hangingPunct="1"/>
            <a:r>
              <a:rPr lang="en-US" altLang="zh-CN">
                <a:ea typeface="黑体" panose="02010609060101010101" pitchFamily="49" charset="-122"/>
              </a:rPr>
              <a:t>……</a:t>
            </a:r>
          </a:p>
          <a:p>
            <a:pPr eaLnBrk="1" hangingPunct="1"/>
            <a:r>
              <a:rPr lang="zh-CN" altLang="en-US">
                <a:ea typeface="黑体" panose="02010609060101010101" pitchFamily="49" charset="-122"/>
              </a:rPr>
              <a:t>如果表达式的值和上述取值都不相等，则执行默认语句。</a:t>
            </a:r>
          </a:p>
          <a:p>
            <a:pPr eaLnBrk="1" hangingPunct="1"/>
            <a:r>
              <a:rPr lang="en-US" altLang="zh-CN">
                <a:ea typeface="黑体" panose="02010609060101010101" pitchFamily="49" charset="-122"/>
              </a:rPr>
              <a:t>default</a:t>
            </a:r>
            <a:r>
              <a:rPr lang="zh-CN" altLang="en-US">
                <a:ea typeface="黑体" panose="02010609060101010101" pitchFamily="49" charset="-122"/>
              </a:rPr>
              <a:t>语句可以不带。</a:t>
            </a:r>
          </a:p>
        </p:txBody>
      </p:sp>
      <p:sp>
        <p:nvSpPr>
          <p:cNvPr id="40967" name="Rectangle 8"/>
          <p:cNvSpPr>
            <a:spLocks noChangeArrowheads="1"/>
          </p:cNvSpPr>
          <p:nvPr/>
        </p:nvSpPr>
        <p:spPr bwMode="auto">
          <a:xfrm>
            <a:off x="395288" y="3789363"/>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功能：</a:t>
            </a:r>
          </a:p>
        </p:txBody>
      </p:sp>
      <p:sp>
        <p:nvSpPr>
          <p:cNvPr id="40968" name="Rectangle 9"/>
          <p:cNvSpPr>
            <a:spLocks noChangeArrowheads="1"/>
          </p:cNvSpPr>
          <p:nvPr/>
        </p:nvSpPr>
        <p:spPr bwMode="auto">
          <a:xfrm>
            <a:off x="468313" y="11969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格式</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2"/>
          </p:nvPr>
        </p:nvSpPr>
        <p:spPr/>
        <p:txBody>
          <a:bodyPr/>
          <a:lstStyle/>
          <a:p>
            <a:fld id="{45AE7351-4C1A-4840-BDD3-3515738C557E}" type="slidenum">
              <a:rPr lang="en-US" altLang="zh-CN">
                <a:solidFill>
                  <a:srgbClr val="000000"/>
                </a:solidFill>
              </a:rPr>
              <a:pPr/>
              <a:t>53</a:t>
            </a:fld>
            <a:endParaRPr lang="en-US" altLang="zh-CN">
              <a:solidFill>
                <a:srgbClr val="000000"/>
              </a:solidFill>
            </a:endParaRPr>
          </a:p>
        </p:txBody>
      </p:sp>
      <p:sp>
        <p:nvSpPr>
          <p:cNvPr id="221188" name="Rectangle 4"/>
          <p:cNvSpPr>
            <a:spLocks noGrp="1" noChangeArrowheads="1"/>
          </p:cNvSpPr>
          <p:nvPr>
            <p:ph type="title"/>
          </p:nvPr>
        </p:nvSpPr>
        <p:spPr/>
        <p:txBody>
          <a:bodyPr/>
          <a:lstStyle/>
          <a:p>
            <a:r>
              <a:rPr lang="en-US" altLang="zh-CN"/>
              <a:t>9 case</a:t>
            </a:r>
            <a:r>
              <a:rPr lang="zh-CN" altLang="en-US"/>
              <a:t>语句</a:t>
            </a:r>
          </a:p>
        </p:txBody>
      </p:sp>
      <p:sp>
        <p:nvSpPr>
          <p:cNvPr id="221189" name="Text Box 5"/>
          <p:cNvSpPr txBox="1">
            <a:spLocks noChangeArrowheads="1"/>
          </p:cNvSpPr>
          <p:nvPr/>
        </p:nvSpPr>
        <p:spPr bwMode="auto">
          <a:xfrm>
            <a:off x="395288" y="1268413"/>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solidFill>
                  <a:srgbClr val="000000"/>
                </a:solidFill>
                <a:ea typeface="黑体" panose="02010609060101010101" pitchFamily="49" charset="-122"/>
              </a:rPr>
              <a:t>例：</a:t>
            </a:r>
          </a:p>
        </p:txBody>
      </p:sp>
      <p:sp>
        <p:nvSpPr>
          <p:cNvPr id="221191" name="Text Box 7"/>
          <p:cNvSpPr txBox="1">
            <a:spLocks noChangeArrowheads="1"/>
          </p:cNvSpPr>
          <p:nvPr/>
        </p:nvSpPr>
        <p:spPr bwMode="auto">
          <a:xfrm>
            <a:off x="1042988" y="1268413"/>
            <a:ext cx="5810250" cy="5597525"/>
          </a:xfrm>
          <a:prstGeom prst="rect">
            <a:avLst/>
          </a:prstGeom>
          <a:noFill/>
          <a:ln w="28575">
            <a:solidFill>
              <a:srgbClr val="00A87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000000"/>
                </a:solidFill>
                <a:ea typeface="黑体" panose="02010609060101010101" pitchFamily="49" charset="-122"/>
              </a:rPr>
              <a:t>module MUX41 (a,b,c,d,s1,s0,y);</a:t>
            </a:r>
          </a:p>
          <a:p>
            <a:r>
              <a:rPr lang="en-US" altLang="zh-CN" dirty="0">
                <a:solidFill>
                  <a:srgbClr val="000000"/>
                </a:solidFill>
                <a:ea typeface="黑体" panose="02010609060101010101" pitchFamily="49" charset="-122"/>
              </a:rPr>
              <a:t>input a,b,c,d,s1,s0;</a:t>
            </a:r>
          </a:p>
          <a:p>
            <a:r>
              <a:rPr lang="en-US" altLang="zh-CN" dirty="0">
                <a:solidFill>
                  <a:srgbClr val="000000"/>
                </a:solidFill>
                <a:ea typeface="黑体" panose="02010609060101010101" pitchFamily="49" charset="-122"/>
              </a:rPr>
              <a:t>output reg y;</a:t>
            </a:r>
          </a:p>
          <a:p>
            <a:r>
              <a:rPr lang="en-US" altLang="zh-CN" dirty="0">
                <a:solidFill>
                  <a:srgbClr val="000000"/>
                </a:solidFill>
                <a:ea typeface="黑体" panose="02010609060101010101" pitchFamily="49" charset="-122"/>
              </a:rPr>
              <a:t>//reg y</a:t>
            </a:r>
            <a:r>
              <a:rPr lang="zh-CN" altLang="en-US" dirty="0">
                <a:solidFill>
                  <a:srgbClr val="000000"/>
                </a:solidFill>
                <a:ea typeface="黑体" panose="02010609060101010101" pitchFamily="49" charset="-122"/>
              </a:rPr>
              <a:t>；</a:t>
            </a:r>
          </a:p>
          <a:p>
            <a:r>
              <a:rPr lang="en-US" altLang="zh-CN" dirty="0">
                <a:solidFill>
                  <a:srgbClr val="000000"/>
                </a:solidFill>
                <a:ea typeface="黑体" panose="02010609060101010101" pitchFamily="49" charset="-122"/>
              </a:rPr>
              <a:t>always @(a,b,c,d,s1,s0)</a:t>
            </a:r>
          </a:p>
          <a:p>
            <a:r>
              <a:rPr lang="en-US" altLang="zh-CN" dirty="0">
                <a:solidFill>
                  <a:srgbClr val="000000"/>
                </a:solidFill>
                <a:ea typeface="黑体" panose="02010609060101010101" pitchFamily="49" charset="-122"/>
              </a:rPr>
              <a:t>begin</a:t>
            </a:r>
          </a:p>
          <a:p>
            <a:r>
              <a:rPr lang="en-US" altLang="zh-CN" dirty="0">
                <a:solidFill>
                  <a:srgbClr val="000000"/>
                </a:solidFill>
                <a:ea typeface="黑体" panose="02010609060101010101" pitchFamily="49" charset="-122"/>
              </a:rPr>
              <a:t>	case ({s1,s0})</a:t>
            </a:r>
          </a:p>
          <a:p>
            <a:r>
              <a:rPr lang="en-US" altLang="zh-CN" dirty="0">
                <a:solidFill>
                  <a:srgbClr val="000000"/>
                </a:solidFill>
                <a:ea typeface="黑体" panose="02010609060101010101" pitchFamily="49" charset="-122"/>
              </a:rPr>
              <a:t> 	    2’b00 : y=a;</a:t>
            </a:r>
          </a:p>
          <a:p>
            <a:r>
              <a:rPr lang="en-US" altLang="zh-CN" dirty="0">
                <a:solidFill>
                  <a:srgbClr val="000000"/>
                </a:solidFill>
                <a:ea typeface="黑体" panose="02010609060101010101" pitchFamily="49" charset="-122"/>
              </a:rPr>
              <a:t>	    2’b01 : y=b;</a:t>
            </a:r>
          </a:p>
          <a:p>
            <a:r>
              <a:rPr lang="en-US" altLang="zh-CN" dirty="0">
                <a:solidFill>
                  <a:srgbClr val="000000"/>
                </a:solidFill>
                <a:ea typeface="黑体" panose="02010609060101010101" pitchFamily="49" charset="-122"/>
              </a:rPr>
              <a:t>	    2’b10 : y=c;</a:t>
            </a:r>
          </a:p>
          <a:p>
            <a:r>
              <a:rPr lang="en-US" altLang="zh-CN" dirty="0">
                <a:solidFill>
                  <a:srgbClr val="000000"/>
                </a:solidFill>
                <a:ea typeface="黑体" panose="02010609060101010101" pitchFamily="49" charset="-122"/>
              </a:rPr>
              <a:t>	    2’b11 : y=d;</a:t>
            </a:r>
          </a:p>
          <a:p>
            <a:r>
              <a:rPr lang="en-US" altLang="zh-CN" dirty="0">
                <a:solidFill>
                  <a:srgbClr val="000000"/>
                </a:solidFill>
                <a:ea typeface="黑体" panose="02010609060101010101" pitchFamily="49" charset="-122"/>
              </a:rPr>
              <a:t>             default : y=0;</a:t>
            </a:r>
          </a:p>
          <a:p>
            <a:r>
              <a:rPr lang="en-US" altLang="zh-CN" dirty="0">
                <a:solidFill>
                  <a:srgbClr val="000000"/>
                </a:solidFill>
                <a:ea typeface="黑体" panose="02010609060101010101" pitchFamily="49" charset="-122"/>
              </a:rPr>
              <a:t>	</a:t>
            </a:r>
            <a:r>
              <a:rPr lang="en-US" altLang="zh-CN" dirty="0" err="1">
                <a:solidFill>
                  <a:srgbClr val="000000"/>
                </a:solidFill>
                <a:ea typeface="黑体" panose="02010609060101010101" pitchFamily="49" charset="-122"/>
              </a:rPr>
              <a:t>endcase</a:t>
            </a:r>
            <a:endParaRPr lang="en-US" altLang="zh-CN" dirty="0">
              <a:solidFill>
                <a:srgbClr val="000000"/>
              </a:solidFill>
              <a:ea typeface="黑体" panose="02010609060101010101" pitchFamily="49" charset="-122"/>
            </a:endParaRPr>
          </a:p>
          <a:p>
            <a:r>
              <a:rPr lang="en-US" altLang="zh-CN" dirty="0">
                <a:solidFill>
                  <a:srgbClr val="000000"/>
                </a:solidFill>
                <a:ea typeface="黑体" panose="02010609060101010101" pitchFamily="49" charset="-122"/>
              </a:rPr>
              <a:t>end</a:t>
            </a:r>
          </a:p>
          <a:p>
            <a:r>
              <a:rPr lang="en-US" altLang="zh-CN" dirty="0" err="1">
                <a:solidFill>
                  <a:srgbClr val="000000"/>
                </a:solidFill>
                <a:ea typeface="黑体" panose="02010609060101010101" pitchFamily="49" charset="-122"/>
              </a:rPr>
              <a:t>endmodule</a:t>
            </a:r>
            <a:endParaRPr lang="en-US" altLang="zh-CN" dirty="0">
              <a:solidFill>
                <a:srgbClr val="000000"/>
              </a:solidFill>
              <a:ea typeface="黑体" panose="02010609060101010101" pitchFamily="49" charset="-122"/>
            </a:endParaRPr>
          </a:p>
        </p:txBody>
      </p:sp>
      <p:pic>
        <p:nvPicPr>
          <p:cNvPr id="221192" name="Picture 8"/>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l="4399" t="7614" r="22433" b="7953"/>
          <a:stretch>
            <a:fillRect/>
          </a:stretch>
        </p:blipFill>
        <p:spPr bwMode="auto">
          <a:xfrm>
            <a:off x="5435600" y="1916113"/>
            <a:ext cx="3457575" cy="2305050"/>
          </a:xfrm>
          <a:prstGeom prst="rect">
            <a:avLst/>
          </a:prstGeom>
          <a:noFill/>
          <a:ln w="28575">
            <a:solidFill>
              <a:srgbClr val="00A87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1193" name="Text Box 9"/>
          <p:cNvSpPr txBox="1">
            <a:spLocks noChangeArrowheads="1"/>
          </p:cNvSpPr>
          <p:nvPr/>
        </p:nvSpPr>
        <p:spPr bwMode="auto">
          <a:xfrm>
            <a:off x="5416550" y="4508500"/>
            <a:ext cx="3727450" cy="1930400"/>
          </a:xfrm>
          <a:prstGeom prst="rect">
            <a:avLst/>
          </a:prstGeom>
          <a:solidFill>
            <a:srgbClr val="FFFFFF"/>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a:solidFill>
                  <a:srgbClr val="000000"/>
                </a:solidFill>
                <a:ea typeface="黑体" panose="02010609060101010101" pitchFamily="49" charset="-122"/>
              </a:rPr>
              <a:t>如果条件描述不完整，则会综合出寄存器；在设计组合电路时要注意使条件描述完整。</a:t>
            </a:r>
          </a:p>
          <a:p>
            <a:r>
              <a:rPr lang="zh-CN" altLang="en-US" sz="2000">
                <a:solidFill>
                  <a:srgbClr val="000000"/>
                </a:solidFill>
                <a:ea typeface="黑体" panose="02010609060101010101" pitchFamily="49" charset="-122"/>
              </a:rPr>
              <a:t>加</a:t>
            </a:r>
            <a:r>
              <a:rPr lang="en-US" altLang="zh-CN" sz="2000">
                <a:solidFill>
                  <a:srgbClr val="000000"/>
                </a:solidFill>
                <a:ea typeface="黑体" panose="02010609060101010101" pitchFamily="49" charset="-122"/>
              </a:rPr>
              <a:t>default</a:t>
            </a:r>
            <a:r>
              <a:rPr lang="zh-CN" altLang="en-US" sz="2000">
                <a:solidFill>
                  <a:srgbClr val="000000"/>
                </a:solidFill>
                <a:ea typeface="黑体" panose="02010609060101010101" pitchFamily="49" charset="-122"/>
              </a:rPr>
              <a:t>语句可以使条件完整。如果条件描述完整也可以不加</a:t>
            </a:r>
            <a:r>
              <a:rPr lang="en-US" altLang="zh-CN" sz="2000">
                <a:solidFill>
                  <a:srgbClr val="000000"/>
                </a:solidFill>
                <a:ea typeface="黑体" panose="02010609060101010101" pitchFamily="49" charset="-122"/>
              </a:rPr>
              <a:t>default</a:t>
            </a:r>
            <a:r>
              <a:rPr lang="zh-CN" altLang="en-US" sz="2000">
                <a:solidFill>
                  <a:srgbClr val="000000"/>
                </a:solidFill>
                <a:ea typeface="黑体" panose="02010609060101010101" pitchFamily="49" charset="-122"/>
              </a:rPr>
              <a:t>语句。</a:t>
            </a:r>
          </a:p>
        </p:txBody>
      </p:sp>
    </p:spTree>
    <p:extLst>
      <p:ext uri="{BB962C8B-B14F-4D97-AF65-F5344CB8AC3E}">
        <p14:creationId xmlns:p14="http://schemas.microsoft.com/office/powerpoint/2010/main" val="426033656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C86BA816-5087-4342-9A13-D492105661CF}" type="slidenum">
              <a:rPr lang="en-US" altLang="zh-CN" sz="1400" b="0">
                <a:latin typeface="Tahoma" panose="020B0604030504040204" pitchFamily="34" charset="0"/>
              </a:rPr>
              <a:pPr eaLnBrk="1" hangingPunct="1"/>
              <a:t>54</a:t>
            </a:fld>
            <a:endParaRPr lang="en-US" altLang="zh-CN" sz="1400" b="0">
              <a:latin typeface="Tahoma" panose="020B0604030504040204" pitchFamily="34" charset="0"/>
            </a:endParaRPr>
          </a:p>
        </p:txBody>
      </p:sp>
      <p:sp>
        <p:nvSpPr>
          <p:cNvPr id="43011" name="Rectangle 2"/>
          <p:cNvSpPr>
            <a:spLocks noGrp="1" noChangeArrowheads="1"/>
          </p:cNvSpPr>
          <p:nvPr>
            <p:ph type="title"/>
          </p:nvPr>
        </p:nvSpPr>
        <p:spPr>
          <a:xfrm>
            <a:off x="1350963" y="188913"/>
            <a:ext cx="6389687" cy="692150"/>
          </a:xfrm>
        </p:spPr>
        <p:txBody>
          <a:bodyPr/>
          <a:lstStyle/>
          <a:p>
            <a:pPr eaLnBrk="1" hangingPunct="1"/>
            <a:r>
              <a:rPr lang="en-US" altLang="zh-CN" smtClean="0"/>
              <a:t>10. Verilog</a:t>
            </a:r>
            <a:r>
              <a:rPr lang="zh-CN" altLang="en-US" smtClean="0"/>
              <a:t>语言的描述风格</a:t>
            </a:r>
          </a:p>
        </p:txBody>
      </p:sp>
      <p:sp>
        <p:nvSpPr>
          <p:cNvPr id="43012" name="Rectangle 4"/>
          <p:cNvSpPr>
            <a:spLocks noChangeArrowheads="1"/>
          </p:cNvSpPr>
          <p:nvPr/>
        </p:nvSpPr>
        <p:spPr bwMode="auto">
          <a:xfrm>
            <a:off x="469900" y="1555750"/>
            <a:ext cx="8062913" cy="1801813"/>
          </a:xfrm>
          <a:prstGeom prst="rect">
            <a:avLst/>
          </a:prstGeom>
          <a:noFill/>
          <a:ln w="28575">
            <a:solidFill>
              <a:srgbClr val="00A87C"/>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n"/>
            </a:pPr>
            <a:r>
              <a:rPr lang="zh-CN" altLang="en-US">
                <a:ea typeface="黑体" panose="02010609060101010101" pitchFamily="49" charset="-122"/>
              </a:rPr>
              <a:t>结构化描述（也称门级描述）（全部用门原语和底层模块调用） </a:t>
            </a:r>
          </a:p>
          <a:p>
            <a:pPr eaLnBrk="1" hangingPunct="1">
              <a:spcBef>
                <a:spcPct val="20000"/>
              </a:spcBef>
              <a:buClr>
                <a:schemeClr val="folHlink"/>
              </a:buClr>
              <a:buSzPct val="60000"/>
              <a:buFont typeface="Wingdings" panose="05000000000000000000" pitchFamily="2" charset="2"/>
              <a:buChar char="n"/>
            </a:pPr>
            <a:r>
              <a:rPr lang="zh-CN" altLang="en-US">
                <a:ea typeface="黑体" panose="02010609060101010101" pitchFamily="49" charset="-122"/>
              </a:rPr>
              <a:t>数据流级描述（全部用</a:t>
            </a:r>
            <a:r>
              <a:rPr lang="en-US" altLang="zh-CN">
                <a:ea typeface="黑体" panose="02010609060101010101" pitchFamily="49" charset="-122"/>
              </a:rPr>
              <a:t>assign</a:t>
            </a:r>
            <a:r>
              <a:rPr lang="zh-CN" altLang="en-US">
                <a:ea typeface="黑体" panose="02010609060101010101" pitchFamily="49" charset="-122"/>
              </a:rPr>
              <a:t>语句）</a:t>
            </a:r>
          </a:p>
          <a:p>
            <a:pPr eaLnBrk="1" hangingPunct="1">
              <a:spcBef>
                <a:spcPct val="20000"/>
              </a:spcBef>
              <a:buClr>
                <a:schemeClr val="folHlink"/>
              </a:buClr>
              <a:buSzPct val="60000"/>
              <a:buFont typeface="Wingdings" panose="05000000000000000000" pitchFamily="2" charset="2"/>
              <a:buChar char="n"/>
            </a:pPr>
            <a:r>
              <a:rPr lang="zh-CN" altLang="en-US">
                <a:ea typeface="黑体" panose="02010609060101010101" pitchFamily="49" charset="-122"/>
              </a:rPr>
              <a:t>行为级描述（全部用</a:t>
            </a:r>
            <a:r>
              <a:rPr lang="en-US" altLang="zh-CN">
                <a:ea typeface="黑体" panose="02010609060101010101" pitchFamily="49" charset="-122"/>
              </a:rPr>
              <a:t>always</a:t>
            </a:r>
            <a:r>
              <a:rPr lang="zh-CN" altLang="en-US">
                <a:ea typeface="黑体" panose="02010609060101010101" pitchFamily="49" charset="-122"/>
              </a:rPr>
              <a:t>语句配合</a:t>
            </a:r>
            <a:r>
              <a:rPr lang="en-US" altLang="zh-CN">
                <a:ea typeface="黑体" panose="02010609060101010101" pitchFamily="49" charset="-122"/>
              </a:rPr>
              <a:t>if</a:t>
            </a:r>
            <a:r>
              <a:rPr lang="zh-CN" altLang="en-US">
                <a:ea typeface="黑体" panose="02010609060101010101" pitchFamily="49" charset="-122"/>
              </a:rPr>
              <a:t>、</a:t>
            </a:r>
            <a:r>
              <a:rPr lang="en-US" altLang="zh-CN">
                <a:ea typeface="黑体" panose="02010609060101010101" pitchFamily="49" charset="-122"/>
              </a:rPr>
              <a:t>case</a:t>
            </a:r>
            <a:r>
              <a:rPr lang="zh-CN" altLang="en-US">
                <a:ea typeface="黑体" panose="02010609060101010101" pitchFamily="49" charset="-122"/>
              </a:rPr>
              <a:t>语句等）</a:t>
            </a:r>
          </a:p>
        </p:txBody>
      </p:sp>
      <p:sp>
        <p:nvSpPr>
          <p:cNvPr id="43013" name="Text Box 6"/>
          <p:cNvSpPr txBox="1">
            <a:spLocks noChangeArrowheads="1"/>
          </p:cNvSpPr>
          <p:nvPr/>
        </p:nvSpPr>
        <p:spPr bwMode="auto">
          <a:xfrm>
            <a:off x="323850" y="981075"/>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hlink"/>
                </a:solidFill>
                <a:ea typeface="黑体" panose="02010609060101010101" pitchFamily="49" charset="-122"/>
              </a:rPr>
              <a:t>三种描述方式</a:t>
            </a:r>
          </a:p>
        </p:txBody>
      </p:sp>
      <p:sp>
        <p:nvSpPr>
          <p:cNvPr id="43014" name="Rectangle 10"/>
          <p:cNvSpPr>
            <a:spLocks noChangeArrowheads="1"/>
          </p:cNvSpPr>
          <p:nvPr/>
        </p:nvSpPr>
        <p:spPr bwMode="auto">
          <a:xfrm>
            <a:off x="395288" y="4340225"/>
            <a:ext cx="6124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n"/>
            </a:pPr>
            <a:r>
              <a:rPr lang="en-US" altLang="zh-CN">
                <a:ea typeface="黑体" panose="02010609060101010101" pitchFamily="49" charset="-122"/>
              </a:rPr>
              <a:t>RTL</a:t>
            </a:r>
            <a:r>
              <a:rPr lang="zh-CN" altLang="en-US">
                <a:ea typeface="黑体" panose="02010609060101010101" pitchFamily="49" charset="-122"/>
              </a:rPr>
              <a:t>级描述（数据流级</a:t>
            </a:r>
            <a:r>
              <a:rPr lang="en-US" altLang="zh-CN">
                <a:ea typeface="黑体" panose="02010609060101010101" pitchFamily="49" charset="-122"/>
              </a:rPr>
              <a:t>+</a:t>
            </a:r>
            <a:r>
              <a:rPr lang="zh-CN" altLang="en-US">
                <a:ea typeface="黑体" panose="02010609060101010101" pitchFamily="49" charset="-122"/>
              </a:rPr>
              <a:t>行为级，可综合）</a:t>
            </a:r>
          </a:p>
        </p:txBody>
      </p:sp>
      <p:sp>
        <p:nvSpPr>
          <p:cNvPr id="43015" name="Text Box 11"/>
          <p:cNvSpPr txBox="1">
            <a:spLocks noChangeArrowheads="1"/>
          </p:cNvSpPr>
          <p:nvPr/>
        </p:nvSpPr>
        <p:spPr bwMode="auto">
          <a:xfrm>
            <a:off x="376238" y="3727450"/>
            <a:ext cx="725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有些资料中提到另外一种描述方式：</a:t>
            </a:r>
            <a:r>
              <a:rPr lang="en-US" altLang="zh-CN">
                <a:ea typeface="黑体" panose="02010609060101010101" pitchFamily="49" charset="-122"/>
              </a:rPr>
              <a:t>RTL</a:t>
            </a:r>
            <a:r>
              <a:rPr lang="zh-CN" altLang="en-US">
                <a:ea typeface="黑体" panose="02010609060101010101" pitchFamily="49" charset="-122"/>
              </a:rPr>
              <a:t>级描述方式</a:t>
            </a:r>
          </a:p>
        </p:txBody>
      </p:sp>
      <p:sp>
        <p:nvSpPr>
          <p:cNvPr id="43016" name="Text Box 12"/>
          <p:cNvSpPr txBox="1">
            <a:spLocks noChangeArrowheads="1"/>
          </p:cNvSpPr>
          <p:nvPr/>
        </p:nvSpPr>
        <p:spPr bwMode="auto">
          <a:xfrm>
            <a:off x="395288" y="5157788"/>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hlink"/>
                </a:solidFill>
                <a:ea typeface="黑体" panose="02010609060101010101" pitchFamily="49" charset="-122"/>
              </a:rPr>
              <a:t>实际描述是三种混合的</a:t>
            </a:r>
          </a:p>
        </p:txBody>
      </p:sp>
      <p:sp>
        <p:nvSpPr>
          <p:cNvPr id="43017" name="Text Box 13"/>
          <p:cNvSpPr txBox="1">
            <a:spLocks noChangeArrowheads="1"/>
          </p:cNvSpPr>
          <p:nvPr/>
        </p:nvSpPr>
        <p:spPr bwMode="auto">
          <a:xfrm>
            <a:off x="323850" y="5775325"/>
            <a:ext cx="83518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举例：用门级描述、数据流描述、行为描述分别设计数据选择器</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F3D6E073-EB63-4CB8-9E37-6260DB47BBD1}" type="slidenum">
              <a:rPr lang="en-US" altLang="zh-CN" sz="1400" b="0">
                <a:latin typeface="Tahoma" panose="020B0604030504040204" pitchFamily="34" charset="0"/>
              </a:rPr>
              <a:pPr eaLnBrk="1" hangingPunct="1"/>
              <a:t>55</a:t>
            </a:fld>
            <a:endParaRPr lang="en-US" altLang="zh-CN" sz="1400" b="0">
              <a:latin typeface="Tahoma" panose="020B0604030504040204" pitchFamily="34" charset="0"/>
            </a:endParaRPr>
          </a:p>
        </p:txBody>
      </p:sp>
      <p:sp>
        <p:nvSpPr>
          <p:cNvPr id="44035" name="Text Box 2"/>
          <p:cNvSpPr txBox="1">
            <a:spLocks noChangeArrowheads="1"/>
          </p:cNvSpPr>
          <p:nvPr/>
        </p:nvSpPr>
        <p:spPr bwMode="auto">
          <a:xfrm>
            <a:off x="685800" y="3048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a:latin typeface="Arial" panose="020B0604020202020204" pitchFamily="34" charset="0"/>
                <a:ea typeface="黑体" panose="02010609060101010101" pitchFamily="49" charset="-122"/>
              </a:rPr>
              <a:t>例  多路选择器的</a:t>
            </a:r>
            <a:r>
              <a:rPr lang="en-US" altLang="zh-CN">
                <a:latin typeface="Arial" panose="020B0604020202020204" pitchFamily="34" charset="0"/>
                <a:ea typeface="黑体" panose="02010609060101010101" pitchFamily="49" charset="-122"/>
              </a:rPr>
              <a:t>Verilog </a:t>
            </a:r>
            <a:r>
              <a:rPr lang="zh-CN" altLang="en-US">
                <a:latin typeface="Arial" panose="020B0604020202020204" pitchFamily="34" charset="0"/>
                <a:ea typeface="黑体" panose="02010609060101010101" pitchFamily="49" charset="-122"/>
              </a:rPr>
              <a:t>门级描述</a:t>
            </a:r>
          </a:p>
        </p:txBody>
      </p:sp>
      <p:sp>
        <p:nvSpPr>
          <p:cNvPr id="44036" name="Text Box 3"/>
          <p:cNvSpPr txBox="1">
            <a:spLocks noChangeArrowheads="1"/>
          </p:cNvSpPr>
          <p:nvPr/>
        </p:nvSpPr>
        <p:spPr bwMode="auto">
          <a:xfrm>
            <a:off x="457200" y="738188"/>
            <a:ext cx="5638800" cy="6119812"/>
          </a:xfrm>
          <a:prstGeom prst="rect">
            <a:avLst/>
          </a:prstGeom>
          <a:solidFill>
            <a:srgbClr val="CCECFF"/>
          </a:solidFill>
          <a:ln w="28575" algn="ctr">
            <a:solidFill>
              <a:srgbClr val="990033"/>
            </a:solidFill>
            <a:miter lim="800000"/>
            <a:headEnd/>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10000"/>
              </a:spcBef>
            </a:pPr>
            <a:r>
              <a:rPr lang="en-US" altLang="zh-CN" sz="2000">
                <a:latin typeface="Arial" panose="020B0604020202020204" pitchFamily="34" charset="0"/>
                <a:ea typeface="黑体" panose="02010609060101010101" pitchFamily="49" charset="-122"/>
              </a:rPr>
              <a:t>module mux4_to_1 (out, i0, i1, i2, i3, s1, s0);</a:t>
            </a:r>
          </a:p>
          <a:p>
            <a:pPr eaLnBrk="1" hangingPunct="1">
              <a:spcBef>
                <a:spcPct val="10000"/>
              </a:spcBef>
            </a:pPr>
            <a:r>
              <a:rPr lang="en-US" altLang="zh-CN" sz="2000">
                <a:latin typeface="Arial" panose="020B0604020202020204" pitchFamily="34" charset="0"/>
                <a:ea typeface="黑体" panose="02010609060101010101" pitchFamily="49" charset="-122"/>
              </a:rPr>
              <a:t>output out;</a:t>
            </a:r>
          </a:p>
          <a:p>
            <a:pPr eaLnBrk="1" hangingPunct="1">
              <a:spcBef>
                <a:spcPct val="10000"/>
              </a:spcBef>
            </a:pPr>
            <a:r>
              <a:rPr lang="en-US" altLang="zh-CN" sz="2000">
                <a:latin typeface="Arial" panose="020B0604020202020204" pitchFamily="34" charset="0"/>
                <a:ea typeface="黑体" panose="02010609060101010101" pitchFamily="49" charset="-122"/>
              </a:rPr>
              <a:t>input i0, i1, i2, i3;</a:t>
            </a:r>
          </a:p>
          <a:p>
            <a:pPr eaLnBrk="1" hangingPunct="1">
              <a:spcBef>
                <a:spcPct val="10000"/>
              </a:spcBef>
            </a:pPr>
            <a:r>
              <a:rPr lang="en-US" altLang="zh-CN" sz="2000">
                <a:latin typeface="Arial" panose="020B0604020202020204" pitchFamily="34" charset="0"/>
                <a:ea typeface="黑体" panose="02010609060101010101" pitchFamily="49" charset="-122"/>
              </a:rPr>
              <a:t>input s1, s0;</a:t>
            </a:r>
          </a:p>
          <a:p>
            <a:pPr eaLnBrk="1" hangingPunct="1">
              <a:spcBef>
                <a:spcPct val="10000"/>
              </a:spcBef>
            </a:pPr>
            <a:endParaRPr lang="en-US" altLang="zh-CN" sz="2000">
              <a:latin typeface="Arial" panose="020B0604020202020204" pitchFamily="34" charset="0"/>
              <a:ea typeface="黑体" panose="02010609060101010101" pitchFamily="49" charset="-122"/>
            </a:endParaRPr>
          </a:p>
          <a:p>
            <a:pPr eaLnBrk="1" hangingPunct="1">
              <a:spcBef>
                <a:spcPct val="10000"/>
              </a:spcBef>
            </a:pPr>
            <a:r>
              <a:rPr lang="es-ES" altLang="zh-CN" sz="2000">
                <a:latin typeface="Arial" panose="020B0604020202020204" pitchFamily="34" charset="0"/>
                <a:ea typeface="黑体" panose="02010609060101010101" pitchFamily="49" charset="-122"/>
              </a:rPr>
              <a:t>wire s1n, s0n;</a:t>
            </a:r>
          </a:p>
          <a:p>
            <a:pPr eaLnBrk="1" hangingPunct="1">
              <a:spcBef>
                <a:spcPct val="10000"/>
              </a:spcBef>
            </a:pPr>
            <a:r>
              <a:rPr lang="es-ES" altLang="zh-CN" sz="2000">
                <a:latin typeface="Arial" panose="020B0604020202020204" pitchFamily="34" charset="0"/>
                <a:ea typeface="黑体" panose="02010609060101010101" pitchFamily="49" charset="-122"/>
              </a:rPr>
              <a:t>wire y0, y1, y2, y3;</a:t>
            </a:r>
          </a:p>
          <a:p>
            <a:pPr eaLnBrk="1" hangingPunct="1">
              <a:spcBef>
                <a:spcPct val="10000"/>
              </a:spcBef>
            </a:pPr>
            <a:endParaRPr lang="es-ES" altLang="zh-CN" sz="2000">
              <a:latin typeface="Arial" panose="020B0604020202020204" pitchFamily="34" charset="0"/>
              <a:ea typeface="黑体" panose="02010609060101010101" pitchFamily="49" charset="-122"/>
            </a:endParaRPr>
          </a:p>
          <a:p>
            <a:pPr eaLnBrk="1" hangingPunct="1">
              <a:spcBef>
                <a:spcPct val="10000"/>
              </a:spcBef>
            </a:pPr>
            <a:r>
              <a:rPr lang="en-US" altLang="zh-CN" sz="2000">
                <a:latin typeface="Arial" panose="020B0604020202020204" pitchFamily="34" charset="0"/>
                <a:ea typeface="黑体" panose="02010609060101010101" pitchFamily="49" charset="-122"/>
              </a:rPr>
              <a:t>not (s1n, s1);</a:t>
            </a:r>
          </a:p>
          <a:p>
            <a:pPr eaLnBrk="1" hangingPunct="1">
              <a:spcBef>
                <a:spcPct val="10000"/>
              </a:spcBef>
            </a:pPr>
            <a:r>
              <a:rPr lang="en-US" altLang="zh-CN" sz="2000">
                <a:latin typeface="Arial" panose="020B0604020202020204" pitchFamily="34" charset="0"/>
                <a:ea typeface="黑体" panose="02010609060101010101" pitchFamily="49" charset="-122"/>
              </a:rPr>
              <a:t>not (s0n, s0);</a:t>
            </a:r>
          </a:p>
          <a:p>
            <a:pPr eaLnBrk="1" hangingPunct="1">
              <a:spcBef>
                <a:spcPct val="10000"/>
              </a:spcBef>
            </a:pPr>
            <a:endParaRPr lang="en-US" altLang="zh-CN" sz="2000">
              <a:latin typeface="Arial" panose="020B0604020202020204" pitchFamily="34" charset="0"/>
              <a:ea typeface="黑体" panose="02010609060101010101" pitchFamily="49" charset="-122"/>
            </a:endParaRPr>
          </a:p>
          <a:p>
            <a:pPr eaLnBrk="1" hangingPunct="1">
              <a:spcBef>
                <a:spcPct val="10000"/>
              </a:spcBef>
            </a:pPr>
            <a:r>
              <a:rPr lang="en-US" altLang="zh-CN" sz="2000">
                <a:latin typeface="Arial" panose="020B0604020202020204" pitchFamily="34" charset="0"/>
                <a:ea typeface="黑体" panose="02010609060101010101" pitchFamily="49" charset="-122"/>
              </a:rPr>
              <a:t>and (y0, i0, s1n, s0n);</a:t>
            </a:r>
          </a:p>
          <a:p>
            <a:pPr eaLnBrk="1" hangingPunct="1">
              <a:spcBef>
                <a:spcPct val="10000"/>
              </a:spcBef>
            </a:pPr>
            <a:r>
              <a:rPr lang="en-US" altLang="zh-CN" sz="2000">
                <a:latin typeface="Arial" panose="020B0604020202020204" pitchFamily="34" charset="0"/>
                <a:ea typeface="黑体" panose="02010609060101010101" pitchFamily="49" charset="-122"/>
              </a:rPr>
              <a:t>and (y1, i1, s1n, s0);</a:t>
            </a:r>
          </a:p>
          <a:p>
            <a:pPr eaLnBrk="1" hangingPunct="1">
              <a:spcBef>
                <a:spcPct val="10000"/>
              </a:spcBef>
            </a:pPr>
            <a:r>
              <a:rPr lang="en-US" altLang="zh-CN" sz="2000">
                <a:latin typeface="Arial" panose="020B0604020202020204" pitchFamily="34" charset="0"/>
                <a:ea typeface="黑体" panose="02010609060101010101" pitchFamily="49" charset="-122"/>
              </a:rPr>
              <a:t>and (y2, i2, s1, s0n);</a:t>
            </a:r>
          </a:p>
          <a:p>
            <a:pPr eaLnBrk="1" hangingPunct="1">
              <a:spcBef>
                <a:spcPct val="10000"/>
              </a:spcBef>
            </a:pPr>
            <a:r>
              <a:rPr lang="en-US" altLang="zh-CN" sz="2000">
                <a:latin typeface="Arial" panose="020B0604020202020204" pitchFamily="34" charset="0"/>
                <a:ea typeface="黑体" panose="02010609060101010101" pitchFamily="49" charset="-122"/>
              </a:rPr>
              <a:t>and (y3, i3, s1, s0);</a:t>
            </a:r>
          </a:p>
          <a:p>
            <a:pPr eaLnBrk="1" hangingPunct="1">
              <a:spcBef>
                <a:spcPct val="10000"/>
              </a:spcBef>
            </a:pPr>
            <a:endParaRPr lang="en-US" altLang="zh-CN" sz="2000">
              <a:latin typeface="Arial" panose="020B0604020202020204" pitchFamily="34" charset="0"/>
              <a:ea typeface="黑体" panose="02010609060101010101" pitchFamily="49" charset="-122"/>
            </a:endParaRPr>
          </a:p>
          <a:p>
            <a:pPr eaLnBrk="1" hangingPunct="1">
              <a:spcBef>
                <a:spcPct val="10000"/>
              </a:spcBef>
            </a:pPr>
            <a:r>
              <a:rPr lang="es-ES" altLang="zh-CN" sz="2000">
                <a:latin typeface="Arial" panose="020B0604020202020204" pitchFamily="34" charset="0"/>
                <a:ea typeface="黑体" panose="02010609060101010101" pitchFamily="49" charset="-122"/>
              </a:rPr>
              <a:t>or (out, y0, y1, y2, y3);</a:t>
            </a:r>
          </a:p>
          <a:p>
            <a:pPr eaLnBrk="1" hangingPunct="1">
              <a:spcBef>
                <a:spcPct val="10000"/>
              </a:spcBef>
            </a:pPr>
            <a:r>
              <a:rPr lang="en-US" altLang="zh-CN" sz="2000">
                <a:latin typeface="Arial" panose="020B0604020202020204" pitchFamily="34" charset="0"/>
                <a:ea typeface="黑体" panose="02010609060101010101" pitchFamily="49" charset="-122"/>
              </a:rPr>
              <a:t>endmodule</a:t>
            </a:r>
          </a:p>
        </p:txBody>
      </p:sp>
      <p:pic>
        <p:nvPicPr>
          <p:cNvPr id="44037" name="Picture 4"/>
          <p:cNvPicPr>
            <a:picLocks noChangeAspect="1" noChangeArrowheads="1"/>
          </p:cNvPicPr>
          <p:nvPr/>
        </p:nvPicPr>
        <p:blipFill>
          <a:blip r:embed="rId2">
            <a:extLst>
              <a:ext uri="{28A0092B-C50C-407E-A947-70E740481C1C}">
                <a14:useLocalDpi xmlns:a14="http://schemas.microsoft.com/office/drawing/2010/main" val="0"/>
              </a:ext>
            </a:extLst>
          </a:blip>
          <a:srcRect b="11111"/>
          <a:stretch>
            <a:fillRect/>
          </a:stretch>
        </p:blipFill>
        <p:spPr bwMode="auto">
          <a:xfrm>
            <a:off x="3962400" y="1600200"/>
            <a:ext cx="5181600" cy="4267200"/>
          </a:xfrm>
          <a:prstGeom prst="rect">
            <a:avLst/>
          </a:prstGeom>
          <a:noFill/>
          <a:ln w="28575">
            <a:solidFill>
              <a:srgbClr val="990033"/>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13DD8D35-F067-4C04-BCA1-78233E4B23F7}" type="slidenum">
              <a:rPr lang="en-US" altLang="zh-CN" sz="1400" b="0">
                <a:latin typeface="Tahoma" panose="020B0604030504040204" pitchFamily="34" charset="0"/>
              </a:rPr>
              <a:pPr eaLnBrk="1" hangingPunct="1"/>
              <a:t>56</a:t>
            </a:fld>
            <a:endParaRPr lang="en-US" altLang="zh-CN" sz="1400" b="0">
              <a:latin typeface="Tahoma" panose="020B0604030504040204" pitchFamily="34" charset="0"/>
            </a:endParaRPr>
          </a:p>
        </p:txBody>
      </p:sp>
      <p:sp>
        <p:nvSpPr>
          <p:cNvPr id="1028" name="Text Box 4"/>
          <p:cNvSpPr txBox="1">
            <a:spLocks noChangeArrowheads="1"/>
          </p:cNvSpPr>
          <p:nvPr/>
        </p:nvSpPr>
        <p:spPr bwMode="auto">
          <a:xfrm>
            <a:off x="179388" y="1196975"/>
            <a:ext cx="570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type="none" w="lg" len="lg"/>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  多路选择器的</a:t>
            </a:r>
            <a:r>
              <a:rPr lang="en-US" altLang="zh-CN">
                <a:ea typeface="黑体" panose="02010609060101010101" pitchFamily="49" charset="-122"/>
              </a:rPr>
              <a:t>Verilog </a:t>
            </a:r>
            <a:r>
              <a:rPr lang="zh-CN" altLang="en-US">
                <a:ea typeface="黑体" panose="02010609060101010101" pitchFamily="49" charset="-122"/>
              </a:rPr>
              <a:t>数据流级描述</a:t>
            </a:r>
          </a:p>
        </p:txBody>
      </p:sp>
      <p:sp>
        <p:nvSpPr>
          <p:cNvPr id="1029" name="Rectangle 5"/>
          <p:cNvSpPr>
            <a:spLocks noChangeArrowheads="1"/>
          </p:cNvSpPr>
          <p:nvPr/>
        </p:nvSpPr>
        <p:spPr bwMode="auto">
          <a:xfrm>
            <a:off x="323850" y="1844675"/>
            <a:ext cx="7924800" cy="2863850"/>
          </a:xfrm>
          <a:prstGeom prst="rect">
            <a:avLst/>
          </a:prstGeom>
          <a:noFill/>
          <a:ln w="28575" algn="ctr">
            <a:solidFill>
              <a:srgbClr val="990033"/>
            </a:solidFill>
            <a:miter lim="800000"/>
            <a:headEnd type="none" w="lg" len="lg"/>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a:latin typeface="Arial" panose="020B0604020202020204" pitchFamily="34" charset="0"/>
                <a:ea typeface="黑体" panose="02010609060101010101" pitchFamily="49" charset="-122"/>
              </a:rPr>
              <a:t>module mux_to_1  (out, i0, i1, i2, i3, s1, s0);</a:t>
            </a:r>
          </a:p>
          <a:p>
            <a:pPr eaLnBrk="1" hangingPunct="1"/>
            <a:endParaRPr lang="en-US" altLang="zh-CN" sz="2000">
              <a:latin typeface="Arial" panose="020B0604020202020204" pitchFamily="34" charset="0"/>
              <a:ea typeface="黑体" panose="02010609060101010101" pitchFamily="49" charset="-122"/>
            </a:endParaRPr>
          </a:p>
          <a:p>
            <a:pPr eaLnBrk="1" hangingPunct="1"/>
            <a:r>
              <a:rPr lang="en-US" altLang="zh-CN" sz="2000">
                <a:latin typeface="Arial" panose="020B0604020202020204" pitchFamily="34" charset="0"/>
                <a:ea typeface="黑体" panose="02010609060101010101" pitchFamily="49" charset="-122"/>
              </a:rPr>
              <a:t>output out</a:t>
            </a:r>
            <a:r>
              <a:rPr lang="zh-CN" altLang="en-US" sz="2000">
                <a:latin typeface="Arial" panose="020B0604020202020204" pitchFamily="34" charset="0"/>
                <a:ea typeface="黑体" panose="02010609060101010101" pitchFamily="49" charset="-122"/>
              </a:rPr>
              <a:t>，</a:t>
            </a:r>
          </a:p>
          <a:p>
            <a:pPr eaLnBrk="1" hangingPunct="1"/>
            <a:r>
              <a:rPr lang="en-US" altLang="zh-CN" sz="2000">
                <a:latin typeface="Arial" panose="020B0604020202020204" pitchFamily="34" charset="0"/>
                <a:ea typeface="黑体" panose="02010609060101010101" pitchFamily="49" charset="-122"/>
              </a:rPr>
              <a:t>input 10, i1, i2, i3;</a:t>
            </a:r>
          </a:p>
          <a:p>
            <a:pPr eaLnBrk="1" hangingPunct="1"/>
            <a:r>
              <a:rPr lang="en-US" altLang="zh-CN" sz="2000">
                <a:latin typeface="Arial" panose="020B0604020202020204" pitchFamily="34" charset="0"/>
                <a:ea typeface="黑体" panose="02010609060101010101" pitchFamily="49" charset="-122"/>
              </a:rPr>
              <a:t>input s1, s0;</a:t>
            </a:r>
          </a:p>
          <a:p>
            <a:pPr eaLnBrk="1" hangingPunct="1"/>
            <a:endParaRPr lang="en-US" altLang="zh-CN" sz="2000">
              <a:latin typeface="Arial" panose="020B0604020202020204" pitchFamily="34" charset="0"/>
              <a:ea typeface="黑体" panose="02010609060101010101" pitchFamily="49" charset="-122"/>
            </a:endParaRPr>
          </a:p>
          <a:p>
            <a:pPr eaLnBrk="1" hangingPunct="1"/>
            <a:r>
              <a:rPr lang="en-US" altLang="zh-CN" sz="2000">
                <a:latin typeface="Arial" panose="020B0604020202020204" pitchFamily="34" charset="0"/>
                <a:ea typeface="黑体" panose="02010609060101010101" pitchFamily="49" charset="-122"/>
              </a:rPr>
              <a:t>assign out = (~s1 &amp; ~s0 &amp; i0)|	(~s1 &amp; s0 &amp; i1) |(s1 &amp; ~s0 &amp; i2) |</a:t>
            </a:r>
          </a:p>
          <a:p>
            <a:pPr eaLnBrk="1" hangingPunct="1"/>
            <a:r>
              <a:rPr lang="en-US" altLang="zh-CN" sz="2000">
                <a:latin typeface="Arial" panose="020B0604020202020204" pitchFamily="34" charset="0"/>
                <a:ea typeface="黑体" panose="02010609060101010101" pitchFamily="49" charset="-122"/>
              </a:rPr>
              <a:t>		(s1 &amp; s0 &amp; i3) ;</a:t>
            </a:r>
          </a:p>
          <a:p>
            <a:pPr eaLnBrk="1" hangingPunct="1"/>
            <a:r>
              <a:rPr lang="en-US" altLang="zh-CN" sz="2000">
                <a:latin typeface="Arial" panose="020B0604020202020204" pitchFamily="34" charset="0"/>
                <a:ea typeface="黑体" panose="02010609060101010101" pitchFamily="49" charset="-122"/>
              </a:rPr>
              <a:t>endmodule</a:t>
            </a:r>
          </a:p>
        </p:txBody>
      </p:sp>
      <p:sp>
        <p:nvSpPr>
          <p:cNvPr id="1030" name="Rectangle 8"/>
          <p:cNvSpPr>
            <a:spLocks noGrp="1" noChangeArrowheads="1"/>
          </p:cNvSpPr>
          <p:nvPr>
            <p:ph type="title"/>
          </p:nvPr>
        </p:nvSpPr>
        <p:spPr/>
        <p:txBody>
          <a:bodyPr/>
          <a:lstStyle/>
          <a:p>
            <a:pPr eaLnBrk="1" hangingPunct="1"/>
            <a:r>
              <a:rPr lang="en-US" altLang="zh-CN" smtClean="0"/>
              <a:t>10. Verilog</a:t>
            </a:r>
            <a:r>
              <a:rPr lang="zh-CN" altLang="en-US" smtClean="0"/>
              <a:t>语言的描述风格</a:t>
            </a:r>
          </a:p>
        </p:txBody>
      </p:sp>
      <p:sp>
        <p:nvSpPr>
          <p:cNvPr id="1031" name="Text Box 10"/>
          <p:cNvSpPr txBox="1">
            <a:spLocks noChangeArrowheads="1"/>
          </p:cNvSpPr>
          <p:nvPr/>
        </p:nvSpPr>
        <p:spPr bwMode="auto">
          <a:xfrm>
            <a:off x="323850" y="48482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endParaRPr kumimoji="1" lang="zh-CN" altLang="zh-CN">
              <a:solidFill>
                <a:srgbClr val="FF3300"/>
              </a:solidFill>
              <a:latin typeface="Times New Roman" panose="02020603050405020304" pitchFamily="18" charset="0"/>
            </a:endParaRPr>
          </a:p>
        </p:txBody>
      </p:sp>
      <p:graphicFrame>
        <p:nvGraphicFramePr>
          <p:cNvPr id="1026" name="Object 11"/>
          <p:cNvGraphicFramePr>
            <a:graphicFrameLocks noChangeAspect="1"/>
          </p:cNvGraphicFramePr>
          <p:nvPr/>
        </p:nvGraphicFramePr>
        <p:xfrm>
          <a:off x="250825" y="5516563"/>
          <a:ext cx="5821363" cy="498475"/>
        </p:xfrm>
        <a:graphic>
          <a:graphicData uri="http://schemas.openxmlformats.org/presentationml/2006/ole">
            <mc:AlternateContent xmlns:mc="http://schemas.openxmlformats.org/markup-compatibility/2006">
              <mc:Choice xmlns:v="urn:schemas-microsoft-com:vml" Requires="v">
                <p:oleObj spid="_x0000_s1045" name="Equation" r:id="rId3" imgW="2819160" imgH="241200" progId="Equation.DSMT4">
                  <p:embed/>
                </p:oleObj>
              </mc:Choice>
              <mc:Fallback>
                <p:oleObj name="Equation" r:id="rId3" imgW="2819160" imgH="2412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5516563"/>
                        <a:ext cx="58213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2" name="Text Box 12"/>
          <p:cNvSpPr txBox="1">
            <a:spLocks noChangeArrowheads="1"/>
          </p:cNvSpPr>
          <p:nvPr/>
        </p:nvSpPr>
        <p:spPr bwMode="auto">
          <a:xfrm>
            <a:off x="250825" y="5013325"/>
            <a:ext cx="294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数据选择器的公式：</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D2F7B37D-B702-4D84-B9CF-49AE214694D6}" type="slidenum">
              <a:rPr lang="en-US" altLang="zh-CN" sz="1400" b="0">
                <a:latin typeface="Tahoma" panose="020B0604030504040204" pitchFamily="34" charset="0"/>
              </a:rPr>
              <a:pPr eaLnBrk="1" hangingPunct="1"/>
              <a:t>57</a:t>
            </a:fld>
            <a:endParaRPr lang="en-US" altLang="zh-CN" sz="1400" b="0">
              <a:latin typeface="Tahoma" panose="020B0604030504040204" pitchFamily="34" charset="0"/>
            </a:endParaRPr>
          </a:p>
        </p:txBody>
      </p:sp>
      <p:sp>
        <p:nvSpPr>
          <p:cNvPr id="45059" name="Rectangle 4"/>
          <p:cNvSpPr>
            <a:spLocks noGrp="1" noChangeArrowheads="1"/>
          </p:cNvSpPr>
          <p:nvPr>
            <p:ph type="title"/>
          </p:nvPr>
        </p:nvSpPr>
        <p:spPr/>
        <p:txBody>
          <a:bodyPr/>
          <a:lstStyle/>
          <a:p>
            <a:pPr eaLnBrk="1" hangingPunct="1"/>
            <a:r>
              <a:rPr lang="en-US" altLang="zh-CN" smtClean="0"/>
              <a:t>10. Verilog</a:t>
            </a:r>
            <a:r>
              <a:rPr lang="zh-CN" altLang="en-US" smtClean="0"/>
              <a:t>语言的描述风格</a:t>
            </a:r>
          </a:p>
        </p:txBody>
      </p:sp>
      <p:sp>
        <p:nvSpPr>
          <p:cNvPr id="45060" name="Rectangle 5"/>
          <p:cNvSpPr>
            <a:spLocks noChangeArrowheads="1"/>
          </p:cNvSpPr>
          <p:nvPr/>
        </p:nvSpPr>
        <p:spPr bwMode="auto">
          <a:xfrm>
            <a:off x="228600" y="1138238"/>
            <a:ext cx="6072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type="none" w="lg" len="lg"/>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ea typeface="黑体" panose="02010609060101010101" pitchFamily="49" charset="-122"/>
              </a:rPr>
              <a:t>例  多路选择器的</a:t>
            </a:r>
            <a:r>
              <a:rPr lang="en-US" altLang="zh-CN">
                <a:ea typeface="黑体" panose="02010609060101010101" pitchFamily="49" charset="-122"/>
              </a:rPr>
              <a:t>Verilog </a:t>
            </a:r>
            <a:r>
              <a:rPr lang="zh-CN" altLang="en-US">
                <a:ea typeface="黑体" panose="02010609060101010101" pitchFamily="49" charset="-122"/>
              </a:rPr>
              <a:t>行为级描述</a:t>
            </a:r>
          </a:p>
        </p:txBody>
      </p:sp>
      <p:sp>
        <p:nvSpPr>
          <p:cNvPr id="45061" name="Text Box 6"/>
          <p:cNvSpPr txBox="1">
            <a:spLocks noChangeArrowheads="1"/>
          </p:cNvSpPr>
          <p:nvPr/>
        </p:nvSpPr>
        <p:spPr bwMode="auto">
          <a:xfrm>
            <a:off x="563563" y="1671638"/>
            <a:ext cx="5592762" cy="4997450"/>
          </a:xfrm>
          <a:prstGeom prst="rect">
            <a:avLst/>
          </a:prstGeom>
          <a:solidFill>
            <a:srgbClr val="FFFF99"/>
          </a:solidFill>
          <a:ln w="28575" algn="ctr">
            <a:solidFill>
              <a:srgbClr val="006600"/>
            </a:solidFill>
            <a:miter lim="800000"/>
            <a:headEnd type="none" w="lg" len="lg"/>
            <a:tailEnd/>
          </a:ln>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sz="2000" dirty="0">
                <a:solidFill>
                  <a:srgbClr val="000099"/>
                </a:solidFill>
                <a:latin typeface="Arial" panose="020B0604020202020204" pitchFamily="34" charset="0"/>
                <a:ea typeface="黑体" panose="02010609060101010101" pitchFamily="49" charset="-122"/>
              </a:rPr>
              <a:t>module mux4_to_1</a:t>
            </a:r>
            <a:r>
              <a:rPr lang="pl-PL" altLang="zh-CN" sz="2000" dirty="0">
                <a:solidFill>
                  <a:srgbClr val="000099"/>
                </a:solidFill>
                <a:latin typeface="Arial" panose="020B0604020202020204" pitchFamily="34" charset="0"/>
                <a:ea typeface="黑体" panose="02010609060101010101" pitchFamily="49" charset="-122"/>
              </a:rPr>
              <a:t>(out, i0, i1, i2, i3, s1, s0);</a:t>
            </a:r>
            <a:endParaRPr lang="en-US" altLang="zh-CN" sz="2000" dirty="0">
              <a:solidFill>
                <a:srgbClr val="000099"/>
              </a:solidFill>
              <a:latin typeface="Arial" panose="020B0604020202020204" pitchFamily="34" charset="0"/>
              <a:ea typeface="黑体" panose="02010609060101010101" pitchFamily="49" charset="-122"/>
            </a:endParaRPr>
          </a:p>
          <a:p>
            <a:pPr eaLnBrk="1" hangingPunct="1"/>
            <a:r>
              <a:rPr lang="en-US" altLang="zh-CN" sz="2000" dirty="0">
                <a:solidFill>
                  <a:srgbClr val="000099"/>
                </a:solidFill>
                <a:latin typeface="Arial" panose="020B0604020202020204" pitchFamily="34" charset="0"/>
                <a:ea typeface="黑体" panose="02010609060101010101" pitchFamily="49" charset="-122"/>
              </a:rPr>
              <a:t>output out;</a:t>
            </a:r>
          </a:p>
          <a:p>
            <a:pPr eaLnBrk="1" hangingPunct="1"/>
            <a:r>
              <a:rPr lang="en-US" altLang="zh-CN" sz="2000" dirty="0">
                <a:solidFill>
                  <a:srgbClr val="000099"/>
                </a:solidFill>
                <a:latin typeface="Arial" panose="020B0604020202020204" pitchFamily="34" charset="0"/>
                <a:ea typeface="黑体" panose="02010609060101010101" pitchFamily="49" charset="-122"/>
              </a:rPr>
              <a:t>input i0, i1, i2, i3;</a:t>
            </a:r>
          </a:p>
          <a:p>
            <a:pPr eaLnBrk="1" hangingPunct="1"/>
            <a:r>
              <a:rPr lang="en-US" altLang="zh-CN" sz="2000" dirty="0">
                <a:solidFill>
                  <a:srgbClr val="000099"/>
                </a:solidFill>
                <a:latin typeface="Arial" panose="020B0604020202020204" pitchFamily="34" charset="0"/>
                <a:ea typeface="黑体" panose="02010609060101010101" pitchFamily="49" charset="-122"/>
              </a:rPr>
              <a:t>input s1, s0;</a:t>
            </a:r>
          </a:p>
          <a:p>
            <a:pPr eaLnBrk="1" hangingPunct="1"/>
            <a:r>
              <a:rPr lang="en-US" altLang="zh-CN" sz="2000" dirty="0">
                <a:solidFill>
                  <a:srgbClr val="000099"/>
                </a:solidFill>
                <a:latin typeface="Arial" panose="020B0604020202020204" pitchFamily="34" charset="0"/>
                <a:ea typeface="黑体" panose="02010609060101010101" pitchFamily="49" charset="-122"/>
              </a:rPr>
              <a:t>reg out;</a:t>
            </a:r>
          </a:p>
          <a:p>
            <a:pPr eaLnBrk="1" hangingPunct="1"/>
            <a:r>
              <a:rPr lang="en-US" altLang="zh-CN" sz="2000" dirty="0">
                <a:solidFill>
                  <a:srgbClr val="000099"/>
                </a:solidFill>
                <a:latin typeface="Arial" panose="020B0604020202020204" pitchFamily="34" charset="0"/>
                <a:ea typeface="黑体" panose="02010609060101010101" pitchFamily="49" charset="-122"/>
              </a:rPr>
              <a:t>always @(s1 or s0 or i0 or i1 or i2 or i3)</a:t>
            </a:r>
          </a:p>
          <a:p>
            <a:pPr eaLnBrk="1" hangingPunct="1"/>
            <a:r>
              <a:rPr lang="en-US" altLang="zh-CN" sz="2000" dirty="0">
                <a:solidFill>
                  <a:srgbClr val="000099"/>
                </a:solidFill>
                <a:latin typeface="Arial" panose="020B0604020202020204" pitchFamily="34" charset="0"/>
                <a:ea typeface="黑体" panose="02010609060101010101" pitchFamily="49" charset="-122"/>
              </a:rPr>
              <a:t> begin</a:t>
            </a:r>
          </a:p>
          <a:p>
            <a:pPr eaLnBrk="1" hangingPunct="1"/>
            <a:r>
              <a:rPr lang="en-US" altLang="zh-CN" sz="2000" dirty="0">
                <a:solidFill>
                  <a:srgbClr val="000099"/>
                </a:solidFill>
                <a:latin typeface="Arial" panose="020B0604020202020204" pitchFamily="34" charset="0"/>
                <a:ea typeface="黑体" panose="02010609060101010101" pitchFamily="49" charset="-122"/>
              </a:rPr>
              <a:t>    case ({s1, s0})</a:t>
            </a:r>
          </a:p>
          <a:p>
            <a:pPr eaLnBrk="1" hangingPunct="1"/>
            <a:r>
              <a:rPr lang="en-US" altLang="zh-CN" sz="2000" dirty="0">
                <a:solidFill>
                  <a:srgbClr val="000099"/>
                </a:solidFill>
                <a:latin typeface="Arial" panose="020B0604020202020204" pitchFamily="34" charset="0"/>
                <a:ea typeface="黑体" panose="02010609060101010101" pitchFamily="49" charset="-122"/>
              </a:rPr>
              <a:t>       2'b00: out = i0;</a:t>
            </a:r>
          </a:p>
          <a:p>
            <a:pPr eaLnBrk="1" hangingPunct="1"/>
            <a:r>
              <a:rPr lang="en-US" altLang="zh-CN" sz="2000" dirty="0">
                <a:solidFill>
                  <a:srgbClr val="000099"/>
                </a:solidFill>
                <a:latin typeface="Arial" panose="020B0604020202020204" pitchFamily="34" charset="0"/>
                <a:ea typeface="黑体" panose="02010609060101010101" pitchFamily="49" charset="-122"/>
              </a:rPr>
              <a:t>       2'b01: out = i1;</a:t>
            </a:r>
          </a:p>
          <a:p>
            <a:pPr eaLnBrk="1" hangingPunct="1"/>
            <a:r>
              <a:rPr lang="en-US" altLang="zh-CN" sz="2000" dirty="0">
                <a:solidFill>
                  <a:srgbClr val="000099"/>
                </a:solidFill>
                <a:latin typeface="Arial" panose="020B0604020202020204" pitchFamily="34" charset="0"/>
                <a:ea typeface="黑体" panose="02010609060101010101" pitchFamily="49" charset="-122"/>
              </a:rPr>
              <a:t>       2'b10: out = i2;</a:t>
            </a:r>
          </a:p>
          <a:p>
            <a:pPr eaLnBrk="1" hangingPunct="1"/>
            <a:r>
              <a:rPr lang="en-US" altLang="zh-CN" sz="2000" dirty="0">
                <a:solidFill>
                  <a:srgbClr val="000099"/>
                </a:solidFill>
                <a:latin typeface="Arial" panose="020B0604020202020204" pitchFamily="34" charset="0"/>
                <a:ea typeface="黑体" panose="02010609060101010101" pitchFamily="49" charset="-122"/>
              </a:rPr>
              <a:t>       2'b11: out = i3;</a:t>
            </a:r>
          </a:p>
          <a:p>
            <a:pPr eaLnBrk="1" hangingPunct="1"/>
            <a:r>
              <a:rPr lang="en-US" altLang="zh-CN" sz="2000" dirty="0">
                <a:solidFill>
                  <a:srgbClr val="000099"/>
                </a:solidFill>
                <a:latin typeface="Arial" panose="020B0604020202020204" pitchFamily="34" charset="0"/>
                <a:ea typeface="黑体" panose="02010609060101010101" pitchFamily="49" charset="-122"/>
              </a:rPr>
              <a:t>       default: out = 1'bx;</a:t>
            </a:r>
          </a:p>
          <a:p>
            <a:pPr eaLnBrk="1" hangingPunct="1"/>
            <a:r>
              <a:rPr lang="en-US" altLang="zh-CN" sz="2000" dirty="0">
                <a:solidFill>
                  <a:srgbClr val="000099"/>
                </a:solidFill>
                <a:latin typeface="Arial" panose="020B0604020202020204" pitchFamily="34" charset="0"/>
                <a:ea typeface="黑体" panose="02010609060101010101" pitchFamily="49" charset="-122"/>
              </a:rPr>
              <a:t>     </a:t>
            </a:r>
            <a:r>
              <a:rPr lang="en-US" altLang="zh-CN" sz="2000" dirty="0" err="1">
                <a:solidFill>
                  <a:srgbClr val="000099"/>
                </a:solidFill>
                <a:latin typeface="Arial" panose="020B0604020202020204" pitchFamily="34" charset="0"/>
                <a:ea typeface="黑体" panose="02010609060101010101" pitchFamily="49" charset="-122"/>
              </a:rPr>
              <a:t>endcase</a:t>
            </a:r>
            <a:endParaRPr lang="en-US" altLang="zh-CN" sz="2000" dirty="0">
              <a:solidFill>
                <a:srgbClr val="000099"/>
              </a:solidFill>
              <a:latin typeface="Arial" panose="020B0604020202020204" pitchFamily="34" charset="0"/>
              <a:ea typeface="黑体" panose="02010609060101010101" pitchFamily="49" charset="-122"/>
            </a:endParaRPr>
          </a:p>
          <a:p>
            <a:pPr eaLnBrk="1" hangingPunct="1"/>
            <a:r>
              <a:rPr lang="en-US" altLang="zh-CN" sz="2000" dirty="0">
                <a:solidFill>
                  <a:srgbClr val="000099"/>
                </a:solidFill>
                <a:latin typeface="Arial" panose="020B0604020202020204" pitchFamily="34" charset="0"/>
                <a:ea typeface="黑体" panose="02010609060101010101" pitchFamily="49" charset="-122"/>
              </a:rPr>
              <a:t>  end</a:t>
            </a:r>
          </a:p>
          <a:p>
            <a:pPr eaLnBrk="1" hangingPunct="1"/>
            <a:r>
              <a:rPr lang="en-US" altLang="zh-CN" sz="2000" dirty="0" err="1">
                <a:solidFill>
                  <a:srgbClr val="000099"/>
                </a:solidFill>
                <a:latin typeface="Arial" panose="020B0604020202020204" pitchFamily="34" charset="0"/>
                <a:ea typeface="黑体" panose="02010609060101010101" pitchFamily="49" charset="-122"/>
              </a:rPr>
              <a:t>endmodule</a:t>
            </a:r>
            <a:endParaRPr lang="en-US" altLang="zh-CN" sz="2000" dirty="0">
              <a:solidFill>
                <a:srgbClr val="000099"/>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4"/>
          <p:cNvSpPr>
            <a:spLocks noGrp="1"/>
          </p:cNvSpPr>
          <p:nvPr>
            <p:ph type="sldNum" sz="quarter" idx="12"/>
          </p:nvPr>
        </p:nvSpPr>
        <p:spPr/>
        <p:txBody>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fld id="{42BDDD12-AE53-4EBF-8D90-9D8F27330D1D}" type="slidenum">
              <a:rPr lang="en-US" altLang="zh-CN" sz="1400" b="0">
                <a:latin typeface="Tahoma" panose="020B0604030504040204" pitchFamily="34" charset="0"/>
              </a:rPr>
              <a:pPr eaLnBrk="1" hangingPunct="1"/>
              <a:t>58</a:t>
            </a:fld>
            <a:endParaRPr lang="en-US" altLang="zh-CN" sz="1400" b="0">
              <a:latin typeface="Tahoma" panose="020B0604030504040204" pitchFamily="34" charset="0"/>
            </a:endParaRPr>
          </a:p>
        </p:txBody>
      </p:sp>
      <p:sp>
        <p:nvSpPr>
          <p:cNvPr id="46083" name="Text Box 4"/>
          <p:cNvSpPr txBox="1">
            <a:spLocks noChangeArrowheads="1"/>
          </p:cNvSpPr>
          <p:nvPr/>
        </p:nvSpPr>
        <p:spPr bwMode="auto">
          <a:xfrm>
            <a:off x="179388" y="1125538"/>
            <a:ext cx="511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ea typeface="黑体" panose="02010609060101010101" pitchFamily="49" charset="-122"/>
              </a:rPr>
              <a:t>(1) </a:t>
            </a:r>
            <a:r>
              <a:rPr lang="zh-CN" altLang="en-US">
                <a:ea typeface="黑体" panose="02010609060101010101" pitchFamily="49" charset="-122"/>
              </a:rPr>
              <a:t>关键字 </a:t>
            </a:r>
          </a:p>
        </p:txBody>
      </p:sp>
      <p:sp>
        <p:nvSpPr>
          <p:cNvPr id="46084" name="Text Box 5"/>
          <p:cNvSpPr txBox="1">
            <a:spLocks noChangeArrowheads="1"/>
          </p:cNvSpPr>
          <p:nvPr/>
        </p:nvSpPr>
        <p:spPr bwMode="auto">
          <a:xfrm>
            <a:off x="179388" y="2205038"/>
            <a:ext cx="511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ea typeface="黑体" panose="02010609060101010101" pitchFamily="49" charset="-122"/>
              </a:rPr>
              <a:t>(2) </a:t>
            </a:r>
            <a:r>
              <a:rPr lang="zh-CN" altLang="en-US">
                <a:ea typeface="黑体" panose="02010609060101010101" pitchFamily="49" charset="-122"/>
              </a:rPr>
              <a:t>标识符 </a:t>
            </a:r>
          </a:p>
        </p:txBody>
      </p:sp>
      <p:sp>
        <p:nvSpPr>
          <p:cNvPr id="46085" name="Text Box 7"/>
          <p:cNvSpPr txBox="1">
            <a:spLocks noChangeArrowheads="1"/>
          </p:cNvSpPr>
          <p:nvPr/>
        </p:nvSpPr>
        <p:spPr bwMode="auto">
          <a:xfrm>
            <a:off x="179388" y="4076700"/>
            <a:ext cx="511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a:ea typeface="黑体" panose="02010609060101010101" pitchFamily="49" charset="-122"/>
              </a:rPr>
              <a:t>(3) </a:t>
            </a:r>
            <a:r>
              <a:rPr lang="zh-CN" altLang="en-US">
                <a:ea typeface="黑体" panose="02010609060101010101" pitchFamily="49" charset="-122"/>
              </a:rPr>
              <a:t>文件取名和存盘 </a:t>
            </a:r>
          </a:p>
        </p:txBody>
      </p:sp>
      <p:sp>
        <p:nvSpPr>
          <p:cNvPr id="46086" name="Text Box 8"/>
          <p:cNvSpPr txBox="1">
            <a:spLocks noChangeArrowheads="1"/>
          </p:cNvSpPr>
          <p:nvPr/>
        </p:nvSpPr>
        <p:spPr bwMode="auto">
          <a:xfrm>
            <a:off x="735013" y="1712913"/>
            <a:ext cx="7837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folHlink"/>
                </a:solidFill>
                <a:ea typeface="黑体" panose="02010609060101010101" pitchFamily="49" charset="-122"/>
              </a:rPr>
              <a:t>关键字即</a:t>
            </a:r>
            <a:r>
              <a:rPr lang="en-US" altLang="zh-CN">
                <a:solidFill>
                  <a:schemeClr val="folHlink"/>
                </a:solidFill>
                <a:ea typeface="黑体" panose="02010609060101010101" pitchFamily="49" charset="-122"/>
              </a:rPr>
              <a:t>Verilog</a:t>
            </a:r>
            <a:r>
              <a:rPr lang="zh-CN" altLang="en-US">
                <a:solidFill>
                  <a:schemeClr val="folHlink"/>
                </a:solidFill>
                <a:ea typeface="黑体" panose="02010609060101010101" pitchFamily="49" charset="-122"/>
              </a:rPr>
              <a:t>语言中预定义的有特殊含义的英文词语</a:t>
            </a:r>
          </a:p>
        </p:txBody>
      </p:sp>
      <p:sp>
        <p:nvSpPr>
          <p:cNvPr id="46087" name="Text Box 9"/>
          <p:cNvSpPr txBox="1">
            <a:spLocks noChangeArrowheads="1"/>
          </p:cNvSpPr>
          <p:nvPr/>
        </p:nvSpPr>
        <p:spPr bwMode="auto">
          <a:xfrm>
            <a:off x="827088" y="2781300"/>
            <a:ext cx="63119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zh-CN" altLang="en-US">
                <a:solidFill>
                  <a:schemeClr val="folHlink"/>
                </a:solidFill>
                <a:ea typeface="黑体" panose="02010609060101010101" pitchFamily="49" charset="-122"/>
              </a:rPr>
              <a:t>标识符即用户自定义的信号名、模块名等等；</a:t>
            </a:r>
          </a:p>
          <a:p>
            <a:pPr eaLnBrk="1" hangingPunct="1"/>
            <a:r>
              <a:rPr lang="zh-CN" altLang="en-US">
                <a:solidFill>
                  <a:schemeClr val="folHlink"/>
                </a:solidFill>
                <a:ea typeface="黑体" panose="02010609060101010101" pitchFamily="49" charset="-122"/>
              </a:rPr>
              <a:t>注意关键字不能作标识符；</a:t>
            </a:r>
          </a:p>
          <a:p>
            <a:pPr eaLnBrk="1" hangingPunct="1"/>
            <a:r>
              <a:rPr lang="en-US" altLang="zh-CN">
                <a:solidFill>
                  <a:schemeClr val="folHlink"/>
                </a:solidFill>
                <a:ea typeface="黑体" panose="02010609060101010101" pitchFamily="49" charset="-122"/>
              </a:rPr>
              <a:t>Verilog</a:t>
            </a:r>
            <a:r>
              <a:rPr lang="zh-CN" altLang="en-US">
                <a:solidFill>
                  <a:schemeClr val="folHlink"/>
                </a:solidFill>
                <a:ea typeface="黑体" panose="02010609060101010101" pitchFamily="49" charset="-122"/>
              </a:rPr>
              <a:t>区别大小写（关键字都是小写）。</a:t>
            </a:r>
          </a:p>
        </p:txBody>
      </p:sp>
      <p:sp>
        <p:nvSpPr>
          <p:cNvPr id="46088" name="Text Box 11"/>
          <p:cNvSpPr txBox="1">
            <a:spLocks noChangeArrowheads="1"/>
          </p:cNvSpPr>
          <p:nvPr/>
        </p:nvSpPr>
        <p:spPr bwMode="auto">
          <a:xfrm>
            <a:off x="827088" y="4652963"/>
            <a:ext cx="7759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solidFill>
                  <a:schemeClr val="folHlink"/>
                </a:solidFill>
                <a:ea typeface="黑体" panose="02010609060101010101" pitchFamily="49" charset="-122"/>
              </a:rPr>
              <a:t>Verilog</a:t>
            </a:r>
            <a:r>
              <a:rPr lang="zh-CN" altLang="en-US">
                <a:solidFill>
                  <a:schemeClr val="folHlink"/>
                </a:solidFill>
                <a:ea typeface="黑体" panose="02010609060101010101" pitchFamily="49" charset="-122"/>
              </a:rPr>
              <a:t>文件扩展名为</a:t>
            </a:r>
            <a:r>
              <a:rPr lang="en-US" altLang="zh-CN">
                <a:solidFill>
                  <a:schemeClr val="folHlink"/>
                </a:solidFill>
                <a:ea typeface="黑体" panose="02010609060101010101" pitchFamily="49" charset="-122"/>
              </a:rPr>
              <a:t>.v</a:t>
            </a:r>
            <a:r>
              <a:rPr lang="zh-CN" altLang="en-US">
                <a:solidFill>
                  <a:schemeClr val="folHlink"/>
                </a:solidFill>
                <a:ea typeface="黑体" panose="02010609060101010101" pitchFamily="49" charset="-122"/>
              </a:rPr>
              <a:t>；</a:t>
            </a:r>
            <a:r>
              <a:rPr lang="en-US" altLang="zh-CN">
                <a:solidFill>
                  <a:schemeClr val="folHlink"/>
                </a:solidFill>
                <a:ea typeface="黑体" panose="02010609060101010101" pitchFamily="49" charset="-122"/>
              </a:rPr>
              <a:t>verilog</a:t>
            </a:r>
            <a:r>
              <a:rPr lang="zh-CN" altLang="en-US">
                <a:solidFill>
                  <a:schemeClr val="folHlink"/>
                </a:solidFill>
                <a:ea typeface="黑体" panose="02010609060101010101" pitchFamily="49" charset="-122"/>
              </a:rPr>
              <a:t>不要求文件名和模块名一致，但</a:t>
            </a:r>
            <a:r>
              <a:rPr lang="en-US" altLang="zh-CN">
                <a:solidFill>
                  <a:schemeClr val="folHlink"/>
                </a:solidFill>
                <a:ea typeface="黑体" panose="02010609060101010101" pitchFamily="49" charset="-122"/>
              </a:rPr>
              <a:t>QuartusII</a:t>
            </a:r>
            <a:r>
              <a:rPr lang="zh-CN" altLang="en-US">
                <a:solidFill>
                  <a:schemeClr val="folHlink"/>
                </a:solidFill>
                <a:ea typeface="黑体" panose="02010609060101010101" pitchFamily="49" charset="-122"/>
              </a:rPr>
              <a:t>要求一致</a:t>
            </a:r>
          </a:p>
        </p:txBody>
      </p:sp>
      <p:sp>
        <p:nvSpPr>
          <p:cNvPr id="46089" name="Text Box 15"/>
          <p:cNvSpPr txBox="1">
            <a:spLocks noChangeArrowheads="1"/>
          </p:cNvSpPr>
          <p:nvPr/>
        </p:nvSpPr>
        <p:spPr bwMode="auto">
          <a:xfrm>
            <a:off x="1835150" y="5600700"/>
            <a:ext cx="182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a:t>
            </a:r>
            <a:r>
              <a:rPr lang="zh-CN" altLang="en-US">
                <a:ea typeface="黑体" panose="02010609060101010101" pitchFamily="49" charset="-122"/>
              </a:rPr>
              <a:t>单行注释</a:t>
            </a:r>
          </a:p>
        </p:txBody>
      </p:sp>
      <p:sp>
        <p:nvSpPr>
          <p:cNvPr id="46090" name="Text Box 16"/>
          <p:cNvSpPr txBox="1">
            <a:spLocks noChangeArrowheads="1"/>
          </p:cNvSpPr>
          <p:nvPr/>
        </p:nvSpPr>
        <p:spPr bwMode="auto">
          <a:xfrm>
            <a:off x="1835150" y="6165850"/>
            <a:ext cx="246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  */</a:t>
            </a:r>
            <a:r>
              <a:rPr lang="zh-CN" altLang="en-US">
                <a:ea typeface="黑体" panose="02010609060101010101" pitchFamily="49" charset="-122"/>
              </a:rPr>
              <a:t>多行注释</a:t>
            </a:r>
          </a:p>
        </p:txBody>
      </p:sp>
      <p:sp>
        <p:nvSpPr>
          <p:cNvPr id="46091" name="Text Box 17"/>
          <p:cNvSpPr txBox="1">
            <a:spLocks noChangeArrowheads="1"/>
          </p:cNvSpPr>
          <p:nvPr/>
        </p:nvSpPr>
        <p:spPr bwMode="auto">
          <a:xfrm>
            <a:off x="179388" y="5661025"/>
            <a:ext cx="1446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Verdana" panose="020B0604030504040204" pitchFamily="34" charset="0"/>
                <a:ea typeface="宋体" panose="02010600030101010101" pitchFamily="2" charset="-122"/>
              </a:defRPr>
            </a:lvl1pPr>
            <a:lvl2pPr marL="742950" indent="-285750" eaLnBrk="0" hangingPunct="0">
              <a:defRPr sz="2400" b="1">
                <a:solidFill>
                  <a:schemeClr val="tx1"/>
                </a:solidFill>
                <a:latin typeface="Verdana" panose="020B0604030504040204" pitchFamily="34" charset="0"/>
                <a:ea typeface="宋体" panose="02010600030101010101" pitchFamily="2" charset="-122"/>
              </a:defRPr>
            </a:lvl2pPr>
            <a:lvl3pPr marL="1143000" indent="-228600" eaLnBrk="0" hangingPunct="0">
              <a:defRPr sz="2400" b="1">
                <a:solidFill>
                  <a:schemeClr val="tx1"/>
                </a:solidFill>
                <a:latin typeface="Verdana" panose="020B0604030504040204" pitchFamily="34" charset="0"/>
                <a:ea typeface="宋体" panose="02010600030101010101" pitchFamily="2" charset="-122"/>
              </a:defRPr>
            </a:lvl3pPr>
            <a:lvl4pPr marL="1600200" indent="-228600" eaLnBrk="0" hangingPunct="0">
              <a:defRPr sz="2400" b="1">
                <a:solidFill>
                  <a:schemeClr val="tx1"/>
                </a:solidFill>
                <a:latin typeface="Verdana" panose="020B0604030504040204" pitchFamily="34" charset="0"/>
                <a:ea typeface="宋体" panose="02010600030101010101" pitchFamily="2" charset="-122"/>
              </a:defRPr>
            </a:lvl4pPr>
            <a:lvl5pPr marL="2057400" indent="-228600" eaLnBrk="0" hangingPunct="0">
              <a:defRPr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Verdana" panose="020B0604030504040204" pitchFamily="34" charset="0"/>
                <a:ea typeface="宋体" panose="02010600030101010101" pitchFamily="2" charset="-122"/>
              </a:defRPr>
            </a:lvl9pPr>
          </a:lstStyle>
          <a:p>
            <a:pPr eaLnBrk="1" hangingPunct="1"/>
            <a:r>
              <a:rPr lang="en-US" altLang="zh-CN">
                <a:ea typeface="黑体" panose="02010609060101010101" pitchFamily="49" charset="-122"/>
              </a:rPr>
              <a:t>(4) </a:t>
            </a:r>
            <a:r>
              <a:rPr lang="zh-CN" altLang="en-US">
                <a:ea typeface="黑体" panose="02010609060101010101" pitchFamily="49" charset="-122"/>
              </a:rPr>
              <a:t>注释</a:t>
            </a:r>
          </a:p>
        </p:txBody>
      </p:sp>
      <p:sp>
        <p:nvSpPr>
          <p:cNvPr id="46092" name="Rectangle 18"/>
          <p:cNvSpPr>
            <a:spLocks noGrp="1" noChangeArrowheads="1"/>
          </p:cNvSpPr>
          <p:nvPr>
            <p:ph type="title"/>
          </p:nvPr>
        </p:nvSpPr>
        <p:spPr>
          <a:xfrm>
            <a:off x="1350963" y="188913"/>
            <a:ext cx="3149600" cy="692150"/>
          </a:xfrm>
        </p:spPr>
        <p:txBody>
          <a:bodyPr/>
          <a:lstStyle/>
          <a:p>
            <a:pPr eaLnBrk="1" hangingPunct="1"/>
            <a:r>
              <a:rPr lang="en-US" altLang="zh-CN" smtClean="0"/>
              <a:t>11. </a:t>
            </a:r>
            <a:r>
              <a:rPr lang="zh-CN" altLang="en-US" smtClean="0"/>
              <a:t>其它规定</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itchFamily="34"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itchFamily="34" charset="0"/>
            <a:ea typeface="黑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黑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anose="020B0604030504040204" pitchFamily="34" charset="0"/>
            <a:ea typeface="黑体" panose="0201060906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Verdana"/>
        <a:ea typeface="黑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AC46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itchFamily="34" charset="0"/>
            <a:ea typeface="黑体" pitchFamily="2" charset="-122"/>
          </a:defRPr>
        </a:defPPr>
      </a:lstStyle>
    </a:spDef>
    <a:lnDef>
      <a:spPr bwMode="auto">
        <a:xfrm>
          <a:off x="0" y="0"/>
          <a:ext cx="1" cy="1"/>
        </a:xfrm>
        <a:custGeom>
          <a:avLst/>
          <a:gdLst/>
          <a:ahLst/>
          <a:cxnLst/>
          <a:rect l="0" t="0" r="0" b="0"/>
          <a:pathLst/>
        </a:custGeom>
        <a:noFill/>
        <a:ln w="28575" cap="flat" cmpd="sng" algn="ctr">
          <a:solidFill>
            <a:srgbClr val="AC46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Verdana" pitchFamily="34" charset="0"/>
            <a:ea typeface="黑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Blends</Template>
  <TotalTime>5599</TotalTime>
  <Words>6488</Words>
  <Application>Microsoft Office PowerPoint</Application>
  <PresentationFormat>全屏显示(4:3)</PresentationFormat>
  <Paragraphs>1099</Paragraphs>
  <Slides>58</Slides>
  <Notes>39</Notes>
  <HiddenSlides>0</HiddenSlides>
  <MMClips>0</MMClips>
  <ScaleCrop>false</ScaleCrop>
  <HeadingPairs>
    <vt:vector size="8" baseType="variant">
      <vt:variant>
        <vt:lpstr>已用的字体</vt:lpstr>
      </vt:variant>
      <vt:variant>
        <vt:i4>8</vt:i4>
      </vt:variant>
      <vt:variant>
        <vt:lpstr>主题</vt:lpstr>
      </vt:variant>
      <vt:variant>
        <vt:i4>5</vt:i4>
      </vt:variant>
      <vt:variant>
        <vt:lpstr>嵌入 OLE 服务器</vt:lpstr>
      </vt:variant>
      <vt:variant>
        <vt:i4>1</vt:i4>
      </vt:variant>
      <vt:variant>
        <vt:lpstr>幻灯片标题</vt:lpstr>
      </vt:variant>
      <vt:variant>
        <vt:i4>58</vt:i4>
      </vt:variant>
    </vt:vector>
  </HeadingPairs>
  <TitlesOfParts>
    <vt:vector size="72" baseType="lpstr">
      <vt:lpstr>黑体</vt:lpstr>
      <vt:lpstr>宋体</vt:lpstr>
      <vt:lpstr>Arial</vt:lpstr>
      <vt:lpstr>Arial Black</vt:lpstr>
      <vt:lpstr>Tahoma</vt:lpstr>
      <vt:lpstr>Times New Roman</vt:lpstr>
      <vt:lpstr>Verdana</vt:lpstr>
      <vt:lpstr>Wingdings</vt:lpstr>
      <vt:lpstr>Blends</vt:lpstr>
      <vt:lpstr>1_Blends</vt:lpstr>
      <vt:lpstr>2_Blends</vt:lpstr>
      <vt:lpstr>3_Blends</vt:lpstr>
      <vt:lpstr>Pixel</vt:lpstr>
      <vt:lpstr>Equation</vt:lpstr>
      <vt:lpstr>PowerPoint 演示文稿</vt:lpstr>
      <vt:lpstr>Verilog模块结构</vt:lpstr>
      <vt:lpstr>Verilog模块结构</vt:lpstr>
      <vt:lpstr>Verilog模块结构</vt:lpstr>
      <vt:lpstr>Verilog程序结构</vt:lpstr>
      <vt:lpstr>Verilog模块结构</vt:lpstr>
      <vt:lpstr>PowerPoint 演示文稿</vt:lpstr>
      <vt:lpstr>2. assign语句</vt:lpstr>
      <vt:lpstr>2. assign语句</vt:lpstr>
      <vt:lpstr>2. assign语句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always语句块</vt:lpstr>
      <vt:lpstr>3. always语句块</vt:lpstr>
      <vt:lpstr>3. always语句块</vt:lpstr>
      <vt:lpstr>3. always语句块</vt:lpstr>
      <vt:lpstr>3. always语句块</vt:lpstr>
      <vt:lpstr>3. always语句块</vt:lpstr>
      <vt:lpstr>3. always语句块</vt:lpstr>
      <vt:lpstr>3. always语句块</vt:lpstr>
      <vt:lpstr>3. always语句块</vt:lpstr>
      <vt:lpstr>3. always语句块</vt:lpstr>
      <vt:lpstr>PowerPoint 演示文稿</vt:lpstr>
      <vt:lpstr>PowerPoint 演示文稿</vt:lpstr>
      <vt:lpstr>3.2多路选择器的Verilog描述</vt:lpstr>
      <vt:lpstr>3. always语句块</vt:lpstr>
      <vt:lpstr>4. 底层模块和门原语调用</vt:lpstr>
      <vt:lpstr>4. 底层模块和门原语调用</vt:lpstr>
      <vt:lpstr>4. 底层模块和门原语调用</vt:lpstr>
      <vt:lpstr>4. 底层模块和门原语调用</vt:lpstr>
      <vt:lpstr>4. 底层模块调用</vt:lpstr>
      <vt:lpstr>4. 底层模块调用</vt:lpstr>
      <vt:lpstr>5. Verilog中的数据类型</vt:lpstr>
      <vt:lpstr>PowerPoint 演示文稿</vt:lpstr>
      <vt:lpstr>PowerPoint 演示文稿</vt:lpstr>
      <vt:lpstr>PowerPoint 演示文稿</vt:lpstr>
      <vt:lpstr>PowerPoint 演示文稿</vt:lpstr>
      <vt:lpstr>PowerPoint 演示文稿</vt:lpstr>
      <vt:lpstr>6. Verilog中数字的表示格式</vt:lpstr>
      <vt:lpstr>7. 逻辑值</vt:lpstr>
      <vt:lpstr>8. if语句</vt:lpstr>
      <vt:lpstr>8. if语句</vt:lpstr>
      <vt:lpstr>8. if语句</vt:lpstr>
      <vt:lpstr>8. if语句</vt:lpstr>
      <vt:lpstr>9. case语句</vt:lpstr>
      <vt:lpstr>9 case语句</vt:lpstr>
      <vt:lpstr>10. Verilog语言的描述风格</vt:lpstr>
      <vt:lpstr>PowerPoint 演示文稿</vt:lpstr>
      <vt:lpstr>10. Verilog语言的描述风格</vt:lpstr>
      <vt:lpstr>10. Verilog语言的描述风格</vt:lpstr>
      <vt:lpstr>11. 其它规定</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dc:title>
  <dc:creator>owner</dc:creator>
  <cp:lastModifiedBy>Lixiaoming</cp:lastModifiedBy>
  <cp:revision>449</cp:revision>
  <dcterms:created xsi:type="dcterms:W3CDTF">2010-05-12T07:26:27Z</dcterms:created>
  <dcterms:modified xsi:type="dcterms:W3CDTF">2023-04-09T14:59:10Z</dcterms:modified>
</cp:coreProperties>
</file>