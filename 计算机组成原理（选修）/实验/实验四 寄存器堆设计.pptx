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sldIdLst>
    <p:sldId id="957" r:id="rId3"/>
    <p:sldId id="820" r:id="rId4"/>
    <p:sldId id="889" r:id="rId5"/>
    <p:sldId id="955" r:id="rId6"/>
    <p:sldId id="902" r:id="rId7"/>
    <p:sldId id="821" r:id="rId8"/>
    <p:sldId id="903" r:id="rId9"/>
    <p:sldId id="956" r:id="rId10"/>
    <p:sldId id="822" r:id="rId11"/>
    <p:sldId id="823" r:id="rId12"/>
    <p:sldId id="824" r:id="rId13"/>
    <p:sldId id="916" r:id="rId14"/>
  </p:sldIdLst>
  <p:sldSz cx="9144000" cy="6858000" type="screen4x3"/>
  <p:notesSz cx="6858000" cy="9144000"/>
  <p:custDataLst>
    <p:tags r:id="rId19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5" userDrawn="1">
          <p15:clr>
            <a:srgbClr val="A4A3A4"/>
          </p15:clr>
        </p15:guide>
        <p15:guide id="2" pos="288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CCFF"/>
    <a:srgbClr val="CCFFFF"/>
    <a:srgbClr val="0000FF"/>
    <a:srgbClr val="00CCFF"/>
    <a:srgbClr val="00FFFF"/>
    <a:srgbClr val="E5E5FF"/>
    <a:srgbClr val="CC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106" d="100"/>
          <a:sy n="106" d="100"/>
        </p:scale>
        <p:origin x="1686" y="108"/>
      </p:cViewPr>
      <p:guideLst>
        <p:guide orient="horz" pos="2265"/>
        <p:guide pos="2887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gs" Target="tags/tag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7348" name="Rectangle 4"/>
          <p:cNvSpPr>
            <a:spLocks noGrp="1" noRot="1" noChangeAspect="1" noChangeArrowheads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sp>
      <p:sp>
        <p:nvSpPr>
          <p:cNvPr id="3077" name="Rectangle 5"/>
          <p:cNvSpPr>
            <a:spLocks noGrp="1" noRot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noProof="0"/>
              <a:t>单击此处编辑母版文本样式</a:t>
            </a:r>
            <a:endParaRPr lang="zh-CN" altLang="en-US" noProof="0"/>
          </a:p>
          <a:p>
            <a:pPr lvl="1"/>
            <a:r>
              <a:rPr lang="zh-CN" altLang="en-US" noProof="0"/>
              <a:t>第二级</a:t>
            </a:r>
            <a:endParaRPr lang="zh-CN" altLang="en-US" noProof="0"/>
          </a:p>
          <a:p>
            <a:pPr lvl="2"/>
            <a:r>
              <a:rPr lang="zh-CN" altLang="en-US" noProof="0"/>
              <a:t>第三级</a:t>
            </a:r>
            <a:endParaRPr lang="zh-CN" altLang="en-US" noProof="0"/>
          </a:p>
          <a:p>
            <a:pPr lvl="3"/>
            <a:r>
              <a:rPr lang="zh-CN" altLang="en-US" noProof="0"/>
              <a:t>第四级</a:t>
            </a:r>
            <a:endParaRPr lang="zh-CN" altLang="en-US" noProof="0"/>
          </a:p>
          <a:p>
            <a:pPr lvl="4"/>
            <a:r>
              <a:rPr lang="zh-CN" altLang="en-US" noProof="0"/>
              <a:t>第五级</a:t>
            </a:r>
            <a:endParaRPr lang="zh-CN" altLang="en-US" noProof="0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l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buFont typeface="Arial" panose="020B0604020202020204" pitchFamily="34" charset="0"/>
              <a:buNone/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</a:lstStyle>
          <a:p>
            <a:fld id="{BDF0E7B4-35D8-4FC8-9DEB-729E684DA59B}" type="slidenum">
              <a:rPr lang="zh-CN" altLang="en-US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9" name="Freeform 8"/>
          <p:cNvSpPr/>
          <p:nvPr/>
        </p:nvSpPr>
        <p:spPr bwMode="auto">
          <a:xfrm>
            <a:off x="-31719" y="4321158"/>
            <a:ext cx="1395473" cy="781781"/>
          </a:xfrm>
          <a:custGeom>
            <a:avLst/>
            <a:gdLst/>
            <a:ahLst/>
            <a:cxnLst/>
            <a:rect l="l" t="t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23334" y="4529541"/>
            <a:ext cx="584978" cy="365125"/>
          </a:xfrm>
        </p:spPr>
        <p:txBody>
          <a:bodyPr/>
          <a:lstStyle/>
          <a:p>
            <a:fld id="{6275A463-4338-407B-ADA1-97B42D57BE70}" type="slidenum">
              <a:rPr lang="ko-KR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>
            <a:lvl1pPr algn="ctr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1942415" y="2133600"/>
            <a:ext cx="6591985" cy="3777622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  <a:lvl2pPr>
              <a:lnSpc>
                <a:spcPct val="150000"/>
              </a:lnSpc>
              <a:defRPr sz="2400"/>
            </a:lvl2pPr>
            <a:lvl3pPr>
              <a:lnSpc>
                <a:spcPct val="150000"/>
              </a:lnSpc>
              <a:defRPr sz="2400"/>
            </a:lvl3pPr>
            <a:lvl4pPr>
              <a:lnSpc>
                <a:spcPct val="150000"/>
              </a:lnSpc>
              <a:defRPr sz="2400"/>
            </a:lvl4pPr>
            <a:lvl5pPr>
              <a:lnSpc>
                <a:spcPct val="150000"/>
              </a:lnSpc>
              <a:defRPr sz="24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55DFD1-3DF5-4EDE-A5FB-D8FD9B6E9118}" type="slidenum">
              <a:rPr lang="ko-KR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42415" y="3581400"/>
            <a:ext cx="659198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44F91BF-6EC9-4233-B489-993D2F7C60F4}" type="datetime1">
              <a:rPr lang="zh-CN" altLang="en-US" smtClean="0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F7E839DC-2C88-4099-83B4-B3CFAB122EA3}" type="slidenum">
              <a:rPr lang="ko-KR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BA011E8F-1C85-46F9-B92E-52921BB11783}" type="datetime1">
              <a:rPr lang="zh-CN" altLang="en-US" smtClean="0"/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4D16D938-CC8E-4D10-86AB-0B88CE29814A}" type="slidenum">
              <a:rPr lang="ko-KR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999793D5-9595-466F-83EA-0C1BE40A1E7F}" type="datetime1">
              <a:rPr lang="zh-CN" altLang="en-US" smtClean="0"/>
            </a:fld>
            <a:endParaRPr lang="en-US" altLang="zh-C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787783"/>
            <a:ext cx="584978" cy="365125"/>
          </a:xfrm>
        </p:spPr>
        <p:txBody>
          <a:bodyPr/>
          <a:lstStyle/>
          <a:p>
            <a:fld id="{998CBF0D-9F84-4C1B-8E5C-68255AB11240}" type="slidenum">
              <a:rPr lang="ko-KR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6FBE4441-89D3-4B02-BD83-02C6BBC6A71F}" type="datetime1">
              <a:rPr lang="zh-CN" altLang="en-US" smtClean="0"/>
            </a:fld>
            <a:endParaRPr lang="en-US" altLang="zh-C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F56DD-FB48-404A-9650-C689F896F5BC}" type="slidenum">
              <a:rPr lang="ko-KR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EF0921A-533A-4FC2-97C6-1B188ED88B16}" type="datetime1">
              <a:rPr lang="zh-CN" altLang="en-US" smtClean="0"/>
            </a:fld>
            <a:endParaRPr lang="en-US" alt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DF6A2-F6AD-4F94-88F7-6A02A8B22B69}" type="slidenum">
              <a:rPr lang="ko-KR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A4F749BA-3B9C-4CCA-A859-712941AFF502}" type="datetime1">
              <a:rPr lang="zh-CN" altLang="en-US" smtClean="0"/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473435-6241-43D2-A1B5-E577C32B54C7}" type="slidenum">
              <a:rPr lang="ko-KR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49C9D645-4DE2-4300-BF5A-0AC196A37E11}" type="datetime1">
              <a:rPr lang="zh-CN" altLang="en-US" smtClean="0"/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91051C11-625B-4FA1-B90D-D146401B547E}" type="slidenum">
              <a:rPr lang="ko-KR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690B2B4-A6A6-45B4-8199-FCEF957919A4}" type="datetime1">
              <a:rPr lang="zh-CN" altLang="en-US" smtClean="0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3623628-7B9F-40CB-BE84-5B837FA0D26A}" type="slidenum">
              <a:rPr lang="ko-KR" altLang="en-US" smtClean="0"/>
            </a:fld>
            <a:endParaRPr lang="en-US" altLang="zh-CN"/>
          </a:p>
        </p:txBody>
      </p:sp>
    </p:spTree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690B2B4-A6A6-45B4-8199-FCEF957919A4}" type="datetime1">
              <a:rPr lang="zh-CN" altLang="en-US" smtClean="0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9" name="Freeform 11"/>
          <p:cNvSpPr/>
          <p:nvPr/>
        </p:nvSpPr>
        <p:spPr bwMode="auto">
          <a:xfrm flipV="1">
            <a:off x="58" y="3166527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11228" y="3244140"/>
            <a:ext cx="584978" cy="365125"/>
          </a:xfrm>
        </p:spPr>
        <p:txBody>
          <a:bodyPr/>
          <a:lstStyle/>
          <a:p>
            <a:fld id="{73623628-7B9F-40CB-BE84-5B837FA0D26A}" type="slidenum">
              <a:rPr lang="ko-KR" altLang="en-US" smtClean="0"/>
            </a:fld>
            <a:endParaRPr lang="en-US" altLang="zh-CN"/>
          </a:p>
        </p:txBody>
      </p:sp>
      <p:sp>
        <p:nvSpPr>
          <p:cNvPr id="14" name="TextBox 13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690B2B4-A6A6-45B4-8199-FCEF957919A4}" type="datetime1">
              <a:rPr lang="zh-CN" altLang="en-US" smtClean="0"/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3623628-7B9F-40CB-BE84-5B837FA0D26A}" type="slidenum">
              <a:rPr lang="ko-KR" altLang="en-US" smtClean="0"/>
            </a:fld>
            <a:endParaRPr lang="en-US" altLang="zh-CN"/>
          </a:p>
        </p:txBody>
      </p:sp>
    </p:spTree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942415" y="5181600"/>
            <a:ext cx="6688292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690B2B4-A6A6-45B4-8199-FCEF957919A4}" type="datetime1">
              <a:rPr lang="zh-CN" altLang="en-US" smtClean="0"/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2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3623628-7B9F-40CB-BE84-5B837FA0D26A}" type="slidenum">
              <a:rPr lang="ko-KR" altLang="en-US" smtClean="0"/>
            </a:fld>
            <a:endParaRPr lang="en-US" altLang="zh-CN"/>
          </a:p>
        </p:txBody>
      </p:sp>
      <p:sp>
        <p:nvSpPr>
          <p:cNvPr id="11" name="TextBox 10"/>
          <p:cNvSpPr txBox="1"/>
          <p:nvPr/>
        </p:nvSpPr>
        <p:spPr>
          <a:xfrm>
            <a:off x="1808316" y="64800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“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169533" y="290530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 panose="020B0604020202020204"/>
              </a:rPr>
              <a:t>”</a:t>
            </a:r>
            <a:endParaRPr lang="en-US" sz="8000" baseline="0" dirty="0">
              <a:ln w="3175" cmpd="sng">
                <a:noFill/>
              </a:ln>
              <a:solidFill>
                <a:schemeClr val="accent1"/>
              </a:solidFill>
              <a:effectLst/>
              <a:latin typeface="Arial" panose="020B0604020202020204"/>
            </a:endParaRPr>
          </a:p>
        </p:txBody>
      </p:sp>
    </p:spTree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 hasCustomPrompt="1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1942415" y="5181600"/>
            <a:ext cx="6591985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690B2B4-A6A6-45B4-8199-FCEF957919A4}" type="datetime1">
              <a:rPr lang="zh-CN" altLang="en-US" smtClean="0"/>
            </a:fld>
            <a:endParaRPr lang="en-US" alt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4910660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11228" y="4983088"/>
            <a:ext cx="584978" cy="365125"/>
          </a:xfrm>
        </p:spPr>
        <p:txBody>
          <a:bodyPr/>
          <a:lstStyle/>
          <a:p>
            <a:fld id="{73623628-7B9F-40CB-BE84-5B837FA0D26A}" type="slidenum">
              <a:rPr lang="ko-KR" altLang="en-US" smtClean="0"/>
            </a:fld>
            <a:endParaRPr lang="en-US" altLang="zh-CN"/>
          </a:p>
        </p:txBody>
      </p:sp>
    </p:spTree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 anchor="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2F35ABF3-80EC-48E7-B72B-FD3FDF092B35}" type="datetime1">
              <a:rPr lang="zh-CN" altLang="en-US" smtClean="0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DF0471-C1D1-4E0B-B7F2-4B48A4CC7F2D}" type="slidenum">
              <a:rPr lang="ko-KR" altLang="en-US" smtClean="0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 hasCustomPrompt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fld id="{1690B2B4-A6A6-45B4-8199-FCEF957919A4}" type="datetime1">
              <a:rPr lang="zh-CN" altLang="en-US" smtClean="0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58" y="711194"/>
            <a:ext cx="1358356" cy="508005"/>
          </a:xfrm>
          <a:custGeom>
            <a:avLst/>
            <a:gdLst/>
            <a:ahLst/>
            <a:cxnLst/>
            <a:rect l="l" t="t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623628-7B9F-40CB-BE84-5B837FA0D26A}" type="slidenum">
              <a:rPr lang="ko-KR" altLang="en-US" smtClean="0"/>
            </a:fld>
            <a:endParaRPr lang="en-US" altLang="zh-CN"/>
          </a:p>
        </p:txBody>
      </p:sp>
    </p:spTree>
  </p:cSld>
  <p:clrMapOvr>
    <a:masterClrMapping/>
  </p:clrMapOvr>
  <p:hf hdr="0" ftr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/>
          <p:cNvGrpSpPr/>
          <p:nvPr/>
        </p:nvGrpSpPr>
        <p:grpSpPr>
          <a:xfrm>
            <a:off x="1" y="228600"/>
            <a:ext cx="1981200" cy="6638628"/>
            <a:chOff x="2487613" y="285750"/>
            <a:chExt cx="2428875" cy="5654676"/>
          </a:xfrm>
        </p:grpSpPr>
        <p:sp>
          <p:nvSpPr>
            <p:cNvPr id="37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8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9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0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1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2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3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4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5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6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7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48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49" name="Group 48"/>
          <p:cNvGrpSpPr/>
          <p:nvPr/>
        </p:nvGrpSpPr>
        <p:grpSpPr>
          <a:xfrm>
            <a:off x="20421" y="749"/>
            <a:ext cx="1952272" cy="6852504"/>
            <a:chOff x="6627813" y="196102"/>
            <a:chExt cx="1952625" cy="5677649"/>
          </a:xfrm>
        </p:grpSpPr>
        <p:sp>
          <p:nvSpPr>
            <p:cNvPr id="50" name="Freeform 27"/>
            <p:cNvSpPr/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1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2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3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4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5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6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7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8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59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0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61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62" name="Rectangle 61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2133600"/>
            <a:ext cx="6591985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2400" y="6135089"/>
            <a:ext cx="766380" cy="3701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690B2B4-A6A6-45B4-8199-FCEF957919A4}" type="datetime1">
              <a:rPr lang="zh-CN" altLang="en-US" smtClean="0"/>
            </a:fld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2415" y="6135809"/>
            <a:ext cx="57164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11228" y="787783"/>
            <a:ext cx="58497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73623628-7B9F-40CB-BE84-5B837FA0D26A}" type="slidenum">
              <a:rPr lang="ko-KR" altLang="en-US" smtClean="0"/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utoUpdateAnimBg="0" build="p"/>
    </p:bldLst>
  </p:timing>
  <p:hf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panose="05040102010807070707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emf"/><Relationship Id="rId1" Type="http://schemas.openxmlformats.org/officeDocument/2006/relationships/oleObject" Target="../embeddings/oleObject1.bin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.emf"/><Relationship Id="rId1" Type="http://schemas.openxmlformats.org/officeDocument/2006/relationships/oleObject" Target="../embeddings/oleObject2.bin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emf"/><Relationship Id="rId1" Type="http://schemas.openxmlformats.org/officeDocument/2006/relationships/oleObject" Target="../embeddings/oleObject3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ctrTitle"/>
          </p:nvPr>
        </p:nvSpPr>
        <p:spPr>
          <a:xfrm>
            <a:off x="1942415" y="1340768"/>
            <a:ext cx="6600451" cy="2262781"/>
          </a:xfrm>
        </p:spPr>
        <p:txBody>
          <a:bodyPr/>
          <a:lstStyle/>
          <a:p>
            <a:r>
              <a:rPr lang="zh-CN" altLang="en-US" dirty="0"/>
              <a:t>计算机组成原理</a:t>
            </a:r>
            <a:br>
              <a:rPr lang="en-US" altLang="zh-CN" dirty="0"/>
            </a:br>
            <a:r>
              <a:rPr lang="zh-CN" altLang="en-US" dirty="0"/>
              <a:t>课程设计</a:t>
            </a:r>
            <a:endParaRPr lang="zh-CN" altLang="en-US" dirty="0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>
          <a:xfrm>
            <a:off x="1547664" y="3585820"/>
            <a:ext cx="6600451" cy="1126283"/>
          </a:xfrm>
        </p:spPr>
        <p:txBody>
          <a:bodyPr/>
          <a:lstStyle/>
          <a:p>
            <a:pPr algn="ctr"/>
            <a:endParaRPr lang="en-US" altLang="zh-CN" sz="2400" dirty="0"/>
          </a:p>
          <a:p>
            <a:pPr algn="ctr"/>
            <a:r>
              <a:rPr lang="zh-CN" altLang="en-US" sz="2400" dirty="0" smtClean="0"/>
              <a:t>实验四 </a:t>
            </a:r>
            <a:r>
              <a:rPr lang="zh-CN" altLang="en-US" sz="2400" dirty="0"/>
              <a:t>寄存器堆设计</a:t>
            </a:r>
            <a:endParaRPr lang="zh-CN" altLang="en-US" sz="24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DDF6A2-F6AD-4F94-88F7-6A02A8B22B69}" type="slidenum">
              <a:rPr lang="ko-KR" altLang="en-US" smtClean="0"/>
            </a:fld>
            <a:endParaRPr lang="en-US" altLang="zh-C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7EA26FA-0BFB-4EC0-B378-998132EA9404}" type="slidenum">
              <a:rPr lang="ko-KR" altLang="en-US" sz="1400">
                <a:latin typeface="Verdana" panose="020B0604030504040204" pitchFamily="34" charset="0"/>
                <a:ea typeface="Gulim" panose="020B0600000101010101" pitchFamily="34" charset="-127"/>
              </a:rPr>
            </a:fld>
            <a:endParaRPr lang="en-US" altLang="zh-CN" sz="1400"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614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95400" y="333375"/>
            <a:ext cx="7848600" cy="609600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实验四 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寄存器堆设计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717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1700808"/>
            <a:ext cx="7848600" cy="4823817"/>
          </a:xfrm>
        </p:spPr>
        <p:txBody>
          <a:bodyPr>
            <a:normAutofit/>
          </a:bodyPr>
          <a:lstStyle/>
          <a:p>
            <a:pPr marL="533400" indent="-533400" eaLnBrk="1" hangingPunct="1">
              <a:lnSpc>
                <a:spcPct val="150000"/>
              </a:lnSpc>
            </a:pPr>
            <a:r>
              <a:rPr lang="zh-CN" altLang="en-US" sz="2400" dirty="0"/>
              <a:t>1、实验目的 </a:t>
            </a:r>
            <a:endParaRPr lang="zh-CN" altLang="en-US" sz="2400" dirty="0"/>
          </a:p>
          <a:p>
            <a:pPr marL="914400" lvl="1" indent="-457200" eaLnBrk="1" hangingPunct="1">
              <a:lnSpc>
                <a:spcPct val="150000"/>
              </a:lnSpc>
            </a:pPr>
            <a:r>
              <a:rPr lang="zh-CN" altLang="en-US" sz="2400" dirty="0"/>
              <a:t>学习使用Verilog HDL语言进行</a:t>
            </a:r>
            <a:r>
              <a:rPr lang="zh-CN" altLang="en-US" sz="2400" dirty="0">
                <a:solidFill>
                  <a:srgbClr val="FF0000"/>
                </a:solidFill>
              </a:rPr>
              <a:t>时序电路</a:t>
            </a:r>
            <a:r>
              <a:rPr lang="zh-CN" altLang="en-US" sz="2400" dirty="0"/>
              <a:t>的设计方法；</a:t>
            </a:r>
            <a:endParaRPr lang="zh-CN" altLang="en-US" sz="2400" dirty="0"/>
          </a:p>
          <a:p>
            <a:pPr marL="914400" lvl="1" indent="-457200" eaLnBrk="1" hangingPunct="1">
              <a:lnSpc>
                <a:spcPct val="150000"/>
              </a:lnSpc>
            </a:pPr>
            <a:r>
              <a:rPr lang="zh-CN" altLang="en-US" sz="2400" dirty="0"/>
              <a:t>掌握灵活运用Verilog HDL语言进行</a:t>
            </a:r>
            <a:r>
              <a:rPr lang="zh-CN" altLang="en-US" sz="2400" dirty="0">
                <a:solidFill>
                  <a:srgbClr val="FF0000"/>
                </a:solidFill>
              </a:rPr>
              <a:t>各种描述与建模的技巧和方法</a:t>
            </a:r>
            <a:r>
              <a:rPr lang="zh-CN" altLang="en-US" sz="2400" dirty="0"/>
              <a:t>；</a:t>
            </a:r>
            <a:endParaRPr lang="zh-CN" altLang="en-US" sz="2400" dirty="0"/>
          </a:p>
          <a:p>
            <a:pPr marL="914400" lvl="1" indent="-457200" eaLnBrk="1" hangingPunct="1">
              <a:lnSpc>
                <a:spcPct val="150000"/>
              </a:lnSpc>
            </a:pPr>
            <a:r>
              <a:rPr lang="zh-CN" altLang="en-US" sz="2400" dirty="0"/>
              <a:t>学习</a:t>
            </a:r>
            <a:r>
              <a:rPr lang="zh-CN" altLang="en-US" sz="2400" dirty="0">
                <a:solidFill>
                  <a:srgbClr val="FF0000"/>
                </a:solidFill>
              </a:rPr>
              <a:t>寄存器堆的数据传送与读写工作原理</a:t>
            </a:r>
            <a:r>
              <a:rPr lang="zh-CN" altLang="en-US" sz="2400" dirty="0"/>
              <a:t>，掌握寄存器堆的设计方法。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CF108E5F-434B-4580-9EDC-E2E75BB1E333}" type="slidenum">
              <a:rPr lang="ko-KR" altLang="en-US" sz="1400">
                <a:latin typeface="Verdana" panose="020B0604030504040204" pitchFamily="34" charset="0"/>
                <a:ea typeface="Gulim" panose="020B0600000101010101" pitchFamily="34" charset="-127"/>
              </a:rPr>
            </a:fld>
            <a:endParaRPr lang="en-US" altLang="zh-CN" sz="1400"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7172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95400" y="333375"/>
            <a:ext cx="78486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实验</a:t>
            </a: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四 寄存器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堆设计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19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55576" y="1341438"/>
            <a:ext cx="8207375" cy="1663880"/>
          </a:xfrm>
        </p:spPr>
        <p:txBody>
          <a:bodyPr>
            <a:normAutofit fontScale="92500"/>
          </a:bodyPr>
          <a:lstStyle/>
          <a:p>
            <a:pPr marL="533400" indent="-533400" eaLnBrk="1" hangingPunct="1">
              <a:lnSpc>
                <a:spcPct val="150000"/>
              </a:lnSpc>
              <a:spcBef>
                <a:spcPct val="10000"/>
              </a:spcBef>
            </a:pPr>
            <a:r>
              <a:rPr lang="zh-CN" altLang="en-US" sz="2400" dirty="0"/>
              <a:t>2、实验内容与原理 </a:t>
            </a:r>
            <a:endParaRPr lang="zh-CN" altLang="en-US" sz="2400" dirty="0"/>
          </a:p>
          <a:p>
            <a:pPr marL="914400" lvl="1" indent="-457200" eaLnBrk="1" hangingPunct="1">
              <a:lnSpc>
                <a:spcPct val="150000"/>
              </a:lnSpc>
              <a:spcBef>
                <a:spcPct val="10000"/>
              </a:spcBef>
            </a:pPr>
            <a:r>
              <a:rPr lang="zh-CN" altLang="en-US" sz="2400" dirty="0"/>
              <a:t>设计一个</a:t>
            </a:r>
            <a:r>
              <a:rPr lang="zh-CN" altLang="en-US" sz="2400" dirty="0">
                <a:solidFill>
                  <a:srgbClr val="FF0000"/>
                </a:solidFill>
              </a:rPr>
              <a:t>32×32位</a:t>
            </a:r>
            <a:r>
              <a:rPr lang="zh-CN" altLang="en-US" sz="2400" dirty="0"/>
              <a:t>的寄存器堆（即含有32个寄存器，每个寄存器32位）</a:t>
            </a:r>
            <a:endParaRPr lang="zh-CN" altLang="en-US" sz="2400" dirty="0"/>
          </a:p>
        </p:txBody>
      </p:sp>
      <p:graphicFrame>
        <p:nvGraphicFramePr>
          <p:cNvPr id="7175" name="Object 5"/>
          <p:cNvGraphicFramePr>
            <a:graphicFrameLocks noChangeAspect="1"/>
          </p:cNvGraphicFramePr>
          <p:nvPr/>
        </p:nvGraphicFramePr>
        <p:xfrm>
          <a:off x="1634441" y="2795385"/>
          <a:ext cx="6048375" cy="3087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231" name="Visio" r:id="rId1" imgW="4258310" imgH="1398270" progId="Visio.Drawing.11">
                  <p:embed/>
                </p:oleObj>
              </mc:Choice>
              <mc:Fallback>
                <p:oleObj name="Visio" r:id="rId1" imgW="4258310" imgH="139827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4590" r="14751"/>
                      <a:stretch>
                        <a:fillRect/>
                      </a:stretch>
                    </p:blipFill>
                    <p:spPr bwMode="auto">
                      <a:xfrm>
                        <a:off x="1634441" y="2795385"/>
                        <a:ext cx="6048375" cy="3087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201" name="Rectangle 6"/>
          <p:cNvSpPr>
            <a:spLocks noChangeArrowheads="1"/>
          </p:cNvSpPr>
          <p:nvPr/>
        </p:nvSpPr>
        <p:spPr bwMode="auto">
          <a:xfrm>
            <a:off x="6300788" y="2060575"/>
            <a:ext cx="2519362" cy="432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6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7178" name="Rectangle 3"/>
          <p:cNvSpPr>
            <a:spLocks noChangeArrowheads="1"/>
          </p:cNvSpPr>
          <p:nvPr/>
        </p:nvSpPr>
        <p:spPr bwMode="auto">
          <a:xfrm>
            <a:off x="1640161" y="5913055"/>
            <a:ext cx="6892279" cy="9052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533400" indent="-533400"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914400" indent="-4572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marL="0" indent="0" eaLnBrk="1" hangingPunct="1">
              <a:spcBef>
                <a:spcPct val="10000"/>
              </a:spcBef>
              <a:buNone/>
            </a:pPr>
            <a:r>
              <a:rPr lang="zh-CN" altLang="en-US" sz="2400" b="0" dirty="0">
                <a:latin typeface="+mn-ea"/>
                <a:ea typeface="+mn-ea"/>
                <a:sym typeface="宋体" panose="02010600030101010101" pitchFamily="2" charset="-122"/>
              </a:rPr>
              <a:t>双端口读：</a:t>
            </a:r>
            <a:r>
              <a:rPr lang="en-US" altLang="zh-CN" sz="2400" b="0" dirty="0">
                <a:latin typeface="+mn-ea"/>
                <a:ea typeface="+mn-ea"/>
                <a:sym typeface="宋体" panose="02010600030101010101" pitchFamily="2" charset="-122"/>
              </a:rPr>
              <a:t>2</a:t>
            </a:r>
            <a:r>
              <a:rPr lang="zh-CN" altLang="en-US" sz="2400" b="0" dirty="0">
                <a:latin typeface="+mn-ea"/>
                <a:ea typeface="+mn-ea"/>
                <a:sym typeface="宋体" panose="02010600030101010101" pitchFamily="2" charset="-122"/>
              </a:rPr>
              <a:t>个读端口  单端口写：</a:t>
            </a:r>
            <a:r>
              <a:rPr lang="en-US" altLang="zh-CN" sz="2400" b="0" dirty="0">
                <a:latin typeface="+mn-ea"/>
                <a:ea typeface="+mn-ea"/>
                <a:sym typeface="宋体" panose="02010600030101010101" pitchFamily="2" charset="-122"/>
              </a:rPr>
              <a:t>1</a:t>
            </a:r>
            <a:r>
              <a:rPr lang="zh-CN" altLang="en-US" sz="2400" b="0" dirty="0">
                <a:latin typeface="+mn-ea"/>
                <a:ea typeface="+mn-ea"/>
                <a:sym typeface="宋体" panose="02010600030101010101" pitchFamily="2" charset="-122"/>
              </a:rPr>
              <a:t>个写端口</a:t>
            </a:r>
            <a:endParaRPr lang="zh-CN" altLang="en-US" sz="2400" b="0" dirty="0">
              <a:latin typeface="+mn-ea"/>
              <a:ea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AB458CA-B45A-4F44-8CD7-2EDBCADFFCE2}" type="slidenum">
              <a:rPr lang="ko-KR" altLang="en-US" sz="1400">
                <a:latin typeface="Verdana" panose="020B0604030504040204" pitchFamily="34" charset="0"/>
                <a:ea typeface="Gulim" panose="020B0600000101010101" pitchFamily="34" charset="-127"/>
              </a:rPr>
            </a:fld>
            <a:endParaRPr lang="en-US" altLang="zh-CN" sz="1400"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4096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95400" y="333375"/>
            <a:ext cx="78486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实验</a:t>
            </a: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四 寄存器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堆设计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829121" y="1341438"/>
            <a:ext cx="8207375" cy="2663626"/>
          </a:xfrm>
        </p:spPr>
        <p:txBody>
          <a:bodyPr>
            <a:normAutofit/>
          </a:bodyPr>
          <a:lstStyle/>
          <a:p>
            <a:pPr marL="533400" indent="-533400" eaLnBrk="1" hangingPunct="1">
              <a:spcBef>
                <a:spcPct val="10000"/>
              </a:spcBef>
            </a:pPr>
            <a:r>
              <a:rPr lang="zh-CN" altLang="en-US" sz="2400" dirty="0">
                <a:solidFill>
                  <a:srgbClr val="FF0000"/>
                </a:solidFill>
                <a:sym typeface="宋体" panose="02010600030101010101" pitchFamily="2" charset="-122"/>
              </a:rPr>
              <a:t>读访问操作：无需时钟同步，</a:t>
            </a:r>
            <a:r>
              <a:rPr lang="zh-CN" altLang="en-US" sz="2400" dirty="0">
                <a:solidFill>
                  <a:schemeClr val="tx2"/>
                </a:solidFill>
                <a:sym typeface="宋体" panose="02010600030101010101" pitchFamily="2" charset="-122"/>
              </a:rPr>
              <a:t>只要给出寄存器地址，即可读出寄存器中的数据。</a:t>
            </a:r>
            <a:endParaRPr lang="zh-CN" altLang="en-US" sz="2400" dirty="0">
              <a:solidFill>
                <a:schemeClr val="tx2"/>
              </a:solidFill>
              <a:sym typeface="宋体" panose="02010600030101010101" pitchFamily="2" charset="-122"/>
            </a:endParaRPr>
          </a:p>
          <a:p>
            <a:pPr marL="533400" indent="-533400" eaLnBrk="1" hangingPunct="1">
              <a:lnSpc>
                <a:spcPct val="150000"/>
              </a:lnSpc>
              <a:spcBef>
                <a:spcPct val="10000"/>
              </a:spcBef>
            </a:pPr>
            <a:r>
              <a:rPr lang="zh-CN" altLang="en-US" sz="2400" dirty="0">
                <a:solidFill>
                  <a:srgbClr val="FF0000"/>
                </a:solidFill>
                <a:sym typeface="宋体" panose="02010600030101010101" pitchFamily="2" charset="-122"/>
              </a:rPr>
              <a:t>写访问操作：需要时钟同步，</a:t>
            </a:r>
            <a:r>
              <a:rPr lang="zh-CN" altLang="en-US" sz="2400" dirty="0">
                <a:solidFill>
                  <a:schemeClr val="tx2"/>
                </a:solidFill>
                <a:sym typeface="宋体" panose="02010600030101010101" pitchFamily="2" charset="-122"/>
              </a:rPr>
              <a:t>所有写入操作的输入信号必须在时钟边沿来临时，已经有效（</a:t>
            </a:r>
            <a:r>
              <a:rPr lang="en-US" altLang="zh-CN" sz="2400" dirty="0" err="1">
                <a:solidFill>
                  <a:srgbClr val="FF0000"/>
                </a:solidFill>
                <a:sym typeface="宋体" panose="02010600030101010101" pitchFamily="2" charset="-122"/>
              </a:rPr>
              <a:t>Write_Reg</a:t>
            </a:r>
            <a:r>
              <a:rPr lang="en-US" altLang="zh-CN" sz="2400" dirty="0">
                <a:solidFill>
                  <a:srgbClr val="FF0000"/>
                </a:solidFill>
                <a:sym typeface="宋体" panose="02010600030101010101" pitchFamily="2" charset="-122"/>
              </a:rPr>
              <a:t>=1</a:t>
            </a:r>
            <a:r>
              <a:rPr lang="zh-CN" altLang="en-US" sz="2400" dirty="0">
                <a:solidFill>
                  <a:srgbClr val="FF0000"/>
                </a:solidFill>
                <a:sym typeface="宋体" panose="02010600030101010101" pitchFamily="2" charset="-122"/>
              </a:rPr>
              <a:t>、地址和数据</a:t>
            </a:r>
            <a:r>
              <a:rPr lang="zh-CN" altLang="en-US" sz="2400" dirty="0">
                <a:solidFill>
                  <a:schemeClr val="tx2"/>
                </a:solidFill>
                <a:sym typeface="宋体" panose="02010600030101010101" pitchFamily="2" charset="-122"/>
              </a:rPr>
              <a:t>） 。</a:t>
            </a:r>
            <a:endParaRPr lang="zh-CN" altLang="en-US" sz="2400" dirty="0">
              <a:solidFill>
                <a:schemeClr val="tx2"/>
              </a:solidFill>
              <a:sym typeface="宋体" panose="02010600030101010101" pitchFamily="2" charset="-122"/>
            </a:endParaRPr>
          </a:p>
        </p:txBody>
      </p:sp>
      <p:graphicFrame>
        <p:nvGraphicFramePr>
          <p:cNvPr id="40967" name="Object 5"/>
          <p:cNvGraphicFramePr>
            <a:graphicFrameLocks noChangeAspect="1"/>
          </p:cNvGraphicFramePr>
          <p:nvPr/>
        </p:nvGraphicFramePr>
        <p:xfrm>
          <a:off x="2483768" y="3629997"/>
          <a:ext cx="6048375" cy="3087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253" name="Visio" r:id="rId1" imgW="4258310" imgH="1398270" progId="Visio.Drawing.11">
                  <p:embed/>
                </p:oleObj>
              </mc:Choice>
              <mc:Fallback>
                <p:oleObj name="Visio" r:id="rId1" imgW="4258310" imgH="1398270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14590" r="14751"/>
                      <a:stretch>
                        <a:fillRect/>
                      </a:stretch>
                    </p:blipFill>
                    <p:spPr bwMode="auto">
                      <a:xfrm>
                        <a:off x="2483768" y="3629997"/>
                        <a:ext cx="6048375" cy="3087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4" name="Rectangle 6"/>
          <p:cNvSpPr>
            <a:spLocks noChangeArrowheads="1"/>
          </p:cNvSpPr>
          <p:nvPr/>
        </p:nvSpPr>
        <p:spPr bwMode="auto">
          <a:xfrm>
            <a:off x="6300788" y="2060575"/>
            <a:ext cx="2519362" cy="432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endParaRPr lang="zh-CN" altLang="en-US" sz="160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4832DA86-94FB-44FF-AE10-55C8CE1C9B08}" type="slidenum">
              <a:rPr lang="ko-KR" altLang="en-US" sz="1400">
                <a:latin typeface="Verdana" panose="020B0604030504040204" pitchFamily="34" charset="0"/>
                <a:ea typeface="Gulim" panose="020B0600000101010101" pitchFamily="34" charset="-127"/>
              </a:rPr>
            </a:fld>
            <a:endParaRPr lang="en-US" altLang="zh-CN" sz="1400"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8196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95400" y="333375"/>
            <a:ext cx="78486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实验</a:t>
            </a: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四 寄存器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堆设计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8198" name="Text Box 4"/>
          <p:cNvSpPr txBox="1">
            <a:spLocks noChangeArrowheads="1"/>
          </p:cNvSpPr>
          <p:nvPr/>
        </p:nvSpPr>
        <p:spPr bwMode="auto">
          <a:xfrm>
            <a:off x="3131343" y="1224756"/>
            <a:ext cx="30257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b="0" dirty="0">
                <a:latin typeface="+mn-ea"/>
                <a:ea typeface="+mn-ea"/>
                <a:sym typeface="宋体" panose="02010600030101010101" pitchFamily="2" charset="-122"/>
              </a:rPr>
              <a:t>寄存器堆功能表</a:t>
            </a:r>
            <a:endParaRPr lang="zh-CN" altLang="en-US" sz="2400" b="0" dirty="0">
              <a:solidFill>
                <a:schemeClr val="bg1"/>
              </a:solidFill>
              <a:latin typeface="+mn-ea"/>
              <a:ea typeface="+mn-ea"/>
              <a:sym typeface="宋体" panose="02010600030101010101" pitchFamily="2" charset="-122"/>
            </a:endParaRPr>
          </a:p>
        </p:txBody>
      </p:sp>
      <p:graphicFrame>
        <p:nvGraphicFramePr>
          <p:cNvPr id="8252" name="Group 60"/>
          <p:cNvGraphicFramePr>
            <a:graphicFrameLocks noGrp="1"/>
          </p:cNvGraphicFramePr>
          <p:nvPr/>
        </p:nvGraphicFramePr>
        <p:xfrm>
          <a:off x="511228" y="1963737"/>
          <a:ext cx="8351837" cy="3849688"/>
        </p:xfrm>
        <a:graphic>
          <a:graphicData uri="http://schemas.openxmlformats.org/drawingml/2006/table">
            <a:tbl>
              <a:tblPr/>
              <a:tblGrid>
                <a:gridCol w="1054100"/>
                <a:gridCol w="1033462"/>
                <a:gridCol w="1077913"/>
                <a:gridCol w="1039812"/>
                <a:gridCol w="1042988"/>
                <a:gridCol w="1050925"/>
                <a:gridCol w="1055687"/>
                <a:gridCol w="996950"/>
              </a:tblGrid>
              <a:tr h="420688">
                <a:tc gridSpan="5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输入信号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hMerge="1">
                  <a:tcPr/>
                </a:tc>
                <a:tc grid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输出信号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hMerge="1">
                  <a:tcPr/>
                </a:tc>
                <a:tc rowSpan="2"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操作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</a:tr>
              <a:tr h="874713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R_Addr_A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R_Addr_B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Write_Reg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W_Addr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W_Data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R_Data_A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R_Data_B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 vMerge="1">
                  <a:tcPr/>
                </a:tc>
              </a:tr>
              <a:tr h="746125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寄存器号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—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—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—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—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口数据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—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读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A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口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</a:tr>
              <a:tr h="742950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—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寄存器号</a:t>
                      </a:r>
                      <a:endParaRPr kumimoji="0" lang="zh-CN" altLang="en-US" sz="2000" b="1" i="0" u="none" strike="noStrike" cap="none" normalizeH="0" baseline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—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—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—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—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B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口数据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读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B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口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</a:tr>
              <a:tr h="1065212"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—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—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1</a:t>
                      </a:r>
                      <a:endParaRPr kumimoji="0" lang="en-US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寄存器号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写入数据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—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—</a:t>
                      </a:r>
                      <a:endParaRPr kumimoji="0" lang="en-US" altLang="zh-CN" sz="20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Font typeface="Wingdings" panose="05000000000000000000" pitchFamily="2" charset="2"/>
                        <a:defRPr sz="2400" b="1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1pPr>
                      <a:lvl2pPr marL="742950" indent="-28575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2pPr>
                      <a:lvl3pPr marL="11430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sz="2000"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3pPr>
                      <a:lvl4pPr marL="16002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4pPr>
                      <a:lvl5pPr marL="2057400" indent="-228600" algn="l" eaLnBrk="0" hangingPunct="0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Pct val="60000"/>
                        <a:buFont typeface="Wingdings" panose="05000000000000000000" pitchFamily="2" charset="2"/>
                        <a:defRPr b="1">
                          <a:solidFill>
                            <a:schemeClr val="tx2"/>
                          </a:solidFill>
                          <a:latin typeface="Arial" panose="020B0604020202020204" pitchFamily="34" charset="0"/>
                          <a:ea typeface="华文中宋" panose="02010600040101010101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1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sym typeface="宋体" panose="02010600030101010101" pitchFamily="2" charset="-122"/>
                        </a:rPr>
                        <a:t>写操作</a:t>
                      </a:r>
                      <a:endParaRPr kumimoji="0" lang="zh-CN" altLang="en-US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sym typeface="宋体" panose="02010600030101010101" pitchFamily="2" charset="-122"/>
                      </a:endParaRPr>
                    </a:p>
                  </a:txBody>
                  <a:tcPr marL="90000" marR="90000" marT="46800" marB="46800" anchor="ctr" anchorCtr="1" horzOverflow="overflow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14F3A18E-F897-4635-969F-7A400D10D921}" type="slidenum">
              <a:rPr lang="ko-KR" altLang="en-US" sz="1400">
                <a:latin typeface="Verdana" panose="020B0604030504040204" pitchFamily="34" charset="0"/>
                <a:ea typeface="Gulim" panose="020B0600000101010101" pitchFamily="34" charset="-127"/>
              </a:rPr>
            </a:fld>
            <a:endParaRPr lang="en-US" altLang="zh-CN" sz="1400"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922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95400" y="333375"/>
            <a:ext cx="78486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实验</a:t>
            </a: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四 寄存器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堆设计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graphicFrame>
        <p:nvGraphicFramePr>
          <p:cNvPr id="9222" name="Object 4"/>
          <p:cNvGraphicFramePr>
            <a:graphicFrameLocks noChangeAspect="1"/>
          </p:cNvGraphicFramePr>
          <p:nvPr/>
        </p:nvGraphicFramePr>
        <p:xfrm>
          <a:off x="686569" y="1773238"/>
          <a:ext cx="7989887" cy="472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14" name="Visio" r:id="rId1" imgW="5360670" imgH="3764915" progId="Visio.Drawing.11">
                  <p:embed/>
                </p:oleObj>
              </mc:Choice>
              <mc:Fallback>
                <p:oleObj name="Visio" r:id="rId1" imgW="5360670" imgH="3764915" progId="Visio.Drawing.11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6569" y="1773238"/>
                        <a:ext cx="7989887" cy="472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3" name="Text Box 5"/>
          <p:cNvSpPr txBox="1">
            <a:spLocks noChangeArrowheads="1"/>
          </p:cNvSpPr>
          <p:nvPr/>
        </p:nvSpPr>
        <p:spPr bwMode="auto">
          <a:xfrm>
            <a:off x="3203575" y="1054893"/>
            <a:ext cx="309661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r>
              <a:rPr lang="zh-CN" altLang="en-US" sz="2400" b="0" dirty="0">
                <a:latin typeface="+mn-ea"/>
                <a:ea typeface="+mn-ea"/>
                <a:sym typeface="宋体" panose="02010600030101010101" pitchFamily="2" charset="-122"/>
              </a:rPr>
              <a:t>寄存器堆逻辑结构图</a:t>
            </a:r>
            <a:endParaRPr lang="zh-CN" altLang="en-US" sz="2400" b="0" dirty="0">
              <a:latin typeface="+mn-ea"/>
              <a:ea typeface="+mn-ea"/>
              <a:sym typeface="宋体" panose="02010600030101010101" pitchFamily="2" charset="-122"/>
            </a:endParaRPr>
          </a:p>
        </p:txBody>
      </p:sp>
      <p:sp>
        <p:nvSpPr>
          <p:cNvPr id="11273" name="箭头 229"/>
          <p:cNvSpPr>
            <a:spLocks noChangeShapeType="1"/>
          </p:cNvSpPr>
          <p:nvPr/>
        </p:nvSpPr>
        <p:spPr bwMode="auto">
          <a:xfrm>
            <a:off x="1403623" y="4499088"/>
            <a:ext cx="15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cxnSp>
        <p:nvCxnSpPr>
          <p:cNvPr id="11274" name="AutoShape 7"/>
          <p:cNvCxnSpPr>
            <a:cxnSpLocks noChangeShapeType="1"/>
          </p:cNvCxnSpPr>
          <p:nvPr/>
        </p:nvCxnSpPr>
        <p:spPr bwMode="auto">
          <a:xfrm rot="10800000" flipH="1" flipV="1">
            <a:off x="469082" y="4135438"/>
            <a:ext cx="4402138" cy="2360612"/>
          </a:xfrm>
          <a:prstGeom prst="bentConnector4">
            <a:avLst>
              <a:gd name="adj1" fmla="val -5407"/>
              <a:gd name="adj2" fmla="val 110083"/>
            </a:avLst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9226" name="Line 8"/>
          <p:cNvSpPr>
            <a:spLocks noChangeShapeType="1"/>
          </p:cNvSpPr>
          <p:nvPr/>
        </p:nvSpPr>
        <p:spPr bwMode="auto">
          <a:xfrm flipV="1">
            <a:off x="1405210" y="4570525"/>
            <a:ext cx="179863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7" name="Line 9"/>
          <p:cNvSpPr>
            <a:spLocks noChangeShapeType="1"/>
          </p:cNvSpPr>
          <p:nvPr/>
        </p:nvSpPr>
        <p:spPr bwMode="auto">
          <a:xfrm flipV="1">
            <a:off x="3203848" y="2265475"/>
            <a:ext cx="1587" cy="223361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8" name="Line 10"/>
          <p:cNvSpPr>
            <a:spLocks noChangeShapeType="1"/>
          </p:cNvSpPr>
          <p:nvPr/>
        </p:nvSpPr>
        <p:spPr bwMode="auto">
          <a:xfrm>
            <a:off x="2845073" y="4138725"/>
            <a:ext cx="647700" cy="1588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9" name="Line 11"/>
          <p:cNvSpPr>
            <a:spLocks noChangeShapeType="1"/>
          </p:cNvSpPr>
          <p:nvPr/>
        </p:nvSpPr>
        <p:spPr bwMode="auto">
          <a:xfrm>
            <a:off x="2845073" y="3706925"/>
            <a:ext cx="64770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0" name="Line 12"/>
          <p:cNvSpPr>
            <a:spLocks noChangeShapeType="1"/>
          </p:cNvSpPr>
          <p:nvPr/>
        </p:nvSpPr>
        <p:spPr bwMode="auto">
          <a:xfrm>
            <a:off x="2845073" y="2841738"/>
            <a:ext cx="647700" cy="15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1" name="Line 13"/>
          <p:cNvSpPr>
            <a:spLocks noChangeShapeType="1"/>
          </p:cNvSpPr>
          <p:nvPr/>
        </p:nvSpPr>
        <p:spPr bwMode="auto">
          <a:xfrm>
            <a:off x="2845073" y="2409938"/>
            <a:ext cx="647700" cy="1587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2" name="Line 14"/>
          <p:cNvSpPr>
            <a:spLocks noChangeShapeType="1"/>
          </p:cNvSpPr>
          <p:nvPr/>
        </p:nvSpPr>
        <p:spPr bwMode="auto">
          <a:xfrm>
            <a:off x="1403623" y="3275125"/>
            <a:ext cx="57626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3" name="Line 15"/>
          <p:cNvSpPr>
            <a:spLocks noChangeShapeType="1"/>
          </p:cNvSpPr>
          <p:nvPr/>
        </p:nvSpPr>
        <p:spPr bwMode="auto">
          <a:xfrm>
            <a:off x="3205435" y="3562463"/>
            <a:ext cx="360363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4" name="Line 16"/>
          <p:cNvSpPr>
            <a:spLocks noChangeShapeType="1"/>
          </p:cNvSpPr>
          <p:nvPr/>
        </p:nvSpPr>
        <p:spPr bwMode="auto">
          <a:xfrm>
            <a:off x="3203848" y="2265475"/>
            <a:ext cx="288925" cy="1588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5" name="Line 17"/>
          <p:cNvSpPr>
            <a:spLocks noChangeShapeType="1"/>
          </p:cNvSpPr>
          <p:nvPr/>
        </p:nvSpPr>
        <p:spPr bwMode="auto">
          <a:xfrm>
            <a:off x="3205435" y="2698863"/>
            <a:ext cx="287338" cy="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36" name="Line 18"/>
          <p:cNvSpPr>
            <a:spLocks noChangeShapeType="1"/>
          </p:cNvSpPr>
          <p:nvPr/>
        </p:nvSpPr>
        <p:spPr bwMode="auto">
          <a:xfrm>
            <a:off x="3205435" y="3994263"/>
            <a:ext cx="287338" cy="1587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9222"/>
                                        </p:tgtEl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9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9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8" dur="2000"/>
                                        <p:tgtEl>
                                          <p:spTgt spid="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9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2000"/>
                                        <p:tgtEl>
                                          <p:spTgt spid="9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0" dur="2000"/>
                                        <p:tgtEl>
                                          <p:spTgt spid="9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3" dur="2000"/>
                                        <p:tgtEl>
                                          <p:spTgt spid="9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6" dur="2000"/>
                                        <p:tgtEl>
                                          <p:spTgt spid="9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2000"/>
                                        <p:tgtEl>
                                          <p:spTgt spid="9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2000"/>
                                        <p:tgtEl>
                                          <p:spTgt spid="9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9FE071A-6630-45EA-8DF7-426060610597}" type="slidenum">
              <a:rPr lang="ko-KR" altLang="en-US" sz="1400">
                <a:latin typeface="Verdana" panose="020B0604030504040204" pitchFamily="34" charset="0"/>
                <a:ea typeface="Gulim" panose="020B0600000101010101" pitchFamily="34" charset="-127"/>
              </a:rPr>
            </a:fld>
            <a:endParaRPr lang="en-US" altLang="zh-CN" sz="1400"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1024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95400" y="333375"/>
            <a:ext cx="78486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实验</a:t>
            </a: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四 寄存器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堆设计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1341438"/>
            <a:ext cx="8229600" cy="5081587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2400" dirty="0"/>
              <a:t>2. </a:t>
            </a:r>
            <a:r>
              <a:rPr lang="zh-CN" altLang="en-US" sz="2400" dirty="0"/>
              <a:t>实验内容与原理</a:t>
            </a:r>
            <a:endParaRPr lang="zh-CN" altLang="en-US" sz="2400" dirty="0"/>
          </a:p>
          <a:p>
            <a:pPr lvl="1" eaLnBrk="1" hangingPunct="1"/>
            <a:r>
              <a:rPr lang="zh-CN" altLang="en-US" sz="2400" dirty="0"/>
              <a:t> 实验实现：</a:t>
            </a:r>
            <a:endParaRPr lang="zh-CN" altLang="en-US" sz="2400" dirty="0"/>
          </a:p>
          <a:p>
            <a:pPr lvl="2" eaLnBrk="1" hangingPunct="1"/>
            <a:r>
              <a:rPr lang="zh-CN" altLang="en-US" sz="2400" dirty="0"/>
              <a:t>寄存器堆：</a:t>
            </a:r>
            <a:r>
              <a:rPr lang="en-US" altLang="zh-CN" sz="2400" dirty="0"/>
              <a:t>reg</a:t>
            </a:r>
            <a:r>
              <a:rPr lang="zh-CN" altLang="en-US" sz="2400" dirty="0"/>
              <a:t>类型信号的</a:t>
            </a:r>
            <a:r>
              <a:rPr lang="zh-CN" altLang="en-US" sz="2400" dirty="0">
                <a:solidFill>
                  <a:srgbClr val="FF0000"/>
                </a:solidFill>
              </a:rPr>
              <a:t>数组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lvl="3" eaLnBrk="1" hangingPunct="1">
              <a:buFont typeface="Wingdings" panose="05000000000000000000" pitchFamily="2" charset="2"/>
              <a:buNone/>
            </a:pPr>
            <a:r>
              <a:rPr lang="en-US" altLang="zh-CN" sz="2400" dirty="0">
                <a:solidFill>
                  <a:schemeClr val="tx1"/>
                </a:solidFill>
              </a:rPr>
              <a:t>reg [31:0] </a:t>
            </a:r>
            <a:r>
              <a:rPr lang="en-US" altLang="zh-CN" sz="2400" dirty="0" err="1">
                <a:solidFill>
                  <a:schemeClr val="tx1"/>
                </a:solidFill>
              </a:rPr>
              <a:t>REG_Files</a:t>
            </a:r>
            <a:r>
              <a:rPr lang="en-US" altLang="zh-CN" sz="2400" dirty="0">
                <a:solidFill>
                  <a:schemeClr val="tx1"/>
                </a:solidFill>
              </a:rPr>
              <a:t>[0:31];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lvl="2" eaLnBrk="1" hangingPunct="1"/>
            <a:r>
              <a:rPr lang="zh-CN" altLang="en-US" sz="2400" dirty="0">
                <a:solidFill>
                  <a:schemeClr val="tx1"/>
                </a:solidFill>
              </a:rPr>
              <a:t>读操作：</a:t>
            </a:r>
            <a:r>
              <a:rPr lang="zh-CN" altLang="en-US" sz="2400" dirty="0">
                <a:solidFill>
                  <a:srgbClr val="FF0000"/>
                </a:solidFill>
              </a:rPr>
              <a:t>组合逻辑电路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lvl="3">
              <a:buFont typeface="Wingdings" panose="05000000000000000000" pitchFamily="2" charset="2"/>
              <a:buNone/>
            </a:pPr>
            <a:r>
              <a:rPr lang="pt-BR" altLang="zh-CN" sz="2400" dirty="0">
                <a:solidFill>
                  <a:schemeClr val="tx1"/>
                </a:solidFill>
              </a:rPr>
              <a:t>assign R_Data_A = REG_Files[R_Addr_A];</a:t>
            </a:r>
            <a:endParaRPr lang="pt-BR" altLang="zh-CN" sz="2400" dirty="0">
              <a:solidFill>
                <a:schemeClr val="tx1"/>
              </a:solidFill>
            </a:endParaRPr>
          </a:p>
          <a:p>
            <a:pPr lvl="3">
              <a:buFont typeface="Wingdings" panose="05000000000000000000" pitchFamily="2" charset="2"/>
              <a:buNone/>
            </a:pPr>
            <a:r>
              <a:rPr lang="pt-BR" altLang="zh-CN" sz="2400" dirty="0">
                <a:solidFill>
                  <a:schemeClr val="tx1"/>
                </a:solidFill>
              </a:rPr>
              <a:t>assign R_Data_B = REG_Files[R_Addr_B];</a:t>
            </a:r>
            <a:endParaRPr lang="zh-CN" altLang="en-US" sz="2400" dirty="0">
              <a:solidFill>
                <a:schemeClr val="tx1"/>
              </a:solidFill>
            </a:endParaRPr>
          </a:p>
          <a:p>
            <a:pPr lvl="2" eaLnBrk="1" hangingPunct="1"/>
            <a:r>
              <a:rPr lang="zh-CN" altLang="en-US" sz="2400" dirty="0"/>
              <a:t>写操作：</a:t>
            </a:r>
            <a:r>
              <a:rPr lang="zh-CN" altLang="en-US" sz="2400" dirty="0">
                <a:solidFill>
                  <a:srgbClr val="FF0000"/>
                </a:solidFill>
              </a:rPr>
              <a:t>时序逻辑电路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lvl="3" eaLnBrk="1" hangingPunct="1"/>
            <a:r>
              <a:rPr lang="zh-CN" altLang="en-US" sz="2400" dirty="0"/>
              <a:t>需要</a:t>
            </a:r>
            <a:r>
              <a:rPr lang="en-US" altLang="zh-CN" sz="2400" dirty="0">
                <a:solidFill>
                  <a:srgbClr val="FF0000"/>
                </a:solidFill>
              </a:rPr>
              <a:t>Reset</a:t>
            </a:r>
            <a:r>
              <a:rPr lang="zh-CN" altLang="en-US" sz="2400" dirty="0"/>
              <a:t>信号：用于初始化寄存器（全部清零）</a:t>
            </a:r>
            <a:endParaRPr lang="zh-CN" altLang="en-US" sz="2400" dirty="0"/>
          </a:p>
          <a:p>
            <a:pPr lvl="3" eaLnBrk="1" hangingPunct="1"/>
            <a:r>
              <a:rPr lang="zh-CN" altLang="en-US" sz="2400" dirty="0"/>
              <a:t>需要</a:t>
            </a:r>
            <a:r>
              <a:rPr lang="en-US" altLang="zh-CN" sz="2400" dirty="0" err="1">
                <a:solidFill>
                  <a:srgbClr val="FF0000"/>
                </a:solidFill>
              </a:rPr>
              <a:t>clk</a:t>
            </a:r>
            <a:r>
              <a:rPr lang="zh-CN" altLang="en-US" sz="2400" dirty="0"/>
              <a:t>信号：用于写入寄存器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B2FF4306-31D1-4780-A4B7-F6E5F868641B}" type="slidenum">
              <a:rPr lang="ko-KR" altLang="en-US" sz="1400">
                <a:latin typeface="Verdana" panose="020B0604030504040204" pitchFamily="34" charset="0"/>
                <a:ea typeface="Gulim" panose="020B0600000101010101" pitchFamily="34" charset="-127"/>
              </a:rPr>
            </a:fld>
            <a:endParaRPr lang="en-US" altLang="zh-CN" sz="1400"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4198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95400" y="333375"/>
            <a:ext cx="78486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实验</a:t>
            </a: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四 寄存器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堆设计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331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1341438"/>
            <a:ext cx="8229600" cy="4895850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zh-CN" altLang="en-US" sz="2400" dirty="0"/>
              <a:t>	</a:t>
            </a:r>
            <a:r>
              <a:rPr lang="en-US" altLang="zh-CN" sz="2400" dirty="0"/>
              <a:t>always @(</a:t>
            </a:r>
            <a:r>
              <a:rPr lang="en-US" altLang="zh-CN" sz="2400" dirty="0" err="1">
                <a:solidFill>
                  <a:srgbClr val="FF0000"/>
                </a:solidFill>
              </a:rPr>
              <a:t>posedge</a:t>
            </a:r>
            <a:r>
              <a:rPr lang="en-US" altLang="zh-CN" sz="2400" dirty="0">
                <a:solidFill>
                  <a:srgbClr val="FF0000"/>
                </a:solidFill>
              </a:rPr>
              <a:t> </a:t>
            </a:r>
            <a:r>
              <a:rPr lang="en-US" altLang="zh-CN" sz="2400" dirty="0" err="1">
                <a:solidFill>
                  <a:srgbClr val="FF0000"/>
                </a:solidFill>
              </a:rPr>
              <a:t>Clk</a:t>
            </a:r>
            <a:r>
              <a:rPr lang="en-US" altLang="zh-CN" sz="2400" dirty="0">
                <a:solidFill>
                  <a:srgbClr val="FF0000"/>
                </a:solidFill>
              </a:rPr>
              <a:t> or </a:t>
            </a:r>
            <a:r>
              <a:rPr lang="en-US" altLang="zh-CN" sz="2400" dirty="0" err="1">
                <a:solidFill>
                  <a:srgbClr val="FF0000"/>
                </a:solidFill>
              </a:rPr>
              <a:t>posedge</a:t>
            </a:r>
            <a:r>
              <a:rPr lang="en-US" altLang="zh-CN" sz="2400" dirty="0">
                <a:solidFill>
                  <a:srgbClr val="FF0000"/>
                </a:solidFill>
              </a:rPr>
              <a:t> Reset</a:t>
            </a:r>
            <a:r>
              <a:rPr lang="en-US" altLang="zh-CN" sz="2400" dirty="0"/>
              <a:t>)</a:t>
            </a:r>
            <a:endParaRPr lang="en-US" altLang="zh-CN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begin</a:t>
            </a:r>
            <a:endParaRPr lang="en-US" altLang="zh-CN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	if(</a:t>
            </a:r>
            <a:r>
              <a:rPr lang="en-US" altLang="zh-CN" sz="2400" dirty="0">
                <a:solidFill>
                  <a:srgbClr val="FF0000"/>
                </a:solidFill>
              </a:rPr>
              <a:t>Reset</a:t>
            </a:r>
            <a:r>
              <a:rPr lang="en-US" altLang="zh-CN" sz="2400" dirty="0"/>
              <a:t>) //</a:t>
            </a:r>
            <a:r>
              <a:rPr lang="zh-CN" altLang="en-US" sz="2400" dirty="0">
                <a:solidFill>
                  <a:srgbClr val="FF0000"/>
                </a:solidFill>
              </a:rPr>
              <a:t>高电平</a:t>
            </a:r>
            <a:r>
              <a:rPr lang="zh-CN" altLang="en-US" sz="2400" dirty="0"/>
              <a:t>有效，</a:t>
            </a:r>
            <a:r>
              <a:rPr lang="en-US" altLang="zh-CN" sz="2400" dirty="0"/>
              <a:t>=1</a:t>
            </a:r>
            <a:r>
              <a:rPr lang="zh-CN" altLang="en-US" sz="2400" dirty="0"/>
              <a:t>则初始化</a:t>
            </a:r>
            <a:endParaRPr lang="zh-CN" altLang="en-US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		……//</a:t>
            </a:r>
            <a:r>
              <a:rPr lang="zh-CN" altLang="en-US" sz="2400" dirty="0"/>
              <a:t>初始化</a:t>
            </a:r>
            <a:r>
              <a:rPr lang="en-US" altLang="zh-CN" sz="2400" dirty="0"/>
              <a:t>32</a:t>
            </a:r>
            <a:r>
              <a:rPr lang="zh-CN" altLang="en-US" sz="2400" dirty="0"/>
              <a:t>个寄存器</a:t>
            </a:r>
            <a:endParaRPr lang="zh-CN" altLang="en-US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	else</a:t>
            </a:r>
            <a:endParaRPr lang="en-US" altLang="zh-CN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		begin</a:t>
            </a:r>
            <a:endParaRPr lang="en-US" altLang="zh-CN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			if (</a:t>
            </a:r>
            <a:r>
              <a:rPr lang="en-US" altLang="zh-CN" sz="2400" dirty="0" err="1"/>
              <a:t>Write_Reg</a:t>
            </a:r>
            <a:r>
              <a:rPr lang="en-US" altLang="zh-CN" sz="2400" dirty="0"/>
              <a:t>) </a:t>
            </a:r>
            <a:endParaRPr lang="en-US" altLang="zh-CN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				 ……//</a:t>
            </a:r>
            <a:r>
              <a:rPr lang="zh-CN" altLang="en-US" sz="2400" dirty="0"/>
              <a:t>写入寄存器</a:t>
            </a:r>
            <a:r>
              <a:rPr lang="en-US" altLang="zh-CN" sz="2400" dirty="0"/>
              <a:t>;</a:t>
            </a:r>
            <a:endParaRPr lang="en-US" altLang="zh-CN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		end</a:t>
            </a:r>
            <a:endParaRPr lang="en-US" altLang="zh-CN" sz="2400" dirty="0"/>
          </a:p>
          <a:p>
            <a:pPr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zh-CN" sz="2400" dirty="0"/>
              <a:t>	end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26561D42-EB75-4EB9-8ACA-AAE3ECF18A63}" type="slidenum">
              <a:rPr lang="ko-KR" altLang="en-US" sz="1400">
                <a:latin typeface="Verdana" panose="020B0604030504040204" pitchFamily="34" charset="0"/>
                <a:ea typeface="Gulim" panose="020B0600000101010101" pitchFamily="34" charset="-127"/>
              </a:rPr>
            </a:fld>
            <a:endParaRPr lang="en-US" altLang="zh-CN" sz="1400"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1126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95400" y="333375"/>
            <a:ext cx="78486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实验</a:t>
            </a: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四 寄存器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堆设计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434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1341438"/>
            <a:ext cx="8229600" cy="5111750"/>
          </a:xfrm>
        </p:spPr>
        <p:txBody>
          <a:bodyPr>
            <a:noAutofit/>
          </a:bodyPr>
          <a:lstStyle/>
          <a:p>
            <a:pPr marL="533400" indent="-533400" eaLnBrk="1" hangingPunct="1">
              <a:lnSpc>
                <a:spcPct val="150000"/>
              </a:lnSpc>
            </a:pPr>
            <a:r>
              <a:rPr lang="zh-CN" altLang="en-US" sz="2400" dirty="0"/>
              <a:t>3、实验要求 </a:t>
            </a:r>
            <a:endParaRPr lang="zh-CN" altLang="en-US" sz="2400" dirty="0"/>
          </a:p>
          <a:p>
            <a:pPr marL="914400" lvl="1" indent="-457200" eaLnBrk="1" hangingPunct="1">
              <a:lnSpc>
                <a:spcPct val="150000"/>
              </a:lnSpc>
            </a:pPr>
            <a:r>
              <a:rPr lang="zh-CN" altLang="en-US" sz="2400" dirty="0"/>
              <a:t>编程实现基本的</a:t>
            </a:r>
            <a:r>
              <a:rPr lang="en-US" altLang="zh-CN" sz="2400" dirty="0"/>
              <a:t>RISC-V</a:t>
            </a:r>
            <a:r>
              <a:rPr lang="zh-CN" altLang="en-US" sz="2400" dirty="0"/>
              <a:t>寄存器堆模块，并通过</a:t>
            </a:r>
            <a:r>
              <a:rPr lang="zh-CN" altLang="en-US" sz="2400" dirty="0">
                <a:solidFill>
                  <a:srgbClr val="FF0000"/>
                </a:solidFill>
              </a:rPr>
              <a:t>仿真</a:t>
            </a:r>
            <a:r>
              <a:rPr lang="zh-CN" altLang="en-US" sz="2400" dirty="0"/>
              <a:t>验证</a:t>
            </a:r>
            <a:r>
              <a:rPr lang="zh-CN" altLang="en-US" sz="2400" dirty="0" smtClean="0"/>
              <a:t>；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673F80FC-AD42-4904-9E44-F0DDA7071C78}" type="slidenum">
              <a:rPr lang="ko-KR" altLang="en-US" sz="1400">
                <a:latin typeface="Verdana" panose="020B0604030504040204" pitchFamily="34" charset="0"/>
                <a:ea typeface="Gulim" panose="020B0600000101010101" pitchFamily="34" charset="-127"/>
              </a:rPr>
            </a:fld>
            <a:endParaRPr lang="en-US" altLang="zh-CN" sz="1400"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14340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95400" y="333375"/>
            <a:ext cx="78486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实验</a:t>
            </a: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四 寄存器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堆设计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7414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1341438"/>
            <a:ext cx="7848600" cy="5111750"/>
          </a:xfrm>
        </p:spPr>
        <p:txBody>
          <a:bodyPr>
            <a:noAutofit/>
          </a:bodyPr>
          <a:lstStyle/>
          <a:p>
            <a:pPr marL="533400" indent="-533400" eaLnBrk="1" hangingPunct="1">
              <a:lnSpc>
                <a:spcPct val="150000"/>
              </a:lnSpc>
            </a:pPr>
            <a:r>
              <a:rPr lang="zh-CN" altLang="en-US" sz="2400" dirty="0"/>
              <a:t>4、实验步骤 </a:t>
            </a:r>
            <a:endParaRPr lang="zh-CN" altLang="en-US" sz="2400" dirty="0"/>
          </a:p>
          <a:p>
            <a:pPr marL="914400" lvl="1" indent="-457200" eaLnBrk="1" hangingPunct="1">
              <a:lnSpc>
                <a:spcPct val="150000"/>
              </a:lnSpc>
            </a:pPr>
            <a:r>
              <a:rPr lang="zh-CN" altLang="en-US" sz="2400" dirty="0"/>
              <a:t>在Xilinx </a:t>
            </a:r>
            <a:r>
              <a:rPr lang="en-US" altLang="zh-CN" sz="2400" dirty="0" err="1"/>
              <a:t>Vivado</a:t>
            </a:r>
            <a:r>
              <a:rPr lang="zh-CN" altLang="en-US" sz="2400" dirty="0"/>
              <a:t>中创建工程，</a:t>
            </a:r>
            <a:r>
              <a:rPr lang="zh-CN" altLang="en-US" sz="2400" dirty="0">
                <a:solidFill>
                  <a:srgbClr val="FF0000"/>
                </a:solidFill>
              </a:rPr>
              <a:t>编码</a:t>
            </a:r>
            <a:r>
              <a:rPr lang="zh-CN" altLang="en-US" sz="2400" dirty="0"/>
              <a:t>，然后</a:t>
            </a:r>
            <a:r>
              <a:rPr lang="zh-CN" altLang="en-US" sz="2400" dirty="0">
                <a:solidFill>
                  <a:srgbClr val="FF0000"/>
                </a:solidFill>
              </a:rPr>
              <a:t>编译</a:t>
            </a:r>
            <a:r>
              <a:rPr lang="zh-CN" altLang="en-US" sz="2400" dirty="0"/>
              <a:t>、</a:t>
            </a:r>
            <a:r>
              <a:rPr lang="zh-CN" altLang="en-US" sz="2400" dirty="0">
                <a:solidFill>
                  <a:srgbClr val="FF0000"/>
                </a:solidFill>
              </a:rPr>
              <a:t>综合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marL="914400" lvl="1" indent="-457200" eaLnBrk="1" hangingPunct="1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</a:rPr>
              <a:t>编写激励代码</a:t>
            </a:r>
            <a:r>
              <a:rPr lang="zh-CN" altLang="en-US" sz="2400" dirty="0"/>
              <a:t>，观察</a:t>
            </a:r>
            <a:r>
              <a:rPr lang="zh-CN" altLang="en-US" sz="2400" dirty="0">
                <a:solidFill>
                  <a:srgbClr val="FF0000"/>
                </a:solidFill>
              </a:rPr>
              <a:t>仿真</a:t>
            </a:r>
            <a:r>
              <a:rPr lang="zh-CN" altLang="en-US" sz="2400" dirty="0"/>
              <a:t>波形，直至验证正确</a:t>
            </a:r>
            <a:endParaRPr lang="zh-CN" altLang="en-US" sz="2400" dirty="0"/>
          </a:p>
          <a:p>
            <a:pPr marL="457200" lvl="1" indent="0">
              <a:lnSpc>
                <a:spcPct val="150000"/>
              </a:lnSpc>
              <a:buNone/>
            </a:pPr>
            <a:endParaRPr lang="en-US" altLang="zh-CN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14AE6155-6791-40B0-A925-7651B0ED5C0F}" type="slidenum">
              <a:rPr lang="ko-KR" altLang="en-US" sz="1400">
                <a:latin typeface="Verdana" panose="020B0604030504040204" pitchFamily="34" charset="0"/>
                <a:ea typeface="Gulim" panose="020B0600000101010101" pitchFamily="34" charset="-127"/>
              </a:rPr>
            </a:fld>
            <a:endParaRPr lang="en-US" altLang="zh-CN" sz="1400"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1536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95400" y="333375"/>
            <a:ext cx="78486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实验</a:t>
            </a: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四 寄存器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堆设计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914400" y="1341438"/>
            <a:ext cx="7848600" cy="5039890"/>
          </a:xfrm>
        </p:spPr>
        <p:txBody>
          <a:bodyPr>
            <a:normAutofit/>
          </a:bodyPr>
          <a:lstStyle/>
          <a:p>
            <a:pPr marL="533400" indent="-533400" eaLnBrk="1" hangingPunct="1">
              <a:lnSpc>
                <a:spcPct val="150000"/>
              </a:lnSpc>
            </a:pPr>
            <a:r>
              <a:rPr lang="zh-CN" altLang="en-US" sz="2400" dirty="0"/>
              <a:t>5、思考与探索：</a:t>
            </a:r>
            <a:r>
              <a:rPr lang="zh-CN" altLang="en-US" sz="2400" dirty="0">
                <a:solidFill>
                  <a:srgbClr val="FF0000"/>
                </a:solidFill>
              </a:rPr>
              <a:t>必做</a:t>
            </a:r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sym typeface="Wingdings" panose="05000000000000000000" pitchFamily="2" charset="2"/>
              </a:rPr>
              <a:t>1</a:t>
            </a:r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）和（</a:t>
            </a:r>
            <a:r>
              <a:rPr lang="en-US" altLang="zh-CN" sz="2400" dirty="0">
                <a:solidFill>
                  <a:srgbClr val="FF0000"/>
                </a:solidFill>
                <a:sym typeface="Wingdings" panose="05000000000000000000" pitchFamily="2" charset="2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sym typeface="Wingdings" panose="05000000000000000000" pitchFamily="2" charset="2"/>
              </a:rPr>
              <a:t>）</a:t>
            </a:r>
            <a:endParaRPr lang="zh-CN" altLang="en-US" sz="2400" dirty="0">
              <a:solidFill>
                <a:srgbClr val="FF0000"/>
              </a:solidFill>
            </a:endParaRPr>
          </a:p>
          <a:p>
            <a:pPr marL="914400" lvl="1" indent="-457200" eaLnBrk="1" hangingPunct="1">
              <a:lnSpc>
                <a:spcPct val="150000"/>
              </a:lnSpc>
              <a:spcBef>
                <a:spcPct val="35000"/>
              </a:spcBef>
            </a:pPr>
            <a:r>
              <a:rPr lang="zh-CN" altLang="en-US" sz="2400" dirty="0">
                <a:solidFill>
                  <a:srgbClr val="FF0000"/>
                </a:solidFill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</a:rPr>
              <a:t>1</a:t>
            </a:r>
            <a:r>
              <a:rPr lang="zh-CN" altLang="en-US" sz="2400" dirty="0">
                <a:solidFill>
                  <a:srgbClr val="FF0000"/>
                </a:solidFill>
              </a:rPr>
              <a:t>）</a:t>
            </a:r>
            <a:r>
              <a:rPr lang="zh-CN" altLang="en-US" sz="2400" dirty="0"/>
              <a:t>选择</a:t>
            </a:r>
            <a:r>
              <a:rPr lang="zh-CN" altLang="en-US" sz="2400" dirty="0">
                <a:solidFill>
                  <a:srgbClr val="FF0000"/>
                </a:solidFill>
              </a:rPr>
              <a:t>8个寄存器执行读写操作</a:t>
            </a:r>
            <a:r>
              <a:rPr lang="zh-CN" altLang="en-US" sz="2400" dirty="0"/>
              <a:t>，将实验结果记录到表中，结果是否符合预期；如果不符，分析原因。 </a:t>
            </a:r>
            <a:endParaRPr lang="zh-CN" altLang="en-US" sz="2400" dirty="0"/>
          </a:p>
          <a:p>
            <a:pPr marL="914400" lvl="1" indent="-457200" eaLnBrk="1" hangingPunct="1">
              <a:lnSpc>
                <a:spcPct val="150000"/>
              </a:lnSpc>
              <a:spcBef>
                <a:spcPct val="35000"/>
              </a:spcBef>
            </a:pPr>
            <a:r>
              <a:rPr lang="zh-CN" altLang="en-US" sz="2400" dirty="0"/>
              <a:t>（</a:t>
            </a:r>
            <a:r>
              <a:rPr lang="en-US" altLang="zh-CN" sz="2400" dirty="0"/>
              <a:t>3</a:t>
            </a:r>
            <a:r>
              <a:rPr lang="zh-CN" altLang="en-US" sz="2400" dirty="0"/>
              <a:t>）谈谈实验中读操作和写操作在时序上有何区别？反映到电路实现上，又有何不同？</a:t>
            </a:r>
            <a:endParaRPr lang="zh-CN" altLang="en-US" sz="2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1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tx1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4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60000"/>
              <a:buFont typeface="Wingdings" panose="05000000000000000000" pitchFamily="2" charset="2"/>
              <a:buChar char="n"/>
              <a:defRPr sz="2000" b="1">
                <a:solidFill>
                  <a:schemeClr val="tx2"/>
                </a:solidFill>
                <a:latin typeface="Arial" panose="020B0604020202020204" pitchFamily="34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 typeface="Arial" panose="020B0604020202020204" pitchFamily="34" charset="0"/>
              <a:buNone/>
            </a:pPr>
            <a:fld id="{10F6B0B1-1D1C-45D4-A166-31DC79BA55A5}" type="slidenum">
              <a:rPr lang="ko-KR" altLang="en-US" sz="1400">
                <a:latin typeface="Verdana" panose="020B0604030504040204" pitchFamily="34" charset="0"/>
                <a:ea typeface="Gulim" panose="020B0600000101010101" pitchFamily="34" charset="-127"/>
              </a:rPr>
            </a:fld>
            <a:endParaRPr lang="en-US" altLang="zh-CN" sz="1400">
              <a:latin typeface="Verdana" panose="020B0604030504040204" pitchFamily="34" charset="0"/>
              <a:ea typeface="Gulim" panose="020B0600000101010101" pitchFamily="34" charset="-127"/>
            </a:endParaRPr>
          </a:p>
        </p:txBody>
      </p:sp>
      <p:sp>
        <p:nvSpPr>
          <p:cNvPr id="1638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95400" y="333375"/>
            <a:ext cx="7848600" cy="609600"/>
          </a:xfrm>
        </p:spPr>
        <p:txBody>
          <a:bodyPr>
            <a:normAutofit fontScale="90000"/>
          </a:bodyPr>
          <a:lstStyle/>
          <a:p>
            <a:pPr>
              <a:defRPr/>
            </a:pP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实验</a:t>
            </a:r>
            <a:r>
              <a:rPr lang="zh-CN" altLang="en-US" b="1" dirty="0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四 寄存器</a:t>
            </a:r>
            <a:r>
              <a:rPr lang="zh-CN" altLang="en-US" b="1" dirty="0">
                <a:effectLst>
                  <a:outerShdw blurRad="38100" dist="38100" dir="2700000" algn="tl">
                    <a:srgbClr val="C0C0C0"/>
                  </a:outerShdw>
                </a:effectLst>
              </a:rPr>
              <a:t>堆设计</a:t>
            </a:r>
            <a:endParaRPr lang="zh-CN" altLang="en-US" b="1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19462" name="Rectangle 3"/>
          <p:cNvSpPr>
            <a:spLocks noGrp="1" noChangeArrowheads="1"/>
          </p:cNvSpPr>
          <p:nvPr>
            <p:ph type="body" idx="4294967295"/>
          </p:nvPr>
        </p:nvSpPr>
        <p:spPr>
          <a:xfrm>
            <a:off x="770890" y="1341438"/>
            <a:ext cx="8229600" cy="2159000"/>
          </a:xfrm>
        </p:spPr>
        <p:txBody>
          <a:bodyPr>
            <a:normAutofit fontScale="80000"/>
          </a:bodyPr>
          <a:lstStyle/>
          <a:p>
            <a:pPr lvl="1" eaLnBrk="1" hangingPunct="1">
              <a:lnSpc>
                <a:spcPct val="150000"/>
              </a:lnSpc>
            </a:pP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（</a:t>
            </a:r>
            <a:r>
              <a:rPr lang="en-US" altLang="zh-CN" sz="2400" dirty="0">
                <a:solidFill>
                  <a:srgbClr val="FF0000"/>
                </a:solidFill>
                <a:latin typeface="+mn-ea"/>
              </a:rPr>
              <a:t>2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）</a:t>
            </a:r>
            <a:r>
              <a:rPr lang="zh-CN" altLang="en-US" sz="2400" dirty="0">
                <a:latin typeface="+mn-ea"/>
              </a:rPr>
              <a:t>利用</a:t>
            </a:r>
            <a:r>
              <a:rPr lang="zh-CN" altLang="en-US" sz="2400" dirty="0" smtClean="0">
                <a:latin typeface="+mn-ea"/>
              </a:rPr>
              <a:t>实验三ALU</a:t>
            </a:r>
            <a:r>
              <a:rPr lang="zh-CN" altLang="en-US" sz="2400" dirty="0">
                <a:latin typeface="+mn-ea"/>
              </a:rPr>
              <a:t>模块和本实验的寄存器堆模块，编写一个顶层模块，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完成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Ri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</a:rPr>
              <a:t>(op)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Rj 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→ Rk</a:t>
            </a:r>
            <a:r>
              <a:rPr lang="zh-CN" altLang="en-US" sz="2400" dirty="0">
                <a:latin typeface="+mn-ea"/>
              </a:rPr>
              <a:t>的操作（即2个寄存器数据做某种运算，结果送回第3个寄存器中）运算</a:t>
            </a:r>
            <a:r>
              <a:rPr lang="zh-CN" altLang="en-US" sz="2400" dirty="0" smtClean="0">
                <a:latin typeface="+mn-ea"/>
              </a:rPr>
              <a:t>功能</a:t>
            </a:r>
            <a:r>
              <a:rPr lang="en-US" altLang="zh-CN" sz="2400" dirty="0" smtClean="0">
                <a:solidFill>
                  <a:srgbClr val="FF0000"/>
                </a:solidFill>
                <a:latin typeface="+mn-ea"/>
              </a:rPr>
              <a:t>(op)</a:t>
            </a:r>
            <a:r>
              <a:rPr lang="zh-CN" altLang="en-US" sz="2400" dirty="0" smtClean="0">
                <a:solidFill>
                  <a:srgbClr val="FF0000"/>
                </a:solidFill>
                <a:latin typeface="+mn-ea"/>
              </a:rPr>
              <a:t>由</a:t>
            </a:r>
            <a:r>
              <a:rPr lang="zh-CN" altLang="en-US" sz="2400" dirty="0">
                <a:solidFill>
                  <a:srgbClr val="FF0000"/>
                </a:solidFill>
                <a:latin typeface="+mn-ea"/>
              </a:rPr>
              <a:t>ALU模块中的ALU_OP信号指定</a:t>
            </a:r>
            <a:r>
              <a:rPr lang="zh-CN" altLang="en-US" sz="2400" dirty="0">
                <a:latin typeface="+mn-ea"/>
              </a:rPr>
              <a:t>。</a:t>
            </a:r>
            <a:endParaRPr lang="zh-CN" altLang="en-US" sz="2400" dirty="0">
              <a:latin typeface="+mn-ea"/>
            </a:endParaRPr>
          </a:p>
          <a:p>
            <a:pPr marL="457200" lvl="1" indent="0" eaLnBrk="1" hangingPunct="1">
              <a:lnSpc>
                <a:spcPct val="150000"/>
              </a:lnSpc>
              <a:buNone/>
            </a:pPr>
            <a:r>
              <a:rPr lang="en-US" altLang="zh-CN" sz="2400" dirty="0">
                <a:latin typeface="+mn-ea"/>
              </a:rPr>
              <a:t>  </a:t>
            </a:r>
            <a:r>
              <a:rPr lang="zh-CN" altLang="en-US" sz="2400" dirty="0">
                <a:latin typeface="+mn-ea"/>
              </a:rPr>
              <a:t>仿真时，先给寄存器写一些数据，然后读出由</a:t>
            </a:r>
            <a:r>
              <a:rPr lang="en-US" altLang="zh-CN" sz="2400" dirty="0">
                <a:latin typeface="+mn-ea"/>
              </a:rPr>
              <a:t>ALU</a:t>
            </a:r>
            <a:r>
              <a:rPr lang="zh-CN" altLang="en-US" sz="2400" dirty="0">
                <a:latin typeface="+mn-ea"/>
              </a:rPr>
              <a:t>运算观察</a:t>
            </a:r>
            <a:r>
              <a:rPr lang="zh-CN" altLang="en-US" sz="2400" dirty="0">
                <a:latin typeface="+mn-ea"/>
              </a:rPr>
              <a:t>结果。</a:t>
            </a:r>
            <a:endParaRPr lang="zh-CN" altLang="en-US" sz="2400" dirty="0">
              <a:latin typeface="+mn-ea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2051685" y="3573145"/>
            <a:ext cx="5510530" cy="2743200"/>
            <a:chOff x="1316112" y="2780928"/>
            <a:chExt cx="6814460" cy="3455665"/>
          </a:xfrm>
        </p:grpSpPr>
        <p:pic>
          <p:nvPicPr>
            <p:cNvPr id="16391" name="Picture 5" descr="AG3I]T(7P$RIE%PX4ULF0@K"/>
            <p:cNvPicPr>
              <a:picLocks noChangeAspect="1" noChangeArrowheads="1"/>
            </p:cNvPicPr>
            <p:nvPr/>
          </p:nvPicPr>
          <p:blipFill>
            <a:blip r:embed="rId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16112" y="2780928"/>
              <a:ext cx="6814460" cy="345566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" name="文本框 1"/>
            <p:cNvSpPr txBox="1"/>
            <p:nvPr/>
          </p:nvSpPr>
          <p:spPr>
            <a:xfrm>
              <a:off x="5940152" y="5331896"/>
              <a:ext cx="288032" cy="46395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CN" dirty="0"/>
                <a:t>4</a:t>
              </a:r>
              <a:endParaRPr lang="zh-CN" altLang="en-US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commondata" val="eyJoZGlkIjoiZGViOWFiZGI3OGQ5MjQ2MjJiYzIyNjg5OTZiNDk5MGIifQ=="/>
</p:tagLst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丝状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1232</Words>
  <Application>WPS 演示</Application>
  <PresentationFormat>全屏显示(4:3)</PresentationFormat>
  <Paragraphs>186</Paragraphs>
  <Slides>12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9" baseType="lpstr">
      <vt:lpstr>Arial</vt:lpstr>
      <vt:lpstr>宋体</vt:lpstr>
      <vt:lpstr>Wingdings</vt:lpstr>
      <vt:lpstr>Wingdings 3</vt:lpstr>
      <vt:lpstr>Arial</vt:lpstr>
      <vt:lpstr>华文中宋</vt:lpstr>
      <vt:lpstr>Verdana</vt:lpstr>
      <vt:lpstr>Gulim</vt:lpstr>
      <vt:lpstr>幼圆</vt:lpstr>
      <vt:lpstr>Century Gothic</vt:lpstr>
      <vt:lpstr>微软雅黑</vt:lpstr>
      <vt:lpstr>Arial Unicode MS</vt:lpstr>
      <vt:lpstr>Malgun Gothic</vt:lpstr>
      <vt:lpstr>丝状</vt:lpstr>
      <vt:lpstr>Visio.Drawing.11</vt:lpstr>
      <vt:lpstr>Visio.Drawing.11</vt:lpstr>
      <vt:lpstr>Visio.Drawing.11</vt:lpstr>
      <vt:lpstr>计算机组成原理 课程设计</vt:lpstr>
      <vt:lpstr>实验四 寄存器堆设计</vt:lpstr>
      <vt:lpstr>实验四 寄存器堆设计</vt:lpstr>
      <vt:lpstr>实验四 寄存器堆设计</vt:lpstr>
      <vt:lpstr>实验四 寄存器堆设计</vt:lpstr>
      <vt:lpstr>实验四 寄存器堆设计</vt:lpstr>
      <vt:lpstr>实验四 寄存器堆设计</vt:lpstr>
      <vt:lpstr>实验四 寄存器堆设计</vt:lpstr>
      <vt:lpstr>实验四 寄存器堆设计</vt:lpstr>
      <vt:lpstr>实验四 寄存器堆设计</vt:lpstr>
      <vt:lpstr>实验四 寄存器堆设计</vt:lpstr>
      <vt:lpstr>实验四 寄存器堆设计</vt:lpstr>
    </vt:vector>
  </TitlesOfParts>
  <Company>电子科大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《数字电路》实验指导</dc:title>
  <dc:creator>冯建文</dc:creator>
  <dc:subject>第5章</dc:subject>
  <cp:lastModifiedBy>白丁</cp:lastModifiedBy>
  <cp:revision>424</cp:revision>
  <dcterms:created xsi:type="dcterms:W3CDTF">2001-12-07T16:07:00Z</dcterms:created>
  <dcterms:modified xsi:type="dcterms:W3CDTF">2025-05-16T01:54:16Z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27C934960EFC415881F066716615A982_12</vt:lpwstr>
  </property>
</Properties>
</file>