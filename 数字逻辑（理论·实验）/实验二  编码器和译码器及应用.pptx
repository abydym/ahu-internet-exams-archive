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9" r:id="rId1"/>
    <p:sldMasterId id="2147483717" r:id="rId2"/>
  </p:sldMasterIdLst>
  <p:notesMasterIdLst>
    <p:notesMasterId r:id="rId18"/>
  </p:notesMasterIdLst>
  <p:handoutMasterIdLst>
    <p:handoutMasterId r:id="rId19"/>
  </p:handoutMasterIdLst>
  <p:sldIdLst>
    <p:sldId id="364" r:id="rId3"/>
    <p:sldId id="372" r:id="rId4"/>
    <p:sldId id="385" r:id="rId5"/>
    <p:sldId id="701" r:id="rId6"/>
    <p:sldId id="702" r:id="rId7"/>
    <p:sldId id="454" r:id="rId8"/>
    <p:sldId id="703" r:id="rId9"/>
    <p:sldId id="376" r:id="rId10"/>
    <p:sldId id="377" r:id="rId11"/>
    <p:sldId id="381" r:id="rId12"/>
    <p:sldId id="378" r:id="rId13"/>
    <p:sldId id="704" r:id="rId14"/>
    <p:sldId id="369" r:id="rId15"/>
    <p:sldId id="370" r:id="rId16"/>
    <p:sldId id="382" r:id="rId17"/>
  </p:sldIdLst>
  <p:sldSz cx="9144000" cy="6858000" type="screen4x3"/>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 id="{FBFC4A6C-4143-4DFD-B70C-3B469BEC2A77}">
          <p14:sldIdLst>
            <p14:sldId id="364"/>
            <p14:sldId id="372"/>
            <p14:sldId id="385"/>
            <p14:sldId id="701"/>
            <p14:sldId id="702"/>
            <p14:sldId id="454"/>
            <p14:sldId id="703"/>
            <p14:sldId id="376"/>
            <p14:sldId id="377"/>
            <p14:sldId id="381"/>
            <p14:sldId id="378"/>
            <p14:sldId id="704"/>
            <p14:sldId id="369"/>
            <p14:sldId id="370"/>
            <p14:sldId id="382"/>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5516" userDrawn="1">
          <p15:clr>
            <a:srgbClr val="A4A3A4"/>
          </p15:clr>
        </p15:guide>
        <p15:guide id="5" orient="horz" pos="232" userDrawn="1">
          <p15:clr>
            <a:srgbClr val="A4A3A4"/>
          </p15:clr>
        </p15:guide>
        <p15:guide id="6" orient="horz" pos="4088" userDrawn="1">
          <p15:clr>
            <a:srgbClr val="A4A3A4"/>
          </p15:clr>
        </p15:guide>
        <p15:guide id="9" pos="244" userDrawn="1">
          <p15:clr>
            <a:srgbClr val="A4A3A4"/>
          </p15:clr>
        </p15:guide>
        <p15:guide id="19" orient="horz" pos="48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A5A5"/>
    <a:srgbClr val="870000"/>
    <a:srgbClr val="203864"/>
    <a:srgbClr val="404040"/>
    <a:srgbClr val="D9D9D9"/>
    <a:srgbClr val="F0F1F6"/>
    <a:srgbClr val="FFD800"/>
    <a:srgbClr val="2C4684"/>
    <a:srgbClr val="203980"/>
    <a:srgbClr val="5868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23" autoAdjust="0"/>
    <p:restoredTop sz="94660"/>
  </p:normalViewPr>
  <p:slideViewPr>
    <p:cSldViewPr snapToGrid="0">
      <p:cViewPr>
        <p:scale>
          <a:sx n="100" d="100"/>
          <a:sy n="100" d="100"/>
        </p:scale>
        <p:origin x="2334" y="390"/>
      </p:cViewPr>
      <p:guideLst>
        <p:guide orient="horz" pos="2160"/>
        <p:guide pos="2880"/>
        <p:guide pos="5516"/>
        <p:guide orient="horz" pos="232"/>
        <p:guide orient="horz" pos="4088"/>
        <p:guide pos="244"/>
        <p:guide orient="horz" pos="482"/>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47" d="100"/>
          <a:sy n="147" d="100"/>
        </p:scale>
        <p:origin x="5069" y="91"/>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8B0E624-A112-4BE8-9F45-2541610907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Light" panose="020B0502040204020203" pitchFamily="34" charset="-122"/>
              <a:ea typeface="微软雅黑 Light" panose="020B0502040204020203" pitchFamily="34" charset="-122"/>
            </a:endParaRPr>
          </a:p>
        </p:txBody>
      </p:sp>
      <p:sp>
        <p:nvSpPr>
          <p:cNvPr id="3" name="日期占位符 2">
            <a:extLst>
              <a:ext uri="{FF2B5EF4-FFF2-40B4-BE49-F238E27FC236}">
                <a16:creationId xmlns:a16="http://schemas.microsoft.com/office/drawing/2014/main" id="{50AB953F-A604-43FB-8AD7-EFD5776552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D59B54-D92A-47F3-B76A-B69B1BBC23D0}" type="datetimeFigureOut">
              <a:rPr lang="zh-CN" altLang="en-US" smtClean="0">
                <a:latin typeface="微软雅黑 Light" panose="020B0502040204020203" pitchFamily="34" charset="-122"/>
                <a:ea typeface="微软雅黑 Light" panose="020B0502040204020203" pitchFamily="34" charset="-122"/>
              </a:rPr>
              <a:t>2025/4/21</a:t>
            </a:fld>
            <a:endParaRPr lang="zh-CN" altLang="en-US" dirty="0">
              <a:latin typeface="微软雅黑 Light" panose="020B0502040204020203" pitchFamily="34" charset="-122"/>
              <a:ea typeface="微软雅黑 Light" panose="020B0502040204020203" pitchFamily="34" charset="-122"/>
            </a:endParaRPr>
          </a:p>
        </p:txBody>
      </p:sp>
      <p:sp>
        <p:nvSpPr>
          <p:cNvPr id="4" name="页脚占位符 3">
            <a:extLst>
              <a:ext uri="{FF2B5EF4-FFF2-40B4-BE49-F238E27FC236}">
                <a16:creationId xmlns:a16="http://schemas.microsoft.com/office/drawing/2014/main" id="{3F9FB1B8-C09E-4FD1-90FB-E3403C8CF3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Light" panose="020B0502040204020203" pitchFamily="34" charset="-122"/>
              <a:ea typeface="微软雅黑 Light" panose="020B0502040204020203" pitchFamily="34" charset="-122"/>
            </a:endParaRPr>
          </a:p>
        </p:txBody>
      </p:sp>
      <p:sp>
        <p:nvSpPr>
          <p:cNvPr id="5" name="灯片编号占位符 4">
            <a:extLst>
              <a:ext uri="{FF2B5EF4-FFF2-40B4-BE49-F238E27FC236}">
                <a16:creationId xmlns:a16="http://schemas.microsoft.com/office/drawing/2014/main" id="{91CDF088-D7CC-4109-8166-8676159EE94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B0BAEC-F0DE-4B45-B8D0-D5B017DDACBF}" type="slidenum">
              <a:rPr lang="zh-CN" altLang="en-US" smtClean="0">
                <a:latin typeface="微软雅黑 Light" panose="020B0502040204020203" pitchFamily="34" charset="-122"/>
                <a:ea typeface="微软雅黑 Light" panose="020B0502040204020203" pitchFamily="34" charset="-122"/>
              </a:rPr>
              <a:t>‹#›</a:t>
            </a:fld>
            <a:endParaRPr lang="zh-CN" altLang="en-US"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6899708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Light" panose="020B0502040204020203" pitchFamily="34" charset="-122"/>
                <a:ea typeface="微软雅黑 Light" panose="020B0502040204020203"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Light" panose="020B0502040204020203" pitchFamily="34" charset="-122"/>
                <a:ea typeface="微软雅黑 Light" panose="020B0502040204020203" pitchFamily="34" charset="-122"/>
              </a:defRPr>
            </a:lvl1pPr>
          </a:lstStyle>
          <a:p>
            <a:fld id="{3F7BE804-D732-4803-91CB-03B8715CFA7A}" type="datetimeFigureOut">
              <a:rPr lang="zh-CN" altLang="en-US" smtClean="0"/>
              <a:pPr/>
              <a:t>2025/4/21</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Light" panose="020B0502040204020203" pitchFamily="34" charset="-122"/>
                <a:ea typeface="微软雅黑 Light" panose="020B0502040204020203"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Light" panose="020B0502040204020203" pitchFamily="34" charset="-122"/>
                <a:ea typeface="微软雅黑 Light" panose="020B0502040204020203" pitchFamily="34" charset="-122"/>
              </a:defRPr>
            </a:lvl1pPr>
          </a:lstStyle>
          <a:p>
            <a:fld id="{78B498CD-7A4B-4689-939A-1780EBF2364D}" type="slidenum">
              <a:rPr lang="zh-CN" altLang="en-US" smtClean="0"/>
              <a:pPr/>
              <a:t>‹#›</a:t>
            </a:fld>
            <a:endParaRPr lang="zh-CN" altLang="en-US" dirty="0"/>
          </a:p>
        </p:txBody>
      </p:sp>
    </p:spTree>
    <p:extLst>
      <p:ext uri="{BB962C8B-B14F-4D97-AF65-F5344CB8AC3E}">
        <p14:creationId xmlns:p14="http://schemas.microsoft.com/office/powerpoint/2010/main" val="1010450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1pPr>
    <a:lvl2pPr marL="4572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2pPr>
    <a:lvl3pPr marL="9144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3pPr>
    <a:lvl4pPr marL="13716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4pPr>
    <a:lvl5pPr marL="18288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1</a:t>
            </a:fld>
            <a:endParaRPr lang="zh-CN" altLang="en-US"/>
          </a:p>
        </p:txBody>
      </p:sp>
    </p:spTree>
    <p:extLst>
      <p:ext uri="{BB962C8B-B14F-4D97-AF65-F5344CB8AC3E}">
        <p14:creationId xmlns:p14="http://schemas.microsoft.com/office/powerpoint/2010/main" val="2232674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2</a:t>
            </a:fld>
            <a:endParaRPr lang="zh-CN" altLang="en-US"/>
          </a:p>
        </p:txBody>
      </p:sp>
    </p:spTree>
    <p:extLst>
      <p:ext uri="{BB962C8B-B14F-4D97-AF65-F5344CB8AC3E}">
        <p14:creationId xmlns:p14="http://schemas.microsoft.com/office/powerpoint/2010/main" val="882926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3</a:t>
            </a:fld>
            <a:endParaRPr lang="zh-CN" altLang="en-US"/>
          </a:p>
        </p:txBody>
      </p:sp>
    </p:spTree>
    <p:extLst>
      <p:ext uri="{BB962C8B-B14F-4D97-AF65-F5344CB8AC3E}">
        <p14:creationId xmlns:p14="http://schemas.microsoft.com/office/powerpoint/2010/main" val="1218875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4</a:t>
            </a:fld>
            <a:endParaRPr lang="zh-CN" altLang="en-US"/>
          </a:p>
        </p:txBody>
      </p:sp>
    </p:spTree>
    <p:extLst>
      <p:ext uri="{BB962C8B-B14F-4D97-AF65-F5344CB8AC3E}">
        <p14:creationId xmlns:p14="http://schemas.microsoft.com/office/powerpoint/2010/main" val="3715155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5</a:t>
            </a:fld>
            <a:endParaRPr lang="zh-CN" altLang="en-US"/>
          </a:p>
        </p:txBody>
      </p:sp>
    </p:spTree>
    <p:extLst>
      <p:ext uri="{BB962C8B-B14F-4D97-AF65-F5344CB8AC3E}">
        <p14:creationId xmlns:p14="http://schemas.microsoft.com/office/powerpoint/2010/main" val="2649240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65225" y="1239838"/>
            <a:ext cx="4467225" cy="3351212"/>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B498CD-7A4B-4689-939A-1780EBF2364D}" type="slidenum">
              <a:rPr kumimoji="0" lang="zh-CN" altLang="en-US" sz="1200" b="0" i="0" u="none" strike="noStrike" kern="1200" cap="none" spc="0" normalizeH="0" baseline="0" noProof="0" smtClean="0">
                <a:ln>
                  <a:noFill/>
                </a:ln>
                <a:solidFill>
                  <a:prstClr val="black"/>
                </a:solidFill>
                <a:effectLst/>
                <a:uLnTx/>
                <a:uFillTx/>
                <a:latin typeface="微软雅黑 Light" panose="020B0502040204020203" pitchFamily="34" charset="-122"/>
                <a:ea typeface="微软雅黑 Light" panose="020B0502040204020203"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cs typeface="+mn-cs"/>
            </a:endParaRPr>
          </a:p>
        </p:txBody>
      </p:sp>
    </p:spTree>
    <p:extLst>
      <p:ext uri="{BB962C8B-B14F-4D97-AF65-F5344CB8AC3E}">
        <p14:creationId xmlns:p14="http://schemas.microsoft.com/office/powerpoint/2010/main" val="3566198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7</a:t>
            </a:fld>
            <a:endParaRPr lang="zh-CN" altLang="en-US"/>
          </a:p>
        </p:txBody>
      </p:sp>
    </p:spTree>
    <p:extLst>
      <p:ext uri="{BB962C8B-B14F-4D97-AF65-F5344CB8AC3E}">
        <p14:creationId xmlns:p14="http://schemas.microsoft.com/office/powerpoint/2010/main" val="2751181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8</a:t>
            </a:fld>
            <a:endParaRPr lang="zh-CN" altLang="en-US"/>
          </a:p>
        </p:txBody>
      </p:sp>
    </p:spTree>
    <p:extLst>
      <p:ext uri="{BB962C8B-B14F-4D97-AF65-F5344CB8AC3E}">
        <p14:creationId xmlns:p14="http://schemas.microsoft.com/office/powerpoint/2010/main" val="1657996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9</a:t>
            </a:fld>
            <a:endParaRPr lang="zh-CN" altLang="en-US"/>
          </a:p>
        </p:txBody>
      </p:sp>
    </p:spTree>
    <p:extLst>
      <p:ext uri="{BB962C8B-B14F-4D97-AF65-F5344CB8AC3E}">
        <p14:creationId xmlns:p14="http://schemas.microsoft.com/office/powerpoint/2010/main" val="614532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10</a:t>
            </a:fld>
            <a:endParaRPr lang="zh-CN" altLang="en-US"/>
          </a:p>
        </p:txBody>
      </p:sp>
    </p:spTree>
    <p:extLst>
      <p:ext uri="{BB962C8B-B14F-4D97-AF65-F5344CB8AC3E}">
        <p14:creationId xmlns:p14="http://schemas.microsoft.com/office/powerpoint/2010/main" val="1608974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11</a:t>
            </a:fld>
            <a:endParaRPr lang="zh-CN" altLang="en-US"/>
          </a:p>
        </p:txBody>
      </p:sp>
    </p:spTree>
    <p:extLst>
      <p:ext uri="{BB962C8B-B14F-4D97-AF65-F5344CB8AC3E}">
        <p14:creationId xmlns:p14="http://schemas.microsoft.com/office/powerpoint/2010/main" val="888151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12</a:t>
            </a:fld>
            <a:endParaRPr lang="zh-CN" altLang="en-US"/>
          </a:p>
        </p:txBody>
      </p:sp>
    </p:spTree>
    <p:extLst>
      <p:ext uri="{BB962C8B-B14F-4D97-AF65-F5344CB8AC3E}">
        <p14:creationId xmlns:p14="http://schemas.microsoft.com/office/powerpoint/2010/main" val="1813137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13</a:t>
            </a:fld>
            <a:endParaRPr lang="zh-CN" altLang="en-US"/>
          </a:p>
        </p:txBody>
      </p:sp>
    </p:spTree>
    <p:extLst>
      <p:ext uri="{BB962C8B-B14F-4D97-AF65-F5344CB8AC3E}">
        <p14:creationId xmlns:p14="http://schemas.microsoft.com/office/powerpoint/2010/main" val="3785503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14</a:t>
            </a:fld>
            <a:endParaRPr lang="zh-CN" altLang="en-US"/>
          </a:p>
        </p:txBody>
      </p:sp>
    </p:spTree>
    <p:extLst>
      <p:ext uri="{BB962C8B-B14F-4D97-AF65-F5344CB8AC3E}">
        <p14:creationId xmlns:p14="http://schemas.microsoft.com/office/powerpoint/2010/main" val="2837405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B498CD-7A4B-4689-939A-1780EBF2364D}" type="slidenum">
              <a:rPr lang="zh-CN" altLang="en-US" smtClean="0"/>
              <a:t>15</a:t>
            </a:fld>
            <a:endParaRPr lang="zh-CN" altLang="en-US"/>
          </a:p>
        </p:txBody>
      </p:sp>
    </p:spTree>
    <p:extLst>
      <p:ext uri="{BB962C8B-B14F-4D97-AF65-F5344CB8AC3E}">
        <p14:creationId xmlns:p14="http://schemas.microsoft.com/office/powerpoint/2010/main" val="31026765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名人名言图片带透明通道">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6E11EE02-179E-4E4F-9C30-7F80F66DD28F}"/>
              </a:ext>
            </a:extLst>
          </p:cNvPr>
          <p:cNvPicPr>
            <a:picLocks noChangeAspect="1"/>
          </p:cNvPicPr>
          <p:nvPr userDrawn="1"/>
        </p:nvPicPr>
        <p:blipFill>
          <a:blip r:embed="rId2">
            <a:alphaModFix amt="22000"/>
          </a:blip>
          <a:srcRect l="30182" r="30182"/>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2" name="Rectangle 114">
            <a:extLst>
              <a:ext uri="{FF2B5EF4-FFF2-40B4-BE49-F238E27FC236}">
                <a16:creationId xmlns:a16="http://schemas.microsoft.com/office/drawing/2014/main" id="{16FDAC64-C63C-4684-B6EA-E091DCD1D16E}"/>
              </a:ext>
            </a:extLst>
          </p:cNvPr>
          <p:cNvSpPr/>
          <p:nvPr userDrawn="1"/>
        </p:nvSpPr>
        <p:spPr>
          <a:xfrm>
            <a:off x="1" y="0"/>
            <a:ext cx="9151070" cy="6858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Light" panose="020B0502040204020203" pitchFamily="34" charset="-122"/>
              <a:ea typeface="微软雅黑 Light" panose="020B0502040204020203" pitchFamily="34" charset="-122"/>
            </a:endParaRPr>
          </a:p>
        </p:txBody>
      </p:sp>
      <p:sp>
        <p:nvSpPr>
          <p:cNvPr id="6" name="矩形 5">
            <a:extLst>
              <a:ext uri="{FF2B5EF4-FFF2-40B4-BE49-F238E27FC236}">
                <a16:creationId xmlns:a16="http://schemas.microsoft.com/office/drawing/2014/main" id="{0446AD0C-6367-45F5-9830-50326A902AFF}"/>
              </a:ext>
            </a:extLst>
          </p:cNvPr>
          <p:cNvSpPr/>
          <p:nvPr userDrawn="1"/>
        </p:nvSpPr>
        <p:spPr>
          <a:xfrm rot="16200000">
            <a:off x="452617" y="-52973"/>
            <a:ext cx="60960" cy="166905"/>
          </a:xfrm>
          <a:prstGeom prst="rect">
            <a:avLst/>
          </a:prstGeom>
          <a:solidFill>
            <a:srgbClr val="87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Light" panose="020B0502040204020203" pitchFamily="34" charset="-122"/>
              <a:ea typeface="微软雅黑 Light" panose="020B0502040204020203" pitchFamily="34" charset="-122"/>
            </a:endParaRPr>
          </a:p>
        </p:txBody>
      </p:sp>
      <p:pic>
        <p:nvPicPr>
          <p:cNvPr id="7" name="Picture 115" descr="A picture containing food&#10;&#10;Description automatically generated">
            <a:extLst>
              <a:ext uri="{FF2B5EF4-FFF2-40B4-BE49-F238E27FC236}">
                <a16:creationId xmlns:a16="http://schemas.microsoft.com/office/drawing/2014/main" id="{322A1F53-1E39-45EA-9055-B8021CA13B05}"/>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7337109" y="155077"/>
            <a:ext cx="1597914" cy="469143"/>
          </a:xfrm>
          <a:prstGeom prst="rect">
            <a:avLst/>
          </a:prstGeom>
        </p:spPr>
      </p:pic>
      <p:sp>
        <p:nvSpPr>
          <p:cNvPr id="4" name="文本框 1">
            <a:extLst>
              <a:ext uri="{FF2B5EF4-FFF2-40B4-BE49-F238E27FC236}">
                <a16:creationId xmlns:a16="http://schemas.microsoft.com/office/drawing/2014/main" id="{24E5D2AD-5CFB-C065-8422-35014244CB63}"/>
              </a:ext>
            </a:extLst>
          </p:cNvPr>
          <p:cNvSpPr txBox="1"/>
          <p:nvPr userDrawn="1"/>
        </p:nvSpPr>
        <p:spPr>
          <a:xfrm>
            <a:off x="7393689" y="6581001"/>
            <a:ext cx="1750310" cy="276999"/>
          </a:xfrm>
          <a:prstGeom prst="rect">
            <a:avLst/>
          </a:prstGeom>
          <a:noFill/>
          <a:ln w="9525" cap="flat" cmpd="sng" algn="ctr">
            <a:noFill/>
            <a:prstDash val="solid"/>
            <a:round/>
            <a:headEnd type="none" w="med" len="med"/>
            <a:tailEnd type="none" w="med" len="med"/>
          </a:ln>
          <a:effectLst/>
        </p:spPr>
        <p:txBody>
          <a:bodyPr wrap="square" rtlCol="0">
            <a:spAutoFit/>
          </a:bodyPr>
          <a:lstStyle>
            <a:defPPr>
              <a:defRPr lang="zh-CN"/>
            </a:defPPr>
            <a:lvl1pPr marL="0" algn="l" defTabSz="914400" rtl="0" eaLnBrk="1" latinLnBrk="0" hangingPunct="1">
              <a:defRPr sz="1800" kern="1200">
                <a:solidFill>
                  <a:schemeClr val="accent3"/>
                </a:solidFill>
                <a:latin typeface="+mn-lt"/>
                <a:ea typeface="+mn-ea"/>
                <a:cs typeface="+mn-cs"/>
              </a:defRPr>
            </a:lvl1pPr>
            <a:lvl2pPr marL="457200" algn="l" defTabSz="914400" rtl="0" eaLnBrk="1" latinLnBrk="0" hangingPunct="1">
              <a:defRPr sz="1800" kern="1200">
                <a:solidFill>
                  <a:schemeClr val="accent3"/>
                </a:solidFill>
                <a:latin typeface="+mn-lt"/>
                <a:ea typeface="+mn-ea"/>
                <a:cs typeface="+mn-cs"/>
              </a:defRPr>
            </a:lvl2pPr>
            <a:lvl3pPr marL="914400" algn="l" defTabSz="914400" rtl="0" eaLnBrk="1" latinLnBrk="0" hangingPunct="1">
              <a:defRPr sz="1800" kern="1200">
                <a:solidFill>
                  <a:schemeClr val="accent3"/>
                </a:solidFill>
                <a:latin typeface="+mn-lt"/>
                <a:ea typeface="+mn-ea"/>
                <a:cs typeface="+mn-cs"/>
              </a:defRPr>
            </a:lvl3pPr>
            <a:lvl4pPr marL="1371600" algn="l" defTabSz="914400" rtl="0" eaLnBrk="1" latinLnBrk="0" hangingPunct="1">
              <a:defRPr sz="1800" kern="1200">
                <a:solidFill>
                  <a:schemeClr val="accent3"/>
                </a:solidFill>
                <a:latin typeface="+mn-lt"/>
                <a:ea typeface="+mn-ea"/>
                <a:cs typeface="+mn-cs"/>
              </a:defRPr>
            </a:lvl4pPr>
            <a:lvl5pPr marL="1828800" algn="l" defTabSz="914400" rtl="0" eaLnBrk="1" latinLnBrk="0" hangingPunct="1">
              <a:defRPr sz="1800" kern="1200">
                <a:solidFill>
                  <a:schemeClr val="accent3"/>
                </a:solidFill>
                <a:latin typeface="+mn-lt"/>
                <a:ea typeface="+mn-ea"/>
                <a:cs typeface="+mn-cs"/>
              </a:defRPr>
            </a:lvl5pPr>
            <a:lvl6pPr marL="2286000" algn="l" defTabSz="914400" rtl="0" eaLnBrk="1" latinLnBrk="0" hangingPunct="1">
              <a:defRPr sz="1800" kern="1200">
                <a:solidFill>
                  <a:schemeClr val="accent3"/>
                </a:solidFill>
                <a:latin typeface="+mn-lt"/>
                <a:ea typeface="+mn-ea"/>
                <a:cs typeface="+mn-cs"/>
              </a:defRPr>
            </a:lvl6pPr>
            <a:lvl7pPr marL="2743200" algn="l" defTabSz="914400" rtl="0" eaLnBrk="1" latinLnBrk="0" hangingPunct="1">
              <a:defRPr sz="1800" kern="1200">
                <a:solidFill>
                  <a:schemeClr val="accent3"/>
                </a:solidFill>
                <a:latin typeface="+mn-lt"/>
                <a:ea typeface="+mn-ea"/>
                <a:cs typeface="+mn-cs"/>
              </a:defRPr>
            </a:lvl7pPr>
            <a:lvl8pPr marL="3200400" algn="l" defTabSz="914400" rtl="0" eaLnBrk="1" latinLnBrk="0" hangingPunct="1">
              <a:defRPr sz="1800" kern="1200">
                <a:solidFill>
                  <a:schemeClr val="accent3"/>
                </a:solidFill>
                <a:latin typeface="+mn-lt"/>
                <a:ea typeface="+mn-ea"/>
                <a:cs typeface="+mn-cs"/>
              </a:defRPr>
            </a:lvl8pPr>
            <a:lvl9pPr marL="3657600" algn="l" defTabSz="914400" rtl="0" eaLnBrk="1" latinLnBrk="0" hangingPunct="1">
              <a:defRPr sz="1800" kern="1200">
                <a:solidFill>
                  <a:schemeClr val="accent3"/>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A5A5A5"/>
                </a:solidFill>
                <a:effectLst/>
                <a:uLnTx/>
                <a:uFillTx/>
                <a:latin typeface="Calibri" panose="020F0502020204030204"/>
                <a:ea typeface="等线" panose="02010600030101010101" pitchFamily="2" charset="-122"/>
                <a:cs typeface="+mn-cs"/>
              </a:rPr>
              <a:t>wenyanchn@ahu.edu.cn</a:t>
            </a:r>
            <a:endParaRPr kumimoji="0" lang="zh-CN" altLang="en-US" sz="1200" b="0" i="0" u="none" strike="noStrike" kern="1200" cap="none" spc="0" normalizeH="0" baseline="0" noProof="0" dirty="0">
              <a:ln>
                <a:noFill/>
              </a:ln>
              <a:solidFill>
                <a:srgbClr val="A5A5A5"/>
              </a:solidFill>
              <a:effectLst/>
              <a:uLnTx/>
              <a:uFillTx/>
              <a:latin typeface="Calibri" panose="020F0502020204030204"/>
              <a:ea typeface="等线" panose="02010600030101010101" pitchFamily="2" charset="-122"/>
              <a:cs typeface="+mn-cs"/>
            </a:endParaRPr>
          </a:p>
        </p:txBody>
      </p:sp>
      <p:sp>
        <p:nvSpPr>
          <p:cNvPr id="5" name="文本框 7">
            <a:extLst>
              <a:ext uri="{FF2B5EF4-FFF2-40B4-BE49-F238E27FC236}">
                <a16:creationId xmlns:a16="http://schemas.microsoft.com/office/drawing/2014/main" id="{9114BB60-4F66-11CE-2247-D011DE3A9AE3}"/>
              </a:ext>
            </a:extLst>
          </p:cNvPr>
          <p:cNvSpPr txBox="1"/>
          <p:nvPr userDrawn="1"/>
        </p:nvSpPr>
        <p:spPr>
          <a:xfrm>
            <a:off x="-7073" y="6581001"/>
            <a:ext cx="778474" cy="276999"/>
          </a:xfrm>
          <a:prstGeom prst="rect">
            <a:avLst/>
          </a:prstGeom>
          <a:noFill/>
          <a:ln w="9525" cap="flat" cmpd="sng" algn="ctr">
            <a:noFill/>
            <a:prstDash val="solid"/>
            <a:round/>
            <a:headEnd type="none" w="med" len="med"/>
            <a:tailEnd type="none" w="med" len="med"/>
          </a:ln>
          <a:effectLst/>
        </p:spPr>
        <p:txBody>
          <a:bodyPr wrap="square" rtlCol="0">
            <a:spAutoFit/>
          </a:bodyPr>
          <a:lstStyle>
            <a:defPPr>
              <a:defRPr lang="zh-CN"/>
            </a:defPPr>
            <a:lvl1pPr marL="0" algn="l" defTabSz="914400" rtl="0" eaLnBrk="1" latinLnBrk="0" hangingPunct="1">
              <a:defRPr sz="1800" kern="1200">
                <a:solidFill>
                  <a:schemeClr val="accent3"/>
                </a:solidFill>
                <a:latin typeface="+mn-lt"/>
                <a:ea typeface="+mn-ea"/>
                <a:cs typeface="+mn-cs"/>
              </a:defRPr>
            </a:lvl1pPr>
            <a:lvl2pPr marL="457200" algn="l" defTabSz="914400" rtl="0" eaLnBrk="1" latinLnBrk="0" hangingPunct="1">
              <a:defRPr sz="1800" kern="1200">
                <a:solidFill>
                  <a:schemeClr val="accent3"/>
                </a:solidFill>
                <a:latin typeface="+mn-lt"/>
                <a:ea typeface="+mn-ea"/>
                <a:cs typeface="+mn-cs"/>
              </a:defRPr>
            </a:lvl2pPr>
            <a:lvl3pPr marL="914400" algn="l" defTabSz="914400" rtl="0" eaLnBrk="1" latinLnBrk="0" hangingPunct="1">
              <a:defRPr sz="1800" kern="1200">
                <a:solidFill>
                  <a:schemeClr val="accent3"/>
                </a:solidFill>
                <a:latin typeface="+mn-lt"/>
                <a:ea typeface="+mn-ea"/>
                <a:cs typeface="+mn-cs"/>
              </a:defRPr>
            </a:lvl3pPr>
            <a:lvl4pPr marL="1371600" algn="l" defTabSz="914400" rtl="0" eaLnBrk="1" latinLnBrk="0" hangingPunct="1">
              <a:defRPr sz="1800" kern="1200">
                <a:solidFill>
                  <a:schemeClr val="accent3"/>
                </a:solidFill>
                <a:latin typeface="+mn-lt"/>
                <a:ea typeface="+mn-ea"/>
                <a:cs typeface="+mn-cs"/>
              </a:defRPr>
            </a:lvl4pPr>
            <a:lvl5pPr marL="1828800" algn="l" defTabSz="914400" rtl="0" eaLnBrk="1" latinLnBrk="0" hangingPunct="1">
              <a:defRPr sz="1800" kern="1200">
                <a:solidFill>
                  <a:schemeClr val="accent3"/>
                </a:solidFill>
                <a:latin typeface="+mn-lt"/>
                <a:ea typeface="+mn-ea"/>
                <a:cs typeface="+mn-cs"/>
              </a:defRPr>
            </a:lvl5pPr>
            <a:lvl6pPr marL="2286000" algn="l" defTabSz="914400" rtl="0" eaLnBrk="1" latinLnBrk="0" hangingPunct="1">
              <a:defRPr sz="1800" kern="1200">
                <a:solidFill>
                  <a:schemeClr val="accent3"/>
                </a:solidFill>
                <a:latin typeface="+mn-lt"/>
                <a:ea typeface="+mn-ea"/>
                <a:cs typeface="+mn-cs"/>
              </a:defRPr>
            </a:lvl6pPr>
            <a:lvl7pPr marL="2743200" algn="l" defTabSz="914400" rtl="0" eaLnBrk="1" latinLnBrk="0" hangingPunct="1">
              <a:defRPr sz="1800" kern="1200">
                <a:solidFill>
                  <a:schemeClr val="accent3"/>
                </a:solidFill>
                <a:latin typeface="+mn-lt"/>
                <a:ea typeface="+mn-ea"/>
                <a:cs typeface="+mn-cs"/>
              </a:defRPr>
            </a:lvl7pPr>
            <a:lvl8pPr marL="3200400" algn="l" defTabSz="914400" rtl="0" eaLnBrk="1" latinLnBrk="0" hangingPunct="1">
              <a:defRPr sz="1800" kern="1200">
                <a:solidFill>
                  <a:schemeClr val="accent3"/>
                </a:solidFill>
                <a:latin typeface="+mn-lt"/>
                <a:ea typeface="+mn-ea"/>
                <a:cs typeface="+mn-cs"/>
              </a:defRPr>
            </a:lvl8pPr>
            <a:lvl9pPr marL="3657600" algn="l" defTabSz="914400" rtl="0" eaLnBrk="1" latinLnBrk="0" hangingPunct="1">
              <a:defRPr sz="1800" kern="1200">
                <a:solidFill>
                  <a:schemeClr val="accent3"/>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A5A5A5"/>
                </a:solidFill>
                <a:effectLst/>
                <a:uLnTx/>
                <a:uFillTx/>
                <a:latin typeface="Calibri" panose="020F0502020204030204"/>
                <a:ea typeface="等线" panose="02010600030101010101" pitchFamily="2" charset="-122"/>
                <a:cs typeface="+mn-cs"/>
              </a:rPr>
              <a:t>2022 Fall</a:t>
            </a:r>
            <a:endParaRPr kumimoji="0" lang="zh-CN" altLang="en-US" sz="1200" b="0" i="0" u="none" strike="noStrike" kern="1200" cap="none" spc="0" normalizeH="0" baseline="0" noProof="0" dirty="0">
              <a:ln>
                <a:noFill/>
              </a:ln>
              <a:solidFill>
                <a:srgbClr val="A5A5A5"/>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40139786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4" pos="5516">
          <p15:clr>
            <a:srgbClr val="FBAE40"/>
          </p15:clr>
        </p15:guide>
        <p15:guide id="5" orient="horz" pos="232">
          <p15:clr>
            <a:srgbClr val="FBAE40"/>
          </p15:clr>
        </p15:guide>
        <p15:guide id="6" orient="horz" pos="52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3814425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663532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735743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3754351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8" name="Footer Placeholder 7"/>
          <p:cNvSpPr>
            <a:spLocks noGrp="1"/>
          </p:cNvSpPr>
          <p:nvPr>
            <p:ph type="ftr" sz="quarter" idx="11"/>
          </p:nvPr>
        </p:nvSpPr>
        <p:spPr/>
        <p:txBody>
          <a:bodyPr/>
          <a:lstStyle/>
          <a:p>
            <a:endParaRPr lang="zh-CN" altLang="en-US" dirty="0"/>
          </a:p>
        </p:txBody>
      </p:sp>
      <p:sp>
        <p:nvSpPr>
          <p:cNvPr id="9" name="Slide Number Placeholder 8"/>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4097373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4" name="Footer Placeholder 3"/>
          <p:cNvSpPr>
            <a:spLocks noGrp="1"/>
          </p:cNvSpPr>
          <p:nvPr>
            <p:ph type="ftr" sz="quarter" idx="11"/>
          </p:nvPr>
        </p:nvSpPr>
        <p:spPr/>
        <p:txBody>
          <a:bodyPr/>
          <a:lstStyle/>
          <a:p>
            <a:endParaRPr lang="zh-CN" altLang="en-US" dirty="0"/>
          </a:p>
        </p:txBody>
      </p:sp>
      <p:sp>
        <p:nvSpPr>
          <p:cNvPr id="5" name="Slide Number Placeholder 4"/>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3446502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3" name="Footer Placeholder 2"/>
          <p:cNvSpPr>
            <a:spLocks noGrp="1"/>
          </p:cNvSpPr>
          <p:nvPr>
            <p:ph type="ftr" sz="quarter" idx="11"/>
          </p:nvPr>
        </p:nvSpPr>
        <p:spPr/>
        <p:txBody>
          <a:bodyPr/>
          <a:lstStyle/>
          <a:p>
            <a:endParaRPr lang="zh-CN" altLang="en-US" dirty="0"/>
          </a:p>
        </p:txBody>
      </p:sp>
      <p:sp>
        <p:nvSpPr>
          <p:cNvPr id="4" name="Slide Number Placeholder 3"/>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2729973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997627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3253625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10526938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40B7BA6-0BBE-4615-96B3-0EBD23FC1AEE}" type="datetimeFigureOut">
              <a:rPr lang="zh-CN" altLang="en-US" smtClean="0"/>
              <a:pPr/>
              <a:t>2025/4/21</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2908075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名人名言图片带透明通道">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6E11EE02-179E-4E4F-9C30-7F80F66DD28F}"/>
              </a:ext>
            </a:extLst>
          </p:cNvPr>
          <p:cNvPicPr>
            <a:picLocks noChangeAspect="1"/>
          </p:cNvPicPr>
          <p:nvPr userDrawn="1"/>
        </p:nvPicPr>
        <p:blipFill>
          <a:blip r:embed="rId2">
            <a:alphaModFix amt="22000"/>
          </a:blip>
          <a:srcRect l="30182" r="30182"/>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2" name="Rectangle 114">
            <a:extLst>
              <a:ext uri="{FF2B5EF4-FFF2-40B4-BE49-F238E27FC236}">
                <a16:creationId xmlns:a16="http://schemas.microsoft.com/office/drawing/2014/main" id="{16FDAC64-C63C-4684-B6EA-E091DCD1D16E}"/>
              </a:ext>
            </a:extLst>
          </p:cNvPr>
          <p:cNvSpPr/>
          <p:nvPr userDrawn="1"/>
        </p:nvSpPr>
        <p:spPr>
          <a:xfrm>
            <a:off x="1" y="0"/>
            <a:ext cx="9151070" cy="6858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Light" panose="020B0502040204020203" pitchFamily="34" charset="-122"/>
              <a:ea typeface="微软雅黑 Light" panose="020B0502040204020203" pitchFamily="34" charset="-122"/>
            </a:endParaRPr>
          </a:p>
        </p:txBody>
      </p:sp>
      <p:sp>
        <p:nvSpPr>
          <p:cNvPr id="6" name="矩形 5">
            <a:extLst>
              <a:ext uri="{FF2B5EF4-FFF2-40B4-BE49-F238E27FC236}">
                <a16:creationId xmlns:a16="http://schemas.microsoft.com/office/drawing/2014/main" id="{0446AD0C-6367-45F5-9830-50326A902AFF}"/>
              </a:ext>
            </a:extLst>
          </p:cNvPr>
          <p:cNvSpPr/>
          <p:nvPr userDrawn="1"/>
        </p:nvSpPr>
        <p:spPr>
          <a:xfrm rot="16200000">
            <a:off x="452617" y="-52973"/>
            <a:ext cx="60960" cy="166905"/>
          </a:xfrm>
          <a:prstGeom prst="rect">
            <a:avLst/>
          </a:prstGeom>
          <a:solidFill>
            <a:srgbClr val="87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Light" panose="020B0502040204020203" pitchFamily="34" charset="-122"/>
              <a:ea typeface="微软雅黑 Light" panose="020B0502040204020203" pitchFamily="34" charset="-122"/>
            </a:endParaRPr>
          </a:p>
        </p:txBody>
      </p:sp>
      <p:pic>
        <p:nvPicPr>
          <p:cNvPr id="7" name="Picture 115" descr="A picture containing food&#10;&#10;Description automatically generated">
            <a:extLst>
              <a:ext uri="{FF2B5EF4-FFF2-40B4-BE49-F238E27FC236}">
                <a16:creationId xmlns:a16="http://schemas.microsoft.com/office/drawing/2014/main" id="{322A1F53-1E39-45EA-9055-B8021CA13B05}"/>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7337109" y="155077"/>
            <a:ext cx="1597914" cy="469143"/>
          </a:xfrm>
          <a:prstGeom prst="rect">
            <a:avLst/>
          </a:prstGeom>
        </p:spPr>
      </p:pic>
      <p:sp>
        <p:nvSpPr>
          <p:cNvPr id="8" name="文本框 1">
            <a:extLst>
              <a:ext uri="{FF2B5EF4-FFF2-40B4-BE49-F238E27FC236}">
                <a16:creationId xmlns:a16="http://schemas.microsoft.com/office/drawing/2014/main" id="{9309B160-1B50-4D9B-AD3D-2CE1F8181AE0}"/>
              </a:ext>
            </a:extLst>
          </p:cNvPr>
          <p:cNvSpPr txBox="1"/>
          <p:nvPr userDrawn="1"/>
        </p:nvSpPr>
        <p:spPr>
          <a:xfrm>
            <a:off x="7393689" y="6581001"/>
            <a:ext cx="1750310" cy="27699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defPPr>
              <a:defRPr lang="zh-CN"/>
            </a:defPPr>
            <a:lvl1pPr marL="0" algn="l" defTabSz="914400" rtl="0" eaLnBrk="1" latinLnBrk="0" hangingPunct="1">
              <a:defRPr sz="1800" kern="1200">
                <a:solidFill>
                  <a:schemeClr val="accent3"/>
                </a:solidFill>
                <a:latin typeface="+mn-lt"/>
                <a:ea typeface="+mn-ea"/>
                <a:cs typeface="+mn-cs"/>
              </a:defRPr>
            </a:lvl1pPr>
            <a:lvl2pPr marL="457200" algn="l" defTabSz="914400" rtl="0" eaLnBrk="1" latinLnBrk="0" hangingPunct="1">
              <a:defRPr sz="1800" kern="1200">
                <a:solidFill>
                  <a:schemeClr val="accent3"/>
                </a:solidFill>
                <a:latin typeface="+mn-lt"/>
                <a:ea typeface="+mn-ea"/>
                <a:cs typeface="+mn-cs"/>
              </a:defRPr>
            </a:lvl2pPr>
            <a:lvl3pPr marL="914400" algn="l" defTabSz="914400" rtl="0" eaLnBrk="1" latinLnBrk="0" hangingPunct="1">
              <a:defRPr sz="1800" kern="1200">
                <a:solidFill>
                  <a:schemeClr val="accent3"/>
                </a:solidFill>
                <a:latin typeface="+mn-lt"/>
                <a:ea typeface="+mn-ea"/>
                <a:cs typeface="+mn-cs"/>
              </a:defRPr>
            </a:lvl3pPr>
            <a:lvl4pPr marL="1371600" algn="l" defTabSz="914400" rtl="0" eaLnBrk="1" latinLnBrk="0" hangingPunct="1">
              <a:defRPr sz="1800" kern="1200">
                <a:solidFill>
                  <a:schemeClr val="accent3"/>
                </a:solidFill>
                <a:latin typeface="+mn-lt"/>
                <a:ea typeface="+mn-ea"/>
                <a:cs typeface="+mn-cs"/>
              </a:defRPr>
            </a:lvl4pPr>
            <a:lvl5pPr marL="1828800" algn="l" defTabSz="914400" rtl="0" eaLnBrk="1" latinLnBrk="0" hangingPunct="1">
              <a:defRPr sz="1800" kern="1200">
                <a:solidFill>
                  <a:schemeClr val="accent3"/>
                </a:solidFill>
                <a:latin typeface="+mn-lt"/>
                <a:ea typeface="+mn-ea"/>
                <a:cs typeface="+mn-cs"/>
              </a:defRPr>
            </a:lvl5pPr>
            <a:lvl6pPr marL="2286000" algn="l" defTabSz="914400" rtl="0" eaLnBrk="1" latinLnBrk="0" hangingPunct="1">
              <a:defRPr sz="1800" kern="1200">
                <a:solidFill>
                  <a:schemeClr val="accent3"/>
                </a:solidFill>
                <a:latin typeface="+mn-lt"/>
                <a:ea typeface="+mn-ea"/>
                <a:cs typeface="+mn-cs"/>
              </a:defRPr>
            </a:lvl6pPr>
            <a:lvl7pPr marL="2743200" algn="l" defTabSz="914400" rtl="0" eaLnBrk="1" latinLnBrk="0" hangingPunct="1">
              <a:defRPr sz="1800" kern="1200">
                <a:solidFill>
                  <a:schemeClr val="accent3"/>
                </a:solidFill>
                <a:latin typeface="+mn-lt"/>
                <a:ea typeface="+mn-ea"/>
                <a:cs typeface="+mn-cs"/>
              </a:defRPr>
            </a:lvl7pPr>
            <a:lvl8pPr marL="3200400" algn="l" defTabSz="914400" rtl="0" eaLnBrk="1" latinLnBrk="0" hangingPunct="1">
              <a:defRPr sz="1800" kern="1200">
                <a:solidFill>
                  <a:schemeClr val="accent3"/>
                </a:solidFill>
                <a:latin typeface="+mn-lt"/>
                <a:ea typeface="+mn-ea"/>
                <a:cs typeface="+mn-cs"/>
              </a:defRPr>
            </a:lvl8pPr>
            <a:lvl9pPr marL="3657600" algn="l" defTabSz="914400" rtl="0" eaLnBrk="1" latinLnBrk="0" hangingPunct="1">
              <a:defRPr sz="1800" kern="1200">
                <a:solidFill>
                  <a:schemeClr val="accent3"/>
                </a:solidFill>
                <a:latin typeface="+mn-lt"/>
                <a:ea typeface="+mn-ea"/>
                <a:cs typeface="+mn-cs"/>
              </a:defRPr>
            </a:lvl9pPr>
          </a:lstStyle>
          <a:p>
            <a:pPr algn="ctr"/>
            <a:r>
              <a:rPr lang="en-US" altLang="zh-CN" sz="1200" dirty="0"/>
              <a:t>wenyanchn@ahu.edu.cn</a:t>
            </a:r>
            <a:endParaRPr lang="zh-CN" altLang="en-US" sz="1200" dirty="0"/>
          </a:p>
        </p:txBody>
      </p:sp>
      <p:sp>
        <p:nvSpPr>
          <p:cNvPr id="9" name="文本框 7">
            <a:extLst>
              <a:ext uri="{FF2B5EF4-FFF2-40B4-BE49-F238E27FC236}">
                <a16:creationId xmlns:a16="http://schemas.microsoft.com/office/drawing/2014/main" id="{E2B6D406-FD5D-40D2-B8A6-25AB99588607}"/>
              </a:ext>
            </a:extLst>
          </p:cNvPr>
          <p:cNvSpPr txBox="1"/>
          <p:nvPr userDrawn="1"/>
        </p:nvSpPr>
        <p:spPr>
          <a:xfrm>
            <a:off x="-7073" y="6581001"/>
            <a:ext cx="778474" cy="27699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defPPr>
              <a:defRPr lang="zh-CN"/>
            </a:defPPr>
            <a:lvl1pPr marL="0" algn="l" defTabSz="914400" rtl="0" eaLnBrk="1" latinLnBrk="0" hangingPunct="1">
              <a:defRPr sz="1800" kern="1200">
                <a:solidFill>
                  <a:schemeClr val="accent3"/>
                </a:solidFill>
                <a:latin typeface="+mn-lt"/>
                <a:ea typeface="+mn-ea"/>
                <a:cs typeface="+mn-cs"/>
              </a:defRPr>
            </a:lvl1pPr>
            <a:lvl2pPr marL="457200" algn="l" defTabSz="914400" rtl="0" eaLnBrk="1" latinLnBrk="0" hangingPunct="1">
              <a:defRPr sz="1800" kern="1200">
                <a:solidFill>
                  <a:schemeClr val="accent3"/>
                </a:solidFill>
                <a:latin typeface="+mn-lt"/>
                <a:ea typeface="+mn-ea"/>
                <a:cs typeface="+mn-cs"/>
              </a:defRPr>
            </a:lvl2pPr>
            <a:lvl3pPr marL="914400" algn="l" defTabSz="914400" rtl="0" eaLnBrk="1" latinLnBrk="0" hangingPunct="1">
              <a:defRPr sz="1800" kern="1200">
                <a:solidFill>
                  <a:schemeClr val="accent3"/>
                </a:solidFill>
                <a:latin typeface="+mn-lt"/>
                <a:ea typeface="+mn-ea"/>
                <a:cs typeface="+mn-cs"/>
              </a:defRPr>
            </a:lvl3pPr>
            <a:lvl4pPr marL="1371600" algn="l" defTabSz="914400" rtl="0" eaLnBrk="1" latinLnBrk="0" hangingPunct="1">
              <a:defRPr sz="1800" kern="1200">
                <a:solidFill>
                  <a:schemeClr val="accent3"/>
                </a:solidFill>
                <a:latin typeface="+mn-lt"/>
                <a:ea typeface="+mn-ea"/>
                <a:cs typeface="+mn-cs"/>
              </a:defRPr>
            </a:lvl4pPr>
            <a:lvl5pPr marL="1828800" algn="l" defTabSz="914400" rtl="0" eaLnBrk="1" latinLnBrk="0" hangingPunct="1">
              <a:defRPr sz="1800" kern="1200">
                <a:solidFill>
                  <a:schemeClr val="accent3"/>
                </a:solidFill>
                <a:latin typeface="+mn-lt"/>
                <a:ea typeface="+mn-ea"/>
                <a:cs typeface="+mn-cs"/>
              </a:defRPr>
            </a:lvl5pPr>
            <a:lvl6pPr marL="2286000" algn="l" defTabSz="914400" rtl="0" eaLnBrk="1" latinLnBrk="0" hangingPunct="1">
              <a:defRPr sz="1800" kern="1200">
                <a:solidFill>
                  <a:schemeClr val="accent3"/>
                </a:solidFill>
                <a:latin typeface="+mn-lt"/>
                <a:ea typeface="+mn-ea"/>
                <a:cs typeface="+mn-cs"/>
              </a:defRPr>
            </a:lvl6pPr>
            <a:lvl7pPr marL="2743200" algn="l" defTabSz="914400" rtl="0" eaLnBrk="1" latinLnBrk="0" hangingPunct="1">
              <a:defRPr sz="1800" kern="1200">
                <a:solidFill>
                  <a:schemeClr val="accent3"/>
                </a:solidFill>
                <a:latin typeface="+mn-lt"/>
                <a:ea typeface="+mn-ea"/>
                <a:cs typeface="+mn-cs"/>
              </a:defRPr>
            </a:lvl7pPr>
            <a:lvl8pPr marL="3200400" algn="l" defTabSz="914400" rtl="0" eaLnBrk="1" latinLnBrk="0" hangingPunct="1">
              <a:defRPr sz="1800" kern="1200">
                <a:solidFill>
                  <a:schemeClr val="accent3"/>
                </a:solidFill>
                <a:latin typeface="+mn-lt"/>
                <a:ea typeface="+mn-ea"/>
                <a:cs typeface="+mn-cs"/>
              </a:defRPr>
            </a:lvl8pPr>
            <a:lvl9pPr marL="3657600" algn="l" defTabSz="914400" rtl="0" eaLnBrk="1" latinLnBrk="0" hangingPunct="1">
              <a:defRPr sz="1800" kern="1200">
                <a:solidFill>
                  <a:schemeClr val="accent3"/>
                </a:solidFill>
                <a:latin typeface="+mn-lt"/>
                <a:ea typeface="+mn-ea"/>
                <a:cs typeface="+mn-cs"/>
              </a:defRPr>
            </a:lvl9pPr>
          </a:lstStyle>
          <a:p>
            <a:pPr algn="ctr"/>
            <a:r>
              <a:rPr lang="en-US" altLang="zh-CN" sz="1200" dirty="0"/>
              <a:t>2022 Fall</a:t>
            </a:r>
            <a:endParaRPr lang="zh-CN" altLang="en-US" sz="1200" dirty="0"/>
          </a:p>
        </p:txBody>
      </p:sp>
    </p:spTree>
    <p:extLst>
      <p:ext uri="{BB962C8B-B14F-4D97-AF65-F5344CB8AC3E}">
        <p14:creationId xmlns:p14="http://schemas.microsoft.com/office/powerpoint/2010/main" val="73908549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4" pos="5516">
          <p15:clr>
            <a:srgbClr val="FBAE40"/>
          </p15:clr>
        </p15:guide>
        <p15:guide id="5" orient="horz" pos="232">
          <p15:clr>
            <a:srgbClr val="FBAE40"/>
          </p15:clr>
        </p15:guide>
        <p15:guide id="6" orient="horz" pos="527">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154099"/>
      </p:ext>
    </p:extLst>
  </p:cSld>
  <p:clrMap bg1="lt1" tx1="dk1" bg2="lt2" tx2="dk2" accent1="accent1" accent2="accent2" accent3="accent3" accent4="accent4" accent5="accent5" accent6="accent6" hlink="hlink" folHlink="folHlink"/>
  <p:sldLayoutIdLst>
    <p:sldLayoutId id="2147483716" r:id="rId1"/>
  </p:sldLayoutIdLst>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432" userDrawn="1">
          <p15:clr>
            <a:srgbClr val="F26B43"/>
          </p15:clr>
        </p15:guide>
        <p15:guide id="6" orient="horz" pos="472" userDrawn="1">
          <p15:clr>
            <a:srgbClr val="F26B43"/>
          </p15:clr>
        </p15:guide>
        <p15:guide id="7" orient="horz" pos="4104" userDrawn="1">
          <p15:clr>
            <a:srgbClr val="F26B43"/>
          </p15:clr>
        </p15:guide>
        <p15:guide id="8" orient="horz" pos="405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0B7BA6-0BBE-4615-96B3-0EBD23FC1AEE}" type="datetimeFigureOut">
              <a:rPr lang="zh-CN" altLang="en-US" smtClean="0"/>
              <a:pPr/>
              <a:t>2025/4/21</a:t>
            </a:fld>
            <a:endParaRPr lang="zh-CN" alt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FEC46F-037F-41EB-A729-82826FB2FBE7}" type="slidenum">
              <a:rPr lang="zh-CN" altLang="en-US" smtClean="0"/>
              <a:pPr/>
              <a:t>‹#›</a:t>
            </a:fld>
            <a:endParaRPr lang="zh-CN" altLang="en-US" dirty="0"/>
          </a:p>
        </p:txBody>
      </p:sp>
    </p:spTree>
    <p:extLst>
      <p:ext uri="{BB962C8B-B14F-4D97-AF65-F5344CB8AC3E}">
        <p14:creationId xmlns:p14="http://schemas.microsoft.com/office/powerpoint/2010/main" val="343665578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5.png"/><Relationship Id="rId2" Type="http://schemas.openxmlformats.org/officeDocument/2006/relationships/tags" Target="../tags/tag4.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0.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13.xml"/><Relationship Id="rId7" Type="http://schemas.openxmlformats.org/officeDocument/2006/relationships/image" Target="../media/image4.png"/><Relationship Id="rId2" Type="http://schemas.openxmlformats.org/officeDocument/2006/relationships/tags" Target="../tags/tag6.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 Id="rId5" Type="http://schemas.openxmlformats.org/officeDocument/2006/relationships/image" Target="../media/image8.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5" Type="http://schemas.openxmlformats.org/officeDocument/2006/relationships/image" Target="../media/image14.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300A09BE-BF5F-F895-9522-2430825BE005}"/>
              </a:ext>
            </a:extLst>
          </p:cNvPr>
          <p:cNvSpPr/>
          <p:nvPr/>
        </p:nvSpPr>
        <p:spPr>
          <a:xfrm>
            <a:off x="980062" y="2826386"/>
            <a:ext cx="7183875" cy="715581"/>
          </a:xfrm>
          <a:prstGeom prst="rect">
            <a:avLst/>
          </a:prstGeom>
        </p:spPr>
        <p:txBody>
          <a:bodyPr wrap="square">
            <a:spAutoFit/>
          </a:bodyPr>
          <a:lstStyle/>
          <a:p>
            <a:pPr algn="ctr"/>
            <a:r>
              <a:rPr lang="zh-CN" altLang="en-US" sz="4050" b="1" dirty="0">
                <a:solidFill>
                  <a:schemeClr val="accent5">
                    <a:lumMod val="50000"/>
                  </a:schemeClr>
                </a:solidFill>
                <a:latin typeface="微软雅黑" panose="020B0503020204020204" pitchFamily="34" charset="-122"/>
                <a:ea typeface="微软雅黑" panose="020B0503020204020204" pitchFamily="34" charset="-122"/>
                <a:cs typeface="阿里巴巴普惠体 B" panose="00020600040101010101" pitchFamily="18" charset="-122"/>
              </a:rPr>
              <a:t>实验二  编码器和译码器及应用</a:t>
            </a:r>
          </a:p>
        </p:txBody>
      </p:sp>
    </p:spTree>
    <p:custDataLst>
      <p:tags r:id="rId1"/>
    </p:custDataLst>
    <p:extLst>
      <p:ext uri="{BB962C8B-B14F-4D97-AF65-F5344CB8AC3E}">
        <p14:creationId xmlns:p14="http://schemas.microsoft.com/office/powerpoint/2010/main" val="2384134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3" name="文本框 2">
            <a:extLst>
              <a:ext uri="{FF2B5EF4-FFF2-40B4-BE49-F238E27FC236}">
                <a16:creationId xmlns:a16="http://schemas.microsoft.com/office/drawing/2014/main" id="{8A32143D-1B5D-13C0-4E89-AFFBFCBE87DF}"/>
              </a:ext>
            </a:extLst>
          </p:cNvPr>
          <p:cNvSpPr txBox="1"/>
          <p:nvPr/>
        </p:nvSpPr>
        <p:spPr>
          <a:xfrm>
            <a:off x="542746" y="806600"/>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实验目的</a:t>
            </a:r>
            <a:endParaRPr lang="en-US" altLang="zh-CN" sz="2400" b="1" dirty="0">
              <a:latin typeface="+mn-ea"/>
            </a:endParaRPr>
          </a:p>
        </p:txBody>
      </p:sp>
      <p:sp>
        <p:nvSpPr>
          <p:cNvPr id="4" name="文本框 3">
            <a:extLst>
              <a:ext uri="{FF2B5EF4-FFF2-40B4-BE49-F238E27FC236}">
                <a16:creationId xmlns:a16="http://schemas.microsoft.com/office/drawing/2014/main" id="{E1D2CB00-23E1-5102-4A5B-7A99A5DE87B4}"/>
              </a:ext>
            </a:extLst>
          </p:cNvPr>
          <p:cNvSpPr txBox="1"/>
          <p:nvPr/>
        </p:nvSpPr>
        <p:spPr>
          <a:xfrm>
            <a:off x="918324" y="1428080"/>
            <a:ext cx="7633082" cy="861070"/>
          </a:xfrm>
          <a:prstGeom prst="rect">
            <a:avLst/>
          </a:prstGeom>
          <a:noFill/>
        </p:spPr>
        <p:txBody>
          <a:bodyPr wrap="square" rtlCol="0">
            <a:spAutoFit/>
          </a:bodyPr>
          <a:lstStyle/>
          <a:p>
            <a:pPr marL="457200" indent="-457200">
              <a:lnSpc>
                <a:spcPct val="130000"/>
              </a:lnSpc>
              <a:buFont typeface="+mj-ea"/>
              <a:buAutoNum type="circleNumDbPlain"/>
            </a:pPr>
            <a:r>
              <a:rPr lang="zh-CN" altLang="en-US" sz="2000" b="1" dirty="0"/>
              <a:t>掌握中规模集成电路译码器、编码器的逻辑功能和使用方法。</a:t>
            </a:r>
          </a:p>
          <a:p>
            <a:pPr marL="457200" indent="-457200">
              <a:lnSpc>
                <a:spcPct val="130000"/>
              </a:lnSpc>
              <a:buFont typeface="+mj-ea"/>
              <a:buAutoNum type="circleNumDbPlain"/>
            </a:pPr>
            <a:r>
              <a:rPr lang="zh-CN" altLang="en-US" sz="2000" b="1" dirty="0"/>
              <a:t>利用译码器进行组合逻辑电路设计。</a:t>
            </a:r>
          </a:p>
        </p:txBody>
      </p:sp>
      <p:sp>
        <p:nvSpPr>
          <p:cNvPr id="5" name="文本框 4">
            <a:extLst>
              <a:ext uri="{FF2B5EF4-FFF2-40B4-BE49-F238E27FC236}">
                <a16:creationId xmlns:a16="http://schemas.microsoft.com/office/drawing/2014/main" id="{462F60DD-91DB-7CBE-99DD-72E80601B04E}"/>
              </a:ext>
            </a:extLst>
          </p:cNvPr>
          <p:cNvSpPr txBox="1"/>
          <p:nvPr/>
        </p:nvSpPr>
        <p:spPr>
          <a:xfrm>
            <a:off x="542746" y="2246225"/>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实验原理</a:t>
            </a:r>
            <a:endParaRPr lang="en-US" altLang="zh-CN" sz="2400" b="1" dirty="0">
              <a:latin typeface="+mn-ea"/>
            </a:endParaRPr>
          </a:p>
        </p:txBody>
      </p:sp>
      <p:sp>
        <p:nvSpPr>
          <p:cNvPr id="8" name="文本框 7">
            <a:extLst>
              <a:ext uri="{FF2B5EF4-FFF2-40B4-BE49-F238E27FC236}">
                <a16:creationId xmlns:a16="http://schemas.microsoft.com/office/drawing/2014/main" id="{A450FF63-3E19-D1BB-2506-05425AFEA163}"/>
              </a:ext>
            </a:extLst>
          </p:cNvPr>
          <p:cNvSpPr txBox="1"/>
          <p:nvPr/>
        </p:nvSpPr>
        <p:spPr>
          <a:xfrm>
            <a:off x="862590" y="2950502"/>
            <a:ext cx="7633082" cy="2461508"/>
          </a:xfrm>
          <a:prstGeom prst="rect">
            <a:avLst/>
          </a:prstGeom>
          <a:noFill/>
        </p:spPr>
        <p:txBody>
          <a:bodyPr wrap="square" rtlCol="0">
            <a:spAutoFit/>
          </a:bodyPr>
          <a:lstStyle/>
          <a:p>
            <a:pPr marL="457200" indent="-457200" algn="just">
              <a:lnSpc>
                <a:spcPct val="130000"/>
              </a:lnSpc>
              <a:buFont typeface="+mj-ea"/>
              <a:buAutoNum type="circleNumDbPlain"/>
            </a:pPr>
            <a:r>
              <a:rPr lang="zh-CN" altLang="en-US" sz="2000" b="1" dirty="0"/>
              <a:t>编码器</a:t>
            </a:r>
            <a:endParaRPr lang="en-US" altLang="zh-CN" sz="2000" b="1" dirty="0"/>
          </a:p>
          <a:p>
            <a:pPr marL="0" lvl="1" indent="457200" algn="just">
              <a:lnSpc>
                <a:spcPct val="130000"/>
              </a:lnSpc>
            </a:pPr>
            <a:r>
              <a:rPr lang="zh-CN" altLang="en-US" sz="2000" b="1" dirty="0"/>
              <a:t>编码器的逻辑功能是将加在电路若干个输入端中的某一个输入信号变换成相应的一组二进制代码输出。</a:t>
            </a:r>
            <a:endParaRPr lang="en-US" altLang="zh-CN" sz="2000" b="1" dirty="0"/>
          </a:p>
          <a:p>
            <a:pPr marL="0" lvl="1" indent="457200" algn="just">
              <a:lnSpc>
                <a:spcPct val="130000"/>
              </a:lnSpc>
            </a:pPr>
            <a:r>
              <a:rPr lang="zh-CN" altLang="en-US" sz="2000" b="1" dirty="0"/>
              <a:t>在优先编码器中允许同时在几个输入线上加输入信号，而在几个输入线上同时出现几个输入信号时，只对其中优先权最高的一个输入信号进行编码。</a:t>
            </a:r>
          </a:p>
        </p:txBody>
      </p:sp>
    </p:spTree>
    <p:custDataLst>
      <p:tags r:id="rId1"/>
    </p:custDataLst>
    <p:extLst>
      <p:ext uri="{BB962C8B-B14F-4D97-AF65-F5344CB8AC3E}">
        <p14:creationId xmlns:p14="http://schemas.microsoft.com/office/powerpoint/2010/main" val="1914391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5" name="文本框 4">
            <a:extLst>
              <a:ext uri="{FF2B5EF4-FFF2-40B4-BE49-F238E27FC236}">
                <a16:creationId xmlns:a16="http://schemas.microsoft.com/office/drawing/2014/main" id="{462F60DD-91DB-7CBE-99DD-72E80601B04E}"/>
              </a:ext>
            </a:extLst>
          </p:cNvPr>
          <p:cNvSpPr txBox="1"/>
          <p:nvPr/>
        </p:nvSpPr>
        <p:spPr>
          <a:xfrm>
            <a:off x="397540" y="845192"/>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实验原理</a:t>
            </a:r>
            <a:endParaRPr lang="en-US" altLang="zh-CN" sz="2400" b="1" dirty="0">
              <a:latin typeface="+mn-ea"/>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6D2B623-F4DF-FBD6-641E-9D0ECCC39854}"/>
                  </a:ext>
                </a:extLst>
              </p:cNvPr>
              <p:cNvSpPr txBox="1"/>
              <p:nvPr/>
            </p:nvSpPr>
            <p:spPr>
              <a:xfrm>
                <a:off x="567084" y="1466404"/>
                <a:ext cx="8009831" cy="2061398"/>
              </a:xfrm>
              <a:prstGeom prst="rect">
                <a:avLst/>
              </a:prstGeom>
              <a:noFill/>
            </p:spPr>
            <p:txBody>
              <a:bodyPr wrap="square" rtlCol="0">
                <a:spAutoFit/>
              </a:bodyPr>
              <a:lstStyle/>
              <a:p>
                <a:pPr indent="457200" algn="just">
                  <a:lnSpc>
                    <a:spcPct val="130000"/>
                  </a:lnSpc>
                </a:pPr>
                <a:r>
                  <a:rPr lang="zh-CN" altLang="en-US" sz="2000" b="1" dirty="0"/>
                  <a:t>图</a:t>
                </a:r>
                <a:r>
                  <a:rPr lang="en-US" altLang="zh-CN" sz="2000" b="1" dirty="0"/>
                  <a:t>2–3–1</a:t>
                </a:r>
                <a:r>
                  <a:rPr lang="zh-CN" altLang="en-US" sz="2000" b="1" dirty="0"/>
                  <a:t>给出</a:t>
                </a:r>
                <a:r>
                  <a:rPr lang="en-US" altLang="zh-CN" sz="2000" b="1" dirty="0"/>
                  <a:t>8</a:t>
                </a:r>
                <a:r>
                  <a:rPr lang="zh-CN" altLang="en-US" sz="2000" b="1" dirty="0"/>
                  <a:t>线－</a:t>
                </a:r>
                <a:r>
                  <a:rPr lang="en-US" altLang="zh-CN" sz="2000" b="1" dirty="0"/>
                  <a:t>3</a:t>
                </a:r>
                <a:r>
                  <a:rPr lang="zh-CN" altLang="en-US" sz="2000" b="1" dirty="0"/>
                  <a:t>线优先编码器</a:t>
                </a:r>
                <a:r>
                  <a:rPr lang="en-US" altLang="zh-CN" sz="2000" b="1" dirty="0"/>
                  <a:t>74LS148</a:t>
                </a:r>
                <a:r>
                  <a:rPr lang="zh-CN" altLang="en-US" sz="2000" b="1" dirty="0"/>
                  <a:t>的引脚排列图。</a:t>
                </a:r>
                <a14:m>
                  <m:oMath xmlns:m="http://schemas.openxmlformats.org/officeDocument/2006/math">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𝑺</m:t>
                        </m:r>
                      </m:e>
                    </m:acc>
                  </m:oMath>
                </a14:m>
                <a:r>
                  <a:rPr lang="zh-CN" altLang="en-US" sz="2000" b="1" dirty="0"/>
                  <a:t>为输入控制端或称选通输入端。选通输出端</a:t>
                </a:r>
                <a14:m>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𝑺</m:t>
                        </m:r>
                      </m:sub>
                    </m:sSub>
                  </m:oMath>
                </a14:m>
                <a:r>
                  <a:rPr lang="zh-CN" altLang="en-US" sz="2000" b="1" dirty="0"/>
                  <a:t>和扩展端</a:t>
                </a:r>
                <a14:m>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𝑬𝑿</m:t>
                        </m:r>
                      </m:sub>
                    </m:sSub>
                  </m:oMath>
                </a14:m>
                <a:r>
                  <a:rPr lang="zh-CN" altLang="en-US" sz="2000" b="1" dirty="0"/>
                  <a:t>用于扩展编码功能。</a:t>
                </a:r>
                <a14:m>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𝑰𝑵</m:t>
                            </m:r>
                          </m:e>
                        </m:acc>
                      </m:e>
                      <m:sub>
                        <m:r>
                          <a:rPr lang="en-US" altLang="zh-CN" sz="2000" b="1" i="1" smtClean="0">
                            <a:latin typeface="Cambria Math" panose="02040503050406030204" pitchFamily="18" charset="0"/>
                          </a:rPr>
                          <m:t>𝟎</m:t>
                        </m:r>
                      </m:sub>
                    </m:sSub>
                    <m:r>
                      <a:rPr lang="en-US" altLang="zh-CN" sz="2000" b="1" i="1" smtClean="0">
                        <a:latin typeface="Cambria Math" panose="02040503050406030204" pitchFamily="18" charset="0"/>
                      </a:rPr>
                      <m:t>~</m:t>
                    </m:r>
                    <m:sSub>
                      <m:sSubPr>
                        <m:ctrlPr>
                          <a:rPr lang="en-US" altLang="zh-CN" sz="2000" b="1" i="1">
                            <a:latin typeface="Cambria Math" panose="02040503050406030204" pitchFamily="18" charset="0"/>
                          </a:rPr>
                        </m:ctrlPr>
                      </m:sSubPr>
                      <m:e>
                        <m:acc>
                          <m:accPr>
                            <m:chr m:val="̅"/>
                            <m:ctrlPr>
                              <a:rPr lang="en-US" altLang="zh-CN" sz="2000" b="1" i="1">
                                <a:latin typeface="Cambria Math" panose="02040503050406030204" pitchFamily="18" charset="0"/>
                              </a:rPr>
                            </m:ctrlPr>
                          </m:accPr>
                          <m:e>
                            <m:r>
                              <a:rPr lang="en-US" altLang="zh-CN" sz="2000" b="1" i="1">
                                <a:latin typeface="Cambria Math" panose="02040503050406030204" pitchFamily="18" charset="0"/>
                              </a:rPr>
                              <m:t>𝑰𝑵</m:t>
                            </m:r>
                          </m:e>
                        </m:acc>
                      </m:e>
                      <m:sub>
                        <m:r>
                          <a:rPr lang="en-US" altLang="zh-CN" sz="2000" b="1" i="1" smtClean="0">
                            <a:latin typeface="Cambria Math" panose="02040503050406030204" pitchFamily="18" charset="0"/>
                          </a:rPr>
                          <m:t>𝟕</m:t>
                        </m:r>
                      </m:sub>
                    </m:sSub>
                  </m:oMath>
                </a14:m>
                <a:r>
                  <a:rPr lang="zh-CN" altLang="en-US" sz="2000" b="1" dirty="0"/>
                  <a:t>是</a:t>
                </a:r>
                <a:r>
                  <a:rPr lang="en-US" altLang="zh-CN" sz="2000" b="1" dirty="0"/>
                  <a:t>8</a:t>
                </a:r>
                <a:r>
                  <a:rPr lang="zh-CN" altLang="en-US" sz="2000" b="1" dirty="0"/>
                  <a:t>个编码对象。</a:t>
                </a:r>
                <a:r>
                  <a:rPr lang="en-US" altLang="zh-CN" sz="2000" b="1" dirty="0"/>
                  <a:t> </a:t>
                </a:r>
                <a14:m>
                  <m:oMath xmlns:m="http://schemas.openxmlformats.org/officeDocument/2006/math">
                    <m:sSub>
                      <m:sSubPr>
                        <m:ctrlPr>
                          <a:rPr lang="en-US" altLang="zh-CN" sz="2000" b="1" i="1">
                            <a:latin typeface="Cambria Math" panose="02040503050406030204" pitchFamily="18" charset="0"/>
                          </a:rPr>
                        </m:ctrlPr>
                      </m:sSubPr>
                      <m:e>
                        <m:acc>
                          <m:accPr>
                            <m:chr m:val="̅"/>
                            <m:ctrlPr>
                              <a:rPr lang="en-US" altLang="zh-CN" sz="2000" b="1" i="1">
                                <a:latin typeface="Cambria Math" panose="02040503050406030204" pitchFamily="18" charset="0"/>
                              </a:rPr>
                            </m:ctrlPr>
                          </m:accPr>
                          <m:e>
                            <m:r>
                              <a:rPr lang="en-US" altLang="zh-CN" sz="2000" b="1" i="1">
                                <a:latin typeface="Cambria Math" panose="02040503050406030204" pitchFamily="18" charset="0"/>
                              </a:rPr>
                              <m:t>𝑰𝑵</m:t>
                            </m:r>
                          </m:e>
                        </m:acc>
                      </m:e>
                      <m:sub>
                        <m:r>
                          <a:rPr lang="en-US" altLang="zh-CN" sz="2000" b="1" i="1">
                            <a:latin typeface="Cambria Math" panose="02040503050406030204" pitchFamily="18" charset="0"/>
                          </a:rPr>
                          <m:t>𝟕</m:t>
                        </m:r>
                      </m:sub>
                    </m:sSub>
                  </m:oMath>
                </a14:m>
                <a:r>
                  <a:rPr lang="zh-CN" altLang="en-US" sz="2000" b="1" dirty="0"/>
                  <a:t>的优先权最高，</a:t>
                </a:r>
                <a:r>
                  <a:rPr lang="en-US" altLang="zh-CN" sz="2000" b="1" dirty="0"/>
                  <a:t> </a:t>
                </a:r>
                <a14:m>
                  <m:oMath xmlns:m="http://schemas.openxmlformats.org/officeDocument/2006/math">
                    <m:sSub>
                      <m:sSubPr>
                        <m:ctrlPr>
                          <a:rPr lang="en-US" altLang="zh-CN" sz="2000" b="1" i="1">
                            <a:latin typeface="Cambria Math" panose="02040503050406030204" pitchFamily="18" charset="0"/>
                          </a:rPr>
                        </m:ctrlPr>
                      </m:sSubPr>
                      <m:e>
                        <m:acc>
                          <m:accPr>
                            <m:chr m:val="̅"/>
                            <m:ctrlPr>
                              <a:rPr lang="en-US" altLang="zh-CN" sz="2000" b="1" i="1">
                                <a:latin typeface="Cambria Math" panose="02040503050406030204" pitchFamily="18" charset="0"/>
                              </a:rPr>
                            </m:ctrlPr>
                          </m:accPr>
                          <m:e>
                            <m:r>
                              <a:rPr lang="en-US" altLang="zh-CN" sz="2000" b="1" i="1">
                                <a:latin typeface="Cambria Math" panose="02040503050406030204" pitchFamily="18" charset="0"/>
                              </a:rPr>
                              <m:t>𝑰𝑵</m:t>
                            </m:r>
                          </m:e>
                        </m:acc>
                      </m:e>
                      <m:sub>
                        <m:r>
                          <a:rPr lang="en-US" altLang="zh-CN" sz="2000" b="1" i="1">
                            <a:latin typeface="Cambria Math" panose="02040503050406030204" pitchFamily="18" charset="0"/>
                          </a:rPr>
                          <m:t>𝟎</m:t>
                        </m:r>
                      </m:sub>
                    </m:sSub>
                  </m:oMath>
                </a14:m>
                <a:r>
                  <a:rPr lang="zh-CN" altLang="en-US" sz="2000" b="1" dirty="0"/>
                  <a:t>的优先权最低。编码的输出是</a:t>
                </a:r>
                <a:r>
                  <a:rPr lang="en-US" altLang="zh-CN" sz="2000" b="1" dirty="0"/>
                  <a:t>3</a:t>
                </a:r>
                <a:r>
                  <a:rPr lang="zh-CN" altLang="en-US" sz="2000" b="1" dirty="0"/>
                  <a:t>位二进制代码，用</a:t>
                </a:r>
                <a14:m>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𝟐</m:t>
                        </m:r>
                      </m:sub>
                    </m:sSub>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𝟏</m:t>
                        </m:r>
                      </m:sub>
                    </m:sSub>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𝟎</m:t>
                        </m:r>
                      </m:sub>
                    </m:sSub>
                  </m:oMath>
                </a14:m>
                <a:r>
                  <a:rPr lang="zh-CN" altLang="en-US" sz="2000" b="1" dirty="0"/>
                  <a:t>表示。表</a:t>
                </a:r>
                <a:r>
                  <a:rPr lang="en-US" altLang="zh-CN" sz="2000" b="1" dirty="0"/>
                  <a:t>2–3–1</a:t>
                </a:r>
                <a:r>
                  <a:rPr lang="zh-CN" altLang="en-US" sz="2000" b="1" dirty="0"/>
                  <a:t>为</a:t>
                </a:r>
                <a:r>
                  <a:rPr lang="en-US" altLang="zh-CN" sz="2000" b="1" dirty="0"/>
                  <a:t>8</a:t>
                </a:r>
                <a:r>
                  <a:rPr lang="zh-CN" altLang="en-US" sz="2000" b="1" dirty="0"/>
                  <a:t>线－</a:t>
                </a:r>
                <a:r>
                  <a:rPr lang="en-US" altLang="zh-CN" sz="2000" b="1" dirty="0"/>
                  <a:t>3</a:t>
                </a:r>
                <a:r>
                  <a:rPr lang="zh-CN" altLang="en-US" sz="2000" b="1" dirty="0"/>
                  <a:t>线优先编码器的真值表。</a:t>
                </a:r>
              </a:p>
            </p:txBody>
          </p:sp>
        </mc:Choice>
        <mc:Fallback xmlns="">
          <p:sp>
            <p:nvSpPr>
              <p:cNvPr id="6" name="文本框 5">
                <a:extLst>
                  <a:ext uri="{FF2B5EF4-FFF2-40B4-BE49-F238E27FC236}">
                    <a16:creationId xmlns:a16="http://schemas.microsoft.com/office/drawing/2014/main" id="{C6D2B623-F4DF-FBD6-641E-9D0ECCC39854}"/>
                  </a:ext>
                </a:extLst>
              </p:cNvPr>
              <p:cNvSpPr txBox="1">
                <a:spLocks noRot="1" noChangeAspect="1" noMove="1" noResize="1" noEditPoints="1" noAdjustHandles="1" noChangeArrowheads="1" noChangeShapeType="1" noTextEdit="1"/>
              </p:cNvSpPr>
              <p:nvPr/>
            </p:nvSpPr>
            <p:spPr>
              <a:xfrm>
                <a:off x="567084" y="1466404"/>
                <a:ext cx="8009831" cy="2061398"/>
              </a:xfrm>
              <a:prstGeom prst="rect">
                <a:avLst/>
              </a:prstGeom>
              <a:blipFill>
                <a:blip r:embed="rId5"/>
                <a:stretch>
                  <a:fillRect l="-761" r="-3957" b="-4438"/>
                </a:stretch>
              </a:blipFill>
            </p:spPr>
            <p:txBody>
              <a:bodyPr/>
              <a:lstStyle/>
              <a:p>
                <a:r>
                  <a:rPr lang="zh-CN" altLang="en-US">
                    <a:noFill/>
                  </a:rPr>
                  <a:t> </a:t>
                </a:r>
              </a:p>
            </p:txBody>
          </p:sp>
        </mc:Fallback>
      </mc:AlternateContent>
      <p:graphicFrame>
        <p:nvGraphicFramePr>
          <p:cNvPr id="8" name="Object 4">
            <a:extLst>
              <a:ext uri="{FF2B5EF4-FFF2-40B4-BE49-F238E27FC236}">
                <a16:creationId xmlns:a16="http://schemas.microsoft.com/office/drawing/2014/main" id="{8115659F-C27A-0459-B81B-8B3C50DA1630}"/>
              </a:ext>
            </a:extLst>
          </p:cNvPr>
          <p:cNvGraphicFramePr>
            <a:graphicFrameLocks noChangeAspect="1"/>
          </p:cNvGraphicFramePr>
          <p:nvPr>
            <p:extLst>
              <p:ext uri="{D42A27DB-BD31-4B8C-83A1-F6EECF244321}">
                <p14:modId xmlns:p14="http://schemas.microsoft.com/office/powerpoint/2010/main" val="2599799767"/>
              </p:ext>
            </p:extLst>
          </p:nvPr>
        </p:nvGraphicFramePr>
        <p:xfrm>
          <a:off x="2850627" y="3205973"/>
          <a:ext cx="3691455" cy="2421624"/>
        </p:xfrm>
        <a:graphic>
          <a:graphicData uri="http://schemas.openxmlformats.org/presentationml/2006/ole">
            <mc:AlternateContent xmlns:mc="http://schemas.openxmlformats.org/markup-compatibility/2006">
              <mc:Choice xmlns:v="urn:schemas-microsoft-com:vml" Requires="v">
                <p:oleObj spid="_x0000_s1027" name="位图图像" r:id="rId6" imgW="1914286" imgH="1523810" progId="Paint.Picture">
                  <p:embed/>
                </p:oleObj>
              </mc:Choice>
              <mc:Fallback>
                <p:oleObj name="位图图像" r:id="rId6" imgW="1914286" imgH="1523810" progId="Paint.Picture">
                  <p:embed/>
                  <p:pic>
                    <p:nvPicPr>
                      <p:cNvPr id="91140" name="Object 4">
                        <a:extLst>
                          <a:ext uri="{FF2B5EF4-FFF2-40B4-BE49-F238E27FC236}">
                            <a16:creationId xmlns:a16="http://schemas.microsoft.com/office/drawing/2014/main" id="{6D2A6031-0F47-FFDF-7609-BE30D0D98BB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50627" y="3205973"/>
                        <a:ext cx="3691455" cy="2421624"/>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DA63CB3-AA85-389B-5A6B-8C934B7B243A}"/>
                  </a:ext>
                </a:extLst>
              </p:cNvPr>
              <p:cNvSpPr txBox="1"/>
              <p:nvPr/>
            </p:nvSpPr>
            <p:spPr>
              <a:xfrm>
                <a:off x="567084" y="5690388"/>
                <a:ext cx="8009831" cy="861774"/>
              </a:xfrm>
              <a:prstGeom prst="rect">
                <a:avLst/>
              </a:prstGeom>
              <a:noFill/>
            </p:spPr>
            <p:txBody>
              <a:bodyPr wrap="square" rtlCol="0">
                <a:spAutoFit/>
              </a:bodyPr>
              <a:lstStyle/>
              <a:p>
                <a:pPr indent="457200">
                  <a:lnSpc>
                    <a:spcPct val="130000"/>
                  </a:lnSpc>
                </a:pPr>
                <a:r>
                  <a:rPr lang="zh-CN" altLang="en-US" sz="2000" b="1" dirty="0"/>
                  <a:t>在</a:t>
                </a:r>
                <a14:m>
                  <m:oMath xmlns:m="http://schemas.openxmlformats.org/officeDocument/2006/math">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𝑺</m:t>
                        </m:r>
                      </m:e>
                    </m:acc>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𝟎</m:t>
                    </m:r>
                  </m:oMath>
                </a14:m>
                <a:r>
                  <a:rPr lang="zh-CN" altLang="en-US" sz="2000" b="1" dirty="0"/>
                  <a:t>时，编码器允许工作。当 </a:t>
                </a:r>
                <a14:m>
                  <m:oMath xmlns:m="http://schemas.openxmlformats.org/officeDocument/2006/math">
                    <m:sSub>
                      <m:sSubPr>
                        <m:ctrlPr>
                          <a:rPr lang="en-US" altLang="zh-CN" sz="2000" b="1" i="1">
                            <a:latin typeface="Cambria Math" panose="02040503050406030204" pitchFamily="18" charset="0"/>
                          </a:rPr>
                        </m:ctrlPr>
                      </m:sSubPr>
                      <m:e>
                        <m:acc>
                          <m:accPr>
                            <m:chr m:val="̅"/>
                            <m:ctrlPr>
                              <a:rPr lang="en-US" altLang="zh-CN" sz="2000" b="1" i="1">
                                <a:latin typeface="Cambria Math" panose="02040503050406030204" pitchFamily="18" charset="0"/>
                              </a:rPr>
                            </m:ctrlPr>
                          </m:accPr>
                          <m:e>
                            <m:r>
                              <a:rPr lang="en-US" altLang="zh-CN" sz="2000" b="1" i="1">
                                <a:latin typeface="Cambria Math" panose="02040503050406030204" pitchFamily="18" charset="0"/>
                              </a:rPr>
                              <m:t>𝑰𝑵</m:t>
                            </m:r>
                          </m:e>
                        </m:acc>
                      </m:e>
                      <m:sub>
                        <m:r>
                          <a:rPr lang="en-US" altLang="zh-CN" sz="2000" b="1" i="1">
                            <a:latin typeface="Cambria Math" panose="02040503050406030204" pitchFamily="18" charset="0"/>
                          </a:rPr>
                          <m:t>𝟎</m:t>
                        </m:r>
                      </m:sub>
                    </m:sSub>
                    <m:r>
                      <a:rPr lang="en-US" altLang="zh-CN" sz="2000" b="1" i="1">
                        <a:latin typeface="Cambria Math" panose="02040503050406030204" pitchFamily="18" charset="0"/>
                      </a:rPr>
                      <m:t>~</m:t>
                    </m:r>
                    <m:sSub>
                      <m:sSubPr>
                        <m:ctrlPr>
                          <a:rPr lang="en-US" altLang="zh-CN" sz="2000" b="1" i="1">
                            <a:latin typeface="Cambria Math" panose="02040503050406030204" pitchFamily="18" charset="0"/>
                          </a:rPr>
                        </m:ctrlPr>
                      </m:sSubPr>
                      <m:e>
                        <m:acc>
                          <m:accPr>
                            <m:chr m:val="̅"/>
                            <m:ctrlPr>
                              <a:rPr lang="en-US" altLang="zh-CN" sz="2000" b="1" i="1">
                                <a:latin typeface="Cambria Math" panose="02040503050406030204" pitchFamily="18" charset="0"/>
                              </a:rPr>
                            </m:ctrlPr>
                          </m:accPr>
                          <m:e>
                            <m:r>
                              <a:rPr lang="en-US" altLang="zh-CN" sz="2000" b="1" i="1">
                                <a:latin typeface="Cambria Math" panose="02040503050406030204" pitchFamily="18" charset="0"/>
                              </a:rPr>
                              <m:t>𝑰𝑵</m:t>
                            </m:r>
                          </m:e>
                        </m:acc>
                      </m:e>
                      <m:sub>
                        <m:r>
                          <a:rPr lang="en-US" altLang="zh-CN" sz="2000" b="1" i="1">
                            <a:latin typeface="Cambria Math" panose="02040503050406030204" pitchFamily="18" charset="0"/>
                          </a:rPr>
                          <m:t>𝟕</m:t>
                        </m:r>
                      </m:sub>
                    </m:sSub>
                    <m:r>
                      <a:rPr lang="en-US" altLang="zh-CN" sz="2000" b="1" i="1">
                        <a:latin typeface="Cambria Math" panose="02040503050406030204" pitchFamily="18" charset="0"/>
                      </a:rPr>
                      <m:t> </m:t>
                    </m:r>
                  </m:oMath>
                </a14:m>
                <a:r>
                  <a:rPr lang="en-US" altLang="zh-CN" sz="2000" b="1" dirty="0"/>
                  <a:t>8</a:t>
                </a:r>
                <a:r>
                  <a:rPr lang="zh-CN" altLang="en-US" sz="2000" b="1" dirty="0"/>
                  <a:t>条输入线中有一条为</a:t>
                </a:r>
                <a:r>
                  <a:rPr lang="en-US" altLang="zh-CN" sz="2000" b="1" dirty="0"/>
                  <a:t>0</a:t>
                </a:r>
                <a:r>
                  <a:rPr lang="zh-CN" altLang="en-US" sz="2000" b="1" dirty="0"/>
                  <a:t>时，输出一组优先权最高的有效输入所对应的二进制代码。</a:t>
                </a:r>
              </a:p>
            </p:txBody>
          </p:sp>
        </mc:Choice>
        <mc:Fallback xmlns="">
          <p:sp>
            <p:nvSpPr>
              <p:cNvPr id="9" name="文本框 8">
                <a:extLst>
                  <a:ext uri="{FF2B5EF4-FFF2-40B4-BE49-F238E27FC236}">
                    <a16:creationId xmlns:a16="http://schemas.microsoft.com/office/drawing/2014/main" id="{7DA63CB3-AA85-389B-5A6B-8C934B7B243A}"/>
                  </a:ext>
                </a:extLst>
              </p:cNvPr>
              <p:cNvSpPr txBox="1">
                <a:spLocks noRot="1" noChangeAspect="1" noMove="1" noResize="1" noEditPoints="1" noAdjustHandles="1" noChangeArrowheads="1" noChangeShapeType="1" noTextEdit="1"/>
              </p:cNvSpPr>
              <p:nvPr/>
            </p:nvSpPr>
            <p:spPr>
              <a:xfrm>
                <a:off x="567084" y="5690388"/>
                <a:ext cx="8009831" cy="861774"/>
              </a:xfrm>
              <a:prstGeom prst="rect">
                <a:avLst/>
              </a:prstGeom>
              <a:blipFill>
                <a:blip r:embed="rId7"/>
                <a:stretch>
                  <a:fillRect l="-761" r="-837" b="-11268"/>
                </a:stretch>
              </a:blipFill>
            </p:spPr>
            <p:txBody>
              <a:bodyPr/>
              <a:lstStyle/>
              <a:p>
                <a:r>
                  <a:rPr lang="zh-CN" altLang="en-US">
                    <a:noFill/>
                  </a:rPr>
                  <a:t> </a:t>
                </a:r>
              </a:p>
            </p:txBody>
          </p:sp>
        </mc:Fallback>
      </mc:AlternateContent>
    </p:spTree>
    <p:custDataLst>
      <p:tags r:id="rId2"/>
    </p:custDataLst>
    <p:extLst>
      <p:ext uri="{BB962C8B-B14F-4D97-AF65-F5344CB8AC3E}">
        <p14:creationId xmlns:p14="http://schemas.microsoft.com/office/powerpoint/2010/main" val="38630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5" name="文本框 4">
            <a:extLst>
              <a:ext uri="{FF2B5EF4-FFF2-40B4-BE49-F238E27FC236}">
                <a16:creationId xmlns:a16="http://schemas.microsoft.com/office/drawing/2014/main" id="{462F60DD-91DB-7CBE-99DD-72E80601B04E}"/>
              </a:ext>
            </a:extLst>
          </p:cNvPr>
          <p:cNvSpPr txBox="1"/>
          <p:nvPr/>
        </p:nvSpPr>
        <p:spPr>
          <a:xfrm>
            <a:off x="397540" y="845192"/>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实验原理</a:t>
            </a:r>
            <a:endParaRPr lang="en-US" altLang="zh-CN" sz="2400" b="1" dirty="0">
              <a:latin typeface="+mn-ea"/>
            </a:endParaRPr>
          </a:p>
        </p:txBody>
      </p:sp>
      <mc:AlternateContent xmlns:mc="http://schemas.openxmlformats.org/markup-compatibility/2006" xmlns:a14="http://schemas.microsoft.com/office/drawing/2010/main">
        <mc:Choice Requires="a14">
          <p:graphicFrame>
            <p:nvGraphicFramePr>
              <p:cNvPr id="4" name="Group 222">
                <a:extLst>
                  <a:ext uri="{FF2B5EF4-FFF2-40B4-BE49-F238E27FC236}">
                    <a16:creationId xmlns:a16="http://schemas.microsoft.com/office/drawing/2014/main" id="{6E5C4054-2B48-81FC-C53C-C87E377E1846}"/>
                  </a:ext>
                </a:extLst>
              </p:cNvPr>
              <p:cNvGraphicFramePr>
                <a:graphicFrameLocks/>
              </p:cNvGraphicFramePr>
              <p:nvPr>
                <p:extLst>
                  <p:ext uri="{D42A27DB-BD31-4B8C-83A1-F6EECF244321}">
                    <p14:modId xmlns:p14="http://schemas.microsoft.com/office/powerpoint/2010/main" val="3408075724"/>
                  </p:ext>
                </p:extLst>
              </p:nvPr>
            </p:nvGraphicFramePr>
            <p:xfrm>
              <a:off x="264360" y="1746839"/>
              <a:ext cx="8748712" cy="4781485"/>
            </p:xfrm>
            <a:graphic>
              <a:graphicData uri="http://schemas.openxmlformats.org/drawingml/2006/table">
                <a:tbl>
                  <a:tblPr/>
                  <a:tblGrid>
                    <a:gridCol w="624908">
                      <a:extLst>
                        <a:ext uri="{9D8B030D-6E8A-4147-A177-3AD203B41FA5}">
                          <a16:colId xmlns:a16="http://schemas.microsoft.com/office/drawing/2014/main" val="2783136199"/>
                        </a:ext>
                      </a:extLst>
                    </a:gridCol>
                    <a:gridCol w="624908">
                      <a:extLst>
                        <a:ext uri="{9D8B030D-6E8A-4147-A177-3AD203B41FA5}">
                          <a16:colId xmlns:a16="http://schemas.microsoft.com/office/drawing/2014/main" val="1531861222"/>
                        </a:ext>
                      </a:extLst>
                    </a:gridCol>
                    <a:gridCol w="624908">
                      <a:extLst>
                        <a:ext uri="{9D8B030D-6E8A-4147-A177-3AD203B41FA5}">
                          <a16:colId xmlns:a16="http://schemas.microsoft.com/office/drawing/2014/main" val="2693838184"/>
                        </a:ext>
                      </a:extLst>
                    </a:gridCol>
                    <a:gridCol w="624908">
                      <a:extLst>
                        <a:ext uri="{9D8B030D-6E8A-4147-A177-3AD203B41FA5}">
                          <a16:colId xmlns:a16="http://schemas.microsoft.com/office/drawing/2014/main" val="989013988"/>
                        </a:ext>
                      </a:extLst>
                    </a:gridCol>
                    <a:gridCol w="624908">
                      <a:extLst>
                        <a:ext uri="{9D8B030D-6E8A-4147-A177-3AD203B41FA5}">
                          <a16:colId xmlns:a16="http://schemas.microsoft.com/office/drawing/2014/main" val="1406940787"/>
                        </a:ext>
                      </a:extLst>
                    </a:gridCol>
                    <a:gridCol w="624908">
                      <a:extLst>
                        <a:ext uri="{9D8B030D-6E8A-4147-A177-3AD203B41FA5}">
                          <a16:colId xmlns:a16="http://schemas.microsoft.com/office/drawing/2014/main" val="1159730526"/>
                        </a:ext>
                      </a:extLst>
                    </a:gridCol>
                    <a:gridCol w="624908">
                      <a:extLst>
                        <a:ext uri="{9D8B030D-6E8A-4147-A177-3AD203B41FA5}">
                          <a16:colId xmlns:a16="http://schemas.microsoft.com/office/drawing/2014/main" val="4211246207"/>
                        </a:ext>
                      </a:extLst>
                    </a:gridCol>
                    <a:gridCol w="624908">
                      <a:extLst>
                        <a:ext uri="{9D8B030D-6E8A-4147-A177-3AD203B41FA5}">
                          <a16:colId xmlns:a16="http://schemas.microsoft.com/office/drawing/2014/main" val="3245464263"/>
                        </a:ext>
                      </a:extLst>
                    </a:gridCol>
                    <a:gridCol w="624908">
                      <a:extLst>
                        <a:ext uri="{9D8B030D-6E8A-4147-A177-3AD203B41FA5}">
                          <a16:colId xmlns:a16="http://schemas.microsoft.com/office/drawing/2014/main" val="119901458"/>
                        </a:ext>
                      </a:extLst>
                    </a:gridCol>
                    <a:gridCol w="624908">
                      <a:extLst>
                        <a:ext uri="{9D8B030D-6E8A-4147-A177-3AD203B41FA5}">
                          <a16:colId xmlns:a16="http://schemas.microsoft.com/office/drawing/2014/main" val="2701810762"/>
                        </a:ext>
                      </a:extLst>
                    </a:gridCol>
                    <a:gridCol w="624908">
                      <a:extLst>
                        <a:ext uri="{9D8B030D-6E8A-4147-A177-3AD203B41FA5}">
                          <a16:colId xmlns:a16="http://schemas.microsoft.com/office/drawing/2014/main" val="2047272758"/>
                        </a:ext>
                      </a:extLst>
                    </a:gridCol>
                    <a:gridCol w="624908">
                      <a:extLst>
                        <a:ext uri="{9D8B030D-6E8A-4147-A177-3AD203B41FA5}">
                          <a16:colId xmlns:a16="http://schemas.microsoft.com/office/drawing/2014/main" val="2733164067"/>
                        </a:ext>
                      </a:extLst>
                    </a:gridCol>
                    <a:gridCol w="624908">
                      <a:extLst>
                        <a:ext uri="{9D8B030D-6E8A-4147-A177-3AD203B41FA5}">
                          <a16:colId xmlns:a16="http://schemas.microsoft.com/office/drawing/2014/main" val="2915464965"/>
                        </a:ext>
                      </a:extLst>
                    </a:gridCol>
                    <a:gridCol w="624908">
                      <a:extLst>
                        <a:ext uri="{9D8B030D-6E8A-4147-A177-3AD203B41FA5}">
                          <a16:colId xmlns:a16="http://schemas.microsoft.com/office/drawing/2014/main" val="293849601"/>
                        </a:ext>
                      </a:extLst>
                    </a:gridCol>
                  </a:tblGrid>
                  <a:tr h="437321">
                    <a:tc gridSpan="9">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chemeClr val="bg1"/>
                              </a:solidFill>
                              <a:effectLst/>
                              <a:latin typeface="+mn-ea"/>
                              <a:ea typeface="+mn-ea"/>
                            </a:rPr>
                            <a:t>输           入</a:t>
                          </a:r>
                          <a:endParaRPr kumimoji="0" lang="zh-CN" altLang="en-US" sz="1800" b="1" i="0" u="none" strike="noStrike" cap="none" normalizeH="0" baseline="0" dirty="0">
                            <a:ln>
                              <a:noFill/>
                            </a:ln>
                            <a:solidFill>
                              <a:schemeClr val="bg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chemeClr val="bg1"/>
                              </a:solidFill>
                              <a:effectLst/>
                              <a:latin typeface="+mn-ea"/>
                              <a:ea typeface="+mn-ea"/>
                            </a:rPr>
                            <a:t>输   出</a:t>
                          </a:r>
                          <a:endParaRPr kumimoji="0" lang="zh-CN" altLang="en-US" sz="1800" b="1" i="0" u="none" strike="noStrike" cap="none" normalizeH="0" baseline="0" dirty="0">
                            <a:ln>
                              <a:noFill/>
                            </a:ln>
                            <a:solidFill>
                              <a:schemeClr val="bg1"/>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39557122"/>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acc>
                                  <m:accPr>
                                    <m:chr m:val="̅"/>
                                    <m:ctrlP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t>𝑺</m:t>
                                    </m:r>
                                  </m:e>
                                </m:acc>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𝑰𝑵</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𝟎</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𝑰𝑵</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𝟏</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𝑰𝑵</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𝟐</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𝑰𝑵</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𝟑</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𝑰𝑵</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𝟒</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𝑰𝑵</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𝟓</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𝑰𝑵</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𝟔</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𝑰𝑵</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𝟕</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𝟐</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𝟏</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𝟎</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t>𝑺</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rgbClr val="FFC000"/>
                                        </a:solidFill>
                                        <a:effectLst/>
                                        <a:latin typeface="Cambria Math" panose="02040503050406030204" pitchFamily="18" charset="0"/>
                                        <a:ea typeface="+mn-ea"/>
                                        <a:cs typeface="+mn-cs"/>
                                      </a:rPr>
                                      <m:t>𝑬𝑿</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3074994415"/>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cap="none" normalizeH="0" baseline="0" smtClean="0">
                                    <a:ln>
                                      <a:noFill/>
                                    </a:ln>
                                    <a:solidFill>
                                      <a:schemeClr val="tx1"/>
                                    </a:solidFill>
                                    <a:effectLst/>
                                    <a:latin typeface="Cambria Math" panose="02040503050406030204" pitchFamily="18" charset="0"/>
                                    <a:ea typeface="+mn-ea"/>
                                  </a:rPr>
                                  <m:t>×</m:t>
                                </m:r>
                              </m:oMath>
                            </m:oMathPara>
                          </a14:m>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1</a:t>
                          </a: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578513"/>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6273382"/>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cap="none" normalizeH="0" baseline="0" smtClean="0">
                                    <a:ln>
                                      <a:noFill/>
                                    </a:ln>
                                    <a:solidFill>
                                      <a:schemeClr val="tx1"/>
                                    </a:solidFill>
                                    <a:effectLst/>
                                    <a:latin typeface="Cambria Math" panose="02040503050406030204" pitchFamily="18" charset="0"/>
                                    <a:ea typeface="+mn-ea"/>
                                  </a:rPr>
                                  <m:t>×</m:t>
                                </m:r>
                              </m:oMath>
                            </m:oMathPara>
                          </a14:m>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870266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cap="none" normalizeH="0" baseline="0" smtClean="0">
                                    <a:ln>
                                      <a:noFill/>
                                    </a:ln>
                                    <a:solidFill>
                                      <a:schemeClr val="tx1"/>
                                    </a:solidFill>
                                    <a:effectLst/>
                                    <a:latin typeface="Cambria Math" panose="02040503050406030204" pitchFamily="18" charset="0"/>
                                    <a:ea typeface="+mn-ea"/>
                                  </a:rPr>
                                  <m:t>×</m:t>
                                </m:r>
                              </m:oMath>
                            </m:oMathPara>
                          </a14:m>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82985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cap="none" normalizeH="0" baseline="0" smtClean="0">
                                    <a:ln>
                                      <a:noFill/>
                                    </a:ln>
                                    <a:solidFill>
                                      <a:schemeClr val="tx1"/>
                                    </a:solidFill>
                                    <a:effectLst/>
                                    <a:latin typeface="Cambria Math" panose="02040503050406030204" pitchFamily="18" charset="0"/>
                                    <a:ea typeface="+mn-ea"/>
                                  </a:rPr>
                                  <m:t>×</m:t>
                                </m:r>
                              </m:oMath>
                            </m:oMathPara>
                          </a14:m>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10403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cap="none" normalizeH="0" baseline="0" smtClean="0">
                                    <a:ln>
                                      <a:noFill/>
                                    </a:ln>
                                    <a:solidFill>
                                      <a:schemeClr val="tx1"/>
                                    </a:solidFill>
                                    <a:effectLst/>
                                    <a:latin typeface="Cambria Math" panose="02040503050406030204" pitchFamily="18" charset="0"/>
                                    <a:ea typeface="+mn-ea"/>
                                  </a:rPr>
                                  <m:t>×</m:t>
                                </m:r>
                              </m:oMath>
                            </m:oMathPara>
                          </a14:m>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4029852"/>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cap="none" normalizeH="0" baseline="0" smtClean="0">
                                    <a:ln>
                                      <a:noFill/>
                                    </a:ln>
                                    <a:solidFill>
                                      <a:schemeClr val="tx1"/>
                                    </a:solidFill>
                                    <a:effectLst/>
                                    <a:latin typeface="Cambria Math" panose="02040503050406030204" pitchFamily="18" charset="0"/>
                                    <a:ea typeface="+mn-ea"/>
                                  </a:rPr>
                                  <m:t>×</m:t>
                                </m:r>
                              </m:oMath>
                            </m:oMathPara>
                          </a14:m>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4445968"/>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cap="none" normalizeH="0" baseline="0" smtClean="0">
                                    <a:ln>
                                      <a:noFill/>
                                    </a:ln>
                                    <a:solidFill>
                                      <a:schemeClr val="tx1"/>
                                    </a:solidFill>
                                    <a:effectLst/>
                                    <a:latin typeface="Cambria Math" panose="02040503050406030204" pitchFamily="18" charset="0"/>
                                    <a:ea typeface="+mn-ea"/>
                                  </a:rPr>
                                  <m:t>×</m:t>
                                </m:r>
                              </m:oMath>
                            </m:oMathPara>
                          </a14:m>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160589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87583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203115629"/>
                      </a:ext>
                    </a:extLst>
                  </a:tr>
                </a:tbl>
              </a:graphicData>
            </a:graphic>
          </p:graphicFrame>
        </mc:Choice>
        <mc:Fallback xmlns="">
          <p:graphicFrame>
            <p:nvGraphicFramePr>
              <p:cNvPr id="4" name="Group 222">
                <a:extLst>
                  <a:ext uri="{FF2B5EF4-FFF2-40B4-BE49-F238E27FC236}">
                    <a16:creationId xmlns:a16="http://schemas.microsoft.com/office/drawing/2014/main" id="{6E5C4054-2B48-81FC-C53C-C87E377E1846}"/>
                  </a:ext>
                </a:extLst>
              </p:cNvPr>
              <p:cNvGraphicFramePr>
                <a:graphicFrameLocks/>
              </p:cNvGraphicFramePr>
              <p:nvPr>
                <p:extLst>
                  <p:ext uri="{D42A27DB-BD31-4B8C-83A1-F6EECF244321}">
                    <p14:modId xmlns:p14="http://schemas.microsoft.com/office/powerpoint/2010/main" val="3408075724"/>
                  </p:ext>
                </p:extLst>
              </p:nvPr>
            </p:nvGraphicFramePr>
            <p:xfrm>
              <a:off x="264360" y="1746839"/>
              <a:ext cx="8748712" cy="4781485"/>
            </p:xfrm>
            <a:graphic>
              <a:graphicData uri="http://schemas.openxmlformats.org/drawingml/2006/table">
                <a:tbl>
                  <a:tblPr/>
                  <a:tblGrid>
                    <a:gridCol w="624908">
                      <a:extLst>
                        <a:ext uri="{9D8B030D-6E8A-4147-A177-3AD203B41FA5}">
                          <a16:colId xmlns:a16="http://schemas.microsoft.com/office/drawing/2014/main" val="2783136199"/>
                        </a:ext>
                      </a:extLst>
                    </a:gridCol>
                    <a:gridCol w="624908">
                      <a:extLst>
                        <a:ext uri="{9D8B030D-6E8A-4147-A177-3AD203B41FA5}">
                          <a16:colId xmlns:a16="http://schemas.microsoft.com/office/drawing/2014/main" val="1531861222"/>
                        </a:ext>
                      </a:extLst>
                    </a:gridCol>
                    <a:gridCol w="624908">
                      <a:extLst>
                        <a:ext uri="{9D8B030D-6E8A-4147-A177-3AD203B41FA5}">
                          <a16:colId xmlns:a16="http://schemas.microsoft.com/office/drawing/2014/main" val="2693838184"/>
                        </a:ext>
                      </a:extLst>
                    </a:gridCol>
                    <a:gridCol w="624908">
                      <a:extLst>
                        <a:ext uri="{9D8B030D-6E8A-4147-A177-3AD203B41FA5}">
                          <a16:colId xmlns:a16="http://schemas.microsoft.com/office/drawing/2014/main" val="989013988"/>
                        </a:ext>
                      </a:extLst>
                    </a:gridCol>
                    <a:gridCol w="624908">
                      <a:extLst>
                        <a:ext uri="{9D8B030D-6E8A-4147-A177-3AD203B41FA5}">
                          <a16:colId xmlns:a16="http://schemas.microsoft.com/office/drawing/2014/main" val="1406940787"/>
                        </a:ext>
                      </a:extLst>
                    </a:gridCol>
                    <a:gridCol w="624908">
                      <a:extLst>
                        <a:ext uri="{9D8B030D-6E8A-4147-A177-3AD203B41FA5}">
                          <a16:colId xmlns:a16="http://schemas.microsoft.com/office/drawing/2014/main" val="1159730526"/>
                        </a:ext>
                      </a:extLst>
                    </a:gridCol>
                    <a:gridCol w="624908">
                      <a:extLst>
                        <a:ext uri="{9D8B030D-6E8A-4147-A177-3AD203B41FA5}">
                          <a16:colId xmlns:a16="http://schemas.microsoft.com/office/drawing/2014/main" val="4211246207"/>
                        </a:ext>
                      </a:extLst>
                    </a:gridCol>
                    <a:gridCol w="624908">
                      <a:extLst>
                        <a:ext uri="{9D8B030D-6E8A-4147-A177-3AD203B41FA5}">
                          <a16:colId xmlns:a16="http://schemas.microsoft.com/office/drawing/2014/main" val="3245464263"/>
                        </a:ext>
                      </a:extLst>
                    </a:gridCol>
                    <a:gridCol w="624908">
                      <a:extLst>
                        <a:ext uri="{9D8B030D-6E8A-4147-A177-3AD203B41FA5}">
                          <a16:colId xmlns:a16="http://schemas.microsoft.com/office/drawing/2014/main" val="119901458"/>
                        </a:ext>
                      </a:extLst>
                    </a:gridCol>
                    <a:gridCol w="624908">
                      <a:extLst>
                        <a:ext uri="{9D8B030D-6E8A-4147-A177-3AD203B41FA5}">
                          <a16:colId xmlns:a16="http://schemas.microsoft.com/office/drawing/2014/main" val="2701810762"/>
                        </a:ext>
                      </a:extLst>
                    </a:gridCol>
                    <a:gridCol w="624908">
                      <a:extLst>
                        <a:ext uri="{9D8B030D-6E8A-4147-A177-3AD203B41FA5}">
                          <a16:colId xmlns:a16="http://schemas.microsoft.com/office/drawing/2014/main" val="2047272758"/>
                        </a:ext>
                      </a:extLst>
                    </a:gridCol>
                    <a:gridCol w="624908">
                      <a:extLst>
                        <a:ext uri="{9D8B030D-6E8A-4147-A177-3AD203B41FA5}">
                          <a16:colId xmlns:a16="http://schemas.microsoft.com/office/drawing/2014/main" val="2733164067"/>
                        </a:ext>
                      </a:extLst>
                    </a:gridCol>
                    <a:gridCol w="624908">
                      <a:extLst>
                        <a:ext uri="{9D8B030D-6E8A-4147-A177-3AD203B41FA5}">
                          <a16:colId xmlns:a16="http://schemas.microsoft.com/office/drawing/2014/main" val="2915464965"/>
                        </a:ext>
                      </a:extLst>
                    </a:gridCol>
                    <a:gridCol w="624908">
                      <a:extLst>
                        <a:ext uri="{9D8B030D-6E8A-4147-A177-3AD203B41FA5}">
                          <a16:colId xmlns:a16="http://schemas.microsoft.com/office/drawing/2014/main" val="293849601"/>
                        </a:ext>
                      </a:extLst>
                    </a:gridCol>
                  </a:tblGrid>
                  <a:tr h="437321">
                    <a:tc gridSpan="9">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chemeClr val="bg1"/>
                              </a:solidFill>
                              <a:effectLst/>
                              <a:latin typeface="+mn-ea"/>
                              <a:ea typeface="+mn-ea"/>
                            </a:rPr>
                            <a:t>输           入</a:t>
                          </a:r>
                          <a:endParaRPr kumimoji="0" lang="zh-CN" altLang="en-US" sz="1800" b="1" i="0" u="none" strike="noStrike" cap="none" normalizeH="0" baseline="0" dirty="0">
                            <a:ln>
                              <a:noFill/>
                            </a:ln>
                            <a:solidFill>
                              <a:schemeClr val="bg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chemeClr val="bg1"/>
                              </a:solidFill>
                              <a:effectLst/>
                              <a:latin typeface="+mn-ea"/>
                              <a:ea typeface="+mn-ea"/>
                            </a:rPr>
                            <a:t>输   出</a:t>
                          </a:r>
                          <a:endParaRPr kumimoji="0" lang="zh-CN" altLang="en-US" sz="1800" b="1" i="0" u="none" strike="noStrike" cap="none" normalizeH="0" baseline="0" dirty="0">
                            <a:ln>
                              <a:noFill/>
                            </a:ln>
                            <a:solidFill>
                              <a:schemeClr val="bg1"/>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39557122"/>
                      </a:ext>
                    </a:extLst>
                  </a:tr>
                  <a:tr h="394924">
                    <a:tc>
                      <a:txBody>
                        <a:bodyPr/>
                        <a:lstStyle/>
                        <a:p>
                          <a:endParaRPr lang="zh-CN"/>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t="-112308" r="-1295146" b="-1018462"/>
                          </a:stretch>
                        </a:blip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100980" t="-112308" r="-1207843"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199029" t="-112308" r="-1096117"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301961" t="-112308" r="-1006863"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398058" t="-112308" r="-897087"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502941" t="-112308" r="-805882"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597087" t="-112308" r="-698058"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697087" t="-112308" r="-598058"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804902" t="-112308" r="-503922" b="-1018462"/>
                          </a:stretch>
                        </a:blipFill>
                      </a:tcPr>
                    </a:tc>
                    <a:tc>
                      <a:txBody>
                        <a:bodyPr/>
                        <a:lstStyle/>
                        <a:p>
                          <a:endParaRPr lang="zh-CN"/>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896117" t="-112308" r="-399029"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1005882" t="-112308" r="-302941"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1095146" t="-112308" r="-200000" b="-1018462"/>
                          </a:stretch>
                        </a:blip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1206863" t="-112308" r="-101961"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blipFill>
                          <a:blip r:embed="rId4"/>
                          <a:stretch>
                            <a:fillRect l="-1294175" t="-112308" r="-971" b="-1018462"/>
                          </a:stretch>
                        </a:blipFill>
                      </a:tcPr>
                    </a:tc>
                    <a:extLst>
                      <a:ext uri="{0D108BD9-81ED-4DB2-BD59-A6C34878D82A}">
                        <a16:rowId xmlns:a16="http://schemas.microsoft.com/office/drawing/2014/main" val="3074994415"/>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980" t="-215625" r="-1207843" b="-934375"/>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99029" t="-215625" r="-1096117" b="-934375"/>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1961" t="-215625" r="-1006863" b="-934375"/>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98058" t="-215625" r="-897087" b="-934375"/>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502941" t="-215625" r="-805882" b="-934375"/>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597087" t="-215625" r="-698058" b="-934375"/>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97087" t="-215625" r="-598058" b="-934375"/>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804902" t="-215625" r="-503922" b="-934375"/>
                          </a:stretch>
                        </a:blip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1</a:t>
                          </a: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solidFill>
                            <a:sysClr val="windowText" lastClr="000000"/>
                          </a:solid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578513"/>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6273382"/>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980" t="-410769" r="-1207843" b="-7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99029" t="-410769" r="-1096117" b="-7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1961" t="-410769" r="-1006863" b="-7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98058" t="-410769" r="-897087" b="-7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502941" t="-410769" r="-805882" b="-7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597087" t="-410769" r="-698058" b="-7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97087" t="-410769" r="-598058" b="-720000"/>
                          </a:stretch>
                        </a:blip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870266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980" t="-510769" r="-1207843" b="-6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99029" t="-510769" r="-1096117" b="-6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1961" t="-510769" r="-1006863" b="-6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98058" t="-510769" r="-897087" b="-6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502941" t="-510769" r="-805882" b="-6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597087" t="-510769" r="-698058" b="-620000"/>
                          </a:stretch>
                        </a:blip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82985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980" t="-610769" r="-1207843" b="-5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99029" t="-610769" r="-1096117" b="-5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1961" t="-610769" r="-1006863" b="-5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98058" t="-610769" r="-897087" b="-5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502941" t="-610769" r="-805882" b="-520000"/>
                          </a:stretch>
                        </a:blip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0</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10403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980" t="-710769" r="-1207843" b="-4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99029" t="-710769" r="-1096117" b="-4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1961" t="-710769" r="-1006863" b="-420000"/>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98058" t="-710769" r="-897087" b="-420000"/>
                          </a:stretch>
                        </a:blip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4029852"/>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980" t="-823438" r="-1207843" b="-326563"/>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99029" t="-823438" r="-1096117" b="-326563"/>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1961" t="-823438" r="-1006863" b="-326563"/>
                          </a:stretch>
                        </a:blip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4445968"/>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980" t="-909231" r="-1207843" b="-221538"/>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99029" t="-909231" r="-1096117" b="-221538"/>
                          </a:stretch>
                        </a:blip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160589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980" t="-1009231" r="-1207843" b="-121538"/>
                          </a:stretch>
                        </a:blip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0</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875839"/>
                      </a:ext>
                    </a:extLst>
                  </a:tr>
                  <a:tr h="394924">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00"/>
                              </a:solidFill>
                              <a:effectLst/>
                              <a:latin typeface="+mn-ea"/>
                              <a:ea typeface="+mn-ea"/>
                            </a:rPr>
                            <a:t>1</a:t>
                          </a:r>
                          <a:endParaRPr kumimoji="0" lang="en-US" altLang="zh-CN" sz="1800" b="1" i="0" u="none" strike="noStrike" cap="none" normalizeH="0" baseline="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mpd="sng">
                          <a:solidFill>
                            <a:sysClr val="windowText" lastClr="000000"/>
                          </a:solidFill>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mpd="sng">
                          <a:solidFill>
                            <a:sysClr val="windowText" lastClr="000000"/>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685783" rtl="0" eaLnBrk="1" latinLnBrk="0" hangingPunct="1">
                            <a:spcBef>
                              <a:spcPct val="20000"/>
                            </a:spcBef>
                            <a:defRPr sz="20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marL="342892" algn="l" defTabSz="685783" rtl="0" eaLnBrk="1" latinLnBrk="0" hangingPunct="1">
                            <a:spcBef>
                              <a:spcPct val="20000"/>
                            </a:spcBef>
                            <a:defRPr sz="135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marL="685783" algn="l" defTabSz="685783" rtl="0" eaLnBrk="1" latinLnBrk="0" hangingPunct="1">
                            <a:spcBef>
                              <a:spcPct val="20000"/>
                            </a:spcBef>
                            <a:defRPr sz="16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marL="1028675"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marL="1371566" algn="l" defTabSz="685783" rtl="0" eaLnBrk="1" latinLnBrk="0" hangingPunct="1">
                            <a:spcBef>
                              <a:spcPct val="20000"/>
                            </a:spcBef>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marL="1714457"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marL="2057348"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marL="2400240"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marL="2743132" algn="l" defTabSz="685783" rtl="0" eaLnBrk="1" fontAlgn="base" latinLnBrk="0" hangingPunct="1">
                            <a:spcBef>
                              <a:spcPct val="20000"/>
                            </a:spcBef>
                            <a:spcAft>
                              <a:spcPct val="0"/>
                            </a:spcAft>
                            <a:defRPr sz="1400" kern="12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203115629"/>
                      </a:ext>
                    </a:extLst>
                  </a:tr>
                </a:tbl>
              </a:graphicData>
            </a:graphic>
          </p:graphicFrame>
        </mc:Fallback>
      </mc:AlternateContent>
      <p:sp>
        <p:nvSpPr>
          <p:cNvPr id="7" name="文本框 6">
            <a:extLst>
              <a:ext uri="{FF2B5EF4-FFF2-40B4-BE49-F238E27FC236}">
                <a16:creationId xmlns:a16="http://schemas.microsoft.com/office/drawing/2014/main" id="{6440A5FD-B413-7631-E646-8A77C462173B}"/>
              </a:ext>
            </a:extLst>
          </p:cNvPr>
          <p:cNvSpPr txBox="1"/>
          <p:nvPr/>
        </p:nvSpPr>
        <p:spPr>
          <a:xfrm>
            <a:off x="2745004" y="1313442"/>
            <a:ext cx="4001149" cy="400110"/>
          </a:xfrm>
          <a:prstGeom prst="rect">
            <a:avLst/>
          </a:prstGeom>
          <a:noFill/>
        </p:spPr>
        <p:txBody>
          <a:bodyPr wrap="square" rtlCol="0">
            <a:spAutoFit/>
          </a:bodyPr>
          <a:lstStyle/>
          <a:p>
            <a:pPr algn="ctr"/>
            <a:r>
              <a:rPr lang="en-US" altLang="zh-CN" sz="2000" b="1" dirty="0"/>
              <a:t>74LS148</a:t>
            </a:r>
            <a:r>
              <a:rPr lang="zh-CN" altLang="en-US" sz="2000" b="1" dirty="0"/>
              <a:t>真值表</a:t>
            </a:r>
          </a:p>
        </p:txBody>
      </p:sp>
    </p:spTree>
    <p:custDataLst>
      <p:tags r:id="rId1"/>
    </p:custDataLst>
    <p:extLst>
      <p:ext uri="{BB962C8B-B14F-4D97-AF65-F5344CB8AC3E}">
        <p14:creationId xmlns:p14="http://schemas.microsoft.com/office/powerpoint/2010/main" val="56126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5" name="文本框 4">
            <a:extLst>
              <a:ext uri="{FF2B5EF4-FFF2-40B4-BE49-F238E27FC236}">
                <a16:creationId xmlns:a16="http://schemas.microsoft.com/office/drawing/2014/main" id="{462F60DD-91DB-7CBE-99DD-72E80601B04E}"/>
              </a:ext>
            </a:extLst>
          </p:cNvPr>
          <p:cNvSpPr txBox="1"/>
          <p:nvPr/>
        </p:nvSpPr>
        <p:spPr>
          <a:xfrm>
            <a:off x="397540" y="845192"/>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实验原理</a:t>
            </a:r>
            <a:endParaRPr lang="en-US" altLang="zh-CN" sz="2400" b="1" dirty="0">
              <a:latin typeface="+mn-ea"/>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7A560F2-B7D4-6142-1AE0-C11F9B6D665A}"/>
                  </a:ext>
                </a:extLst>
              </p:cNvPr>
              <p:cNvSpPr txBox="1"/>
              <p:nvPr/>
            </p:nvSpPr>
            <p:spPr>
              <a:xfrm>
                <a:off x="755459" y="1404263"/>
                <a:ext cx="7633082" cy="3261534"/>
              </a:xfrm>
              <a:prstGeom prst="rect">
                <a:avLst/>
              </a:prstGeom>
              <a:noFill/>
            </p:spPr>
            <p:txBody>
              <a:bodyPr wrap="square" rtlCol="0">
                <a:spAutoFit/>
              </a:bodyPr>
              <a:lstStyle/>
              <a:p>
                <a:pPr marL="457200" indent="-457200" algn="just">
                  <a:lnSpc>
                    <a:spcPct val="130000"/>
                  </a:lnSpc>
                  <a:buFont typeface="+mj-ea"/>
                  <a:buAutoNum type="circleNumDbPlain" startAt="2"/>
                </a:pPr>
                <a:r>
                  <a:rPr lang="zh-CN" altLang="en-US" sz="2000" b="1" dirty="0"/>
                  <a:t>译码器</a:t>
                </a:r>
                <a:endParaRPr lang="en-US" altLang="zh-CN" sz="2000" b="1" dirty="0"/>
              </a:p>
              <a:p>
                <a:pPr marL="0" lvl="1" indent="457200" algn="just">
                  <a:lnSpc>
                    <a:spcPct val="130000"/>
                  </a:lnSpc>
                </a:pPr>
                <a:r>
                  <a:rPr lang="zh-CN" altLang="en-US" sz="2000" b="1" dirty="0"/>
                  <a:t>译码是编码的逆过程，它的逻辑功能是将每个输入的二进制代码，译成对应的输出高、低电平信号。</a:t>
                </a:r>
                <a:endParaRPr lang="en-US" altLang="zh-CN" sz="2000" b="1" dirty="0"/>
              </a:p>
              <a:p>
                <a:pPr marL="0" lvl="1" indent="457200" algn="just">
                  <a:lnSpc>
                    <a:spcPct val="130000"/>
                  </a:lnSpc>
                </a:pPr>
                <a:r>
                  <a:rPr lang="zh-CN" altLang="en-US" sz="2000" b="1" dirty="0"/>
                  <a:t>变量译码器的逻辑功能是将输入的</a:t>
                </a:r>
                <a14:m>
                  <m:oMath xmlns:m="http://schemas.openxmlformats.org/officeDocument/2006/math">
                    <m:r>
                      <a:rPr lang="en-US" altLang="zh-CN" sz="2000" b="1" i="1" dirty="0" smtClean="0">
                        <a:latin typeface="Cambria Math" panose="02040503050406030204" pitchFamily="18" charset="0"/>
                      </a:rPr>
                      <m:t>𝒏</m:t>
                    </m:r>
                  </m:oMath>
                </a14:m>
                <a:r>
                  <a:rPr lang="zh-CN" altLang="en-US" sz="2000" b="1" dirty="0"/>
                  <a:t>位二进制代码译成</a:t>
                </a:r>
                <a14:m>
                  <m:oMath xmlns:m="http://schemas.openxmlformats.org/officeDocument/2006/math">
                    <m:sSup>
                      <m:sSupPr>
                        <m:ctrlPr>
                          <a:rPr lang="en-US" altLang="zh-CN" sz="2000" b="1" i="1" smtClean="0">
                            <a:latin typeface="Cambria Math" panose="02040503050406030204" pitchFamily="18" charset="0"/>
                          </a:rPr>
                        </m:ctrlPr>
                      </m:sSupPr>
                      <m:e>
                        <m:r>
                          <a:rPr lang="en-US" altLang="zh-CN" sz="2000" b="1" i="1" smtClean="0">
                            <a:latin typeface="Cambria Math" panose="02040503050406030204" pitchFamily="18" charset="0"/>
                          </a:rPr>
                          <m:t>𝟐</m:t>
                        </m:r>
                      </m:e>
                      <m:sup>
                        <m:r>
                          <a:rPr lang="en-US" altLang="zh-CN" sz="2000" b="1" i="1" smtClean="0">
                            <a:latin typeface="Cambria Math" panose="02040503050406030204" pitchFamily="18" charset="0"/>
                          </a:rPr>
                          <m:t>𝒏</m:t>
                        </m:r>
                      </m:sup>
                    </m:sSup>
                  </m:oMath>
                </a14:m>
                <a:r>
                  <a:rPr lang="zh-CN" altLang="en-US" sz="2000" b="1" dirty="0"/>
                  <a:t>个输出变量。每个输出变量与唯一的一组输入码对应，当输入为某组码时，仅有与其对应的输出信号为有效电平，其他输出均为无效电平。典型的变量译码器型号为</a:t>
                </a:r>
                <a:r>
                  <a:rPr lang="en-US" altLang="zh-CN" sz="2000" b="1" dirty="0"/>
                  <a:t>3</a:t>
                </a:r>
                <a:r>
                  <a:rPr lang="zh-CN" altLang="en-US" sz="2000" b="1" dirty="0"/>
                  <a:t>线－</a:t>
                </a:r>
                <a:r>
                  <a:rPr lang="en-US" altLang="zh-CN" sz="2000" b="1" dirty="0"/>
                  <a:t>8</a:t>
                </a:r>
                <a:r>
                  <a:rPr lang="zh-CN" altLang="en-US" sz="2000" b="1" dirty="0"/>
                  <a:t>线译码器</a:t>
                </a:r>
                <a:r>
                  <a:rPr lang="en-US" altLang="zh-CN" sz="2000" b="1" dirty="0"/>
                  <a:t>74LS138</a:t>
                </a:r>
                <a:r>
                  <a:rPr lang="zh-CN" altLang="en-US" sz="2000" b="1" dirty="0"/>
                  <a:t>。图</a:t>
                </a:r>
                <a:r>
                  <a:rPr lang="en-US" altLang="zh-CN" sz="2000" b="1" dirty="0"/>
                  <a:t>2–3–2</a:t>
                </a:r>
                <a:r>
                  <a:rPr lang="zh-CN" altLang="en-US" sz="2000" b="1" dirty="0"/>
                  <a:t>所示为</a:t>
                </a:r>
                <a:r>
                  <a:rPr lang="en-US" altLang="zh-CN" sz="2000" b="1" dirty="0"/>
                  <a:t>3</a:t>
                </a:r>
                <a:r>
                  <a:rPr lang="zh-CN" altLang="en-US" sz="2000" b="1" dirty="0"/>
                  <a:t>线－</a:t>
                </a:r>
                <a:r>
                  <a:rPr lang="en-US" altLang="zh-CN" sz="2000" b="1" dirty="0"/>
                  <a:t>8</a:t>
                </a:r>
                <a:r>
                  <a:rPr lang="zh-CN" altLang="en-US" sz="2000" b="1" dirty="0"/>
                  <a:t>线译码器</a:t>
                </a:r>
                <a:r>
                  <a:rPr lang="en-US" altLang="zh-CN" sz="2000" b="1" dirty="0"/>
                  <a:t>74LS138</a:t>
                </a:r>
                <a:r>
                  <a:rPr lang="zh-CN" altLang="en-US" sz="2000" b="1" dirty="0"/>
                  <a:t>的引脚排列图。</a:t>
                </a:r>
              </a:p>
            </p:txBody>
          </p:sp>
        </mc:Choice>
        <mc:Fallback xmlns="">
          <p:sp>
            <p:nvSpPr>
              <p:cNvPr id="3" name="文本框 2">
                <a:extLst>
                  <a:ext uri="{FF2B5EF4-FFF2-40B4-BE49-F238E27FC236}">
                    <a16:creationId xmlns:a16="http://schemas.microsoft.com/office/drawing/2014/main" id="{B7A560F2-B7D4-6142-1AE0-C11F9B6D665A}"/>
                  </a:ext>
                </a:extLst>
              </p:cNvPr>
              <p:cNvSpPr txBox="1">
                <a:spLocks noRot="1" noChangeAspect="1" noMove="1" noResize="1" noEditPoints="1" noAdjustHandles="1" noChangeArrowheads="1" noChangeShapeType="1" noTextEdit="1"/>
              </p:cNvSpPr>
              <p:nvPr/>
            </p:nvSpPr>
            <p:spPr>
              <a:xfrm>
                <a:off x="755459" y="1404263"/>
                <a:ext cx="7633082" cy="3261534"/>
              </a:xfrm>
              <a:prstGeom prst="rect">
                <a:avLst/>
              </a:prstGeom>
              <a:blipFill>
                <a:blip r:embed="rId5"/>
                <a:stretch>
                  <a:fillRect l="-879" r="-4153" b="-2430"/>
                </a:stretch>
              </a:blipFill>
            </p:spPr>
            <p:txBody>
              <a:bodyPr/>
              <a:lstStyle/>
              <a:p>
                <a:r>
                  <a:rPr lang="zh-CN" altLang="en-US">
                    <a:noFill/>
                  </a:rPr>
                  <a:t> </a:t>
                </a:r>
              </a:p>
            </p:txBody>
          </p:sp>
        </mc:Fallback>
      </mc:AlternateContent>
      <p:graphicFrame>
        <p:nvGraphicFramePr>
          <p:cNvPr id="8" name="Object 4">
            <a:extLst>
              <a:ext uri="{FF2B5EF4-FFF2-40B4-BE49-F238E27FC236}">
                <a16:creationId xmlns:a16="http://schemas.microsoft.com/office/drawing/2014/main" id="{795888EA-DBD9-8637-E579-CDA3AB8DA004}"/>
              </a:ext>
            </a:extLst>
          </p:cNvPr>
          <p:cNvGraphicFramePr>
            <a:graphicFrameLocks noChangeAspect="1"/>
          </p:cNvGraphicFramePr>
          <p:nvPr>
            <p:extLst>
              <p:ext uri="{D42A27DB-BD31-4B8C-83A1-F6EECF244321}">
                <p14:modId xmlns:p14="http://schemas.microsoft.com/office/powerpoint/2010/main" val="3610201465"/>
              </p:ext>
            </p:extLst>
          </p:nvPr>
        </p:nvGraphicFramePr>
        <p:xfrm>
          <a:off x="5175576" y="4336034"/>
          <a:ext cx="3643130" cy="2235405"/>
        </p:xfrm>
        <a:graphic>
          <a:graphicData uri="http://schemas.openxmlformats.org/presentationml/2006/ole">
            <mc:AlternateContent xmlns:mc="http://schemas.openxmlformats.org/markup-compatibility/2006">
              <mc:Choice xmlns:v="urn:schemas-microsoft-com:vml" Requires="v">
                <p:oleObj spid="_x0000_s2051" name="位图图像" r:id="rId6" imgW="1876190" imgH="1467055" progId="Paint.Picture">
                  <p:embed/>
                </p:oleObj>
              </mc:Choice>
              <mc:Fallback>
                <p:oleObj name="位图图像" r:id="rId6" imgW="1876190" imgH="1467055" progId="Paint.Picture">
                  <p:embed/>
                  <p:pic>
                    <p:nvPicPr>
                      <p:cNvPr id="13316" name="Object 4">
                        <a:extLst>
                          <a:ext uri="{FF2B5EF4-FFF2-40B4-BE49-F238E27FC236}">
                            <a16:creationId xmlns:a16="http://schemas.microsoft.com/office/drawing/2014/main" id="{A1A05A5A-F221-8B19-E1F4-389B3FD1D665}"/>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75576" y="4336034"/>
                        <a:ext cx="3643130" cy="2235405"/>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A903278-A874-B55D-5734-DD1B7BF9A351}"/>
                  </a:ext>
                </a:extLst>
              </p:cNvPr>
              <p:cNvSpPr txBox="1"/>
              <p:nvPr/>
            </p:nvSpPr>
            <p:spPr>
              <a:xfrm>
                <a:off x="755459" y="4913561"/>
                <a:ext cx="4369890" cy="1259384"/>
              </a:xfrm>
              <a:prstGeom prst="rect">
                <a:avLst/>
              </a:prstGeom>
              <a:noFill/>
            </p:spPr>
            <p:txBody>
              <a:bodyPr wrap="square" rtlCol="0">
                <a:spAutoFit/>
              </a:bodyPr>
              <a:lstStyle/>
              <a:p>
                <a:pPr indent="457200">
                  <a:lnSpc>
                    <a:spcPct val="130000"/>
                  </a:lnSpc>
                </a:pPr>
                <a:r>
                  <a:rPr lang="zh-CN" altLang="en-US" sz="2000" b="1" dirty="0"/>
                  <a:t>其中</a:t>
                </a:r>
                <a14:m>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𝑨</m:t>
                        </m:r>
                      </m:e>
                      <m:sub>
                        <m:r>
                          <a:rPr lang="en-US" altLang="zh-CN" sz="2000" b="1" i="1" smtClean="0">
                            <a:latin typeface="Cambria Math" panose="02040503050406030204" pitchFamily="18" charset="0"/>
                          </a:rPr>
                          <m:t>𝟐</m:t>
                        </m:r>
                      </m:sub>
                    </m:sSub>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𝑨</m:t>
                        </m:r>
                      </m:e>
                      <m:sub>
                        <m:r>
                          <a:rPr lang="en-US" altLang="zh-CN" sz="2000" b="1" i="1" smtClean="0">
                            <a:latin typeface="Cambria Math" panose="02040503050406030204" pitchFamily="18" charset="0"/>
                          </a:rPr>
                          <m:t>𝟏</m:t>
                        </m:r>
                      </m:sub>
                    </m:sSub>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𝑨</m:t>
                        </m:r>
                      </m:e>
                      <m:sub>
                        <m:r>
                          <a:rPr lang="en-US" altLang="zh-CN" sz="2000" b="1" i="1" smtClean="0">
                            <a:latin typeface="Cambria Math" panose="02040503050406030204" pitchFamily="18" charset="0"/>
                          </a:rPr>
                          <m:t>𝟎</m:t>
                        </m:r>
                      </m:sub>
                    </m:sSub>
                  </m:oMath>
                </a14:m>
                <a:r>
                  <a:rPr lang="zh-CN" altLang="en-US" sz="2000" b="1" dirty="0"/>
                  <a:t>为</a:t>
                </a:r>
                <a:r>
                  <a:rPr lang="en-US" altLang="zh-CN" sz="2000" b="1" dirty="0"/>
                  <a:t>3</a:t>
                </a:r>
                <a:r>
                  <a:rPr lang="zh-CN" altLang="en-US" sz="2000" b="1" dirty="0"/>
                  <a:t>条译码地址输入线，</a:t>
                </a:r>
                <a14:m>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𝟎</m:t>
                        </m:r>
                      </m:sub>
                    </m:sSub>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𝟕</m:t>
                        </m:r>
                      </m:sub>
                    </m:sSub>
                  </m:oMath>
                </a14:m>
                <a:r>
                  <a:rPr lang="zh-CN" altLang="en-US" sz="2000" b="1" dirty="0"/>
                  <a:t>为</a:t>
                </a:r>
                <a:r>
                  <a:rPr lang="en-US" altLang="zh-CN" sz="2000" b="1" dirty="0"/>
                  <a:t>8</a:t>
                </a:r>
                <a:r>
                  <a:rPr lang="zh-CN" altLang="en-US" sz="2000" b="1" dirty="0"/>
                  <a:t>条译码输出端，低电平有效 。 </a:t>
                </a:r>
                <a14:m>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𝑺𝑻</m:t>
                        </m:r>
                      </m:e>
                      <m:sub>
                        <m:r>
                          <a:rPr lang="en-US" altLang="zh-CN" sz="2000" b="1" i="1" smtClean="0">
                            <a:latin typeface="Cambria Math" panose="02040503050406030204" pitchFamily="18" charset="0"/>
                          </a:rPr>
                          <m:t>𝑨</m:t>
                        </m:r>
                      </m:sub>
                    </m:sSub>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𝑺𝑻</m:t>
                            </m:r>
                          </m:e>
                        </m:acc>
                      </m:e>
                      <m:sub>
                        <m:r>
                          <a:rPr lang="en-US" altLang="zh-CN" sz="2000" b="1" i="1" smtClean="0">
                            <a:latin typeface="Cambria Math" panose="02040503050406030204" pitchFamily="18" charset="0"/>
                          </a:rPr>
                          <m:t>𝑩</m:t>
                        </m:r>
                      </m:sub>
                    </m:sSub>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𝑺𝑻</m:t>
                            </m:r>
                          </m:e>
                        </m:acc>
                      </m:e>
                      <m:sub>
                        <m:r>
                          <a:rPr lang="en-US" altLang="zh-CN" sz="2000" b="1" i="1" smtClean="0">
                            <a:latin typeface="Cambria Math" panose="02040503050406030204" pitchFamily="18" charset="0"/>
                          </a:rPr>
                          <m:t>𝑪</m:t>
                        </m:r>
                      </m:sub>
                    </m:sSub>
                  </m:oMath>
                </a14:m>
                <a:r>
                  <a:rPr lang="zh-CN" altLang="en-US" sz="2000" b="1" dirty="0"/>
                  <a:t>为使能选通端。 </a:t>
                </a:r>
              </a:p>
            </p:txBody>
          </p:sp>
        </mc:Choice>
        <mc:Fallback xmlns="">
          <p:sp>
            <p:nvSpPr>
              <p:cNvPr id="9" name="文本框 8">
                <a:extLst>
                  <a:ext uri="{FF2B5EF4-FFF2-40B4-BE49-F238E27FC236}">
                    <a16:creationId xmlns:a16="http://schemas.microsoft.com/office/drawing/2014/main" id="{CA903278-A874-B55D-5734-DD1B7BF9A351}"/>
                  </a:ext>
                </a:extLst>
              </p:cNvPr>
              <p:cNvSpPr txBox="1">
                <a:spLocks noRot="1" noChangeAspect="1" noMove="1" noResize="1" noEditPoints="1" noAdjustHandles="1" noChangeArrowheads="1" noChangeShapeType="1" noTextEdit="1"/>
              </p:cNvSpPr>
              <p:nvPr/>
            </p:nvSpPr>
            <p:spPr>
              <a:xfrm>
                <a:off x="755459" y="4913561"/>
                <a:ext cx="4369890" cy="1259384"/>
              </a:xfrm>
              <a:prstGeom prst="rect">
                <a:avLst/>
              </a:prstGeom>
              <a:blipFill>
                <a:blip r:embed="rId8"/>
                <a:stretch>
                  <a:fillRect l="-1534" r="-1395" b="-7729"/>
                </a:stretch>
              </a:blipFill>
            </p:spPr>
            <p:txBody>
              <a:bodyPr/>
              <a:lstStyle/>
              <a:p>
                <a:r>
                  <a:rPr lang="zh-CN" altLang="en-US">
                    <a:noFill/>
                  </a:rPr>
                  <a:t> </a:t>
                </a:r>
              </a:p>
            </p:txBody>
          </p:sp>
        </mc:Fallback>
      </mc:AlternateContent>
    </p:spTree>
    <p:custDataLst>
      <p:tags r:id="rId2"/>
    </p:custDataLst>
    <p:extLst>
      <p:ext uri="{BB962C8B-B14F-4D97-AF65-F5344CB8AC3E}">
        <p14:creationId xmlns:p14="http://schemas.microsoft.com/office/powerpoint/2010/main" val="2900288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5976E38-03F2-45EA-B815-27857D434357}"/>
              </a:ext>
            </a:extLst>
          </p:cNvPr>
          <p:cNvSpPr/>
          <p:nvPr/>
        </p:nvSpPr>
        <p:spPr>
          <a:xfrm>
            <a:off x="314432" y="241071"/>
            <a:ext cx="4861144" cy="525657"/>
          </a:xfrm>
          <a:prstGeom prst="rect">
            <a:avLst/>
          </a:prstGeom>
        </p:spPr>
        <p:txBody>
          <a:bodyPr vert="horz"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实验</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二 </a:t>
            </a:r>
            <a:r>
              <a:rPr kumimoji="0" lang="zh-CN" altLang="en-US" sz="24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编码器和译码器及应用</a:t>
            </a:r>
          </a:p>
        </p:txBody>
      </p:sp>
      <mc:AlternateContent xmlns:mc="http://schemas.openxmlformats.org/markup-compatibility/2006" xmlns:a14="http://schemas.microsoft.com/office/drawing/2010/main">
        <mc:Choice Requires="a14">
          <p:graphicFrame>
            <p:nvGraphicFramePr>
              <p:cNvPr id="12" name="Group 222">
                <a:extLst>
                  <a:ext uri="{FF2B5EF4-FFF2-40B4-BE49-F238E27FC236}">
                    <a16:creationId xmlns:a16="http://schemas.microsoft.com/office/drawing/2014/main" id="{F8AC266F-57D7-4656-865A-051AD6C073EA}"/>
                  </a:ext>
                </a:extLst>
              </p:cNvPr>
              <p:cNvGraphicFramePr>
                <a:graphicFrameLocks/>
              </p:cNvGraphicFramePr>
              <p:nvPr>
                <p:extLst>
                  <p:ext uri="{D42A27DB-BD31-4B8C-83A1-F6EECF244321}">
                    <p14:modId xmlns:p14="http://schemas.microsoft.com/office/powerpoint/2010/main" val="1375881945"/>
                  </p:ext>
                </p:extLst>
              </p:nvPr>
            </p:nvGraphicFramePr>
            <p:xfrm>
              <a:off x="197644" y="1798056"/>
              <a:ext cx="8748712" cy="4739088"/>
            </p:xfrm>
            <a:graphic>
              <a:graphicData uri="http://schemas.openxmlformats.org/drawingml/2006/table">
                <a:tbl>
                  <a:tblPr>
                    <a:tableStyleId>{5940675A-B579-460E-94D1-54222C63F5DA}</a:tableStyleId>
                  </a:tblPr>
                  <a:tblGrid>
                    <a:gridCol w="624908">
                      <a:extLst>
                        <a:ext uri="{9D8B030D-6E8A-4147-A177-3AD203B41FA5}">
                          <a16:colId xmlns:a16="http://schemas.microsoft.com/office/drawing/2014/main" val="2783136199"/>
                        </a:ext>
                      </a:extLst>
                    </a:gridCol>
                    <a:gridCol w="1249816">
                      <a:extLst>
                        <a:ext uri="{9D8B030D-6E8A-4147-A177-3AD203B41FA5}">
                          <a16:colId xmlns:a16="http://schemas.microsoft.com/office/drawing/2014/main" val="1531861222"/>
                        </a:ext>
                      </a:extLst>
                    </a:gridCol>
                    <a:gridCol w="624908">
                      <a:extLst>
                        <a:ext uri="{9D8B030D-6E8A-4147-A177-3AD203B41FA5}">
                          <a16:colId xmlns:a16="http://schemas.microsoft.com/office/drawing/2014/main" val="989013988"/>
                        </a:ext>
                      </a:extLst>
                    </a:gridCol>
                    <a:gridCol w="624908">
                      <a:extLst>
                        <a:ext uri="{9D8B030D-6E8A-4147-A177-3AD203B41FA5}">
                          <a16:colId xmlns:a16="http://schemas.microsoft.com/office/drawing/2014/main" val="1406940787"/>
                        </a:ext>
                      </a:extLst>
                    </a:gridCol>
                    <a:gridCol w="624908">
                      <a:extLst>
                        <a:ext uri="{9D8B030D-6E8A-4147-A177-3AD203B41FA5}">
                          <a16:colId xmlns:a16="http://schemas.microsoft.com/office/drawing/2014/main" val="1159730526"/>
                        </a:ext>
                      </a:extLst>
                    </a:gridCol>
                    <a:gridCol w="624908">
                      <a:extLst>
                        <a:ext uri="{9D8B030D-6E8A-4147-A177-3AD203B41FA5}">
                          <a16:colId xmlns:a16="http://schemas.microsoft.com/office/drawing/2014/main" val="4211246207"/>
                        </a:ext>
                      </a:extLst>
                    </a:gridCol>
                    <a:gridCol w="624908">
                      <a:extLst>
                        <a:ext uri="{9D8B030D-6E8A-4147-A177-3AD203B41FA5}">
                          <a16:colId xmlns:a16="http://schemas.microsoft.com/office/drawing/2014/main" val="3245464263"/>
                        </a:ext>
                      </a:extLst>
                    </a:gridCol>
                    <a:gridCol w="624908">
                      <a:extLst>
                        <a:ext uri="{9D8B030D-6E8A-4147-A177-3AD203B41FA5}">
                          <a16:colId xmlns:a16="http://schemas.microsoft.com/office/drawing/2014/main" val="119901458"/>
                        </a:ext>
                      </a:extLst>
                    </a:gridCol>
                    <a:gridCol w="624908">
                      <a:extLst>
                        <a:ext uri="{9D8B030D-6E8A-4147-A177-3AD203B41FA5}">
                          <a16:colId xmlns:a16="http://schemas.microsoft.com/office/drawing/2014/main" val="2701810762"/>
                        </a:ext>
                      </a:extLst>
                    </a:gridCol>
                    <a:gridCol w="624908">
                      <a:extLst>
                        <a:ext uri="{9D8B030D-6E8A-4147-A177-3AD203B41FA5}">
                          <a16:colId xmlns:a16="http://schemas.microsoft.com/office/drawing/2014/main" val="2047272758"/>
                        </a:ext>
                      </a:extLst>
                    </a:gridCol>
                    <a:gridCol w="624908">
                      <a:extLst>
                        <a:ext uri="{9D8B030D-6E8A-4147-A177-3AD203B41FA5}">
                          <a16:colId xmlns:a16="http://schemas.microsoft.com/office/drawing/2014/main" val="2733164067"/>
                        </a:ext>
                      </a:extLst>
                    </a:gridCol>
                    <a:gridCol w="624908">
                      <a:extLst>
                        <a:ext uri="{9D8B030D-6E8A-4147-A177-3AD203B41FA5}">
                          <a16:colId xmlns:a16="http://schemas.microsoft.com/office/drawing/2014/main" val="2915464965"/>
                        </a:ext>
                      </a:extLst>
                    </a:gridCol>
                    <a:gridCol w="624908">
                      <a:extLst>
                        <a:ext uri="{9D8B030D-6E8A-4147-A177-3AD203B41FA5}">
                          <a16:colId xmlns:a16="http://schemas.microsoft.com/office/drawing/2014/main" val="293849601"/>
                        </a:ext>
                      </a:extLst>
                    </a:gridCol>
                  </a:tblGrid>
                  <a:tr h="394924">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kern="1200" cap="none" normalizeH="0" baseline="0" dirty="0">
                              <a:ln>
                                <a:noFill/>
                              </a:ln>
                              <a:solidFill>
                                <a:schemeClr val="bg1"/>
                              </a:solidFill>
                              <a:effectLst/>
                              <a:latin typeface="+mn-ea"/>
                              <a:ea typeface="+mn-ea"/>
                              <a:cs typeface="+mn-cs"/>
                            </a:rPr>
                            <a:t>输入</a:t>
                          </a: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1"/>
                        </a:solidFill>
                      </a:tcPr>
                    </a:tc>
                    <a:tc gridSpan="8">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kern="1200" cap="none" normalizeH="0" baseline="0" dirty="0">
                              <a:ln>
                                <a:noFill/>
                              </a:ln>
                              <a:solidFill>
                                <a:schemeClr val="bg1"/>
                              </a:solidFill>
                              <a:effectLst/>
                              <a:latin typeface="+mn-ea"/>
                              <a:ea typeface="+mn-ea"/>
                              <a:cs typeface="+mn-cs"/>
                            </a:rPr>
                            <a:t>输出</a:t>
                          </a: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149008794"/>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ctrlPr>
                                  </m:sSubPr>
                                  <m:e>
                                    <m: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t>𝑺𝑻</m:t>
                                    </m:r>
                                  </m:e>
                                  <m:sub>
                                    <m: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t>𝑨</m:t>
                                    </m:r>
                                  </m:sub>
                                </m:sSub>
                              </m:oMath>
                            </m:oMathPara>
                          </a14:m>
                          <a:endParaRPr kumimoji="0" lang="zh-CN" altLang="zh-CN" sz="1800" b="1" u="none" strike="noStrike" kern="1200" cap="none" normalizeH="0" baseline="0" dirty="0">
                            <a:ln>
                              <a:noFill/>
                            </a:ln>
                            <a:solidFill>
                              <a:schemeClr val="accent4"/>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t>𝑺𝑻</m:t>
                                        </m:r>
                                      </m:e>
                                    </m:acc>
                                  </m:e>
                                  <m:sub>
                                    <m: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t>𝑩</m:t>
                                    </m:r>
                                  </m:sub>
                                </m:sSub>
                                <m:r>
                                  <a:rPr kumimoji="0" lang="en-US" altLang="zh-CN" sz="1800" b="1" i="0" u="none" strike="noStrike" kern="1200" cap="none" normalizeH="0" baseline="0" smtClean="0">
                                    <a:ln>
                                      <a:noFill/>
                                    </a:ln>
                                    <a:solidFill>
                                      <a:schemeClr val="accent4"/>
                                    </a:solidFill>
                                    <a:effectLst/>
                                    <a:latin typeface="Cambria Math" panose="02040503050406030204" pitchFamily="18" charset="0"/>
                                    <a:ea typeface="+mn-ea"/>
                                    <a:cs typeface="+mn-cs"/>
                                  </a:rPr>
                                  <m:t>+</m:t>
                                </m:r>
                                <m:sSub>
                                  <m:sSubPr>
                                    <m:ctrlP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t>𝑺𝑻</m:t>
                                        </m:r>
                                      </m:e>
                                    </m:acc>
                                  </m:e>
                                  <m:sub>
                                    <m:r>
                                      <a:rPr kumimoji="0" lang="en-US" altLang="zh-CN" sz="1800" b="1" i="1" u="none" strike="noStrike" kern="1200" cap="none" normalizeH="0" baseline="0" smtClean="0">
                                        <a:ln>
                                          <a:noFill/>
                                        </a:ln>
                                        <a:solidFill>
                                          <a:schemeClr val="accent4"/>
                                        </a:solidFill>
                                        <a:effectLst/>
                                        <a:latin typeface="Cambria Math" panose="02040503050406030204" pitchFamily="18" charset="0"/>
                                        <a:ea typeface="+mn-ea"/>
                                        <a:cs typeface="+mn-cs"/>
                                      </a:rPr>
                                      <m:t>𝑪</m:t>
                                    </m:r>
                                  </m:sub>
                                </m:sSub>
                              </m:oMath>
                            </m:oMathPara>
                          </a14:m>
                          <a:endParaRPr kumimoji="0" lang="zh-CN" altLang="zh-CN" sz="1800" b="1" u="none" strike="noStrike" kern="1200" cap="none" normalizeH="0" baseline="0" dirty="0">
                            <a:ln>
                              <a:noFill/>
                            </a:ln>
                            <a:solidFill>
                              <a:schemeClr val="accent4"/>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𝑨</m:t>
                                    </m:r>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𝟐</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𝑨</m:t>
                                    </m:r>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𝟏</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𝑨</m:t>
                                    </m:r>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𝟎</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𝟕</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𝟔</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𝟓</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𝟒</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𝟑</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𝟐</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𝟏</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sSubPr>
                                  <m:e>
                                    <m:acc>
                                      <m:accPr>
                                        <m:chr m:val="̅"/>
                                        <m:ctrlP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ctrlPr>
                                      </m:accPr>
                                      <m:e>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𝒀</m:t>
                                        </m:r>
                                      </m:e>
                                    </m:acc>
                                  </m:e>
                                  <m:sub>
                                    <m:r>
                                      <a:rPr kumimoji="0" lang="en-US" altLang="zh-CN" sz="1800" b="1" i="1" u="none" strike="noStrike" kern="1200" cap="none" normalizeH="0" baseline="0" smtClean="0">
                                        <a:ln>
                                          <a:noFill/>
                                        </a:ln>
                                        <a:solidFill>
                                          <a:schemeClr val="bg1"/>
                                        </a:solidFill>
                                        <a:effectLst/>
                                        <a:latin typeface="Cambria Math" panose="02040503050406030204" pitchFamily="18" charset="0"/>
                                        <a:ea typeface="+mn-ea"/>
                                        <a:cs typeface="+mn-cs"/>
                                      </a:rPr>
                                      <m:t>𝟎</m:t>
                                    </m:r>
                                  </m:sub>
                                </m:sSub>
                              </m:oMath>
                            </m:oMathPara>
                          </a14:m>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074994415"/>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cap="none" normalizeH="0" baseline="0" smtClean="0">
                                    <a:ln>
                                      <a:noFill/>
                                    </a:ln>
                                    <a:solidFill>
                                      <a:schemeClr val="tx1"/>
                                    </a:solidFill>
                                    <a:effectLst/>
                                    <a:latin typeface="Cambria Math" panose="02040503050406030204" pitchFamily="18" charset="0"/>
                                    <a:ea typeface="+mn-ea"/>
                                  </a:rPr>
                                  <m:t>×</m:t>
                                </m:r>
                              </m:oMath>
                            </m:oMathPara>
                          </a14:m>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102578513"/>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normalizeH="0" baseline="0" smtClean="0">
                                    <a:ln>
                                      <a:noFill/>
                                    </a:ln>
                                    <a:solidFill>
                                      <a:schemeClr val="tx1"/>
                                    </a:solidFill>
                                    <a:effectLst/>
                                    <a:latin typeface="Cambria Math" panose="02040503050406030204" pitchFamily="18" charset="0"/>
                                    <a:ea typeface="楷体_GB2312" pitchFamily="49" charset="-122"/>
                                    <a:cs typeface="+mn-cs"/>
                                  </a:rPr>
                                  <m:t>×</m:t>
                                </m:r>
                              </m:oMath>
                            </m:oMathPara>
                          </a14:m>
                          <a:endParaRPr kumimoji="0" lang="en-US" altLang="zh-CN" sz="1800" b="1" i="0" u="none" strike="noStrike" kern="1200" cap="none" normalizeH="0" baseline="0" dirty="0">
                            <a:ln>
                              <a:noFill/>
                            </a:ln>
                            <a:solidFill>
                              <a:schemeClr val="tx1"/>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6273382"/>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1870266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39482985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000000"/>
                              </a:solidFill>
                              <a:effectLst/>
                              <a:latin typeface="+mn-ea"/>
                              <a:ea typeface="楷体_GB2312" pitchFamily="49" charset="-122"/>
                              <a:cs typeface="+mn-cs"/>
                            </a:rPr>
                            <a:t>1</a:t>
                          </a:r>
                          <a:endParaRPr kumimoji="0" lang="en-US" altLang="zh-CN" sz="1800" b="1" i="0" u="none" strike="noStrike" kern="1200" cap="none" normalizeH="0" baseline="0" dirty="0">
                            <a:ln>
                              <a:noFill/>
                            </a:ln>
                            <a:solidFill>
                              <a:srgbClr val="000000"/>
                            </a:solidFill>
                            <a:effectLst/>
                            <a:latin typeface="+mn-ea"/>
                            <a:ea typeface="楷体_GB2312" pitchFamily="49"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000000"/>
                              </a:solidFill>
                              <a:effectLst/>
                              <a:latin typeface="+mn-ea"/>
                              <a:ea typeface="楷体_GB2312" pitchFamily="49" charset="-122"/>
                              <a:cs typeface="+mn-cs"/>
                            </a:rPr>
                            <a:t>1</a:t>
                          </a:r>
                          <a:endParaRPr kumimoji="0" lang="en-US" altLang="zh-CN" sz="1800" b="1" i="0" u="none" strike="noStrike" kern="1200" cap="none" normalizeH="0" baseline="0" dirty="0">
                            <a:ln>
                              <a:noFill/>
                            </a:ln>
                            <a:solidFill>
                              <a:srgbClr val="000000"/>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9910403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04029852"/>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kern="1200" cap="none" normalizeH="0" baseline="0" dirty="0">
                              <a:ln>
                                <a:noFill/>
                              </a:ln>
                              <a:solidFill>
                                <a:srgbClr val="000000"/>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84445968"/>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59160589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0</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087583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chemeClr val="tx1"/>
                              </a:solidFill>
                              <a:effectLst/>
                              <a:latin typeface="+mn-ea"/>
                              <a:ea typeface="+mn-ea"/>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2203115629"/>
                      </a:ext>
                    </a:extLst>
                  </a:tr>
                </a:tbl>
              </a:graphicData>
            </a:graphic>
          </p:graphicFrame>
        </mc:Choice>
        <mc:Fallback xmlns="">
          <p:graphicFrame>
            <p:nvGraphicFramePr>
              <p:cNvPr id="12" name="Group 222">
                <a:extLst>
                  <a:ext uri="{FF2B5EF4-FFF2-40B4-BE49-F238E27FC236}">
                    <a16:creationId xmlns:a16="http://schemas.microsoft.com/office/drawing/2014/main" id="{F8AC266F-57D7-4656-865A-051AD6C073EA}"/>
                  </a:ext>
                </a:extLst>
              </p:cNvPr>
              <p:cNvGraphicFramePr>
                <a:graphicFrameLocks/>
              </p:cNvGraphicFramePr>
              <p:nvPr>
                <p:extLst>
                  <p:ext uri="{D42A27DB-BD31-4B8C-83A1-F6EECF244321}">
                    <p14:modId xmlns:p14="http://schemas.microsoft.com/office/powerpoint/2010/main" val="1375881945"/>
                  </p:ext>
                </p:extLst>
              </p:nvPr>
            </p:nvGraphicFramePr>
            <p:xfrm>
              <a:off x="197644" y="1798056"/>
              <a:ext cx="8748712" cy="4739088"/>
            </p:xfrm>
            <a:graphic>
              <a:graphicData uri="http://schemas.openxmlformats.org/drawingml/2006/table">
                <a:tbl>
                  <a:tblPr>
                    <a:tableStyleId>{5940675A-B579-460E-94D1-54222C63F5DA}</a:tableStyleId>
                  </a:tblPr>
                  <a:tblGrid>
                    <a:gridCol w="624908">
                      <a:extLst>
                        <a:ext uri="{9D8B030D-6E8A-4147-A177-3AD203B41FA5}">
                          <a16:colId xmlns:a16="http://schemas.microsoft.com/office/drawing/2014/main" val="2783136199"/>
                        </a:ext>
                      </a:extLst>
                    </a:gridCol>
                    <a:gridCol w="1249816">
                      <a:extLst>
                        <a:ext uri="{9D8B030D-6E8A-4147-A177-3AD203B41FA5}">
                          <a16:colId xmlns:a16="http://schemas.microsoft.com/office/drawing/2014/main" val="1531861222"/>
                        </a:ext>
                      </a:extLst>
                    </a:gridCol>
                    <a:gridCol w="624908">
                      <a:extLst>
                        <a:ext uri="{9D8B030D-6E8A-4147-A177-3AD203B41FA5}">
                          <a16:colId xmlns:a16="http://schemas.microsoft.com/office/drawing/2014/main" val="989013988"/>
                        </a:ext>
                      </a:extLst>
                    </a:gridCol>
                    <a:gridCol w="624908">
                      <a:extLst>
                        <a:ext uri="{9D8B030D-6E8A-4147-A177-3AD203B41FA5}">
                          <a16:colId xmlns:a16="http://schemas.microsoft.com/office/drawing/2014/main" val="1406940787"/>
                        </a:ext>
                      </a:extLst>
                    </a:gridCol>
                    <a:gridCol w="624908">
                      <a:extLst>
                        <a:ext uri="{9D8B030D-6E8A-4147-A177-3AD203B41FA5}">
                          <a16:colId xmlns:a16="http://schemas.microsoft.com/office/drawing/2014/main" val="1159730526"/>
                        </a:ext>
                      </a:extLst>
                    </a:gridCol>
                    <a:gridCol w="624908">
                      <a:extLst>
                        <a:ext uri="{9D8B030D-6E8A-4147-A177-3AD203B41FA5}">
                          <a16:colId xmlns:a16="http://schemas.microsoft.com/office/drawing/2014/main" val="4211246207"/>
                        </a:ext>
                      </a:extLst>
                    </a:gridCol>
                    <a:gridCol w="624908">
                      <a:extLst>
                        <a:ext uri="{9D8B030D-6E8A-4147-A177-3AD203B41FA5}">
                          <a16:colId xmlns:a16="http://schemas.microsoft.com/office/drawing/2014/main" val="3245464263"/>
                        </a:ext>
                      </a:extLst>
                    </a:gridCol>
                    <a:gridCol w="624908">
                      <a:extLst>
                        <a:ext uri="{9D8B030D-6E8A-4147-A177-3AD203B41FA5}">
                          <a16:colId xmlns:a16="http://schemas.microsoft.com/office/drawing/2014/main" val="119901458"/>
                        </a:ext>
                      </a:extLst>
                    </a:gridCol>
                    <a:gridCol w="624908">
                      <a:extLst>
                        <a:ext uri="{9D8B030D-6E8A-4147-A177-3AD203B41FA5}">
                          <a16:colId xmlns:a16="http://schemas.microsoft.com/office/drawing/2014/main" val="2701810762"/>
                        </a:ext>
                      </a:extLst>
                    </a:gridCol>
                    <a:gridCol w="624908">
                      <a:extLst>
                        <a:ext uri="{9D8B030D-6E8A-4147-A177-3AD203B41FA5}">
                          <a16:colId xmlns:a16="http://schemas.microsoft.com/office/drawing/2014/main" val="2047272758"/>
                        </a:ext>
                      </a:extLst>
                    </a:gridCol>
                    <a:gridCol w="624908">
                      <a:extLst>
                        <a:ext uri="{9D8B030D-6E8A-4147-A177-3AD203B41FA5}">
                          <a16:colId xmlns:a16="http://schemas.microsoft.com/office/drawing/2014/main" val="2733164067"/>
                        </a:ext>
                      </a:extLst>
                    </a:gridCol>
                    <a:gridCol w="624908">
                      <a:extLst>
                        <a:ext uri="{9D8B030D-6E8A-4147-A177-3AD203B41FA5}">
                          <a16:colId xmlns:a16="http://schemas.microsoft.com/office/drawing/2014/main" val="2915464965"/>
                        </a:ext>
                      </a:extLst>
                    </a:gridCol>
                    <a:gridCol w="624908">
                      <a:extLst>
                        <a:ext uri="{9D8B030D-6E8A-4147-A177-3AD203B41FA5}">
                          <a16:colId xmlns:a16="http://schemas.microsoft.com/office/drawing/2014/main" val="293849601"/>
                        </a:ext>
                      </a:extLst>
                    </a:gridCol>
                  </a:tblGrid>
                  <a:tr h="394924">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kern="1200" cap="none" normalizeH="0" baseline="0" dirty="0">
                              <a:ln>
                                <a:noFill/>
                              </a:ln>
                              <a:solidFill>
                                <a:schemeClr val="bg1"/>
                              </a:solidFill>
                              <a:effectLst/>
                              <a:latin typeface="+mn-ea"/>
                              <a:ea typeface="+mn-ea"/>
                              <a:cs typeface="+mn-cs"/>
                            </a:rPr>
                            <a:t>输入</a:t>
                          </a: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1"/>
                        </a:solidFill>
                      </a:tcPr>
                    </a:tc>
                    <a:tc gridSpan="8">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kern="1200" cap="none" normalizeH="0" baseline="0" dirty="0">
                              <a:ln>
                                <a:noFill/>
                              </a:ln>
                              <a:solidFill>
                                <a:schemeClr val="bg1"/>
                              </a:solidFill>
                              <a:effectLst/>
                              <a:latin typeface="+mn-ea"/>
                              <a:ea typeface="+mn-ea"/>
                              <a:cs typeface="+mn-cs"/>
                            </a:rPr>
                            <a:t>输出</a:t>
                          </a: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u="none" strike="noStrike" kern="1200" cap="none" normalizeH="0" baseline="0" dirty="0">
                            <a:ln>
                              <a:noFill/>
                            </a:ln>
                            <a:solidFill>
                              <a:schemeClr val="bg1"/>
                            </a:solidFill>
                            <a:effectLst/>
                            <a:latin typeface="+mn-ea"/>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149008794"/>
                      </a:ext>
                    </a:extLst>
                  </a:tr>
                  <a:tr h="394924">
                    <a:tc>
                      <a:txBody>
                        <a:bodyPr/>
                        <a:lstStyle/>
                        <a:p>
                          <a:endParaRPr lang="zh-CN"/>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4"/>
                          <a:stretch>
                            <a:fillRect t="-103077" r="-1295146" b="-1018462"/>
                          </a:stretch>
                        </a:blipFill>
                      </a:tcPr>
                    </a:tc>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4"/>
                          <a:stretch>
                            <a:fillRect l="-50244" t="-103077" r="-550732" b="-1018462"/>
                          </a:stretch>
                        </a:blipFill>
                      </a:tcPr>
                    </a:tc>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blipFill>
                          <a:blip r:embed="rId4"/>
                          <a:stretch>
                            <a:fillRect l="-301961" t="-103077" r="-1006863"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398058" t="-103077" r="-897087"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4"/>
                          <a:stretch>
                            <a:fillRect l="-502941" t="-103077" r="-805882" b="-1018462"/>
                          </a:stretch>
                        </a:blipFill>
                      </a:tcPr>
                    </a:tc>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blipFill>
                          <a:blip r:embed="rId4"/>
                          <a:stretch>
                            <a:fillRect l="-597087" t="-103077" r="-698058"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697087" t="-103077" r="-598058"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804902" t="-103077" r="-503922"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896117" t="-103077" r="-399029"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1005882" t="-103077" r="-302941"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1095146" t="-103077" r="-200000"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1206863" t="-103077" r="-101961" b="-10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1294175" t="-103077" r="-971" b="-1018462"/>
                          </a:stretch>
                        </a:blipFill>
                      </a:tcPr>
                    </a:tc>
                    <a:extLst>
                      <a:ext uri="{0D108BD9-81ED-4DB2-BD59-A6C34878D82A}">
                        <a16:rowId xmlns:a16="http://schemas.microsoft.com/office/drawing/2014/main" val="3074994415"/>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0</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blipFill>
                          <a:blip r:embed="rId4"/>
                          <a:stretch>
                            <a:fillRect l="-50244" t="-203077" r="-550732" b="-918462"/>
                          </a:stretch>
                        </a:blipFill>
                      </a:tcPr>
                    </a:tc>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blipFill>
                          <a:blip r:embed="rId4"/>
                          <a:stretch>
                            <a:fillRect l="-301961" t="-203077" r="-1006863" b="-9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blipFill>
                          <a:blip r:embed="rId4"/>
                          <a:stretch>
                            <a:fillRect l="-398058" t="-203077" r="-897087" b="-9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blipFill>
                          <a:blip r:embed="rId4"/>
                          <a:stretch>
                            <a:fillRect l="-502941" t="-203077" r="-805882" b="-918462"/>
                          </a:stretch>
                        </a:blip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102578513"/>
                      </a:ext>
                    </a:extLst>
                  </a:tr>
                  <a:tr h="394924">
                    <a:tc>
                      <a:txBody>
                        <a:bodyPr/>
                        <a:lstStyle/>
                        <a:p>
                          <a:endParaRPr lang="zh-CN"/>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t="-303077" r="-1295146" b="-818462"/>
                          </a:stretch>
                        </a:blip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301961" t="-303077" r="-1006863" b="-8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398058" t="-303077" r="-897087" b="-818462"/>
                          </a:stretch>
                        </a:blipFill>
                      </a:tcPr>
                    </a:tc>
                    <a:tc>
                      <a:txBody>
                        <a:bodyPr/>
                        <a:lstStyle/>
                        <a:p>
                          <a:endParaRPr lang="zh-CN"/>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502941" t="-303077" r="-805882" b="-818462"/>
                          </a:stretch>
                        </a:blip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6273382"/>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1870266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39482985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000000"/>
                              </a:solidFill>
                              <a:effectLst/>
                              <a:latin typeface="+mn-ea"/>
                              <a:ea typeface="楷体_GB2312" pitchFamily="49" charset="-122"/>
                              <a:cs typeface="+mn-cs"/>
                            </a:rPr>
                            <a:t>1</a:t>
                          </a:r>
                          <a:endParaRPr kumimoji="0" lang="en-US" altLang="zh-CN" sz="1800" b="1" i="0" u="none" strike="noStrike" kern="1200" cap="none" normalizeH="0" baseline="0" dirty="0">
                            <a:ln>
                              <a:noFill/>
                            </a:ln>
                            <a:solidFill>
                              <a:srgbClr val="000000"/>
                            </a:solidFill>
                            <a:effectLst/>
                            <a:latin typeface="+mn-ea"/>
                            <a:ea typeface="楷体_GB2312" pitchFamily="49"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000000"/>
                              </a:solidFill>
                              <a:effectLst/>
                              <a:latin typeface="+mn-ea"/>
                              <a:ea typeface="楷体_GB2312" pitchFamily="49" charset="-122"/>
                              <a:cs typeface="+mn-cs"/>
                            </a:rPr>
                            <a:t>1</a:t>
                          </a:r>
                          <a:endParaRPr kumimoji="0" lang="en-US" altLang="zh-CN" sz="1800" b="1" i="0" u="none" strike="noStrike" kern="1200" cap="none" normalizeH="0" baseline="0" dirty="0">
                            <a:ln>
                              <a:noFill/>
                            </a:ln>
                            <a:solidFill>
                              <a:srgbClr val="000000"/>
                            </a:solidFill>
                            <a:effectLst/>
                            <a:latin typeface="+mn-ea"/>
                            <a:ea typeface="楷体_GB2312" pitchFamily="49" charset="-122"/>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9910403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04029852"/>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kern="1200" cap="none" normalizeH="0" baseline="0" dirty="0">
                              <a:ln>
                                <a:noFill/>
                              </a:ln>
                              <a:solidFill>
                                <a:srgbClr val="000000"/>
                              </a:solidFill>
                              <a:effectLst/>
                              <a:latin typeface="+mn-ea"/>
                              <a:ea typeface="楷体_GB2312" pitchFamily="49" charset="-122"/>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C00000"/>
                              </a:solidFill>
                              <a:effectLst/>
                              <a:latin typeface="+mn-ea"/>
                              <a:ea typeface="+mn-ea"/>
                            </a:rPr>
                            <a:t>0</a:t>
                          </a:r>
                          <a:endParaRPr kumimoji="0" lang="en-US" altLang="zh-CN" sz="1800" b="1" i="0" u="none" strike="noStrike" cap="none" normalizeH="0" baseline="0" dirty="0">
                            <a:ln>
                              <a:noFill/>
                            </a:ln>
                            <a:solidFill>
                              <a:srgbClr val="C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84445968"/>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1</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59160589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kern="1200" cap="none" normalizeH="0" baseline="0" dirty="0">
                              <a:ln>
                                <a:noFill/>
                              </a:ln>
                              <a:solidFill>
                                <a:schemeClr val="tx1"/>
                              </a:solidFill>
                              <a:effectLst/>
                              <a:latin typeface="+mn-ea"/>
                              <a:ea typeface="楷体_GB2312" pitchFamily="49" charset="-122"/>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0</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chemeClr val="tx1"/>
                              </a:solidFill>
                              <a:effectLst/>
                              <a:latin typeface="+mn-ea"/>
                              <a:ea typeface="+mn-ea"/>
                            </a:rPr>
                            <a:t>1</a:t>
                          </a:r>
                          <a:endParaRPr kumimoji="0" lang="en-US" altLang="zh-CN" sz="1800" b="1" i="0" u="none" strike="noStrike" cap="none" normalizeH="0" baseline="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0875839"/>
                      </a:ext>
                    </a:extLst>
                  </a:tr>
                  <a:tr h="394924">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chemeClr val="tx1"/>
                              </a:solidFill>
                              <a:effectLst/>
                              <a:latin typeface="+mn-ea"/>
                              <a:ea typeface="+mn-ea"/>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solidFill>
                          <a:schemeClr val="accent2">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mn-ea"/>
                              <a:ea typeface="+mn-ea"/>
                            </a:rPr>
                            <a:t>1</a:t>
                          </a:r>
                        </a:p>
                      </a:txBody>
                      <a:tcPr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kern="1200" cap="none" normalizeH="0" baseline="0" dirty="0">
                              <a:ln>
                                <a:noFill/>
                              </a:ln>
                              <a:solidFill>
                                <a:srgbClr val="C00000"/>
                              </a:solidFill>
                              <a:effectLst/>
                              <a:latin typeface="+mn-ea"/>
                              <a:ea typeface="+mn-ea"/>
                              <a:cs typeface="+mn-cs"/>
                            </a:rPr>
                            <a:t>0</a:t>
                          </a: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FFFFFF"/>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00"/>
                              </a:solidFill>
                              <a:effectLst/>
                              <a:latin typeface="+mn-ea"/>
                              <a:ea typeface="+mn-ea"/>
                            </a:rPr>
                            <a:t>1</a:t>
                          </a:r>
                          <a:endParaRPr kumimoji="0" lang="en-US" altLang="zh-CN" sz="1800" b="1" i="0" u="none" strike="noStrike" cap="none" normalizeH="0" baseline="0" dirty="0">
                            <a:ln>
                              <a:noFill/>
                            </a:ln>
                            <a:solidFill>
                              <a:srgbClr val="000000"/>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tc>
                      <a:txBody>
                        <a:bodyPr/>
                        <a:lstStyle>
                          <a:lvl1pPr>
                            <a:spcBef>
                              <a:spcPct val="20000"/>
                            </a:spcBef>
                            <a:defRPr sz="20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1pPr>
                          <a:lvl2pPr>
                            <a:spcBef>
                              <a:spcPct val="20000"/>
                            </a:spcBef>
                            <a:defRPr>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2pPr>
                          <a:lvl3pPr>
                            <a:spcBef>
                              <a:spcPct val="20000"/>
                            </a:spcBef>
                            <a:defRPr sz="16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3pPr>
                          <a:lvl4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4pPr>
                          <a:lvl5pPr>
                            <a:spcBef>
                              <a:spcPct val="20000"/>
                            </a:spcBef>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5pPr>
                          <a:lvl6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6pPr>
                          <a:lvl7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7pPr>
                          <a:lvl8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8pPr>
                          <a:lvl9pPr fontAlgn="base">
                            <a:spcBef>
                              <a:spcPct val="20000"/>
                            </a:spcBef>
                            <a:spcAft>
                              <a:spcPct val="0"/>
                            </a:spcAft>
                            <a:defRPr sz="1400">
                              <a:solidFill>
                                <a:srgbClr val="000000"/>
                              </a:solidFill>
                              <a:effectLst>
                                <a:outerShdw blurRad="38100" dist="38100" dir="2700000" algn="tl">
                                  <a:srgbClr val="C0C0C0"/>
                                </a:outerShdw>
                              </a:effectLst>
                              <a:latin typeface="Comic Sans MS" panose="030F0702030302020204" pitchFamily="66"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chemeClr val="tx1"/>
                              </a:solidFill>
                              <a:effectLst/>
                              <a:latin typeface="+mn-ea"/>
                              <a:ea typeface="+mn-ea"/>
                            </a:rPr>
                            <a:t>1</a:t>
                          </a:r>
                          <a:endParaRPr kumimoji="0" lang="en-US" altLang="zh-CN" sz="1800" b="1" i="0" u="none" strike="noStrike" cap="none" normalizeH="0" baseline="0" dirty="0">
                            <a:ln>
                              <a:noFill/>
                            </a:ln>
                            <a:solidFill>
                              <a:schemeClr val="tx1"/>
                            </a:solidFill>
                            <a:effectLst/>
                            <a:latin typeface="+mn-ea"/>
                            <a:ea typeface="+mn-ea"/>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2203115629"/>
                      </a:ext>
                    </a:extLst>
                  </a:tr>
                </a:tbl>
              </a:graphicData>
            </a:graphic>
          </p:graphicFrame>
        </mc:Fallback>
      </mc:AlternateContent>
      <p:sp>
        <p:nvSpPr>
          <p:cNvPr id="13" name="文本框 12">
            <a:extLst>
              <a:ext uri="{FF2B5EF4-FFF2-40B4-BE49-F238E27FC236}">
                <a16:creationId xmlns:a16="http://schemas.microsoft.com/office/drawing/2014/main" id="{00CF5988-C081-4EAF-A92E-8F4F26953320}"/>
              </a:ext>
            </a:extLst>
          </p:cNvPr>
          <p:cNvSpPr txBox="1"/>
          <p:nvPr/>
        </p:nvSpPr>
        <p:spPr>
          <a:xfrm>
            <a:off x="810226" y="1210750"/>
            <a:ext cx="6765703" cy="507127"/>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tabLst/>
              <a:defRPr/>
            </a:pP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如表</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2–3–2</a:t>
            </a: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所示为</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3</a:t>
            </a: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线－</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8</a:t>
            </a: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线译码器</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74LS138</a:t>
            </a: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的真值表。 </a:t>
            </a:r>
          </a:p>
        </p:txBody>
      </p:sp>
      <p:sp>
        <p:nvSpPr>
          <p:cNvPr id="2" name="文本框 1">
            <a:extLst>
              <a:ext uri="{FF2B5EF4-FFF2-40B4-BE49-F238E27FC236}">
                <a16:creationId xmlns:a16="http://schemas.microsoft.com/office/drawing/2014/main" id="{B86C4F40-C424-0C92-219E-E010B098FC02}"/>
              </a:ext>
            </a:extLst>
          </p:cNvPr>
          <p:cNvSpPr txBox="1"/>
          <p:nvPr/>
        </p:nvSpPr>
        <p:spPr>
          <a:xfrm>
            <a:off x="298331" y="676964"/>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实验原理</a:t>
            </a:r>
            <a:endParaRPr lang="en-US" altLang="zh-CN" sz="2400" b="1" dirty="0">
              <a:latin typeface="+mn-ea"/>
            </a:endParaRPr>
          </a:p>
        </p:txBody>
      </p:sp>
    </p:spTree>
    <p:custDataLst>
      <p:tags r:id="rId1"/>
    </p:custDataLst>
    <p:extLst>
      <p:ext uri="{BB962C8B-B14F-4D97-AF65-F5344CB8AC3E}">
        <p14:creationId xmlns:p14="http://schemas.microsoft.com/office/powerpoint/2010/main" val="2409802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5" name="文本框 4">
            <a:extLst>
              <a:ext uri="{FF2B5EF4-FFF2-40B4-BE49-F238E27FC236}">
                <a16:creationId xmlns:a16="http://schemas.microsoft.com/office/drawing/2014/main" id="{462F60DD-91DB-7CBE-99DD-72E80601B04E}"/>
              </a:ext>
            </a:extLst>
          </p:cNvPr>
          <p:cNvSpPr txBox="1"/>
          <p:nvPr/>
        </p:nvSpPr>
        <p:spPr>
          <a:xfrm>
            <a:off x="397540" y="845192"/>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实验原理</a:t>
            </a:r>
            <a:endParaRPr lang="en-US" altLang="zh-CN" sz="2400" b="1" dirty="0">
              <a:latin typeface="+mn-ea"/>
            </a:endParaRPr>
          </a:p>
        </p:txBody>
      </p:sp>
      <p:sp>
        <p:nvSpPr>
          <p:cNvPr id="3" name="文本框 2">
            <a:extLst>
              <a:ext uri="{FF2B5EF4-FFF2-40B4-BE49-F238E27FC236}">
                <a16:creationId xmlns:a16="http://schemas.microsoft.com/office/drawing/2014/main" id="{B7A560F2-B7D4-6142-1AE0-C11F9B6D665A}"/>
              </a:ext>
            </a:extLst>
          </p:cNvPr>
          <p:cNvSpPr txBox="1"/>
          <p:nvPr/>
        </p:nvSpPr>
        <p:spPr>
          <a:xfrm>
            <a:off x="755459" y="1435033"/>
            <a:ext cx="7633082" cy="1260986"/>
          </a:xfrm>
          <a:prstGeom prst="rect">
            <a:avLst/>
          </a:prstGeom>
          <a:noFill/>
        </p:spPr>
        <p:txBody>
          <a:bodyPr wrap="square" rtlCol="0">
            <a:spAutoFit/>
          </a:bodyPr>
          <a:lstStyle/>
          <a:p>
            <a:pPr marL="0" lvl="1" indent="457200">
              <a:lnSpc>
                <a:spcPct val="130000"/>
              </a:lnSpc>
            </a:pPr>
            <a:r>
              <a:rPr lang="zh-CN" altLang="en-US" sz="2000" b="1" dirty="0"/>
              <a:t>译码器除了作译码外，可以作为数据分配器使用。如果利用选通端中的一个输入端输入数据信息，器件就成为一个数据分配器。用译码器还可以方便地实现多输出逻辑函数。</a:t>
            </a:r>
          </a:p>
        </p:txBody>
      </p:sp>
    </p:spTree>
    <p:custDataLst>
      <p:tags r:id="rId1"/>
    </p:custDataLst>
    <p:extLst>
      <p:ext uri="{BB962C8B-B14F-4D97-AF65-F5344CB8AC3E}">
        <p14:creationId xmlns:p14="http://schemas.microsoft.com/office/powerpoint/2010/main" val="1489373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5" name="文本框 4">
            <a:extLst>
              <a:ext uri="{FF2B5EF4-FFF2-40B4-BE49-F238E27FC236}">
                <a16:creationId xmlns:a16="http://schemas.microsoft.com/office/drawing/2014/main" id="{462F60DD-91DB-7CBE-99DD-72E80601B04E}"/>
              </a:ext>
            </a:extLst>
          </p:cNvPr>
          <p:cNvSpPr txBox="1"/>
          <p:nvPr/>
        </p:nvSpPr>
        <p:spPr>
          <a:xfrm>
            <a:off x="397540" y="845192"/>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实验预习要求</a:t>
            </a:r>
            <a:endParaRPr lang="en-US" altLang="zh-CN" sz="2400" b="1" dirty="0">
              <a:latin typeface="+mn-ea"/>
            </a:endParaRPr>
          </a:p>
        </p:txBody>
      </p:sp>
      <p:sp>
        <p:nvSpPr>
          <p:cNvPr id="3" name="文本框 2">
            <a:extLst>
              <a:ext uri="{FF2B5EF4-FFF2-40B4-BE49-F238E27FC236}">
                <a16:creationId xmlns:a16="http://schemas.microsoft.com/office/drawing/2014/main" id="{968B71B3-FE80-1B42-6152-6FB1C9B86A5B}"/>
              </a:ext>
            </a:extLst>
          </p:cNvPr>
          <p:cNvSpPr txBox="1"/>
          <p:nvPr/>
        </p:nvSpPr>
        <p:spPr>
          <a:xfrm>
            <a:off x="918324" y="1518768"/>
            <a:ext cx="7295578" cy="1260986"/>
          </a:xfrm>
          <a:prstGeom prst="rect">
            <a:avLst/>
          </a:prstGeom>
          <a:noFill/>
        </p:spPr>
        <p:txBody>
          <a:bodyPr wrap="square" rtlCol="0">
            <a:spAutoFit/>
          </a:bodyPr>
          <a:lstStyle/>
          <a:p>
            <a:pPr marL="457200" indent="-457200">
              <a:lnSpc>
                <a:spcPct val="130000"/>
              </a:lnSpc>
              <a:buFont typeface="Wingdings" panose="05000000000000000000" pitchFamily="2" charset="2"/>
              <a:buChar char="Ø"/>
            </a:pPr>
            <a:r>
              <a:rPr lang="zh-CN" altLang="en-US" sz="2000" b="1" dirty="0"/>
              <a:t>复习有关编码器和译码器的原理。</a:t>
            </a:r>
          </a:p>
          <a:p>
            <a:pPr marL="457200" indent="-457200">
              <a:lnSpc>
                <a:spcPct val="130000"/>
              </a:lnSpc>
              <a:buFont typeface="Wingdings" panose="05000000000000000000" pitchFamily="2" charset="2"/>
              <a:buChar char="Ø"/>
            </a:pPr>
            <a:r>
              <a:rPr lang="zh-CN" altLang="en-US" sz="2000" b="1" dirty="0"/>
              <a:t>了解所用集成电路的功能和外部引线排列。</a:t>
            </a:r>
          </a:p>
          <a:p>
            <a:pPr marL="457200" indent="-457200">
              <a:lnSpc>
                <a:spcPct val="130000"/>
              </a:lnSpc>
              <a:buFont typeface="Wingdings" panose="05000000000000000000" pitchFamily="2" charset="2"/>
              <a:buChar char="Ø"/>
            </a:pPr>
            <a:r>
              <a:rPr lang="zh-CN" altLang="en-US" sz="2000" b="1" dirty="0"/>
              <a:t>根据实验任务，画出所需的实验电路图及记录表格。</a:t>
            </a:r>
          </a:p>
        </p:txBody>
      </p:sp>
    </p:spTree>
    <p:custDataLst>
      <p:tags r:id="rId1"/>
    </p:custDataLst>
    <p:extLst>
      <p:ext uri="{BB962C8B-B14F-4D97-AF65-F5344CB8AC3E}">
        <p14:creationId xmlns:p14="http://schemas.microsoft.com/office/powerpoint/2010/main" val="348815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5" name="文本框 4">
            <a:extLst>
              <a:ext uri="{FF2B5EF4-FFF2-40B4-BE49-F238E27FC236}">
                <a16:creationId xmlns:a16="http://schemas.microsoft.com/office/drawing/2014/main" id="{462F60DD-91DB-7CBE-99DD-72E80601B04E}"/>
              </a:ext>
            </a:extLst>
          </p:cNvPr>
          <p:cNvSpPr txBox="1"/>
          <p:nvPr/>
        </p:nvSpPr>
        <p:spPr>
          <a:xfrm>
            <a:off x="397540" y="845192"/>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实验内容及步骤</a:t>
            </a:r>
            <a:endParaRPr lang="en-US" altLang="zh-CN" sz="2400" b="1" dirty="0">
              <a:latin typeface="+mn-ea"/>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BA601E5-D2E8-CC6B-D97D-70E214907C3E}"/>
                  </a:ext>
                </a:extLst>
              </p:cNvPr>
              <p:cNvSpPr txBox="1"/>
              <p:nvPr/>
            </p:nvSpPr>
            <p:spPr>
              <a:xfrm>
                <a:off x="879080" y="1550946"/>
                <a:ext cx="7592060" cy="4461862"/>
              </a:xfrm>
              <a:prstGeom prst="rect">
                <a:avLst/>
              </a:prstGeom>
              <a:noFill/>
            </p:spPr>
            <p:txBody>
              <a:bodyPr wrap="square" rtlCol="0">
                <a:spAutoFit/>
              </a:bodyPr>
              <a:lstStyle/>
              <a:p>
                <a:pPr algn="just">
                  <a:lnSpc>
                    <a:spcPct val="130000"/>
                  </a:lnSpc>
                </a:pPr>
                <a:r>
                  <a:rPr lang="zh-CN" altLang="en-US" sz="2000" b="1" dirty="0"/>
                  <a:t>完成下列设计实验。</a:t>
                </a:r>
              </a:p>
              <a:p>
                <a:pPr marL="457200" indent="-457200" algn="just">
                  <a:lnSpc>
                    <a:spcPct val="130000"/>
                  </a:lnSpc>
                  <a:buFont typeface="+mj-ea"/>
                  <a:buAutoNum type="circleNumDbPlain"/>
                </a:pPr>
                <a:r>
                  <a:rPr lang="zh-CN" altLang="en-US" sz="2000" b="1" dirty="0"/>
                  <a:t>验证编码器</a:t>
                </a:r>
                <a:r>
                  <a:rPr lang="en-US" altLang="zh-CN" sz="2000" b="1" dirty="0"/>
                  <a:t>74LS148</a:t>
                </a:r>
                <a:r>
                  <a:rPr lang="zh-CN" altLang="en-US" sz="2000" b="1" dirty="0"/>
                  <a:t>、</a:t>
                </a:r>
                <a:r>
                  <a:rPr lang="en-US" altLang="zh-CN" sz="2000" b="1" dirty="0"/>
                  <a:t>3</a:t>
                </a:r>
                <a:r>
                  <a:rPr lang="zh-CN" altLang="en-US" sz="2000" b="1" dirty="0"/>
                  <a:t>线－</a:t>
                </a:r>
                <a:r>
                  <a:rPr lang="en-US" altLang="zh-CN" sz="2000" b="1" dirty="0"/>
                  <a:t>8</a:t>
                </a:r>
                <a:r>
                  <a:rPr lang="zh-CN" altLang="en-US" sz="2000" b="1" dirty="0"/>
                  <a:t>线译码器</a:t>
                </a:r>
                <a:r>
                  <a:rPr lang="en-US" altLang="zh-CN" sz="2000" b="1" dirty="0"/>
                  <a:t>74LS138</a:t>
                </a:r>
                <a:r>
                  <a:rPr lang="zh-CN" altLang="en-US" sz="2000" b="1" dirty="0"/>
                  <a:t>，记录实验数据。</a:t>
                </a:r>
                <a:endParaRPr lang="en-US" altLang="zh-CN" sz="2000" b="1" dirty="0"/>
              </a:p>
              <a:p>
                <a:pPr marL="457200" indent="-457200" algn="just">
                  <a:lnSpc>
                    <a:spcPct val="130000"/>
                  </a:lnSpc>
                  <a:buFont typeface="+mj-ea"/>
                  <a:buAutoNum type="circleNumDbPlain"/>
                </a:pPr>
                <a:r>
                  <a:rPr lang="zh-CN" altLang="en-US" sz="2000" b="1" dirty="0"/>
                  <a:t>用</a:t>
                </a:r>
                <a:r>
                  <a:rPr lang="en-US" altLang="zh-CN" sz="2000" b="1" dirty="0"/>
                  <a:t>3</a:t>
                </a:r>
                <a:r>
                  <a:rPr lang="zh-CN" altLang="en-US" sz="2000" b="1" dirty="0"/>
                  <a:t>线－</a:t>
                </a:r>
                <a:r>
                  <a:rPr lang="en-US" altLang="zh-CN" sz="2000" b="1" dirty="0"/>
                  <a:t>8</a:t>
                </a:r>
                <a:r>
                  <a:rPr lang="zh-CN" altLang="en-US" sz="2000" b="1" dirty="0"/>
                  <a:t>线译码器</a:t>
                </a:r>
                <a:r>
                  <a:rPr lang="en-US" altLang="zh-CN" sz="2000" b="1" dirty="0"/>
                  <a:t>74LS138</a:t>
                </a:r>
                <a:r>
                  <a:rPr lang="zh-CN" altLang="en-US" sz="2000" b="1" dirty="0"/>
                  <a:t>和门电路设计如下多输出逻辑函数。</a:t>
                </a:r>
                <a:endParaRPr lang="en-US" altLang="zh-CN" sz="2000" b="1" dirty="0"/>
              </a:p>
              <a:p>
                <a:pPr marL="457200" indent="-457200" algn="just">
                  <a:lnSpc>
                    <a:spcPct val="130000"/>
                  </a:lnSpc>
                  <a:buFont typeface="+mj-ea"/>
                  <a:buAutoNum type="circleNumDbPlain"/>
                </a:pPr>
                <a:endParaRPr lang="en-US" altLang="zh-CN" sz="2000" b="1" dirty="0"/>
              </a:p>
              <a:p>
                <a:pPr marL="457200" indent="-457200" algn="just">
                  <a:lnSpc>
                    <a:spcPct val="130000"/>
                  </a:lnSpc>
                  <a:buFont typeface="+mj-ea"/>
                  <a:buAutoNum type="circleNumDbPlain"/>
                </a:pPr>
                <a:endParaRPr lang="en-US" altLang="zh-CN" sz="2000" b="1" dirty="0"/>
              </a:p>
              <a:p>
                <a:pPr marL="457200" indent="-457200" algn="just">
                  <a:lnSpc>
                    <a:spcPct val="130000"/>
                  </a:lnSpc>
                  <a:buFont typeface="+mj-ea"/>
                  <a:buAutoNum type="circleNumDbPlain"/>
                </a:pPr>
                <a:endParaRPr lang="en-US" altLang="zh-CN" sz="2000" b="1" dirty="0"/>
              </a:p>
              <a:p>
                <a:pPr marL="457200" indent="-457200" algn="just">
                  <a:lnSpc>
                    <a:spcPct val="130000"/>
                  </a:lnSpc>
                  <a:buFont typeface="+mj-ea"/>
                  <a:buAutoNum type="circleNumDbPlain"/>
                </a:pPr>
                <a:endParaRPr lang="en-US" altLang="zh-CN" sz="2000" b="1" dirty="0"/>
              </a:p>
              <a:p>
                <a:pPr marL="457200" indent="-457200" algn="just">
                  <a:lnSpc>
                    <a:spcPct val="130000"/>
                  </a:lnSpc>
                  <a:buFont typeface="+mj-ea"/>
                  <a:buAutoNum type="circleNumDbPlain"/>
                </a:pPr>
                <a:r>
                  <a:rPr lang="zh-CN" altLang="en-US" sz="2000" b="1" dirty="0"/>
                  <a:t>将</a:t>
                </a:r>
                <a:r>
                  <a:rPr lang="en-US" altLang="zh-CN" sz="2000" b="1" dirty="0"/>
                  <a:t>74LS138</a:t>
                </a:r>
                <a:r>
                  <a:rPr lang="zh-CN" altLang="en-US" sz="2000" b="1" dirty="0"/>
                  <a:t>构成时序脉冲分配器。用示波器观测在地址端分别取“</a:t>
                </a:r>
                <a:r>
                  <a:rPr lang="en-US" altLang="zh-CN" sz="2000" b="1" dirty="0"/>
                  <a:t>000</a:t>
                </a:r>
                <a:r>
                  <a:rPr lang="zh-CN" altLang="en-US" sz="2000" b="1" dirty="0"/>
                  <a:t>～</a:t>
                </a:r>
                <a:r>
                  <a:rPr lang="en-US" altLang="zh-CN" sz="2000" b="1" dirty="0"/>
                  <a:t>111” 8</a:t>
                </a:r>
                <a:r>
                  <a:rPr lang="zh-CN" altLang="en-US" sz="2000" b="1" dirty="0"/>
                  <a:t>种不同的状态时，</a:t>
                </a:r>
                <a:r>
                  <a:rPr lang="en-US" altLang="zh-CN" sz="2000" b="1" dirty="0"/>
                  <a:t> </a:t>
                </a:r>
                <a14:m>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𝟎</m:t>
                        </m:r>
                      </m:sub>
                    </m:sSub>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𝟕</m:t>
                        </m:r>
                      </m:sub>
                    </m:sSub>
                  </m:oMath>
                </a14:m>
                <a:r>
                  <a:rPr lang="zh-CN" altLang="en-US" sz="2000" b="1" dirty="0"/>
                  <a:t>中与之对应的输出端的输出波形，记录输入时序和输出时序的波形图。（教材</a:t>
                </a:r>
                <a:r>
                  <a:rPr lang="en-US" altLang="zh-CN" sz="2000" b="1" dirty="0"/>
                  <a:t>P29</a:t>
                </a:r>
                <a:r>
                  <a:rPr lang="zh-CN" altLang="en-US" sz="2000" b="1" dirty="0"/>
                  <a:t>“数据分配器”相关内容）</a:t>
                </a:r>
              </a:p>
            </p:txBody>
          </p:sp>
        </mc:Choice>
        <mc:Fallback xmlns="">
          <p:sp>
            <p:nvSpPr>
              <p:cNvPr id="4" name="文本框 3">
                <a:extLst>
                  <a:ext uri="{FF2B5EF4-FFF2-40B4-BE49-F238E27FC236}">
                    <a16:creationId xmlns:a16="http://schemas.microsoft.com/office/drawing/2014/main" id="{DBA601E5-D2E8-CC6B-D97D-70E214907C3E}"/>
                  </a:ext>
                </a:extLst>
              </p:cNvPr>
              <p:cNvSpPr txBox="1">
                <a:spLocks noRot="1" noChangeAspect="1" noMove="1" noResize="1" noEditPoints="1" noAdjustHandles="1" noChangeArrowheads="1" noChangeShapeType="1" noTextEdit="1"/>
              </p:cNvSpPr>
              <p:nvPr/>
            </p:nvSpPr>
            <p:spPr>
              <a:xfrm>
                <a:off x="879080" y="1550946"/>
                <a:ext cx="7592060" cy="4461862"/>
              </a:xfrm>
              <a:prstGeom prst="rect">
                <a:avLst/>
              </a:prstGeom>
              <a:blipFill>
                <a:blip r:embed="rId4"/>
                <a:stretch>
                  <a:fillRect l="-803" r="-4093" b="-15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6578B34-D6F3-79BF-1483-7CEB5D3CF17A}"/>
                  </a:ext>
                </a:extLst>
              </p:cNvPr>
              <p:cNvSpPr txBox="1"/>
              <p:nvPr/>
            </p:nvSpPr>
            <p:spPr>
              <a:xfrm>
                <a:off x="2923198" y="3062896"/>
                <a:ext cx="3645826" cy="1232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eqArr>
                            <m:eqArrPr>
                              <m:ctrlPr>
                                <a:rPr lang="en-US" altLang="zh-CN" sz="2000" i="1" smtClean="0">
                                  <a:latin typeface="Cambria Math" panose="02040503050406030204" pitchFamily="18" charset="0"/>
                                </a:rPr>
                              </m:ctrlPr>
                            </m:eqArrPr>
                            <m:e>
                              <m:r>
                                <a:rPr lang="en-US" altLang="zh-CN" sz="2000" b="0" i="1" smtClean="0">
                                  <a:latin typeface="Cambria Math" panose="02040503050406030204" pitchFamily="18" charset="0"/>
                                </a:rPr>
                                <m:t>&amp;</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𝐵</m:t>
                                  </m:r>
                                </m:e>
                              </m:acc>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𝐶</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𝐴𝐵</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𝐶</m:t>
                                  </m:r>
                                </m:e>
                              </m:acc>
                            </m:e>
                            <m:e>
                              <m:r>
                                <a:rPr lang="en-US" altLang="zh-CN" sz="2000" b="0" i="1" smtClean="0">
                                  <a:latin typeface="Cambria Math" panose="02040503050406030204" pitchFamily="18" charset="0"/>
                                </a:rPr>
                                <m:t>&amp;</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𝐴𝐶</m:t>
                              </m:r>
                            </m:e>
                            <m:e>
                              <m:r>
                                <a:rPr lang="en-US" altLang="zh-CN" sz="2000" b="0" i="1" smtClean="0">
                                  <a:latin typeface="Cambria Math" panose="02040503050406030204" pitchFamily="18" charset="0"/>
                                </a:rPr>
                                <m:t>&amp;</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𝐴</m:t>
                                  </m:r>
                                </m:e>
                              </m:acc>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𝐵</m:t>
                                  </m:r>
                                </m:e>
                              </m:acc>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𝐵</m:t>
                                  </m:r>
                                </m:e>
                              </m:acc>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𝐶</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𝐵𝐶</m:t>
                              </m:r>
                            </m:e>
                          </m:eqArr>
                        </m:e>
                      </m:d>
                    </m:oMath>
                  </m:oMathPara>
                </a14:m>
                <a:endParaRPr lang="en-US" altLang="zh-CN" sz="2000" dirty="0"/>
              </a:p>
            </p:txBody>
          </p:sp>
        </mc:Choice>
        <mc:Fallback xmlns="">
          <p:sp>
            <p:nvSpPr>
              <p:cNvPr id="6" name="文本框 5">
                <a:extLst>
                  <a:ext uri="{FF2B5EF4-FFF2-40B4-BE49-F238E27FC236}">
                    <a16:creationId xmlns:a16="http://schemas.microsoft.com/office/drawing/2014/main" id="{B6578B34-D6F3-79BF-1483-7CEB5D3CF17A}"/>
                  </a:ext>
                </a:extLst>
              </p:cNvPr>
              <p:cNvSpPr txBox="1">
                <a:spLocks noRot="1" noChangeAspect="1" noMove="1" noResize="1" noEditPoints="1" noAdjustHandles="1" noChangeArrowheads="1" noChangeShapeType="1" noTextEdit="1"/>
              </p:cNvSpPr>
              <p:nvPr/>
            </p:nvSpPr>
            <p:spPr>
              <a:xfrm>
                <a:off x="2923198" y="3062896"/>
                <a:ext cx="3645826" cy="1232004"/>
              </a:xfrm>
              <a:prstGeom prst="rect">
                <a:avLst/>
              </a:prstGeom>
              <a:blipFill>
                <a:blip r:embed="rId5"/>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117514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3" name="文本框 2">
            <a:extLst>
              <a:ext uri="{FF2B5EF4-FFF2-40B4-BE49-F238E27FC236}">
                <a16:creationId xmlns:a16="http://schemas.microsoft.com/office/drawing/2014/main" id="{8A32143D-1B5D-13C0-4E89-AFFBFCBE87DF}"/>
              </a:ext>
            </a:extLst>
          </p:cNvPr>
          <p:cNvSpPr txBox="1"/>
          <p:nvPr/>
        </p:nvSpPr>
        <p:spPr>
          <a:xfrm>
            <a:off x="652631" y="2176238"/>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solidFill>
                  <a:srgbClr val="C00000"/>
                </a:solidFill>
                <a:latin typeface="+mn-ea"/>
              </a:rPr>
              <a:t>注意！</a:t>
            </a:r>
            <a:endParaRPr lang="en-US" altLang="zh-CN" sz="2400" b="1" dirty="0">
              <a:solidFill>
                <a:srgbClr val="C00000"/>
              </a:solidFill>
              <a:latin typeface="+mn-ea"/>
            </a:endParaRPr>
          </a:p>
        </p:txBody>
      </p:sp>
      <p:sp>
        <p:nvSpPr>
          <p:cNvPr id="4" name="文本框 3">
            <a:extLst>
              <a:ext uri="{FF2B5EF4-FFF2-40B4-BE49-F238E27FC236}">
                <a16:creationId xmlns:a16="http://schemas.microsoft.com/office/drawing/2014/main" id="{E1D2CB00-23E1-5102-4A5B-7A99A5DE87B4}"/>
              </a:ext>
            </a:extLst>
          </p:cNvPr>
          <p:cNvSpPr txBox="1"/>
          <p:nvPr/>
        </p:nvSpPr>
        <p:spPr>
          <a:xfrm>
            <a:off x="1028209" y="2888406"/>
            <a:ext cx="7464330" cy="1661096"/>
          </a:xfrm>
          <a:prstGeom prst="rect">
            <a:avLst/>
          </a:prstGeom>
          <a:noFill/>
        </p:spPr>
        <p:txBody>
          <a:bodyPr wrap="square" rtlCol="0">
            <a:spAutoFit/>
          </a:bodyPr>
          <a:lstStyle/>
          <a:p>
            <a:pPr marL="457200" indent="-457200" algn="just">
              <a:lnSpc>
                <a:spcPct val="130000"/>
              </a:lnSpc>
              <a:buFont typeface="Wingdings" panose="05000000000000000000" pitchFamily="2" charset="2"/>
              <a:buChar char="Ø"/>
            </a:pPr>
            <a:r>
              <a:rPr lang="zh-CN" altLang="en-US" sz="2000" b="1" dirty="0">
                <a:solidFill>
                  <a:srgbClr val="C00000"/>
                </a:solidFill>
              </a:rPr>
              <a:t>使用</a:t>
            </a:r>
            <a:r>
              <a:rPr lang="en-US" altLang="zh-CN" sz="2000" b="1" dirty="0">
                <a:solidFill>
                  <a:srgbClr val="C00000"/>
                </a:solidFill>
              </a:rPr>
              <a:t>MSI</a:t>
            </a:r>
            <a:r>
              <a:rPr lang="zh-CN" altLang="en-US" sz="2000" b="1" dirty="0">
                <a:solidFill>
                  <a:srgbClr val="C00000"/>
                </a:solidFill>
              </a:rPr>
              <a:t>器件时，器件的各控制输入端必须按逻辑要求接入电路，不能悬空处理。</a:t>
            </a:r>
            <a:endParaRPr lang="en-US" altLang="zh-CN" sz="2000" b="1" dirty="0">
              <a:solidFill>
                <a:srgbClr val="C00000"/>
              </a:solidFill>
            </a:endParaRPr>
          </a:p>
          <a:p>
            <a:pPr marL="457200" indent="-457200" algn="just">
              <a:lnSpc>
                <a:spcPct val="130000"/>
              </a:lnSpc>
              <a:buFont typeface="Wingdings" panose="05000000000000000000" pitchFamily="2" charset="2"/>
              <a:buChar char="Ø"/>
            </a:pPr>
            <a:r>
              <a:rPr lang="zh-CN" altLang="en-US" sz="2000" b="1" dirty="0">
                <a:solidFill>
                  <a:srgbClr val="C00000"/>
                </a:solidFill>
              </a:rPr>
              <a:t>该实验中所用的集成芯片种类较多，在插入或拔取集成芯片时，须切断电源，不能带电操作</a:t>
            </a:r>
          </a:p>
        </p:txBody>
      </p:sp>
    </p:spTree>
    <p:custDataLst>
      <p:tags r:id="rId1"/>
    </p:custDataLst>
    <p:extLst>
      <p:ext uri="{BB962C8B-B14F-4D97-AF65-F5344CB8AC3E}">
        <p14:creationId xmlns:p14="http://schemas.microsoft.com/office/powerpoint/2010/main" val="642297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5" name="文本框 4">
            <a:extLst>
              <a:ext uri="{FF2B5EF4-FFF2-40B4-BE49-F238E27FC236}">
                <a16:creationId xmlns:a16="http://schemas.microsoft.com/office/drawing/2014/main" id="{462F60DD-91DB-7CBE-99DD-72E80601B04E}"/>
              </a:ext>
            </a:extLst>
          </p:cNvPr>
          <p:cNvSpPr txBox="1"/>
          <p:nvPr/>
        </p:nvSpPr>
        <p:spPr>
          <a:xfrm>
            <a:off x="397540" y="845192"/>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实验参考电路</a:t>
            </a:r>
            <a:endParaRPr lang="en-US" altLang="zh-CN" sz="2400" b="1" dirty="0">
              <a:latin typeface="+mn-ea"/>
            </a:endParaRPr>
          </a:p>
        </p:txBody>
      </p:sp>
      <p:sp>
        <p:nvSpPr>
          <p:cNvPr id="4" name="文本框 3">
            <a:extLst>
              <a:ext uri="{FF2B5EF4-FFF2-40B4-BE49-F238E27FC236}">
                <a16:creationId xmlns:a16="http://schemas.microsoft.com/office/drawing/2014/main" id="{DBA601E5-D2E8-CC6B-D97D-70E214907C3E}"/>
              </a:ext>
            </a:extLst>
          </p:cNvPr>
          <p:cNvSpPr txBox="1"/>
          <p:nvPr/>
        </p:nvSpPr>
        <p:spPr>
          <a:xfrm>
            <a:off x="839835" y="1475383"/>
            <a:ext cx="7464330" cy="460960"/>
          </a:xfrm>
          <a:prstGeom prst="rect">
            <a:avLst/>
          </a:prstGeom>
          <a:noFill/>
        </p:spPr>
        <p:txBody>
          <a:bodyPr wrap="square" rtlCol="0">
            <a:spAutoFit/>
          </a:bodyPr>
          <a:lstStyle/>
          <a:p>
            <a:pPr marL="457200" indent="-457200">
              <a:lnSpc>
                <a:spcPct val="130000"/>
              </a:lnSpc>
              <a:buFont typeface="+mj-ea"/>
              <a:buAutoNum type="circleNumDbPlain"/>
            </a:pPr>
            <a:r>
              <a:rPr lang="zh-CN" altLang="en-US" sz="2000" b="1" dirty="0"/>
              <a:t>用</a:t>
            </a:r>
            <a:r>
              <a:rPr lang="en-US" altLang="zh-CN" sz="2000" b="1" dirty="0"/>
              <a:t>3</a:t>
            </a:r>
            <a:r>
              <a:rPr lang="zh-CN" altLang="en-US" sz="2000" b="1" dirty="0"/>
              <a:t>线－</a:t>
            </a:r>
            <a:r>
              <a:rPr lang="en-US" altLang="zh-CN" sz="2000" b="1" dirty="0"/>
              <a:t>8</a:t>
            </a:r>
            <a:r>
              <a:rPr lang="zh-CN" altLang="en-US" sz="2000" b="1" dirty="0"/>
              <a:t>线译码器</a:t>
            </a:r>
            <a:r>
              <a:rPr lang="en-US" altLang="zh-CN" sz="2000" b="1" dirty="0"/>
              <a:t>74LS138</a:t>
            </a:r>
            <a:r>
              <a:rPr lang="zh-CN" altLang="en-US" sz="2000" b="1" dirty="0"/>
              <a:t>和门电路设计如下多输出逻辑函数。</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694F735-C129-A946-1414-CA15CDEF73AF}"/>
                  </a:ext>
                </a:extLst>
              </p:cNvPr>
              <p:cNvSpPr txBox="1"/>
              <p:nvPr/>
            </p:nvSpPr>
            <p:spPr>
              <a:xfrm>
                <a:off x="2894134" y="2028996"/>
                <a:ext cx="3645826" cy="1232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eqArr>
                            <m:eqArrPr>
                              <m:ctrlPr>
                                <a:rPr lang="en-US" altLang="zh-CN" sz="2000" i="1" smtClean="0">
                                  <a:latin typeface="Cambria Math" panose="02040503050406030204" pitchFamily="18" charset="0"/>
                                </a:rPr>
                              </m:ctrlPr>
                            </m:eqArrPr>
                            <m:e>
                              <m:r>
                                <a:rPr lang="en-US" altLang="zh-CN" sz="2000" b="0" i="1" smtClean="0">
                                  <a:latin typeface="Cambria Math" panose="02040503050406030204" pitchFamily="18" charset="0"/>
                                </a:rPr>
                                <m:t>&amp;</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𝐵</m:t>
                                  </m:r>
                                </m:e>
                              </m:acc>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𝐶</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𝐴𝐵</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𝐶</m:t>
                                  </m:r>
                                </m:e>
                              </m:acc>
                            </m:e>
                            <m:e>
                              <m:r>
                                <a:rPr lang="en-US" altLang="zh-CN" sz="2000" b="0" i="1" smtClean="0">
                                  <a:latin typeface="Cambria Math" panose="02040503050406030204" pitchFamily="18" charset="0"/>
                                </a:rPr>
                                <m:t>&amp;</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𝐴𝐶</m:t>
                              </m:r>
                            </m:e>
                            <m:e>
                              <m:r>
                                <a:rPr lang="en-US" altLang="zh-CN" sz="2000" b="0" i="1" smtClean="0">
                                  <a:latin typeface="Cambria Math" panose="02040503050406030204" pitchFamily="18" charset="0"/>
                                </a:rPr>
                                <m:t>&amp;</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𝐴</m:t>
                                  </m:r>
                                </m:e>
                              </m:acc>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𝐵</m:t>
                                  </m:r>
                                </m:e>
                              </m:acc>
                              <m:r>
                                <a:rPr lang="en-US" altLang="zh-CN" sz="2000" b="0" i="1" smtClean="0">
                                  <a:latin typeface="Cambria Math" panose="02040503050406030204" pitchFamily="18" charset="0"/>
                                </a:rPr>
                                <m:t>𝐶</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𝐵</m:t>
                                  </m:r>
                                </m:e>
                              </m:acc>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𝐶</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𝐵𝐶</m:t>
                              </m:r>
                            </m:e>
                          </m:eqArr>
                        </m:e>
                      </m:d>
                    </m:oMath>
                  </m:oMathPara>
                </a14:m>
                <a:endParaRPr lang="en-US" altLang="zh-CN" sz="2000" dirty="0"/>
              </a:p>
            </p:txBody>
          </p:sp>
        </mc:Choice>
        <mc:Fallback xmlns="">
          <p:sp>
            <p:nvSpPr>
              <p:cNvPr id="3" name="文本框 2">
                <a:extLst>
                  <a:ext uri="{FF2B5EF4-FFF2-40B4-BE49-F238E27FC236}">
                    <a16:creationId xmlns:a16="http://schemas.microsoft.com/office/drawing/2014/main" id="{5694F735-C129-A946-1414-CA15CDEF73AF}"/>
                  </a:ext>
                </a:extLst>
              </p:cNvPr>
              <p:cNvSpPr txBox="1">
                <a:spLocks noRot="1" noChangeAspect="1" noMove="1" noResize="1" noEditPoints="1" noAdjustHandles="1" noChangeArrowheads="1" noChangeShapeType="1" noTextEdit="1"/>
              </p:cNvSpPr>
              <p:nvPr/>
            </p:nvSpPr>
            <p:spPr>
              <a:xfrm>
                <a:off x="2894134" y="2028996"/>
                <a:ext cx="3645826" cy="1232004"/>
              </a:xfrm>
              <a:prstGeom prst="rect">
                <a:avLst/>
              </a:prstGeom>
              <a:blipFill>
                <a:blip r:embed="rId4"/>
                <a:stretch>
                  <a:fillRect/>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AD945D55-C3F2-FDBF-CFB4-EF1B3A960674}"/>
              </a:ext>
            </a:extLst>
          </p:cNvPr>
          <p:cNvPicPr>
            <a:picLocks noChangeAspect="1"/>
          </p:cNvPicPr>
          <p:nvPr/>
        </p:nvPicPr>
        <p:blipFill>
          <a:blip r:embed="rId5"/>
          <a:stretch>
            <a:fillRect/>
          </a:stretch>
        </p:blipFill>
        <p:spPr>
          <a:xfrm>
            <a:off x="514706" y="3353653"/>
            <a:ext cx="8205690" cy="3007762"/>
          </a:xfrm>
          <a:prstGeom prst="rect">
            <a:avLst/>
          </a:prstGeom>
        </p:spPr>
      </p:pic>
    </p:spTree>
    <p:custDataLst>
      <p:tags r:id="rId1"/>
    </p:custDataLst>
    <p:extLst>
      <p:ext uri="{BB962C8B-B14F-4D97-AF65-F5344CB8AC3E}">
        <p14:creationId xmlns:p14="http://schemas.microsoft.com/office/powerpoint/2010/main" val="800779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5" name="文本框 4">
            <a:extLst>
              <a:ext uri="{FF2B5EF4-FFF2-40B4-BE49-F238E27FC236}">
                <a16:creationId xmlns:a16="http://schemas.microsoft.com/office/drawing/2014/main" id="{462F60DD-91DB-7CBE-99DD-72E80601B04E}"/>
              </a:ext>
            </a:extLst>
          </p:cNvPr>
          <p:cNvSpPr txBox="1"/>
          <p:nvPr/>
        </p:nvSpPr>
        <p:spPr>
          <a:xfrm>
            <a:off x="397540" y="845192"/>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实验参考电路</a:t>
            </a:r>
            <a:endParaRPr lang="en-US" altLang="zh-CN" sz="2400" b="1" dirty="0">
              <a:latin typeface="+mn-ea"/>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BA601E5-D2E8-CC6B-D97D-70E214907C3E}"/>
                  </a:ext>
                </a:extLst>
              </p:cNvPr>
              <p:cNvSpPr txBox="1"/>
              <p:nvPr/>
            </p:nvSpPr>
            <p:spPr>
              <a:xfrm>
                <a:off x="831986" y="1398252"/>
                <a:ext cx="8045150" cy="1260986"/>
              </a:xfrm>
              <a:prstGeom prst="rect">
                <a:avLst/>
              </a:prstGeom>
              <a:noFill/>
            </p:spPr>
            <p:txBody>
              <a:bodyPr wrap="square" rtlCol="0">
                <a:spAutoFit/>
              </a:bodyPr>
              <a:lstStyle/>
              <a:p>
                <a:pPr marL="457200" indent="-457200" algn="just">
                  <a:lnSpc>
                    <a:spcPct val="130000"/>
                  </a:lnSpc>
                  <a:buFont typeface="+mj-ea"/>
                  <a:buAutoNum type="circleNumDbPlain"/>
                </a:pPr>
                <a:r>
                  <a:rPr lang="zh-CN" altLang="en-US" sz="2000" b="1" dirty="0"/>
                  <a:t>将</a:t>
                </a:r>
                <a:r>
                  <a:rPr lang="en-US" altLang="zh-CN" sz="2000" b="1" dirty="0"/>
                  <a:t>74LS138</a:t>
                </a:r>
                <a:r>
                  <a:rPr lang="zh-CN" altLang="en-US" sz="2000" b="1" dirty="0"/>
                  <a:t>构成时序脉冲分配器。用示波器观测在地址端分别取“</a:t>
                </a:r>
                <a:r>
                  <a:rPr lang="en-US" altLang="zh-CN" sz="2000" b="1" dirty="0"/>
                  <a:t>000</a:t>
                </a:r>
                <a:r>
                  <a:rPr lang="zh-CN" altLang="en-US" sz="2000" b="1" dirty="0"/>
                  <a:t>～</a:t>
                </a:r>
                <a:r>
                  <a:rPr lang="en-US" altLang="zh-CN" sz="2000" b="1" dirty="0"/>
                  <a:t>111” 8</a:t>
                </a:r>
                <a:r>
                  <a:rPr lang="zh-CN" altLang="en-US" sz="2000" b="1" dirty="0"/>
                  <a:t>种不同的状态时， </a:t>
                </a:r>
                <a14:m>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𝟎</m:t>
                        </m:r>
                      </m:sub>
                    </m:sSub>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𝟕</m:t>
                        </m:r>
                      </m:sub>
                    </m:sSub>
                  </m:oMath>
                </a14:m>
                <a:r>
                  <a:rPr lang="zh-CN" altLang="en-US" sz="2000" b="1" dirty="0"/>
                  <a:t>中与之对应的输出端的输出波形，记录输入时序和输出时序的波形图。</a:t>
                </a:r>
              </a:p>
            </p:txBody>
          </p:sp>
        </mc:Choice>
        <mc:Fallback xmlns="">
          <p:sp>
            <p:nvSpPr>
              <p:cNvPr id="4" name="文本框 3">
                <a:extLst>
                  <a:ext uri="{FF2B5EF4-FFF2-40B4-BE49-F238E27FC236}">
                    <a16:creationId xmlns:a16="http://schemas.microsoft.com/office/drawing/2014/main" id="{DBA601E5-D2E8-CC6B-D97D-70E214907C3E}"/>
                  </a:ext>
                </a:extLst>
              </p:cNvPr>
              <p:cNvSpPr txBox="1">
                <a:spLocks noRot="1" noChangeAspect="1" noMove="1" noResize="1" noEditPoints="1" noAdjustHandles="1" noChangeArrowheads="1" noChangeShapeType="1" noTextEdit="1"/>
              </p:cNvSpPr>
              <p:nvPr/>
            </p:nvSpPr>
            <p:spPr>
              <a:xfrm>
                <a:off x="831986" y="1398252"/>
                <a:ext cx="8045150" cy="1260986"/>
              </a:xfrm>
              <a:prstGeom prst="rect">
                <a:avLst/>
              </a:prstGeom>
              <a:blipFill>
                <a:blip r:embed="rId4"/>
                <a:stretch>
                  <a:fillRect l="-530" r="-833" b="-7729"/>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D300B58A-D6C4-9968-6931-D5D5EA08F5B7}"/>
              </a:ext>
            </a:extLst>
          </p:cNvPr>
          <p:cNvPicPr>
            <a:picLocks noChangeAspect="1"/>
          </p:cNvPicPr>
          <p:nvPr/>
        </p:nvPicPr>
        <p:blipFill rotWithShape="1">
          <a:blip r:embed="rId5"/>
          <a:srcRect t="3224"/>
          <a:stretch/>
        </p:blipFill>
        <p:spPr>
          <a:xfrm>
            <a:off x="1805253" y="2659238"/>
            <a:ext cx="5914166" cy="3977785"/>
          </a:xfrm>
          <a:prstGeom prst="rect">
            <a:avLst/>
          </a:prstGeom>
        </p:spPr>
      </p:pic>
    </p:spTree>
    <p:custDataLst>
      <p:tags r:id="rId1"/>
    </p:custDataLst>
    <p:extLst>
      <p:ext uri="{BB962C8B-B14F-4D97-AF65-F5344CB8AC3E}">
        <p14:creationId xmlns:p14="http://schemas.microsoft.com/office/powerpoint/2010/main" val="1294608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3" name="文本框 2">
            <a:extLst>
              <a:ext uri="{FF2B5EF4-FFF2-40B4-BE49-F238E27FC236}">
                <a16:creationId xmlns:a16="http://schemas.microsoft.com/office/drawing/2014/main" id="{8A32143D-1B5D-13C0-4E89-AFFBFCBE87DF}"/>
              </a:ext>
            </a:extLst>
          </p:cNvPr>
          <p:cNvSpPr txBox="1"/>
          <p:nvPr/>
        </p:nvSpPr>
        <p:spPr>
          <a:xfrm>
            <a:off x="542746" y="806600"/>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实验设备与器材</a:t>
            </a:r>
            <a:endParaRPr lang="en-US" altLang="zh-CN" sz="2400" b="1" dirty="0">
              <a:latin typeface="+mn-ea"/>
            </a:endParaRPr>
          </a:p>
        </p:txBody>
      </p:sp>
      <p:sp>
        <p:nvSpPr>
          <p:cNvPr id="4" name="文本框 3">
            <a:extLst>
              <a:ext uri="{FF2B5EF4-FFF2-40B4-BE49-F238E27FC236}">
                <a16:creationId xmlns:a16="http://schemas.microsoft.com/office/drawing/2014/main" id="{E1D2CB00-23E1-5102-4A5B-7A99A5DE87B4}"/>
              </a:ext>
            </a:extLst>
          </p:cNvPr>
          <p:cNvSpPr txBox="1"/>
          <p:nvPr/>
        </p:nvSpPr>
        <p:spPr>
          <a:xfrm>
            <a:off x="918324" y="1518768"/>
            <a:ext cx="7464330" cy="2860783"/>
          </a:xfrm>
          <a:prstGeom prst="rect">
            <a:avLst/>
          </a:prstGeom>
          <a:noFill/>
        </p:spPr>
        <p:txBody>
          <a:bodyPr wrap="square" rtlCol="0">
            <a:spAutoFit/>
          </a:bodyPr>
          <a:lstStyle/>
          <a:p>
            <a:pPr marL="457200" indent="-457200">
              <a:lnSpc>
                <a:spcPct val="130000"/>
              </a:lnSpc>
              <a:buFont typeface="Wingdings" panose="05000000000000000000" pitchFamily="2" charset="2"/>
              <a:buChar char="Ø"/>
            </a:pPr>
            <a:r>
              <a:rPr lang="zh-CN" altLang="en-US" sz="2000" b="1" dirty="0"/>
              <a:t>（</a:t>
            </a:r>
            <a:r>
              <a:rPr lang="en-US" altLang="zh-CN" sz="2000" b="1" dirty="0"/>
              <a:t>1</a:t>
            </a:r>
            <a:r>
              <a:rPr lang="zh-CN" altLang="en-US" sz="2000" b="1" dirty="0"/>
              <a:t>）数字逻辑实验箱                      一台</a:t>
            </a:r>
            <a:endParaRPr lang="en-US" altLang="zh-CN" sz="2000" b="1" dirty="0"/>
          </a:p>
          <a:p>
            <a:pPr marL="457200" indent="-457200">
              <a:lnSpc>
                <a:spcPct val="130000"/>
              </a:lnSpc>
              <a:buFont typeface="Wingdings" panose="05000000000000000000" pitchFamily="2" charset="2"/>
              <a:buChar char="Ø"/>
            </a:pPr>
            <a:r>
              <a:rPr lang="zh-CN" altLang="en-US" sz="2000" b="1" dirty="0"/>
              <a:t>（</a:t>
            </a:r>
            <a:r>
              <a:rPr lang="en-US" altLang="zh-CN" sz="2000" b="1" dirty="0"/>
              <a:t>2</a:t>
            </a:r>
            <a:r>
              <a:rPr lang="zh-CN" altLang="en-US" sz="2000" b="1" dirty="0"/>
              <a:t>）双踪示波器                               一台</a:t>
            </a:r>
          </a:p>
          <a:p>
            <a:pPr marL="457200" indent="-457200">
              <a:lnSpc>
                <a:spcPct val="130000"/>
              </a:lnSpc>
              <a:buFont typeface="Wingdings" panose="05000000000000000000" pitchFamily="2" charset="2"/>
              <a:buChar char="Ø"/>
            </a:pPr>
            <a:r>
              <a:rPr lang="zh-CN" altLang="en-US" sz="2000" b="1" dirty="0"/>
              <a:t>（</a:t>
            </a:r>
            <a:r>
              <a:rPr lang="en-US" altLang="zh-CN" sz="2000" b="1" dirty="0"/>
              <a:t>3</a:t>
            </a:r>
            <a:r>
              <a:rPr lang="zh-CN" altLang="en-US" sz="2000" b="1" dirty="0"/>
              <a:t>）集成芯片：</a:t>
            </a:r>
            <a:endParaRPr lang="en-US" altLang="zh-CN" sz="2000" b="1" dirty="0"/>
          </a:p>
          <a:p>
            <a:pPr>
              <a:lnSpc>
                <a:spcPct val="130000"/>
              </a:lnSpc>
            </a:pPr>
            <a:r>
              <a:rPr lang="en-US" altLang="zh-CN" sz="2000" b="1" dirty="0"/>
              <a:t>                   74LS148                                      </a:t>
            </a:r>
            <a:r>
              <a:rPr lang="zh-CN" altLang="en-US" sz="2000" b="1" dirty="0"/>
              <a:t>一片</a:t>
            </a:r>
            <a:endParaRPr lang="en-US" altLang="zh-CN" sz="2000" b="1" dirty="0"/>
          </a:p>
          <a:p>
            <a:pPr>
              <a:lnSpc>
                <a:spcPct val="130000"/>
              </a:lnSpc>
            </a:pPr>
            <a:r>
              <a:rPr lang="en-US" altLang="zh-CN" sz="2000" b="1" dirty="0"/>
              <a:t>                   74LS138                                      </a:t>
            </a:r>
            <a:r>
              <a:rPr lang="zh-CN" altLang="en-US" sz="2000" b="1" dirty="0"/>
              <a:t>一片</a:t>
            </a:r>
            <a:endParaRPr lang="en-US" altLang="zh-CN" sz="2000" b="1" dirty="0"/>
          </a:p>
          <a:p>
            <a:pPr>
              <a:lnSpc>
                <a:spcPct val="130000"/>
              </a:lnSpc>
            </a:pPr>
            <a:r>
              <a:rPr lang="en-US" altLang="zh-CN" sz="2000" b="1" dirty="0"/>
              <a:t>                   74LS00                                        </a:t>
            </a:r>
            <a:r>
              <a:rPr lang="zh-CN" altLang="en-US" sz="2000" b="1" dirty="0"/>
              <a:t>一片</a:t>
            </a:r>
            <a:endParaRPr lang="en-US" altLang="zh-CN" sz="2000" b="1" dirty="0"/>
          </a:p>
          <a:p>
            <a:pPr>
              <a:lnSpc>
                <a:spcPct val="130000"/>
              </a:lnSpc>
            </a:pPr>
            <a:r>
              <a:rPr lang="en-US" altLang="zh-CN" sz="2000" b="1" dirty="0"/>
              <a:t>                   74LS20                                        </a:t>
            </a:r>
            <a:r>
              <a:rPr lang="zh-CN" altLang="en-US" sz="2000" b="1" dirty="0"/>
              <a:t>一片	</a:t>
            </a:r>
          </a:p>
        </p:txBody>
      </p:sp>
      <p:sp>
        <p:nvSpPr>
          <p:cNvPr id="5" name="文本框 4">
            <a:extLst>
              <a:ext uri="{FF2B5EF4-FFF2-40B4-BE49-F238E27FC236}">
                <a16:creationId xmlns:a16="http://schemas.microsoft.com/office/drawing/2014/main" id="{1A429FF7-030F-050F-295B-2F43822FF3C2}"/>
              </a:ext>
            </a:extLst>
          </p:cNvPr>
          <p:cNvSpPr txBox="1"/>
          <p:nvPr/>
        </p:nvSpPr>
        <p:spPr>
          <a:xfrm>
            <a:off x="638310" y="5697457"/>
            <a:ext cx="7867379" cy="707886"/>
          </a:xfrm>
          <a:prstGeom prst="rect">
            <a:avLst/>
          </a:prstGeom>
          <a:noFill/>
        </p:spPr>
        <p:txBody>
          <a:bodyPr wrap="square" rtlCol="0">
            <a:spAutoFit/>
          </a:bodyPr>
          <a:lstStyle/>
          <a:p>
            <a:r>
              <a:rPr lang="zh-CN" altLang="en-US" sz="2000" b="1" dirty="0"/>
              <a:t>注：相关集成芯片的引脚排布请参考教材</a:t>
            </a:r>
            <a:r>
              <a:rPr lang="en-US" altLang="zh-CN" sz="2000" b="1" dirty="0"/>
              <a:t>P178 </a:t>
            </a:r>
            <a:r>
              <a:rPr lang="zh-CN" altLang="en-US" sz="2000" b="1" dirty="0"/>
              <a:t>“</a:t>
            </a:r>
            <a:r>
              <a:rPr lang="en-US" altLang="zh-CN" sz="2000" b="1" dirty="0"/>
              <a:t>4.2  </a:t>
            </a:r>
            <a:r>
              <a:rPr lang="zh-CN" altLang="en-US" sz="2000" b="1" dirty="0"/>
              <a:t>常用</a:t>
            </a:r>
            <a:r>
              <a:rPr lang="en-US" altLang="zh-CN" sz="2000" b="1" dirty="0"/>
              <a:t>TTL</a:t>
            </a:r>
            <a:r>
              <a:rPr lang="zh-CN" altLang="en-US" sz="2000" b="1" dirty="0"/>
              <a:t>集成电路型号及引脚图”。</a:t>
            </a:r>
          </a:p>
        </p:txBody>
      </p:sp>
    </p:spTree>
    <p:custDataLst>
      <p:tags r:id="rId1"/>
    </p:custDataLst>
    <p:extLst>
      <p:ext uri="{BB962C8B-B14F-4D97-AF65-F5344CB8AC3E}">
        <p14:creationId xmlns:p14="http://schemas.microsoft.com/office/powerpoint/2010/main" val="1034623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3" name="文本框 2">
            <a:extLst>
              <a:ext uri="{FF2B5EF4-FFF2-40B4-BE49-F238E27FC236}">
                <a16:creationId xmlns:a16="http://schemas.microsoft.com/office/drawing/2014/main" id="{8A32143D-1B5D-13C0-4E89-AFFBFCBE87DF}"/>
              </a:ext>
            </a:extLst>
          </p:cNvPr>
          <p:cNvSpPr txBox="1"/>
          <p:nvPr/>
        </p:nvSpPr>
        <p:spPr>
          <a:xfrm>
            <a:off x="542746" y="806600"/>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实验报告要求 </a:t>
            </a:r>
            <a:endParaRPr lang="en-US" altLang="zh-CN" sz="2400" b="1" dirty="0">
              <a:latin typeface="+mn-ea"/>
            </a:endParaRPr>
          </a:p>
        </p:txBody>
      </p:sp>
      <p:sp>
        <p:nvSpPr>
          <p:cNvPr id="5" name="文本框 4">
            <a:extLst>
              <a:ext uri="{FF2B5EF4-FFF2-40B4-BE49-F238E27FC236}">
                <a16:creationId xmlns:a16="http://schemas.microsoft.com/office/drawing/2014/main" id="{A13CDF1E-E04F-EA34-7457-195678070C4E}"/>
              </a:ext>
            </a:extLst>
          </p:cNvPr>
          <p:cNvSpPr txBox="1"/>
          <p:nvPr/>
        </p:nvSpPr>
        <p:spPr>
          <a:xfrm>
            <a:off x="906549" y="1396441"/>
            <a:ext cx="7464330" cy="1661096"/>
          </a:xfrm>
          <a:prstGeom prst="rect">
            <a:avLst/>
          </a:prstGeom>
          <a:noFill/>
        </p:spPr>
        <p:txBody>
          <a:bodyPr wrap="square" rtlCol="0">
            <a:spAutoFit/>
          </a:bodyPr>
          <a:lstStyle/>
          <a:p>
            <a:pPr>
              <a:lnSpc>
                <a:spcPct val="130000"/>
              </a:lnSpc>
            </a:pPr>
            <a:r>
              <a:rPr lang="zh-CN" altLang="en-US" sz="2000" b="1" dirty="0"/>
              <a:t>（</a:t>
            </a:r>
            <a:r>
              <a:rPr lang="en-US" altLang="zh-CN" sz="2000" b="1" dirty="0"/>
              <a:t>1</a:t>
            </a:r>
            <a:r>
              <a:rPr lang="zh-CN" altLang="en-US" sz="2000" b="1" dirty="0"/>
              <a:t>）根据各项实验任务要求写出设计步骤。</a:t>
            </a:r>
          </a:p>
          <a:p>
            <a:pPr>
              <a:lnSpc>
                <a:spcPct val="130000"/>
              </a:lnSpc>
            </a:pPr>
            <a:r>
              <a:rPr lang="zh-CN" altLang="en-US" sz="2000" b="1" dirty="0"/>
              <a:t>（</a:t>
            </a:r>
            <a:r>
              <a:rPr lang="en-US" altLang="zh-CN" sz="2000" b="1" dirty="0"/>
              <a:t>2</a:t>
            </a:r>
            <a:r>
              <a:rPr lang="zh-CN" altLang="en-US" sz="2000" b="1" dirty="0"/>
              <a:t>）画出实验电路图，用坐标纸画出观察到时钟输入、输出的波形，并标上对应的地址码。</a:t>
            </a:r>
          </a:p>
          <a:p>
            <a:pPr>
              <a:lnSpc>
                <a:spcPct val="130000"/>
              </a:lnSpc>
            </a:pPr>
            <a:r>
              <a:rPr lang="zh-CN" altLang="en-US" sz="2000" b="1" dirty="0"/>
              <a:t>（</a:t>
            </a:r>
            <a:r>
              <a:rPr lang="en-US" altLang="zh-CN" sz="2000" b="1" dirty="0"/>
              <a:t>3</a:t>
            </a:r>
            <a:r>
              <a:rPr lang="zh-CN" altLang="en-US" sz="2000" b="1" dirty="0"/>
              <a:t>）整理实验数据，回答思考题所提出的问题。</a:t>
            </a:r>
          </a:p>
        </p:txBody>
      </p:sp>
    </p:spTree>
    <p:custDataLst>
      <p:tags r:id="rId1"/>
    </p:custDataLst>
    <p:extLst>
      <p:ext uri="{BB962C8B-B14F-4D97-AF65-F5344CB8AC3E}">
        <p14:creationId xmlns:p14="http://schemas.microsoft.com/office/powerpoint/2010/main" val="2939617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2A63450-38AE-3BA4-E437-4A928E348719}"/>
              </a:ext>
            </a:extLst>
          </p:cNvPr>
          <p:cNvSpPr/>
          <p:nvPr/>
        </p:nvSpPr>
        <p:spPr>
          <a:xfrm>
            <a:off x="314432" y="241071"/>
            <a:ext cx="4861144" cy="525657"/>
          </a:xfrm>
          <a:prstGeom prst="rect">
            <a:avLst/>
          </a:prstGeom>
        </p:spPr>
        <p:txBody>
          <a:bodyPr vert="horz" wrap="square">
            <a:spAutoFit/>
          </a:bodyPr>
          <a:lstStyle/>
          <a:p>
            <a:pPr>
              <a:lnSpc>
                <a:spcPct val="130000"/>
              </a:lnSpc>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实验二  编码器和译码器及应用</a:t>
            </a:r>
          </a:p>
        </p:txBody>
      </p:sp>
      <p:sp>
        <p:nvSpPr>
          <p:cNvPr id="3" name="文本框 2">
            <a:extLst>
              <a:ext uri="{FF2B5EF4-FFF2-40B4-BE49-F238E27FC236}">
                <a16:creationId xmlns:a16="http://schemas.microsoft.com/office/drawing/2014/main" id="{8A32143D-1B5D-13C0-4E89-AFFBFCBE87DF}"/>
              </a:ext>
            </a:extLst>
          </p:cNvPr>
          <p:cNvSpPr txBox="1"/>
          <p:nvPr/>
        </p:nvSpPr>
        <p:spPr>
          <a:xfrm>
            <a:off x="542746" y="806600"/>
            <a:ext cx="2912248" cy="589841"/>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400" b="1" dirty="0">
                <a:latin typeface="+mn-ea"/>
              </a:rPr>
              <a:t>实验思考题</a:t>
            </a:r>
            <a:endParaRPr lang="en-US" altLang="zh-CN" sz="2400" b="1" dirty="0">
              <a:latin typeface="+mn-ea"/>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13CDF1E-E04F-EA34-7457-195678070C4E}"/>
                  </a:ext>
                </a:extLst>
              </p:cNvPr>
              <p:cNvSpPr txBox="1"/>
              <p:nvPr/>
            </p:nvSpPr>
            <p:spPr>
              <a:xfrm>
                <a:off x="906549" y="1396441"/>
                <a:ext cx="7464330" cy="1661096"/>
              </a:xfrm>
              <a:prstGeom prst="rect">
                <a:avLst/>
              </a:prstGeom>
              <a:noFill/>
            </p:spPr>
            <p:txBody>
              <a:bodyPr wrap="square" rtlCol="0">
                <a:spAutoFit/>
              </a:bodyPr>
              <a:lstStyle/>
              <a:p>
                <a:pPr>
                  <a:lnSpc>
                    <a:spcPct val="130000"/>
                  </a:lnSpc>
                </a:pPr>
                <a:r>
                  <a:rPr lang="zh-CN" altLang="en-US" sz="2000" b="1" dirty="0"/>
                  <a:t>（</a:t>
                </a:r>
                <a:r>
                  <a:rPr lang="en-US" altLang="zh-CN" sz="2000" b="1" dirty="0"/>
                  <a:t>1</a:t>
                </a:r>
                <a:r>
                  <a:rPr lang="zh-CN" altLang="en-US" sz="2000" b="1" dirty="0"/>
                  <a:t>）用</a:t>
                </a:r>
                <a:r>
                  <a:rPr lang="en-US" altLang="zh-CN" sz="2000" b="1" dirty="0"/>
                  <a:t>74LS138</a:t>
                </a:r>
                <a:r>
                  <a:rPr lang="zh-CN" altLang="en-US" sz="2000" b="1" dirty="0"/>
                  <a:t>组成一个</a:t>
                </a:r>
                <a:r>
                  <a:rPr lang="en-US" altLang="zh-CN" sz="2000" b="1" dirty="0"/>
                  <a:t>4</a:t>
                </a:r>
                <a:r>
                  <a:rPr lang="zh-CN" altLang="en-US" sz="2000" b="1" dirty="0"/>
                  <a:t>线－</a:t>
                </a:r>
                <a:r>
                  <a:rPr lang="en-US" altLang="zh-CN" sz="2000" b="1" dirty="0"/>
                  <a:t>16</a:t>
                </a:r>
                <a:r>
                  <a:rPr lang="zh-CN" altLang="en-US" sz="2000" b="1" dirty="0"/>
                  <a:t>线译码器。</a:t>
                </a:r>
              </a:p>
              <a:p>
                <a:pPr>
                  <a:lnSpc>
                    <a:spcPct val="130000"/>
                  </a:lnSpc>
                </a:pPr>
                <a:r>
                  <a:rPr lang="zh-CN" altLang="en-US" sz="2000" b="1" dirty="0"/>
                  <a:t>（</a:t>
                </a:r>
                <a:r>
                  <a:rPr lang="en-US" altLang="zh-CN" sz="2000" b="1" dirty="0"/>
                  <a:t>2</a:t>
                </a:r>
                <a:r>
                  <a:rPr lang="zh-CN" altLang="en-US" sz="2000" b="1" dirty="0"/>
                  <a:t>）将</a:t>
                </a:r>
                <a:r>
                  <a:rPr lang="en-US" altLang="zh-CN" sz="2000" b="1" dirty="0"/>
                  <a:t>74LS138</a:t>
                </a:r>
                <a:r>
                  <a:rPr lang="zh-CN" altLang="en-US" sz="2000" b="1" dirty="0"/>
                  <a:t>构成时序脉冲分配器，若要求分配器对应输出端</a:t>
                </a:r>
                <a14:m>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𝟎</m:t>
                        </m:r>
                      </m:sub>
                    </m:sSub>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𝒀</m:t>
                            </m:r>
                          </m:e>
                        </m:acc>
                      </m:e>
                      <m:sub>
                        <m:r>
                          <a:rPr lang="en-US" altLang="zh-CN" sz="2000" b="1" i="1" smtClean="0">
                            <a:latin typeface="Cambria Math" panose="02040503050406030204" pitchFamily="18" charset="0"/>
                          </a:rPr>
                          <m:t>𝟕</m:t>
                        </m:r>
                      </m:sub>
                    </m:sSub>
                  </m:oMath>
                </a14:m>
                <a:r>
                  <a:rPr lang="zh-CN" altLang="en-US" sz="2000" b="1" dirty="0"/>
                  <a:t>的信号与时序脉冲反相，电路应如何实现。画出该分配器的实验电路。</a:t>
                </a:r>
              </a:p>
            </p:txBody>
          </p:sp>
        </mc:Choice>
        <mc:Fallback xmlns="">
          <p:sp>
            <p:nvSpPr>
              <p:cNvPr id="5" name="文本框 4">
                <a:extLst>
                  <a:ext uri="{FF2B5EF4-FFF2-40B4-BE49-F238E27FC236}">
                    <a16:creationId xmlns:a16="http://schemas.microsoft.com/office/drawing/2014/main" id="{A13CDF1E-E04F-EA34-7457-195678070C4E}"/>
                  </a:ext>
                </a:extLst>
              </p:cNvPr>
              <p:cNvSpPr txBox="1">
                <a:spLocks noRot="1" noChangeAspect="1" noMove="1" noResize="1" noEditPoints="1" noAdjustHandles="1" noChangeArrowheads="1" noChangeShapeType="1" noTextEdit="1"/>
              </p:cNvSpPr>
              <p:nvPr/>
            </p:nvSpPr>
            <p:spPr>
              <a:xfrm>
                <a:off x="906549" y="1396441"/>
                <a:ext cx="7464330" cy="1661096"/>
              </a:xfrm>
              <a:prstGeom prst="rect">
                <a:avLst/>
              </a:prstGeom>
              <a:blipFill>
                <a:blip r:embed="rId4"/>
                <a:stretch>
                  <a:fillRect l="-899" b="-5495"/>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6756761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EMPLATE" val="#427602"/>
</p:tagLst>
</file>

<file path=ppt/tags/tag2.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3.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4.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5.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6.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7.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8.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9.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0.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1.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2.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3.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4.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5.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6.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heme/theme1.xml><?xml version="1.0" encoding="utf-8"?>
<a:theme xmlns:a="http://schemas.openxmlformats.org/drawingml/2006/main" name="2_OfficePLU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4369</TotalTime>
  <Words>1309</Words>
  <Application>Microsoft Office PowerPoint</Application>
  <PresentationFormat>全屏显示(4:3)</PresentationFormat>
  <Paragraphs>390</Paragraphs>
  <Slides>15</Slides>
  <Notes>15</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15</vt:i4>
      </vt:variant>
    </vt:vector>
  </HeadingPairs>
  <TitlesOfParts>
    <vt:vector size="26" baseType="lpstr">
      <vt:lpstr>等线</vt:lpstr>
      <vt:lpstr>微软雅黑</vt:lpstr>
      <vt:lpstr>微软雅黑 Light</vt:lpstr>
      <vt:lpstr>Arial</vt:lpstr>
      <vt:lpstr>Calibri</vt:lpstr>
      <vt:lpstr>Calibri Light</vt:lpstr>
      <vt:lpstr>Cambria Math</vt:lpstr>
      <vt:lpstr>Wingdings</vt:lpstr>
      <vt:lpstr>2_OfficePLUS</vt:lpstr>
      <vt:lpstr>Office Theme</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程 杰</dc:creator>
  <cp:lastModifiedBy>Qiujie Wu</cp:lastModifiedBy>
  <cp:revision>472</cp:revision>
  <dcterms:created xsi:type="dcterms:W3CDTF">2020-04-11T11:17:35Z</dcterms:created>
  <dcterms:modified xsi:type="dcterms:W3CDTF">2025-04-21T11:33:20Z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24154235</vt:lpwstr>
  </property>
  <property fmtid="{D5CDD505-2E9C-101B-9397-08002B2CF9AE}" pid="3" name="NXPowerLiteSettings">
    <vt:lpwstr>C700052003A000</vt:lpwstr>
  </property>
  <property fmtid="{D5CDD505-2E9C-101B-9397-08002B2CF9AE}" pid="4" name="NXPowerLiteVersion">
    <vt:lpwstr>D8.0.11</vt:lpwstr>
  </property>
</Properties>
</file>