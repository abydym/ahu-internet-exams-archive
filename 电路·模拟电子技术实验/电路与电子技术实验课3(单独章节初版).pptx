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774" r:id="rId2"/>
    <p:sldId id="724" r:id="rId3"/>
    <p:sldId id="725" r:id="rId4"/>
    <p:sldId id="775" r:id="rId5"/>
    <p:sldId id="777" r:id="rId6"/>
    <p:sldId id="776" r:id="rId7"/>
    <p:sldId id="782" r:id="rId8"/>
    <p:sldId id="783" r:id="rId9"/>
    <p:sldId id="784" r:id="rId10"/>
    <p:sldId id="785" r:id="rId11"/>
    <p:sldId id="780" r:id="rId12"/>
    <p:sldId id="788" r:id="rId13"/>
    <p:sldId id="787" r:id="rId14"/>
    <p:sldId id="786" r:id="rId15"/>
    <p:sldId id="797" r:id="rId16"/>
    <p:sldId id="794" r:id="rId17"/>
    <p:sldId id="796" r:id="rId18"/>
    <p:sldId id="795" r:id="rId19"/>
    <p:sldId id="793" r:id="rId20"/>
    <p:sldId id="803" r:id="rId21"/>
    <p:sldId id="804" r:id="rId22"/>
    <p:sldId id="802" r:id="rId23"/>
  </p:sldIdLst>
  <p:sldSz cx="9144000" cy="6858000" type="screen4x3"/>
  <p:notesSz cx="9144000" cy="6858000"/>
  <p:embeddedFontLst>
    <p:embeddedFont>
      <p:font typeface="等线" panose="02010600030101010101" pitchFamily="2" charset="-122"/>
      <p:regular r:id="rId26"/>
      <p:bold r:id="rId27"/>
    </p:embeddedFont>
    <p:embeddedFont>
      <p:font typeface="微软雅黑" panose="020B0503020204020204" pitchFamily="34" charset="-122"/>
      <p:regular r:id="rId28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Times New Roman" panose="02020603050405020304" pitchFamily="18" charset="0"/>
      <p:regular r:id="rId34"/>
    </p:embeddedFont>
    <p:embeddedFont>
      <p:font typeface="黑体" panose="02010609060101010101" pitchFamily="49" charset="-122"/>
      <p:regular r:id="rId3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7089"/>
    <a:srgbClr val="E991A4"/>
    <a:srgbClr val="E6E6E6"/>
    <a:srgbClr val="003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83421" autoAdjust="0"/>
  </p:normalViewPr>
  <p:slideViewPr>
    <p:cSldViewPr>
      <p:cViewPr>
        <p:scale>
          <a:sx n="125" d="100"/>
          <a:sy n="125" d="100"/>
        </p:scale>
        <p:origin x="1122" y="-1254"/>
      </p:cViewPr>
      <p:guideLst>
        <p:guide orient="horz" pos="3168"/>
        <p:guide pos="2448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7B70EC8-B4E5-4D3A-8B9E-1A47AED25C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DAF2A5-B41B-4E55-A4F4-E2E9DCA878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8080D-874D-44D4-B337-62A7262BB8C2}" type="datetimeFigureOut">
              <a:rPr lang="zh-CN" altLang="en-US" smtClean="0"/>
              <a:t>2021/5/13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5002BE-6D5A-4E3E-9A5A-C789D085B9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1F8208-6DB6-4FDA-9C7E-A16FA4CD1A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6C88C-A882-4231-B59A-823396C2B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8442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168C9-C0FF-4C0D-8BEA-410B274AF575}" type="datetimeFigureOut">
              <a:rPr lang="zh-CN" altLang="en-US" smtClean="0"/>
              <a:t>2021/5/13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0CBDF-2F6F-4927-A4F7-77FE1B09F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447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7945" algn="l">
              <a:lnSpc>
                <a:spcPct val="125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50F0E6-A0E1-4409-89F0-15189B7C5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031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C423B5-DD43-4A63-A783-0C76E2713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590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8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29CDDD-57AA-4572-9B8B-EBECFE7D7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483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A10538-023A-4056-9B95-E529B4D31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92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288225-C9B7-4D53-8864-0FA235A38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915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730786-EE8F-41B3-AA17-D158C9D5A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694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98D53A-5072-47EC-866F-66B4A95EF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307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22C4B4-7FFC-4667-877C-8565F71DC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340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B1B0BA-3171-40C7-914C-EBE70329A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253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471-AB09-49A7-87D5-E1103EBDD126}" type="datetime1">
              <a:rPr lang="en-US" altLang="zh-CN" smtClean="0"/>
              <a:t>5/13/2021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9E34FC-1C98-468A-BB67-6B8366C7C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EC05AC-0BEF-46D7-B124-937E1AB61867}" type="datetime1">
              <a:rPr lang="en-US" altLang="zh-CN" smtClean="0"/>
              <a:t>5/13/2021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36E2A0-D9B0-4C2A-97E1-5CBB66C4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D0B9E6-1CD5-4066-98C1-D1469020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F518DA-9250-4DD1-BE77-706A49C314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031529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CBC4A-4A06-4A64-BA52-D674D5C9ABD4}" type="datetime1">
              <a:rPr lang="en-US" altLang="zh-CN" smtClean="0"/>
              <a:t>5/13/2021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2.png"/><Relationship Id="rId9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wmf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FE22CD4A-AEA4-4EE9-83CA-93394F1E569A}"/>
              </a:ext>
            </a:extLst>
          </p:cNvPr>
          <p:cNvSpPr txBox="1"/>
          <p:nvPr/>
        </p:nvSpPr>
        <p:spPr>
          <a:xfrm>
            <a:off x="1763688" y="2695786"/>
            <a:ext cx="5616624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</a:t>
            </a:r>
            <a:endParaRPr lang="zh-CN" altLang="en-US" sz="4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64D332F6-8CAE-472C-BED4-41F92924C7D4}"/>
              </a:ext>
            </a:extLst>
          </p:cNvPr>
          <p:cNvSpPr/>
          <p:nvPr/>
        </p:nvSpPr>
        <p:spPr>
          <a:xfrm>
            <a:off x="0" y="2092097"/>
            <a:ext cx="7958137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A882290-F3E8-4D58-BEA2-60134C5C3147}"/>
              </a:ext>
            </a:extLst>
          </p:cNvPr>
          <p:cNvSpPr/>
          <p:nvPr/>
        </p:nvSpPr>
        <p:spPr>
          <a:xfrm rot="10800000">
            <a:off x="1181045" y="3889369"/>
            <a:ext cx="7958137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88213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E856086-625A-4091-9E9E-CE45759C9C73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3BCFE5-1E59-41A1-8636-9AA6EC8FC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1628800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基尔霍夫定律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1">
            <a:extLst>
              <a:ext uri="{FF2B5EF4-FFF2-40B4-BE49-F238E27FC236}">
                <a16:creationId xmlns:a16="http://schemas.microsoft.com/office/drawing/2014/main" id="{B43BE4D6-1FB1-4661-A626-FAB8BEDA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2220719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叠加定理和戴维南定理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2">
            <a:extLst>
              <a:ext uri="{FF2B5EF4-FFF2-40B4-BE49-F238E27FC236}">
                <a16:creationId xmlns:a16="http://schemas.microsoft.com/office/drawing/2014/main" id="{557707EB-B318-4F1F-83F0-D6B6B8433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54" y="3404557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 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13">
            <a:extLst>
              <a:ext uri="{FF2B5EF4-FFF2-40B4-BE49-F238E27FC236}">
                <a16:creationId xmlns:a16="http://schemas.microsoft.com/office/drawing/2014/main" id="{D839C882-C782-45FB-9991-791E7FE2A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3996476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14">
            <a:extLst>
              <a:ext uri="{FF2B5EF4-FFF2-40B4-BE49-F238E27FC236}">
                <a16:creationId xmlns:a16="http://schemas.microsoft.com/office/drawing/2014/main" id="{5A581705-77E3-437D-8655-383F6B736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4589160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负反馈放大电路的研究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15">
            <a:extLst>
              <a:ext uri="{FF2B5EF4-FFF2-40B4-BE49-F238E27FC236}">
                <a16:creationId xmlns:a16="http://schemas.microsoft.com/office/drawing/2014/main" id="{0E9FC8FE-2B52-4307-A569-58A78EB2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5180314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实验七   基于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的运算电路</a:t>
            </a:r>
          </a:p>
        </p:txBody>
      </p:sp>
      <p:sp>
        <p:nvSpPr>
          <p:cNvPr id="11" name="矩形 11">
            <a:extLst>
              <a:ext uri="{FF2B5EF4-FFF2-40B4-BE49-F238E27FC236}">
                <a16:creationId xmlns:a16="http://schemas.microsoft.com/office/drawing/2014/main" id="{33EB0CB5-24DD-409B-A5B6-1540B160E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195" y="2812638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5">
            <a:extLst>
              <a:ext uri="{FF2B5EF4-FFF2-40B4-BE49-F238E27FC236}">
                <a16:creationId xmlns:a16="http://schemas.microsoft.com/office/drawing/2014/main" id="{08D6A325-981B-48DC-9F24-119E3E868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5771468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实验八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直流稳压电源的设计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342552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E856086-625A-4091-9E9E-CE45759C9C73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3BCFE5-1E59-41A1-8636-9AA6EC8FC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1628800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基尔霍夫定律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1">
            <a:extLst>
              <a:ext uri="{FF2B5EF4-FFF2-40B4-BE49-F238E27FC236}">
                <a16:creationId xmlns:a16="http://schemas.microsoft.com/office/drawing/2014/main" id="{B43BE4D6-1FB1-4661-A626-FAB8BEDA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2220719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叠加定理和戴维南定理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2">
            <a:extLst>
              <a:ext uri="{FF2B5EF4-FFF2-40B4-BE49-F238E27FC236}">
                <a16:creationId xmlns:a16="http://schemas.microsoft.com/office/drawing/2014/main" id="{557707EB-B318-4F1F-83F0-D6B6B8433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54" y="3404557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 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13">
            <a:extLst>
              <a:ext uri="{FF2B5EF4-FFF2-40B4-BE49-F238E27FC236}">
                <a16:creationId xmlns:a16="http://schemas.microsoft.com/office/drawing/2014/main" id="{D839C882-C782-45FB-9991-791E7FE2A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3996476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14">
            <a:extLst>
              <a:ext uri="{FF2B5EF4-FFF2-40B4-BE49-F238E27FC236}">
                <a16:creationId xmlns:a16="http://schemas.microsoft.com/office/drawing/2014/main" id="{5A581705-77E3-437D-8655-383F6B736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4589160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负反馈放大电路的研究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15">
            <a:extLst>
              <a:ext uri="{FF2B5EF4-FFF2-40B4-BE49-F238E27FC236}">
                <a16:creationId xmlns:a16="http://schemas.microsoft.com/office/drawing/2014/main" id="{0E9FC8FE-2B52-4307-A569-58A78EB2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5180314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实验七   基于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的运算电路</a:t>
            </a:r>
          </a:p>
        </p:txBody>
      </p:sp>
      <p:sp>
        <p:nvSpPr>
          <p:cNvPr id="11" name="矩形 11">
            <a:extLst>
              <a:ext uri="{FF2B5EF4-FFF2-40B4-BE49-F238E27FC236}">
                <a16:creationId xmlns:a16="http://schemas.microsoft.com/office/drawing/2014/main" id="{33EB0CB5-24DD-409B-A5B6-1540B160E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195" y="2812638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5">
            <a:extLst>
              <a:ext uri="{FF2B5EF4-FFF2-40B4-BE49-F238E27FC236}">
                <a16:creationId xmlns:a16="http://schemas.microsoft.com/office/drawing/2014/main" id="{08D6A325-981B-48DC-9F24-119E3E868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5771468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实验八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直流稳压电源的设计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0725057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4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1">
            <a:extLst>
              <a:ext uri="{FF2B5EF4-FFF2-40B4-BE49-F238E27FC236}">
                <a16:creationId xmlns:a16="http://schemas.microsoft.com/office/drawing/2014/main" id="{29B57BCF-D64B-4BEF-8A86-A88DF67D7232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8FAB11-4A0D-43E0-9D08-3BC25066754B}"/>
              </a:ext>
            </a:extLst>
          </p:cNvPr>
          <p:cNvSpPr txBox="1"/>
          <p:nvPr/>
        </p:nvSpPr>
        <p:spPr>
          <a:xfrm>
            <a:off x="609600" y="1485605"/>
            <a:ext cx="6338664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预习部分</a:t>
            </a:r>
            <a:endParaRPr lang="en-US" altLang="zh-CN" sz="1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DCEF05-64E0-485E-9A4A-A4405DDFD0BA}"/>
              </a:ext>
            </a:extLst>
          </p:cNvPr>
          <p:cNvSpPr txBox="1"/>
          <p:nvPr/>
        </p:nvSpPr>
        <p:spPr>
          <a:xfrm>
            <a:off x="2579563" y="1589720"/>
            <a:ext cx="5472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提前学习与熟悉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函数信号发生器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示波器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5B42EE-0AAA-4514-A55A-C93BE74C59E9}"/>
              </a:ext>
            </a:extLst>
          </p:cNvPr>
          <p:cNvSpPr txBox="1"/>
          <p:nvPr/>
        </p:nvSpPr>
        <p:spPr>
          <a:xfrm>
            <a:off x="609600" y="2238100"/>
            <a:ext cx="6338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函数信号发生器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主要调整参数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幅值、频率和波形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5D1F04A-5E56-4975-9F72-F29B4C5E8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36560"/>
            <a:ext cx="1751979" cy="1478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502A9A1-D3BD-43E2-A5CE-355B1CE9B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2710910"/>
            <a:ext cx="1751979" cy="1513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071FC2A-7DB6-4B48-85B8-2AD4BA87C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708920"/>
            <a:ext cx="1831663" cy="1505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本框 22533">
            <a:extLst>
              <a:ext uri="{FF2B5EF4-FFF2-40B4-BE49-F238E27FC236}">
                <a16:creationId xmlns:a16="http://schemas.microsoft.com/office/drawing/2014/main" id="{D26A5B5C-08A9-42F0-9240-1651564CB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4279260"/>
            <a:ext cx="10801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200" b="1" dirty="0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直流信号</a:t>
            </a:r>
          </a:p>
        </p:txBody>
      </p:sp>
      <p:sp>
        <p:nvSpPr>
          <p:cNvPr id="20" name="文本框 22534">
            <a:extLst>
              <a:ext uri="{FF2B5EF4-FFF2-40B4-BE49-F238E27FC236}">
                <a16:creationId xmlns:a16="http://schemas.microsoft.com/office/drawing/2014/main" id="{0DBAAF14-5E0B-4A7E-95E8-330F2DDC1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4279260"/>
            <a:ext cx="10801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200" b="1" dirty="0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正弦信号</a:t>
            </a:r>
          </a:p>
        </p:txBody>
      </p:sp>
      <p:sp>
        <p:nvSpPr>
          <p:cNvPr id="21" name="文本框 22535">
            <a:extLst>
              <a:ext uri="{FF2B5EF4-FFF2-40B4-BE49-F238E27FC236}">
                <a16:creationId xmlns:a16="http://schemas.microsoft.com/office/drawing/2014/main" id="{0ECFE40F-6741-404A-B90A-440C0CC56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050" y="4301041"/>
            <a:ext cx="10801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200" b="1" dirty="0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脉冲信号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3E7CD1-D9C4-417B-B8B2-8AB130BC7808}"/>
              </a:ext>
            </a:extLst>
          </p:cNvPr>
          <p:cNvSpPr txBox="1"/>
          <p:nvPr/>
        </p:nvSpPr>
        <p:spPr>
          <a:xfrm>
            <a:off x="969640" y="4859943"/>
            <a:ext cx="6338664" cy="16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正弦信号的波形参数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幅值：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P-P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是峰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峰值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是最大值，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2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rsm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是有效值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U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=U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P-P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    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rsm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U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P-P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/2.8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频率：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T=2*pi/w=1/f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4E0D3F0-DDD5-4C4A-A3AC-780AEE9D12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377659"/>
              </p:ext>
            </p:extLst>
          </p:nvPr>
        </p:nvGraphicFramePr>
        <p:xfrm>
          <a:off x="3503337" y="4988057"/>
          <a:ext cx="1873080" cy="31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18960" imgH="203040" progId="Equation.DSMT4">
                  <p:embed/>
                </p:oleObj>
              </mc:Choice>
              <mc:Fallback>
                <p:oleObj name="Equation" r:id="rId8" imgW="1218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03337" y="4988057"/>
                        <a:ext cx="1873080" cy="312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731582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5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732D13-AF60-424B-B134-8B86D2D16878}"/>
              </a:ext>
            </a:extLst>
          </p:cNvPr>
          <p:cNvSpPr txBox="1"/>
          <p:nvPr/>
        </p:nvSpPr>
        <p:spPr>
          <a:xfrm>
            <a:off x="539552" y="1628800"/>
            <a:ext cx="216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示波器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282281-AA5D-4662-AE68-1911EA3C1766}"/>
              </a:ext>
            </a:extLst>
          </p:cNvPr>
          <p:cNvSpPr txBox="1"/>
          <p:nvPr/>
        </p:nvSpPr>
        <p:spPr>
          <a:xfrm>
            <a:off x="1043608" y="2070038"/>
            <a:ext cx="7056784" cy="3823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示波器的种类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模拟示波器：采用的是模拟电路（电子枪）向屏幕发射电子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发射的电子经聚焦形成电子束，并打到屏幕上。屏幕的内表面涂有荧光物质，这样电子束打中的点就会发出光来。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数字示波器：通过模拟转换器（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）把被测电压转换为数字信息。数字示波器捕获的是波形的一系列样值，并对样值进行存储，存储限度是判断累计的样值是否能描绘出波形为止，随后，数字示波器重构波形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1">
            <a:extLst>
              <a:ext uri="{FF2B5EF4-FFF2-40B4-BE49-F238E27FC236}">
                <a16:creationId xmlns:a16="http://schemas.microsoft.com/office/drawing/2014/main" id="{7D08105C-4931-45C3-A999-4B855430DB5F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9906346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94560" y="5962384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 b="1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hangingPunct="1"/>
              <a:t>6</a:t>
            </a:fld>
            <a:endParaRPr lang="en-US" altLang="zh-CN" sz="1200" b="1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1">
            <a:extLst>
              <a:ext uri="{FF2B5EF4-FFF2-40B4-BE49-F238E27FC236}">
                <a16:creationId xmlns:a16="http://schemas.microsoft.com/office/drawing/2014/main" id="{4C1C3C55-B3D1-4328-AA70-EC94F84B4560}"/>
              </a:ext>
            </a:extLst>
          </p:cNvPr>
          <p:cNvSpPr/>
          <p:nvPr/>
        </p:nvSpPr>
        <p:spPr>
          <a:xfrm>
            <a:off x="609600" y="6584652"/>
            <a:ext cx="7924800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090B13-159A-4C0F-91BE-B77CFECFA784}"/>
              </a:ext>
            </a:extLst>
          </p:cNvPr>
          <p:cNvSpPr txBox="1"/>
          <p:nvPr/>
        </p:nvSpPr>
        <p:spPr>
          <a:xfrm>
            <a:off x="541883" y="1515048"/>
            <a:ext cx="216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示波器 面板介绍</a:t>
            </a:r>
          </a:p>
        </p:txBody>
      </p:sp>
      <p:pic>
        <p:nvPicPr>
          <p:cNvPr id="17" name="Picture 3" descr="IMG_20170407_153933">
            <a:extLst>
              <a:ext uri="{FF2B5EF4-FFF2-40B4-BE49-F238E27FC236}">
                <a16:creationId xmlns:a16="http://schemas.microsoft.com/office/drawing/2014/main" id="{5664F098-ECC9-4B26-9B57-D7457F669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0017" y="2016097"/>
            <a:ext cx="7453313" cy="4194175"/>
          </a:xfrm>
          <a:prstGeom prst="rect">
            <a:avLst/>
          </a:prstGeom>
        </p:spPr>
      </p:pic>
      <p:sp>
        <p:nvSpPr>
          <p:cNvPr id="18" name="Rectangle 6">
            <a:extLst>
              <a:ext uri="{FF2B5EF4-FFF2-40B4-BE49-F238E27FC236}">
                <a16:creationId xmlns:a16="http://schemas.microsoft.com/office/drawing/2014/main" id="{978D5139-6E64-49CC-A2FC-8D04A0AD1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606" y="2557435"/>
            <a:ext cx="3160712" cy="1955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43F781F9-E244-42FB-A6C9-050592E24CC0}"/>
              </a:ext>
            </a:extLst>
          </p:cNvPr>
          <p:cNvSpPr>
            <a:spLocks/>
          </p:cNvSpPr>
          <p:nvPr/>
        </p:nvSpPr>
        <p:spPr bwMode="auto">
          <a:xfrm>
            <a:off x="447279" y="5949280"/>
            <a:ext cx="668337" cy="609600"/>
          </a:xfrm>
          <a:prstGeom prst="borderCallout2">
            <a:avLst>
              <a:gd name="adj1" fmla="val -2678"/>
              <a:gd name="adj2" fmla="val 41300"/>
              <a:gd name="adj3" fmla="val -85096"/>
              <a:gd name="adj4" fmla="val 41476"/>
              <a:gd name="adj5" fmla="val -84703"/>
              <a:gd name="adj6" fmla="val 74795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电源</a:t>
            </a:r>
          </a:p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开关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AE799134-2B31-4FD3-8A20-A19547423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542" y="5191097"/>
            <a:ext cx="788988" cy="6111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AutoShape 14">
            <a:extLst>
              <a:ext uri="{FF2B5EF4-FFF2-40B4-BE49-F238E27FC236}">
                <a16:creationId xmlns:a16="http://schemas.microsoft.com/office/drawing/2014/main" id="{5B083ACC-2C51-48D6-B4EB-8C691ABD42D4}"/>
              </a:ext>
            </a:extLst>
          </p:cNvPr>
          <p:cNvSpPr>
            <a:spLocks/>
          </p:cNvSpPr>
          <p:nvPr/>
        </p:nvSpPr>
        <p:spPr bwMode="auto">
          <a:xfrm>
            <a:off x="1654249" y="5949280"/>
            <a:ext cx="699468" cy="609600"/>
          </a:xfrm>
          <a:prstGeom prst="borderCallout2">
            <a:avLst>
              <a:gd name="adj1" fmla="val 59226"/>
              <a:gd name="adj2" fmla="val 100397"/>
              <a:gd name="adj3" fmla="val 59226"/>
              <a:gd name="adj4" fmla="val 124356"/>
              <a:gd name="adj5" fmla="val -240030"/>
              <a:gd name="adj6" fmla="val 128373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屏幕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3BFCD8AE-C4D6-4505-8DFF-44BBFEE21335}"/>
              </a:ext>
            </a:extLst>
          </p:cNvPr>
          <p:cNvSpPr>
            <a:spLocks/>
          </p:cNvSpPr>
          <p:nvPr/>
        </p:nvSpPr>
        <p:spPr bwMode="auto">
          <a:xfrm>
            <a:off x="6084167" y="5949280"/>
            <a:ext cx="653133" cy="609600"/>
          </a:xfrm>
          <a:prstGeom prst="borderCallout2">
            <a:avLst>
              <a:gd name="adj1" fmla="val 40179"/>
              <a:gd name="adj2" fmla="val 97222"/>
              <a:gd name="adj3" fmla="val 37797"/>
              <a:gd name="adj4" fmla="val 121031"/>
              <a:gd name="adj5" fmla="val -149069"/>
              <a:gd name="adj6" fmla="val 119990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垂直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调整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17">
            <a:extLst>
              <a:ext uri="{FF2B5EF4-FFF2-40B4-BE49-F238E27FC236}">
                <a16:creationId xmlns:a16="http://schemas.microsoft.com/office/drawing/2014/main" id="{D912403B-1B27-4B8B-8F48-6353921347DE}"/>
              </a:ext>
            </a:extLst>
          </p:cNvPr>
          <p:cNvSpPr>
            <a:spLocks/>
          </p:cNvSpPr>
          <p:nvPr/>
        </p:nvSpPr>
        <p:spPr bwMode="auto">
          <a:xfrm>
            <a:off x="4031281" y="5949280"/>
            <a:ext cx="653133" cy="609600"/>
          </a:xfrm>
          <a:prstGeom prst="borderCallout2">
            <a:avLst>
              <a:gd name="adj1" fmla="val 18750"/>
              <a:gd name="adj2" fmla="val 102467"/>
              <a:gd name="adj3" fmla="val 18750"/>
              <a:gd name="adj4" fmla="val 141036"/>
              <a:gd name="adj5" fmla="val -14466"/>
              <a:gd name="adj6" fmla="val 140983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校准</a:t>
            </a:r>
          </a:p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信号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23">
            <a:extLst>
              <a:ext uri="{FF2B5EF4-FFF2-40B4-BE49-F238E27FC236}">
                <a16:creationId xmlns:a16="http://schemas.microsoft.com/office/drawing/2014/main" id="{BBDDAB54-E5EA-4568-8655-EA3ABC3B7683}"/>
              </a:ext>
            </a:extLst>
          </p:cNvPr>
          <p:cNvSpPr>
            <a:spLocks/>
          </p:cNvSpPr>
          <p:nvPr/>
        </p:nvSpPr>
        <p:spPr bwMode="auto">
          <a:xfrm>
            <a:off x="8298906" y="3259956"/>
            <a:ext cx="679450" cy="673100"/>
          </a:xfrm>
          <a:prstGeom prst="borderCallout2">
            <a:avLst>
              <a:gd name="adj1" fmla="val 19257"/>
              <a:gd name="adj2" fmla="val -762"/>
              <a:gd name="adj3" fmla="val 20750"/>
              <a:gd name="adj4" fmla="val -112639"/>
              <a:gd name="adj5" fmla="val 19813"/>
              <a:gd name="adj6" fmla="val -118043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水平</a:t>
            </a:r>
          </a:p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调整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040BD923-20F1-47AA-BE80-9B99A882E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1392" y="5202210"/>
            <a:ext cx="1109663" cy="6524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4D193438-319B-4119-8AA5-7C09E7CC5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005" y="5213322"/>
            <a:ext cx="395287" cy="6270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19199D6E-D36E-4785-A064-3E8300D7A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092" y="3494059"/>
            <a:ext cx="536575" cy="152558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1526BAA7-4E3F-40A3-851A-40988089A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5730" y="2879697"/>
            <a:ext cx="1831975" cy="5048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204987EC-C228-402D-B437-CCB68B486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992" y="3494060"/>
            <a:ext cx="1704975" cy="15621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Rectangle 13">
            <a:extLst>
              <a:ext uri="{FF2B5EF4-FFF2-40B4-BE49-F238E27FC236}">
                <a16:creationId xmlns:a16="http://schemas.microsoft.com/office/drawing/2014/main" id="{6397AC70-2A83-46BE-992B-66B289117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2955" y="2200247"/>
            <a:ext cx="482600" cy="11096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9BCD2F72-8D54-46B8-8BE4-3F5B7FD86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0492" y="2187547"/>
            <a:ext cx="1839913" cy="6032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AutoShape 20">
            <a:extLst>
              <a:ext uri="{FF2B5EF4-FFF2-40B4-BE49-F238E27FC236}">
                <a16:creationId xmlns:a16="http://schemas.microsoft.com/office/drawing/2014/main" id="{A3179066-1ED0-4211-9457-C23DC6F521A6}"/>
              </a:ext>
            </a:extLst>
          </p:cNvPr>
          <p:cNvSpPr>
            <a:spLocks/>
          </p:cNvSpPr>
          <p:nvPr/>
        </p:nvSpPr>
        <p:spPr bwMode="auto">
          <a:xfrm>
            <a:off x="6948264" y="1425547"/>
            <a:ext cx="656730" cy="527050"/>
          </a:xfrm>
          <a:prstGeom prst="borderCallout2">
            <a:avLst>
              <a:gd name="adj1" fmla="val 21685"/>
              <a:gd name="adj2" fmla="val 100641"/>
              <a:gd name="adj3" fmla="val 21685"/>
              <a:gd name="adj4" fmla="val 132697"/>
              <a:gd name="adj5" fmla="val 144176"/>
              <a:gd name="adj6" fmla="val 132997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运行</a:t>
            </a:r>
          </a:p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控制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18">
            <a:extLst>
              <a:ext uri="{FF2B5EF4-FFF2-40B4-BE49-F238E27FC236}">
                <a16:creationId xmlns:a16="http://schemas.microsoft.com/office/drawing/2014/main" id="{0712BFCE-2930-446D-90F8-E8FAE90896E9}"/>
              </a:ext>
            </a:extLst>
          </p:cNvPr>
          <p:cNvSpPr>
            <a:spLocks/>
          </p:cNvSpPr>
          <p:nvPr/>
        </p:nvSpPr>
        <p:spPr bwMode="auto">
          <a:xfrm>
            <a:off x="4900067" y="1434803"/>
            <a:ext cx="679450" cy="554037"/>
          </a:xfrm>
          <a:prstGeom prst="borderCallout2">
            <a:avLst>
              <a:gd name="adj1" fmla="val 20630"/>
              <a:gd name="adj2" fmla="val 98443"/>
              <a:gd name="adj3" fmla="val 20630"/>
              <a:gd name="adj4" fmla="val 138542"/>
              <a:gd name="adj5" fmla="val 134938"/>
              <a:gd name="adj6" fmla="val 139370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软件菜单</a:t>
            </a: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id="{65DE3835-3655-4636-A0A7-671AD6ABC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642" y="2549497"/>
            <a:ext cx="565150" cy="22399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EE017B29-E92B-450D-8CE3-3967263E8AD3}"/>
              </a:ext>
            </a:extLst>
          </p:cNvPr>
          <p:cNvSpPr>
            <a:spLocks/>
          </p:cNvSpPr>
          <p:nvPr/>
        </p:nvSpPr>
        <p:spPr bwMode="auto">
          <a:xfrm>
            <a:off x="2648992" y="5949280"/>
            <a:ext cx="914400" cy="609600"/>
          </a:xfrm>
          <a:prstGeom prst="borderCallout2">
            <a:avLst>
              <a:gd name="adj1" fmla="val -298"/>
              <a:gd name="adj2" fmla="val 62301"/>
              <a:gd name="adj3" fmla="val -195536"/>
              <a:gd name="adj4" fmla="val 63641"/>
              <a:gd name="adj5" fmla="val -198699"/>
              <a:gd name="adj6" fmla="val 208681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屏幕菜单选择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C4439C76-BBDC-47DD-ADD1-E04AB5304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542" y="5191097"/>
            <a:ext cx="788988" cy="6111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AutoShape 15">
            <a:extLst>
              <a:ext uri="{FF2B5EF4-FFF2-40B4-BE49-F238E27FC236}">
                <a16:creationId xmlns:a16="http://schemas.microsoft.com/office/drawing/2014/main" id="{8D5026C6-3107-4A27-AF74-B202A3A6BF63}"/>
              </a:ext>
            </a:extLst>
          </p:cNvPr>
          <p:cNvSpPr>
            <a:spLocks/>
          </p:cNvSpPr>
          <p:nvPr/>
        </p:nvSpPr>
        <p:spPr bwMode="auto">
          <a:xfrm>
            <a:off x="7732043" y="5949280"/>
            <a:ext cx="914400" cy="609600"/>
          </a:xfrm>
          <a:prstGeom prst="borderCallout2">
            <a:avLst>
              <a:gd name="adj1" fmla="val 18750"/>
              <a:gd name="adj2" fmla="val -397"/>
              <a:gd name="adj3" fmla="val 18750"/>
              <a:gd name="adj4" fmla="val -39682"/>
              <a:gd name="adj5" fmla="val -11123"/>
              <a:gd name="adj6" fmla="val -39286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外触发输入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068DCD1E-E756-477C-BF4B-B4E6EE327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330" y="5253010"/>
            <a:ext cx="788987" cy="61118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AutoShape 15">
            <a:extLst>
              <a:ext uri="{FF2B5EF4-FFF2-40B4-BE49-F238E27FC236}">
                <a16:creationId xmlns:a16="http://schemas.microsoft.com/office/drawing/2014/main" id="{13DB13F1-9FA1-433E-B256-02BCB3C53250}"/>
              </a:ext>
            </a:extLst>
          </p:cNvPr>
          <p:cNvSpPr>
            <a:spLocks/>
          </p:cNvSpPr>
          <p:nvPr/>
        </p:nvSpPr>
        <p:spPr bwMode="auto">
          <a:xfrm>
            <a:off x="3699245" y="1451248"/>
            <a:ext cx="656731" cy="609600"/>
          </a:xfrm>
          <a:prstGeom prst="borderCallout2">
            <a:avLst>
              <a:gd name="adj1" fmla="val 101167"/>
              <a:gd name="adj2" fmla="val 73168"/>
              <a:gd name="adj3" fmla="val 155563"/>
              <a:gd name="adj4" fmla="val 72459"/>
              <a:gd name="adj5" fmla="val 153896"/>
              <a:gd name="adj6" fmla="val 241201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</a:p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调节</a:t>
            </a: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BCD2A5F0-CAB4-4D4C-9961-46DCEED62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117" y="2371697"/>
            <a:ext cx="358775" cy="93821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1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3" name="Picture 4">
            <a:extLst>
              <a:ext uri="{FF2B5EF4-FFF2-40B4-BE49-F238E27FC236}">
                <a16:creationId xmlns:a16="http://schemas.microsoft.com/office/drawing/2014/main" id="{5CA37754-526D-4EDA-9664-CAFA6819B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42" y="2151035"/>
            <a:ext cx="16065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AutoShape 16">
            <a:extLst>
              <a:ext uri="{FF2B5EF4-FFF2-40B4-BE49-F238E27FC236}">
                <a16:creationId xmlns:a16="http://schemas.microsoft.com/office/drawing/2014/main" id="{7E4ECD09-F8CE-41A8-A8D8-8349DE67C92C}"/>
              </a:ext>
            </a:extLst>
          </p:cNvPr>
          <p:cNvSpPr>
            <a:spLocks/>
          </p:cNvSpPr>
          <p:nvPr/>
        </p:nvSpPr>
        <p:spPr bwMode="auto">
          <a:xfrm>
            <a:off x="5089424" y="5949280"/>
            <a:ext cx="666851" cy="609600"/>
          </a:xfrm>
          <a:prstGeom prst="borderCallout2">
            <a:avLst>
              <a:gd name="adj1" fmla="val 18750"/>
              <a:gd name="adj2" fmla="val 102107"/>
              <a:gd name="adj3" fmla="val 18750"/>
              <a:gd name="adj4" fmla="val 130436"/>
              <a:gd name="adj5" fmla="val -13480"/>
              <a:gd name="adj6" fmla="val 130302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输入</a:t>
            </a:r>
          </a:p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插座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utoShape 23">
            <a:extLst>
              <a:ext uri="{FF2B5EF4-FFF2-40B4-BE49-F238E27FC236}">
                <a16:creationId xmlns:a16="http://schemas.microsoft.com/office/drawing/2014/main" id="{36D1D3FD-75E2-46C4-90C4-FE051F721231}"/>
              </a:ext>
            </a:extLst>
          </p:cNvPr>
          <p:cNvSpPr>
            <a:spLocks/>
          </p:cNvSpPr>
          <p:nvPr/>
        </p:nvSpPr>
        <p:spPr bwMode="auto">
          <a:xfrm>
            <a:off x="8285038" y="4383060"/>
            <a:ext cx="679450" cy="673100"/>
          </a:xfrm>
          <a:prstGeom prst="borderCallout2">
            <a:avLst>
              <a:gd name="adj1" fmla="val 19257"/>
              <a:gd name="adj2" fmla="val -762"/>
              <a:gd name="adj3" fmla="val 19257"/>
              <a:gd name="adj4" fmla="val -13553"/>
              <a:gd name="adj5" fmla="val 17910"/>
              <a:gd name="adj6" fmla="val -15901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稳定触发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7064120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7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6B8FEA-5FE7-4BB1-ADA9-846F4A2F451C}"/>
              </a:ext>
            </a:extLst>
          </p:cNvPr>
          <p:cNvSpPr txBox="1"/>
          <p:nvPr/>
        </p:nvSpPr>
        <p:spPr>
          <a:xfrm>
            <a:off x="609600" y="1738162"/>
            <a:ext cx="2234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垂直控制系统设置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B25AE4-373D-4ED0-AADE-C14C8A4863AE}"/>
              </a:ext>
            </a:extLst>
          </p:cNvPr>
          <p:cNvSpPr txBox="1"/>
          <p:nvPr/>
        </p:nvSpPr>
        <p:spPr>
          <a:xfrm>
            <a:off x="683568" y="2238393"/>
            <a:ext cx="7706816" cy="37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垂直位置旋钮（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position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）可设置所选通道波形的垂直显示位置。转动该旋钮不但显示的波形会上下移动，且所选通道的“地”（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GND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）标识也会随波形上下移动并显示于屏幕左状态栏，移动值则显示于屏幕左下方；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按下垂直旋钮，垂直显示位置快速恢复到零点（即显示屏水平中心位置）处。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垂直衰减旋钮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(scale)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调整所选通道波形的显示幅度。转动该旋钮改变“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Volt/div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格）”垂直档位，同时下状态栏对应通道显示的幅值也会发生变化。</a:t>
            </a:r>
          </a:p>
        </p:txBody>
      </p:sp>
      <p:sp>
        <p:nvSpPr>
          <p:cNvPr id="10" name="object 1">
            <a:extLst>
              <a:ext uri="{FF2B5EF4-FFF2-40B4-BE49-F238E27FC236}">
                <a16:creationId xmlns:a16="http://schemas.microsoft.com/office/drawing/2014/main" id="{5940CC16-2F11-4A8A-B599-4530E7E43C84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832100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8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object 1">
            <a:extLst>
              <a:ext uri="{FF2B5EF4-FFF2-40B4-BE49-F238E27FC236}">
                <a16:creationId xmlns:a16="http://schemas.microsoft.com/office/drawing/2014/main" id="{F8A82CAA-7996-43F5-8216-B55F08B26E17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3503F04-0FB5-48D4-80D0-E50B4DD0F32B}"/>
              </a:ext>
            </a:extLst>
          </p:cNvPr>
          <p:cNvSpPr txBox="1"/>
          <p:nvPr/>
        </p:nvSpPr>
        <p:spPr>
          <a:xfrm>
            <a:off x="683568" y="2425980"/>
            <a:ext cx="7706816" cy="25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主要用于设置水平时基。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水平位置旋钮（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position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）调整信号波形在显示屏上的水平位置，转动该旋钮波形随旋钮而水平移动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按下此旋钮触发位移恢复到水平零点（即显示屏垂直中心线置）处。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水平衰减旋钮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(scale)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改变水平时基档位设置，转动该旋钮改变“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s/div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格）”水平档位，下状态栏中显示的主时基值也会发生相应的变化。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5031C7-A526-4DE6-B4B2-DA2A242D29EF}"/>
              </a:ext>
            </a:extLst>
          </p:cNvPr>
          <p:cNvSpPr txBox="1"/>
          <p:nvPr/>
        </p:nvSpPr>
        <p:spPr>
          <a:xfrm>
            <a:off x="609600" y="1738162"/>
            <a:ext cx="2234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水平控制系统设置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1573017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9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B1706E7F-3863-4D7D-9E7E-CE1E4C7ADB5B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7" name="Picture 5" descr="IMG_20170414_103031">
            <a:extLst>
              <a:ext uri="{FF2B5EF4-FFF2-40B4-BE49-F238E27FC236}">
                <a16:creationId xmlns:a16="http://schemas.microsoft.com/office/drawing/2014/main" id="{BBA1978E-542F-4B42-A016-F12BA942A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564" y="2213357"/>
            <a:ext cx="6175598" cy="34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12">
            <a:extLst>
              <a:ext uri="{FF2B5EF4-FFF2-40B4-BE49-F238E27FC236}">
                <a16:creationId xmlns:a16="http://schemas.microsoft.com/office/drawing/2014/main" id="{5083CA15-A783-486F-B76F-F6B49F75E0AD}"/>
              </a:ext>
            </a:extLst>
          </p:cNvPr>
          <p:cNvSpPr>
            <a:spLocks/>
          </p:cNvSpPr>
          <p:nvPr/>
        </p:nvSpPr>
        <p:spPr bwMode="auto">
          <a:xfrm>
            <a:off x="7771122" y="4938807"/>
            <a:ext cx="914400" cy="609600"/>
          </a:xfrm>
          <a:prstGeom prst="borderCallout1">
            <a:avLst>
              <a:gd name="adj1" fmla="val 21131"/>
              <a:gd name="adj2" fmla="val 1191"/>
              <a:gd name="adj3" fmla="val 22542"/>
              <a:gd name="adj4" fmla="val -122619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触发信号源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19">
            <a:extLst>
              <a:ext uri="{FF2B5EF4-FFF2-40B4-BE49-F238E27FC236}">
                <a16:creationId xmlns:a16="http://schemas.microsoft.com/office/drawing/2014/main" id="{FC33ED70-BF77-414C-ABFF-2547FF581686}"/>
              </a:ext>
            </a:extLst>
          </p:cNvPr>
          <p:cNvSpPr>
            <a:spLocks/>
          </p:cNvSpPr>
          <p:nvPr/>
        </p:nvSpPr>
        <p:spPr bwMode="auto">
          <a:xfrm>
            <a:off x="6228184" y="5895975"/>
            <a:ext cx="1176337" cy="609600"/>
          </a:xfrm>
          <a:prstGeom prst="borderCallout1">
            <a:avLst>
              <a:gd name="adj1" fmla="val -298"/>
              <a:gd name="adj2" fmla="val 9563"/>
              <a:gd name="adj3" fmla="val -66705"/>
              <a:gd name="adj4" fmla="val 9158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屏幕菜单选择键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3">
            <a:extLst>
              <a:ext uri="{FF2B5EF4-FFF2-40B4-BE49-F238E27FC236}">
                <a16:creationId xmlns:a16="http://schemas.microsoft.com/office/drawing/2014/main" id="{3E1AE03B-5C41-4CA6-B00B-5007C4AC006B}"/>
              </a:ext>
            </a:extLst>
          </p:cNvPr>
          <p:cNvSpPr>
            <a:spLocks/>
          </p:cNvSpPr>
          <p:nvPr/>
        </p:nvSpPr>
        <p:spPr bwMode="auto">
          <a:xfrm>
            <a:off x="3751238" y="5895975"/>
            <a:ext cx="914400" cy="609600"/>
          </a:xfrm>
          <a:prstGeom prst="borderCallout1">
            <a:avLst>
              <a:gd name="adj1" fmla="val -2679"/>
              <a:gd name="adj2" fmla="val 62301"/>
              <a:gd name="adj3" fmla="val -176676"/>
              <a:gd name="adj4" fmla="val 63965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刻度线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FC136378-2A4D-40E5-B6AA-52A09E4E6482}"/>
              </a:ext>
            </a:extLst>
          </p:cNvPr>
          <p:cNvSpPr>
            <a:spLocks/>
          </p:cNvSpPr>
          <p:nvPr/>
        </p:nvSpPr>
        <p:spPr bwMode="auto">
          <a:xfrm>
            <a:off x="4946650" y="5895975"/>
            <a:ext cx="914400" cy="609600"/>
          </a:xfrm>
          <a:prstGeom prst="borderCallout1">
            <a:avLst>
              <a:gd name="adj1" fmla="val 2083"/>
              <a:gd name="adj2" fmla="val 55952"/>
              <a:gd name="adj3" fmla="val -130396"/>
              <a:gd name="adj4" fmla="val 55555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扫描时间档位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21B5DCF2-A1F2-45EC-8D84-5B9354FDD4B9}"/>
              </a:ext>
            </a:extLst>
          </p:cNvPr>
          <p:cNvSpPr>
            <a:spLocks/>
          </p:cNvSpPr>
          <p:nvPr/>
        </p:nvSpPr>
        <p:spPr bwMode="auto">
          <a:xfrm>
            <a:off x="2566963" y="5861050"/>
            <a:ext cx="914400" cy="609600"/>
          </a:xfrm>
          <a:prstGeom prst="borderCallout1">
            <a:avLst>
              <a:gd name="adj1" fmla="val 4464"/>
              <a:gd name="adj2" fmla="val 76587"/>
              <a:gd name="adj3" fmla="val -231773"/>
              <a:gd name="adj4" fmla="val 82666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扫描线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A1B94779-F92D-4E97-801B-AE49048CC3F9}"/>
              </a:ext>
            </a:extLst>
          </p:cNvPr>
          <p:cNvSpPr>
            <a:spLocks/>
          </p:cNvSpPr>
          <p:nvPr/>
        </p:nvSpPr>
        <p:spPr bwMode="auto">
          <a:xfrm>
            <a:off x="1382688" y="5831529"/>
            <a:ext cx="914400" cy="609600"/>
          </a:xfrm>
          <a:prstGeom prst="borderCallout1">
            <a:avLst>
              <a:gd name="adj1" fmla="val -2678"/>
              <a:gd name="adj2" fmla="val 100397"/>
              <a:gd name="adj3" fmla="val -113282"/>
              <a:gd name="adj4" fmla="val 175523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CH2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电压档位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8">
            <a:extLst>
              <a:ext uri="{FF2B5EF4-FFF2-40B4-BE49-F238E27FC236}">
                <a16:creationId xmlns:a16="http://schemas.microsoft.com/office/drawing/2014/main" id="{39006004-4561-4ADD-B71F-44BAB320C691}"/>
              </a:ext>
            </a:extLst>
          </p:cNvPr>
          <p:cNvSpPr>
            <a:spLocks/>
          </p:cNvSpPr>
          <p:nvPr/>
        </p:nvSpPr>
        <p:spPr bwMode="auto">
          <a:xfrm>
            <a:off x="411873" y="4799432"/>
            <a:ext cx="914400" cy="609600"/>
          </a:xfrm>
          <a:prstGeom prst="borderCallout1">
            <a:avLst>
              <a:gd name="adj1" fmla="val 42560"/>
              <a:gd name="adj2" fmla="val 100397"/>
              <a:gd name="adj3" fmla="val 43231"/>
              <a:gd name="adj4" fmla="val 182468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CH1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电压档位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17C36D96-3F7A-4EFE-A7A1-75D1EB728A4D}"/>
              </a:ext>
            </a:extLst>
          </p:cNvPr>
          <p:cNvSpPr>
            <a:spLocks/>
          </p:cNvSpPr>
          <p:nvPr/>
        </p:nvSpPr>
        <p:spPr bwMode="auto">
          <a:xfrm>
            <a:off x="5724128" y="1535643"/>
            <a:ext cx="659159" cy="620713"/>
          </a:xfrm>
          <a:prstGeom prst="borderCallout1">
            <a:avLst>
              <a:gd name="adj1" fmla="val 100253"/>
              <a:gd name="adj2" fmla="val 12301"/>
              <a:gd name="adj3" fmla="val 176724"/>
              <a:gd name="adj4" fmla="val 11746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触发状态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9B5CF919-37F3-4F35-BF1F-F20CDF093BD7}"/>
              </a:ext>
            </a:extLst>
          </p:cNvPr>
          <p:cNvSpPr>
            <a:spLocks/>
          </p:cNvSpPr>
          <p:nvPr/>
        </p:nvSpPr>
        <p:spPr bwMode="auto">
          <a:xfrm>
            <a:off x="395374" y="3656118"/>
            <a:ext cx="914400" cy="861709"/>
          </a:xfrm>
          <a:prstGeom prst="borderCallout1">
            <a:avLst>
              <a:gd name="adj1" fmla="val 93148"/>
              <a:gd name="adj2" fmla="val 101586"/>
              <a:gd name="adj3" fmla="val 95229"/>
              <a:gd name="adj4" fmla="val 177497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第一路被测信号指示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F47ABB9E-ADEF-4E85-A755-FB67CB663BBC}"/>
              </a:ext>
            </a:extLst>
          </p:cNvPr>
          <p:cNvSpPr>
            <a:spLocks/>
          </p:cNvSpPr>
          <p:nvPr/>
        </p:nvSpPr>
        <p:spPr bwMode="auto">
          <a:xfrm>
            <a:off x="7771122" y="4098422"/>
            <a:ext cx="955674" cy="644525"/>
          </a:xfrm>
          <a:prstGeom prst="borderCallout3">
            <a:avLst>
              <a:gd name="adj1" fmla="val 25125"/>
              <a:gd name="adj2" fmla="val -104"/>
              <a:gd name="adj3" fmla="val 23647"/>
              <a:gd name="adj4" fmla="val -64031"/>
              <a:gd name="adj5" fmla="val 24561"/>
              <a:gd name="adj6" fmla="val -126822"/>
              <a:gd name="adj7" fmla="val 125371"/>
              <a:gd name="adj8" fmla="val -127165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显示的波形频率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AutoShape 5">
            <a:extLst>
              <a:ext uri="{FF2B5EF4-FFF2-40B4-BE49-F238E27FC236}">
                <a16:creationId xmlns:a16="http://schemas.microsoft.com/office/drawing/2014/main" id="{1CED21A0-FD6B-492A-9327-AF3130054BEC}"/>
              </a:ext>
            </a:extLst>
          </p:cNvPr>
          <p:cNvSpPr>
            <a:spLocks/>
          </p:cNvSpPr>
          <p:nvPr/>
        </p:nvSpPr>
        <p:spPr bwMode="auto">
          <a:xfrm>
            <a:off x="4860032" y="1545461"/>
            <a:ext cx="659159" cy="620712"/>
          </a:xfrm>
          <a:prstGeom prst="borderCallout1">
            <a:avLst>
              <a:gd name="adj1" fmla="val 102299"/>
              <a:gd name="adj2" fmla="val 90589"/>
              <a:gd name="adj3" fmla="val 172892"/>
              <a:gd name="adj4" fmla="val 91065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撷取状态 </a:t>
            </a:r>
          </a:p>
        </p:txBody>
      </p:sp>
      <p:sp>
        <p:nvSpPr>
          <p:cNvPr id="21" name="AutoShape 5">
            <a:extLst>
              <a:ext uri="{FF2B5EF4-FFF2-40B4-BE49-F238E27FC236}">
                <a16:creationId xmlns:a16="http://schemas.microsoft.com/office/drawing/2014/main" id="{22303335-F882-4303-906F-DF5C1C264359}"/>
              </a:ext>
            </a:extLst>
          </p:cNvPr>
          <p:cNvSpPr>
            <a:spLocks/>
          </p:cNvSpPr>
          <p:nvPr/>
        </p:nvSpPr>
        <p:spPr bwMode="auto">
          <a:xfrm>
            <a:off x="7792952" y="3366554"/>
            <a:ext cx="730250" cy="620713"/>
          </a:xfrm>
          <a:prstGeom prst="borderCallout1">
            <a:avLst>
              <a:gd name="adj1" fmla="val 92069"/>
              <a:gd name="adj2" fmla="val 579"/>
              <a:gd name="adj3" fmla="val 92325"/>
              <a:gd name="adj4" fmla="val -103087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触发电平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6694F0F-204B-4899-A654-FB4D0DDDD8A1}"/>
              </a:ext>
            </a:extLst>
          </p:cNvPr>
          <p:cNvSpPr txBox="1"/>
          <p:nvPr/>
        </p:nvSpPr>
        <p:spPr>
          <a:xfrm>
            <a:off x="609600" y="1738162"/>
            <a:ext cx="266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屏幕刻度和标注信息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669111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  <p:bldP spid="11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10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38755C83-E769-4143-9956-6084C7CFE22D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7" name="Picture 3" descr="IMG_20170407_153933">
            <a:extLst>
              <a:ext uri="{FF2B5EF4-FFF2-40B4-BE49-F238E27FC236}">
                <a16:creationId xmlns:a16="http://schemas.microsoft.com/office/drawing/2014/main" id="{95B40A81-2CF1-4690-AA59-27FFC65C7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4108" y="1549105"/>
            <a:ext cx="7453312" cy="41941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DE18B57-6FCC-40CE-8BBF-9AED88F69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3308" y="1815805"/>
            <a:ext cx="1920875" cy="5889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sym typeface="Arial" panose="020B0604020202020204" pitchFamily="34" charset="0"/>
            </a:endParaRP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87D2CC70-44C2-4CB5-94A7-F63F4483FC6A}"/>
              </a:ext>
            </a:extLst>
          </p:cNvPr>
          <p:cNvSpPr>
            <a:spLocks/>
          </p:cNvSpPr>
          <p:nvPr/>
        </p:nvSpPr>
        <p:spPr bwMode="auto">
          <a:xfrm>
            <a:off x="1259632" y="5813128"/>
            <a:ext cx="5402164" cy="701675"/>
          </a:xfrm>
          <a:prstGeom prst="borderCallout1">
            <a:avLst>
              <a:gd name="adj1" fmla="val 3622"/>
              <a:gd name="adj2" fmla="val 94534"/>
              <a:gd name="adj3" fmla="val -486424"/>
              <a:gd name="adj4" fmla="val 94742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软件菜单区 ：提供显示方式、测量方式、光标方式、采样频率、辅助应用方式、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、帮助等选择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9109CD7A-78A5-419C-984A-2AA6FEE18A75}"/>
              </a:ext>
            </a:extLst>
          </p:cNvPr>
          <p:cNvSpPr>
            <a:spLocks/>
          </p:cNvSpPr>
          <p:nvPr/>
        </p:nvSpPr>
        <p:spPr bwMode="auto">
          <a:xfrm>
            <a:off x="222399" y="1632448"/>
            <a:ext cx="5716587" cy="955675"/>
          </a:xfrm>
          <a:prstGeom prst="borderCallout1">
            <a:avLst>
              <a:gd name="adj1" fmla="val 100995"/>
              <a:gd name="adj2" fmla="val 96445"/>
              <a:gd name="adj3" fmla="val 220101"/>
              <a:gd name="adj4" fmla="val 96336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CH1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可取得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CH1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的控制权，随后，位移旋钮和电压档开关只对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CH1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信号有效而对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CH2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信号无效。若要在屏幕上关闭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CH1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信号，则应再按一次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CH1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键。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3CAAAFB6-89FA-4EE9-ABBF-B4750D537248}"/>
              </a:ext>
            </a:extLst>
          </p:cNvPr>
          <p:cNvSpPr>
            <a:spLocks/>
          </p:cNvSpPr>
          <p:nvPr/>
        </p:nvSpPr>
        <p:spPr bwMode="auto">
          <a:xfrm>
            <a:off x="4039295" y="4269184"/>
            <a:ext cx="995362" cy="588963"/>
          </a:xfrm>
          <a:prstGeom prst="borderCallout2">
            <a:avLst>
              <a:gd name="adj1" fmla="val 16526"/>
              <a:gd name="adj2" fmla="val 172247"/>
              <a:gd name="adj3" fmla="val 18683"/>
              <a:gd name="adj4" fmla="val 116109"/>
              <a:gd name="adj5" fmla="val 17523"/>
              <a:gd name="adj6" fmla="val 172089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电压档位</a:t>
            </a:r>
          </a:p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调整开关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1D313516-3C87-433C-9D02-C6BADCB325E2}"/>
              </a:ext>
            </a:extLst>
          </p:cNvPr>
          <p:cNvSpPr>
            <a:spLocks/>
          </p:cNvSpPr>
          <p:nvPr/>
        </p:nvSpPr>
        <p:spPr bwMode="auto">
          <a:xfrm>
            <a:off x="7308304" y="5827068"/>
            <a:ext cx="1259433" cy="609600"/>
          </a:xfrm>
          <a:prstGeom prst="borderCallout1">
            <a:avLst>
              <a:gd name="adj1" fmla="val -2083"/>
              <a:gd name="adj2" fmla="val 44866"/>
              <a:gd name="adj3" fmla="val -495833"/>
              <a:gd name="adj4" fmla="val 44430"/>
            </a:avLst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扫描时间调节旋钮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48137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bldLvl="0" animBg="1"/>
      <p:bldP spid="11" grpId="0" bldLvl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11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8254AF00-1534-4FC5-9657-5AD6357A85BF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D5F5B0-14B3-4BCF-A9B7-086B8EB4B94F}"/>
              </a:ext>
            </a:extLst>
          </p:cNvPr>
          <p:cNvSpPr txBox="1"/>
          <p:nvPr/>
        </p:nvSpPr>
        <p:spPr>
          <a:xfrm>
            <a:off x="609600" y="1738162"/>
            <a:ext cx="2234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软件菜单区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EC27B7-61D9-40D5-990C-20805169EBE9}"/>
              </a:ext>
            </a:extLst>
          </p:cNvPr>
          <p:cNvSpPr txBox="1"/>
          <p:nvPr/>
        </p:nvSpPr>
        <p:spPr>
          <a:xfrm>
            <a:off x="755576" y="2414197"/>
            <a:ext cx="7706816" cy="25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按下软件菜单区任一按键，屏幕下状态栏会出现相应的功能菜单。通过菜单操作区的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个按键可选定功能菜单的选项，选定时屏幕右状态栏会出现相应的功能子菜单。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功能子菜单中，通过屏幕右边按钮进行设置调整。当按下屏幕右边按钮出现多个各选项或二级子菜单有多个选项时，可以通过多功能旋钮来选择和选定。再次按下软件菜单区按钮，显示屏上的功能菜单立即消失。</a:t>
            </a:r>
          </a:p>
        </p:txBody>
      </p:sp>
    </p:spTree>
    <p:extLst>
      <p:ext uri="{BB962C8B-B14F-4D97-AF65-F5344CB8AC3E}">
        <p14:creationId xmlns:p14="http://schemas.microsoft.com/office/powerpoint/2010/main" val="387653457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12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CF3E9463-B3A9-4FCF-BC9C-ABE6A284316B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F4883EC-455C-443C-B188-63C4307FA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908894"/>
            <a:ext cx="790575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5">
            <a:extLst>
              <a:ext uri="{FF2B5EF4-FFF2-40B4-BE49-F238E27FC236}">
                <a16:creationId xmlns:a16="http://schemas.microsoft.com/office/drawing/2014/main" id="{1186745B-E2C8-4AEC-A8AA-145162C58FAB}"/>
              </a:ext>
            </a:extLst>
          </p:cNvPr>
          <p:cNvSpPr>
            <a:spLocks/>
          </p:cNvSpPr>
          <p:nvPr/>
        </p:nvSpPr>
        <p:spPr bwMode="auto">
          <a:xfrm>
            <a:off x="5148064" y="5576912"/>
            <a:ext cx="1473200" cy="660400"/>
          </a:xfrm>
          <a:prstGeom prst="borderCallout1">
            <a:avLst>
              <a:gd name="adj1" fmla="val -481"/>
              <a:gd name="adj2" fmla="val 4312"/>
              <a:gd name="adj3" fmla="val -397837"/>
              <a:gd name="adj4" fmla="val 2480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探头地线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0FED99FC-D335-4CFC-9512-2CEBEDB37AEA}"/>
              </a:ext>
            </a:extLst>
          </p:cNvPr>
          <p:cNvSpPr>
            <a:spLocks/>
          </p:cNvSpPr>
          <p:nvPr/>
        </p:nvSpPr>
        <p:spPr bwMode="auto">
          <a:xfrm>
            <a:off x="827584" y="5576912"/>
            <a:ext cx="1244600" cy="672728"/>
          </a:xfrm>
          <a:prstGeom prst="borderCallout1">
            <a:avLst>
              <a:gd name="adj1" fmla="val 1"/>
              <a:gd name="adj2" fmla="val 14292"/>
              <a:gd name="adj3" fmla="val -191563"/>
              <a:gd name="adj4" fmla="val 1428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探头信号线测试钩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B1B94BC6-BBAA-4370-BD1D-3B008ADD2ECC}"/>
              </a:ext>
            </a:extLst>
          </p:cNvPr>
          <p:cNvSpPr>
            <a:spLocks/>
          </p:cNvSpPr>
          <p:nvPr/>
        </p:nvSpPr>
        <p:spPr bwMode="auto">
          <a:xfrm>
            <a:off x="3131840" y="5589240"/>
            <a:ext cx="1872208" cy="660400"/>
          </a:xfrm>
          <a:prstGeom prst="borderCallout1">
            <a:avLst>
              <a:gd name="adj1" fmla="val -1925"/>
              <a:gd name="adj2" fmla="val 93524"/>
              <a:gd name="adj3" fmla="val -172837"/>
              <a:gd name="adj4" fmla="val 94840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探头衰减开关，一般应打在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档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90783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13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50920967-A320-4EA9-9631-B8893E207ACA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0657D1-9AC3-4A68-A270-8A65D987B4B1}"/>
              </a:ext>
            </a:extLst>
          </p:cNvPr>
          <p:cNvSpPr txBox="1"/>
          <p:nvPr/>
        </p:nvSpPr>
        <p:spPr>
          <a:xfrm>
            <a:off x="1456320" y="1628800"/>
            <a:ext cx="62646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——R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元件阻抗特性的测试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2D4A6E-2E62-4902-AB36-32238DAB84A1}"/>
              </a:ext>
            </a:extLst>
          </p:cNvPr>
          <p:cNvSpPr txBox="1"/>
          <p:nvPr/>
        </p:nvSpPr>
        <p:spPr>
          <a:xfrm>
            <a:off x="718591" y="2657138"/>
            <a:ext cx="7924799" cy="2437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实验目的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验证电阻、感抗、容抗与频率的关系，测定 R～f、X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～f 及 X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～f 特性曲线；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加深理解R、L、C元件端电压与电流间的相位关系；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5666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14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AD2DE1D0-0920-42DD-BC1E-D9D40B96B886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F1B554-7EDA-4B3D-870F-BB135F3834BC}"/>
              </a:ext>
            </a:extLst>
          </p:cNvPr>
          <p:cNvSpPr txBox="1"/>
          <p:nvPr/>
        </p:nvSpPr>
        <p:spPr>
          <a:xfrm>
            <a:off x="683568" y="1491600"/>
            <a:ext cx="7706816" cy="1976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在正弦稳态电路中，R、L、C元件在电路中的阻抗与信号的频率有关，它们的阻抗频率特性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R～f，X</a:t>
            </a:r>
            <a:r>
              <a:rPr lang="zh-CN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～f，X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～f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曲线如图1所示。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元件阻抗频率特性的测量电路如图2所示。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Picture 76">
            <a:extLst>
              <a:ext uri="{FF2B5EF4-FFF2-40B4-BE49-F238E27FC236}">
                <a16:creationId xmlns:a16="http://schemas.microsoft.com/office/drawing/2014/main" id="{88114CFD-A5C8-4530-BA43-65ACB1374D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429667"/>
              </p:ext>
            </p:extLst>
          </p:nvPr>
        </p:nvGraphicFramePr>
        <p:xfrm>
          <a:off x="1187624" y="3820337"/>
          <a:ext cx="2520280" cy="208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48849" imgH="4266667" progId="PBrush">
                  <p:embed/>
                </p:oleObj>
              </mc:Choice>
              <mc:Fallback>
                <p:oleObj r:id="rId5" imgW="4648849" imgH="4266667" progId="PBrush">
                  <p:embed/>
                  <p:pic>
                    <p:nvPicPr>
                      <p:cNvPr id="99337" name="Picture 76">
                        <a:extLst>
                          <a:ext uri="{FF2B5EF4-FFF2-40B4-BE49-F238E27FC236}">
                            <a16:creationId xmlns:a16="http://schemas.microsoft.com/office/drawing/2014/main" id="{F438D65C-F8BE-411E-9EEF-9CF2F0A998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820337"/>
                        <a:ext cx="2520280" cy="208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Picture 79">
            <a:extLst>
              <a:ext uri="{FF2B5EF4-FFF2-40B4-BE49-F238E27FC236}">
                <a16:creationId xmlns:a16="http://schemas.microsoft.com/office/drawing/2014/main" id="{CC38FAE6-344D-4BA0-9BF3-863CCE2C18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208310"/>
              </p:ext>
            </p:extLst>
          </p:nvPr>
        </p:nvGraphicFramePr>
        <p:xfrm>
          <a:off x="4788024" y="3438838"/>
          <a:ext cx="2520280" cy="2464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885714" imgH="5125165" progId="PBrush">
                  <p:embed/>
                </p:oleObj>
              </mc:Choice>
              <mc:Fallback>
                <p:oleObj r:id="rId7" imgW="3885714" imgH="5125165" progId="PBrush">
                  <p:embed/>
                  <p:pic>
                    <p:nvPicPr>
                      <p:cNvPr id="99335" name="Picture 79">
                        <a:extLst>
                          <a:ext uri="{FF2B5EF4-FFF2-40B4-BE49-F238E27FC236}">
                            <a16:creationId xmlns:a16="http://schemas.microsoft.com/office/drawing/2014/main" id="{0C5D7D46-2F42-4585-8F2A-A6B39A2445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3438838"/>
                        <a:ext cx="2520280" cy="24646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CD753330-AEC7-424E-B87D-BF413699FEBC}"/>
              </a:ext>
            </a:extLst>
          </p:cNvPr>
          <p:cNvSpPr txBox="1"/>
          <p:nvPr/>
        </p:nvSpPr>
        <p:spPr>
          <a:xfrm>
            <a:off x="899592" y="6097138"/>
            <a:ext cx="352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元件阻抗频率特性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18F6E0-2233-413D-8C81-6C7FE4C3A870}"/>
              </a:ext>
            </a:extLst>
          </p:cNvPr>
          <p:cNvSpPr txBox="1"/>
          <p:nvPr/>
        </p:nvSpPr>
        <p:spPr>
          <a:xfrm>
            <a:off x="5076056" y="6100432"/>
            <a:ext cx="223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实验测量电路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5CE2317-53E7-4FB4-9686-E0F3BD3CDE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557305"/>
              </p:ext>
            </p:extLst>
          </p:nvPr>
        </p:nvGraphicFramePr>
        <p:xfrm>
          <a:off x="7418660" y="5267201"/>
          <a:ext cx="1226710" cy="276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87320" imgH="177480" progId="Equation.DSMT4">
                  <p:embed/>
                </p:oleObj>
              </mc:Choice>
              <mc:Fallback>
                <p:oleObj name="Equation" r:id="rId9" imgW="7873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18660" y="5267201"/>
                        <a:ext cx="1226710" cy="276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5399216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15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5AD5F02B-5D14-4F71-9AFD-E30A5CEE8C0E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F03847-2952-4672-9D7C-7F155F9520D8}"/>
              </a:ext>
            </a:extLst>
          </p:cNvPr>
          <p:cNvSpPr txBox="1"/>
          <p:nvPr/>
        </p:nvSpPr>
        <p:spPr>
          <a:xfrm>
            <a:off x="683568" y="1491600"/>
            <a:ext cx="7706816" cy="4285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中r是提供测量回路电流用的标准小电阻(称为取样电阻），由于r的阻值远小于被测元件的阻抗值，因此可以认为AB之间的电压就是被测元件R、L、C两端的电压U，流过被测元件的电流则可由r两端的电压Ur除以r所得。</a:t>
            </a:r>
          </a:p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件的阻抗角(即相位差φ)随输入信号的频率变化而改变，用双踪示波器同时观测r与被测元件两端的电压，亦就展现出被测元件两端的电压和流过该元件电流的波形，从而可以测出电压与电流的幅值及它们之间的相位差。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506501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16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5AD5F02B-5D14-4F71-9AFD-E30A5CEE8C0E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7" name="图片 1">
            <a:extLst>
              <a:ext uri="{FF2B5EF4-FFF2-40B4-BE49-F238E27FC236}">
                <a16:creationId xmlns:a16="http://schemas.microsoft.com/office/drawing/2014/main" id="{BEFE2AB4-CC94-4944-AD83-8BF294BD87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6" t="2510" r="10089"/>
          <a:stretch/>
        </p:blipFill>
        <p:spPr bwMode="auto">
          <a:xfrm>
            <a:off x="935596" y="1431459"/>
            <a:ext cx="7272808" cy="5124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1159555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17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5AD5F02B-5D14-4F71-9AFD-E30A5CEE8C0E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8D3519-3CDA-4F32-916F-71E8281B4DF3}"/>
              </a:ext>
            </a:extLst>
          </p:cNvPr>
          <p:cNvSpPr txBox="1"/>
          <p:nvPr/>
        </p:nvSpPr>
        <p:spPr>
          <a:xfrm>
            <a:off x="683568" y="1491600"/>
            <a:ext cx="7706816" cy="336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双踪示波器测量阻抗角φ（相位差）。将被测元件的电压波形和电流波形分别接至示波器的CH1、CH2输入端，调节示波器相关旋钮，使荧光屏上出现清晰稳定的波形，如图3所示。从荧光屏上读出一个周期占n格，相位差占m格，则实际的阻抗角φ（相位差）为</a:t>
            </a:r>
          </a:p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6C8FDAA3-14BD-400C-9467-74824798BE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238962"/>
              </p:ext>
            </p:extLst>
          </p:nvPr>
        </p:nvGraphicFramePr>
        <p:xfrm>
          <a:off x="1331640" y="4852585"/>
          <a:ext cx="1656184" cy="761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26936" imgH="394385" progId="Equation.3">
                  <p:embed/>
                </p:oleObj>
              </mc:Choice>
              <mc:Fallback>
                <p:oleObj r:id="rId5" imgW="826936" imgH="394385" progId="Equation.3">
                  <p:embed/>
                  <p:pic>
                    <p:nvPicPr>
                      <p:cNvPr id="102403" name="Object 3">
                        <a:extLst>
                          <a:ext uri="{FF2B5EF4-FFF2-40B4-BE49-F238E27FC236}">
                            <a16:creationId xmlns:a16="http://schemas.microsoft.com/office/drawing/2014/main" id="{2F8BE2D9-0FF3-4749-83B7-551BE875FD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852585"/>
                        <a:ext cx="1656184" cy="7616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Picture 72">
            <a:extLst>
              <a:ext uri="{FF2B5EF4-FFF2-40B4-BE49-F238E27FC236}">
                <a16:creationId xmlns:a16="http://schemas.microsoft.com/office/drawing/2014/main" id="{2B03A65D-0AFB-4FF0-BE18-F7DBF84CB9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471644"/>
              </p:ext>
            </p:extLst>
          </p:nvPr>
        </p:nvGraphicFramePr>
        <p:xfrm>
          <a:off x="4305672" y="4187904"/>
          <a:ext cx="3023393" cy="1614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8095" imgH="4915586" progId="PBrush">
                  <p:embed/>
                </p:oleObj>
              </mc:Choice>
              <mc:Fallback>
                <p:oleObj r:id="rId7" imgW="6638095" imgH="4915586" progId="PBrush">
                  <p:embed/>
                  <p:pic>
                    <p:nvPicPr>
                      <p:cNvPr id="102406" name="Picture 72">
                        <a:extLst>
                          <a:ext uri="{FF2B5EF4-FFF2-40B4-BE49-F238E27FC236}">
                            <a16:creationId xmlns:a16="http://schemas.microsoft.com/office/drawing/2014/main" id="{D2534ED8-0B69-4405-B66F-8DF8FAF096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672" y="4187904"/>
                        <a:ext cx="3023393" cy="1614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F1F449BF-3B58-4699-ADB2-47BAACFAA96F}"/>
              </a:ext>
            </a:extLst>
          </p:cNvPr>
          <p:cNvSpPr txBox="1"/>
          <p:nvPr/>
        </p:nvSpPr>
        <p:spPr>
          <a:xfrm>
            <a:off x="4572000" y="5895696"/>
            <a:ext cx="2735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测量相位差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φ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示意图</a:t>
            </a:r>
          </a:p>
        </p:txBody>
      </p:sp>
    </p:spTree>
    <p:extLst>
      <p:ext uri="{BB962C8B-B14F-4D97-AF65-F5344CB8AC3E}">
        <p14:creationId xmlns:p14="http://schemas.microsoft.com/office/powerpoint/2010/main" val="3086340137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18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5AD5F02B-5D14-4F71-9AFD-E30A5CEE8C0E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C83C1E-7303-4391-AE53-6E3354477D07}"/>
              </a:ext>
            </a:extLst>
          </p:cNvPr>
          <p:cNvSpPr txBox="1"/>
          <p:nvPr/>
        </p:nvSpPr>
        <p:spPr>
          <a:xfrm>
            <a:off x="683568" y="1491600"/>
            <a:ext cx="7706816" cy="3361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测量R、L、C元件的阻抗频率特性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</a:rPr>
              <a:t>       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按图2连接电路，调节信号源输出幅度有效值为U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＝3V，并保持不变。信号源的输出频率从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00Hz逐渐增至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0kHz，并使开关S分别接通R、L、C三个元件，用交流毫伏表测量 Ur，并计算各频率点的 I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、I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 I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 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(即Ur / r ) 以及 X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=U/I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、X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=U/I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及 R=U/I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之值，测量与计算结果记入下表中。</a:t>
            </a:r>
          </a:p>
        </p:txBody>
      </p:sp>
    </p:spTree>
    <p:extLst>
      <p:ext uri="{BB962C8B-B14F-4D97-AF65-F5344CB8AC3E}">
        <p14:creationId xmlns:p14="http://schemas.microsoft.com/office/powerpoint/2010/main" val="2917236963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19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5AD5F02B-5D14-4F71-9AFD-E30A5CEE8C0E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7" name="内容占位符 3">
            <a:extLst>
              <a:ext uri="{FF2B5EF4-FFF2-40B4-BE49-F238E27FC236}">
                <a16:creationId xmlns:a16="http://schemas.microsoft.com/office/drawing/2014/main" id="{227808B3-181C-4982-9BF4-9612B1CAA5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" r="19417" b="5247"/>
          <a:stretch/>
        </p:blipFill>
        <p:spPr>
          <a:xfrm>
            <a:off x="576536" y="1809950"/>
            <a:ext cx="7920880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04617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20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5AD5F02B-5D14-4F71-9AFD-E30A5CEE8C0E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69E57A-B941-4F1D-A6C3-12737DA8008F}"/>
              </a:ext>
            </a:extLst>
          </p:cNvPr>
          <p:cNvSpPr txBox="1"/>
          <p:nvPr/>
        </p:nvSpPr>
        <p:spPr>
          <a:xfrm>
            <a:off x="683568" y="1491600"/>
            <a:ext cx="7706816" cy="2900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3.2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测量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RLC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串联电路的阻抗频率特性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取 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R=1kΩ, L=100mH, C=0.01μF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串联，如图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连接电路，调节信号源输出幅度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有效值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为U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＝3V，并保持不变。信号源的输出频率从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5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00Hz逐渐增至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0kHz，用交流毫伏表测量Ur，并计算各频率点的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I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(即Ur / r ) 及 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Z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Z=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U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宋体" panose="02010600030101010101" pitchFamily="2" charset="-122"/>
              </a:rPr>
              <a:t>/I),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测量与计算结果记入下表中。</a:t>
            </a:r>
          </a:p>
        </p:txBody>
      </p:sp>
      <p:pic>
        <p:nvPicPr>
          <p:cNvPr id="8" name="图片 4">
            <a:extLst>
              <a:ext uri="{FF2B5EF4-FFF2-40B4-BE49-F238E27FC236}">
                <a16:creationId xmlns:a16="http://schemas.microsoft.com/office/drawing/2014/main" id="{5A669FD4-9CEA-493D-B07A-51FF15C291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9" r="19454" b="8071"/>
          <a:stretch/>
        </p:blipFill>
        <p:spPr bwMode="auto">
          <a:xfrm>
            <a:off x="2771800" y="4391689"/>
            <a:ext cx="5954010" cy="2038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2D5BE6A4-C711-407C-BD78-D1879F50E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50" y="4546343"/>
            <a:ext cx="2020217" cy="1460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764E3AD-7208-4424-B42A-B64042329334}"/>
              </a:ext>
            </a:extLst>
          </p:cNvPr>
          <p:cNvSpPr txBox="1"/>
          <p:nvPr/>
        </p:nvSpPr>
        <p:spPr>
          <a:xfrm>
            <a:off x="787205" y="6132666"/>
            <a:ext cx="1779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图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4 RLC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串联电路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A34878-7D0D-44F4-A417-55CEB45F89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8434" y="5301208"/>
            <a:ext cx="451358" cy="34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937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21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5AD5F02B-5D14-4F71-9AFD-E30A5CEE8C0E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A9D76B-CC89-484C-BD7B-3913F4177B20}"/>
              </a:ext>
            </a:extLst>
          </p:cNvPr>
          <p:cNvSpPr txBox="1"/>
          <p:nvPr/>
        </p:nvSpPr>
        <p:spPr>
          <a:xfrm>
            <a:off x="683568" y="1491600"/>
            <a:ext cx="7706816" cy="2900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3.3 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测量RC、RL电路的阻抗角频率特性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调节信号源输出信号幅度，使有效值为U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＝3V，并保持不变。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信号源的输出频率从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00Hz逐渐增至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0kHz，并使开关S分别接通 L、C 元件，用双踪示波器观察在不同频率下各元件阻抗角的变化情况，记录n和m，算出φ，测量与计算结果记入下表中。</a:t>
            </a:r>
          </a:p>
        </p:txBody>
      </p:sp>
      <p:pic>
        <p:nvPicPr>
          <p:cNvPr id="8" name="图片 2">
            <a:extLst>
              <a:ext uri="{FF2B5EF4-FFF2-40B4-BE49-F238E27FC236}">
                <a16:creationId xmlns:a16="http://schemas.microsoft.com/office/drawing/2014/main" id="{1FCF80C8-EF95-4438-8E70-B7EB2E44D5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7" r="19782" b="10109"/>
          <a:stretch/>
        </p:blipFill>
        <p:spPr bwMode="auto">
          <a:xfrm>
            <a:off x="866651" y="4497224"/>
            <a:ext cx="6121251" cy="175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9028369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22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5AD5F02B-5D14-4F71-9AFD-E30A5CEE8C0E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C0C558-4012-417C-9319-7770985A16A5}"/>
              </a:ext>
            </a:extLst>
          </p:cNvPr>
          <p:cNvSpPr txBox="1"/>
          <p:nvPr/>
        </p:nvSpPr>
        <p:spPr>
          <a:xfrm>
            <a:off x="683568" y="1491600"/>
            <a:ext cx="7706816" cy="438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实验报告要求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根据实验数据，绘制R、L、C三个元件的阻抗频率特性曲线，从中可得出什么结论？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根据实验数据,绘制RC、RL串联电路的阻抗角频率特性曲线，并总结、归纳出结论。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实验心得体会、建议、要求等。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在正弦稳态RC电路中，U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、U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、U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(均为有效值)三者之间有什么关系?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在正弦稳态RL电路中，U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、U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、U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(均为有效值)三者之间有什么关系?</a:t>
            </a:r>
          </a:p>
        </p:txBody>
      </p:sp>
    </p:spTree>
    <p:extLst>
      <p:ext uri="{BB962C8B-B14F-4D97-AF65-F5344CB8AC3E}">
        <p14:creationId xmlns:p14="http://schemas.microsoft.com/office/powerpoint/2010/main" val="343796395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1072</TotalTime>
  <Words>1764</Words>
  <Application>Microsoft Office PowerPoint</Application>
  <PresentationFormat>全屏显示(4:3)</PresentationFormat>
  <Paragraphs>169</Paragraphs>
  <Slides>22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Times New Roman</vt:lpstr>
      <vt:lpstr>Arial</vt:lpstr>
      <vt:lpstr>微软雅黑</vt:lpstr>
      <vt:lpstr>黑体</vt:lpstr>
      <vt:lpstr>Wingdings</vt:lpstr>
      <vt:lpstr>Calibri</vt:lpstr>
      <vt:lpstr>等线</vt:lpstr>
      <vt:lpstr>Theme Office</vt:lpstr>
      <vt:lpstr>Equation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DELL</cp:lastModifiedBy>
  <cp:revision>303</cp:revision>
  <dcterms:modified xsi:type="dcterms:W3CDTF">2021-05-13T09:26:50Z</dcterms:modified>
</cp:coreProperties>
</file>