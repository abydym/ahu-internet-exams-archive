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774" r:id="rId2"/>
    <p:sldId id="724" r:id="rId3"/>
    <p:sldId id="734" r:id="rId4"/>
    <p:sldId id="751" r:id="rId5"/>
    <p:sldId id="780" r:id="rId6"/>
    <p:sldId id="779" r:id="rId7"/>
    <p:sldId id="778" r:id="rId8"/>
    <p:sldId id="794" r:id="rId9"/>
    <p:sldId id="795" r:id="rId10"/>
    <p:sldId id="797" r:id="rId11"/>
    <p:sldId id="796" r:id="rId12"/>
    <p:sldId id="801" r:id="rId13"/>
    <p:sldId id="800" r:id="rId14"/>
    <p:sldId id="799" r:id="rId15"/>
    <p:sldId id="798" r:id="rId16"/>
    <p:sldId id="802" r:id="rId17"/>
    <p:sldId id="803" r:id="rId18"/>
    <p:sldId id="807" r:id="rId19"/>
    <p:sldId id="804" r:id="rId20"/>
    <p:sldId id="806" r:id="rId21"/>
    <p:sldId id="781" r:id="rId22"/>
    <p:sldId id="792" r:id="rId23"/>
    <p:sldId id="789" r:id="rId24"/>
    <p:sldId id="808" r:id="rId25"/>
    <p:sldId id="256" r:id="rId26"/>
  </p:sldIdLst>
  <p:sldSz cx="9144000" cy="6858000" type="screen4x3"/>
  <p:notesSz cx="9144000" cy="6858000"/>
  <p:embeddedFontLst>
    <p:embeddedFont>
      <p:font typeface="等线" panose="02010600030101010101" pitchFamily="2" charset="-122"/>
      <p:regular r:id="rId28"/>
      <p:bold r:id="rId29"/>
    </p:embeddedFont>
    <p:embeddedFont>
      <p:font typeface="黑体" panose="02010609060101010101" pitchFamily="49" charset="-122"/>
      <p:regular r:id="rId30"/>
    </p:embeddedFont>
    <p:embeddedFont>
      <p:font typeface="华文新魏" panose="02010800040101010101" pitchFamily="2" charset="-122"/>
      <p:regular r:id="rId31"/>
    </p:embeddedFont>
    <p:embeddedFont>
      <p:font typeface="隶书" panose="02010509060101010101" pitchFamily="49" charset="-122"/>
      <p:regular r:id="rId32"/>
    </p:embeddedFont>
    <p:embeddedFont>
      <p:font typeface="微软雅黑" panose="020B0503020204020204" pitchFamily="34" charset="-122"/>
      <p:regular r:id="rId33"/>
      <p:bold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Tahoma" panose="020B0604030504040204" pitchFamily="34" charset="0"/>
      <p:regular r:id="rId39"/>
      <p:bold r:id="rId40"/>
    </p:embeddedFont>
    <p:embeddedFont>
      <p:font typeface="Times New Roman" panose="02020603050405020304" pitchFamily="18" charset="0"/>
      <p:regular r:id="rId4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0034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28" autoAdjust="0"/>
    <p:restoredTop sz="84525" autoAdjust="0"/>
  </p:normalViewPr>
  <p:slideViewPr>
    <p:cSldViewPr>
      <p:cViewPr>
        <p:scale>
          <a:sx n="100" d="100"/>
          <a:sy n="100" d="100"/>
        </p:scale>
        <p:origin x="1842" y="-10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168C9-C0FF-4C0D-8BEA-410B274AF575}" type="datetimeFigureOut">
              <a:rPr lang="zh-CN" altLang="en-US" smtClean="0"/>
              <a:t>2021/5/18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0CBDF-2F6F-4927-A4F7-77FE1B09F3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44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7945" algn="l">
              <a:lnSpc>
                <a:spcPct val="125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031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780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交流电路中，电容的容抗和电感的感抗都与电源频率有关，当电源频率一定时，容抗和感抗为确定值；当电源频率改变时，容抗和感抗的值也随之改变，容抗和感抗的变化会引起电路中各部分电压与电流的变化。电压和电流响应与频率的关系称为电路的频率特性或者频率响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选取不同的响应相量与激励相量的比值，可以构造不同的传递函数，实验</a:t>
            </a:r>
            <a:r>
              <a:rPr lang="en-US" altLang="zh-CN" dirty="0"/>
              <a:t>4</a:t>
            </a:r>
            <a:r>
              <a:rPr lang="zh-CN" altLang="en-US" dirty="0"/>
              <a:t>的传递函数（又称为转移函数）考虑双口网络的输出电压相量与输入电压相量比值，来分析传递函数的频率特性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536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显然，随着频率的增高，</a:t>
            </a:r>
            <a:r>
              <a:rPr lang="en-US" altLang="zh-CN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|H(</a:t>
            </a:r>
            <a:r>
              <a:rPr lang="en-US" altLang="zh-CN" dirty="0" err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j</a:t>
            </a:r>
            <a:r>
              <a:rPr lang="en-US" altLang="zh-CN" dirty="0" err="1">
                <a:solidFill>
                  <a:srgbClr val="0000FF"/>
                </a:solidFill>
                <a:latin typeface="Tahoma" panose="020B0604030504040204" pitchFamily="34" charset="0"/>
              </a:rPr>
              <a:t>ω</a:t>
            </a:r>
            <a:r>
              <a:rPr lang="en-US" altLang="zh-CN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)|</a:t>
            </a:r>
            <a:r>
              <a:rPr lang="zh-CN" altLang="en-US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将减小， 这说明低频信号可以通过，高频信号被衰减或抑制。</a:t>
            </a:r>
            <a:endParaRPr lang="en-US" altLang="zh-CN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ea typeface="楷体_GB2312" pitchFamily="49" charset="-122"/>
              </a:rPr>
              <a:t>w0</a:t>
            </a:r>
            <a:r>
              <a:rPr lang="zh-CN" altLang="en-US" dirty="0">
                <a:ea typeface="楷体_GB2312" pitchFamily="49" charset="-122"/>
              </a:rPr>
              <a:t>截止频率（网络函数的模下降到最大值</a:t>
            </a:r>
            <a:r>
              <a:rPr lang="en-US" altLang="zh-CN" dirty="0">
                <a:ea typeface="楷体_GB2312" pitchFamily="49" charset="-122"/>
              </a:rPr>
              <a:t>0.707 </a:t>
            </a:r>
            <a:r>
              <a:rPr lang="zh-CN" altLang="en-US" dirty="0">
                <a:ea typeface="楷体_GB2312" pitchFamily="49" charset="-122"/>
              </a:rPr>
              <a:t>时所对应的频率），这里解出</a:t>
            </a:r>
            <a:r>
              <a:rPr lang="en-US" altLang="zh-CN" dirty="0">
                <a:ea typeface="楷体_GB2312" pitchFamily="49" charset="-122"/>
              </a:rPr>
              <a:t>w0=1/RC</a:t>
            </a:r>
            <a:endParaRPr lang="en-US" altLang="zh-CN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defRPr/>
            </a:pPr>
            <a:r>
              <a:rPr lang="en-US" altLang="zh-CN" dirty="0"/>
              <a:t>0~w0</a:t>
            </a:r>
            <a:r>
              <a:rPr lang="zh-CN" altLang="en-US" dirty="0"/>
              <a:t>通频带表征了放大电路对不同频率输入信号的响应能力，其值越大，对不同频率输入信号的响应能力越强。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293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831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由幅频特性曲线可见，随着频率的降低而减小，说明高频信号可以通过，低频信号被衰减或被抑制。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804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可以看出，</a:t>
            </a:r>
            <a:r>
              <a:rPr lang="zh-CN" altLang="en-US" sz="1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当信号频率为</a:t>
            </a:r>
            <a:r>
              <a:rPr lang="en-US" altLang="zh-CN" sz="1200" dirty="0" err="1">
                <a:solidFill>
                  <a:srgbClr val="FF0000"/>
                </a:solidFill>
                <a:latin typeface="Tahoma" panose="020B0604030504040204" pitchFamily="34" charset="0"/>
              </a:rPr>
              <a:t>ω</a:t>
            </a:r>
            <a:r>
              <a:rPr lang="en-US" altLang="zh-CN" sz="1200" baseline="-25000" dirty="0" err="1">
                <a:solidFill>
                  <a:srgbClr val="FF0000"/>
                </a:solidFill>
                <a:latin typeface="Tahoma" panose="020B0604030504040204" pitchFamily="34" charset="0"/>
              </a:rPr>
              <a:t>o</a:t>
            </a:r>
            <a:r>
              <a:rPr lang="en-US" altLang="zh-CN" sz="1200" dirty="0">
                <a:solidFill>
                  <a:srgbClr val="FF0000"/>
                </a:solidFill>
                <a:latin typeface="Tahoma" panose="020B0604030504040204" pitchFamily="34" charset="0"/>
              </a:rPr>
              <a:t>=1/RC</a:t>
            </a:r>
            <a:r>
              <a:rPr lang="zh-CN" altLang="en-US" sz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时， </a:t>
            </a:r>
            <a:r>
              <a:rPr lang="zh-CN" altLang="en-US" sz="1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模</a:t>
            </a:r>
            <a:r>
              <a:rPr lang="en-US" altLang="zh-CN" sz="1200" dirty="0">
                <a:solidFill>
                  <a:srgbClr val="FF0000"/>
                </a:solidFill>
                <a:latin typeface="Tahoma" panose="020B0604030504040204" pitchFamily="34" charset="0"/>
              </a:rPr>
              <a:t>|H(</a:t>
            </a:r>
            <a:r>
              <a:rPr lang="en-US" altLang="zh-CN" sz="1200" dirty="0" err="1">
                <a:solidFill>
                  <a:srgbClr val="FF0000"/>
                </a:solidFill>
                <a:latin typeface="Tahoma" panose="020B0604030504040204" pitchFamily="34" charset="0"/>
              </a:rPr>
              <a:t>jω</a:t>
            </a:r>
            <a:r>
              <a:rPr lang="en-US" altLang="zh-CN" sz="1200" dirty="0">
                <a:solidFill>
                  <a:srgbClr val="FF0000"/>
                </a:solidFill>
                <a:latin typeface="Tahoma" panose="020B0604030504040204" pitchFamily="34" charset="0"/>
              </a:rPr>
              <a:t>)| =1/3</a:t>
            </a:r>
            <a:r>
              <a:rPr lang="zh-CN" altLang="en-US" sz="1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为最大 。</a:t>
            </a:r>
            <a:r>
              <a:rPr lang="zh-CN" altLang="en-US" sz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信号频率偏离</a:t>
            </a:r>
            <a:r>
              <a:rPr lang="en-US" altLang="zh-CN" sz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ω=1/RC</a:t>
            </a:r>
            <a:r>
              <a:rPr lang="zh-CN" altLang="en-US" sz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越远，信号被衰减和阻塞越厉害。</a:t>
            </a:r>
            <a:endParaRPr lang="en-US" altLang="zh-CN" sz="12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说明</a:t>
            </a:r>
            <a:r>
              <a:rPr lang="en-US" altLang="zh-CN" sz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RC</a:t>
            </a:r>
            <a:r>
              <a:rPr lang="zh-CN" altLang="en-US" sz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网络允许以</a:t>
            </a:r>
            <a:r>
              <a:rPr lang="en-US" altLang="zh-CN" sz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ω=ω</a:t>
            </a:r>
            <a:r>
              <a:rPr lang="en-US" altLang="zh-CN" sz="1200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=1/RC(≠0)</a:t>
            </a:r>
            <a:r>
              <a:rPr lang="zh-CN" altLang="en-US" sz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为中心的一定频率范围</a:t>
            </a:r>
            <a:r>
              <a:rPr lang="en-US" altLang="zh-CN" sz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频带</a:t>
            </a:r>
            <a:r>
              <a:rPr lang="en-US" altLang="zh-CN" sz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内的信号通</a:t>
            </a:r>
            <a:r>
              <a:rPr lang="zh-CN" altLang="en-US" sz="1200" dirty="0">
                <a:solidFill>
                  <a:srgbClr val="0000FF"/>
                </a:solidFill>
                <a:latin typeface="Tahoma" panose="020B0604030504040204" pitchFamily="34" charset="0"/>
                <a:ea typeface="华文新魏" panose="02010800040101010101" pitchFamily="2" charset="-122"/>
              </a:rPr>
              <a:t>过，而衰减或抑制其他频率的信号。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1490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>
              <a:ea typeface="隶书" panose="020105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6569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>
              <a:ea typeface="隶书" panose="020105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634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>
              <a:ea typeface="隶书" panose="020105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860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ea typeface="隶书" panose="02010509060101010101" pitchFamily="49" charset="-122"/>
              </a:rPr>
              <a:t>W0=10^5</a:t>
            </a:r>
            <a:endParaRPr lang="zh-CN" altLang="en-US" sz="1200" b="1" dirty="0">
              <a:ea typeface="隶书" panose="020105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37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0188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1079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7945" algn="l">
              <a:lnSpc>
                <a:spcPct val="125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220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5/18/2021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89E34FC-1C98-468A-BB67-6B8366C7C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009E325-D14F-4E47-A1B7-73A44BB13F0D}" type="datetime1">
              <a:rPr lang="en-US" altLang="zh-CN"/>
              <a:pPr/>
              <a:t>5/18/2021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336E2A0-D9B0-4C2A-97E1-5CBB66C4E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D0B9E6-1CD5-4066-98C1-D1469020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F518DA-9250-4DD1-BE77-706A49C314D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0315291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slow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4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1.png"/><Relationship Id="rId7" Type="http://schemas.openxmlformats.org/officeDocument/2006/relationships/oleObject" Target="../embeddings/oleObject5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9.bin"/><Relationship Id="rId18" Type="http://schemas.openxmlformats.org/officeDocument/2006/relationships/oleObject" Target="../embeddings/oleObject12.bin"/><Relationship Id="rId3" Type="http://schemas.openxmlformats.org/officeDocument/2006/relationships/image" Target="../media/image1.png"/><Relationship Id="rId21" Type="http://schemas.openxmlformats.org/officeDocument/2006/relationships/image" Target="../media/image19.wmf"/><Relationship Id="rId7" Type="http://schemas.openxmlformats.org/officeDocument/2006/relationships/oleObject" Target="../embeddings/oleObject7.bin"/><Relationship Id="rId12" Type="http://schemas.openxmlformats.org/officeDocument/2006/relationships/image" Target="../media/image9.wmf"/><Relationship Id="rId17" Type="http://schemas.openxmlformats.org/officeDocument/2006/relationships/image" Target="../media/image17.wmf"/><Relationship Id="rId2" Type="http://schemas.openxmlformats.org/officeDocument/2006/relationships/notesSlide" Target="../notesSlides/notesSlide4.xml"/><Relationship Id="rId16" Type="http://schemas.openxmlformats.org/officeDocument/2006/relationships/oleObject" Target="../embeddings/oleObject11.bin"/><Relationship Id="rId20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3.bin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0.bin"/><Relationship Id="rId23" Type="http://schemas.openxmlformats.org/officeDocument/2006/relationships/image" Target="../media/image21.png"/><Relationship Id="rId10" Type="http://schemas.openxmlformats.org/officeDocument/2006/relationships/image" Target="../media/image15.wmf"/><Relationship Id="rId19" Type="http://schemas.openxmlformats.org/officeDocument/2006/relationships/image" Target="../media/image18.wmf"/><Relationship Id="rId4" Type="http://schemas.openxmlformats.org/officeDocument/2006/relationships/image" Target="../media/image2.png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6.wmf"/><Relationship Id="rId22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10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FE22CD4A-AEA4-4EE9-83CA-93394F1E569A}"/>
              </a:ext>
            </a:extLst>
          </p:cNvPr>
          <p:cNvSpPr txBox="1"/>
          <p:nvPr/>
        </p:nvSpPr>
        <p:spPr>
          <a:xfrm>
            <a:off x="1763688" y="2695786"/>
            <a:ext cx="5616624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电路与电子技术实验</a:t>
            </a:r>
            <a:endParaRPr lang="zh-CN" altLang="en-US" sz="4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64D332F6-8CAE-472C-BED4-41F92924C7D4}"/>
              </a:ext>
            </a:extLst>
          </p:cNvPr>
          <p:cNvSpPr/>
          <p:nvPr/>
        </p:nvSpPr>
        <p:spPr>
          <a:xfrm>
            <a:off x="0" y="2092097"/>
            <a:ext cx="7958137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A882290-F3E8-4D58-BEA2-60134C5C3147}"/>
              </a:ext>
            </a:extLst>
          </p:cNvPr>
          <p:cNvSpPr/>
          <p:nvPr/>
        </p:nvSpPr>
        <p:spPr>
          <a:xfrm rot="10800000">
            <a:off x="1181045" y="3889369"/>
            <a:ext cx="7958137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882136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1560" y="391530"/>
            <a:ext cx="7850832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电路与电子技术实验 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FE856086-625A-4091-9E9E-CE45759C9C73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3BCFE5-1E59-41A1-8636-9AA6EC8FC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1628800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实验一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基尔霍夫定律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11">
            <a:extLst>
              <a:ext uri="{FF2B5EF4-FFF2-40B4-BE49-F238E27FC236}">
                <a16:creationId xmlns:a16="http://schemas.microsoft.com/office/drawing/2014/main" id="{B43BE4D6-1FB1-4661-A626-FAB8BEDA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2220719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实验二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叠加定理和戴维南定理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12">
            <a:extLst>
              <a:ext uri="{FF2B5EF4-FFF2-40B4-BE49-F238E27FC236}">
                <a16:creationId xmlns:a16="http://schemas.microsoft.com/office/drawing/2014/main" id="{557707EB-B318-4F1F-83F0-D6B6B8433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54" y="3404557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 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13">
            <a:extLst>
              <a:ext uri="{FF2B5EF4-FFF2-40B4-BE49-F238E27FC236}">
                <a16:creationId xmlns:a16="http://schemas.microsoft.com/office/drawing/2014/main" id="{D839C882-C782-45FB-9991-791E7FE2A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3996476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实验五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基本放大电路的研究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14">
            <a:extLst>
              <a:ext uri="{FF2B5EF4-FFF2-40B4-BE49-F238E27FC236}">
                <a16:creationId xmlns:a16="http://schemas.microsoft.com/office/drawing/2014/main" id="{5A581705-77E3-437D-8655-383F6B736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4589160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实验六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负反馈放大电路的研究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15">
            <a:extLst>
              <a:ext uri="{FF2B5EF4-FFF2-40B4-BE49-F238E27FC236}">
                <a16:creationId xmlns:a16="http://schemas.microsoft.com/office/drawing/2014/main" id="{0E9FC8FE-2B52-4307-A569-58A78EB23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5180314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实验七   基于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集成运放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的运算电路</a:t>
            </a:r>
          </a:p>
        </p:txBody>
      </p:sp>
      <p:sp>
        <p:nvSpPr>
          <p:cNvPr id="11" name="矩形 11">
            <a:extLst>
              <a:ext uri="{FF2B5EF4-FFF2-40B4-BE49-F238E27FC236}">
                <a16:creationId xmlns:a16="http://schemas.microsoft.com/office/drawing/2014/main" id="{33EB0CB5-24DD-409B-A5B6-1540B160E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5195" y="2812638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5">
            <a:extLst>
              <a:ext uri="{FF2B5EF4-FFF2-40B4-BE49-F238E27FC236}">
                <a16:creationId xmlns:a16="http://schemas.microsoft.com/office/drawing/2014/main" id="{08D6A325-981B-48DC-9F24-119E3E868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5771468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实验八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直流稳压电源的设计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3425528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1560" y="391530"/>
            <a:ext cx="7850832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电路与电子技术实验 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FE856086-625A-4091-9E9E-CE45759C9C73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3BCFE5-1E59-41A1-8636-9AA6EC8FC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1628800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实验一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基尔霍夫定律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11">
            <a:extLst>
              <a:ext uri="{FF2B5EF4-FFF2-40B4-BE49-F238E27FC236}">
                <a16:creationId xmlns:a16="http://schemas.microsoft.com/office/drawing/2014/main" id="{B43BE4D6-1FB1-4661-A626-FAB8BEDA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2220719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实验二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叠加定理和戴维南定理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12">
            <a:extLst>
              <a:ext uri="{FF2B5EF4-FFF2-40B4-BE49-F238E27FC236}">
                <a16:creationId xmlns:a16="http://schemas.microsoft.com/office/drawing/2014/main" id="{557707EB-B318-4F1F-83F0-D6B6B8433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54" y="3404557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 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13">
            <a:extLst>
              <a:ext uri="{FF2B5EF4-FFF2-40B4-BE49-F238E27FC236}">
                <a16:creationId xmlns:a16="http://schemas.microsoft.com/office/drawing/2014/main" id="{D839C882-C782-45FB-9991-791E7FE2A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3996476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实验五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基本放大电路的研究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14">
            <a:extLst>
              <a:ext uri="{FF2B5EF4-FFF2-40B4-BE49-F238E27FC236}">
                <a16:creationId xmlns:a16="http://schemas.microsoft.com/office/drawing/2014/main" id="{5A581705-77E3-437D-8655-383F6B736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4589160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实验六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负反馈放大电路的研究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15">
            <a:extLst>
              <a:ext uri="{FF2B5EF4-FFF2-40B4-BE49-F238E27FC236}">
                <a16:creationId xmlns:a16="http://schemas.microsoft.com/office/drawing/2014/main" id="{0E9FC8FE-2B52-4307-A569-58A78EB23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5180314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实验七   基于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集成运放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的运算电路</a:t>
            </a:r>
          </a:p>
        </p:txBody>
      </p:sp>
      <p:sp>
        <p:nvSpPr>
          <p:cNvPr id="11" name="矩形 11">
            <a:extLst>
              <a:ext uri="{FF2B5EF4-FFF2-40B4-BE49-F238E27FC236}">
                <a16:creationId xmlns:a16="http://schemas.microsoft.com/office/drawing/2014/main" id="{33EB0CB5-24DD-409B-A5B6-1540B160E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5195" y="2812638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5">
            <a:extLst>
              <a:ext uri="{FF2B5EF4-FFF2-40B4-BE49-F238E27FC236}">
                <a16:creationId xmlns:a16="http://schemas.microsoft.com/office/drawing/2014/main" id="{08D6A325-981B-48DC-9F24-119E3E868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5771468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实验八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直流稳压电源的设计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2036037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eaLnBrk="1" hangingPunct="1"/>
              <a:t>4</a:t>
            </a:fld>
            <a:endParaRPr lang="en-US" altLang="zh-CN" sz="1200">
              <a:solidFill>
                <a:srgbClr val="0D0D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object 1">
            <a:extLst>
              <a:ext uri="{FF2B5EF4-FFF2-40B4-BE49-F238E27FC236}">
                <a16:creationId xmlns:a16="http://schemas.microsoft.com/office/drawing/2014/main" id="{84A444A3-E1DC-4545-AB9A-55AED24FBE80}"/>
              </a:ext>
            </a:extLst>
          </p:cNvPr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3B8C70-9AAD-464D-ABAC-6F127F7B7E98}"/>
              </a:ext>
            </a:extLst>
          </p:cNvPr>
          <p:cNvSpPr txBox="1"/>
          <p:nvPr/>
        </p:nvSpPr>
        <p:spPr>
          <a:xfrm>
            <a:off x="634800" y="1448144"/>
            <a:ext cx="7924799" cy="1976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实验目的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熟悉正弦稳态分析中的相量的基本概念；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重点掌握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RC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低通、高通电路、和串并联选频电路的频率特性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难点学习用示波器测量同频率正弦信号的相位差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47745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eaLnBrk="1" hangingPunct="1"/>
              <a:t>5</a:t>
            </a:fld>
            <a:endParaRPr lang="en-US" altLang="zh-CN" sz="1200">
              <a:solidFill>
                <a:srgbClr val="0D0D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132">
            <a:extLst>
              <a:ext uri="{FF2B5EF4-FFF2-40B4-BE49-F238E27FC236}">
                <a16:creationId xmlns:a16="http://schemas.microsoft.com/office/drawing/2014/main" id="{D9FBA926-0142-4AFB-B1A5-066DDC25896F}"/>
              </a:ext>
            </a:extLst>
          </p:cNvPr>
          <p:cNvGrpSpPr>
            <a:grpSpLocks/>
          </p:cNvGrpSpPr>
          <p:nvPr/>
        </p:nvGrpSpPr>
        <p:grpSpPr bwMode="auto">
          <a:xfrm>
            <a:off x="509860" y="3933056"/>
            <a:ext cx="2693988" cy="1368425"/>
            <a:chOff x="3407" y="1207"/>
            <a:chExt cx="1697" cy="862"/>
          </a:xfrm>
        </p:grpSpPr>
        <p:graphicFrame>
          <p:nvGraphicFramePr>
            <p:cNvPr id="9" name="Object 123">
              <a:extLst>
                <a:ext uri="{FF2B5EF4-FFF2-40B4-BE49-F238E27FC236}">
                  <a16:creationId xmlns:a16="http://schemas.microsoft.com/office/drawing/2014/main" id="{39042715-D42B-419A-BB67-3485402151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3753480"/>
                </p:ext>
              </p:extLst>
            </p:nvPr>
          </p:nvGraphicFramePr>
          <p:xfrm>
            <a:off x="4889" y="1569"/>
            <a:ext cx="215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28600" imgH="241200" progId="Equation.DSMT4">
                    <p:embed/>
                  </p:oleObj>
                </mc:Choice>
                <mc:Fallback>
                  <p:oleObj name="Equation" r:id="rId4" imgW="228600" imgH="241200" progId="Equation.DSMT4">
                    <p:embed/>
                    <p:pic>
                      <p:nvPicPr>
                        <p:cNvPr id="117765" name="Object 123">
                          <a:extLst>
                            <a:ext uri="{FF2B5EF4-FFF2-40B4-BE49-F238E27FC236}">
                              <a16:creationId xmlns:a16="http://schemas.microsoft.com/office/drawing/2014/main" id="{4C79E34D-653C-44DE-9DE1-D6004EE8DA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9" y="1569"/>
                          <a:ext cx="215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102">
              <a:extLst>
                <a:ext uri="{FF2B5EF4-FFF2-40B4-BE49-F238E27FC236}">
                  <a16:creationId xmlns:a16="http://schemas.microsoft.com/office/drawing/2014/main" id="{4F3A8480-D182-4F10-9948-A833C8EB45D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889" y="1298"/>
              <a:ext cx="10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103">
              <a:extLst>
                <a:ext uri="{FF2B5EF4-FFF2-40B4-BE49-F238E27FC236}">
                  <a16:creationId xmlns:a16="http://schemas.microsoft.com/office/drawing/2014/main" id="{93B9F8A9-1399-4966-BE90-B3684B62B5D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917" y="1745"/>
              <a:ext cx="10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Rectangle 105">
              <a:extLst>
                <a:ext uri="{FF2B5EF4-FFF2-40B4-BE49-F238E27FC236}">
                  <a16:creationId xmlns:a16="http://schemas.microsoft.com/office/drawing/2014/main" id="{8E46A2CA-AA0E-4758-981F-D576D0EB8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7" y="1207"/>
              <a:ext cx="635" cy="8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06">
              <a:extLst>
                <a:ext uri="{FF2B5EF4-FFF2-40B4-BE49-F238E27FC236}">
                  <a16:creationId xmlns:a16="http://schemas.microsoft.com/office/drawing/2014/main" id="{1CF1B690-D239-4AF8-8E7B-9B9DE18C2E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5" y="1343"/>
              <a:ext cx="401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07">
              <a:extLst>
                <a:ext uri="{FF2B5EF4-FFF2-40B4-BE49-F238E27FC236}">
                  <a16:creationId xmlns:a16="http://schemas.microsoft.com/office/drawing/2014/main" id="{676BCD11-D5F5-4E77-8198-CBF3B03DA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4" y="1933"/>
              <a:ext cx="403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08">
              <a:extLst>
                <a:ext uri="{FF2B5EF4-FFF2-40B4-BE49-F238E27FC236}">
                  <a16:creationId xmlns:a16="http://schemas.microsoft.com/office/drawing/2014/main" id="{9735CA4E-7530-4117-A84F-0989B7F676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2" y="1343"/>
              <a:ext cx="387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09">
              <a:extLst>
                <a:ext uri="{FF2B5EF4-FFF2-40B4-BE49-F238E27FC236}">
                  <a16:creationId xmlns:a16="http://schemas.microsoft.com/office/drawing/2014/main" id="{B7F3A790-6CB7-4192-BED2-143A038DE7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2" y="1933"/>
              <a:ext cx="38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Box 113">
              <a:extLst>
                <a:ext uri="{FF2B5EF4-FFF2-40B4-BE49-F238E27FC236}">
                  <a16:creationId xmlns:a16="http://schemas.microsoft.com/office/drawing/2014/main" id="{5ED12D91-9F65-45D4-8BF5-A37DF04B0C6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407" y="1295"/>
              <a:ext cx="10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Text Box 114">
              <a:extLst>
                <a:ext uri="{FF2B5EF4-FFF2-40B4-BE49-F238E27FC236}">
                  <a16:creationId xmlns:a16="http://schemas.microsoft.com/office/drawing/2014/main" id="{4E8A6752-777C-445A-8E22-681B8321F82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453" y="1745"/>
              <a:ext cx="10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 Box 117">
              <a:extLst>
                <a:ext uri="{FF2B5EF4-FFF2-40B4-BE49-F238E27FC236}">
                  <a16:creationId xmlns:a16="http://schemas.microsoft.com/office/drawing/2014/main" id="{D1797114-BB46-4477-9DF0-76D7083BDB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9" y="1299"/>
              <a:ext cx="291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/>
            <a:p>
              <a:r>
                <a:rPr lang="zh-CN" altLang="en-GB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双口网络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Oval 118">
              <a:extLst>
                <a:ext uri="{FF2B5EF4-FFF2-40B4-BE49-F238E27FC236}">
                  <a16:creationId xmlns:a16="http://schemas.microsoft.com/office/drawing/2014/main" id="{29F25413-E05D-43F6-8A66-2A329CE6C24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15" y="1326"/>
              <a:ext cx="45" cy="45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Oval 119">
              <a:extLst>
                <a:ext uri="{FF2B5EF4-FFF2-40B4-BE49-F238E27FC236}">
                  <a16:creationId xmlns:a16="http://schemas.microsoft.com/office/drawing/2014/main" id="{A9BEB270-0936-4560-8FF1-728E8821BD3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97" y="1906"/>
              <a:ext cx="45" cy="45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Oval 120">
              <a:extLst>
                <a:ext uri="{FF2B5EF4-FFF2-40B4-BE49-F238E27FC236}">
                  <a16:creationId xmlns:a16="http://schemas.microsoft.com/office/drawing/2014/main" id="{75EA46EE-C36C-464F-B8FB-B038E302FC5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80" y="1326"/>
              <a:ext cx="45" cy="45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Oval 121">
              <a:extLst>
                <a:ext uri="{FF2B5EF4-FFF2-40B4-BE49-F238E27FC236}">
                  <a16:creationId xmlns:a16="http://schemas.microsoft.com/office/drawing/2014/main" id="{D4E9A32A-DFCA-4421-ACBE-6F542565AB4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70" y="1906"/>
              <a:ext cx="45" cy="45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27" name="Object 129">
              <a:extLst>
                <a:ext uri="{FF2B5EF4-FFF2-40B4-BE49-F238E27FC236}">
                  <a16:creationId xmlns:a16="http://schemas.microsoft.com/office/drawing/2014/main" id="{FDD9E4FA-C926-4E1E-BD49-99ADDE9768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2143295"/>
                </p:ext>
              </p:extLst>
            </p:nvPr>
          </p:nvGraphicFramePr>
          <p:xfrm>
            <a:off x="3425" y="1525"/>
            <a:ext cx="181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90417" imgH="241195" progId="Equation.DSMT4">
                    <p:embed/>
                  </p:oleObj>
                </mc:Choice>
                <mc:Fallback>
                  <p:oleObj r:id="rId6" imgW="190417" imgH="241195" progId="Equation.DSMT4">
                    <p:embed/>
                    <p:pic>
                      <p:nvPicPr>
                        <p:cNvPr id="117781" name="Object 129">
                          <a:extLst>
                            <a:ext uri="{FF2B5EF4-FFF2-40B4-BE49-F238E27FC236}">
                              <a16:creationId xmlns:a16="http://schemas.microsoft.com/office/drawing/2014/main" id="{41E24EDD-D11E-4FD7-B15A-46BAE8EC3D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5" y="1525"/>
                          <a:ext cx="181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4E9C0D8A-E71F-4087-8720-10B604B5AFFA}"/>
              </a:ext>
            </a:extLst>
          </p:cNvPr>
          <p:cNvSpPr txBox="1"/>
          <p:nvPr/>
        </p:nvSpPr>
        <p:spPr>
          <a:xfrm>
            <a:off x="683568" y="1491600"/>
            <a:ext cx="8075290" cy="1675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实验原理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2000" b="1" dirty="0">
                <a:latin typeface="+mn-ea"/>
                <a:cs typeface="Times New Roman" panose="02020603050405020304" pitchFamily="18" charset="0"/>
              </a:rPr>
              <a:t>频率特性的定义：</a:t>
            </a:r>
            <a:r>
              <a:rPr lang="zh-CN" altLang="en-US" b="1" dirty="0">
                <a:latin typeface="+mn-ea"/>
              </a:rPr>
              <a:t>在交流电路中，当电源频率发生改变时，容抗和感抗的值也随之改变，容抗和感抗的变化会引起电路中各部分电压与电流的变化。电压和电流响应与频率的关系称为电路的频率特性或者频率响应。</a:t>
            </a:r>
            <a:endParaRPr lang="zh-CN" altLang="en-US" sz="2000" b="1" dirty="0">
              <a:latin typeface="+mn-ea"/>
            </a:endParaRPr>
          </a:p>
        </p:txBody>
      </p:sp>
      <p:pic>
        <p:nvPicPr>
          <p:cNvPr id="6145" name="图片 6144">
            <a:extLst>
              <a:ext uri="{FF2B5EF4-FFF2-40B4-BE49-F238E27FC236}">
                <a16:creationId xmlns:a16="http://schemas.microsoft.com/office/drawing/2014/main" id="{79DBD157-3650-414A-B2A6-7D0DA6D030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5896" y="3533398"/>
            <a:ext cx="4940116" cy="2310615"/>
          </a:xfrm>
          <a:prstGeom prst="rect">
            <a:avLst/>
          </a:prstGeom>
        </p:spPr>
      </p:pic>
      <p:sp>
        <p:nvSpPr>
          <p:cNvPr id="35" name="object 1">
            <a:extLst>
              <a:ext uri="{FF2B5EF4-FFF2-40B4-BE49-F238E27FC236}">
                <a16:creationId xmlns:a16="http://schemas.microsoft.com/office/drawing/2014/main" id="{C0063EB0-6F6C-471C-BC37-6027E67577EF}"/>
              </a:ext>
            </a:extLst>
          </p:cNvPr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667005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6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object 1">
            <a:extLst>
              <a:ext uri="{FF2B5EF4-FFF2-40B4-BE49-F238E27FC236}">
                <a16:creationId xmlns:a16="http://schemas.microsoft.com/office/drawing/2014/main" id="{D18D6457-9675-44C6-A374-C95E3F6692DC}"/>
              </a:ext>
            </a:extLst>
          </p:cNvPr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FEE6FF1-3903-4F41-9B4B-5911B268C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7485" y="2237247"/>
            <a:ext cx="2769027" cy="171942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4BB53ED-C50C-4C08-836F-507409A0B3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3015" y="4481341"/>
            <a:ext cx="5377969" cy="1716498"/>
          </a:xfrm>
          <a:prstGeom prst="rect">
            <a:avLst/>
          </a:prstGeom>
        </p:spPr>
      </p:pic>
      <p:sp>
        <p:nvSpPr>
          <p:cNvPr id="47" name="Rectangle 2">
            <a:extLst>
              <a:ext uri="{FF2B5EF4-FFF2-40B4-BE49-F238E27FC236}">
                <a16:creationId xmlns:a16="http://schemas.microsoft.com/office/drawing/2014/main" id="{AC3E6D26-3360-4A02-9D58-FFD9C6E2BE09}"/>
              </a:ext>
            </a:extLst>
          </p:cNvPr>
          <p:cNvSpPr txBox="1">
            <a:spLocks noChangeArrowheads="1"/>
          </p:cNvSpPr>
          <p:nvPr/>
        </p:nvSpPr>
        <p:spPr>
          <a:xfrm>
            <a:off x="533186" y="1543921"/>
            <a:ext cx="4001678" cy="58086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一、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RC 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低通滤波电路</a:t>
            </a:r>
          </a:p>
        </p:txBody>
      </p:sp>
    </p:spTree>
    <p:extLst>
      <p:ext uri="{BB962C8B-B14F-4D97-AF65-F5344CB8AC3E}">
        <p14:creationId xmlns:p14="http://schemas.microsoft.com/office/powerpoint/2010/main" val="420527722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7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bject 1">
            <a:extLst>
              <a:ext uri="{FF2B5EF4-FFF2-40B4-BE49-F238E27FC236}">
                <a16:creationId xmlns:a16="http://schemas.microsoft.com/office/drawing/2014/main" id="{7B01A761-B0A2-453A-8494-E62666D05AC0}"/>
              </a:ext>
            </a:extLst>
          </p:cNvPr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F718FC6-3A9E-412B-A6E1-57F4F0817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334" y="2237247"/>
            <a:ext cx="7466667" cy="3819048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D67CB896-731B-4035-BEB4-8028458BCD37}"/>
              </a:ext>
            </a:extLst>
          </p:cNvPr>
          <p:cNvSpPr txBox="1">
            <a:spLocks noChangeArrowheads="1"/>
          </p:cNvSpPr>
          <p:nvPr/>
        </p:nvSpPr>
        <p:spPr>
          <a:xfrm>
            <a:off x="533186" y="1543921"/>
            <a:ext cx="4001678" cy="58086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一、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RC 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低通滤波电路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kern="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64">
            <a:extLst>
              <a:ext uri="{FF2B5EF4-FFF2-40B4-BE49-F238E27FC236}">
                <a16:creationId xmlns:a16="http://schemas.microsoft.com/office/drawing/2014/main" id="{EA403645-DFE3-4996-8D7B-0CCDEAA05B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7985622"/>
              </p:ext>
            </p:extLst>
          </p:nvPr>
        </p:nvGraphicFramePr>
        <p:xfrm>
          <a:off x="8100392" y="5770463"/>
          <a:ext cx="274638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52334" imgH="139639" progId="Equation.DSMT4">
                  <p:embed/>
                </p:oleObj>
              </mc:Choice>
              <mc:Fallback>
                <p:oleObj r:id="rId5" imgW="152334" imgH="139639" progId="Equation.DSMT4">
                  <p:embed/>
                  <p:pic>
                    <p:nvPicPr>
                      <p:cNvPr id="55360" name="Object 64">
                        <a:extLst>
                          <a:ext uri="{FF2B5EF4-FFF2-40B4-BE49-F238E27FC236}">
                            <a16:creationId xmlns:a16="http://schemas.microsoft.com/office/drawing/2014/main" id="{4C7F9FA2-9A81-4350-B722-9B1BCB5BA8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0392" y="5770463"/>
                        <a:ext cx="274638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4">
            <a:extLst>
              <a:ext uri="{FF2B5EF4-FFF2-40B4-BE49-F238E27FC236}">
                <a16:creationId xmlns:a16="http://schemas.microsoft.com/office/drawing/2014/main" id="{62656EE1-FC73-4CF3-B614-D54EE36463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70763"/>
              </p:ext>
            </p:extLst>
          </p:nvPr>
        </p:nvGraphicFramePr>
        <p:xfrm>
          <a:off x="6588224" y="5733256"/>
          <a:ext cx="3429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0440" imgH="228600" progId="Equation.DSMT4">
                  <p:embed/>
                </p:oleObj>
              </mc:Choice>
              <mc:Fallback>
                <p:oleObj name="Equation" r:id="rId7" imgW="190440" imgH="228600" progId="Equation.DSMT4">
                  <p:embed/>
                  <p:pic>
                    <p:nvPicPr>
                      <p:cNvPr id="55350" name="Object 54">
                        <a:extLst>
                          <a:ext uri="{FF2B5EF4-FFF2-40B4-BE49-F238E27FC236}">
                            <a16:creationId xmlns:a16="http://schemas.microsoft.com/office/drawing/2014/main" id="{7666491D-3DDE-433D-AD72-7117201FF3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224" y="5733256"/>
                        <a:ext cx="342900" cy="41116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509123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5303A91-2801-430A-8BFE-3A17BAC96FD3}"/>
              </a:ext>
            </a:extLst>
          </p:cNvPr>
          <p:cNvSpPr txBox="1">
            <a:spLocks noChangeArrowheads="1"/>
          </p:cNvSpPr>
          <p:nvPr/>
        </p:nvSpPr>
        <p:spPr>
          <a:xfrm>
            <a:off x="533186" y="1543921"/>
            <a:ext cx="4001678" cy="58086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一、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RC 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低通滤波电路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续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endParaRPr lang="zh-CN" altLang="en-US" sz="2400" b="1" kern="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83D3F32-C880-4087-8533-E08A8D49F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989" y="2298506"/>
            <a:ext cx="7284760" cy="3882993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56320890-5D4D-43C5-8CF7-DABD40498F79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8CE0374-4611-4C50-84E2-B72E5CCC8C2E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F409503A-9B7E-4FE9-A0D3-35F625A57624}"/>
              </a:ext>
            </a:extLst>
          </p:cNvPr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E51DB1EC-8055-408A-9B2D-110739D37A4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8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graphicFrame>
        <p:nvGraphicFramePr>
          <p:cNvPr id="8" name="Object 64">
            <a:extLst>
              <a:ext uri="{FF2B5EF4-FFF2-40B4-BE49-F238E27FC236}">
                <a16:creationId xmlns:a16="http://schemas.microsoft.com/office/drawing/2014/main" id="{969EA9EB-16F4-42B3-ABE1-C3CE9E7B1C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417964"/>
              </p:ext>
            </p:extLst>
          </p:nvPr>
        </p:nvGraphicFramePr>
        <p:xfrm>
          <a:off x="8316416" y="4365104"/>
          <a:ext cx="274638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52334" imgH="139639" progId="Equation.DSMT4">
                  <p:embed/>
                </p:oleObj>
              </mc:Choice>
              <mc:Fallback>
                <p:oleObj r:id="rId5" imgW="152334" imgH="139639" progId="Equation.DSMT4">
                  <p:embed/>
                  <p:pic>
                    <p:nvPicPr>
                      <p:cNvPr id="55360" name="Object 64">
                        <a:extLst>
                          <a:ext uri="{FF2B5EF4-FFF2-40B4-BE49-F238E27FC236}">
                            <a16:creationId xmlns:a16="http://schemas.microsoft.com/office/drawing/2014/main" id="{4C7F9FA2-9A81-4350-B722-9B1BCB5BA8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6416" y="4365104"/>
                        <a:ext cx="274638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4">
            <a:extLst>
              <a:ext uri="{FF2B5EF4-FFF2-40B4-BE49-F238E27FC236}">
                <a16:creationId xmlns:a16="http://schemas.microsoft.com/office/drawing/2014/main" id="{0621B52D-72E4-4C19-94CE-A8453FB867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5738718"/>
              </p:ext>
            </p:extLst>
          </p:nvPr>
        </p:nvGraphicFramePr>
        <p:xfrm>
          <a:off x="6893396" y="4097957"/>
          <a:ext cx="3429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0440" imgH="228600" progId="Equation.DSMT4">
                  <p:embed/>
                </p:oleObj>
              </mc:Choice>
              <mc:Fallback>
                <p:oleObj name="Equation" r:id="rId7" imgW="190440" imgH="228600" progId="Equation.DSMT4">
                  <p:embed/>
                  <p:pic>
                    <p:nvPicPr>
                      <p:cNvPr id="55350" name="Object 54">
                        <a:extLst>
                          <a:ext uri="{FF2B5EF4-FFF2-40B4-BE49-F238E27FC236}">
                            <a16:creationId xmlns:a16="http://schemas.microsoft.com/office/drawing/2014/main" id="{7666491D-3DDE-433D-AD72-7117201FF3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3396" y="4097957"/>
                        <a:ext cx="342900" cy="41116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085976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5303A91-2801-430A-8BFE-3A17BAC96FD3}"/>
              </a:ext>
            </a:extLst>
          </p:cNvPr>
          <p:cNvSpPr txBox="1">
            <a:spLocks noChangeArrowheads="1"/>
          </p:cNvSpPr>
          <p:nvPr/>
        </p:nvSpPr>
        <p:spPr>
          <a:xfrm>
            <a:off x="533186" y="1543921"/>
            <a:ext cx="4001678" cy="58086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一、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RC 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低通滤波电路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续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endParaRPr lang="zh-CN" altLang="en-US" sz="2400" b="1" kern="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6320890-5D4D-43C5-8CF7-DABD40498F79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8CE0374-4611-4C50-84E2-B72E5CCC8C2E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F409503A-9B7E-4FE9-A0D3-35F625A57624}"/>
              </a:ext>
            </a:extLst>
          </p:cNvPr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E51DB1EC-8055-408A-9B2D-110739D37A4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9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graphicFrame>
        <p:nvGraphicFramePr>
          <p:cNvPr id="10" name="Object 54">
            <a:extLst>
              <a:ext uri="{FF2B5EF4-FFF2-40B4-BE49-F238E27FC236}">
                <a16:creationId xmlns:a16="http://schemas.microsoft.com/office/drawing/2014/main" id="{8AFCE5C6-062B-4EF0-BA6E-264AEC4719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890225"/>
              </p:ext>
            </p:extLst>
          </p:nvPr>
        </p:nvGraphicFramePr>
        <p:xfrm>
          <a:off x="2450653" y="6114181"/>
          <a:ext cx="3429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0440" imgH="228600" progId="Equation.DSMT4">
                  <p:embed/>
                </p:oleObj>
              </mc:Choice>
              <mc:Fallback>
                <p:oleObj name="Equation" r:id="rId5" imgW="190440" imgH="228600" progId="Equation.DSMT4">
                  <p:embed/>
                  <p:pic>
                    <p:nvPicPr>
                      <p:cNvPr id="55350" name="Object 54">
                        <a:extLst>
                          <a:ext uri="{FF2B5EF4-FFF2-40B4-BE49-F238E27FC236}">
                            <a16:creationId xmlns:a16="http://schemas.microsoft.com/office/drawing/2014/main" id="{7666491D-3DDE-433D-AD72-7117201FF3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0653" y="6114181"/>
                        <a:ext cx="342900" cy="41116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39">
            <a:extLst>
              <a:ext uri="{FF2B5EF4-FFF2-40B4-BE49-F238E27FC236}">
                <a16:creationId xmlns:a16="http://schemas.microsoft.com/office/drawing/2014/main" id="{65DBABE2-A360-4C13-B6DF-2459CEA51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3528" y="3998044"/>
            <a:ext cx="172878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41">
            <a:extLst>
              <a:ext uri="{FF2B5EF4-FFF2-40B4-BE49-F238E27FC236}">
                <a16:creationId xmlns:a16="http://schemas.microsoft.com/office/drawing/2014/main" id="{5A9A5FFF-348C-4CC7-AC80-F2B446A9EA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25103" y="6133231"/>
            <a:ext cx="32416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42">
            <a:extLst>
              <a:ext uri="{FF2B5EF4-FFF2-40B4-BE49-F238E27FC236}">
                <a16:creationId xmlns:a16="http://schemas.microsoft.com/office/drawing/2014/main" id="{43DC7BF1-5A04-40DD-8AEC-AB1DAA50F42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47341" y="3899619"/>
            <a:ext cx="22225" cy="24495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44">
            <a:extLst>
              <a:ext uri="{FF2B5EF4-FFF2-40B4-BE49-F238E27FC236}">
                <a16:creationId xmlns:a16="http://schemas.microsoft.com/office/drawing/2014/main" id="{DC0C8F36-A166-4C85-928A-0E06A3851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9566" y="4620344"/>
            <a:ext cx="2663825" cy="1441450"/>
          </a:xfrm>
          <a:custGeom>
            <a:avLst/>
            <a:gdLst>
              <a:gd name="T0" fmla="*/ 0 w 1633"/>
              <a:gd name="T1" fmla="*/ 15 h 1194"/>
              <a:gd name="T2" fmla="*/ 589 w 1633"/>
              <a:gd name="T3" fmla="*/ 151 h 1194"/>
              <a:gd name="T4" fmla="*/ 998 w 1633"/>
              <a:gd name="T5" fmla="*/ 922 h 1194"/>
              <a:gd name="T6" fmla="*/ 1633 w 1633"/>
              <a:gd name="T7" fmla="*/ 1194 h 1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3" h="1194">
                <a:moveTo>
                  <a:pt x="0" y="15"/>
                </a:moveTo>
                <a:cubicBezTo>
                  <a:pt x="211" y="7"/>
                  <a:pt x="423" y="0"/>
                  <a:pt x="589" y="151"/>
                </a:cubicBezTo>
                <a:cubicBezTo>
                  <a:pt x="755" y="302"/>
                  <a:pt x="824" y="748"/>
                  <a:pt x="998" y="922"/>
                </a:cubicBezTo>
                <a:cubicBezTo>
                  <a:pt x="1172" y="1096"/>
                  <a:pt x="1535" y="1156"/>
                  <a:pt x="1633" y="1194"/>
                </a:cubicBezTo>
              </a:path>
            </a:pathLst>
          </a:custGeom>
          <a:noFill/>
          <a:ln w="317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45">
            <a:extLst>
              <a:ext uri="{FF2B5EF4-FFF2-40B4-BE49-F238E27FC236}">
                <a16:creationId xmlns:a16="http://schemas.microsoft.com/office/drawing/2014/main" id="{02B3EA98-867C-4362-8E77-83B952BD4F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0041" y="5125169"/>
            <a:ext cx="122396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46">
            <a:extLst>
              <a:ext uri="{FF2B5EF4-FFF2-40B4-BE49-F238E27FC236}">
                <a16:creationId xmlns:a16="http://schemas.microsoft.com/office/drawing/2014/main" id="{456A2ABA-BCCA-41F0-9159-B33B99912A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0828" y="5125169"/>
            <a:ext cx="0" cy="1008062"/>
          </a:xfrm>
          <a:prstGeom prst="line">
            <a:avLst/>
          </a:prstGeom>
          <a:noFill/>
          <a:ln w="222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Box 47">
            <a:extLst>
              <a:ext uri="{FF2B5EF4-FFF2-40B4-BE49-F238E27FC236}">
                <a16:creationId xmlns:a16="http://schemas.microsoft.com/office/drawing/2014/main" id="{72086E90-3D28-43F1-B774-7E0C8F194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78" y="4972769"/>
            <a:ext cx="576263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en-US" altLang="zh-CN" sz="1200" b="1">
                <a:latin typeface="Times New Roman" panose="02020603050405020304" pitchFamily="18" charset="0"/>
              </a:rPr>
              <a:t>0.707</a:t>
            </a:r>
            <a:endParaRPr lang="en-US" altLang="zh-CN" sz="1200" b="1"/>
          </a:p>
        </p:txBody>
      </p:sp>
      <p:sp>
        <p:nvSpPr>
          <p:cNvPr id="18" name="Oval 48">
            <a:extLst>
              <a:ext uri="{FF2B5EF4-FFF2-40B4-BE49-F238E27FC236}">
                <a16:creationId xmlns:a16="http://schemas.microsoft.com/office/drawing/2014/main" id="{7A097B3B-8A18-44F7-9396-EFA2E8C6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5903" y="5096594"/>
            <a:ext cx="71438" cy="71437"/>
          </a:xfrm>
          <a:prstGeom prst="ellipse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AutoShape 50">
            <a:extLst>
              <a:ext uri="{FF2B5EF4-FFF2-40B4-BE49-F238E27FC236}">
                <a16:creationId xmlns:a16="http://schemas.microsoft.com/office/drawing/2014/main" id="{64324C3B-4E90-4901-BDBE-55C2356E7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128" y="4980706"/>
            <a:ext cx="863600" cy="647700"/>
          </a:xfrm>
          <a:prstGeom prst="wedgeRoundRectCallout">
            <a:avLst>
              <a:gd name="adj1" fmla="val -148162"/>
              <a:gd name="adj2" fmla="val 120097"/>
              <a:gd name="adj3" fmla="val 16667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/>
            <a:r>
              <a:rPr lang="zh-CN" altLang="en-US" b="1" dirty="0">
                <a:solidFill>
                  <a:srgbClr val="000000"/>
                </a:solidFill>
              </a:rPr>
              <a:t>称为截止频率</a:t>
            </a:r>
          </a:p>
        </p:txBody>
      </p:sp>
      <p:sp>
        <p:nvSpPr>
          <p:cNvPr id="20" name="Rectangle 51">
            <a:extLst>
              <a:ext uri="{FF2B5EF4-FFF2-40B4-BE49-F238E27FC236}">
                <a16:creationId xmlns:a16="http://schemas.microsoft.com/office/drawing/2014/main" id="{93D67235-1856-4885-879F-AAA2E40D9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7991" y="4117106"/>
            <a:ext cx="720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/>
          <a:p>
            <a:r>
              <a:rPr lang="zh-CN" altLang="en-US" b="1"/>
              <a:t>带宽：</a:t>
            </a:r>
          </a:p>
        </p:txBody>
      </p:sp>
      <p:sp>
        <p:nvSpPr>
          <p:cNvPr id="21" name="Text Box 53">
            <a:extLst>
              <a:ext uri="{FF2B5EF4-FFF2-40B4-BE49-F238E27FC236}">
                <a16:creationId xmlns:a16="http://schemas.microsoft.com/office/drawing/2014/main" id="{D9A81116-97EA-4786-904C-BF5D47B21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5403" y="4477469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en-US" altLang="zh-CN" sz="1600">
                <a:latin typeface="Times New Roman" panose="02020603050405020304" pitchFamily="18" charset="0"/>
              </a:rPr>
              <a:t>1</a:t>
            </a:r>
            <a:endParaRPr lang="en-US" altLang="zh-CN" sz="1600"/>
          </a:p>
        </p:txBody>
      </p:sp>
      <p:graphicFrame>
        <p:nvGraphicFramePr>
          <p:cNvPr id="22" name="Object 60">
            <a:extLst>
              <a:ext uri="{FF2B5EF4-FFF2-40B4-BE49-F238E27FC236}">
                <a16:creationId xmlns:a16="http://schemas.microsoft.com/office/drawing/2014/main" id="{2BEF880E-6ED4-4200-BC49-F43FFEBCFC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021038"/>
              </p:ext>
            </p:extLst>
          </p:nvPr>
        </p:nvGraphicFramePr>
        <p:xfrm>
          <a:off x="3409503" y="4117106"/>
          <a:ext cx="7588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19040" imgH="228600" progId="Equation.DSMT4">
                  <p:embed/>
                </p:oleObj>
              </mc:Choice>
              <mc:Fallback>
                <p:oleObj name="Equation" r:id="rId7" imgW="419040" imgH="228600" progId="Equation.DSMT4">
                  <p:embed/>
                  <p:pic>
                    <p:nvPicPr>
                      <p:cNvPr id="120878" name="Object 60">
                        <a:extLst>
                          <a:ext uri="{FF2B5EF4-FFF2-40B4-BE49-F238E27FC236}">
                            <a16:creationId xmlns:a16="http://schemas.microsoft.com/office/drawing/2014/main" id="{AA8CC0FB-A654-4992-A22F-D2B2DCDCCA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503" y="4117106"/>
                        <a:ext cx="758825" cy="41433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3">
            <a:extLst>
              <a:ext uri="{FF2B5EF4-FFF2-40B4-BE49-F238E27FC236}">
                <a16:creationId xmlns:a16="http://schemas.microsoft.com/office/drawing/2014/main" id="{9E1D3E8B-41F6-4445-845F-67B9477BE2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517713"/>
              </p:ext>
            </p:extLst>
          </p:nvPr>
        </p:nvGraphicFramePr>
        <p:xfrm>
          <a:off x="448816" y="3885331"/>
          <a:ext cx="784225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520474" imgH="241195" progId="Equation.DSMT4">
                  <p:embed/>
                </p:oleObj>
              </mc:Choice>
              <mc:Fallback>
                <p:oleObj r:id="rId9" imgW="520474" imgH="241195" progId="Equation.DSMT4">
                  <p:embed/>
                  <p:pic>
                    <p:nvPicPr>
                      <p:cNvPr id="55359" name="Object 63">
                        <a:extLst>
                          <a:ext uri="{FF2B5EF4-FFF2-40B4-BE49-F238E27FC236}">
                            <a16:creationId xmlns:a16="http://schemas.microsoft.com/office/drawing/2014/main" id="{739B8A20-4796-44DA-8C98-D9DBE12B82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816" y="3885331"/>
                        <a:ext cx="784225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4">
            <a:extLst>
              <a:ext uri="{FF2B5EF4-FFF2-40B4-BE49-F238E27FC236}">
                <a16:creationId xmlns:a16="http://schemas.microsoft.com/office/drawing/2014/main" id="{7D25DCAB-8C24-4284-87CD-90BC288540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5813374"/>
              </p:ext>
            </p:extLst>
          </p:nvPr>
        </p:nvGraphicFramePr>
        <p:xfrm>
          <a:off x="4441378" y="6184031"/>
          <a:ext cx="274638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52334" imgH="139639" progId="Equation.DSMT4">
                  <p:embed/>
                </p:oleObj>
              </mc:Choice>
              <mc:Fallback>
                <p:oleObj r:id="rId11" imgW="152334" imgH="139639" progId="Equation.DSMT4">
                  <p:embed/>
                  <p:pic>
                    <p:nvPicPr>
                      <p:cNvPr id="55360" name="Object 64">
                        <a:extLst>
                          <a:ext uri="{FF2B5EF4-FFF2-40B4-BE49-F238E27FC236}">
                            <a16:creationId xmlns:a16="http://schemas.microsoft.com/office/drawing/2014/main" id="{4C7F9FA2-9A81-4350-B722-9B1BCB5BA8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1378" y="6184031"/>
                        <a:ext cx="274638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67">
            <a:extLst>
              <a:ext uri="{FF2B5EF4-FFF2-40B4-BE49-F238E27FC236}">
                <a16:creationId xmlns:a16="http://schemas.microsoft.com/office/drawing/2014/main" id="{5427789C-A789-4DCB-8EAB-493E929F77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95920"/>
              </p:ext>
            </p:extLst>
          </p:nvPr>
        </p:nvGraphicFramePr>
        <p:xfrm>
          <a:off x="6701159" y="4410769"/>
          <a:ext cx="38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0440" imgH="228600" progId="Equation.DSMT4">
                  <p:embed/>
                </p:oleObj>
              </mc:Choice>
              <mc:Fallback>
                <p:oleObj name="Equation" r:id="rId13" imgW="190440" imgH="228600" progId="Equation.DSMT4">
                  <p:embed/>
                  <p:pic>
                    <p:nvPicPr>
                      <p:cNvPr id="25" name="Object 67">
                        <a:extLst>
                          <a:ext uri="{FF2B5EF4-FFF2-40B4-BE49-F238E27FC236}">
                            <a16:creationId xmlns:a16="http://schemas.microsoft.com/office/drawing/2014/main" id="{1C070311-5CA5-4AFB-A6FA-E6B391EFBB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1159" y="4410769"/>
                        <a:ext cx="381000" cy="45720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Line 55">
            <a:extLst>
              <a:ext uri="{FF2B5EF4-FFF2-40B4-BE49-F238E27FC236}">
                <a16:creationId xmlns:a16="http://schemas.microsoft.com/office/drawing/2014/main" id="{C80C8DA9-C55E-4EC2-AFFB-CA7763D188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75584" y="4915594"/>
            <a:ext cx="32416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Line 56">
            <a:extLst>
              <a:ext uri="{FF2B5EF4-FFF2-40B4-BE49-F238E27FC236}">
                <a16:creationId xmlns:a16="http://schemas.microsoft.com/office/drawing/2014/main" id="{0E0A3DB1-FB15-4A3E-9583-99C2F7972D5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42284" y="3977382"/>
            <a:ext cx="22225" cy="24495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58">
            <a:extLst>
              <a:ext uri="{FF2B5EF4-FFF2-40B4-BE49-F238E27FC236}">
                <a16:creationId xmlns:a16="http://schemas.microsoft.com/office/drawing/2014/main" id="{5C9202D5-187D-43FF-A41F-DE9260509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4984" y="4918769"/>
            <a:ext cx="2663825" cy="720725"/>
          </a:xfrm>
          <a:custGeom>
            <a:avLst/>
            <a:gdLst>
              <a:gd name="T0" fmla="*/ 0 w 1633"/>
              <a:gd name="T1" fmla="*/ 15 h 1194"/>
              <a:gd name="T2" fmla="*/ 589 w 1633"/>
              <a:gd name="T3" fmla="*/ 151 h 1194"/>
              <a:gd name="T4" fmla="*/ 998 w 1633"/>
              <a:gd name="T5" fmla="*/ 922 h 1194"/>
              <a:gd name="T6" fmla="*/ 1633 w 1633"/>
              <a:gd name="T7" fmla="*/ 1194 h 1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3" h="1194">
                <a:moveTo>
                  <a:pt x="0" y="15"/>
                </a:moveTo>
                <a:cubicBezTo>
                  <a:pt x="211" y="7"/>
                  <a:pt x="423" y="0"/>
                  <a:pt x="589" y="151"/>
                </a:cubicBezTo>
                <a:cubicBezTo>
                  <a:pt x="755" y="302"/>
                  <a:pt x="824" y="748"/>
                  <a:pt x="998" y="922"/>
                </a:cubicBezTo>
                <a:cubicBezTo>
                  <a:pt x="1172" y="1096"/>
                  <a:pt x="1535" y="1156"/>
                  <a:pt x="1633" y="1194"/>
                </a:cubicBezTo>
              </a:path>
            </a:pathLst>
          </a:custGeom>
          <a:noFill/>
          <a:ln w="317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59">
            <a:extLst>
              <a:ext uri="{FF2B5EF4-FFF2-40B4-BE49-F238E27FC236}">
                <a16:creationId xmlns:a16="http://schemas.microsoft.com/office/drawing/2014/main" id="{77FC73DA-C656-4A4F-8C80-52E20A771E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4509" y="5647432"/>
            <a:ext cx="2951163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Line 60">
            <a:extLst>
              <a:ext uri="{FF2B5EF4-FFF2-40B4-BE49-F238E27FC236}">
                <a16:creationId xmlns:a16="http://schemas.microsoft.com/office/drawing/2014/main" id="{EA5B0F36-BDEE-4ED8-9390-7E88D7DF440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2284" y="5287069"/>
            <a:ext cx="133191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Line 61">
            <a:extLst>
              <a:ext uri="{FF2B5EF4-FFF2-40B4-BE49-F238E27FC236}">
                <a16:creationId xmlns:a16="http://schemas.microsoft.com/office/drawing/2014/main" id="{1567FB56-DF1C-4C3F-A5A0-4664ED1AB0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8484" y="4915594"/>
            <a:ext cx="0" cy="358775"/>
          </a:xfrm>
          <a:prstGeom prst="line">
            <a:avLst/>
          </a:prstGeom>
          <a:noFill/>
          <a:ln w="222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Oval 62">
            <a:extLst>
              <a:ext uri="{FF2B5EF4-FFF2-40B4-BE49-F238E27FC236}">
                <a16:creationId xmlns:a16="http://schemas.microsoft.com/office/drawing/2014/main" id="{D2151E37-B667-4EBE-B97A-FAC05706B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5147" y="5241032"/>
            <a:ext cx="71437" cy="71437"/>
          </a:xfrm>
          <a:prstGeom prst="ellipse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5" name="Object 68">
            <a:extLst>
              <a:ext uri="{FF2B5EF4-FFF2-40B4-BE49-F238E27FC236}">
                <a16:creationId xmlns:a16="http://schemas.microsoft.com/office/drawing/2014/main" id="{4ACE6F8A-04FB-4E20-9B44-E3E3A2F01F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86863"/>
              </p:ext>
            </p:extLst>
          </p:nvPr>
        </p:nvGraphicFramePr>
        <p:xfrm>
          <a:off x="8515672" y="4793357"/>
          <a:ext cx="304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52334" imgH="139639" progId="Equation.DSMT4">
                  <p:embed/>
                </p:oleObj>
              </mc:Choice>
              <mc:Fallback>
                <p:oleObj r:id="rId15" imgW="152334" imgH="139639" progId="Equation.DSMT4">
                  <p:embed/>
                  <p:pic>
                    <p:nvPicPr>
                      <p:cNvPr id="33" name="Object 68">
                        <a:extLst>
                          <a:ext uri="{FF2B5EF4-FFF2-40B4-BE49-F238E27FC236}">
                            <a16:creationId xmlns:a16="http://schemas.microsoft.com/office/drawing/2014/main" id="{021C6FBA-3B48-4F56-8899-48BC9B458A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5672" y="4793357"/>
                        <a:ext cx="304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69">
            <a:extLst>
              <a:ext uri="{FF2B5EF4-FFF2-40B4-BE49-F238E27FC236}">
                <a16:creationId xmlns:a16="http://schemas.microsoft.com/office/drawing/2014/main" id="{2A12FBFB-8666-4D60-8E3A-170B68DE23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543581"/>
              </p:ext>
            </p:extLst>
          </p:nvPr>
        </p:nvGraphicFramePr>
        <p:xfrm>
          <a:off x="5645472" y="3717032"/>
          <a:ext cx="711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355292" imgH="203024" progId="Equation.DSMT4">
                  <p:embed/>
                </p:oleObj>
              </mc:Choice>
              <mc:Fallback>
                <p:oleObj r:id="rId16" imgW="355292" imgH="203024" progId="Equation.DSMT4">
                  <p:embed/>
                  <p:pic>
                    <p:nvPicPr>
                      <p:cNvPr id="34" name="Object 69">
                        <a:extLst>
                          <a:ext uri="{FF2B5EF4-FFF2-40B4-BE49-F238E27FC236}">
                            <a16:creationId xmlns:a16="http://schemas.microsoft.com/office/drawing/2014/main" id="{FDB67EE3-3FBE-491E-80B8-95493FD903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5472" y="3717032"/>
                        <a:ext cx="711200" cy="40640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Rectangle 72">
            <a:extLst>
              <a:ext uri="{FF2B5EF4-FFF2-40B4-BE49-F238E27FC236}">
                <a16:creationId xmlns:a16="http://schemas.microsoft.com/office/drawing/2014/main" id="{5B5C9908-F99A-4A7D-AB94-2FA36843A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5222" y="5121969"/>
            <a:ext cx="647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ea typeface="隶书" panose="02010509060101010101" pitchFamily="49" charset="-122"/>
              </a:rPr>
              <a:t>-45°</a:t>
            </a:r>
          </a:p>
        </p:txBody>
      </p:sp>
      <p:sp>
        <p:nvSpPr>
          <p:cNvPr id="48" name="Rectangle 73">
            <a:extLst>
              <a:ext uri="{FF2B5EF4-FFF2-40B4-BE49-F238E27FC236}">
                <a16:creationId xmlns:a16="http://schemas.microsoft.com/office/drawing/2014/main" id="{9D184B36-B6BA-4339-B2CD-E8E0DC1FD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1097" y="5491857"/>
            <a:ext cx="647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ea typeface="隶书" panose="02010509060101010101" pitchFamily="49" charset="-122"/>
              </a:rPr>
              <a:t>-90°</a:t>
            </a:r>
          </a:p>
        </p:txBody>
      </p:sp>
      <p:graphicFrame>
        <p:nvGraphicFramePr>
          <p:cNvPr id="55" name="Object 11">
            <a:extLst>
              <a:ext uri="{FF2B5EF4-FFF2-40B4-BE49-F238E27FC236}">
                <a16:creationId xmlns:a16="http://schemas.microsoft.com/office/drawing/2014/main" id="{A0B84728-C25B-4141-8B6B-ADAB6F97E9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03362"/>
              </p:ext>
            </p:extLst>
          </p:nvPr>
        </p:nvGraphicFramePr>
        <p:xfrm>
          <a:off x="5939184" y="3011623"/>
          <a:ext cx="3204816" cy="64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77680" imgH="355320" progId="Equation.DSMT4">
                  <p:embed/>
                </p:oleObj>
              </mc:Choice>
              <mc:Fallback>
                <p:oleObj name="Equation" r:id="rId18" imgW="1777680" imgH="355320" progId="Equation.DSMT4">
                  <p:embed/>
                  <p:pic>
                    <p:nvPicPr>
                      <p:cNvPr id="122888" name="Object 11">
                        <a:extLst>
                          <a:ext uri="{FF2B5EF4-FFF2-40B4-BE49-F238E27FC236}">
                            <a16:creationId xmlns:a16="http://schemas.microsoft.com/office/drawing/2014/main" id="{F3D7A729-770E-459F-A646-A1A7586B07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9184" y="3011623"/>
                        <a:ext cx="3204816" cy="64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11">
            <a:extLst>
              <a:ext uri="{FF2B5EF4-FFF2-40B4-BE49-F238E27FC236}">
                <a16:creationId xmlns:a16="http://schemas.microsoft.com/office/drawing/2014/main" id="{35E33D28-0901-4DC4-861F-864643943D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234763"/>
              </p:ext>
            </p:extLst>
          </p:nvPr>
        </p:nvGraphicFramePr>
        <p:xfrm>
          <a:off x="553443" y="2197795"/>
          <a:ext cx="4772025" cy="151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082600" imgH="660240" progId="Equation.DSMT4">
                  <p:embed/>
                </p:oleObj>
              </mc:Choice>
              <mc:Fallback>
                <p:oleObj name="Equation" r:id="rId20" imgW="2082600" imgH="660240" progId="Equation.DSMT4">
                  <p:embed/>
                  <p:pic>
                    <p:nvPicPr>
                      <p:cNvPr id="55" name="Object 11">
                        <a:extLst>
                          <a:ext uri="{FF2B5EF4-FFF2-40B4-BE49-F238E27FC236}">
                            <a16:creationId xmlns:a16="http://schemas.microsoft.com/office/drawing/2014/main" id="{A0B84728-C25B-4141-8B6B-ADAB6F97E9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443" y="2197795"/>
                        <a:ext cx="4772025" cy="1519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5" name="图片 64">
            <a:extLst>
              <a:ext uri="{FF2B5EF4-FFF2-40B4-BE49-F238E27FC236}">
                <a16:creationId xmlns:a16="http://schemas.microsoft.com/office/drawing/2014/main" id="{3CAF028E-8A9F-440D-ADBC-35C0D18E3AC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72082" y="1434168"/>
            <a:ext cx="2282123" cy="1106274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76173B13-E349-464D-99DE-FE2E171971E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40152" y="2456416"/>
            <a:ext cx="1870946" cy="53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08160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/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1" grpId="0" animBg="1"/>
      <p:bldP spid="17" grpId="0"/>
      <p:bldP spid="18" grpId="0" animBg="1"/>
      <p:bldP spid="19" grpId="0" animBg="1"/>
      <p:bldP spid="20" grpId="0"/>
      <p:bldP spid="21" grpId="0"/>
      <p:bldP spid="44" grpId="0" animBg="1"/>
      <p:bldP spid="47" grpId="0"/>
      <p:bldP spid="4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5303A91-2801-430A-8BFE-3A17BAC96FD3}"/>
              </a:ext>
            </a:extLst>
          </p:cNvPr>
          <p:cNvSpPr txBox="1">
            <a:spLocks noChangeArrowheads="1"/>
          </p:cNvSpPr>
          <p:nvPr/>
        </p:nvSpPr>
        <p:spPr>
          <a:xfrm>
            <a:off x="533186" y="1543921"/>
            <a:ext cx="4001678" cy="58086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二</a:t>
            </a:r>
            <a:r>
              <a:rPr lang="zh-CN" altLang="en-US" sz="2400" b="1" i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RC 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高通滤波电路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6320890-5D4D-43C5-8CF7-DABD40498F79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8CE0374-4611-4C50-84E2-B72E5CCC8C2E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F409503A-9B7E-4FE9-A0D3-35F625A57624}"/>
              </a:ext>
            </a:extLst>
          </p:cNvPr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E51DB1EC-8055-408A-9B2D-110739D37A4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10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1AD5EAD-FFDD-4CF2-AA47-239440B92D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3430" y="2286143"/>
            <a:ext cx="3590476" cy="228571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BE2E0C8-6024-4D88-9696-A8057AE5B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7715" y="4885637"/>
            <a:ext cx="5961905" cy="8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00527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56320890-5D4D-43C5-8CF7-DABD40498F79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8CE0374-4611-4C50-84E2-B72E5CCC8C2E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F409503A-9B7E-4FE9-A0D3-35F625A57624}"/>
              </a:ext>
            </a:extLst>
          </p:cNvPr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E51DB1EC-8055-408A-9B2D-110739D37A4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11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4DB9E19-164E-4B07-91B9-2BE2D3D76271}"/>
              </a:ext>
            </a:extLst>
          </p:cNvPr>
          <p:cNvSpPr txBox="1">
            <a:spLocks noChangeArrowheads="1"/>
          </p:cNvSpPr>
          <p:nvPr/>
        </p:nvSpPr>
        <p:spPr>
          <a:xfrm>
            <a:off x="533186" y="1543921"/>
            <a:ext cx="4001678" cy="58086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二</a:t>
            </a:r>
            <a:r>
              <a:rPr lang="zh-CN" altLang="en-US" sz="2400" b="1" i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RC 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高通滤波电路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续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endParaRPr lang="zh-CN" altLang="en-US" sz="2400" b="1" kern="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4079C7-F62B-49D9-9685-1ED5328B1A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548"/>
          <a:stretch/>
        </p:blipFill>
        <p:spPr>
          <a:xfrm>
            <a:off x="1095992" y="2020277"/>
            <a:ext cx="6877744" cy="4238615"/>
          </a:xfrm>
          <a:prstGeom prst="rect">
            <a:avLst/>
          </a:prstGeom>
        </p:spPr>
      </p:pic>
      <p:graphicFrame>
        <p:nvGraphicFramePr>
          <p:cNvPr id="11" name="Object 67">
            <a:extLst>
              <a:ext uri="{FF2B5EF4-FFF2-40B4-BE49-F238E27FC236}">
                <a16:creationId xmlns:a16="http://schemas.microsoft.com/office/drawing/2014/main" id="{FE756D78-B5B5-47E2-A840-610BC7B192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762240"/>
              </p:ext>
            </p:extLst>
          </p:nvPr>
        </p:nvGraphicFramePr>
        <p:xfrm>
          <a:off x="6495256" y="5996136"/>
          <a:ext cx="38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0440" imgH="228600" progId="Equation.DSMT4">
                  <p:embed/>
                </p:oleObj>
              </mc:Choice>
              <mc:Fallback>
                <p:oleObj name="Equation" r:id="rId5" imgW="190440" imgH="228600" progId="Equation.DSMT4">
                  <p:embed/>
                  <p:pic>
                    <p:nvPicPr>
                      <p:cNvPr id="37" name="Object 67">
                        <a:extLst>
                          <a:ext uri="{FF2B5EF4-FFF2-40B4-BE49-F238E27FC236}">
                            <a16:creationId xmlns:a16="http://schemas.microsoft.com/office/drawing/2014/main" id="{5427789C-A789-4DCB-8EAB-493E929F77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5256" y="5996136"/>
                        <a:ext cx="381000" cy="45720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8">
            <a:extLst>
              <a:ext uri="{FF2B5EF4-FFF2-40B4-BE49-F238E27FC236}">
                <a16:creationId xmlns:a16="http://schemas.microsoft.com/office/drawing/2014/main" id="{CF9C51B1-12DD-4D65-9782-4113D45795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2129368"/>
              </p:ext>
            </p:extLst>
          </p:nvPr>
        </p:nvGraphicFramePr>
        <p:xfrm>
          <a:off x="7651576" y="6075665"/>
          <a:ext cx="304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52334" imgH="139639" progId="Equation.DSMT4">
                  <p:embed/>
                </p:oleObj>
              </mc:Choice>
              <mc:Fallback>
                <p:oleObj r:id="rId7" imgW="152334" imgH="139639" progId="Equation.DSMT4">
                  <p:embed/>
                  <p:pic>
                    <p:nvPicPr>
                      <p:cNvPr id="45" name="Object 68">
                        <a:extLst>
                          <a:ext uri="{FF2B5EF4-FFF2-40B4-BE49-F238E27FC236}">
                            <a16:creationId xmlns:a16="http://schemas.microsoft.com/office/drawing/2014/main" id="{4ACE6F8A-04FB-4E20-9B44-E3E3A2F01F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576" y="6075665"/>
                        <a:ext cx="304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733083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56320890-5D4D-43C5-8CF7-DABD40498F79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8CE0374-4611-4C50-84E2-B72E5CCC8C2E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F409503A-9B7E-4FE9-A0D3-35F625A57624}"/>
              </a:ext>
            </a:extLst>
          </p:cNvPr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E51DB1EC-8055-408A-9B2D-110739D37A4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12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4DB9E19-164E-4B07-91B9-2BE2D3D76271}"/>
              </a:ext>
            </a:extLst>
          </p:cNvPr>
          <p:cNvSpPr txBox="1">
            <a:spLocks noChangeArrowheads="1"/>
          </p:cNvSpPr>
          <p:nvPr/>
        </p:nvSpPr>
        <p:spPr>
          <a:xfrm>
            <a:off x="533186" y="1543921"/>
            <a:ext cx="4001678" cy="58086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二</a:t>
            </a:r>
            <a:r>
              <a:rPr lang="zh-CN" altLang="en-US" sz="2400" b="1" i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RC 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高通滤波电路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续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endParaRPr lang="zh-CN" altLang="en-US" sz="2400" b="1" kern="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A588BDA-026E-43FC-891E-9E6D4475D1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1943" y="2124785"/>
            <a:ext cx="5445841" cy="404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6912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56320890-5D4D-43C5-8CF7-DABD40498F79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8CE0374-4611-4C50-84E2-B72E5CCC8C2E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F409503A-9B7E-4FE9-A0D3-35F625A57624}"/>
              </a:ext>
            </a:extLst>
          </p:cNvPr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E51DB1EC-8055-408A-9B2D-110739D37A4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13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4DB9E19-164E-4B07-91B9-2BE2D3D76271}"/>
              </a:ext>
            </a:extLst>
          </p:cNvPr>
          <p:cNvSpPr txBox="1">
            <a:spLocks noChangeArrowheads="1"/>
          </p:cNvSpPr>
          <p:nvPr/>
        </p:nvSpPr>
        <p:spPr>
          <a:xfrm>
            <a:off x="533186" y="1543921"/>
            <a:ext cx="4001678" cy="58086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二</a:t>
            </a:r>
            <a:r>
              <a:rPr lang="zh-CN" altLang="en-US" sz="2400" b="1" i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RC 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高通滤波电路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续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endParaRPr lang="zh-CN" altLang="en-US" sz="2400" b="1" kern="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A3DC909-B485-4279-9B7D-973DC15182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5109" y="2124785"/>
            <a:ext cx="5667118" cy="38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8936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56320890-5D4D-43C5-8CF7-DABD40498F79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8CE0374-4611-4C50-84E2-B72E5CCC8C2E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F409503A-9B7E-4FE9-A0D3-35F625A57624}"/>
              </a:ext>
            </a:extLst>
          </p:cNvPr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E51DB1EC-8055-408A-9B2D-110739D37A4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14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4DB9E19-164E-4B07-91B9-2BE2D3D76271}"/>
              </a:ext>
            </a:extLst>
          </p:cNvPr>
          <p:cNvSpPr txBox="1">
            <a:spLocks noChangeArrowheads="1"/>
          </p:cNvSpPr>
          <p:nvPr/>
        </p:nvSpPr>
        <p:spPr>
          <a:xfrm>
            <a:off x="533186" y="1543921"/>
            <a:ext cx="4001678" cy="58086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三</a:t>
            </a:r>
            <a:r>
              <a:rPr lang="zh-CN" altLang="en-US" sz="2400" b="1" i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RC 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串并联选频电路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4C2C38-2C6E-4452-92ED-44A37EE5C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4347" y="2484188"/>
            <a:ext cx="3001033" cy="171666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54C3C5E-5026-433A-954B-213B94F27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768" y="4560258"/>
            <a:ext cx="7327800" cy="185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2318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56320890-5D4D-43C5-8CF7-DABD40498F79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8CE0374-4611-4C50-84E2-B72E5CCC8C2E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F409503A-9B7E-4FE9-A0D3-35F625A57624}"/>
              </a:ext>
            </a:extLst>
          </p:cNvPr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E51DB1EC-8055-408A-9B2D-110739D37A4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15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C508E48-033C-4C4D-BF38-2CF9FEB21060}"/>
              </a:ext>
            </a:extLst>
          </p:cNvPr>
          <p:cNvSpPr txBox="1">
            <a:spLocks noChangeArrowheads="1"/>
          </p:cNvSpPr>
          <p:nvPr/>
        </p:nvSpPr>
        <p:spPr>
          <a:xfrm>
            <a:off x="533186" y="1543921"/>
            <a:ext cx="4001678" cy="58086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三</a:t>
            </a:r>
            <a:r>
              <a:rPr lang="zh-CN" altLang="en-US" sz="2400" b="1" i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RC 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串并联选频电路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续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endParaRPr lang="zh-CN" altLang="en-US" sz="2400" b="1" kern="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A653B36-566E-47FD-AA8D-0E5AC9AEB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2770" y="2107285"/>
            <a:ext cx="5284188" cy="371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20530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56320890-5D4D-43C5-8CF7-DABD40498F79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8CE0374-4611-4C50-84E2-B72E5CCC8C2E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F409503A-9B7E-4FE9-A0D3-35F625A57624}"/>
              </a:ext>
            </a:extLst>
          </p:cNvPr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E51DB1EC-8055-408A-9B2D-110739D37A4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16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C508E48-033C-4C4D-BF38-2CF9FEB21060}"/>
              </a:ext>
            </a:extLst>
          </p:cNvPr>
          <p:cNvSpPr txBox="1">
            <a:spLocks noChangeArrowheads="1"/>
          </p:cNvSpPr>
          <p:nvPr/>
        </p:nvSpPr>
        <p:spPr>
          <a:xfrm>
            <a:off x="533186" y="1543921"/>
            <a:ext cx="4001678" cy="58086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三</a:t>
            </a:r>
            <a:r>
              <a:rPr lang="zh-CN" altLang="en-US" sz="2400" b="1" i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RC 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串并联选频电路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续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endParaRPr lang="zh-CN" altLang="en-US" sz="2400" b="1" kern="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20D49D-4EC7-436C-B476-77B9B8D817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1504" y="1986180"/>
            <a:ext cx="6246720" cy="429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08467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56320890-5D4D-43C5-8CF7-DABD40498F79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8CE0374-4611-4C50-84E2-B72E5CCC8C2E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F409503A-9B7E-4FE9-A0D3-35F625A57624}"/>
              </a:ext>
            </a:extLst>
          </p:cNvPr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E51DB1EC-8055-408A-9B2D-110739D37A4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17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031E75-8582-4E58-AF69-9677F6B67013}"/>
              </a:ext>
            </a:extLst>
          </p:cNvPr>
          <p:cNvSpPr txBox="1"/>
          <p:nvPr/>
        </p:nvSpPr>
        <p:spPr>
          <a:xfrm>
            <a:off x="683568" y="1491600"/>
            <a:ext cx="8075290" cy="995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测量方法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点频法双口网络的频率特性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04CA5C9-8446-48F1-B189-B9D750D517AC}"/>
              </a:ext>
            </a:extLst>
          </p:cNvPr>
          <p:cNvSpPr txBox="1"/>
          <p:nvPr/>
        </p:nvSpPr>
        <p:spPr>
          <a:xfrm>
            <a:off x="899592" y="2563441"/>
            <a:ext cx="7562800" cy="1193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+mn-ea"/>
              </a:rPr>
              <a:t>保持信号源电压值不变</a:t>
            </a:r>
            <a:r>
              <a:rPr lang="en-US" altLang="zh-CN" sz="2000" b="1" dirty="0">
                <a:latin typeface="+mn-ea"/>
              </a:rPr>
              <a:t>,</a:t>
            </a:r>
            <a:r>
              <a:rPr lang="zh-CN" altLang="en-US" sz="2000" b="1" dirty="0">
                <a:latin typeface="+mn-ea"/>
              </a:rPr>
              <a:t>选取一定数量的频率点，改变信号源的频率，在各频率点处测量输出电压，根据测量数据，运用描点法绘出幅频特性曲线。</a:t>
            </a:r>
          </a:p>
        </p:txBody>
      </p:sp>
      <p:sp>
        <p:nvSpPr>
          <p:cNvPr id="11" name="Line 72">
            <a:extLst>
              <a:ext uri="{FF2B5EF4-FFF2-40B4-BE49-F238E27FC236}">
                <a16:creationId xmlns:a16="http://schemas.microsoft.com/office/drawing/2014/main" id="{89B9BE99-F574-4640-A4B6-D426668112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77194" y="5808811"/>
            <a:ext cx="32416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73">
            <a:extLst>
              <a:ext uri="{FF2B5EF4-FFF2-40B4-BE49-F238E27FC236}">
                <a16:creationId xmlns:a16="http://schemas.microsoft.com/office/drawing/2014/main" id="{4EDE5F54-517D-47CB-A0E4-FB0B4623B77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64531" y="4264173"/>
            <a:ext cx="0" cy="19732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75">
            <a:extLst>
              <a:ext uri="{FF2B5EF4-FFF2-40B4-BE49-F238E27FC236}">
                <a16:creationId xmlns:a16="http://schemas.microsoft.com/office/drawing/2014/main" id="{B483CDD3-7B0B-47FB-9587-391387890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0244" y="4797573"/>
            <a:ext cx="2089150" cy="1008063"/>
          </a:xfrm>
          <a:custGeom>
            <a:avLst/>
            <a:gdLst>
              <a:gd name="T0" fmla="*/ 0 w 1361"/>
              <a:gd name="T1" fmla="*/ 793 h 816"/>
              <a:gd name="T2" fmla="*/ 499 w 1361"/>
              <a:gd name="T3" fmla="*/ 703 h 816"/>
              <a:gd name="T4" fmla="*/ 680 w 1361"/>
              <a:gd name="T5" fmla="*/ 113 h 816"/>
              <a:gd name="T6" fmla="*/ 1361 w 1361"/>
              <a:gd name="T7" fmla="*/ 22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61" h="816">
                <a:moveTo>
                  <a:pt x="0" y="793"/>
                </a:moveTo>
                <a:cubicBezTo>
                  <a:pt x="193" y="804"/>
                  <a:pt x="386" y="816"/>
                  <a:pt x="499" y="703"/>
                </a:cubicBezTo>
                <a:cubicBezTo>
                  <a:pt x="612" y="590"/>
                  <a:pt x="536" y="226"/>
                  <a:pt x="680" y="113"/>
                </a:cubicBezTo>
                <a:cubicBezTo>
                  <a:pt x="824" y="0"/>
                  <a:pt x="1255" y="37"/>
                  <a:pt x="1361" y="22"/>
                </a:cubicBezTo>
              </a:path>
            </a:pathLst>
          </a:custGeom>
          <a:noFill/>
          <a:ln w="317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Oval 76">
            <a:extLst>
              <a:ext uri="{FF2B5EF4-FFF2-40B4-BE49-F238E27FC236}">
                <a16:creationId xmlns:a16="http://schemas.microsoft.com/office/drawing/2014/main" id="{8EB3EB30-FD8B-48CC-8DD2-468F1C5BE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9719" y="5115073"/>
            <a:ext cx="71437" cy="71438"/>
          </a:xfrm>
          <a:prstGeom prst="ellipse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77">
            <a:extLst>
              <a:ext uri="{FF2B5EF4-FFF2-40B4-BE49-F238E27FC236}">
                <a16:creationId xmlns:a16="http://schemas.microsoft.com/office/drawing/2014/main" id="{5A1A6E47-F815-4103-8DD8-56B6BCF028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77231" y="5140473"/>
            <a:ext cx="8651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78">
            <a:extLst>
              <a:ext uri="{FF2B5EF4-FFF2-40B4-BE49-F238E27FC236}">
                <a16:creationId xmlns:a16="http://schemas.microsoft.com/office/drawing/2014/main" id="{E9FF378E-5849-431A-90F9-B7A31AB5C3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5119" y="5157936"/>
            <a:ext cx="0" cy="650875"/>
          </a:xfrm>
          <a:prstGeom prst="line">
            <a:avLst/>
          </a:prstGeom>
          <a:noFill/>
          <a:ln w="222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80">
            <a:extLst>
              <a:ext uri="{FF2B5EF4-FFF2-40B4-BE49-F238E27FC236}">
                <a16:creationId xmlns:a16="http://schemas.microsoft.com/office/drawing/2014/main" id="{E57AC588-7F44-45DB-AE40-976ACAB57B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77231" y="4830911"/>
            <a:ext cx="181292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Box 81">
            <a:extLst>
              <a:ext uri="{FF2B5EF4-FFF2-40B4-BE49-F238E27FC236}">
                <a16:creationId xmlns:a16="http://schemas.microsoft.com/office/drawing/2014/main" id="{1FCEAB70-01D4-4AEE-9B66-C4E7A5334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8399" y="4472205"/>
            <a:ext cx="3502026" cy="109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5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带宽可由输出电压从最大值下降到</a:t>
            </a:r>
            <a:r>
              <a:rPr lang="en-US" altLang="zh-CN" b="1" dirty="0">
                <a:latin typeface="+mn-ea"/>
              </a:rPr>
              <a:t>0.707</a:t>
            </a:r>
            <a:r>
              <a:rPr lang="zh-CN" altLang="en-US" b="1" dirty="0">
                <a:latin typeface="+mn-ea"/>
              </a:rPr>
              <a:t>倍时的频率来定义</a:t>
            </a:r>
            <a:endParaRPr lang="en-US" altLang="zh-CN" b="1" dirty="0">
              <a:latin typeface="+mn-ea"/>
            </a:endParaRPr>
          </a:p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横轴采用对数坐标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84">
            <a:extLst>
              <a:ext uri="{FF2B5EF4-FFF2-40B4-BE49-F238E27FC236}">
                <a16:creationId xmlns:a16="http://schemas.microsoft.com/office/drawing/2014/main" id="{E6DB60EA-2833-4673-9661-2B537BE0F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7419" y="5737373"/>
            <a:ext cx="0" cy="714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85">
            <a:extLst>
              <a:ext uri="{FF2B5EF4-FFF2-40B4-BE49-F238E27FC236}">
                <a16:creationId xmlns:a16="http://schemas.microsoft.com/office/drawing/2014/main" id="{EE10ED9F-86F9-4328-B0EA-21404ACC37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4894" y="5737373"/>
            <a:ext cx="0" cy="714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86">
            <a:extLst>
              <a:ext uri="{FF2B5EF4-FFF2-40B4-BE49-F238E27FC236}">
                <a16:creationId xmlns:a16="http://schemas.microsoft.com/office/drawing/2014/main" id="{D8972ECF-9D21-4480-BDF5-A5D66BB408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5256" y="5737373"/>
            <a:ext cx="0" cy="714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87">
            <a:extLst>
              <a:ext uri="{FF2B5EF4-FFF2-40B4-BE49-F238E27FC236}">
                <a16:creationId xmlns:a16="http://schemas.microsoft.com/office/drawing/2014/main" id="{5CD211D7-5A18-4090-8FCD-B69B3F5E8E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6256" y="5737373"/>
            <a:ext cx="0" cy="714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88">
            <a:extLst>
              <a:ext uri="{FF2B5EF4-FFF2-40B4-BE49-F238E27FC236}">
                <a16:creationId xmlns:a16="http://schemas.microsoft.com/office/drawing/2014/main" id="{48E59069-9ED3-4FC9-BCCB-8A966CED52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9581" y="5737373"/>
            <a:ext cx="0" cy="714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89">
            <a:extLst>
              <a:ext uri="{FF2B5EF4-FFF2-40B4-BE49-F238E27FC236}">
                <a16:creationId xmlns:a16="http://schemas.microsoft.com/office/drawing/2014/main" id="{ACFA8A3C-3644-4769-A656-4F6C63AB49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3181" y="5737373"/>
            <a:ext cx="0" cy="714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Box 91">
            <a:extLst>
              <a:ext uri="{FF2B5EF4-FFF2-40B4-BE49-F238E27FC236}">
                <a16:creationId xmlns:a16="http://schemas.microsoft.com/office/drawing/2014/main" id="{AAF26323-58BC-4789-9E0E-36BDC6D4C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8531" y="5859611"/>
            <a:ext cx="2159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imes New Roman" panose="02020603050405020304" pitchFamily="18" charset="0"/>
              </a:rPr>
              <a:t>10</a:t>
            </a:r>
            <a:r>
              <a:rPr lang="en-US" altLang="zh-CN" sz="1200" b="1" baseline="30000">
                <a:latin typeface="Times New Roman" panose="02020603050405020304" pitchFamily="18" charset="0"/>
              </a:rPr>
              <a:t>1</a:t>
            </a:r>
            <a:endParaRPr lang="en-US" altLang="zh-CN" sz="1200" b="1">
              <a:latin typeface="Times New Roman" panose="02020603050405020304" pitchFamily="18" charset="0"/>
            </a:endParaRPr>
          </a:p>
        </p:txBody>
      </p:sp>
      <p:sp>
        <p:nvSpPr>
          <p:cNvPr id="26" name="Text Box 92">
            <a:extLst>
              <a:ext uri="{FF2B5EF4-FFF2-40B4-BE49-F238E27FC236}">
                <a16:creationId xmlns:a16="http://schemas.microsoft.com/office/drawing/2014/main" id="{AF6A4628-3977-46CB-9505-F290BE85A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6194" y="5856436"/>
            <a:ext cx="2159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imes New Roman" panose="02020603050405020304" pitchFamily="18" charset="0"/>
              </a:rPr>
              <a:t>10</a:t>
            </a:r>
            <a:r>
              <a:rPr lang="en-US" altLang="zh-CN" sz="1200" b="1" baseline="30000">
                <a:latin typeface="Times New Roman" panose="02020603050405020304" pitchFamily="18" charset="0"/>
              </a:rPr>
              <a:t>2</a:t>
            </a:r>
            <a:endParaRPr lang="en-US" altLang="zh-CN" sz="1200" b="1">
              <a:latin typeface="Times New Roman" panose="02020603050405020304" pitchFamily="18" charset="0"/>
            </a:endParaRPr>
          </a:p>
        </p:txBody>
      </p:sp>
      <p:sp>
        <p:nvSpPr>
          <p:cNvPr id="27" name="Text Box 93">
            <a:extLst>
              <a:ext uri="{FF2B5EF4-FFF2-40B4-BE49-F238E27FC236}">
                <a16:creationId xmlns:a16="http://schemas.microsoft.com/office/drawing/2014/main" id="{5D27F45E-67A7-4D8A-853E-884094274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2594" y="5843736"/>
            <a:ext cx="2159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imes New Roman" panose="02020603050405020304" pitchFamily="18" charset="0"/>
              </a:rPr>
              <a:t>10</a:t>
            </a:r>
            <a:r>
              <a:rPr lang="en-US" altLang="zh-CN" sz="1200" b="1" baseline="30000">
                <a:latin typeface="Times New Roman" panose="02020603050405020304" pitchFamily="18" charset="0"/>
              </a:rPr>
              <a:t>3</a:t>
            </a:r>
            <a:endParaRPr lang="en-US" altLang="zh-CN" sz="1200" b="1">
              <a:latin typeface="Times New Roman" panose="02020603050405020304" pitchFamily="18" charset="0"/>
            </a:endParaRPr>
          </a:p>
        </p:txBody>
      </p:sp>
      <p:sp>
        <p:nvSpPr>
          <p:cNvPr id="28" name="Text Box 94">
            <a:extLst>
              <a:ext uri="{FF2B5EF4-FFF2-40B4-BE49-F238E27FC236}">
                <a16:creationId xmlns:a16="http://schemas.microsoft.com/office/drawing/2014/main" id="{21D39C37-AD7A-4741-854E-77EC7765A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3756" y="5846911"/>
            <a:ext cx="2159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imes New Roman" panose="02020603050405020304" pitchFamily="18" charset="0"/>
              </a:rPr>
              <a:t>10</a:t>
            </a:r>
            <a:r>
              <a:rPr lang="en-US" altLang="zh-CN" sz="1200" b="1" baseline="30000">
                <a:latin typeface="Times New Roman" panose="02020603050405020304" pitchFamily="18" charset="0"/>
              </a:rPr>
              <a:t>4</a:t>
            </a:r>
            <a:endParaRPr lang="en-US" altLang="zh-CN" sz="1200" b="1">
              <a:latin typeface="Times New Roman" panose="02020603050405020304" pitchFamily="18" charset="0"/>
            </a:endParaRPr>
          </a:p>
        </p:txBody>
      </p:sp>
      <p:sp>
        <p:nvSpPr>
          <p:cNvPr id="29" name="Text Box 95">
            <a:extLst>
              <a:ext uri="{FF2B5EF4-FFF2-40B4-BE49-F238E27FC236}">
                <a16:creationId xmlns:a16="http://schemas.microsoft.com/office/drawing/2014/main" id="{C284D57C-78AB-44FA-B21F-7B6CFD194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4756" y="5831036"/>
            <a:ext cx="2159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imes New Roman" panose="02020603050405020304" pitchFamily="18" charset="0"/>
              </a:rPr>
              <a:t>10</a:t>
            </a:r>
            <a:r>
              <a:rPr lang="en-US" altLang="zh-CN" sz="1200" b="1" baseline="30000">
                <a:latin typeface="Times New Roman" panose="02020603050405020304" pitchFamily="18" charset="0"/>
              </a:rPr>
              <a:t>5</a:t>
            </a:r>
            <a:endParaRPr lang="en-US" altLang="zh-CN" sz="1200" b="1">
              <a:latin typeface="Times New Roman" panose="02020603050405020304" pitchFamily="18" charset="0"/>
            </a:endParaRPr>
          </a:p>
        </p:txBody>
      </p:sp>
      <p:sp>
        <p:nvSpPr>
          <p:cNvPr id="30" name="Text Box 96">
            <a:extLst>
              <a:ext uri="{FF2B5EF4-FFF2-40B4-BE49-F238E27FC236}">
                <a16:creationId xmlns:a16="http://schemas.microsoft.com/office/drawing/2014/main" id="{8A54DAF2-3A7E-4787-B05F-1C1B17E48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3219" y="5846911"/>
            <a:ext cx="2159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b="1">
                <a:latin typeface="Times New Roman" panose="02020603050405020304" pitchFamily="18" charset="0"/>
              </a:rPr>
              <a:t>10</a:t>
            </a:r>
            <a:r>
              <a:rPr lang="en-US" altLang="zh-CN" sz="1200" b="1" baseline="30000">
                <a:latin typeface="Times New Roman" panose="02020603050405020304" pitchFamily="18" charset="0"/>
              </a:rPr>
              <a:t>6</a:t>
            </a:r>
            <a:endParaRPr lang="en-US" altLang="zh-CN" sz="1200" b="1">
              <a:latin typeface="Times New Roman" panose="02020603050405020304" pitchFamily="18" charset="0"/>
            </a:endParaRPr>
          </a:p>
        </p:txBody>
      </p:sp>
      <p:sp>
        <p:nvSpPr>
          <p:cNvPr id="31" name="Oval 97">
            <a:extLst>
              <a:ext uri="{FF2B5EF4-FFF2-40B4-BE49-F238E27FC236}">
                <a16:creationId xmlns:a16="http://schemas.microsoft.com/office/drawing/2014/main" id="{9B669716-F214-4833-B3ED-E7BB83998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756" y="4797573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Oval 98">
            <a:extLst>
              <a:ext uri="{FF2B5EF4-FFF2-40B4-BE49-F238E27FC236}">
                <a16:creationId xmlns:a16="http://schemas.microsoft.com/office/drawing/2014/main" id="{DDBC170B-67E0-4CC9-A667-E8590B697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5619" y="4867423"/>
            <a:ext cx="71437" cy="71438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Oval 99">
            <a:extLst>
              <a:ext uri="{FF2B5EF4-FFF2-40B4-BE49-F238E27FC236}">
                <a16:creationId xmlns:a16="http://schemas.microsoft.com/office/drawing/2014/main" id="{B60B5331-3902-4D32-AF08-C2EE9F51E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956" y="4805511"/>
            <a:ext cx="71438" cy="71437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Oval 100">
            <a:extLst>
              <a:ext uri="{FF2B5EF4-FFF2-40B4-BE49-F238E27FC236}">
                <a16:creationId xmlns:a16="http://schemas.microsoft.com/office/drawing/2014/main" id="{3CA59F65-D91C-40A5-ADFF-A95C83D32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5256" y="5664348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101">
            <a:extLst>
              <a:ext uri="{FF2B5EF4-FFF2-40B4-BE49-F238E27FC236}">
                <a16:creationId xmlns:a16="http://schemas.microsoft.com/office/drawing/2014/main" id="{61406F79-FA1E-4944-B397-BD927A108D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94919" y="4854723"/>
            <a:ext cx="0" cy="900113"/>
          </a:xfrm>
          <a:prstGeom prst="line">
            <a:avLst/>
          </a:prstGeom>
          <a:noFill/>
          <a:ln w="222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Rectangle 106">
            <a:extLst>
              <a:ext uri="{FF2B5EF4-FFF2-40B4-BE49-F238E27FC236}">
                <a16:creationId xmlns:a16="http://schemas.microsoft.com/office/drawing/2014/main" id="{D911BB65-4090-42CA-A3D4-22B7324D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969" y="3860948"/>
            <a:ext cx="1081087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3200" b="1" baseline="-25000" dirty="0">
                <a:latin typeface="Times New Roman" panose="02020603050405020304" pitchFamily="18" charset="0"/>
                <a:ea typeface="隶书" panose="02010509060101010101" pitchFamily="49" charset="-122"/>
              </a:rPr>
              <a:t>H(</a:t>
            </a:r>
            <a:r>
              <a:rPr lang="en-US" altLang="zh-CN" sz="3200" b="1" i="1" baseline="-25000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jw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</a:p>
        </p:txBody>
      </p:sp>
      <p:sp>
        <p:nvSpPr>
          <p:cNvPr id="37" name="Rectangle 107">
            <a:extLst>
              <a:ext uri="{FF2B5EF4-FFF2-40B4-BE49-F238E27FC236}">
                <a16:creationId xmlns:a16="http://schemas.microsoft.com/office/drawing/2014/main" id="{BF0EFB8F-21DF-4B0D-873D-8EEA8A9FF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8719" y="5551636"/>
            <a:ext cx="28733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3200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w</a:t>
            </a:r>
            <a:endParaRPr lang="en-US" altLang="zh-CN" sz="3200" b="1" i="1" baseline="-25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8" name="Rectangle 109">
            <a:extLst>
              <a:ext uri="{FF2B5EF4-FFF2-40B4-BE49-F238E27FC236}">
                <a16:creationId xmlns:a16="http://schemas.microsoft.com/office/drawing/2014/main" id="{0A90333F-867B-4551-9155-AF576EDBF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0294" y="5950098"/>
            <a:ext cx="576262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w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隶书" panose="02010509060101010101" pitchFamily="49" charset="-122"/>
              </a:rPr>
              <a:t>0</a:t>
            </a:r>
          </a:p>
        </p:txBody>
      </p:sp>
      <p:sp>
        <p:nvSpPr>
          <p:cNvPr id="39" name="Rectangle 110">
            <a:extLst>
              <a:ext uri="{FF2B5EF4-FFF2-40B4-BE49-F238E27FC236}">
                <a16:creationId xmlns:a16="http://schemas.microsoft.com/office/drawing/2014/main" id="{523C0E4E-5F76-46FF-927B-5FCCCF07B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119" y="5950098"/>
            <a:ext cx="576262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b="1" i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w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c</a:t>
            </a:r>
            <a:endParaRPr lang="en-US" altLang="zh-CN" sz="2400" b="1" i="1" baseline="-25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0" name="Rectangle 111">
            <a:extLst>
              <a:ext uri="{FF2B5EF4-FFF2-40B4-BE49-F238E27FC236}">
                <a16:creationId xmlns:a16="http://schemas.microsoft.com/office/drawing/2014/main" id="{6DAB9DB9-A54E-45DD-B193-D448F7540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94" y="4610248"/>
            <a:ext cx="1539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1</a:t>
            </a:r>
            <a:endParaRPr lang="en-US" altLang="zh-CN" sz="2400" b="1" baseline="-250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1" name="Rectangle 112">
            <a:extLst>
              <a:ext uri="{FF2B5EF4-FFF2-40B4-BE49-F238E27FC236}">
                <a16:creationId xmlns:a16="http://schemas.microsoft.com/office/drawing/2014/main" id="{C82E8D87-E817-4244-B21C-01D9DA547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778" y="4999186"/>
            <a:ext cx="692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0.707</a:t>
            </a:r>
            <a:endParaRPr lang="en-US" altLang="zh-CN" sz="2400" b="1" i="1" baseline="-25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2" name="Oval 113">
            <a:extLst>
              <a:ext uri="{FF2B5EF4-FFF2-40B4-BE49-F238E27FC236}">
                <a16:creationId xmlns:a16="http://schemas.microsoft.com/office/drawing/2014/main" id="{5DEAEF0F-DE94-46D2-B51B-E07865536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756" y="4788048"/>
            <a:ext cx="71438" cy="71438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9815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5" grpId="0"/>
      <p:bldP spid="26" grpId="0"/>
      <p:bldP spid="27" grpId="0"/>
      <p:bldP spid="28" grpId="0"/>
      <p:bldP spid="29" grpId="0"/>
      <p:bldP spid="30" grpId="0"/>
      <p:bldP spid="31" grpId="0" animBg="1"/>
      <p:bldP spid="31" grpId="1" animBg="1"/>
      <p:bldP spid="32" grpId="0" animBg="1"/>
      <p:bldP spid="33" grpId="0" animBg="1"/>
      <p:bldP spid="34" grpId="0" animBg="1"/>
      <p:bldP spid="36" grpId="0"/>
      <p:bldP spid="37" grpId="0"/>
      <p:bldP spid="37" grpId="1"/>
      <p:bldP spid="38" grpId="0"/>
      <p:bldP spid="39" grpId="0"/>
      <p:bldP spid="40" grpId="0"/>
      <p:bldP spid="41" grpId="0"/>
      <p:bldP spid="4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56320890-5D4D-43C5-8CF7-DABD40498F79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8CE0374-4611-4C50-84E2-B72E5CCC8C2E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F409503A-9B7E-4FE9-A0D3-35F625A57624}"/>
              </a:ext>
            </a:extLst>
          </p:cNvPr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E51DB1EC-8055-408A-9B2D-110739D37A4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18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031E75-8582-4E58-AF69-9677F6B67013}"/>
              </a:ext>
            </a:extLst>
          </p:cNvPr>
          <p:cNvSpPr txBox="1"/>
          <p:nvPr/>
        </p:nvSpPr>
        <p:spPr>
          <a:xfrm>
            <a:off x="683568" y="1491600"/>
            <a:ext cx="8075290" cy="995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测量方法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测量相位差的两种方法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4A9DBC-3894-4E06-BE16-B2CDCA0B8B6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0379"/>
          <a:stretch/>
        </p:blipFill>
        <p:spPr>
          <a:xfrm>
            <a:off x="1296864" y="2547655"/>
            <a:ext cx="6480224" cy="366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00275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56320890-5D4D-43C5-8CF7-DABD40498F79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8CE0374-4611-4C50-84E2-B72E5CCC8C2E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F409503A-9B7E-4FE9-A0D3-35F625A57624}"/>
              </a:ext>
            </a:extLst>
          </p:cNvPr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E51DB1EC-8055-408A-9B2D-110739D37A4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19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031E75-8582-4E58-AF69-9677F6B67013}"/>
              </a:ext>
            </a:extLst>
          </p:cNvPr>
          <p:cNvSpPr txBox="1"/>
          <p:nvPr/>
        </p:nvSpPr>
        <p:spPr>
          <a:xfrm>
            <a:off x="683568" y="1491600"/>
            <a:ext cx="8075290" cy="995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测量方法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测量相位差的两种方法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3" name="Picture 64" descr="0278">
            <a:extLst>
              <a:ext uri="{FF2B5EF4-FFF2-40B4-BE49-F238E27FC236}">
                <a16:creationId xmlns:a16="http://schemas.microsoft.com/office/drawing/2014/main" id="{0C344D20-E56E-4EC5-A23B-F0F16E93F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0" r="7726"/>
          <a:stretch/>
        </p:blipFill>
        <p:spPr bwMode="auto">
          <a:xfrm>
            <a:off x="1619672" y="3176508"/>
            <a:ext cx="3528392" cy="2348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4" name="Object 65">
            <a:extLst>
              <a:ext uri="{FF2B5EF4-FFF2-40B4-BE49-F238E27FC236}">
                <a16:creationId xmlns:a16="http://schemas.microsoft.com/office/drawing/2014/main" id="{1E1EA26C-5324-43E2-A6EA-B1599D5296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009260"/>
              </p:ext>
            </p:extLst>
          </p:nvPr>
        </p:nvGraphicFramePr>
        <p:xfrm>
          <a:off x="5652120" y="3947383"/>
          <a:ext cx="1800200" cy="806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14003" imgH="406224" progId="Equation.DSMT4">
                  <p:embed/>
                </p:oleObj>
              </mc:Choice>
              <mc:Fallback>
                <p:oleObj r:id="rId6" imgW="914003" imgH="406224" progId="Equation.DSMT4">
                  <p:embed/>
                  <p:pic>
                    <p:nvPicPr>
                      <p:cNvPr id="131076" name="Object 65">
                        <a:extLst>
                          <a:ext uri="{FF2B5EF4-FFF2-40B4-BE49-F238E27FC236}">
                            <a16:creationId xmlns:a16="http://schemas.microsoft.com/office/drawing/2014/main" id="{46823709-7F47-4A6D-BDFC-259684EABB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3947383"/>
                        <a:ext cx="1800200" cy="8064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66">
            <a:extLst>
              <a:ext uri="{FF2B5EF4-FFF2-40B4-BE49-F238E27FC236}">
                <a16:creationId xmlns:a16="http://schemas.microsoft.com/office/drawing/2014/main" id="{8CE64665-67A9-4513-9024-DFBA6FAB3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7" y="5765194"/>
            <a:ext cx="63367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注意：保持</a:t>
            </a:r>
            <a:r>
              <a:rPr lang="en-US" altLang="zh-CN" sz="20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CH1</a:t>
            </a:r>
            <a:r>
              <a:rPr lang="zh-CN" altLang="en-US" sz="20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CH2</a:t>
            </a:r>
            <a:r>
              <a:rPr lang="zh-CN" altLang="en-US" sz="20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的扫描时基线重合（共负极）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0D93FD9-E9E4-48B7-A746-94F0DCC37A97}"/>
              </a:ext>
            </a:extLst>
          </p:cNvPr>
          <p:cNvSpPr txBox="1"/>
          <p:nvPr/>
        </p:nvSpPr>
        <p:spPr>
          <a:xfrm>
            <a:off x="1024272" y="2555503"/>
            <a:ext cx="7438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latin typeface="+mn-ea"/>
              </a:rPr>
              <a:t>2</a:t>
            </a:r>
            <a:r>
              <a:rPr lang="zh-CN" altLang="en-US" sz="1800" b="1" dirty="0">
                <a:latin typeface="+mn-ea"/>
              </a:rPr>
              <a:t>、数格数：相位差所占格数</a:t>
            </a:r>
            <a:r>
              <a:rPr lang="en-US" altLang="zh-CN" sz="1800" b="1" dirty="0">
                <a:latin typeface="+mn-ea"/>
              </a:rPr>
              <a:t>X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800" b="1" dirty="0">
                <a:latin typeface="+mn-ea"/>
              </a:rPr>
              <a:t>占整周期所占格数</a:t>
            </a:r>
            <a:r>
              <a:rPr lang="en-US" altLang="zh-CN" sz="1800" b="1" dirty="0">
                <a:latin typeface="+mn-ea"/>
              </a:rPr>
              <a:t>X</a:t>
            </a:r>
            <a:r>
              <a:rPr lang="zh-CN" altLang="en-US" sz="1800" b="1" dirty="0">
                <a:latin typeface="+mn-ea"/>
              </a:rPr>
              <a:t>的比值，乘以</a:t>
            </a:r>
            <a:r>
              <a:rPr lang="en-US" altLang="zh-CN" sz="1800" b="1" dirty="0">
                <a:latin typeface="+mn-ea"/>
              </a:rPr>
              <a:t>360°</a:t>
            </a:r>
            <a:endParaRPr lang="zh-CN" altLang="en-US" sz="1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38334233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56320890-5D4D-43C5-8CF7-DABD40498F79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8CE0374-4611-4C50-84E2-B72E5CCC8C2E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F409503A-9B7E-4FE9-A0D3-35F625A57624}"/>
              </a:ext>
            </a:extLst>
          </p:cNvPr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E51DB1EC-8055-408A-9B2D-110739D37A4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20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1C4CF4-676E-4919-A06B-E854BBC4E1D5}"/>
              </a:ext>
            </a:extLst>
          </p:cNvPr>
          <p:cNvSpPr txBox="1"/>
          <p:nvPr/>
        </p:nvSpPr>
        <p:spPr>
          <a:xfrm>
            <a:off x="683568" y="1491600"/>
            <a:ext cx="8075290" cy="2171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实验内容</a:t>
            </a: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en-US" altLang="zh-CN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低通电路频率特性</a:t>
            </a:r>
            <a:endParaRPr lang="en-US" altLang="zh-CN" sz="2000" b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取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R=1kΩ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，电容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C=0.01μF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，电路的输入端输入一个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Ui=3V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的正弦信号。改变信号源的频率，观察输出端电压的变化，确定电路的幅频和相频特性，完成下表：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C30365B0-966E-4678-9D08-D119C210B4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486215"/>
              </p:ext>
            </p:extLst>
          </p:nvPr>
        </p:nvGraphicFramePr>
        <p:xfrm>
          <a:off x="1187969" y="3717032"/>
          <a:ext cx="7056439" cy="25923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11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2065"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(Hz)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10^2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10^3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10^4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zh-CN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altLang="zh-CN" sz="1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10^6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10^7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10^8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(V)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/U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m(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zh-CN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或格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6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n(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zh-CN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或格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65"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n-US" altLang="zh-CN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(°)</a:t>
                      </a:r>
                      <a:endParaRPr lang="zh-CN" altLang="en-US" sz="18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939709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21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2657E72F-58E2-4BCB-A20E-67658644F892}"/>
              </a:ext>
            </a:extLst>
          </p:cNvPr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F186251-D842-485A-B7A6-DB0CBB9968B4}"/>
              </a:ext>
            </a:extLst>
          </p:cNvPr>
          <p:cNvSpPr txBox="1"/>
          <p:nvPr/>
        </p:nvSpPr>
        <p:spPr>
          <a:xfrm>
            <a:off x="683568" y="1491600"/>
            <a:ext cx="8075290" cy="2146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实验内容</a:t>
            </a: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en-US" altLang="zh-CN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高通电路频率特性</a:t>
            </a:r>
            <a:endParaRPr lang="en-US" altLang="zh-CN" sz="2000" b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取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R=1kΩ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，电容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C=0.01μF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，电路的输入端输入一个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Ui=3V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的正弦信号。改变信号源的频率，观察输出端电压的变化，确定电路的幅频和相频特性，完成下表：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BAAC542-0ACA-44BF-9B1B-CC36C2BC8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225648"/>
              </p:ext>
            </p:extLst>
          </p:nvPr>
        </p:nvGraphicFramePr>
        <p:xfrm>
          <a:off x="1187969" y="3717032"/>
          <a:ext cx="7056439" cy="25923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11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2065"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(Hz)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10^2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10^3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10^4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zh-CN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altLang="zh-CN" sz="1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10^6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10^7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10^8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(V)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/U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m(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zh-CN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或格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6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n(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zh-CN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或格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65"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n-US" altLang="zh-CN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(°)</a:t>
                      </a:r>
                      <a:endParaRPr lang="zh-CN" altLang="en-US" sz="18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257146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22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2657E72F-58E2-4BCB-A20E-67658644F892}"/>
              </a:ext>
            </a:extLst>
          </p:cNvPr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DF2E362-A6B4-4BE9-BB58-A309C3866425}"/>
              </a:ext>
            </a:extLst>
          </p:cNvPr>
          <p:cNvSpPr txBox="1"/>
          <p:nvPr/>
        </p:nvSpPr>
        <p:spPr>
          <a:xfrm>
            <a:off x="683568" y="1491600"/>
            <a:ext cx="8075290" cy="2146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实验内容</a:t>
            </a: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</a:t>
            </a:r>
            <a:r>
              <a:rPr lang="en-US" altLang="zh-CN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带通电路频率特性</a:t>
            </a:r>
            <a:endParaRPr lang="en-US" altLang="zh-CN" sz="2000" b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取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R=1kΩ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，电容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C=0.01μF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，电路的输入端输入一个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Ui=3V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的正弦信号。改变信号源的频率，观察输出端电压的变化，确定电路的幅频和相频特性，完成下表：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8883A58-FFF1-411D-986B-01B6FE49C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530915"/>
              </p:ext>
            </p:extLst>
          </p:nvPr>
        </p:nvGraphicFramePr>
        <p:xfrm>
          <a:off x="1187969" y="3717032"/>
          <a:ext cx="7056439" cy="25923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11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56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2065"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(Hz)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10^2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10^3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10^4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zh-CN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altLang="zh-CN" sz="1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10^6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10^7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10^8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(V)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/U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m(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zh-CN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或格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6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n(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zh-CN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或格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65"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n-US" altLang="zh-CN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(°)</a:t>
                      </a:r>
                      <a:endParaRPr lang="zh-CN" altLang="en-US" sz="18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22" marB="4572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9037891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23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2657E72F-58E2-4BCB-A20E-67658644F892}"/>
              </a:ext>
            </a:extLst>
          </p:cNvPr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0B6082C-86EE-4024-9722-64EBCFD7A4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4708" y="4124512"/>
            <a:ext cx="4824536" cy="232882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F36B98C-6284-42C2-A519-96806BA4C9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9461" y="2107377"/>
            <a:ext cx="3518963" cy="190893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8FC5082-8438-4C42-9001-912540848CD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035"/>
          <a:stretch/>
        </p:blipFill>
        <p:spPr>
          <a:xfrm>
            <a:off x="794335" y="2194980"/>
            <a:ext cx="3710458" cy="188209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916A2C0-6100-4FF4-BF12-54F71987524F}"/>
              </a:ext>
            </a:extLst>
          </p:cNvPr>
          <p:cNvSpPr txBox="1"/>
          <p:nvPr/>
        </p:nvSpPr>
        <p:spPr>
          <a:xfrm>
            <a:off x="596925" y="2204864"/>
            <a:ext cx="1742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en-US" sz="18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低通电路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CA77284-1A35-4C59-B5E3-AFAFF010B755}"/>
              </a:ext>
            </a:extLst>
          </p:cNvPr>
          <p:cNvSpPr txBox="1"/>
          <p:nvPr/>
        </p:nvSpPr>
        <p:spPr>
          <a:xfrm>
            <a:off x="4716016" y="2195572"/>
            <a:ext cx="1742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en-US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zh-CN" altLang="en-US" sz="18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通电路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03772C2-E341-469D-8F0C-96B81C9EB289}"/>
              </a:ext>
            </a:extLst>
          </p:cNvPr>
          <p:cNvSpPr txBox="1"/>
          <p:nvPr/>
        </p:nvSpPr>
        <p:spPr>
          <a:xfrm>
            <a:off x="1461021" y="4464940"/>
            <a:ext cx="1742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en-US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</a:t>
            </a:r>
            <a:r>
              <a:rPr lang="zh-CN" altLang="en-US" sz="18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通电路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A0FE885-1382-4494-9335-0AFA48025E84}"/>
              </a:ext>
            </a:extLst>
          </p:cNvPr>
          <p:cNvSpPr txBox="1"/>
          <p:nvPr/>
        </p:nvSpPr>
        <p:spPr>
          <a:xfrm>
            <a:off x="683568" y="1412776"/>
            <a:ext cx="3710458" cy="58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实验内容</a:t>
            </a:r>
          </a:p>
        </p:txBody>
      </p:sp>
    </p:spTree>
    <p:extLst>
      <p:ext uri="{BB962C8B-B14F-4D97-AF65-F5344CB8AC3E}">
        <p14:creationId xmlns:p14="http://schemas.microsoft.com/office/powerpoint/2010/main" val="2322773419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24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CDB9A75-C47E-45CE-9E6B-A3542664C2FA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id="{2657E72F-58E2-4BCB-A20E-67658644F892}"/>
              </a:ext>
            </a:extLst>
          </p:cNvPr>
          <p:cNvSpPr/>
          <p:nvPr/>
        </p:nvSpPr>
        <p:spPr>
          <a:xfrm>
            <a:off x="609600" y="6512644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141B305-5BF8-4FBE-B777-A01534598C50}"/>
              </a:ext>
            </a:extLst>
          </p:cNvPr>
          <p:cNvSpPr txBox="1"/>
          <p:nvPr/>
        </p:nvSpPr>
        <p:spPr>
          <a:xfrm>
            <a:off x="611560" y="1448144"/>
            <a:ext cx="7924799" cy="452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实验报告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注意事项：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因为信号源有一定的内阻，端口电压会随着负载的变化而变化，所以要先接上电路调节并测量输入电压的大小；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在测量幅频和相频特性时，频率变化，负载即会发生变化，注意监测并调节输入信号，使其幅值保持不变。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报告要求：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画出高通、低通滤波器的幅频特性和相频特性曲线，以及带通滤波器的幅频特性曲线。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分析高、低通滤波器输入、输出波形在不同频率时的相位关系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78303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6BDF5670-14E2-4E9E-A30E-9E4EFA87BEA5}"/>
              </a:ext>
            </a:extLst>
          </p:cNvPr>
          <p:cNvSpPr txBox="1"/>
          <p:nvPr/>
        </p:nvSpPr>
        <p:spPr>
          <a:xfrm>
            <a:off x="1403648" y="1556792"/>
            <a:ext cx="752750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实验一 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基尔霍夫定律</a:t>
            </a:r>
            <a:endParaRPr lang="en-US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实验二 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叠加定理和戴维南定理</a:t>
            </a:r>
            <a:endParaRPr lang="en-US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实验三</a:t>
            </a:r>
            <a:r>
              <a:rPr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lang="en-US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实验四 </a:t>
            </a:r>
            <a:r>
              <a:rPr lang="en-US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lang="en-US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实验五 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基本放大电路的研究</a:t>
            </a:r>
            <a:endParaRPr lang="en-US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实验六 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负反馈放大电路的研究</a:t>
            </a:r>
            <a:endParaRPr lang="en-US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实验七 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集成运算放大器在信号运算方面的应用</a:t>
            </a:r>
            <a:endParaRPr lang="en-US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实验八 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直流稳压电源的设计</a:t>
            </a:r>
          </a:p>
          <a:p>
            <a:endParaRPr lang="zh-CN" altLang="en-US"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FE22CD4A-AEA4-4EE9-83CA-93394F1E569A}"/>
              </a:ext>
            </a:extLst>
          </p:cNvPr>
          <p:cNvSpPr txBox="1"/>
          <p:nvPr/>
        </p:nvSpPr>
        <p:spPr>
          <a:xfrm>
            <a:off x="663252" y="332302"/>
            <a:ext cx="7850832" cy="690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800" dirty="0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电路与电子技术实验</a:t>
            </a:r>
            <a:r>
              <a:rPr lang="zh-CN" altLang="en-US" sz="4800" dirty="0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  <a:cs typeface="VMDEPI+LiSu"/>
              </a:rPr>
              <a:t>概论</a:t>
            </a: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64D332F6-8CAE-472C-BED4-41F92924C7D4}"/>
              </a:ext>
            </a:extLst>
          </p:cNvPr>
          <p:cNvSpPr/>
          <p:nvPr/>
        </p:nvSpPr>
        <p:spPr>
          <a:xfrm>
            <a:off x="609600" y="994817"/>
            <a:ext cx="7958137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18718095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871</TotalTime>
  <Words>1436</Words>
  <Application>Microsoft Office PowerPoint</Application>
  <PresentationFormat>全屏显示(4:3)</PresentationFormat>
  <Paragraphs>207</Paragraphs>
  <Slides>25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Arial</vt:lpstr>
      <vt:lpstr>Calibri</vt:lpstr>
      <vt:lpstr>隶书</vt:lpstr>
      <vt:lpstr>Times New Roman</vt:lpstr>
      <vt:lpstr>黑体</vt:lpstr>
      <vt:lpstr>Tahoma</vt:lpstr>
      <vt:lpstr>华文新魏</vt:lpstr>
      <vt:lpstr>宋体</vt:lpstr>
      <vt:lpstr>等线</vt:lpstr>
      <vt:lpstr>微软雅黑</vt:lpstr>
      <vt:lpstr>Wingdings</vt:lpstr>
      <vt:lpstr>Theme Office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doc2pdf</dc:creator>
  <cp:lastModifiedBy>DELL</cp:lastModifiedBy>
  <cp:revision>300</cp:revision>
  <dcterms:modified xsi:type="dcterms:W3CDTF">2021-05-18T08:31:21Z</dcterms:modified>
</cp:coreProperties>
</file>