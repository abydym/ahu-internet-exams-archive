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774" r:id="rId3"/>
    <p:sldId id="724" r:id="rId5"/>
    <p:sldId id="734" r:id="rId6"/>
    <p:sldId id="751" r:id="rId7"/>
    <p:sldId id="780" r:id="rId8"/>
    <p:sldId id="779" r:id="rId9"/>
    <p:sldId id="810" r:id="rId10"/>
    <p:sldId id="815" r:id="rId11"/>
    <p:sldId id="812" r:id="rId12"/>
    <p:sldId id="813" r:id="rId13"/>
    <p:sldId id="814" r:id="rId14"/>
    <p:sldId id="816" r:id="rId15"/>
    <p:sldId id="809" r:id="rId16"/>
    <p:sldId id="778" r:id="rId17"/>
    <p:sldId id="803" r:id="rId18"/>
    <p:sldId id="829" r:id="rId19"/>
    <p:sldId id="830" r:id="rId20"/>
    <p:sldId id="817" r:id="rId21"/>
    <p:sldId id="789" r:id="rId22"/>
    <p:sldId id="808" r:id="rId23"/>
  </p:sldIdLst>
  <p:sldSz cx="9144000" cy="6858000" type="screen4x3"/>
  <p:notesSz cx="9144000" cy="6858000"/>
  <p:embeddedFontLst>
    <p:embeddedFont>
      <p:font typeface="微软雅黑" panose="020B0503020204020204" pitchFamily="34" charset="-122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黑体" panose="02010609060101010101" pitchFamily="49" charset="-122"/>
      <p:regular r:id="rId32"/>
    </p:embeddedFont>
    <p:embeddedFont>
      <p:font typeface="等线" panose="02010600030101010101" charset="-122"/>
      <p:regular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03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859" autoAdjust="0"/>
  </p:normalViewPr>
  <p:slideViewPr>
    <p:cSldViewPr>
      <p:cViewPr varScale="1">
        <p:scale>
          <a:sx n="108" d="100"/>
          <a:sy n="108" d="100"/>
        </p:scale>
        <p:origin x="1632" y="10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3.xml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168C9-C0FF-4C0D-8BEA-410B274AF5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7945" algn="l">
              <a:lnSpc>
                <a:spcPct val="125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09E325-D14F-4E47-A1B7-73A44BB13F0D}" type="datetime1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518DA-9250-4DD1-BE77-706A49C314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png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3" Type="http://schemas.openxmlformats.org/officeDocument/2006/relationships/notesSlide" Target="../notesSlides/notesSlide4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.wmf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 txBox="1"/>
          <p:nvPr/>
        </p:nvSpPr>
        <p:spPr>
          <a:xfrm>
            <a:off x="1763688" y="2695786"/>
            <a:ext cx="5616624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endParaRPr lang="zh-CN" altLang="en-US" sz="4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0" y="2092097"/>
            <a:ext cx="7958137" cy="1143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2"/>
          <p:cNvSpPr/>
          <p:nvPr/>
        </p:nvSpPr>
        <p:spPr>
          <a:xfrm rot="10800000">
            <a:off x="1181045" y="3889369"/>
            <a:ext cx="7958137" cy="1143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/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/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/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/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5"/>
          <p:cNvSpPr>
            <a:spLocks noChangeArrowheads="1"/>
          </p:cNvSpPr>
          <p:nvPr/>
        </p:nvSpPr>
        <p:spPr bwMode="auto">
          <a:xfrm>
            <a:off x="1714029" y="5180314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1"/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5"/>
          <p:cNvSpPr>
            <a:spLocks noChangeArrowheads="1"/>
          </p:cNvSpPr>
          <p:nvPr/>
        </p:nvSpPr>
        <p:spPr bwMode="auto">
          <a:xfrm>
            <a:off x="1714029" y="577146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/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/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/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/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5"/>
          <p:cNvSpPr>
            <a:spLocks noChangeArrowheads="1"/>
          </p:cNvSpPr>
          <p:nvPr/>
        </p:nvSpPr>
        <p:spPr bwMode="auto">
          <a:xfrm>
            <a:off x="1714029" y="5180314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1"/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5"/>
          <p:cNvSpPr>
            <a:spLocks noChangeArrowheads="1"/>
          </p:cNvSpPr>
          <p:nvPr/>
        </p:nvSpPr>
        <p:spPr bwMode="auto">
          <a:xfrm>
            <a:off x="1714029" y="5771468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20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基本放大电路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1"/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文本框 8"/>
          <p:cNvSpPr txBox="1"/>
          <p:nvPr/>
        </p:nvSpPr>
        <p:spPr>
          <a:xfrm>
            <a:off x="634800" y="1448144"/>
            <a:ext cx="7924799" cy="2438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学习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晶体管</a:t>
            </a: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放大电路静态工作点的测试及调整方法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掌握放大器电压放大倍数、输入电阻、输出电阻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、和</a:t>
            </a: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通频带的测试方法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研究静态工作点对输出波形的影响和负载对放大倍数的影响</a:t>
            </a:r>
            <a:endParaRPr lang="zh-CN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20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87154" y="259789"/>
            <a:ext cx="8075290" cy="273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晶体管共射极放大电路：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电路图如图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所示。晶体管采用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NPN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型硅管；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提供电路能量，且通过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800" b="1" kern="100" baseline="-25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B1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800" b="1" kern="100" baseline="-25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B2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组成的分压电路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，使晶体管发射结正偏；通过调节</a:t>
            </a:r>
            <a:r>
              <a:rPr lang="en-US" altLang="zh-CN" sz="1800" b="1" kern="1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Rw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设置合适的静态工作点；</a:t>
            </a:r>
            <a:endParaRPr lang="en-US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发射极中接有电阻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800" b="1" kern="100" baseline="-25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稳定放大器的静态工作点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将放大器放大的电流</a:t>
            </a:r>
            <a:r>
              <a:rPr lang="en-US" altLang="zh-CN" b="1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转化为电压进行输出；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耦合电容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均起着隔直阻交的作用。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9912" y="6444877"/>
            <a:ext cx="4790048" cy="368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共射极单管放大器实验电路</a:t>
            </a:r>
            <a:endParaRPr lang="zh-CN" altLang="zh-CN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80258" y="2882003"/>
            <a:ext cx="8082186" cy="75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放大电路的正常工作条件：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晶体管发射结正偏、集电结反偏（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&gt;V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&gt;V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）；设置合适的静态工作点；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87154" y="4094882"/>
            <a:ext cx="3070697" cy="213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当在放大器的输入端加入输入信号</a:t>
            </a:r>
            <a:r>
              <a:rPr lang="en-US" altLang="zh-CN" sz="18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800" b="1" kern="100" baseline="-250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后，在放大器的输出端便可得到一个与</a:t>
            </a:r>
            <a:r>
              <a:rPr lang="en-US" altLang="zh-CN" sz="18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800" b="1" kern="100" baseline="-250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相位相反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幅值被放大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了的输出信号</a:t>
            </a:r>
            <a:r>
              <a:rPr lang="en-US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800" b="1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，从而实现了电压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放大。</a:t>
            </a:r>
            <a:endParaRPr lang="zh-CN" altLang="zh-CN" sz="1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356610"/>
            <a:ext cx="3259455" cy="319659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7154" y="259789"/>
            <a:ext cx="807529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80264" y="5593397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输入特性曲线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14365" y="5661248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输出特性曲线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17723" y="1034415"/>
            <a:ext cx="11049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=β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</a:rPr>
              <a:t>B</a:t>
            </a:r>
            <a:endParaRPr lang="en-US" altLang="zh-CN" sz="2800" baseline="-25000" dirty="0">
              <a:latin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8810" y="103441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晶体管</a:t>
            </a:r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33880" y="6093296"/>
            <a:ext cx="1104265" cy="42354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 anchor="t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  <a:buClr>
                <a:schemeClr val="bg1"/>
              </a:buClr>
            </a:pPr>
            <a:r>
              <a:rPr lang="en-US" altLang="zh-CN" b="1" i="1" dirty="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b="1" baseline="-25000" dirty="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BE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＞ </a:t>
            </a:r>
            <a:r>
              <a:rPr lang="en-US" altLang="zh-CN" b="1" i="1" dirty="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b="1" baseline="-25000" dirty="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on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302375" y="6121623"/>
            <a:ext cx="1052195" cy="42354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chemeClr val="bg1"/>
              </a:buClr>
            </a:pPr>
            <a:r>
              <a:rPr lang="en-US" altLang="zh-CN" b="1" i="1">
                <a:latin typeface="Times New Roman" panose="02020603050405020304" pitchFamily="18" charset="0"/>
                <a:sym typeface="+mn-ea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sym typeface="+mn-ea"/>
              </a:rPr>
              <a:t>CE</a:t>
            </a:r>
            <a:r>
              <a:rPr lang="en-US" altLang="zh-CN" b="1">
                <a:latin typeface="Times New Roman" panose="02020603050405020304" pitchFamily="18" charset="0"/>
                <a:sym typeface="+mn-ea"/>
              </a:rPr>
              <a:t>≥</a:t>
            </a:r>
            <a:r>
              <a:rPr lang="en-US" altLang="zh-CN" b="1" i="1">
                <a:latin typeface="Times New Roman" panose="02020603050405020304" pitchFamily="18" charset="0"/>
                <a:sym typeface="+mn-ea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sym typeface="+mn-ea"/>
              </a:rPr>
              <a:t>BE</a:t>
            </a:r>
            <a:endParaRPr lang="zh-CN" altLang="en-US"/>
          </a:p>
        </p:txBody>
      </p:sp>
      <p:pic>
        <p:nvPicPr>
          <p:cNvPr id="19" name="图片 18" descr="4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2198977"/>
            <a:ext cx="4181137" cy="3390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图片 19" descr="419"/>
          <p:cNvPicPr>
            <a:picLocks noChangeAspect="1"/>
          </p:cNvPicPr>
          <p:nvPr/>
        </p:nvPicPr>
        <p:blipFill>
          <a:blip r:embed="rId2"/>
          <a:srcRect t="1080" b="2702"/>
          <a:stretch>
            <a:fillRect/>
          </a:stretch>
        </p:blipFill>
        <p:spPr>
          <a:xfrm>
            <a:off x="4547510" y="2055090"/>
            <a:ext cx="4409579" cy="3533781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" name="组合 20"/>
          <p:cNvGrpSpPr/>
          <p:nvPr/>
        </p:nvGrpSpPr>
        <p:grpSpPr>
          <a:xfrm>
            <a:off x="7173595" y="259789"/>
            <a:ext cx="1104900" cy="1858010"/>
            <a:chOff x="8831" y="6308"/>
            <a:chExt cx="2388" cy="3445"/>
          </a:xfrm>
        </p:grpSpPr>
        <p:sp>
          <p:nvSpPr>
            <p:cNvPr id="23" name="直接连接符 22"/>
            <p:cNvSpPr/>
            <p:nvPr/>
          </p:nvSpPr>
          <p:spPr>
            <a:xfrm>
              <a:off x="9281" y="8059"/>
              <a:ext cx="919" cy="1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" name="直接连接符 23"/>
            <p:cNvSpPr/>
            <p:nvPr/>
          </p:nvSpPr>
          <p:spPr>
            <a:xfrm>
              <a:off x="10200" y="7720"/>
              <a:ext cx="0" cy="600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" name="直接连接符 24"/>
            <p:cNvSpPr/>
            <p:nvPr/>
          </p:nvSpPr>
          <p:spPr>
            <a:xfrm flipV="1">
              <a:off x="10220" y="7599"/>
              <a:ext cx="440" cy="321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" name="直接连接符 25"/>
            <p:cNvSpPr/>
            <p:nvPr/>
          </p:nvSpPr>
          <p:spPr>
            <a:xfrm>
              <a:off x="10638" y="6914"/>
              <a:ext cx="0" cy="720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" name="直接连接符 26"/>
            <p:cNvSpPr/>
            <p:nvPr/>
          </p:nvSpPr>
          <p:spPr>
            <a:xfrm>
              <a:off x="10220" y="8160"/>
              <a:ext cx="480" cy="360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" name="直接连接符 27"/>
            <p:cNvSpPr/>
            <p:nvPr/>
          </p:nvSpPr>
          <p:spPr>
            <a:xfrm>
              <a:off x="10660" y="8440"/>
              <a:ext cx="0" cy="840"/>
            </a:xfrm>
            <a:prstGeom prst="line">
              <a:avLst/>
            </a:prstGeom>
            <a:ln w="3810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" name="文本框 28"/>
            <p:cNvSpPr txBox="1"/>
            <p:nvPr/>
          </p:nvSpPr>
          <p:spPr>
            <a:xfrm>
              <a:off x="8831" y="7671"/>
              <a:ext cx="720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379" y="6308"/>
              <a:ext cx="840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0489" y="9026"/>
              <a:ext cx="600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87154" y="208051"/>
                <a:ext cx="8075290" cy="206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实验原理（以下作为参考）</a:t>
                </a:r>
                <a:endPara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静态分析（</a:t>
                </a:r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U</a:t>
                </a:r>
                <a:r>
                  <a:rPr lang="en-US" altLang="zh-CN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BEQ)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0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I</a:t>
                </a:r>
                <a:r>
                  <a:rPr lang="en-US" altLang="zh-CN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BQ</a:t>
                </a:r>
                <a:r>
                  <a:rPr lang="zh-CN" altLang="en-US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 </a:t>
                </a:r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CQ</a:t>
                </a:r>
                <a:r>
                  <a:rPr lang="zh-CN" altLang="en-US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CEQ 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1800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只在直流电源作用下的形成的直流通路，称为静态电路；用于</a:t>
                </a:r>
                <a:r>
                  <a:rPr lang="zh-CN" altLang="en-US" sz="1800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讨论静态工作点；</a:t>
                </a:r>
                <a:endParaRPr lang="en-US" altLang="zh-CN" sz="1800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1800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对于直流通路，在电路中将电容视为开路、交流电压信号源视为短路、保留交流信号源的内阻。</a:t>
                </a:r>
                <a:endParaRPr lang="zh-CN" altLang="en-US" sz="18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54" y="208051"/>
                <a:ext cx="8075290" cy="2068830"/>
              </a:xfrm>
              <a:prstGeom prst="rect">
                <a:avLst/>
              </a:prstGeom>
              <a:blipFill rotWithShape="1">
                <a:blip r:embed="rId1"/>
                <a:stretch>
                  <a:fillRect l="-1" t="-20" r="-21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36089" y="2924747"/>
          <a:ext cx="210502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29260800" imgH="10363200" progId="Equation.DSMT4">
                  <p:embed/>
                </p:oleObj>
              </mc:Choice>
              <mc:Fallback>
                <p:oleObj name="Equation" r:id="rId2" imgW="29260800" imgH="1036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089" y="2924747"/>
                        <a:ext cx="2105025" cy="750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63995" y="2767581"/>
            <a:ext cx="5602427" cy="2926408"/>
            <a:chOff x="294953" y="2420888"/>
            <a:chExt cx="5602427" cy="2926408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714"/>
            <a:stretch>
              <a:fillRect/>
            </a:stretch>
          </p:blipFill>
          <p:spPr>
            <a:xfrm>
              <a:off x="294953" y="2420888"/>
              <a:ext cx="3700984" cy="2926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68"/>
            <a:stretch>
              <a:fillRect/>
            </a:stretch>
          </p:blipFill>
          <p:spPr>
            <a:xfrm>
              <a:off x="3995937" y="2420888"/>
              <a:ext cx="1901443" cy="2926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1" name="文本框 20"/>
          <p:cNvSpPr txBox="1"/>
          <p:nvPr/>
        </p:nvSpPr>
        <p:spPr>
          <a:xfrm>
            <a:off x="5796136" y="2484660"/>
            <a:ext cx="1938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求解静态工作点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412038" y="4972823"/>
          <a:ext cx="14446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6764000" imgH="5791200" progId="Equation.DSMT4">
                  <p:embed/>
                </p:oleObj>
              </mc:Choice>
              <mc:Fallback>
                <p:oleObj name="Equation" r:id="rId5" imgW="16764000" imgH="57912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8" y="4972823"/>
                        <a:ext cx="1444625" cy="479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666422" y="5932411"/>
          <a:ext cx="33623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39014400" imgH="5791200" progId="Equation.DSMT4">
                  <p:embed/>
                </p:oleObj>
              </mc:Choice>
              <mc:Fallback>
                <p:oleObj name="Equation" r:id="rId7" imgW="39014400" imgH="57912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6422" y="5932411"/>
                        <a:ext cx="3362325" cy="479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5964077" y="3895972"/>
          <a:ext cx="276701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33528000" imgH="10972800" progId="Equation.DSMT4">
                  <p:embed/>
                </p:oleObj>
              </mc:Choice>
              <mc:Fallback>
                <p:oleObj name="Equation" r:id="rId9" imgW="33528000" imgH="1097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077" y="3895972"/>
                        <a:ext cx="2767013" cy="908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7154" y="208051"/>
            <a:ext cx="807529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1157"/>
          <a:stretch>
            <a:fillRect/>
          </a:stretch>
        </p:blipFill>
        <p:spPr>
          <a:xfrm>
            <a:off x="673765" y="761482"/>
            <a:ext cx="7796470" cy="52172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7154" y="208051"/>
            <a:ext cx="8075290" cy="9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静态分析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合适的静态工作点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369" y="3068960"/>
            <a:ext cx="5658313" cy="305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29475" y="340299"/>
            <a:ext cx="2730372" cy="621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7154" y="208051"/>
            <a:ext cx="8075290" cy="9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静态分析：静态工作点太低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截止失真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7996" y="2780928"/>
            <a:ext cx="5324127" cy="282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9812" y="548680"/>
            <a:ext cx="2524789" cy="558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7154" y="208051"/>
            <a:ext cx="8075290" cy="9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静态分析：静态工作点太高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饱和失真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742" y="2564904"/>
            <a:ext cx="5760640" cy="250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6566" y="687905"/>
            <a:ext cx="2425878" cy="542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8" t="36959" r="25050" b="35817"/>
          <a:stretch>
            <a:fillRect/>
          </a:stretch>
        </p:blipFill>
        <p:spPr bwMode="auto">
          <a:xfrm>
            <a:off x="3232062" y="5301208"/>
            <a:ext cx="2808312" cy="995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7154" y="208051"/>
            <a:ext cx="8075290" cy="203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放大倍数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动态分析：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1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只在交流输入信号作用下形成的电流通路，称为动态电路；用于</a:t>
            </a:r>
            <a:r>
              <a:rPr lang="zh-CN" altLang="en-US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研究动态参数；</a:t>
            </a:r>
            <a:endParaRPr lang="en-US" altLang="zh-CN" sz="18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对于交流通路，在电路中将电容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如耦合电容等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视为短路、无内阻的直流电压源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视为短路</a:t>
            </a:r>
            <a:endParaRPr lang="zh-CN" altLang="en-US" sz="1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2245995"/>
            <a:ext cx="6657975" cy="452501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7154" y="208051"/>
            <a:ext cx="807529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输入电阻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9163" y="2529698"/>
            <a:ext cx="3926793" cy="215109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5096125"/>
            <a:ext cx="2380952" cy="114285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018760"/>
            <a:ext cx="6336704" cy="115844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686" y="3081889"/>
            <a:ext cx="3875381" cy="1953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804" y="5376133"/>
            <a:ext cx="2257143" cy="1019048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87154" y="208051"/>
            <a:ext cx="807529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输出电阻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972343"/>
            <a:ext cx="5870235" cy="176918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3315" name="文本框 17410"/>
          <p:cNvSpPr txBox="1">
            <a:spLocks noChangeArrowheads="1"/>
          </p:cNvSpPr>
          <p:nvPr/>
        </p:nvSpPr>
        <p:spPr bwMode="auto">
          <a:xfrm>
            <a:off x="804069" y="1772603"/>
            <a:ext cx="7535863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1 观察静态工作点对放大电路工</a:t>
            </a:r>
            <a:r>
              <a:rPr lang="zh-CN" altLang="en-US" sz="2400" dirty="0">
                <a:latin typeface="宋体" panose="02010600030101010101" pitchFamily="2" charset="-122"/>
              </a:rPr>
              <a:t>作的影响 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(1)按图在模拟电路实验箱上连接好电路，检查无误后，接通电源。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(2)调节Rw，使ICQ=2mA，测量此时的UCQ、UBQ、UEQ(万用表测量</a:t>
            </a:r>
            <a:r>
              <a:rPr lang="zh-CN" altLang="en-US" sz="2400" dirty="0">
                <a:latin typeface="宋体" panose="02010600030101010101" pitchFamily="2" charset="-122"/>
              </a:rPr>
              <a:t>)电位。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(3)在上述静态条件下，接入f=lkHz，Ui=5mV的正弦信号电压，观察输出波形，在不失真的条件下测量输出电压U</a:t>
            </a:r>
            <a:r>
              <a:rPr lang="zh-CN" altLang="en-US" sz="2400" dirty="0">
                <a:latin typeface="宋体" panose="02010600030101010101" pitchFamily="2" charset="-122"/>
              </a:rPr>
              <a:t>O（用示波器或交流毫伏表测量）。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(4)</a:t>
            </a: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测量输入电阻与输出电阻。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(5)逐渐减小或增大</a:t>
            </a:r>
            <a:r>
              <a:rPr lang="zh-CN" altLang="en-US" sz="2400" dirty="0">
                <a:latin typeface="宋体" panose="02010600030101010101" pitchFamily="2" charset="-122"/>
              </a:rPr>
              <a:t>Rw，观察输出波形的变化，分别记录两种失真波形，判断信号失真类型。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410" name="标题 17409"/>
          <p:cNvSpPr>
            <a:spLocks noGrp="1" noRot="1"/>
          </p:cNvSpPr>
          <p:nvPr/>
        </p:nvSpPr>
        <p:spPr>
          <a:xfrm>
            <a:off x="611505" y="260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noProof="1"/>
              <a:t>实验内容</a:t>
            </a:r>
            <a:r>
              <a:rPr lang="en-US" altLang="zh-CN" b="1" noProof="1"/>
              <a:t>1</a:t>
            </a:r>
            <a:endParaRPr lang="en-US" altLang="zh-CN" b="1" noProof="1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标题 18433"/>
          <p:cNvSpPr>
            <a:spLocks noGrp="1" noRot="1"/>
          </p:cNvSpPr>
          <p:nvPr/>
        </p:nvSpPr>
        <p:spPr>
          <a:xfrm>
            <a:off x="827405" y="116205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b="1" noProof="1"/>
              <a:t>静态工作点及电压放大倍数测量表</a:t>
            </a:r>
            <a:endParaRPr lang="zh-CN" altLang="en-US" sz="3600" b="1" noProof="1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85800" y="1778794"/>
          <a:ext cx="7772400" cy="3459480"/>
        </p:xfrm>
        <a:graphic>
          <a:graphicData uri="http://schemas.openxmlformats.org/drawingml/2006/table">
            <a:tbl>
              <a:tblPr/>
              <a:tblGrid>
                <a:gridCol w="971550"/>
                <a:gridCol w="625475"/>
                <a:gridCol w="771525"/>
                <a:gridCol w="763905"/>
                <a:gridCol w="744855"/>
                <a:gridCol w="711200"/>
                <a:gridCol w="685619"/>
                <a:gridCol w="727710"/>
                <a:gridCol w="799011"/>
                <a:gridCol w="971550"/>
              </a:tblGrid>
              <a:tr h="609600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1" dirty="0">
                          <a:solidFill>
                            <a:schemeClr val="tx2"/>
                          </a:solidFill>
                        </a:rPr>
                        <a:t>R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</a:rPr>
                        <a:t>W</a:t>
                      </a:r>
                      <a:endParaRPr lang="zh-CN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 dirty="0">
                          <a:solidFill>
                            <a:schemeClr val="tx2"/>
                          </a:solidFill>
                        </a:rPr>
                        <a:t>工作点测量值</a:t>
                      </a:r>
                      <a:endParaRPr lang="zh-CN" altLang="en-US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3200" b="1" err="1">
                          <a:solidFill>
                            <a:schemeClr val="tx2"/>
                          </a:solidFill>
                        </a:rPr>
                        <a:t>U</a:t>
                      </a:r>
                      <a:r>
                        <a:rPr lang="en-US" altLang="zh-CN" sz="2000" b="1" err="1">
                          <a:solidFill>
                            <a:schemeClr val="tx2"/>
                          </a:solidFill>
                        </a:rPr>
                        <a:t>i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solidFill>
                            <a:schemeClr val="tx2"/>
                          </a:solidFill>
                        </a:rPr>
                        <a:t>U</a:t>
                      </a:r>
                      <a:r>
                        <a:rPr lang="en-US" altLang="zh-CN" sz="2000" b="1">
                          <a:solidFill>
                            <a:schemeClr val="tx2"/>
                          </a:solidFill>
                        </a:rPr>
                        <a:t>O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solidFill>
                            <a:schemeClr val="tx2"/>
                          </a:solidFill>
                        </a:rPr>
                        <a:t>Au</a:t>
                      </a:r>
                      <a:endParaRPr lang="zh-CN" altLang="en-US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 vMerge="1"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tx2"/>
                          </a:solidFill>
                        </a:rPr>
                        <a:t>I</a:t>
                      </a:r>
                      <a:r>
                        <a:rPr lang="en-US" altLang="zh-CN" sz="1600" b="1">
                          <a:solidFill>
                            <a:schemeClr val="tx2"/>
                          </a:solidFill>
                        </a:rPr>
                        <a:t>CQ</a:t>
                      </a:r>
                      <a:endParaRPr lang="zh-CN" altLang="en-US" sz="16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tx2"/>
                          </a:solidFill>
                        </a:rPr>
                        <a:t>U</a:t>
                      </a:r>
                      <a:r>
                        <a:rPr lang="en-US" altLang="zh-CN" sz="1600" b="1">
                          <a:solidFill>
                            <a:schemeClr val="tx2"/>
                          </a:solidFill>
                        </a:rPr>
                        <a:t>CQ</a:t>
                      </a:r>
                      <a:endParaRPr lang="zh-CN" altLang="en-US" sz="16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tx2"/>
                          </a:solidFill>
                        </a:rPr>
                        <a:t>U</a:t>
                      </a:r>
                      <a:r>
                        <a:rPr lang="en-US" altLang="zh-CN" sz="1600" b="1">
                          <a:solidFill>
                            <a:schemeClr val="tx2"/>
                          </a:solidFill>
                        </a:rPr>
                        <a:t>BQ</a:t>
                      </a:r>
                      <a:endParaRPr lang="zh-CN" altLang="en-US" sz="16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tx2"/>
                          </a:solidFill>
                        </a:rPr>
                        <a:t>U</a:t>
                      </a:r>
                      <a:r>
                        <a:rPr lang="en-US" altLang="zh-CN" sz="1600" b="1">
                          <a:solidFill>
                            <a:schemeClr val="tx2"/>
                          </a:solidFill>
                        </a:rPr>
                        <a:t>EQ</a:t>
                      </a:r>
                      <a:endParaRPr lang="zh-CN" altLang="en-US" sz="16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>
                        <a:buNone/>
                      </a:pPr>
                      <a:r>
                        <a:rPr lang="en-US" altLang="zh-CN" sz="2800" b="1">
                          <a:solidFill>
                            <a:schemeClr val="tx2"/>
                          </a:solidFill>
                          <a:sym typeface="+mn-ea"/>
                        </a:rPr>
                        <a:t>U</a:t>
                      </a:r>
                      <a:r>
                        <a:rPr lang="en-US" altLang="zh-CN" sz="1600" b="1">
                          <a:solidFill>
                            <a:schemeClr val="tx2"/>
                          </a:solidFill>
                          <a:sym typeface="+mn-ea"/>
                        </a:rPr>
                        <a:t>BE</a:t>
                      </a:r>
                      <a:endParaRPr lang="en-US" altLang="zh-CN" sz="16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</a:rPr>
                        <a:t>实测值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</a:rPr>
                        <a:t>理论值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</a:rPr>
                        <a:t>正常值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</a:rPr>
                        <a:t>2mA</a:t>
                      </a:r>
                      <a:endParaRPr lang="zh-CN" altLang="en-US" sz="2000" b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</a:rPr>
                        <a:t>5mV</a:t>
                      </a:r>
                      <a:endParaRPr lang="zh-CN" altLang="en-US" sz="2000" b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</a:rPr>
                        <a:t>较大值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记录输出波形</a:t>
                      </a: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判断失真类型</a:t>
                      </a:r>
                      <a:endParaRPr lang="zh-CN" altLang="en-US" sz="2000" b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</a:tr>
              <a:tr h="760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</a:rPr>
                        <a:t>较小值</a:t>
                      </a:r>
                      <a:endParaRPr lang="zh-CN" altLang="en-US" sz="20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记录输出波形</a:t>
                      </a: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>
                        <a:buNone/>
                      </a:pP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判断失真类型</a:t>
                      </a: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7410" name="标题 17409"/>
          <p:cNvSpPr>
            <a:spLocks noGrp="1" noRot="1"/>
          </p:cNvSpPr>
          <p:nvPr/>
        </p:nvSpPr>
        <p:spPr>
          <a:xfrm>
            <a:off x="611505" y="260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noProof="1"/>
              <a:t>实验内容</a:t>
            </a:r>
            <a:r>
              <a:rPr lang="en-US" altLang="zh-CN" b="1" noProof="1"/>
              <a:t>2</a:t>
            </a:r>
            <a:endParaRPr lang="en-US" altLang="zh-CN" b="1" noProof="1"/>
          </a:p>
        </p:txBody>
      </p:sp>
      <p:sp>
        <p:nvSpPr>
          <p:cNvPr id="15362" name="文本框 19457"/>
          <p:cNvSpPr txBox="1">
            <a:spLocks noChangeArrowheads="1"/>
          </p:cNvSpPr>
          <p:nvPr/>
        </p:nvSpPr>
        <p:spPr bwMode="auto">
          <a:xfrm>
            <a:off x="593725" y="1614488"/>
            <a:ext cx="7840980" cy="3538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CC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基本放大电路通频带、幅频特性的测量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(1)</a:t>
            </a:r>
            <a:r>
              <a:rPr lang="zh-CN" altLang="en-US" sz="2800" dirty="0">
                <a:latin typeface="宋体" panose="02010600030101010101" pitchFamily="2" charset="-122"/>
              </a:rPr>
              <a:t>电路的静态工作点恢复至</a:t>
            </a:r>
            <a:r>
              <a:rPr lang="en-US" altLang="zh-CN" sz="2800" dirty="0">
                <a:latin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</a:rPr>
              <a:t>CQ</a:t>
            </a:r>
            <a:r>
              <a:rPr lang="en-US" altLang="zh-CN" sz="2800" dirty="0">
                <a:latin typeface="宋体" panose="02010600030101010101" pitchFamily="2" charset="-122"/>
              </a:rPr>
              <a:t>=2mA</a:t>
            </a:r>
            <a:r>
              <a:rPr lang="zh-CN" altLang="en-US" sz="2800" dirty="0">
                <a:latin typeface="宋体" panose="02010600030101010101" pitchFamily="2" charset="-122"/>
              </a:rPr>
              <a:t>，保持输入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信号幅度</a:t>
            </a:r>
            <a:r>
              <a:rPr lang="en-US" altLang="zh-CN" sz="2800" dirty="0">
                <a:latin typeface="宋体" panose="02010600030101010101" pitchFamily="2" charset="-122"/>
              </a:rPr>
              <a:t>(5mV)</a:t>
            </a:r>
            <a:r>
              <a:rPr lang="zh-CN" altLang="en-US" sz="2800" dirty="0">
                <a:latin typeface="宋体" panose="02010600030101010101" pitchFamily="2" charset="-122"/>
              </a:rPr>
              <a:t>不变，确定</a:t>
            </a:r>
            <a:r>
              <a:rPr lang="en-US" altLang="zh-CN" sz="2800" dirty="0" err="1">
                <a:latin typeface="宋体" panose="02010600030101010101" pitchFamily="2" charset="-122"/>
              </a:rPr>
              <a:t>fo</a:t>
            </a:r>
            <a:r>
              <a:rPr lang="en-US" altLang="zh-CN" sz="2800" dirty="0">
                <a:latin typeface="宋体" panose="02010600030101010101" pitchFamily="2" charset="-122"/>
              </a:rPr>
              <a:t>=</a:t>
            </a:r>
            <a:r>
              <a:rPr lang="en-US" altLang="zh-CN" sz="2800" dirty="0" err="1">
                <a:latin typeface="宋体" panose="02010600030101010101" pitchFamily="2" charset="-122"/>
              </a:rPr>
              <a:t>lkHz</a:t>
            </a:r>
            <a:r>
              <a:rPr lang="zh-CN" altLang="en-US" sz="2800" dirty="0">
                <a:latin typeface="宋体" panose="02010600030101010101" pitchFamily="2" charset="-122"/>
              </a:rPr>
              <a:t>时的输出电压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U</a:t>
            </a:r>
            <a:r>
              <a:rPr lang="en-US" altLang="zh-CN" sz="2000" dirty="0">
                <a:latin typeface="宋体" panose="02010600030101010101" pitchFamily="2" charset="-122"/>
              </a:rPr>
              <a:t>O</a:t>
            </a:r>
            <a:r>
              <a:rPr lang="zh-CN" altLang="en-US" sz="2800" dirty="0">
                <a:latin typeface="宋体" panose="02010600030101010101" pitchFamily="2" charset="-122"/>
              </a:rPr>
              <a:t>或电压放大倍数。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(2)</a:t>
            </a:r>
            <a:r>
              <a:rPr lang="zh-CN" altLang="en-US" sz="2800" dirty="0">
                <a:latin typeface="宋体" panose="02010600030101010101" pitchFamily="2" charset="-122"/>
              </a:rPr>
              <a:t>改变输入信号的频率，当频率升高或降低，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输出电压降至</a:t>
            </a:r>
            <a:r>
              <a:rPr lang="en-US" altLang="zh-CN" sz="2800" dirty="0">
                <a:latin typeface="Times New Roman" panose="02020603050405020304" pitchFamily="18" charset="0"/>
              </a:rPr>
              <a:t>0.707U</a:t>
            </a:r>
            <a:r>
              <a:rPr lang="en-US" altLang="zh-CN" sz="2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</a:rPr>
              <a:t>时，所对应的信号频率分别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为上限频率</a:t>
            </a:r>
            <a:r>
              <a:rPr lang="en-US" altLang="zh-CN" dirty="0" err="1">
                <a:latin typeface="宋体" panose="02010600030101010101" pitchFamily="2" charset="-122"/>
              </a:rPr>
              <a:t>f</a:t>
            </a:r>
            <a:r>
              <a:rPr lang="en-US" altLang="zh-CN" sz="2000" dirty="0" err="1">
                <a:latin typeface="宋体" panose="02010600030101010101" pitchFamily="2" charset="-122"/>
              </a:rPr>
              <a:t>H</a:t>
            </a:r>
            <a:r>
              <a:rPr lang="zh-CN" altLang="en-US" sz="2800" dirty="0">
                <a:latin typeface="宋体" panose="02010600030101010101" pitchFamily="2" charset="-122"/>
              </a:rPr>
              <a:t>和下限频率</a:t>
            </a:r>
            <a:r>
              <a:rPr lang="en-US" altLang="zh-CN" sz="2800" dirty="0" err="1">
                <a:latin typeface="宋体" panose="02010600030101010101" pitchFamily="2" charset="-122"/>
              </a:rPr>
              <a:t>f</a:t>
            </a:r>
            <a:r>
              <a:rPr lang="en-US" altLang="zh-CN" sz="2000" dirty="0" err="1">
                <a:latin typeface="宋体" panose="02010600030101010101" pitchFamily="2" charset="-122"/>
              </a:rPr>
              <a:t>L</a:t>
            </a:r>
            <a:r>
              <a:rPr lang="zh-CN" altLang="en-US" sz="2800" dirty="0">
                <a:latin typeface="宋体" panose="02010600030101010101" pitchFamily="2" charset="-122"/>
              </a:rPr>
              <a:t>。将数据记入下表中。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331595" y="5013325"/>
          <a:ext cx="6096000" cy="1219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609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              </a:t>
                      </a:r>
                      <a:r>
                        <a:rPr lang="en-US" altLang="zh-CN" sz="3200" dirty="0" err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lang="en-US" altLang="zh-CN" sz="2000" dirty="0" err="1">
                          <a:solidFill>
                            <a:srgbClr val="000000"/>
                          </a:solidFill>
                        </a:rPr>
                        <a:t>H</a:t>
                      </a:r>
                      <a:endParaRPr lang="zh-CN" altLang="en-US" sz="20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              </a:t>
                      </a:r>
                      <a:r>
                        <a:rPr lang="en-US" altLang="zh-CN" sz="3200" dirty="0" err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lang="en-US" altLang="zh-CN" sz="2000" dirty="0" err="1">
                          <a:solidFill>
                            <a:srgbClr val="000000"/>
                          </a:solidFill>
                        </a:rPr>
                        <a:t>L</a:t>
                      </a:r>
                      <a:endParaRPr lang="zh-CN" altLang="en-US" sz="20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2"/>
                        </a:buClr>
                        <a:defRPr sz="2400" kern="1200"/>
                      </a:lvl2pPr>
                      <a:lvl3pPr marL="1143000" lvl="2" indent="-228600">
                        <a:buClr>
                          <a:schemeClr val="hlink"/>
                        </a:buClr>
                        <a:buSzPct val="70000"/>
                        <a:defRPr sz="2000" kern="1200"/>
                      </a:lvl3pPr>
                      <a:lvl4pPr marL="1600200" lvl="3" indent="-228600">
                        <a:buClr>
                          <a:schemeClr val="tx2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buSzPct val="75000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/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708" y="4124512"/>
            <a:ext cx="4824536" cy="23288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461" y="2107377"/>
            <a:ext cx="3518963" cy="19089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t="1035"/>
          <a:stretch>
            <a:fillRect/>
          </a:stretch>
        </p:blipFill>
        <p:spPr>
          <a:xfrm>
            <a:off x="794335" y="2194980"/>
            <a:ext cx="3710458" cy="188209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6925" y="2204864"/>
            <a:ext cx="174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低通电路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716016" y="2195572"/>
            <a:ext cx="174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通电路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461021" y="4464940"/>
            <a:ext cx="174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zh-CN" altLang="en-US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通电路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83568" y="1412776"/>
            <a:ext cx="3710458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/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/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8" name="文本框 17"/>
          <p:cNvSpPr txBox="1"/>
          <p:nvPr/>
        </p:nvSpPr>
        <p:spPr>
          <a:xfrm>
            <a:off x="611560" y="1448144"/>
            <a:ext cx="7924799" cy="452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实验报告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注意事项：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因为信号源有一定的内阻，端口电压会随着负载的变化而变化，所以要先接上电路调节并测量输入电压的大小；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在测量幅频和相频特性时，频率变化，负载即会发生变化，注意监测并调节输入信号，使其幅值保持不变。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报告要求：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画出高通、低通滤波器的幅频特性和相频特性曲线，以及带通滤波器的幅频特性曲线。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分析高、低通滤波器输入、输出波形在不同频率时的相位关系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1.xml><?xml version="1.0" encoding="utf-8"?>
<p:tagLst xmlns:p="http://schemas.openxmlformats.org/presentationml/2006/main">
  <p:tag name="KSO_WM_UNIT_TABLE_BEAUTIFY" val="smartTable{87632114-bd07-4849-8911-2ff49cb427e0}"/>
</p:tagLst>
</file>

<file path=ppt/tags/tag2.xml><?xml version="1.0" encoding="utf-8"?>
<p:tagLst xmlns:p="http://schemas.openxmlformats.org/presentationml/2006/main">
  <p:tag name="KSO_WM_UNIT_TABLE_BEAUTIFY" val="smartTable{027b1492-53f0-49c2-8644-99e8bf6c74b3}"/>
</p:tagLst>
</file>

<file path=ppt/tags/tag3.xml><?xml version="1.0" encoding="utf-8"?>
<p:tagLst xmlns:p="http://schemas.openxmlformats.org/presentationml/2006/main">
  <p:tag name="COMMONDATA" val="eyJoZGlkIjoiMzA2ZjJlNDBhMzdiNGIwYzY0YmI4OTg5NjRmZTMyZTEifQ==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1931</Words>
  <Application>WPS 演示</Application>
  <PresentationFormat>全屏显示(4:3)</PresentationFormat>
  <Paragraphs>278</Paragraphs>
  <Slides>20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VMDEPI+LiSu</vt:lpstr>
      <vt:lpstr>Segoe Print</vt:lpstr>
      <vt:lpstr>Times New Roman</vt:lpstr>
      <vt:lpstr>Calibri</vt:lpstr>
      <vt:lpstr>黑体</vt:lpstr>
      <vt:lpstr>Cambria Math</vt:lpstr>
      <vt:lpstr>Arial Unicode MS</vt:lpstr>
      <vt:lpstr>等线</vt:lpstr>
      <vt:lpstr>隶书</vt:lpstr>
      <vt:lpstr>Theme Office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董田氏</cp:lastModifiedBy>
  <cp:revision>364</cp:revision>
  <dcterms:created xsi:type="dcterms:W3CDTF">2022-05-29T02:17:42Z</dcterms:created>
  <dcterms:modified xsi:type="dcterms:W3CDTF">2022-05-29T02:50:38Z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740D03F2B84D40BCA09709508E4D778D</vt:lpwstr>
  </property>
  <property fmtid="{D5CDD505-2E9C-101B-9397-08002B2CF9AE}" pid="3" name="KSOProductBuildVer">
    <vt:lpwstr>2052-11.1.0.11744</vt:lpwstr>
  </property>
</Properties>
</file>