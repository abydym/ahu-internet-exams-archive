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74" r:id="rId2"/>
    <p:sldId id="831" r:id="rId3"/>
    <p:sldId id="725" r:id="rId4"/>
    <p:sldId id="775" r:id="rId5"/>
    <p:sldId id="807" r:id="rId6"/>
    <p:sldId id="808" r:id="rId7"/>
    <p:sldId id="809" r:id="rId8"/>
    <p:sldId id="813" r:id="rId9"/>
    <p:sldId id="812" r:id="rId10"/>
    <p:sldId id="811" r:id="rId11"/>
    <p:sldId id="786" r:id="rId12"/>
    <p:sldId id="814" r:id="rId13"/>
    <p:sldId id="817" r:id="rId14"/>
    <p:sldId id="816" r:id="rId15"/>
    <p:sldId id="815" r:id="rId16"/>
    <p:sldId id="804" r:id="rId17"/>
    <p:sldId id="818" r:id="rId18"/>
  </p:sldIdLst>
  <p:sldSz cx="9144000" cy="6858000" type="screen4x3"/>
  <p:notesSz cx="9144000" cy="6858000"/>
  <p:embeddedFontLst>
    <p:embeddedFont>
      <p:font typeface="黑体" panose="02010609060101010101" pitchFamily="49" charset="-122"/>
      <p:regular r:id="rId21"/>
    </p:embeddedFont>
    <p:embeddedFont>
      <p:font typeface="微软雅黑" panose="020B0503020204020204" pitchFamily="34" charset="-122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等线" panose="02010600030101010101" pitchFamily="2" charset="-122"/>
      <p:regular r:id="rId28"/>
      <p:bold r:id="rId2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466"/>
    <a:srgbClr val="E6E6E6"/>
    <a:srgbClr val="BBE0E3"/>
    <a:srgbClr val="E27089"/>
    <a:srgbClr val="E991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83421" autoAdjust="0"/>
  </p:normalViewPr>
  <p:slideViewPr>
    <p:cSldViewPr>
      <p:cViewPr varScale="1">
        <p:scale>
          <a:sx n="95" d="100"/>
          <a:sy n="95" d="100"/>
        </p:scale>
        <p:origin x="-2196" y="-90"/>
      </p:cViewPr>
      <p:guideLst>
        <p:guide orient="horz" pos="3168"/>
        <p:guide pos="2448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37B70EC8-B4E5-4D3A-8B9E-1A47AED25C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73DAF2A5-B41B-4E55-A4F4-E2E9DCA878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8080D-874D-44D4-B337-62A7262BB8C2}" type="datetimeFigureOut">
              <a:rPr lang="zh-CN" altLang="en-US" smtClean="0"/>
              <a:t>2024-12-14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B15002BE-6D5A-4E3E-9A5A-C789D085B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41F8208-6DB6-4FDA-9C7E-A16FA4CD1A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6C88C-A882-4231-B59A-823396C2B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8442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168C9-C0FF-4C0D-8BEA-410B274AF575}" type="datetimeFigureOut">
              <a:rPr lang="zh-CN" altLang="en-US" smtClean="0"/>
              <a:t>2024-12-14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0CBDF-2F6F-4927-A4F7-77FE1B09F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447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7945" algn="l">
              <a:lnSpc>
                <a:spcPct val="125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1F50F0E6-A0E1-4409-89F0-15189B7C5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3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590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97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虚短和虚断是分析由运放组成的各种线性应用电路的基本出发点，必须熟练掌握。</a:t>
            </a:r>
            <a:endParaRPr lang="en-US" altLang="zh-CN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703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05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552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099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4C423B5-DD43-4A63-A783-0C76E2713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476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供电电源不能接反，否则会烧毁芯片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C730786-EE8F-41B3-AA17-D158C9D5A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94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C730786-EE8F-41B3-AA17-D158C9D5A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056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Ri=1450K</a:t>
            </a: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C730786-EE8F-41B3-AA17-D158C9D5A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31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C730786-EE8F-41B3-AA17-D158C9D5A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218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C730786-EE8F-41B3-AA17-D158C9D5A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830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CB1B0BA-3171-40C7-914C-EBE70329A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253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实验注意事项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CB1B0BA-3171-40C7-914C-EBE70329A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CBDF-2F6F-4927-A4F7-77FE1B09F3E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2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471-AB09-49A7-87D5-E1103EBDD126}" type="datetime1">
              <a:rPr lang="en-US" altLang="zh-CN" smtClean="0"/>
              <a:t>12/14/2024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389E34FC-1C98-468A-BB67-6B8366C7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EC05AC-0BEF-46D7-B124-937E1AB61867}" type="datetime1">
              <a:rPr lang="en-US" altLang="zh-CN" smtClean="0"/>
              <a:t>12/14/2024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9336E2A0-D9B0-4C2A-97E1-5CBB66C4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99D0B9E6-1CD5-4066-98C1-D146902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518DA-9250-4DD1-BE77-706A49C314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31529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CBC4A-4A06-4A64-BA52-D674D5C9ABD4}" type="datetime1">
              <a:rPr lang="en-US" altLang="zh-CN" smtClean="0"/>
              <a:t>12/14/2024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wmf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1.emf"/><Relationship Id="rId5" Type="http://schemas.openxmlformats.org/officeDocument/2006/relationships/image" Target="../media/image1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gif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xmlns="" id="{FE22CD4A-AEA4-4EE9-83CA-93394F1E569A}"/>
              </a:ext>
            </a:extLst>
          </p:cNvPr>
          <p:cNvSpPr txBox="1"/>
          <p:nvPr/>
        </p:nvSpPr>
        <p:spPr>
          <a:xfrm>
            <a:off x="1763688" y="2695786"/>
            <a:ext cx="5616624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endParaRPr lang="zh-CN" altLang="en-US" sz="4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xmlns="" id="{64D332F6-8CAE-472C-BED4-41F92924C7D4}"/>
              </a:ext>
            </a:extLst>
          </p:cNvPr>
          <p:cNvSpPr/>
          <p:nvPr/>
        </p:nvSpPr>
        <p:spPr>
          <a:xfrm>
            <a:off x="0" y="2092097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xmlns="" id="{7A882290-F3E8-4D58-BEA2-60134C5C3147}"/>
              </a:ext>
            </a:extLst>
          </p:cNvPr>
          <p:cNvSpPr/>
          <p:nvPr/>
        </p:nvSpPr>
        <p:spPr>
          <a:xfrm rot="10800000">
            <a:off x="1181045" y="3889369"/>
            <a:ext cx="7958137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8213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FE856086-625A-4091-9E9E-CE45759C9C73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03BCFE5-1E59-41A1-8636-9AA6EC8F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="" xmlns:a16="http://schemas.microsoft.com/office/drawing/2014/main" id="{B43BE4D6-1FB1-4661-A626-FAB8BEDA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="" xmlns:a16="http://schemas.microsoft.com/office/drawing/2014/main" id="{557707EB-B318-4F1F-83F0-D6B6B8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="" xmlns:a16="http://schemas.microsoft.com/office/drawing/2014/main" id="{D839C882-C782-45FB-9991-791E7FE2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="" xmlns:a16="http://schemas.microsoft.com/office/drawing/2014/main" id="{5A581705-77E3-437D-8655-383F6B73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</a:p>
        </p:txBody>
      </p:sp>
      <p:sp>
        <p:nvSpPr>
          <p:cNvPr id="11" name="矩形 11">
            <a:extLst>
              <a:ext uri="{FF2B5EF4-FFF2-40B4-BE49-F238E27FC236}">
                <a16:creationId xmlns="" xmlns:a16="http://schemas.microsoft.com/office/drawing/2014/main" id="{33EB0CB5-24DD-409B-A5B6-1540B160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1519315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FE856086-625A-4091-9E9E-CE45759C9C73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003BCFE5-1E59-41A1-8636-9AA6EC8FC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1628800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基尔霍夫定律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xmlns="" id="{B43BE4D6-1FB1-4661-A626-FAB8BEDA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2220719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叠加定理和戴维南定理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xmlns="" id="{557707EB-B318-4F1F-83F0-D6B6B843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54" y="3404557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实验四 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电路频率特性的研究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xmlns="" id="{D839C882-C782-45FB-9991-791E7FE2A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3996476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基本放大电路的研究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xmlns="" id="{33EB0CB5-24DD-409B-A5B6-1540B160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195" y="2812638"/>
            <a:ext cx="5969000" cy="577850"/>
          </a:xfrm>
          <a:prstGeom prst="rect">
            <a:avLst/>
          </a:prstGeom>
          <a:solidFill>
            <a:srgbClr val="E6E6E6"/>
          </a:solidFill>
          <a:ln w="15875" cmpd="sng">
            <a:solidFill>
              <a:srgbClr val="E6E6E6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实验三   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简单正弦交流电路的研究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4">
            <a:extLst>
              <a:ext uri="{FF2B5EF4-FFF2-40B4-BE49-F238E27FC236}">
                <a16:creationId xmlns="" xmlns:a16="http://schemas.microsoft.com/office/drawing/2014/main" id="{5A581705-77E3-437D-8655-383F6B736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029" y="4589160"/>
            <a:ext cx="5969000" cy="577850"/>
          </a:xfrm>
          <a:prstGeom prst="rect">
            <a:avLst/>
          </a:prstGeom>
          <a:solidFill>
            <a:srgbClr val="003466"/>
          </a:solidFill>
          <a:ln w="15875" cmpd="sng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   基于</a:t>
            </a:r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的运算电路</a:t>
            </a:r>
          </a:p>
        </p:txBody>
      </p:sp>
    </p:spTree>
    <p:extLst>
      <p:ext uri="{BB962C8B-B14F-4D97-AF65-F5344CB8AC3E}">
        <p14:creationId xmlns:p14="http://schemas.microsoft.com/office/powerpoint/2010/main" val="55072505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4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object 1">
            <a:extLst>
              <a:ext uri="{FF2B5EF4-FFF2-40B4-BE49-F238E27FC236}">
                <a16:creationId xmlns:a16="http://schemas.microsoft.com/office/drawing/2014/main" xmlns="" id="{29B57BCF-D64B-4BEF-8A86-A88DF67D7232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FCAC0EDE-D26E-4437-8C38-B5F60FC36265}"/>
              </a:ext>
            </a:extLst>
          </p:cNvPr>
          <p:cNvSpPr txBox="1"/>
          <p:nvPr/>
        </p:nvSpPr>
        <p:spPr>
          <a:xfrm>
            <a:off x="609601" y="1641639"/>
            <a:ext cx="7924799" cy="2438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通过对运算放大器几种基本电路的设计与测试，理解和认识放大器的工作原理及电路组成；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熟悉比例、积分、微分电路的基本工作原理和电路组成形式；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学会测试各运算电路和工作波形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8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</a:t>
            </a: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基于集成运放的运算电路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73158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xmlns="" id="{3F0B4436-C89F-40B2-BF81-93CB7080B0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15631"/>
          <a:stretch/>
        </p:blipFill>
        <p:spPr>
          <a:xfrm rot="5400000">
            <a:off x="7185420" y="3194629"/>
            <a:ext cx="447619" cy="28122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xmlns="" id="{D72773A9-1F34-46D6-ADDB-E609B59473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25"/>
          <a:stretch/>
        </p:blipFill>
        <p:spPr>
          <a:xfrm rot="16200000">
            <a:off x="7312518" y="4658828"/>
            <a:ext cx="288031" cy="132632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xmlns="" id="{0BFD5284-E097-464E-B5E3-A5A753FA9B00}"/>
              </a:ext>
            </a:extLst>
          </p:cNvPr>
          <p:cNvGrpSpPr/>
          <p:nvPr/>
        </p:nvGrpSpPr>
        <p:grpSpPr>
          <a:xfrm>
            <a:off x="6200590" y="3068236"/>
            <a:ext cx="2792269" cy="1961475"/>
            <a:chOff x="6200590" y="3068236"/>
            <a:chExt cx="2792269" cy="196147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xmlns="" id="{5CFE61CE-C886-439A-8FB0-6BD3FA3D9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083" b="27792"/>
            <a:stretch>
              <a:fillRect/>
            </a:stretch>
          </p:blipFill>
          <p:spPr bwMode="auto">
            <a:xfrm>
              <a:off x="6200590" y="3068236"/>
              <a:ext cx="2792269" cy="196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xmlns="" id="{8878B520-4BEF-4443-9C7D-7EF599F13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9172" y="4801266"/>
              <a:ext cx="149689" cy="129277"/>
            </a:xfrm>
            <a:prstGeom prst="rect">
              <a:avLst/>
            </a:prstGeom>
          </p:spPr>
        </p:pic>
      </p:grpSp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hangingPunct="1"/>
              <a:t>5</a:t>
            </a:fld>
            <a:endParaRPr lang="en-US" altLang="zh-CN" sz="120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8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4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 基于</a:t>
            </a: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集成运放的运算电路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14BBD5D-50AE-4F86-AA76-1E2C7B37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917" y="5147900"/>
            <a:ext cx="22932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cs typeface="楷体_GB2312"/>
              </a:rPr>
              <a:t>实际运放等效模型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57208CF8-7DC7-4381-AFF0-F2D1D36EC571}"/>
              </a:ext>
            </a:extLst>
          </p:cNvPr>
          <p:cNvSpPr txBox="1"/>
          <p:nvPr/>
        </p:nvSpPr>
        <p:spPr>
          <a:xfrm>
            <a:off x="518965" y="1499498"/>
            <a:ext cx="7924799" cy="133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集成运算放大器应用非常广泛，经常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用于实现各种模拟信号比例、加法、减法、微分、积分等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运算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5DA68661-7A09-4E59-99B6-6366FDDE3A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373" y="3178060"/>
            <a:ext cx="5724128" cy="2273901"/>
          </a:xfrm>
          <a:prstGeom prst="rect">
            <a:avLst/>
          </a:prstGeom>
        </p:spPr>
      </p:pic>
      <p:sp>
        <p:nvSpPr>
          <p:cNvPr id="29" name="object 1">
            <a:extLst>
              <a:ext uri="{FF2B5EF4-FFF2-40B4-BE49-F238E27FC236}">
                <a16:creationId xmlns:a16="http://schemas.microsoft.com/office/drawing/2014/main" xmlns="" id="{F96E088D-D0D3-437A-8193-7C47872DF339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52115DB2-069B-47F1-A05B-D59D48B25FC1}"/>
              </a:ext>
            </a:extLst>
          </p:cNvPr>
          <p:cNvSpPr txBox="1"/>
          <p:nvPr/>
        </p:nvSpPr>
        <p:spPr>
          <a:xfrm>
            <a:off x="573882" y="5719121"/>
            <a:ext cx="7924799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集成运算放大器的特点：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开环电压增益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Av≥10^5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；输入电阻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 ≥10^6</a:t>
            </a:r>
            <a:r>
              <a:rPr lang="el-GR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输出电阻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 ≤200</a:t>
            </a:r>
            <a:r>
              <a:rPr lang="el-GR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一般采用理想运算放大器模型进行电路分析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xmlns="" id="{7B602326-D147-48DF-85ED-F39A9CAFB65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3291" t="-826841" r="-253291" b="826841"/>
          <a:stretch/>
        </p:blipFill>
        <p:spPr>
          <a:xfrm rot="16463922">
            <a:off x="4272000" y="3243285"/>
            <a:ext cx="600000" cy="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668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7586053-0B09-468F-8EB1-CC070BAFE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20" y="6021288"/>
            <a:ext cx="8238095" cy="761905"/>
          </a:xfrm>
          <a:prstGeom prst="rect">
            <a:avLst/>
          </a:prstGeom>
        </p:spPr>
      </p:pic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hangingPunct="1"/>
              <a:t>6</a:t>
            </a:fld>
            <a:endParaRPr lang="en-US" altLang="zh-CN" sz="1200">
              <a:solidFill>
                <a:srgbClr val="0D0D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0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4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 基于</a:t>
            </a: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集成运放的运算电路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41C382C1-AA7A-48A2-86CF-6FE6070D4E37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实验原理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18">
            <a:extLst>
              <a:ext uri="{FF2B5EF4-FFF2-40B4-BE49-F238E27FC236}">
                <a16:creationId xmlns:a16="http://schemas.microsoft.com/office/drawing/2014/main" xmlns="" id="{06BA3A13-CEA7-4C06-884C-36AEA8F61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618778"/>
              </p:ext>
            </p:extLst>
          </p:nvPr>
        </p:nvGraphicFramePr>
        <p:xfrm>
          <a:off x="3635896" y="1893120"/>
          <a:ext cx="2733675" cy="230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icture" r:id="rId6" imgW="2481072" imgH="2109216" progId="Word.Picture.8">
                  <p:embed/>
                </p:oleObj>
              </mc:Choice>
              <mc:Fallback>
                <p:oleObj name="Picture" r:id="rId6" imgW="2481072" imgH="2109216" progId="Word.Picture.8">
                  <p:embed/>
                  <p:pic>
                    <p:nvPicPr>
                      <p:cNvPr id="9" name="Object 18">
                        <a:extLst>
                          <a:ext uri="{FF2B5EF4-FFF2-40B4-BE49-F238E27FC236}">
                            <a16:creationId xmlns:a16="http://schemas.microsoft.com/office/drawing/2014/main" xmlns="" id="{AC211E5C-EF2D-44D4-A364-63A042103C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893120"/>
                        <a:ext cx="2733675" cy="230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>
            <a:extLst>
              <a:ext uri="{FF2B5EF4-FFF2-40B4-BE49-F238E27FC236}">
                <a16:creationId xmlns:a16="http://schemas.microsoft.com/office/drawing/2014/main" xmlns="" id="{07035E1B-1883-4570-A21F-24AC9593A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888" y="4433458"/>
            <a:ext cx="23352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cs typeface="楷体_GB2312"/>
              </a:rPr>
              <a:t>电压传输特性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693CEF6D-8DE0-444F-A4E1-92F63417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77" y="4436054"/>
            <a:ext cx="2064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cs typeface="楷体_GB2312"/>
              </a:rPr>
              <a:t>理想运放等效模型</a:t>
            </a:r>
          </a:p>
        </p:txBody>
      </p:sp>
      <p:sp>
        <p:nvSpPr>
          <p:cNvPr id="14" name="object 1">
            <a:extLst>
              <a:ext uri="{FF2B5EF4-FFF2-40B4-BE49-F238E27FC236}">
                <a16:creationId xmlns:a16="http://schemas.microsoft.com/office/drawing/2014/main" xmlns="" id="{25DD7042-67A0-4162-ABD5-4F377441B3F7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xmlns="" id="{B4727B0F-F667-4100-9FD5-6E53EEF52B8A}"/>
              </a:ext>
            </a:extLst>
          </p:cNvPr>
          <p:cNvSpPr/>
          <p:nvPr/>
        </p:nvSpPr>
        <p:spPr>
          <a:xfrm>
            <a:off x="6393037" y="1855832"/>
            <a:ext cx="2571451" cy="2994153"/>
          </a:xfrm>
          <a:prstGeom prst="round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运放理想特性：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∞;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0;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∞;</a:t>
            </a:r>
          </a:p>
          <a:p>
            <a:pPr algn="just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None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运放工作在线性区时：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1F1E21E8-D665-46E6-BA01-EA3EB351E4CA}"/>
              </a:ext>
            </a:extLst>
          </p:cNvPr>
          <p:cNvSpPr txBox="1"/>
          <p:nvPr/>
        </p:nvSpPr>
        <p:spPr>
          <a:xfrm>
            <a:off x="635077" y="5072023"/>
            <a:ext cx="7222976" cy="871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虚短：集成运放的同相输入端和反相输入端电位相同，即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虚断：运放两输入端的输入电流为零，即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ED8470D9-CC26-4475-8BF6-8F0CC3FF61E0}"/>
              </a:ext>
            </a:extLst>
          </p:cNvPr>
          <p:cNvGrpSpPr/>
          <p:nvPr/>
        </p:nvGrpSpPr>
        <p:grpSpPr>
          <a:xfrm>
            <a:off x="504901" y="2151144"/>
            <a:ext cx="3113088" cy="2120900"/>
            <a:chOff x="504901" y="2151144"/>
            <a:chExt cx="3113088" cy="2120900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xmlns="" id="{DE99B060-52B9-49A9-B4C0-BC640A9A9A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" b="15631"/>
            <a:stretch/>
          </p:blipFill>
          <p:spPr>
            <a:xfrm rot="5400000">
              <a:off x="1586217" y="2258498"/>
              <a:ext cx="447619" cy="281228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xmlns="" id="{DBA1D563-61CD-4C7D-9844-336446D5FD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1625"/>
            <a:stretch/>
          </p:blipFill>
          <p:spPr>
            <a:xfrm rot="16200000">
              <a:off x="1730261" y="3866740"/>
              <a:ext cx="288031" cy="13263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20CAB7D5-78F6-4ABC-B041-2DBA87152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4" r="22702" b="28168"/>
            <a:stretch>
              <a:fillRect/>
            </a:stretch>
          </p:blipFill>
          <p:spPr bwMode="auto">
            <a:xfrm>
              <a:off x="504901" y="2151144"/>
              <a:ext cx="3113088" cy="2120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xmlns="" id="{1D9EDC66-A8DD-42CF-B16A-1A72303CC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66915" y="4009178"/>
              <a:ext cx="149689" cy="1292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08328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7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object 1">
            <a:extLst>
              <a:ext uri="{FF2B5EF4-FFF2-40B4-BE49-F238E27FC236}">
                <a16:creationId xmlns:a16="http://schemas.microsoft.com/office/drawing/2014/main" xmlns="" id="{29B57BCF-D64B-4BEF-8A86-A88DF67D7232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8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4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 基于</a:t>
            </a: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集成运放的运算电路 </a:t>
            </a:r>
            <a:endParaRPr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BEF888E-4FC3-40AE-96CA-7D7FF17A20D5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反相比例运算电路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2748B8B3-2621-4F34-8C36-B0EC336C4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364" y="2554500"/>
            <a:ext cx="3495239" cy="24757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95CF0D07-59AC-4DE0-BAFE-5D0FBD8F7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2516666"/>
            <a:ext cx="3026296" cy="254802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5C8F1369-45C2-4A9C-9284-26891FE094F0}"/>
              </a:ext>
            </a:extLst>
          </p:cNvPr>
          <p:cNvSpPr txBox="1"/>
          <p:nvPr/>
        </p:nvSpPr>
        <p:spPr>
          <a:xfrm>
            <a:off x="683567" y="5373216"/>
            <a:ext cx="7778825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：静态平衡电阻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保证运放两个输入端在静态时外界电路对称；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的原则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：令输入电压和输出电压同时为零，使同相端和反相端的等效电阻相等；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826680C7-A898-4FF4-86E3-8770A254D140}"/>
              </a:ext>
            </a:extLst>
          </p:cNvPr>
          <p:cNvSpPr txBox="1"/>
          <p:nvPr/>
        </p:nvSpPr>
        <p:spPr>
          <a:xfrm>
            <a:off x="6383088" y="1226407"/>
            <a:ext cx="2251819" cy="75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54405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8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object 1">
            <a:extLst>
              <a:ext uri="{FF2B5EF4-FFF2-40B4-BE49-F238E27FC236}">
                <a16:creationId xmlns:a16="http://schemas.microsoft.com/office/drawing/2014/main" xmlns="" id="{29B57BCF-D64B-4BEF-8A86-A88DF67D7232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BEF888E-4FC3-40AE-96CA-7D7FF17A20D5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同相比例运算电路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5C8F1369-45C2-4A9C-9284-26891FE094F0}"/>
              </a:ext>
            </a:extLst>
          </p:cNvPr>
          <p:cNvSpPr txBox="1"/>
          <p:nvPr/>
        </p:nvSpPr>
        <p:spPr>
          <a:xfrm>
            <a:off x="5482987" y="5002823"/>
            <a:ext cx="1800201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826680C7-A898-4FF4-86E3-8770A254D140}"/>
              </a:ext>
            </a:extLst>
          </p:cNvPr>
          <p:cNvSpPr txBox="1"/>
          <p:nvPr/>
        </p:nvSpPr>
        <p:spPr>
          <a:xfrm>
            <a:off x="6383088" y="1226407"/>
            <a:ext cx="2251819" cy="75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3335BA9D-2527-437C-8B77-9558D4519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364" y="2303578"/>
            <a:ext cx="4596953" cy="25480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4867BD58-639B-4676-91FA-9C3B6C0B3C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33" y="2429972"/>
            <a:ext cx="4057143" cy="2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500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9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object 1">
            <a:extLst>
              <a:ext uri="{FF2B5EF4-FFF2-40B4-BE49-F238E27FC236}">
                <a16:creationId xmlns:a16="http://schemas.microsoft.com/office/drawing/2014/main" xmlns="" id="{29B57BCF-D64B-4BEF-8A86-A88DF67D7232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F38193EE-F7B5-4EAC-9B58-80CA387E2C1E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积分运算电路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BB3256C4-1D45-4E24-9655-129E999C77A0}"/>
              </a:ext>
            </a:extLst>
          </p:cNvPr>
          <p:cNvSpPr txBox="1"/>
          <p:nvPr/>
        </p:nvSpPr>
        <p:spPr>
          <a:xfrm>
            <a:off x="6383088" y="1226407"/>
            <a:ext cx="2251819" cy="75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D78F37F-CB37-44D7-9D9E-926631F57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084" y="2608934"/>
            <a:ext cx="3635372" cy="26654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DEF96C7F-4590-4E6A-BB39-CACA0B825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683" y="2364588"/>
            <a:ext cx="4062231" cy="34897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C83B7CA-F0FF-4AA1-989A-8BF3EB263AB2}"/>
              </a:ext>
            </a:extLst>
          </p:cNvPr>
          <p:cNvSpPr txBox="1"/>
          <p:nvPr/>
        </p:nvSpPr>
        <p:spPr>
          <a:xfrm>
            <a:off x="6379202" y="5274348"/>
            <a:ext cx="95913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R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4477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10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object 1">
            <a:extLst>
              <a:ext uri="{FF2B5EF4-FFF2-40B4-BE49-F238E27FC236}">
                <a16:creationId xmlns:a16="http://schemas.microsoft.com/office/drawing/2014/main" xmlns="" id="{29B57BCF-D64B-4BEF-8A86-A88DF67D7232}"/>
              </a:ext>
            </a:extLst>
          </p:cNvPr>
          <p:cNvSpPr/>
          <p:nvPr/>
        </p:nvSpPr>
        <p:spPr>
          <a:xfrm>
            <a:off x="609600" y="6728668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xmlns="" id="{3A00E38A-2389-4889-ACE5-7F004D379E66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xmlns="" id="{F77BCB6D-E6AA-45A7-ACC1-FED1C9E9C43D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A8AA2D0D-C15A-419F-9E65-B9067B2E86BD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2.4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微分运算电路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523DF1D1-146F-4945-A278-5E9F1CD27106}"/>
              </a:ext>
            </a:extLst>
          </p:cNvPr>
          <p:cNvSpPr txBox="1"/>
          <p:nvPr/>
        </p:nvSpPr>
        <p:spPr>
          <a:xfrm>
            <a:off x="6383088" y="1226407"/>
            <a:ext cx="2251819" cy="753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85000"/>
              <a:buFont typeface="Monotype Sorts"/>
              <a:buNone/>
            </a:pP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  (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虚断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061B9C8-4E5F-4A50-9616-313932EA9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9463" y="2869912"/>
            <a:ext cx="3169809" cy="23070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F6D16E74-36D6-45ED-8076-DA33A0544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16" y="2544227"/>
            <a:ext cx="3384376" cy="291707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A5763717-29C4-4011-BEEE-D62C2DCE581C}"/>
              </a:ext>
            </a:extLst>
          </p:cNvPr>
          <p:cNvSpPr txBox="1"/>
          <p:nvPr/>
        </p:nvSpPr>
        <p:spPr>
          <a:xfrm>
            <a:off x="6379202" y="5274348"/>
            <a:ext cx="95913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R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2003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11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AD2DE1D0-0920-42DD-BC1E-D9D40B96B886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59DF8C93-0BD6-42F1-943C-46918477DD31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xmlns="" id="{111A1A0F-B5E4-4390-A118-45BBAE4D743F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E6E248B0-9F96-4EA7-87E6-3789CB07A28E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8219EA5B-F454-411D-8215-E504296D513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1" t="8774"/>
          <a:stretch/>
        </p:blipFill>
        <p:spPr>
          <a:xfrm>
            <a:off x="971600" y="2308488"/>
            <a:ext cx="2866243" cy="303253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AC4FFF12-E921-4A74-8488-C9243C63CCAE}"/>
              </a:ext>
            </a:extLst>
          </p:cNvPr>
          <p:cNvSpPr txBox="1"/>
          <p:nvPr/>
        </p:nvSpPr>
        <p:spPr>
          <a:xfrm>
            <a:off x="1763688" y="5408839"/>
            <a:ext cx="151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LM324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xmlns="" id="{B7EE23BB-8BBD-43C7-A3C6-DEAAF0A40E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37" r="36615" b="38847"/>
          <a:stretch/>
        </p:blipFill>
        <p:spPr>
          <a:xfrm>
            <a:off x="4540340" y="2727843"/>
            <a:ext cx="3621918" cy="203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992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12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AD2DE1D0-0920-42DD-BC1E-D9D40B96B886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59DF8C93-0BD6-42F1-943C-46918477DD31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xmlns="" id="{111A1A0F-B5E4-4390-A118-45BBAE4D743F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E6E248B0-9F96-4EA7-87E6-3789CB07A28E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A19B866A-23D3-429F-94F4-D03C14B4196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99" b="23936"/>
          <a:stretch/>
        </p:blipFill>
        <p:spPr>
          <a:xfrm>
            <a:off x="5724128" y="3885835"/>
            <a:ext cx="2633298" cy="239210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BE6AE4D0-9C1B-4713-978F-F2F582B4ABD6}"/>
              </a:ext>
            </a:extLst>
          </p:cNvPr>
          <p:cNvSpPr txBox="1"/>
          <p:nvPr/>
        </p:nvSpPr>
        <p:spPr>
          <a:xfrm>
            <a:off x="543993" y="1945795"/>
            <a:ext cx="7706816" cy="15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反相比例运算电路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如图连接电路，设置信号源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频率为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1kHz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，调节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幅度使</a:t>
            </a:r>
            <a:r>
              <a:rPr lang="en-US" altLang="zh-CN" sz="20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6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有效值为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20m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V，并保持不变，用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双踪示波器观察输入与输出波形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记录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的有效值，计算反相比例运算电路的输入电阻；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46A134C-DACB-4484-BC60-9E67796C6A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32" y="3742167"/>
            <a:ext cx="4258212" cy="261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8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13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AD2DE1D0-0920-42DD-BC1E-D9D40B96B886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59DF8C93-0BD6-42F1-943C-46918477DD31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xmlns="" id="{111A1A0F-B5E4-4390-A118-45BBAE4D743F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E6E248B0-9F96-4EA7-87E6-3789CB07A28E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CC5AE502-30A5-466F-A5D2-2A8815C7C1DC}"/>
              </a:ext>
            </a:extLst>
          </p:cNvPr>
          <p:cNvSpPr txBox="1"/>
          <p:nvPr/>
        </p:nvSpPr>
        <p:spPr>
          <a:xfrm>
            <a:off x="543993" y="1945795"/>
            <a:ext cx="7706816" cy="1937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同相比例运算电路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如图连接电路，设置信号源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频率为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1kHz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，调节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幅度使</a:t>
            </a:r>
            <a:r>
              <a:rPr lang="en-US" altLang="zh-CN" sz="20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16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有效值为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20m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V，并保持不变，用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双踪示波器观察输入与输出波形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记录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的有效值，计算同相比例运算电路的输入电阻；（若检测不出来，取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Rs=100k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3144241-4A79-4F37-B25D-CAF3DF6C804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2" t="12386" r="55773" b="44935"/>
          <a:stretch/>
        </p:blipFill>
        <p:spPr>
          <a:xfrm>
            <a:off x="4968867" y="3883761"/>
            <a:ext cx="2903395" cy="24505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2691020-78D9-4635-A946-6756330C9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18" y="3857798"/>
            <a:ext cx="3786158" cy="262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073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14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AD2DE1D0-0920-42DD-BC1E-D9D40B96B886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59DF8C93-0BD6-42F1-943C-46918477DD31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xmlns="" id="{111A1A0F-B5E4-4390-A118-45BBAE4D743F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E6E248B0-9F96-4EA7-87E6-3789CB07A28E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8B3FBFE4-DF14-494C-A9E5-AD536DD5B743}"/>
              </a:ext>
            </a:extLst>
          </p:cNvPr>
          <p:cNvSpPr txBox="1"/>
          <p:nvPr/>
        </p:nvSpPr>
        <p:spPr>
          <a:xfrm>
            <a:off x="543993" y="1945795"/>
            <a:ext cx="7706816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积分运算电路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如图连接电路，设置信号源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为方波，频率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1kHz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，调节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幅度为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可以峰峰值，更便于观察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，并保持不变，用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双踪示波器观察输入与输出波形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      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FCB78EB5-2B76-42EF-B88B-0EF8BDF18E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8622"/>
          <a:stretch/>
        </p:blipFill>
        <p:spPr>
          <a:xfrm>
            <a:off x="5274457" y="3595215"/>
            <a:ext cx="2820064" cy="26827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0F8953D2-F594-4B0F-A716-23D05C8DD6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560829"/>
            <a:ext cx="3837011" cy="273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123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15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AD2DE1D0-0920-42DD-BC1E-D9D40B96B886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xmlns="" id="{59DF8C93-0BD6-42F1-943C-46918477DD31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xmlns="" id="{111A1A0F-B5E4-4390-A118-45BBAE4D743F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E6E248B0-9F96-4EA7-87E6-3789CB07A28E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2C5116D-7FD6-4746-9282-92B13DB72D76}"/>
              </a:ext>
            </a:extLst>
          </p:cNvPr>
          <p:cNvSpPr txBox="1"/>
          <p:nvPr/>
        </p:nvSpPr>
        <p:spPr>
          <a:xfrm>
            <a:off x="543993" y="1945795"/>
            <a:ext cx="7706816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微分运算电路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如图连接电路，设置信号源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为方波，频率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1kHz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，调节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幅度为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可以峰峰值，更便于观察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，并保持不变，用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双踪示波器观察输入与输出波形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      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E0A400CA-9BDA-4A99-B038-5EF6BC96D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3429000"/>
            <a:ext cx="3142857" cy="28857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E3EE1536-3B88-4748-8A79-2223819127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71" y="3612967"/>
            <a:ext cx="4297907" cy="240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624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16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xmlns="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xmlns="" id="{45D94ACC-26C4-4A41-BDA7-53051CFFB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16381"/>
              </p:ext>
            </p:extLst>
          </p:nvPr>
        </p:nvGraphicFramePr>
        <p:xfrm>
          <a:off x="1043610" y="2276872"/>
          <a:ext cx="7128790" cy="3634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758">
                  <a:extLst>
                    <a:ext uri="{9D8B030D-6E8A-4147-A177-3AD203B41FA5}">
                      <a16:colId xmlns:a16="http://schemas.microsoft.com/office/drawing/2014/main" xmlns="" val="1114087466"/>
                    </a:ext>
                  </a:extLst>
                </a:gridCol>
                <a:gridCol w="1425758">
                  <a:extLst>
                    <a:ext uri="{9D8B030D-6E8A-4147-A177-3AD203B41FA5}">
                      <a16:colId xmlns:a16="http://schemas.microsoft.com/office/drawing/2014/main" xmlns="" val="88046543"/>
                    </a:ext>
                  </a:extLst>
                </a:gridCol>
                <a:gridCol w="1425758">
                  <a:extLst>
                    <a:ext uri="{9D8B030D-6E8A-4147-A177-3AD203B41FA5}">
                      <a16:colId xmlns:a16="http://schemas.microsoft.com/office/drawing/2014/main" xmlns="" val="52266774"/>
                    </a:ext>
                  </a:extLst>
                </a:gridCol>
                <a:gridCol w="1425758">
                  <a:extLst>
                    <a:ext uri="{9D8B030D-6E8A-4147-A177-3AD203B41FA5}">
                      <a16:colId xmlns:a16="http://schemas.microsoft.com/office/drawing/2014/main" xmlns="" val="1700610018"/>
                    </a:ext>
                  </a:extLst>
                </a:gridCol>
                <a:gridCol w="1425758">
                  <a:extLst>
                    <a:ext uri="{9D8B030D-6E8A-4147-A177-3AD203B41FA5}">
                      <a16:colId xmlns:a16="http://schemas.microsoft.com/office/drawing/2014/main" xmlns="" val="2683265851"/>
                    </a:ext>
                  </a:extLst>
                </a:gridCol>
              </a:tblGrid>
              <a:tr h="1095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电路结构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输入输出波形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531533008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反相比例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46670786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同相比例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72460635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积分电路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97261473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微分电路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363096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8D10FFBB-EB03-4E05-A159-4518DB5E593E}"/>
              </a:ext>
            </a:extLst>
          </p:cNvPr>
          <p:cNvCxnSpPr/>
          <p:nvPr/>
        </p:nvCxnSpPr>
        <p:spPr>
          <a:xfrm>
            <a:off x="2627786" y="5360516"/>
            <a:ext cx="108012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xmlns="" id="{4252E622-7FB2-43CC-8A90-492FABBC6B2B}"/>
              </a:ext>
            </a:extLst>
          </p:cNvPr>
          <p:cNvCxnSpPr/>
          <p:nvPr/>
        </p:nvCxnSpPr>
        <p:spPr>
          <a:xfrm>
            <a:off x="4067945" y="5371157"/>
            <a:ext cx="108012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xmlns="" id="{0266478A-98BC-40E2-844E-C50841639AA7}"/>
              </a:ext>
            </a:extLst>
          </p:cNvPr>
          <p:cNvCxnSpPr/>
          <p:nvPr/>
        </p:nvCxnSpPr>
        <p:spPr>
          <a:xfrm>
            <a:off x="5400093" y="5353225"/>
            <a:ext cx="108012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xmlns="" id="{441D5410-7915-4064-AB5E-0C1EA70D25FE}"/>
              </a:ext>
            </a:extLst>
          </p:cNvPr>
          <p:cNvCxnSpPr/>
          <p:nvPr/>
        </p:nvCxnSpPr>
        <p:spPr>
          <a:xfrm>
            <a:off x="2622850" y="4809851"/>
            <a:ext cx="108012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xmlns="" id="{70B935A9-489B-43D1-9000-D3CE521DBAC3}"/>
              </a:ext>
            </a:extLst>
          </p:cNvPr>
          <p:cNvCxnSpPr/>
          <p:nvPr/>
        </p:nvCxnSpPr>
        <p:spPr>
          <a:xfrm>
            <a:off x="4067945" y="4726077"/>
            <a:ext cx="108012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xmlns="" id="{BFF12C2C-478A-4683-8682-0B97DB903415}"/>
              </a:ext>
            </a:extLst>
          </p:cNvPr>
          <p:cNvCxnSpPr/>
          <p:nvPr/>
        </p:nvCxnSpPr>
        <p:spPr>
          <a:xfrm>
            <a:off x="5419937" y="4726077"/>
            <a:ext cx="108012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bject 3">
            <a:extLst>
              <a:ext uri="{FF2B5EF4-FFF2-40B4-BE49-F238E27FC236}">
                <a16:creationId xmlns:a16="http://schemas.microsoft.com/office/drawing/2014/main" xmlns="" id="{E226EC4A-7DC6-4C32-B000-65C2E7193512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xmlns="" id="{825A6783-6D15-4007-BBA4-3FB84D2F4E62}"/>
              </a:ext>
            </a:extLst>
          </p:cNvPr>
          <p:cNvSpPr txBox="1"/>
          <p:nvPr/>
        </p:nvSpPr>
        <p:spPr>
          <a:xfrm>
            <a:off x="518965" y="1499498"/>
            <a:ext cx="792479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0283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灯片编号占位符 2">
            <a:extLst>
              <a:ext uri="{FF2B5EF4-FFF2-40B4-BE49-F238E27FC236}">
                <a16:creationId xmlns:a16="http://schemas.microsoft.com/office/drawing/2014/main" xmlns="" id="{A83842B7-7E9A-4E96-B24C-CFE186D8DE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856663" y="6583363"/>
            <a:ext cx="730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C2B7BD94-0B47-4B20-94E1-922ACFC6DCDB}" type="slidenum">
              <a:rPr lang="en-US" altLang="zh-CN" sz="1200">
                <a:solidFill>
                  <a:srgbClr val="0D0D0D"/>
                </a:solidFill>
                <a:latin typeface="黑体" panose="02010609060101010101" pitchFamily="49" charset="-122"/>
              </a:rPr>
              <a:pPr eaLnBrk="1" hangingPunct="1"/>
              <a:t>17</a:t>
            </a:fld>
            <a:endParaRPr lang="en-US" altLang="zh-CN" sz="1200">
              <a:solidFill>
                <a:srgbClr val="0D0D0D"/>
              </a:solidFill>
              <a:latin typeface="黑体" panose="02010609060101010101" pitchFamily="49" charset="-122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xmlns="" id="{C0F57C25-6E78-497C-9BDB-300A9BCFE870}"/>
              </a:ext>
            </a:extLst>
          </p:cNvPr>
          <p:cNvSpPr/>
          <p:nvPr/>
        </p:nvSpPr>
        <p:spPr>
          <a:xfrm>
            <a:off x="609600" y="1154460"/>
            <a:ext cx="7958137" cy="276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1">
            <a:extLst>
              <a:ext uri="{FF2B5EF4-FFF2-40B4-BE49-F238E27FC236}">
                <a16:creationId xmlns:a16="http://schemas.microsoft.com/office/drawing/2014/main" xmlns="" id="{5AD5F02B-5D14-4F71-9AFD-E30A5CEE8C0E}"/>
              </a:ext>
            </a:extLst>
          </p:cNvPr>
          <p:cNvSpPr/>
          <p:nvPr/>
        </p:nvSpPr>
        <p:spPr>
          <a:xfrm>
            <a:off x="609600" y="6584652"/>
            <a:ext cx="79248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2" name="object 3">
            <a:extLst>
              <a:ext uri="{FF2B5EF4-FFF2-40B4-BE49-F238E27FC236}">
                <a16:creationId xmlns:a16="http://schemas.microsoft.com/office/drawing/2014/main" xmlns="" id="{E226EC4A-7DC6-4C32-B000-65C2E7193512}"/>
              </a:ext>
            </a:extLst>
          </p:cNvPr>
          <p:cNvSpPr txBox="1"/>
          <p:nvPr/>
        </p:nvSpPr>
        <p:spPr>
          <a:xfrm>
            <a:off x="611560" y="391530"/>
            <a:ext cx="7850832" cy="733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95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基于集成运放的运算电路 </a:t>
            </a:r>
            <a:endParaRPr lang="zh-CN" altLang="en-US" sz="4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MDEPI+LiSu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CAD096E5-21C4-49AA-9722-B8050CDB8F40}"/>
              </a:ext>
            </a:extLst>
          </p:cNvPr>
          <p:cNvSpPr txBox="1"/>
          <p:nvPr/>
        </p:nvSpPr>
        <p:spPr>
          <a:xfrm>
            <a:off x="1296989" y="1835701"/>
            <a:ext cx="5795291" cy="373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注意事项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LM324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芯片电源信号不能接反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信号源信号和输出信号共地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实验总结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理想运放的特点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种运算电路的输入输出相位关系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种运算电路的理论值计算方法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6308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</TotalTime>
  <Words>951</Words>
  <Application>Microsoft Office PowerPoint</Application>
  <PresentationFormat>全屏显示(4:3)</PresentationFormat>
  <Paragraphs>135</Paragraphs>
  <Slides>17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Monotype Sorts</vt:lpstr>
      <vt:lpstr>黑体</vt:lpstr>
      <vt:lpstr>Symbol</vt:lpstr>
      <vt:lpstr>Times New Roman</vt:lpstr>
      <vt:lpstr>Wingdings</vt:lpstr>
      <vt:lpstr>微软雅黑</vt:lpstr>
      <vt:lpstr>Calibri</vt:lpstr>
      <vt:lpstr>VMDEPI+LiSu</vt:lpstr>
      <vt:lpstr>楷体_GB2312</vt:lpstr>
      <vt:lpstr>等线</vt:lpstr>
      <vt:lpstr>Theme Office</vt:lpstr>
      <vt:lpstr>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Windows 用户</cp:lastModifiedBy>
  <cp:revision>438</cp:revision>
  <dcterms:modified xsi:type="dcterms:W3CDTF">2024-12-14T04:04:31Z</dcterms:modified>
</cp:coreProperties>
</file>