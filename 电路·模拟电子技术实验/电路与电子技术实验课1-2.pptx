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774" r:id="rId2"/>
    <p:sldId id="773" r:id="rId3"/>
    <p:sldId id="361" r:id="rId4"/>
    <p:sldId id="718" r:id="rId5"/>
    <p:sldId id="723" r:id="rId6"/>
    <p:sldId id="738" r:id="rId7"/>
    <p:sldId id="737" r:id="rId8"/>
    <p:sldId id="785" r:id="rId9"/>
    <p:sldId id="736" r:id="rId10"/>
    <p:sldId id="720" r:id="rId11"/>
    <p:sldId id="719" r:id="rId12"/>
    <p:sldId id="740" r:id="rId13"/>
    <p:sldId id="744" r:id="rId14"/>
    <p:sldId id="743" r:id="rId15"/>
    <p:sldId id="781" r:id="rId16"/>
    <p:sldId id="780" r:id="rId17"/>
    <p:sldId id="782" r:id="rId18"/>
    <p:sldId id="784" r:id="rId19"/>
    <p:sldId id="779" r:id="rId20"/>
    <p:sldId id="776" r:id="rId21"/>
    <p:sldId id="777" r:id="rId22"/>
    <p:sldId id="783" r:id="rId23"/>
  </p:sldIdLst>
  <p:sldSz cx="9144000" cy="6858000" type="screen4x3"/>
  <p:notesSz cx="9144000" cy="6858000"/>
  <p:embeddedFontLst>
    <p:embeddedFont>
      <p:font typeface="微软雅黑" panose="020B0503020204020204" pitchFamily="34" charset="-122"/>
      <p:regular r:id="rId25"/>
      <p:bold r:id="rId26"/>
    </p:embeddedFont>
    <p:embeddedFont>
      <p:font typeface="Calibri" panose="020F0502020204030204" pitchFamily="34" charset="0"/>
      <p:regular r:id="rId27"/>
      <p:bold r:id="rId28"/>
      <p:italic r:id="rId29"/>
      <p:boldItalic r:id="rId30"/>
    </p:embeddedFont>
    <p:embeddedFont>
      <p:font typeface="等线" panose="02010600030101010101" pitchFamily="2" charset="-122"/>
      <p:regular r:id="rId31"/>
      <p:bold r:id="rId32"/>
    </p:embeddedFont>
    <p:embeddedFont>
      <p:font typeface="黑体" panose="02010609060101010101" pitchFamily="49" charset="-122"/>
      <p:regular r:id="rId3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a:srgbClr val="0034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28" autoAdjust="0"/>
    <p:restoredTop sz="83421" autoAdjust="0"/>
  </p:normalViewPr>
  <p:slideViewPr>
    <p:cSldViewPr>
      <p:cViewPr>
        <p:scale>
          <a:sx n="100" d="100"/>
          <a:sy n="100" d="100"/>
        </p:scale>
        <p:origin x="-1944" y="-72"/>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06168C9-C0FF-4C0D-8BEA-410B274AF575}" type="datetimeFigureOut">
              <a:rPr lang="zh-CN" altLang="en-US" smtClean="0"/>
              <a:t>2024-11-28</a:t>
            </a:fld>
            <a:endParaRPr lang="zh-CN" altLang="en-US"/>
          </a:p>
        </p:txBody>
      </p:sp>
      <p:sp>
        <p:nvSpPr>
          <p:cNvPr id="4" name="幻灯片图像占位符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8B0CBDF-2F6F-4927-A4F7-77FE1B09F3E1}" type="slidenum">
              <a:rPr lang="zh-CN" altLang="en-US" smtClean="0"/>
              <a:t>‹#›</a:t>
            </a:fld>
            <a:endParaRPr lang="zh-CN" altLang="en-US"/>
          </a:p>
        </p:txBody>
      </p:sp>
    </p:spTree>
    <p:extLst>
      <p:ext uri="{BB962C8B-B14F-4D97-AF65-F5344CB8AC3E}">
        <p14:creationId xmlns:p14="http://schemas.microsoft.com/office/powerpoint/2010/main" val="349944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7945" algn="l">
              <a:lnSpc>
                <a:spcPct val="125000"/>
              </a:lnSpc>
            </a:pPr>
            <a:endParaRPr lang="zh-CN" altLang="zh-CN" sz="1800" kern="100" dirty="0">
              <a:effectLst/>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5"/>
          </p:nvPr>
        </p:nvSpPr>
        <p:spPr/>
        <p:txBody>
          <a:bodyPr/>
          <a:lstStyle/>
          <a:p>
            <a:fld id="{C8B0CBDF-2F6F-4927-A4F7-77FE1B09F3E1}" type="slidenum">
              <a:rPr lang="zh-CN" altLang="en-US" smtClean="0"/>
              <a:t>1</a:t>
            </a:fld>
            <a:endParaRPr lang="zh-CN" altLang="en-US"/>
          </a:p>
        </p:txBody>
      </p:sp>
    </p:spTree>
    <p:extLst>
      <p:ext uri="{BB962C8B-B14F-4D97-AF65-F5344CB8AC3E}">
        <p14:creationId xmlns:p14="http://schemas.microsoft.com/office/powerpoint/2010/main" val="3748031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B0CBDF-2F6F-4927-A4F7-77FE1B09F3E1}" type="slidenum">
              <a:rPr lang="zh-CN" altLang="en-US" smtClean="0"/>
              <a:t>2</a:t>
            </a:fld>
            <a:endParaRPr lang="zh-CN" altLang="en-US"/>
          </a:p>
        </p:txBody>
      </p:sp>
    </p:spTree>
    <p:extLst>
      <p:ext uri="{BB962C8B-B14F-4D97-AF65-F5344CB8AC3E}">
        <p14:creationId xmlns:p14="http://schemas.microsoft.com/office/powerpoint/2010/main" val="1823013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C8B0CBDF-2F6F-4927-A4F7-77FE1B09F3E1}" type="slidenum">
              <a:rPr lang="zh-CN" altLang="en-US" smtClean="0"/>
              <a:t>3</a:t>
            </a:fld>
            <a:endParaRPr lang="zh-CN" altLang="en-US"/>
          </a:p>
        </p:txBody>
      </p:sp>
    </p:spTree>
    <p:extLst>
      <p:ext uri="{BB962C8B-B14F-4D97-AF65-F5344CB8AC3E}">
        <p14:creationId xmlns:p14="http://schemas.microsoft.com/office/powerpoint/2010/main" val="279466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电流表、电压表的使用有演示视频</a:t>
            </a:r>
            <a:endParaRPr lang="en-US" altLang="zh-CN" dirty="0"/>
          </a:p>
          <a:p>
            <a:pPr marL="0" indent="0">
              <a:lnSpc>
                <a:spcPct val="150000"/>
              </a:lnSpc>
              <a:buFont typeface="Wingdings" panose="05000000000000000000" pitchFamily="2" charset="2"/>
              <a:buNone/>
            </a:pPr>
            <a:r>
              <a:rPr lang="zh-CN" altLang="en-US" sz="1200" b="0" dirty="0">
                <a:latin typeface="+mn-lt"/>
                <a:ea typeface="+mn-ea"/>
              </a:rPr>
              <a:t>在分析较为复杂的直流电路时，往往很难事先判断某支路的电流的实际方向，可以任意选定某一方向作为电流的参考方向，当实际测得的电流值为正值时，。。。。当实际测得电流值为负值时，。。。</a:t>
            </a:r>
            <a:endParaRPr lang="en-US" altLang="zh-CN" sz="1200" b="0" dirty="0">
              <a:latin typeface="+mn-lt"/>
              <a:ea typeface="+mn-ea"/>
            </a:endParaRPr>
          </a:p>
          <a:p>
            <a:pPr marL="0" indent="0">
              <a:lnSpc>
                <a:spcPct val="150000"/>
              </a:lnSpc>
              <a:buFont typeface="Wingdings" panose="05000000000000000000" pitchFamily="2" charset="2"/>
              <a:buNone/>
            </a:pPr>
            <a:r>
              <a:rPr lang="zh-CN" altLang="en-US" sz="1200" b="0" dirty="0">
                <a:latin typeface="+mn-lt"/>
                <a:ea typeface="+mn-ea"/>
              </a:rPr>
              <a:t>电压的参考方向</a:t>
            </a:r>
            <a:endParaRPr lang="en-US" altLang="zh-CN" sz="1200" b="0" dirty="0">
              <a:latin typeface="+mn-lt"/>
              <a:ea typeface="+mn-ea"/>
            </a:endParaRPr>
          </a:p>
          <a:p>
            <a:pPr marL="0" indent="0">
              <a:lnSpc>
                <a:spcPct val="150000"/>
              </a:lnSpc>
              <a:buFont typeface="Wingdings" panose="05000000000000000000" pitchFamily="2" charset="2"/>
              <a:buNone/>
            </a:pPr>
            <a:r>
              <a:rPr lang="zh-CN" altLang="en-US" sz="1200" b="0" dirty="0">
                <a:latin typeface="+mn-lt"/>
                <a:ea typeface="+mn-ea"/>
              </a:rPr>
              <a:t>一个元件的电流和电压的参考方向可以任意指定。如果指定流过元件的电流的参考方向是从标注电压正极的一端指向负极的一端，则把电压和电流的参考方向成为关联方向。为了分析方便，通常将元件的电压电流参考方向取为关联方向。</a:t>
            </a:r>
            <a:endParaRPr lang="zh-CN" altLang="en-US" dirty="0"/>
          </a:p>
        </p:txBody>
      </p:sp>
      <p:sp>
        <p:nvSpPr>
          <p:cNvPr id="4" name="灯片编号占位符 3"/>
          <p:cNvSpPr>
            <a:spLocks noGrp="1"/>
          </p:cNvSpPr>
          <p:nvPr>
            <p:ph type="sldNum" sz="quarter" idx="5"/>
          </p:nvPr>
        </p:nvSpPr>
        <p:spPr/>
        <p:txBody>
          <a:bodyPr/>
          <a:lstStyle/>
          <a:p>
            <a:fld id="{C8B0CBDF-2F6F-4927-A4F7-77FE1B09F3E1}" type="slidenum">
              <a:rPr lang="zh-CN" altLang="en-US" smtClean="0"/>
              <a:t>5</a:t>
            </a:fld>
            <a:endParaRPr lang="zh-CN" altLang="en-US"/>
          </a:p>
        </p:txBody>
      </p:sp>
    </p:spTree>
    <p:extLst>
      <p:ext uri="{BB962C8B-B14F-4D97-AF65-F5344CB8AC3E}">
        <p14:creationId xmlns:p14="http://schemas.microsoft.com/office/powerpoint/2010/main" val="1657873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任何集总电路中</a:t>
            </a:r>
          </a:p>
        </p:txBody>
      </p:sp>
      <p:sp>
        <p:nvSpPr>
          <p:cNvPr id="4" name="灯片编号占位符 3"/>
          <p:cNvSpPr>
            <a:spLocks noGrp="1"/>
          </p:cNvSpPr>
          <p:nvPr>
            <p:ph type="sldNum" sz="quarter" idx="5"/>
          </p:nvPr>
        </p:nvSpPr>
        <p:spPr/>
        <p:txBody>
          <a:bodyPr/>
          <a:lstStyle/>
          <a:p>
            <a:fld id="{C8B0CBDF-2F6F-4927-A4F7-77FE1B09F3E1}" type="slidenum">
              <a:rPr lang="zh-CN" altLang="en-US" smtClean="0"/>
              <a:t>6</a:t>
            </a:fld>
            <a:endParaRPr lang="zh-CN" altLang="en-US"/>
          </a:p>
        </p:txBody>
      </p:sp>
    </p:spTree>
    <p:extLst>
      <p:ext uri="{BB962C8B-B14F-4D97-AF65-F5344CB8AC3E}">
        <p14:creationId xmlns:p14="http://schemas.microsoft.com/office/powerpoint/2010/main" val="113204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所有测量值保持小数点后两位即可</a:t>
            </a:r>
          </a:p>
        </p:txBody>
      </p:sp>
      <p:sp>
        <p:nvSpPr>
          <p:cNvPr id="4" name="灯片编号占位符 3"/>
          <p:cNvSpPr>
            <a:spLocks noGrp="1"/>
          </p:cNvSpPr>
          <p:nvPr>
            <p:ph type="sldNum" sz="quarter" idx="5"/>
          </p:nvPr>
        </p:nvSpPr>
        <p:spPr/>
        <p:txBody>
          <a:bodyPr/>
          <a:lstStyle/>
          <a:p>
            <a:fld id="{C8B0CBDF-2F6F-4927-A4F7-77FE1B09F3E1}" type="slidenum">
              <a:rPr lang="zh-CN" altLang="en-US" smtClean="0"/>
              <a:t>7</a:t>
            </a:fld>
            <a:endParaRPr lang="zh-CN" altLang="en-US"/>
          </a:p>
        </p:txBody>
      </p:sp>
    </p:spTree>
    <p:extLst>
      <p:ext uri="{BB962C8B-B14F-4D97-AF65-F5344CB8AC3E}">
        <p14:creationId xmlns:p14="http://schemas.microsoft.com/office/powerpoint/2010/main" val="246041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所有测量值保持小数点后两位即可</a:t>
            </a:r>
          </a:p>
        </p:txBody>
      </p:sp>
      <p:sp>
        <p:nvSpPr>
          <p:cNvPr id="4" name="灯片编号占位符 3"/>
          <p:cNvSpPr>
            <a:spLocks noGrp="1"/>
          </p:cNvSpPr>
          <p:nvPr>
            <p:ph type="sldNum" sz="quarter" idx="5"/>
          </p:nvPr>
        </p:nvSpPr>
        <p:spPr/>
        <p:txBody>
          <a:bodyPr/>
          <a:lstStyle/>
          <a:p>
            <a:fld id="{C8B0CBDF-2F6F-4927-A4F7-77FE1B09F3E1}" type="slidenum">
              <a:rPr lang="zh-CN" altLang="en-US" smtClean="0"/>
              <a:t>8</a:t>
            </a:fld>
            <a:endParaRPr lang="zh-CN" altLang="en-US"/>
          </a:p>
        </p:txBody>
      </p:sp>
    </p:spTree>
    <p:extLst>
      <p:ext uri="{BB962C8B-B14F-4D97-AF65-F5344CB8AC3E}">
        <p14:creationId xmlns:p14="http://schemas.microsoft.com/office/powerpoint/2010/main" val="246041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B0CBDF-2F6F-4927-A4F7-77FE1B09F3E1}" type="slidenum">
              <a:rPr lang="zh-CN" altLang="en-US" smtClean="0"/>
              <a:t>9</a:t>
            </a:fld>
            <a:endParaRPr lang="zh-CN" altLang="en-US"/>
          </a:p>
        </p:txBody>
      </p:sp>
    </p:spTree>
    <p:extLst>
      <p:ext uri="{BB962C8B-B14F-4D97-AF65-F5344CB8AC3E}">
        <p14:creationId xmlns:p14="http://schemas.microsoft.com/office/powerpoint/2010/main" val="1650259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电压的计算结果类似</a:t>
            </a:r>
          </a:p>
        </p:txBody>
      </p:sp>
      <p:sp>
        <p:nvSpPr>
          <p:cNvPr id="4" name="灯片编号占位符 3"/>
          <p:cNvSpPr>
            <a:spLocks noGrp="1"/>
          </p:cNvSpPr>
          <p:nvPr>
            <p:ph type="sldNum" sz="quarter" idx="5"/>
          </p:nvPr>
        </p:nvSpPr>
        <p:spPr/>
        <p:txBody>
          <a:bodyPr/>
          <a:lstStyle/>
          <a:p>
            <a:fld id="{C8B0CBDF-2F6F-4927-A4F7-77FE1B09F3E1}" type="slidenum">
              <a:rPr lang="zh-CN" altLang="en-US" smtClean="0"/>
              <a:t>13</a:t>
            </a:fld>
            <a:endParaRPr lang="zh-CN" altLang="en-US"/>
          </a:p>
        </p:txBody>
      </p:sp>
    </p:spTree>
    <p:extLst>
      <p:ext uri="{BB962C8B-B14F-4D97-AF65-F5344CB8AC3E}">
        <p14:creationId xmlns:p14="http://schemas.microsoft.com/office/powerpoint/2010/main" val="3559655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线性电路</a:t>
            </a:r>
            <a:r>
              <a:rPr lang="en-US" altLang="zh-CN" dirty="0"/>
              <a:t>——</a:t>
            </a:r>
            <a:r>
              <a:rPr lang="zh-CN" altLang="en-US" dirty="0"/>
              <a:t>由线性元件和独立源构成的电路；</a:t>
            </a:r>
            <a:endParaRPr lang="en-US" altLang="zh-CN" dirty="0"/>
          </a:p>
          <a:p>
            <a:r>
              <a:rPr lang="zh-CN" altLang="en-US" dirty="0"/>
              <a:t>线性元件</a:t>
            </a:r>
            <a:r>
              <a:rPr lang="en-US" altLang="zh-CN" dirty="0"/>
              <a:t>——</a:t>
            </a:r>
            <a:r>
              <a:rPr lang="zh-CN" altLang="en-US" dirty="0"/>
              <a:t>特性方程为线性的元件称之为线性元件。例如电阻（</a:t>
            </a:r>
            <a:r>
              <a:rPr lang="en-US" altLang="zh-CN" dirty="0"/>
              <a:t>u=Ri</a:t>
            </a:r>
            <a:r>
              <a:rPr lang="zh-CN" altLang="en-US" dirty="0"/>
              <a:t>）、独立源（</a:t>
            </a:r>
            <a:r>
              <a:rPr lang="en-US" altLang="zh-CN" dirty="0"/>
              <a:t>u=us; </a:t>
            </a:r>
            <a:r>
              <a:rPr lang="en-US" altLang="zh-CN" dirty="0" err="1"/>
              <a:t>i</a:t>
            </a:r>
            <a:r>
              <a:rPr lang="en-US" altLang="zh-CN" dirty="0"/>
              <a:t>=is</a:t>
            </a:r>
            <a:r>
              <a:rPr lang="zh-CN" altLang="en-US" dirty="0"/>
              <a:t>）、以及各类受控源。</a:t>
            </a:r>
            <a:endParaRPr lang="en-US" altLang="zh-CN" dirty="0"/>
          </a:p>
          <a:p>
            <a:r>
              <a:rPr lang="zh-CN" altLang="en-US" dirty="0"/>
              <a:t>那么电路中如果含有二极管，能否使用叠加定理呢？</a:t>
            </a:r>
          </a:p>
        </p:txBody>
      </p:sp>
      <p:sp>
        <p:nvSpPr>
          <p:cNvPr id="4" name="灯片编号占位符 3"/>
          <p:cNvSpPr>
            <a:spLocks noGrp="1"/>
          </p:cNvSpPr>
          <p:nvPr>
            <p:ph type="sldNum" sz="quarter" idx="5"/>
          </p:nvPr>
        </p:nvSpPr>
        <p:spPr/>
        <p:txBody>
          <a:bodyPr/>
          <a:lstStyle/>
          <a:p>
            <a:fld id="{C8B0CBDF-2F6F-4927-A4F7-77FE1B09F3E1}" type="slidenum">
              <a:rPr lang="zh-CN" altLang="en-US" smtClean="0"/>
              <a:t>14</a:t>
            </a:fld>
            <a:endParaRPr lang="zh-CN" altLang="en-US"/>
          </a:p>
        </p:txBody>
      </p:sp>
    </p:spTree>
    <p:extLst>
      <p:ext uri="{BB962C8B-B14F-4D97-AF65-F5344CB8AC3E}">
        <p14:creationId xmlns:p14="http://schemas.microsoft.com/office/powerpoint/2010/main" val="3638694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B0CBDF-2F6F-4927-A4F7-77FE1B09F3E1}" type="slidenum">
              <a:rPr lang="zh-CN" altLang="en-US" smtClean="0"/>
              <a:t>15</a:t>
            </a:fld>
            <a:endParaRPr lang="zh-CN" altLang="en-US"/>
          </a:p>
        </p:txBody>
      </p:sp>
    </p:spTree>
    <p:extLst>
      <p:ext uri="{BB962C8B-B14F-4D97-AF65-F5344CB8AC3E}">
        <p14:creationId xmlns:p14="http://schemas.microsoft.com/office/powerpoint/2010/main" val="4964955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B0CBDF-2F6F-4927-A4F7-77FE1B09F3E1}" type="slidenum">
              <a:rPr lang="zh-CN" altLang="en-US" smtClean="0"/>
              <a:t>16</a:t>
            </a:fld>
            <a:endParaRPr lang="zh-CN" altLang="en-US"/>
          </a:p>
        </p:txBody>
      </p:sp>
    </p:spTree>
    <p:extLst>
      <p:ext uri="{BB962C8B-B14F-4D97-AF65-F5344CB8AC3E}">
        <p14:creationId xmlns:p14="http://schemas.microsoft.com/office/powerpoint/2010/main" val="980086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B0CBDF-2F6F-4927-A4F7-77FE1B09F3E1}" type="slidenum">
              <a:rPr lang="zh-CN" altLang="en-US" smtClean="0"/>
              <a:t>17</a:t>
            </a:fld>
            <a:endParaRPr lang="zh-CN" altLang="en-US"/>
          </a:p>
        </p:txBody>
      </p:sp>
    </p:spTree>
    <p:extLst>
      <p:ext uri="{BB962C8B-B14F-4D97-AF65-F5344CB8AC3E}">
        <p14:creationId xmlns:p14="http://schemas.microsoft.com/office/powerpoint/2010/main" val="432657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B0CBDF-2F6F-4927-A4F7-77FE1B09F3E1}" type="slidenum">
              <a:rPr lang="zh-CN" altLang="en-US" smtClean="0"/>
              <a:t>19</a:t>
            </a:fld>
            <a:endParaRPr lang="zh-CN" altLang="en-US"/>
          </a:p>
        </p:txBody>
      </p:sp>
    </p:spTree>
    <p:extLst>
      <p:ext uri="{BB962C8B-B14F-4D97-AF65-F5344CB8AC3E}">
        <p14:creationId xmlns:p14="http://schemas.microsoft.com/office/powerpoint/2010/main" val="1267881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b="1" dirty="0"/>
          </a:p>
        </p:txBody>
      </p:sp>
      <p:sp>
        <p:nvSpPr>
          <p:cNvPr id="4" name="灯片编号占位符 3"/>
          <p:cNvSpPr>
            <a:spLocks noGrp="1"/>
          </p:cNvSpPr>
          <p:nvPr>
            <p:ph type="sldNum" sz="quarter" idx="5"/>
          </p:nvPr>
        </p:nvSpPr>
        <p:spPr/>
        <p:txBody>
          <a:bodyPr/>
          <a:lstStyle/>
          <a:p>
            <a:fld id="{C8B0CBDF-2F6F-4927-A4F7-77FE1B09F3E1}" type="slidenum">
              <a:rPr lang="zh-CN" altLang="en-US" smtClean="0"/>
              <a:t>20</a:t>
            </a:fld>
            <a:endParaRPr lang="zh-CN" altLang="en-US"/>
          </a:p>
        </p:txBody>
      </p:sp>
    </p:spTree>
    <p:extLst>
      <p:ext uri="{BB962C8B-B14F-4D97-AF65-F5344CB8AC3E}">
        <p14:creationId xmlns:p14="http://schemas.microsoft.com/office/powerpoint/2010/main" val="2451772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R0=U</a:t>
            </a:r>
            <a:r>
              <a:rPr lang="en-US" altLang="zh-CN" sz="1050" dirty="0"/>
              <a:t>AB</a:t>
            </a:r>
            <a:r>
              <a:rPr lang="en-US" altLang="zh-CN" dirty="0"/>
              <a:t>/IAB   </a:t>
            </a:r>
            <a:r>
              <a:rPr lang="zh-CN" altLang="en-US" dirty="0"/>
              <a:t>开路电压除以短路电流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用求得的等效参数构成等效电路，在</a:t>
            </a:r>
            <a:r>
              <a:rPr lang="en-US" altLang="zh-CN" sz="1200" b="1" dirty="0"/>
              <a:t>AB</a:t>
            </a:r>
            <a:r>
              <a:rPr lang="zh-CN" altLang="en-US" sz="1200" b="1" dirty="0"/>
              <a:t>两端接同一负载，测出</a:t>
            </a:r>
            <a:r>
              <a:rPr lang="en-US" altLang="zh-CN" sz="1200" b="1" dirty="0"/>
              <a:t>U’</a:t>
            </a:r>
            <a:r>
              <a:rPr lang="en-US" altLang="zh-CN" sz="800" b="1" dirty="0"/>
              <a:t>RL</a:t>
            </a:r>
            <a:r>
              <a:rPr lang="zh-CN" altLang="en-US" sz="1200" b="1" dirty="0"/>
              <a:t>及 </a:t>
            </a:r>
            <a:r>
              <a:rPr lang="en-US" altLang="zh-CN" sz="1200" b="1" dirty="0"/>
              <a:t>I’</a:t>
            </a:r>
            <a:r>
              <a:rPr lang="en-US" altLang="zh-CN" b="1" dirty="0"/>
              <a:t>RL</a:t>
            </a:r>
            <a:r>
              <a:rPr lang="zh-CN" altLang="en-US" sz="1200" b="1" dirty="0"/>
              <a:t>进行</a:t>
            </a:r>
            <a:r>
              <a:rPr lang="zh-CN" altLang="en-US" sz="1200" b="1"/>
              <a:t>比较。验证端口外电路等效特性</a:t>
            </a:r>
            <a:endParaRPr lang="zh-CN" altLang="en-US" sz="1800" b="1" dirty="0"/>
          </a:p>
          <a:p>
            <a:endParaRPr lang="zh-CN" altLang="en-US" dirty="0"/>
          </a:p>
        </p:txBody>
      </p:sp>
      <p:sp>
        <p:nvSpPr>
          <p:cNvPr id="4" name="灯片编号占位符 3"/>
          <p:cNvSpPr>
            <a:spLocks noGrp="1"/>
          </p:cNvSpPr>
          <p:nvPr>
            <p:ph type="sldNum" sz="quarter" idx="5"/>
          </p:nvPr>
        </p:nvSpPr>
        <p:spPr/>
        <p:txBody>
          <a:bodyPr/>
          <a:lstStyle/>
          <a:p>
            <a:fld id="{C8B0CBDF-2F6F-4927-A4F7-77FE1B09F3E1}" type="slidenum">
              <a:rPr lang="zh-CN" altLang="en-US" smtClean="0"/>
              <a:t>21</a:t>
            </a:fld>
            <a:endParaRPr lang="zh-CN" altLang="en-US"/>
          </a:p>
        </p:txBody>
      </p:sp>
    </p:spTree>
    <p:extLst>
      <p:ext uri="{BB962C8B-B14F-4D97-AF65-F5344CB8AC3E}">
        <p14:creationId xmlns:p14="http://schemas.microsoft.com/office/powerpoint/2010/main" val="4133117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R0=U</a:t>
            </a:r>
            <a:r>
              <a:rPr lang="en-US" altLang="zh-CN" sz="1050" dirty="0"/>
              <a:t>AB</a:t>
            </a:r>
            <a:r>
              <a:rPr lang="en-US" altLang="zh-CN" dirty="0"/>
              <a:t>/IAB</a:t>
            </a:r>
            <a:endParaRPr lang="zh-CN" altLang="en-US" dirty="0"/>
          </a:p>
        </p:txBody>
      </p:sp>
      <p:sp>
        <p:nvSpPr>
          <p:cNvPr id="4" name="灯片编号占位符 3"/>
          <p:cNvSpPr>
            <a:spLocks noGrp="1"/>
          </p:cNvSpPr>
          <p:nvPr>
            <p:ph type="sldNum" sz="quarter" idx="5"/>
          </p:nvPr>
        </p:nvSpPr>
        <p:spPr/>
        <p:txBody>
          <a:bodyPr/>
          <a:lstStyle/>
          <a:p>
            <a:fld id="{C8B0CBDF-2F6F-4927-A4F7-77FE1B09F3E1}" type="slidenum">
              <a:rPr lang="zh-CN" altLang="en-US" smtClean="0"/>
              <a:t>22</a:t>
            </a:fld>
            <a:endParaRPr lang="zh-CN" altLang="en-US"/>
          </a:p>
        </p:txBody>
      </p:sp>
    </p:spTree>
    <p:extLst>
      <p:ext uri="{BB962C8B-B14F-4D97-AF65-F5344CB8AC3E}">
        <p14:creationId xmlns:p14="http://schemas.microsoft.com/office/powerpoint/2010/main" val="4050396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11/28/2024</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 xmlns:a16="http://schemas.microsoft.com/office/drawing/2014/main" id="{389E34FC-1C98-468A-BB67-6B8366C7C325}"/>
              </a:ext>
            </a:extLst>
          </p:cNvPr>
          <p:cNvSpPr>
            <a:spLocks noGrp="1"/>
          </p:cNvSpPr>
          <p:nvPr>
            <p:ph type="dt" sz="half" idx="10"/>
          </p:nvPr>
        </p:nvSpPr>
        <p:spPr/>
        <p:txBody>
          <a:bodyPr/>
          <a:lstStyle>
            <a:lvl1pPr>
              <a:defRPr/>
            </a:lvl1pPr>
          </a:lstStyle>
          <a:p>
            <a:fld id="{5009E325-D14F-4E47-A1B7-73A44BB13F0D}" type="datetime1">
              <a:rPr lang="en-US" altLang="zh-CN"/>
              <a:pPr/>
              <a:t>11/28/2024</a:t>
            </a:fld>
            <a:endParaRPr lang="en-US" altLang="zh-CN"/>
          </a:p>
        </p:txBody>
      </p:sp>
      <p:sp>
        <p:nvSpPr>
          <p:cNvPr id="3" name="页脚占位符 2">
            <a:extLst>
              <a:ext uri="{FF2B5EF4-FFF2-40B4-BE49-F238E27FC236}">
                <a16:creationId xmlns="" xmlns:a16="http://schemas.microsoft.com/office/drawing/2014/main" id="{9336E2A0-D9B0-4C2A-97E1-5CBB66C4E6DA}"/>
              </a:ext>
            </a:extLst>
          </p:cNvPr>
          <p:cNvSpPr>
            <a:spLocks noGrp="1"/>
          </p:cNvSpPr>
          <p:nvPr>
            <p:ph type="ftr" sz="quarter" idx="11"/>
          </p:nvPr>
        </p:nvSpPr>
        <p:spPr/>
        <p:txBody>
          <a:bodyPr/>
          <a:lstStyle>
            <a:lvl1pPr>
              <a:defRPr/>
            </a:lvl1pPr>
          </a:lstStyle>
          <a:p>
            <a:endParaRPr lang="zh-CN" altLang="en-US"/>
          </a:p>
        </p:txBody>
      </p:sp>
      <p:sp>
        <p:nvSpPr>
          <p:cNvPr id="4" name="灯片编号占位符 3">
            <a:extLst>
              <a:ext uri="{FF2B5EF4-FFF2-40B4-BE49-F238E27FC236}">
                <a16:creationId xmlns="" xmlns:a16="http://schemas.microsoft.com/office/drawing/2014/main" id="{99D0B9E6-1CD5-4066-98C1-D1469020551F}"/>
              </a:ext>
            </a:extLst>
          </p:cNvPr>
          <p:cNvSpPr>
            <a:spLocks noGrp="1"/>
          </p:cNvSpPr>
          <p:nvPr>
            <p:ph type="sldNum" sz="quarter" idx="12"/>
          </p:nvPr>
        </p:nvSpPr>
        <p:spPr/>
        <p:txBody>
          <a:bodyPr/>
          <a:lstStyle>
            <a:lvl1pPr>
              <a:defRPr/>
            </a:lvl1pPr>
          </a:lstStyle>
          <a:p>
            <a:fld id="{D3F518DA-9250-4DD1-BE77-706A49C314D8}" type="slidenum">
              <a:rPr lang="en-US" altLang="zh-CN"/>
              <a:pPr/>
              <a:t>‹#›</a:t>
            </a:fld>
            <a:endParaRPr lang="en-US" altLang="zh-CN"/>
          </a:p>
        </p:txBody>
      </p:sp>
    </p:spTree>
    <p:extLst>
      <p:ext uri="{BB962C8B-B14F-4D97-AF65-F5344CB8AC3E}">
        <p14:creationId xmlns:p14="http://schemas.microsoft.com/office/powerpoint/2010/main" val="820315291"/>
      </p:ext>
    </p:extLst>
  </p:cSld>
  <p:clrMapOvr>
    <a:masterClrMapping/>
  </p:clrMapOvr>
  <p:transition spd="slow"/>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11/28/2024</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slow"/>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5.xml"/><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7.wm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3.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3">
            <a:extLst>
              <a:ext uri="{FF2B5EF4-FFF2-40B4-BE49-F238E27FC236}">
                <a16:creationId xmlns="" xmlns:a16="http://schemas.microsoft.com/office/drawing/2014/main" id="{FE22CD4A-AEA4-4EE9-83CA-93394F1E569A}"/>
              </a:ext>
            </a:extLst>
          </p:cNvPr>
          <p:cNvSpPr txBox="1"/>
          <p:nvPr/>
        </p:nvSpPr>
        <p:spPr>
          <a:xfrm>
            <a:off x="1763688" y="2695786"/>
            <a:ext cx="5616624" cy="733214"/>
          </a:xfrm>
          <a:prstGeom prst="rect">
            <a:avLst/>
          </a:prstGeom>
        </p:spPr>
        <p:txBody>
          <a:bodyPr vert="horz" wrap="square" lIns="0" tIns="0" rIns="0" bIns="0" rtlCol="0">
            <a:spAutoFit/>
          </a:bodyPr>
          <a:lstStyle/>
          <a:p>
            <a:pPr>
              <a:lnSpc>
                <a:spcPts val="6095"/>
              </a:lnSpc>
            </a:pPr>
            <a:r>
              <a:rPr lang="zh-CN" altLang="en-US" sz="4800" b="1" dirty="0">
                <a:solidFill>
                  <a:srgbClr val="000000"/>
                </a:solidFill>
                <a:latin typeface="微软雅黑" panose="020B0503020204020204" pitchFamily="34" charset="-122"/>
                <a:ea typeface="微软雅黑" panose="020B0503020204020204" pitchFamily="34" charset="-122"/>
              </a:rPr>
              <a:t>电路与电子技术实验</a:t>
            </a:r>
            <a:endParaRPr lang="zh-CN" altLang="en-US" sz="4800" b="1" dirty="0">
              <a:solidFill>
                <a:srgbClr val="000000"/>
              </a:solidFill>
              <a:latin typeface="微软雅黑" panose="020B0503020204020204" pitchFamily="34" charset="-122"/>
              <a:ea typeface="微软雅黑" panose="020B0503020204020204" pitchFamily="34" charset="-122"/>
              <a:cs typeface="VMDEPI+LiSu"/>
            </a:endParaRPr>
          </a:p>
        </p:txBody>
      </p:sp>
      <p:sp>
        <p:nvSpPr>
          <p:cNvPr id="13" name="object 2">
            <a:extLst>
              <a:ext uri="{FF2B5EF4-FFF2-40B4-BE49-F238E27FC236}">
                <a16:creationId xmlns="" xmlns:a16="http://schemas.microsoft.com/office/drawing/2014/main" id="{64D332F6-8CAE-472C-BED4-41F92924C7D4}"/>
              </a:ext>
            </a:extLst>
          </p:cNvPr>
          <p:cNvSpPr/>
          <p:nvPr/>
        </p:nvSpPr>
        <p:spPr>
          <a:xfrm>
            <a:off x="0" y="2092097"/>
            <a:ext cx="7958137" cy="114300"/>
          </a:xfrm>
          <a:prstGeom prst="rect">
            <a:avLst/>
          </a:prstGeom>
          <a:blipFill>
            <a:blip r:embed="rId3" cstate="print"/>
            <a:stretch>
              <a:fillRect/>
            </a:stretch>
          </a:blipFill>
        </p:spPr>
        <p:txBody>
          <a:bodyPr wrap="square" lIns="0" tIns="0" rIns="0" bIns="0" rtlCol="0">
            <a:spAutoFit/>
          </a:bodyPr>
          <a:lstStyle/>
          <a:p>
            <a:endParaRPr/>
          </a:p>
        </p:txBody>
      </p:sp>
      <p:sp>
        <p:nvSpPr>
          <p:cNvPr id="5" name="object 2">
            <a:extLst>
              <a:ext uri="{FF2B5EF4-FFF2-40B4-BE49-F238E27FC236}">
                <a16:creationId xmlns="" xmlns:a16="http://schemas.microsoft.com/office/drawing/2014/main" id="{7A882290-F3E8-4D58-BEA2-60134C5C3147}"/>
              </a:ext>
            </a:extLst>
          </p:cNvPr>
          <p:cNvSpPr/>
          <p:nvPr/>
        </p:nvSpPr>
        <p:spPr>
          <a:xfrm rot="10800000">
            <a:off x="1181045" y="3889369"/>
            <a:ext cx="7958137" cy="114300"/>
          </a:xfrm>
          <a:prstGeom prst="rect">
            <a:avLst/>
          </a:prstGeom>
          <a:blipFill>
            <a:blip r:embed="rId3" cstate="print"/>
            <a:stretch>
              <a:fillRect/>
            </a:stretch>
          </a:blipFill>
        </p:spPr>
        <p:txBody>
          <a:bodyPr wrap="square" lIns="0" tIns="0" rIns="0" bIns="0" rtlCol="0">
            <a:spAutoFit/>
          </a:bodyPr>
          <a:lstStyle/>
          <a:p>
            <a:endParaRPr dirty="0"/>
          </a:p>
        </p:txBody>
      </p:sp>
    </p:spTree>
    <p:extLst>
      <p:ext uri="{BB962C8B-B14F-4D97-AF65-F5344CB8AC3E}">
        <p14:creationId xmlns:p14="http://schemas.microsoft.com/office/powerpoint/2010/main" val="38688213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11560" y="391530"/>
            <a:ext cx="7850832" cy="73321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电路与电子技术实验 </a:t>
            </a:r>
            <a:endParaRPr sz="4000" b="1" dirty="0">
              <a:solidFill>
                <a:srgbClr val="000000"/>
              </a:solidFill>
              <a:latin typeface="微软雅黑" panose="020B0503020204020204" pitchFamily="34" charset="-122"/>
              <a:ea typeface="微软雅黑" panose="020B0503020204020204" pitchFamily="34" charset="-122"/>
              <a:cs typeface="VMDEPI+LiSu"/>
            </a:endParaRPr>
          </a:p>
        </p:txBody>
      </p:sp>
      <p:sp>
        <p:nvSpPr>
          <p:cNvPr id="4" name="object 2">
            <a:extLst>
              <a:ext uri="{FF2B5EF4-FFF2-40B4-BE49-F238E27FC236}">
                <a16:creationId xmlns="" xmlns:a16="http://schemas.microsoft.com/office/drawing/2014/main" id="{FE856086-625A-4091-9E9E-CE45759C9C73}"/>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 xmlns:a16="http://schemas.microsoft.com/office/drawing/2014/main" id="{26EBD233-9E2C-4FAF-9C72-43546516F518}"/>
              </a:ext>
            </a:extLst>
          </p:cNvPr>
          <p:cNvSpPr txBox="1"/>
          <p:nvPr/>
        </p:nvSpPr>
        <p:spPr>
          <a:xfrm>
            <a:off x="658019" y="1599183"/>
            <a:ext cx="4572000" cy="46166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本课程基本情况</a:t>
            </a:r>
          </a:p>
        </p:txBody>
      </p:sp>
      <p:sp>
        <p:nvSpPr>
          <p:cNvPr id="15" name="文本框 14">
            <a:extLst>
              <a:ext uri="{FF2B5EF4-FFF2-40B4-BE49-F238E27FC236}">
                <a16:creationId xmlns="" xmlns:a16="http://schemas.microsoft.com/office/drawing/2014/main" id="{5090F154-D6FC-477D-8637-320050712E36}"/>
              </a:ext>
            </a:extLst>
          </p:cNvPr>
          <p:cNvSpPr txBox="1"/>
          <p:nvPr/>
        </p:nvSpPr>
        <p:spPr>
          <a:xfrm>
            <a:off x="1187624" y="2060848"/>
            <a:ext cx="6122640" cy="1705403"/>
          </a:xfrm>
          <a:prstGeom prst="rect">
            <a:avLst/>
          </a:prstGeom>
          <a:noFill/>
        </p:spPr>
        <p:txBody>
          <a:bodyPr wrap="square">
            <a:spAutoFit/>
          </a:bodyPr>
          <a:lstStyle/>
          <a:p>
            <a:pPr>
              <a:lnSpc>
                <a:spcPct val="150000"/>
              </a:lnSpc>
            </a:pPr>
            <a:r>
              <a:rPr lang="zh-CN" altLang="en-US" b="1" dirty="0">
                <a:latin typeface="微软雅黑" panose="020B0503020204020204" pitchFamily="34" charset="-122"/>
                <a:ea typeface="微软雅黑" panose="020B0503020204020204" pitchFamily="34" charset="-122"/>
              </a:rPr>
              <a:t>实验报告</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课前预习，撰写实验报告中的</a:t>
            </a:r>
            <a:r>
              <a:rPr lang="zh-CN" altLang="en-US" b="1" dirty="0">
                <a:solidFill>
                  <a:srgbClr val="FF0000"/>
                </a:solidFill>
                <a:latin typeface="微软雅黑" panose="020B0503020204020204" pitchFamily="34" charset="-122"/>
                <a:ea typeface="微软雅黑" panose="020B0503020204020204" pitchFamily="34" charset="-122"/>
              </a:rPr>
              <a:t>实验目的</a:t>
            </a:r>
            <a:r>
              <a:rPr lang="zh-CN" altLang="en-US" b="1" dirty="0">
                <a:latin typeface="微软雅黑" panose="020B0503020204020204" pitchFamily="34" charset="-122"/>
                <a:ea typeface="微软雅黑" panose="020B0503020204020204" pitchFamily="34" charset="-122"/>
              </a:rPr>
              <a:t>、</a:t>
            </a:r>
            <a:r>
              <a:rPr lang="zh-CN" altLang="en-US" b="1" dirty="0">
                <a:solidFill>
                  <a:srgbClr val="FF0000"/>
                </a:solidFill>
                <a:latin typeface="微软雅黑" panose="020B0503020204020204" pitchFamily="34" charset="-122"/>
                <a:ea typeface="微软雅黑" panose="020B0503020204020204" pitchFamily="34" charset="-122"/>
              </a:rPr>
              <a:t>实验原理</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课堂 记录实验数据；</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课下完成 实验内容、实验分析与总结；</a:t>
            </a:r>
          </a:p>
        </p:txBody>
      </p:sp>
      <p:sp>
        <p:nvSpPr>
          <p:cNvPr id="16" name="文本框 15">
            <a:extLst>
              <a:ext uri="{FF2B5EF4-FFF2-40B4-BE49-F238E27FC236}">
                <a16:creationId xmlns="" xmlns:a16="http://schemas.microsoft.com/office/drawing/2014/main" id="{B91065A7-F30A-41FF-83A7-00FA823969A3}"/>
              </a:ext>
            </a:extLst>
          </p:cNvPr>
          <p:cNvSpPr txBox="1"/>
          <p:nvPr/>
        </p:nvSpPr>
        <p:spPr>
          <a:xfrm>
            <a:off x="1187624" y="3861048"/>
            <a:ext cx="6122640" cy="1289905"/>
          </a:xfrm>
          <a:prstGeom prst="rect">
            <a:avLst/>
          </a:prstGeom>
          <a:noFill/>
        </p:spPr>
        <p:txBody>
          <a:bodyPr wrap="square">
            <a:spAutoFit/>
          </a:bodyPr>
          <a:lstStyle/>
          <a:p>
            <a:pPr>
              <a:lnSpc>
                <a:spcPct val="150000"/>
              </a:lnSpc>
            </a:pPr>
            <a:r>
              <a:rPr lang="zh-CN" altLang="en-US" b="1" dirty="0">
                <a:latin typeface="微软雅黑" panose="020B0503020204020204" pitchFamily="34" charset="-122"/>
                <a:ea typeface="微软雅黑" panose="020B0503020204020204" pitchFamily="34" charset="-122"/>
              </a:rPr>
              <a:t>实验考勤</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每堂课结束后需</a:t>
            </a:r>
            <a:r>
              <a:rPr lang="zh-CN" altLang="en-US" b="1" dirty="0">
                <a:solidFill>
                  <a:srgbClr val="FF0000"/>
                </a:solidFill>
                <a:latin typeface="微软雅黑" panose="020B0503020204020204" pitchFamily="34" charset="-122"/>
                <a:ea typeface="微软雅黑" panose="020B0503020204020204" pitchFamily="34" charset="-122"/>
              </a:rPr>
              <a:t>验收实验数据</a:t>
            </a:r>
            <a:r>
              <a:rPr lang="zh-CN" altLang="en-US" b="1" dirty="0">
                <a:latin typeface="微软雅黑" panose="020B0503020204020204" pitchFamily="34" charset="-122"/>
                <a:ea typeface="微软雅黑" panose="020B0503020204020204" pitchFamily="34" charset="-122"/>
              </a:rPr>
              <a:t>，同时在</a:t>
            </a:r>
            <a:r>
              <a:rPr lang="zh-CN" altLang="en-US" b="1" dirty="0">
                <a:solidFill>
                  <a:srgbClr val="FF0000"/>
                </a:solidFill>
                <a:latin typeface="微软雅黑" panose="020B0503020204020204" pitchFamily="34" charset="-122"/>
                <a:ea typeface="微软雅黑" panose="020B0503020204020204" pitchFamily="34" charset="-122"/>
              </a:rPr>
              <a:t>点名册上签到</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调课务必提前说明；</a:t>
            </a:r>
            <a:endParaRPr lang="en-US" altLang="zh-CN" b="1"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 xmlns:a16="http://schemas.microsoft.com/office/drawing/2014/main" id="{C2EDBB6D-B15E-4E9A-BF71-C2C69BAC6C21}"/>
              </a:ext>
            </a:extLst>
          </p:cNvPr>
          <p:cNvSpPr txBox="1"/>
          <p:nvPr/>
        </p:nvSpPr>
        <p:spPr>
          <a:xfrm>
            <a:off x="1187624" y="5301208"/>
            <a:ext cx="6122640" cy="874407"/>
          </a:xfrm>
          <a:prstGeom prst="rect">
            <a:avLst/>
          </a:prstGeom>
          <a:noFill/>
        </p:spPr>
        <p:txBody>
          <a:bodyPr wrap="square">
            <a:spAutoFit/>
          </a:bodyPr>
          <a:lstStyle/>
          <a:p>
            <a:pPr>
              <a:lnSpc>
                <a:spcPct val="150000"/>
              </a:lnSpc>
            </a:pPr>
            <a:r>
              <a:rPr lang="zh-CN" altLang="en-US" b="1" dirty="0">
                <a:latin typeface="微软雅黑" panose="020B0503020204020204" pitchFamily="34" charset="-122"/>
                <a:ea typeface="微软雅黑" panose="020B0503020204020204" pitchFamily="34" charset="-122"/>
              </a:rPr>
              <a:t>期末考核：考试（待定）；</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注意：</a:t>
            </a:r>
            <a:r>
              <a:rPr lang="zh-CN" altLang="en-US" b="1" dirty="0">
                <a:solidFill>
                  <a:srgbClr val="FF0000"/>
                </a:solidFill>
                <a:latin typeface="微软雅黑" panose="020B0503020204020204" pitchFamily="34" charset="-122"/>
                <a:ea typeface="微软雅黑" panose="020B0503020204020204" pitchFamily="34" charset="-122"/>
              </a:rPr>
              <a:t>实验报告和考勤</a:t>
            </a:r>
            <a:r>
              <a:rPr lang="zh-CN" altLang="en-US" b="1" dirty="0">
                <a:latin typeface="微软雅黑" panose="020B0503020204020204" pitchFamily="34" charset="-122"/>
                <a:ea typeface="微软雅黑" panose="020B0503020204020204" pitchFamily="34" charset="-122"/>
              </a:rPr>
              <a:t>在期末考试成绩中占比很重；</a:t>
            </a:r>
            <a:endParaRPr lang="en-US" altLang="zh-CN"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5253871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11560" y="391530"/>
            <a:ext cx="7850832" cy="73321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电路与电子技术实验 </a:t>
            </a:r>
            <a:endParaRPr sz="4000" b="1" dirty="0">
              <a:solidFill>
                <a:srgbClr val="000000"/>
              </a:solidFill>
              <a:latin typeface="微软雅黑" panose="020B0503020204020204" pitchFamily="34" charset="-122"/>
              <a:ea typeface="微软雅黑" panose="020B0503020204020204" pitchFamily="34" charset="-122"/>
              <a:cs typeface="VMDEPI+LiSu"/>
            </a:endParaRPr>
          </a:p>
        </p:txBody>
      </p:sp>
      <p:sp>
        <p:nvSpPr>
          <p:cNvPr id="4" name="object 2">
            <a:extLst>
              <a:ext uri="{FF2B5EF4-FFF2-40B4-BE49-F238E27FC236}">
                <a16:creationId xmlns="" xmlns:a16="http://schemas.microsoft.com/office/drawing/2014/main" id="{FE856086-625A-4091-9E9E-CE45759C9C73}"/>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 xmlns:a16="http://schemas.microsoft.com/office/drawing/2014/main" id="{003BCFE5-1E59-41A1-8636-9AA6EC8FC862}"/>
              </a:ext>
            </a:extLst>
          </p:cNvPr>
          <p:cNvSpPr>
            <a:spLocks noChangeArrowheads="1"/>
          </p:cNvSpPr>
          <p:nvPr/>
        </p:nvSpPr>
        <p:spPr bwMode="auto">
          <a:xfrm>
            <a:off x="1714029" y="1979022"/>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实验一   </a:t>
            </a:r>
            <a:r>
              <a:rPr lang="zh-CN" altLang="zh-CN" sz="2000" b="1" dirty="0">
                <a:solidFill>
                  <a:schemeClr val="bg1"/>
                </a:solidFill>
                <a:latin typeface="微软雅黑" panose="020B0503020204020204" pitchFamily="34" charset="-122"/>
                <a:ea typeface="微软雅黑" panose="020B0503020204020204" pitchFamily="34" charset="-122"/>
              </a:rPr>
              <a:t>基尔霍夫定律</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 name="矩形 11">
            <a:extLst>
              <a:ext uri="{FF2B5EF4-FFF2-40B4-BE49-F238E27FC236}">
                <a16:creationId xmlns="" xmlns:a16="http://schemas.microsoft.com/office/drawing/2014/main" id="{B43BE4D6-1FB1-4661-A626-FAB8BEDA65DB}"/>
              </a:ext>
            </a:extLst>
          </p:cNvPr>
          <p:cNvSpPr>
            <a:spLocks noChangeArrowheads="1"/>
          </p:cNvSpPr>
          <p:nvPr/>
        </p:nvSpPr>
        <p:spPr bwMode="auto">
          <a:xfrm>
            <a:off x="1714029" y="2570941"/>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实验二   </a:t>
            </a:r>
            <a:r>
              <a:rPr lang="zh-CN" altLang="zh-CN" sz="2000" b="1" dirty="0">
                <a:solidFill>
                  <a:schemeClr val="bg1"/>
                </a:solidFill>
                <a:latin typeface="微软雅黑" panose="020B0503020204020204" pitchFamily="34" charset="-122"/>
                <a:ea typeface="微软雅黑" panose="020B0503020204020204" pitchFamily="34" charset="-122"/>
              </a:rPr>
              <a:t>叠加定理和戴维南定理</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矩形 12">
            <a:extLst>
              <a:ext uri="{FF2B5EF4-FFF2-40B4-BE49-F238E27FC236}">
                <a16:creationId xmlns="" xmlns:a16="http://schemas.microsoft.com/office/drawing/2014/main" id="{557707EB-B318-4F1F-83F0-D6B6B8433354}"/>
              </a:ext>
            </a:extLst>
          </p:cNvPr>
          <p:cNvSpPr>
            <a:spLocks noChangeArrowheads="1"/>
          </p:cNvSpPr>
          <p:nvPr/>
        </p:nvSpPr>
        <p:spPr bwMode="auto">
          <a:xfrm>
            <a:off x="1714054" y="3754779"/>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实验四   </a:t>
            </a:r>
            <a:r>
              <a:rPr lang="en-US" altLang="zh-CN" sz="2000" b="1" dirty="0">
                <a:solidFill>
                  <a:schemeClr val="bg1"/>
                </a:solidFill>
                <a:latin typeface="微软雅黑" panose="020B0503020204020204" pitchFamily="34" charset="-122"/>
                <a:ea typeface="微软雅黑" panose="020B0503020204020204" pitchFamily="34" charset="-122"/>
              </a:rPr>
              <a:t>RC</a:t>
            </a:r>
            <a:r>
              <a:rPr lang="zh-CN" altLang="zh-CN" sz="2000" b="1" dirty="0">
                <a:solidFill>
                  <a:schemeClr val="bg1"/>
                </a:solidFill>
                <a:latin typeface="微软雅黑" panose="020B0503020204020204" pitchFamily="34" charset="-122"/>
                <a:ea typeface="微软雅黑" panose="020B0503020204020204" pitchFamily="34" charset="-122"/>
              </a:rPr>
              <a:t>电路频率特性的研究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8" name="矩形 13">
            <a:extLst>
              <a:ext uri="{FF2B5EF4-FFF2-40B4-BE49-F238E27FC236}">
                <a16:creationId xmlns="" xmlns:a16="http://schemas.microsoft.com/office/drawing/2014/main" id="{D839C882-C782-45FB-9991-791E7FE2AF8C}"/>
              </a:ext>
            </a:extLst>
          </p:cNvPr>
          <p:cNvSpPr>
            <a:spLocks noChangeArrowheads="1"/>
          </p:cNvSpPr>
          <p:nvPr/>
        </p:nvSpPr>
        <p:spPr bwMode="auto">
          <a:xfrm>
            <a:off x="1714029" y="4346698"/>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实验五   </a:t>
            </a:r>
            <a:r>
              <a:rPr lang="zh-CN" altLang="zh-CN" sz="2000" b="1" dirty="0">
                <a:solidFill>
                  <a:schemeClr val="bg1"/>
                </a:solidFill>
                <a:latin typeface="微软雅黑" panose="020B0503020204020204" pitchFamily="34" charset="-122"/>
                <a:ea typeface="微软雅黑" panose="020B0503020204020204" pitchFamily="34" charset="-122"/>
              </a:rPr>
              <a:t>基本放大电路的研究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矩形 14">
            <a:extLst>
              <a:ext uri="{FF2B5EF4-FFF2-40B4-BE49-F238E27FC236}">
                <a16:creationId xmlns="" xmlns:a16="http://schemas.microsoft.com/office/drawing/2014/main" id="{5A581705-77E3-437D-8655-383F6B736D26}"/>
              </a:ext>
            </a:extLst>
          </p:cNvPr>
          <p:cNvSpPr>
            <a:spLocks noChangeArrowheads="1"/>
          </p:cNvSpPr>
          <p:nvPr/>
        </p:nvSpPr>
        <p:spPr bwMode="auto">
          <a:xfrm>
            <a:off x="1714029" y="4939382"/>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a:t>
            </a:r>
            <a:r>
              <a:rPr lang="zh-CN" altLang="en-US" sz="2000" b="1" dirty="0" smtClean="0">
                <a:solidFill>
                  <a:schemeClr val="bg1"/>
                </a:solidFill>
                <a:latin typeface="微软雅黑" panose="020B0503020204020204" pitchFamily="34" charset="-122"/>
                <a:ea typeface="微软雅黑" panose="020B0503020204020204" pitchFamily="34" charset="-122"/>
              </a:rPr>
              <a:t>六   基于</a:t>
            </a:r>
            <a:r>
              <a:rPr lang="zh-CN" altLang="zh-CN" sz="2000" b="1" dirty="0">
                <a:solidFill>
                  <a:schemeClr val="bg1"/>
                </a:solidFill>
                <a:latin typeface="微软雅黑" panose="020B0503020204020204" pitchFamily="34" charset="-122"/>
                <a:ea typeface="微软雅黑" panose="020B0503020204020204" pitchFamily="34" charset="-122"/>
              </a:rPr>
              <a:t>集成运放</a:t>
            </a:r>
            <a:r>
              <a:rPr lang="zh-CN" altLang="en-US" sz="2000" b="1" dirty="0">
                <a:solidFill>
                  <a:schemeClr val="bg1"/>
                </a:solidFill>
                <a:latin typeface="微软雅黑" panose="020B0503020204020204" pitchFamily="34" charset="-122"/>
                <a:ea typeface="微软雅黑" panose="020B0503020204020204" pitchFamily="34" charset="-122"/>
              </a:rPr>
              <a:t>的运算</a:t>
            </a:r>
            <a:r>
              <a:rPr lang="zh-CN" altLang="en-US" sz="2000" b="1" dirty="0" smtClean="0">
                <a:solidFill>
                  <a:schemeClr val="bg1"/>
                </a:solidFill>
                <a:latin typeface="微软雅黑" panose="020B0503020204020204" pitchFamily="34" charset="-122"/>
                <a:ea typeface="微软雅黑" panose="020B0503020204020204" pitchFamily="34" charset="-122"/>
              </a:rPr>
              <a:t>电路</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1" name="矩形 11">
            <a:extLst>
              <a:ext uri="{FF2B5EF4-FFF2-40B4-BE49-F238E27FC236}">
                <a16:creationId xmlns="" xmlns:a16="http://schemas.microsoft.com/office/drawing/2014/main" id="{33EB0CB5-24DD-409B-A5B6-1540B160E925}"/>
              </a:ext>
            </a:extLst>
          </p:cNvPr>
          <p:cNvSpPr>
            <a:spLocks noChangeArrowheads="1"/>
          </p:cNvSpPr>
          <p:nvPr/>
        </p:nvSpPr>
        <p:spPr bwMode="auto">
          <a:xfrm>
            <a:off x="1715195" y="3162860"/>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实验三   </a:t>
            </a:r>
            <a:r>
              <a:rPr lang="zh-CN" altLang="zh-CN" sz="2000" b="1" dirty="0">
                <a:solidFill>
                  <a:schemeClr val="bg1"/>
                </a:solidFill>
                <a:latin typeface="微软雅黑" panose="020B0503020204020204" pitchFamily="34" charset="-122"/>
                <a:ea typeface="微软雅黑" panose="020B0503020204020204" pitchFamily="34" charset="-122"/>
              </a:rPr>
              <a:t>简单正弦交流电路的研究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96696638"/>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4</a:t>
            </a:fld>
            <a:endParaRPr lang="en-US" altLang="zh-CN" sz="120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3321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电路与电子技术实验  </a:t>
            </a:r>
            <a:endParaRPr sz="4000" b="1" dirty="0">
              <a:solidFill>
                <a:srgbClr val="000000"/>
              </a:solidFill>
              <a:latin typeface="微软雅黑" panose="020B0503020204020204" pitchFamily="34" charset="-122"/>
              <a:ea typeface="微软雅黑" panose="020B0503020204020204" pitchFamily="34" charset="-122"/>
              <a:cs typeface="VMDEPI+LiSu"/>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2"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 xmlns:a16="http://schemas.microsoft.com/office/drawing/2014/main" id="{FCE5DB39-00C6-4608-8B20-2C1569B98D3F}"/>
              </a:ext>
            </a:extLst>
          </p:cNvPr>
          <p:cNvSpPr>
            <a:spLocks noChangeArrowheads="1"/>
          </p:cNvSpPr>
          <p:nvPr/>
        </p:nvSpPr>
        <p:spPr bwMode="auto">
          <a:xfrm>
            <a:off x="1714029" y="1628800"/>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实验一   </a:t>
            </a:r>
            <a:r>
              <a:rPr lang="zh-CN" altLang="zh-CN" sz="2000" b="1" dirty="0">
                <a:solidFill>
                  <a:schemeClr val="bg1"/>
                </a:solidFill>
                <a:latin typeface="微软雅黑" panose="020B0503020204020204" pitchFamily="34" charset="-122"/>
                <a:ea typeface="微软雅黑" panose="020B0503020204020204" pitchFamily="34" charset="-122"/>
              </a:rPr>
              <a:t>基尔霍夫定律</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5" name="矩形 11">
            <a:extLst>
              <a:ext uri="{FF2B5EF4-FFF2-40B4-BE49-F238E27FC236}">
                <a16:creationId xmlns="" xmlns:a16="http://schemas.microsoft.com/office/drawing/2014/main" id="{C4C35099-2443-435E-80AF-7707E6F87DE6}"/>
              </a:ext>
            </a:extLst>
          </p:cNvPr>
          <p:cNvSpPr>
            <a:spLocks noChangeArrowheads="1"/>
          </p:cNvSpPr>
          <p:nvPr/>
        </p:nvSpPr>
        <p:spPr bwMode="auto">
          <a:xfrm>
            <a:off x="1714029" y="2220719"/>
            <a:ext cx="5969000" cy="577850"/>
          </a:xfrm>
          <a:prstGeom prst="rect">
            <a:avLst/>
          </a:prstGeom>
          <a:solidFill>
            <a:srgbClr val="E6E6E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实验二   </a:t>
            </a:r>
            <a:r>
              <a:rPr lang="zh-CN" altLang="zh-CN" sz="2000" b="1" dirty="0">
                <a:solidFill>
                  <a:schemeClr val="bg1"/>
                </a:solidFill>
                <a:latin typeface="微软雅黑" panose="020B0503020204020204" pitchFamily="34" charset="-122"/>
                <a:ea typeface="微软雅黑" panose="020B0503020204020204" pitchFamily="34" charset="-122"/>
              </a:rPr>
              <a:t>叠加定理和戴维南定理</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6" name="矩形 12">
            <a:extLst>
              <a:ext uri="{FF2B5EF4-FFF2-40B4-BE49-F238E27FC236}">
                <a16:creationId xmlns="" xmlns:a16="http://schemas.microsoft.com/office/drawing/2014/main" id="{0ED19145-7A90-4C34-B885-6F85D18117C4}"/>
              </a:ext>
            </a:extLst>
          </p:cNvPr>
          <p:cNvSpPr>
            <a:spLocks noChangeArrowheads="1"/>
          </p:cNvSpPr>
          <p:nvPr/>
        </p:nvSpPr>
        <p:spPr bwMode="auto">
          <a:xfrm>
            <a:off x="1714054" y="3404557"/>
            <a:ext cx="5969000" cy="577850"/>
          </a:xfrm>
          <a:prstGeom prst="rect">
            <a:avLst/>
          </a:prstGeom>
          <a:solidFill>
            <a:srgbClr val="E6E6E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实验四   </a:t>
            </a:r>
            <a:r>
              <a:rPr lang="en-US" altLang="zh-CN" sz="2000" b="1" dirty="0">
                <a:solidFill>
                  <a:schemeClr val="bg1"/>
                </a:solidFill>
                <a:latin typeface="微软雅黑" panose="020B0503020204020204" pitchFamily="34" charset="-122"/>
                <a:ea typeface="微软雅黑" panose="020B0503020204020204" pitchFamily="34" charset="-122"/>
              </a:rPr>
              <a:t>RC</a:t>
            </a:r>
            <a:r>
              <a:rPr lang="zh-CN" altLang="zh-CN" sz="2000" b="1" dirty="0">
                <a:solidFill>
                  <a:schemeClr val="bg1"/>
                </a:solidFill>
                <a:latin typeface="微软雅黑" panose="020B0503020204020204" pitchFamily="34" charset="-122"/>
                <a:ea typeface="微软雅黑" panose="020B0503020204020204" pitchFamily="34" charset="-122"/>
              </a:rPr>
              <a:t>电路频率特性的研究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7" name="矩形 13">
            <a:extLst>
              <a:ext uri="{FF2B5EF4-FFF2-40B4-BE49-F238E27FC236}">
                <a16:creationId xmlns="" xmlns:a16="http://schemas.microsoft.com/office/drawing/2014/main" id="{BCBB5A86-ACF6-4774-A4A7-DF0BE5B36AEA}"/>
              </a:ext>
            </a:extLst>
          </p:cNvPr>
          <p:cNvSpPr>
            <a:spLocks noChangeArrowheads="1"/>
          </p:cNvSpPr>
          <p:nvPr/>
        </p:nvSpPr>
        <p:spPr bwMode="auto">
          <a:xfrm>
            <a:off x="1714029" y="3996476"/>
            <a:ext cx="5969000" cy="577850"/>
          </a:xfrm>
          <a:prstGeom prst="rect">
            <a:avLst/>
          </a:prstGeom>
          <a:solidFill>
            <a:srgbClr val="E6E6E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实验五   </a:t>
            </a:r>
            <a:r>
              <a:rPr lang="zh-CN" altLang="zh-CN" sz="2000" b="1" dirty="0">
                <a:solidFill>
                  <a:schemeClr val="bg1"/>
                </a:solidFill>
                <a:latin typeface="微软雅黑" panose="020B0503020204020204" pitchFamily="34" charset="-122"/>
                <a:ea typeface="微软雅黑" panose="020B0503020204020204" pitchFamily="34" charset="-122"/>
              </a:rPr>
              <a:t>基本放大电路的研究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8" name="矩形 14">
            <a:extLst>
              <a:ext uri="{FF2B5EF4-FFF2-40B4-BE49-F238E27FC236}">
                <a16:creationId xmlns="" xmlns:a16="http://schemas.microsoft.com/office/drawing/2014/main" id="{EC9D32A7-3A75-4D16-A94F-0A4D5C411A12}"/>
              </a:ext>
            </a:extLst>
          </p:cNvPr>
          <p:cNvSpPr>
            <a:spLocks noChangeArrowheads="1"/>
          </p:cNvSpPr>
          <p:nvPr/>
        </p:nvSpPr>
        <p:spPr bwMode="auto">
          <a:xfrm>
            <a:off x="1714029" y="4589160"/>
            <a:ext cx="5969000" cy="577850"/>
          </a:xfrm>
          <a:prstGeom prst="rect">
            <a:avLst/>
          </a:prstGeom>
          <a:solidFill>
            <a:srgbClr val="E6E6E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a:t>
            </a:r>
            <a:r>
              <a:rPr lang="zh-CN" altLang="en-US" sz="2000" b="1" dirty="0" smtClean="0">
                <a:solidFill>
                  <a:schemeClr val="bg1"/>
                </a:solidFill>
                <a:latin typeface="微软雅黑" panose="020B0503020204020204" pitchFamily="34" charset="-122"/>
                <a:ea typeface="微软雅黑" panose="020B0503020204020204" pitchFamily="34" charset="-122"/>
              </a:rPr>
              <a:t>六   基于</a:t>
            </a:r>
            <a:r>
              <a:rPr lang="zh-CN" altLang="en-US" sz="2000" b="1" dirty="0">
                <a:solidFill>
                  <a:schemeClr val="bg1"/>
                </a:solidFill>
                <a:latin typeface="微软雅黑" panose="020B0503020204020204" pitchFamily="34" charset="-122"/>
                <a:ea typeface="微软雅黑" panose="020B0503020204020204" pitchFamily="34" charset="-122"/>
              </a:rPr>
              <a:t>集成运放的运算电路</a:t>
            </a:r>
          </a:p>
        </p:txBody>
      </p:sp>
      <p:sp>
        <p:nvSpPr>
          <p:cNvPr id="20" name="矩形 11">
            <a:extLst>
              <a:ext uri="{FF2B5EF4-FFF2-40B4-BE49-F238E27FC236}">
                <a16:creationId xmlns="" xmlns:a16="http://schemas.microsoft.com/office/drawing/2014/main" id="{D38294FA-4234-4BF4-A939-FFB0EE9C5114}"/>
              </a:ext>
            </a:extLst>
          </p:cNvPr>
          <p:cNvSpPr>
            <a:spLocks noChangeArrowheads="1"/>
          </p:cNvSpPr>
          <p:nvPr/>
        </p:nvSpPr>
        <p:spPr bwMode="auto">
          <a:xfrm>
            <a:off x="1715195" y="2812638"/>
            <a:ext cx="5969000" cy="577850"/>
          </a:xfrm>
          <a:prstGeom prst="rect">
            <a:avLst/>
          </a:prstGeom>
          <a:solidFill>
            <a:srgbClr val="E6E6E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实验三   </a:t>
            </a:r>
            <a:r>
              <a:rPr lang="zh-CN" altLang="zh-CN" sz="2000" b="1" dirty="0">
                <a:solidFill>
                  <a:schemeClr val="bg1"/>
                </a:solidFill>
                <a:latin typeface="微软雅黑" panose="020B0503020204020204" pitchFamily="34" charset="-122"/>
                <a:ea typeface="微软雅黑" panose="020B0503020204020204" pitchFamily="34" charset="-122"/>
              </a:rPr>
              <a:t>简单正弦交流电路的研究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5</a:t>
            </a:fld>
            <a:endParaRPr lang="en-US" altLang="zh-CN" sz="120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3321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实验一 基尔霍夫定律  </a:t>
            </a:r>
            <a:endParaRPr sz="4000" b="1" dirty="0">
              <a:solidFill>
                <a:srgbClr val="000000"/>
              </a:solidFill>
              <a:latin typeface="微软雅黑" panose="020B0503020204020204" pitchFamily="34" charset="-122"/>
              <a:ea typeface="微软雅黑" panose="020B0503020204020204" pitchFamily="34" charset="-122"/>
              <a:cs typeface="VMDEPI+LiSu"/>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22" name="object 1">
            <a:extLst>
              <a:ext uri="{FF2B5EF4-FFF2-40B4-BE49-F238E27FC236}">
                <a16:creationId xmlns="" xmlns:a16="http://schemas.microsoft.com/office/drawing/2014/main" id="{0F8A1AA4-465D-493C-A090-23426E30ACB5}"/>
              </a:ext>
            </a:extLst>
          </p:cNvPr>
          <p:cNvSpPr/>
          <p:nvPr/>
        </p:nvSpPr>
        <p:spPr>
          <a:xfrm>
            <a:off x="609600" y="6168390"/>
            <a:ext cx="7924800" cy="12700"/>
          </a:xfrm>
          <a:prstGeom prst="rect">
            <a:avLst/>
          </a:prstGeom>
          <a:blipFill>
            <a:blip r:embed="rId4" cstate="print"/>
            <a:stretch>
              <a:fillRect/>
            </a:stretch>
          </a:blipFill>
        </p:spPr>
        <p:txBody>
          <a:bodyPr wrap="square" lIns="0" tIns="0" rIns="0" bIns="0" rtlCol="0">
            <a:spAutoFit/>
          </a:bodyPr>
          <a:lstStyle/>
          <a:p>
            <a:endParaRPr/>
          </a:p>
        </p:txBody>
      </p:sp>
      <p:sp>
        <p:nvSpPr>
          <p:cNvPr id="23" name="文本框 22">
            <a:extLst>
              <a:ext uri="{FF2B5EF4-FFF2-40B4-BE49-F238E27FC236}">
                <a16:creationId xmlns="" xmlns:a16="http://schemas.microsoft.com/office/drawing/2014/main" id="{571659F3-7557-46B1-BFDE-9664AE7679A2}"/>
              </a:ext>
            </a:extLst>
          </p:cNvPr>
          <p:cNvSpPr txBox="1"/>
          <p:nvPr/>
        </p:nvSpPr>
        <p:spPr>
          <a:xfrm>
            <a:off x="683568" y="1491600"/>
            <a:ext cx="7706816" cy="1053430"/>
          </a:xfrm>
          <a:prstGeom prst="rect">
            <a:avLst/>
          </a:prstGeom>
          <a:noFill/>
        </p:spPr>
        <p:txBody>
          <a:bodyPr wrap="square">
            <a:spAutoFit/>
          </a:bodyPr>
          <a:lstStyle/>
          <a:p>
            <a:pPr>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实验目的</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学会使用电流表、电压表、直流信号发生器</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 xmlns:a16="http://schemas.microsoft.com/office/drawing/2014/main" id="{53B1E96B-B2FB-4D71-BA18-C1F5CDEFB731}"/>
              </a:ext>
            </a:extLst>
          </p:cNvPr>
          <p:cNvPicPr>
            <a:picLocks noChangeAspect="1"/>
          </p:cNvPicPr>
          <p:nvPr/>
        </p:nvPicPr>
        <p:blipFill>
          <a:blip r:embed="rId5"/>
          <a:stretch>
            <a:fillRect/>
          </a:stretch>
        </p:blipFill>
        <p:spPr>
          <a:xfrm>
            <a:off x="1169066" y="3125490"/>
            <a:ext cx="6699804" cy="2304939"/>
          </a:xfrm>
          <a:prstGeom prst="rect">
            <a:avLst/>
          </a:prstGeom>
        </p:spPr>
      </p:pic>
      <p:pic>
        <p:nvPicPr>
          <p:cNvPr id="6" name="图片 5">
            <a:extLst>
              <a:ext uri="{FF2B5EF4-FFF2-40B4-BE49-F238E27FC236}">
                <a16:creationId xmlns="" xmlns:a16="http://schemas.microsoft.com/office/drawing/2014/main" id="{4BE2688F-BA0B-4988-B456-A4FE978B5ED0}"/>
              </a:ext>
            </a:extLst>
          </p:cNvPr>
          <p:cNvPicPr>
            <a:picLocks noChangeAspect="1"/>
          </p:cNvPicPr>
          <p:nvPr/>
        </p:nvPicPr>
        <p:blipFill rotWithShape="1">
          <a:blip r:embed="rId6"/>
          <a:srcRect r="2867"/>
          <a:stretch/>
        </p:blipFill>
        <p:spPr>
          <a:xfrm>
            <a:off x="1169065" y="3097825"/>
            <a:ext cx="6699805" cy="2502752"/>
          </a:xfrm>
          <a:prstGeom prst="rect">
            <a:avLst/>
          </a:prstGeom>
        </p:spPr>
      </p:pic>
      <p:pic>
        <p:nvPicPr>
          <p:cNvPr id="8" name="图片 7">
            <a:extLst>
              <a:ext uri="{FF2B5EF4-FFF2-40B4-BE49-F238E27FC236}">
                <a16:creationId xmlns="" xmlns:a16="http://schemas.microsoft.com/office/drawing/2014/main" id="{C8B81AEC-E3E7-4F35-A999-6E3C281E7723}"/>
              </a:ext>
            </a:extLst>
          </p:cNvPr>
          <p:cNvPicPr>
            <a:picLocks noChangeAspect="1"/>
          </p:cNvPicPr>
          <p:nvPr/>
        </p:nvPicPr>
        <p:blipFill>
          <a:blip r:embed="rId7"/>
          <a:stretch>
            <a:fillRect/>
          </a:stretch>
        </p:blipFill>
        <p:spPr>
          <a:xfrm>
            <a:off x="1169064" y="3150598"/>
            <a:ext cx="6699804" cy="2449979"/>
          </a:xfrm>
          <a:prstGeom prst="rect">
            <a:avLst/>
          </a:prstGeom>
        </p:spPr>
      </p:pic>
      <p:sp>
        <p:nvSpPr>
          <p:cNvPr id="25" name="文本框 24">
            <a:extLst>
              <a:ext uri="{FF2B5EF4-FFF2-40B4-BE49-F238E27FC236}">
                <a16:creationId xmlns="" xmlns:a16="http://schemas.microsoft.com/office/drawing/2014/main" id="{FC468235-E799-4F31-AAF5-2FEF950106DF}"/>
              </a:ext>
            </a:extLst>
          </p:cNvPr>
          <p:cNvSpPr txBox="1"/>
          <p:nvPr/>
        </p:nvSpPr>
        <p:spPr>
          <a:xfrm>
            <a:off x="683568" y="2607137"/>
            <a:ext cx="7670800" cy="499624"/>
          </a:xfrm>
          <a:prstGeom prst="rect">
            <a:avLst/>
          </a:prstGeom>
          <a:noFill/>
        </p:spPr>
        <p:txBody>
          <a:bodyPr wrap="square">
            <a:spAutoFit/>
          </a:bodyPr>
          <a:lstStyle/>
          <a:p>
            <a:pPr marL="342900" indent="-342900">
              <a:lnSpc>
                <a:spcPct val="150000"/>
              </a:lnSpc>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加深对电流参考方向、电压参考方向的认识</a:t>
            </a:r>
            <a:endParaRPr lang="en-US" altLang="zh-CN" sz="2000" b="1" dirty="0">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 xmlns:a16="http://schemas.microsoft.com/office/drawing/2014/main" id="{65954D2A-FF8F-48D3-A133-65DDA88E0FAE}"/>
              </a:ext>
            </a:extLst>
          </p:cNvPr>
          <p:cNvSpPr txBox="1"/>
          <p:nvPr/>
        </p:nvSpPr>
        <p:spPr>
          <a:xfrm>
            <a:off x="683568" y="5646907"/>
            <a:ext cx="6048672" cy="499432"/>
          </a:xfrm>
          <a:prstGeom prst="rect">
            <a:avLst/>
          </a:prstGeom>
          <a:noFill/>
        </p:spPr>
        <p:txBody>
          <a:bodyPr wrap="square">
            <a:spAutoFit/>
          </a:bodyPr>
          <a:lstStyle/>
          <a:p>
            <a:pPr marL="342900" indent="-342900">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验证基尔霍夫定律，加深对</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KCL</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KVL</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的理解</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662371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500" fill="hold"/>
                                        <p:tgtEl>
                                          <p:spTgt spid="26"/>
                                        </p:tgtEl>
                                        <p:attrNameLst>
                                          <p:attrName>ppt_x</p:attrName>
                                        </p:attrNameLst>
                                      </p:cBhvr>
                                      <p:tavLst>
                                        <p:tav tm="0">
                                          <p:val>
                                            <p:strVal val="#ppt_x"/>
                                          </p:val>
                                        </p:tav>
                                        <p:tav tm="100000">
                                          <p:val>
                                            <p:strVal val="#ppt_x"/>
                                          </p:val>
                                        </p:tav>
                                      </p:tavLst>
                                    </p:anim>
                                    <p:anim calcmode="lin" valueType="num">
                                      <p:cBhvr additive="base">
                                        <p:cTn id="3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6</a:t>
            </a:fld>
            <a:endParaRPr lang="en-US" altLang="zh-CN" sz="120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3321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实验一 基尔霍夫定律  </a:t>
            </a:r>
            <a:endParaRPr sz="4000" b="1" dirty="0">
              <a:solidFill>
                <a:srgbClr val="000000"/>
              </a:solidFill>
              <a:latin typeface="微软雅黑" panose="020B0503020204020204" pitchFamily="34" charset="-122"/>
              <a:ea typeface="微软雅黑" panose="020B0503020204020204" pitchFamily="34" charset="-122"/>
              <a:cs typeface="VMDEPI+LiSu"/>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4"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5" name="object 1">
            <a:extLst>
              <a:ext uri="{FF2B5EF4-FFF2-40B4-BE49-F238E27FC236}">
                <a16:creationId xmlns="" xmlns:a16="http://schemas.microsoft.com/office/drawing/2014/main" id="{66C0981E-878B-4E91-AB3E-2358B882AE6A}"/>
              </a:ext>
            </a:extLst>
          </p:cNvPr>
          <p:cNvSpPr/>
          <p:nvPr/>
        </p:nvSpPr>
        <p:spPr>
          <a:xfrm>
            <a:off x="609600" y="6168390"/>
            <a:ext cx="7924800" cy="12700"/>
          </a:xfrm>
          <a:prstGeom prst="rect">
            <a:avLst/>
          </a:prstGeom>
          <a:blipFill>
            <a:blip r:embed="rId5" cstate="print"/>
            <a:stretch>
              <a:fillRect/>
            </a:stretch>
          </a:blipFill>
        </p:spPr>
        <p:txBody>
          <a:bodyPr wrap="square" lIns="0" tIns="0" rIns="0" bIns="0" rtlCol="0">
            <a:spAutoFit/>
          </a:bodyPr>
          <a:lstStyle/>
          <a:p>
            <a:endParaRPr/>
          </a:p>
        </p:txBody>
      </p:sp>
      <p:sp>
        <p:nvSpPr>
          <p:cNvPr id="7" name="文本框 6">
            <a:extLst>
              <a:ext uri="{FF2B5EF4-FFF2-40B4-BE49-F238E27FC236}">
                <a16:creationId xmlns="" xmlns:a16="http://schemas.microsoft.com/office/drawing/2014/main" id="{02CD9133-2B8D-4FF6-8F1D-23304DBEF4E8}"/>
              </a:ext>
            </a:extLst>
          </p:cNvPr>
          <p:cNvSpPr txBox="1"/>
          <p:nvPr/>
        </p:nvSpPr>
        <p:spPr>
          <a:xfrm>
            <a:off x="683568" y="1491600"/>
            <a:ext cx="7706816" cy="4745979"/>
          </a:xfrm>
          <a:prstGeom prst="rect">
            <a:avLst/>
          </a:prstGeom>
          <a:noFill/>
        </p:spPr>
        <p:txBody>
          <a:bodyPr wrap="square">
            <a:spAutoFit/>
          </a:bodyPr>
          <a:lstStyle/>
          <a:p>
            <a:pPr>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实验原理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基尔霍夫电流定律</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(KCL)</a:t>
            </a:r>
          </a:p>
          <a:p>
            <a:pPr>
              <a:lnSpc>
                <a:spcPct val="15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任一时刻，流入（或流出）电路任一节点上各支路电流的代数和为零，表达式为</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p"/>
            </a:pP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基尔霍夫电压定律</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(KVL)</a:t>
            </a:r>
          </a:p>
          <a:p>
            <a:pPr>
              <a:lnSpc>
                <a:spcPct val="150000"/>
              </a:lnSpc>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任一时刻，沿任一回路绕行一周，各支路电压降的代数和为零，表达式为</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p"/>
            </a:pP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 name="对象 1">
            <a:extLst>
              <a:ext uri="{FF2B5EF4-FFF2-40B4-BE49-F238E27FC236}">
                <a16:creationId xmlns="" xmlns:a16="http://schemas.microsoft.com/office/drawing/2014/main" id="{7B1AB6FF-D722-449A-827F-7FF2A552A1C9}"/>
              </a:ext>
            </a:extLst>
          </p:cNvPr>
          <p:cNvGraphicFramePr>
            <a:graphicFrameLocks noChangeAspect="1"/>
          </p:cNvGraphicFramePr>
          <p:nvPr>
            <p:extLst>
              <p:ext uri="{D42A27DB-BD31-4B8C-83A1-F6EECF244321}">
                <p14:modId xmlns:p14="http://schemas.microsoft.com/office/powerpoint/2010/main" val="3839801686"/>
              </p:ext>
            </p:extLst>
          </p:nvPr>
        </p:nvGraphicFramePr>
        <p:xfrm>
          <a:off x="3275856" y="3516314"/>
          <a:ext cx="1584176" cy="662474"/>
        </p:xfrm>
        <a:graphic>
          <a:graphicData uri="http://schemas.openxmlformats.org/presentationml/2006/ole">
            <mc:AlternateContent xmlns:mc="http://schemas.openxmlformats.org/markup-compatibility/2006">
              <mc:Choice xmlns:v="urn:schemas-microsoft-com:vml" Requires="v">
                <p:oleObj spid="_x0000_s1046" name="Equation" r:id="rId6" imgW="698400" imgH="291960" progId="Equation.DSMT4">
                  <p:embed/>
                </p:oleObj>
              </mc:Choice>
              <mc:Fallback>
                <p:oleObj name="Equation" r:id="rId6" imgW="698400" imgH="291960" progId="Equation.DSMT4">
                  <p:embed/>
                  <p:pic>
                    <p:nvPicPr>
                      <p:cNvPr id="0" name=""/>
                      <p:cNvPicPr/>
                      <p:nvPr/>
                    </p:nvPicPr>
                    <p:blipFill>
                      <a:blip r:embed="rId7"/>
                      <a:stretch>
                        <a:fillRect/>
                      </a:stretch>
                    </p:blipFill>
                    <p:spPr>
                      <a:xfrm>
                        <a:off x="3275856" y="3516314"/>
                        <a:ext cx="1584176" cy="662474"/>
                      </a:xfrm>
                      <a:prstGeom prst="rect">
                        <a:avLst/>
                      </a:prstGeom>
                    </p:spPr>
                  </p:pic>
                </p:oleObj>
              </mc:Fallback>
            </mc:AlternateContent>
          </a:graphicData>
        </a:graphic>
      </p:graphicFrame>
      <p:graphicFrame>
        <p:nvGraphicFramePr>
          <p:cNvPr id="9" name="对象 8">
            <a:extLst>
              <a:ext uri="{FF2B5EF4-FFF2-40B4-BE49-F238E27FC236}">
                <a16:creationId xmlns="" xmlns:a16="http://schemas.microsoft.com/office/drawing/2014/main" id="{7FF52311-E463-48BD-98C5-284572BC8CED}"/>
              </a:ext>
            </a:extLst>
          </p:cNvPr>
          <p:cNvGraphicFramePr>
            <a:graphicFrameLocks noChangeAspect="1"/>
          </p:cNvGraphicFramePr>
          <p:nvPr>
            <p:extLst>
              <p:ext uri="{D42A27DB-BD31-4B8C-83A1-F6EECF244321}">
                <p14:modId xmlns:p14="http://schemas.microsoft.com/office/powerpoint/2010/main" val="3181756980"/>
              </p:ext>
            </p:extLst>
          </p:nvPr>
        </p:nvGraphicFramePr>
        <p:xfrm>
          <a:off x="3233738" y="5541963"/>
          <a:ext cx="1668462" cy="661987"/>
        </p:xfrm>
        <a:graphic>
          <a:graphicData uri="http://schemas.openxmlformats.org/presentationml/2006/ole">
            <mc:AlternateContent xmlns:mc="http://schemas.openxmlformats.org/markup-compatibility/2006">
              <mc:Choice xmlns:v="urn:schemas-microsoft-com:vml" Requires="v">
                <p:oleObj spid="_x0000_s1047" name="Equation" r:id="rId8" imgW="736560" imgH="291960" progId="Equation.DSMT4">
                  <p:embed/>
                </p:oleObj>
              </mc:Choice>
              <mc:Fallback>
                <p:oleObj name="Equation" r:id="rId8" imgW="736560" imgH="291960" progId="Equation.DSMT4">
                  <p:embed/>
                  <p:pic>
                    <p:nvPicPr>
                      <p:cNvPr id="2" name="对象 1">
                        <a:extLst>
                          <a:ext uri="{FF2B5EF4-FFF2-40B4-BE49-F238E27FC236}">
                            <a16:creationId xmlns="" xmlns:a16="http://schemas.microsoft.com/office/drawing/2014/main" id="{7B1AB6FF-D722-449A-827F-7FF2A552A1C9}"/>
                          </a:ext>
                        </a:extLst>
                      </p:cNvPr>
                      <p:cNvPicPr/>
                      <p:nvPr/>
                    </p:nvPicPr>
                    <p:blipFill>
                      <a:blip r:embed="rId9"/>
                      <a:stretch>
                        <a:fillRect/>
                      </a:stretch>
                    </p:blipFill>
                    <p:spPr>
                      <a:xfrm>
                        <a:off x="3233738" y="5541963"/>
                        <a:ext cx="1668462" cy="661987"/>
                      </a:xfrm>
                      <a:prstGeom prst="rect">
                        <a:avLst/>
                      </a:prstGeom>
                    </p:spPr>
                  </p:pic>
                </p:oleObj>
              </mc:Fallback>
            </mc:AlternateContent>
          </a:graphicData>
        </a:graphic>
      </p:graphicFrame>
    </p:spTree>
    <p:extLst>
      <p:ext uri="{BB962C8B-B14F-4D97-AF65-F5344CB8AC3E}">
        <p14:creationId xmlns:p14="http://schemas.microsoft.com/office/powerpoint/2010/main" val="1318138946"/>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Times New Roman" panose="02020603050405020304" pitchFamily="18" charset="0"/>
                <a:cs typeface="Times New Roman" panose="02020603050405020304" pitchFamily="18" charset="0"/>
              </a:rPr>
              <a:pPr eaLnBrk="1" hangingPunct="1"/>
              <a:t>7</a:t>
            </a:fld>
            <a:endParaRPr lang="en-US" altLang="zh-CN" sz="1200">
              <a:solidFill>
                <a:srgbClr val="0D0D0D"/>
              </a:solidFill>
              <a:latin typeface="Times New Roman" panose="02020603050405020304" pitchFamily="18" charset="0"/>
              <a:cs typeface="Times New Roman" panose="02020603050405020304" pitchFamily="18" charset="0"/>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3321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实验一 基尔霍夫定律  </a:t>
            </a:r>
            <a:endParaRPr sz="4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 xmlns:a16="http://schemas.microsoft.com/office/drawing/2014/main" id="{EFE45442-EC1D-41FC-8279-8A72B0ED6C99}"/>
              </a:ext>
            </a:extLst>
          </p:cNvPr>
          <p:cNvSpPr txBox="1"/>
          <p:nvPr/>
        </p:nvSpPr>
        <p:spPr>
          <a:xfrm>
            <a:off x="683568" y="1491600"/>
            <a:ext cx="7706816" cy="1515287"/>
          </a:xfrm>
          <a:prstGeom prst="rect">
            <a:avLst/>
          </a:prstGeom>
          <a:noFill/>
        </p:spPr>
        <p:txBody>
          <a:bodyPr wrap="square">
            <a:spAutoFit/>
          </a:bodyPr>
          <a:lstStyle/>
          <a:p>
            <a:pPr>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实验内容</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测量并记录 教材</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P8-9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1-2-1</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1-2-2</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1-2-3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三个电路图中各支路电流与各元件电压，并记录实验数据</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3" name="表格 3">
            <a:extLst>
              <a:ext uri="{FF2B5EF4-FFF2-40B4-BE49-F238E27FC236}">
                <a16:creationId xmlns="" xmlns:a16="http://schemas.microsoft.com/office/drawing/2014/main" id="{8D24BE32-A9E0-4274-9DD4-06F2CBB98BCF}"/>
              </a:ext>
            </a:extLst>
          </p:cNvPr>
          <p:cNvGraphicFramePr>
            <a:graphicFrameLocks noGrp="1"/>
          </p:cNvGraphicFramePr>
          <p:nvPr>
            <p:extLst>
              <p:ext uri="{D42A27DB-BD31-4B8C-83A1-F6EECF244321}">
                <p14:modId xmlns:p14="http://schemas.microsoft.com/office/powerpoint/2010/main" val="3889868980"/>
              </p:ext>
            </p:extLst>
          </p:nvPr>
        </p:nvGraphicFramePr>
        <p:xfrm>
          <a:off x="1466349" y="3140558"/>
          <a:ext cx="6141253" cy="2153425"/>
        </p:xfrm>
        <a:graphic>
          <a:graphicData uri="http://schemas.openxmlformats.org/drawingml/2006/table">
            <a:tbl>
              <a:tblPr firstRow="1" bandRow="1">
                <a:tableStyleId>{5C22544A-7EE6-4342-B048-85BDC9FD1C3A}</a:tableStyleId>
              </a:tblPr>
              <a:tblGrid>
                <a:gridCol w="1512168">
                  <a:extLst>
                    <a:ext uri="{9D8B030D-6E8A-4147-A177-3AD203B41FA5}">
                      <a16:colId xmlns="" xmlns:a16="http://schemas.microsoft.com/office/drawing/2014/main" val="3362720238"/>
                    </a:ext>
                  </a:extLst>
                </a:gridCol>
                <a:gridCol w="925817">
                  <a:extLst>
                    <a:ext uri="{9D8B030D-6E8A-4147-A177-3AD203B41FA5}">
                      <a16:colId xmlns="" xmlns:a16="http://schemas.microsoft.com/office/drawing/2014/main" val="1839122339"/>
                    </a:ext>
                  </a:extLst>
                </a:gridCol>
                <a:gridCol w="925817">
                  <a:extLst>
                    <a:ext uri="{9D8B030D-6E8A-4147-A177-3AD203B41FA5}">
                      <a16:colId xmlns="" xmlns:a16="http://schemas.microsoft.com/office/drawing/2014/main" val="741052237"/>
                    </a:ext>
                  </a:extLst>
                </a:gridCol>
                <a:gridCol w="925817">
                  <a:extLst>
                    <a:ext uri="{9D8B030D-6E8A-4147-A177-3AD203B41FA5}">
                      <a16:colId xmlns="" xmlns:a16="http://schemas.microsoft.com/office/drawing/2014/main" val="3173731891"/>
                    </a:ext>
                  </a:extLst>
                </a:gridCol>
                <a:gridCol w="925817">
                  <a:extLst>
                    <a:ext uri="{9D8B030D-6E8A-4147-A177-3AD203B41FA5}">
                      <a16:colId xmlns="" xmlns:a16="http://schemas.microsoft.com/office/drawing/2014/main" val="2603761154"/>
                    </a:ext>
                  </a:extLst>
                </a:gridCol>
                <a:gridCol w="925817">
                  <a:extLst>
                    <a:ext uri="{9D8B030D-6E8A-4147-A177-3AD203B41FA5}">
                      <a16:colId xmlns="" xmlns:a16="http://schemas.microsoft.com/office/drawing/2014/main" val="2046547133"/>
                    </a:ext>
                  </a:extLst>
                </a:gridCol>
              </a:tblGrid>
              <a:tr h="430685">
                <a:tc>
                  <a:txBody>
                    <a:bodyPr/>
                    <a:lstStyle/>
                    <a:p>
                      <a:pPr algn="ctr"/>
                      <a:r>
                        <a:rPr lang="zh-CN" altLang="en-US" b="1" dirty="0">
                          <a:latin typeface="微软雅黑" panose="020B0503020204020204" pitchFamily="34" charset="-122"/>
                          <a:ea typeface="微软雅黑" panose="020B0503020204020204" pitchFamily="34" charset="-122"/>
                        </a:rPr>
                        <a:t>被测量</a:t>
                      </a:r>
                    </a:p>
                  </a:txBody>
                  <a:tcPr/>
                </a:tc>
                <a:tc>
                  <a:txBody>
                    <a:bodyPr/>
                    <a:lstStyle/>
                    <a:p>
                      <a:pPr algn="ctr"/>
                      <a:r>
                        <a:rPr lang="en-US" altLang="zh-CN" dirty="0">
                          <a:latin typeface="Times New Roman" panose="02020603050405020304" pitchFamily="18" charset="0"/>
                          <a:cs typeface="Times New Roman" panose="02020603050405020304" pitchFamily="18" charset="0"/>
                        </a:rPr>
                        <a:t>I</a:t>
                      </a:r>
                      <a:r>
                        <a:rPr lang="en-US" altLang="zh-CN" sz="12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(mA)</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I</a:t>
                      </a:r>
                      <a:r>
                        <a:rPr lang="en-US" altLang="zh-CN" sz="12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(mA)</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I</a:t>
                      </a:r>
                      <a:r>
                        <a:rPr lang="en-US" altLang="zh-CN" sz="1200" dirty="0">
                          <a:latin typeface="Times New Roman" panose="02020603050405020304" pitchFamily="18" charset="0"/>
                          <a:cs typeface="Times New Roman" panose="02020603050405020304" pitchFamily="18" charset="0"/>
                        </a:rPr>
                        <a:t>3</a:t>
                      </a:r>
                      <a:r>
                        <a:rPr lang="en-US" altLang="zh-CN" dirty="0">
                          <a:latin typeface="Times New Roman" panose="02020603050405020304" pitchFamily="18" charset="0"/>
                          <a:cs typeface="Times New Roman" panose="02020603050405020304" pitchFamily="18" charset="0"/>
                        </a:rPr>
                        <a:t>(mA)</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U</a:t>
                      </a:r>
                      <a:r>
                        <a:rPr lang="en-US" altLang="zh-CN" sz="12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(V)</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U</a:t>
                      </a:r>
                      <a:r>
                        <a:rPr lang="en-US" altLang="zh-CN" sz="12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(V)</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492015454"/>
                  </a:ext>
                </a:extLst>
              </a:tr>
              <a:tr h="430685">
                <a:tc>
                  <a:txBody>
                    <a:bodyPr/>
                    <a:lstStyle/>
                    <a:p>
                      <a:pPr algn="ctr"/>
                      <a:r>
                        <a:rPr lang="zh-CN" altLang="en-US" b="0" dirty="0">
                          <a:latin typeface="微软雅黑" panose="020B0503020204020204" pitchFamily="34" charset="-122"/>
                          <a:ea typeface="微软雅黑" panose="020B0503020204020204" pitchFamily="34" charset="-122"/>
                        </a:rPr>
                        <a:t>理论值</a:t>
                      </a:r>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tc>
                  <a:txBody>
                    <a:bodyPr/>
                    <a:lstStyle/>
                    <a:p>
                      <a:endParaRPr lang="zh-CN" altLang="en-US" dirty="0"/>
                    </a:p>
                  </a:txBody>
                  <a:tcPr/>
                </a:tc>
                <a:extLst>
                  <a:ext uri="{0D108BD9-81ED-4DB2-BD59-A6C34878D82A}">
                    <a16:rowId xmlns="" xmlns:a16="http://schemas.microsoft.com/office/drawing/2014/main" val="15675966"/>
                  </a:ext>
                </a:extLst>
              </a:tr>
              <a:tr h="430685">
                <a:tc>
                  <a:txBody>
                    <a:bodyPr/>
                    <a:lstStyle/>
                    <a:p>
                      <a:pPr algn="ctr"/>
                      <a:r>
                        <a:rPr lang="zh-CN" altLang="en-US" b="0" dirty="0">
                          <a:latin typeface="微软雅黑" panose="020B0503020204020204" pitchFamily="34" charset="-122"/>
                          <a:ea typeface="微软雅黑" panose="020B0503020204020204" pitchFamily="34" charset="-122"/>
                        </a:rPr>
                        <a:t>实际值</a:t>
                      </a:r>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 xmlns:a16="http://schemas.microsoft.com/office/drawing/2014/main" val="1516852094"/>
                  </a:ext>
                </a:extLst>
              </a:tr>
              <a:tr h="430685">
                <a:tc>
                  <a:txBody>
                    <a:bodyPr/>
                    <a:lstStyle/>
                    <a:p>
                      <a:pPr algn="ctr"/>
                      <a:r>
                        <a:rPr lang="zh-CN" altLang="en-US" b="0" dirty="0">
                          <a:latin typeface="微软雅黑" panose="020B0503020204020204" pitchFamily="34" charset="-122"/>
                          <a:ea typeface="微软雅黑" panose="020B0503020204020204" pitchFamily="34" charset="-122"/>
                        </a:rPr>
                        <a:t>绝对误差</a:t>
                      </a:r>
                    </a:p>
                  </a:txBody>
                  <a:tcPr/>
                </a:tc>
                <a:tc>
                  <a:txBody>
                    <a:bodyPr/>
                    <a:lstStyle/>
                    <a:p>
                      <a:endParaRPr lang="zh-CN" altLang="en-US"/>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a:p>
                  </a:txBody>
                  <a:tcPr/>
                </a:tc>
                <a:extLst>
                  <a:ext uri="{0D108BD9-81ED-4DB2-BD59-A6C34878D82A}">
                    <a16:rowId xmlns="" xmlns:a16="http://schemas.microsoft.com/office/drawing/2014/main" val="3812700876"/>
                  </a:ext>
                </a:extLst>
              </a:tr>
              <a:tr h="430685">
                <a:tc>
                  <a:txBody>
                    <a:bodyPr/>
                    <a:lstStyle/>
                    <a:p>
                      <a:pPr algn="ctr"/>
                      <a:r>
                        <a:rPr lang="zh-CN" altLang="en-US" b="0" dirty="0">
                          <a:latin typeface="微软雅黑" panose="020B0503020204020204" pitchFamily="34" charset="-122"/>
                          <a:ea typeface="微软雅黑" panose="020B0503020204020204" pitchFamily="34" charset="-122"/>
                        </a:rPr>
                        <a:t>相对误差</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 xmlns:a16="http://schemas.microsoft.com/office/drawing/2014/main" val="3375170801"/>
                  </a:ext>
                </a:extLst>
              </a:tr>
            </a:tbl>
          </a:graphicData>
        </a:graphic>
      </p:graphicFrame>
      <p:sp>
        <p:nvSpPr>
          <p:cNvPr id="10" name="object 1">
            <a:extLst>
              <a:ext uri="{FF2B5EF4-FFF2-40B4-BE49-F238E27FC236}">
                <a16:creationId xmlns="" xmlns:a16="http://schemas.microsoft.com/office/drawing/2014/main" id="{C971CBD4-B974-44AF-8C41-700BC77948AE}"/>
              </a:ext>
            </a:extLst>
          </p:cNvPr>
          <p:cNvSpPr/>
          <p:nvPr/>
        </p:nvSpPr>
        <p:spPr>
          <a:xfrm>
            <a:off x="609600" y="6168390"/>
            <a:ext cx="7924800" cy="12700"/>
          </a:xfrm>
          <a:prstGeom prst="rect">
            <a:avLst/>
          </a:prstGeom>
          <a:blipFill>
            <a:blip r:embed="rId4" cstate="print"/>
            <a:stretch>
              <a:fillRect/>
            </a:stretch>
          </a:blipFill>
        </p:spPr>
        <p:txBody>
          <a:bodyPr wrap="square" lIns="0" tIns="0" rIns="0" bIns="0" rtlCol="0">
            <a:spAutoFit/>
          </a:bodyPr>
          <a:lstStyle/>
          <a:p>
            <a:endParaRPr/>
          </a:p>
        </p:txBody>
      </p:sp>
      <p:sp>
        <p:nvSpPr>
          <p:cNvPr id="14" name="文本框 13">
            <a:extLst>
              <a:ext uri="{FF2B5EF4-FFF2-40B4-BE49-F238E27FC236}">
                <a16:creationId xmlns="" xmlns:a16="http://schemas.microsoft.com/office/drawing/2014/main" id="{98BEF8D2-559F-43CC-8799-5F1AA7A02452}"/>
              </a:ext>
            </a:extLst>
          </p:cNvPr>
          <p:cNvSpPr txBox="1"/>
          <p:nvPr/>
        </p:nvSpPr>
        <p:spPr>
          <a:xfrm>
            <a:off x="969640" y="5293983"/>
            <a:ext cx="7420744" cy="874407"/>
          </a:xfrm>
          <a:prstGeom prst="rect">
            <a:avLst/>
          </a:prstGeom>
          <a:noFill/>
        </p:spPr>
        <p:txBody>
          <a:bodyPr wrap="square">
            <a:spAutoFit/>
          </a:bodyPr>
          <a:lstStyle/>
          <a:p>
            <a:pPr>
              <a:lnSpc>
                <a:spcPct val="150000"/>
              </a:lnSpc>
            </a:pPr>
            <a:r>
              <a:rPr lang="zh-CN" altLang="en-US" b="1" dirty="0">
                <a:latin typeface="微软雅黑" panose="020B0503020204020204" pitchFamily="34" charset="-122"/>
                <a:ea typeface="微软雅黑" panose="020B0503020204020204" pitchFamily="34" charset="-122"/>
              </a:rPr>
              <a:t>注：</a:t>
            </a:r>
            <a:r>
              <a:rPr lang="zh-CN" altLang="en-US" b="1" i="0" dirty="0">
                <a:effectLst/>
                <a:latin typeface="微软雅黑" panose="020B0503020204020204" pitchFamily="34" charset="-122"/>
                <a:ea typeface="微软雅黑" panose="020B0503020204020204" pitchFamily="34" charset="-122"/>
              </a:rPr>
              <a:t>绝对误差 </a:t>
            </a:r>
            <a:r>
              <a:rPr lang="en-US" altLang="zh-CN" b="1" i="0" dirty="0">
                <a:effectLst/>
                <a:latin typeface="微软雅黑" panose="020B0503020204020204" pitchFamily="34" charset="-122"/>
                <a:ea typeface="微软雅黑" panose="020B0503020204020204" pitchFamily="34" charset="-122"/>
              </a:rPr>
              <a:t>= | </a:t>
            </a:r>
            <a:r>
              <a:rPr lang="zh-CN" altLang="en-US" b="1" i="0" dirty="0">
                <a:effectLst/>
                <a:latin typeface="微软雅黑" panose="020B0503020204020204" pitchFamily="34" charset="-122"/>
                <a:ea typeface="微软雅黑" panose="020B0503020204020204" pitchFamily="34" charset="-122"/>
              </a:rPr>
              <a:t>测量值 </a:t>
            </a:r>
            <a:r>
              <a:rPr lang="en-US" altLang="zh-CN" b="1" i="0" dirty="0">
                <a:effectLst/>
                <a:latin typeface="微软雅黑" panose="020B0503020204020204" pitchFamily="34" charset="-122"/>
                <a:ea typeface="微软雅黑" panose="020B0503020204020204" pitchFamily="34" charset="-122"/>
              </a:rPr>
              <a:t>- </a:t>
            </a:r>
            <a:r>
              <a:rPr lang="zh-CN" altLang="en-US" b="1" i="0" dirty="0">
                <a:effectLst/>
                <a:latin typeface="微软雅黑" panose="020B0503020204020204" pitchFamily="34" charset="-122"/>
                <a:ea typeface="微软雅黑" panose="020B0503020204020204" pitchFamily="34" charset="-122"/>
              </a:rPr>
              <a:t>真实值 </a:t>
            </a:r>
            <a:r>
              <a:rPr lang="en-US" altLang="zh-CN" b="1" i="0" dirty="0">
                <a:effectLst/>
                <a:latin typeface="微软雅黑" panose="020B0503020204020204" pitchFamily="34" charset="-122"/>
                <a:ea typeface="微软雅黑" panose="020B0503020204020204" pitchFamily="34" charset="-122"/>
              </a:rPr>
              <a:t>| </a:t>
            </a:r>
          </a:p>
          <a:p>
            <a:pPr>
              <a:lnSpc>
                <a:spcPct val="150000"/>
              </a:lnSpc>
            </a:pPr>
            <a:r>
              <a:rPr lang="zh-CN" altLang="en-US" b="1" i="0" dirty="0">
                <a:effectLst/>
                <a:latin typeface="微软雅黑" panose="020B0503020204020204" pitchFamily="34" charset="-122"/>
                <a:ea typeface="微软雅黑" panose="020B0503020204020204" pitchFamily="34" charset="-122"/>
              </a:rPr>
              <a:t>       相对误差 </a:t>
            </a:r>
            <a:r>
              <a:rPr lang="en-US" altLang="zh-CN" b="1" i="0" dirty="0">
                <a:effectLst/>
                <a:latin typeface="微软雅黑" panose="020B0503020204020204" pitchFamily="34" charset="-122"/>
                <a:ea typeface="微软雅黑" panose="020B0503020204020204" pitchFamily="34" charset="-122"/>
              </a:rPr>
              <a:t>= | </a:t>
            </a:r>
            <a:r>
              <a:rPr lang="zh-CN" altLang="en-US" b="1" i="0" dirty="0">
                <a:effectLst/>
                <a:latin typeface="微软雅黑" panose="020B0503020204020204" pitchFamily="34" charset="-122"/>
                <a:ea typeface="微软雅黑" panose="020B0503020204020204" pitchFamily="34" charset="-122"/>
              </a:rPr>
              <a:t>测量值 </a:t>
            </a:r>
            <a:r>
              <a:rPr lang="en-US" altLang="zh-CN" b="1" i="0" dirty="0">
                <a:effectLst/>
                <a:latin typeface="微软雅黑" panose="020B0503020204020204" pitchFamily="34" charset="-122"/>
                <a:ea typeface="微软雅黑" panose="020B0503020204020204" pitchFamily="34" charset="-122"/>
              </a:rPr>
              <a:t>- </a:t>
            </a:r>
            <a:r>
              <a:rPr lang="zh-CN" altLang="en-US" b="1" i="0" dirty="0">
                <a:effectLst/>
                <a:latin typeface="微软雅黑" panose="020B0503020204020204" pitchFamily="34" charset="-122"/>
                <a:ea typeface="微软雅黑" panose="020B0503020204020204" pitchFamily="34" charset="-122"/>
              </a:rPr>
              <a:t>真实值 </a:t>
            </a:r>
            <a:r>
              <a:rPr lang="en-US" altLang="zh-CN" b="1" i="0" dirty="0">
                <a:effectLst/>
                <a:latin typeface="微软雅黑" panose="020B0503020204020204" pitchFamily="34" charset="-122"/>
                <a:ea typeface="微软雅黑" panose="020B0503020204020204" pitchFamily="34" charset="-122"/>
              </a:rPr>
              <a:t>|x100%/</a:t>
            </a:r>
            <a:r>
              <a:rPr lang="zh-CN" altLang="en-US" b="1" i="0" dirty="0">
                <a:effectLst/>
                <a:latin typeface="微软雅黑" panose="020B0503020204020204" pitchFamily="34" charset="-122"/>
                <a:ea typeface="微软雅黑" panose="020B0503020204020204" pitchFamily="34" charset="-122"/>
              </a:rPr>
              <a:t>真实值</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7132541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750"/>
                                        <p:tgtEl>
                                          <p:spTgt spid="14"/>
                                        </p:tgtEl>
                                      </p:cBhvr>
                                    </p:animEffect>
                                    <p:anim calcmode="lin" valueType="num">
                                      <p:cBhvr>
                                        <p:cTn id="14" dur="750" fill="hold"/>
                                        <p:tgtEl>
                                          <p:spTgt spid="14"/>
                                        </p:tgtEl>
                                        <p:attrNameLst>
                                          <p:attrName>ppt_x</p:attrName>
                                        </p:attrNameLst>
                                      </p:cBhvr>
                                      <p:tavLst>
                                        <p:tav tm="0">
                                          <p:val>
                                            <p:strVal val="#ppt_x"/>
                                          </p:val>
                                        </p:tav>
                                        <p:tav tm="100000">
                                          <p:val>
                                            <p:strVal val="#ppt_x"/>
                                          </p:val>
                                        </p:tav>
                                      </p:tavLst>
                                    </p:anim>
                                    <p:anim calcmode="lin" valueType="num">
                                      <p:cBhvr>
                                        <p:cTn id="15" dur="7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 xmlns:a16="http://schemas.microsoft.com/office/drawing/2014/main" id="{E83FC0E1-179F-45A6-AF1B-C6231DBBA2B8}"/>
              </a:ext>
            </a:extLst>
          </p:cNvPr>
          <p:cNvPicPr>
            <a:picLocks noChangeAspect="1"/>
          </p:cNvPicPr>
          <p:nvPr/>
        </p:nvPicPr>
        <p:blipFill rotWithShape="1">
          <a:blip r:embed="rId3"/>
          <a:srcRect t="26264"/>
          <a:stretch/>
        </p:blipFill>
        <p:spPr>
          <a:xfrm>
            <a:off x="664132" y="3420717"/>
            <a:ext cx="7895990" cy="1221684"/>
          </a:xfrm>
          <a:prstGeom prst="rect">
            <a:avLst/>
          </a:prstGeom>
        </p:spPr>
      </p:pic>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Times New Roman" panose="02020603050405020304" pitchFamily="18" charset="0"/>
                <a:cs typeface="Times New Roman" panose="02020603050405020304" pitchFamily="18" charset="0"/>
              </a:rPr>
              <a:pPr eaLnBrk="1" hangingPunct="1"/>
              <a:t>8</a:t>
            </a:fld>
            <a:endParaRPr lang="en-US" altLang="zh-CN" sz="1200">
              <a:solidFill>
                <a:srgbClr val="0D0D0D"/>
              </a:solidFill>
              <a:latin typeface="Times New Roman" panose="02020603050405020304" pitchFamily="18" charset="0"/>
              <a:cs typeface="Times New Roman" panose="02020603050405020304" pitchFamily="18" charset="0"/>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3321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实验一 基尔霍夫定律  </a:t>
            </a:r>
            <a:endParaRPr sz="4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4" cstate="print"/>
            <a:stretch>
              <a:fillRect/>
            </a:stretch>
          </a:blipFill>
        </p:spPr>
        <p:txBody>
          <a:bodyPr wrap="square" lIns="0" tIns="0" rIns="0" bIns="0" rtlCol="0">
            <a:spAutoFit/>
          </a:bodyPr>
          <a:lstStyle/>
          <a:p>
            <a:endParaRPr>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 xmlns:a16="http://schemas.microsoft.com/office/drawing/2014/main" id="{EFE45442-EC1D-41FC-8279-8A72B0ED6C99}"/>
              </a:ext>
            </a:extLst>
          </p:cNvPr>
          <p:cNvSpPr txBox="1"/>
          <p:nvPr/>
        </p:nvSpPr>
        <p:spPr>
          <a:xfrm>
            <a:off x="683568" y="1491600"/>
            <a:ext cx="7706816" cy="1515287"/>
          </a:xfrm>
          <a:prstGeom prst="rect">
            <a:avLst/>
          </a:prstGeom>
          <a:noFill/>
        </p:spPr>
        <p:txBody>
          <a:bodyPr wrap="square">
            <a:spAutoFit/>
          </a:bodyPr>
          <a:lstStyle/>
          <a:p>
            <a:pPr>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实验内容</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测量并记录 教材</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P8-9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1-2-1</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1-2-2</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1-2-3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三个电路图中各支路电流与各元件电压，并记录实验数据</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object 1">
            <a:extLst>
              <a:ext uri="{FF2B5EF4-FFF2-40B4-BE49-F238E27FC236}">
                <a16:creationId xmlns="" xmlns:a16="http://schemas.microsoft.com/office/drawing/2014/main" id="{C971CBD4-B974-44AF-8C41-700BC77948AE}"/>
              </a:ext>
            </a:extLst>
          </p:cNvPr>
          <p:cNvSpPr/>
          <p:nvPr/>
        </p:nvSpPr>
        <p:spPr>
          <a:xfrm>
            <a:off x="609600" y="6168390"/>
            <a:ext cx="7924800" cy="12700"/>
          </a:xfrm>
          <a:prstGeom prst="rect">
            <a:avLst/>
          </a:prstGeom>
          <a:blipFill>
            <a:blip r:embed="rId5" cstate="print"/>
            <a:stretch>
              <a:fillRect/>
            </a:stretch>
          </a:blipFill>
        </p:spPr>
        <p:txBody>
          <a:bodyPr wrap="square" lIns="0" tIns="0" rIns="0" bIns="0" rtlCol="0">
            <a:spAutoFit/>
          </a:bodyPr>
          <a:lstStyle/>
          <a:p>
            <a:endParaRPr/>
          </a:p>
        </p:txBody>
      </p:sp>
      <p:sp>
        <p:nvSpPr>
          <p:cNvPr id="14" name="文本框 13">
            <a:extLst>
              <a:ext uri="{FF2B5EF4-FFF2-40B4-BE49-F238E27FC236}">
                <a16:creationId xmlns="" xmlns:a16="http://schemas.microsoft.com/office/drawing/2014/main" id="{98BEF8D2-559F-43CC-8799-5F1AA7A02452}"/>
              </a:ext>
            </a:extLst>
          </p:cNvPr>
          <p:cNvSpPr txBox="1"/>
          <p:nvPr/>
        </p:nvSpPr>
        <p:spPr>
          <a:xfrm>
            <a:off x="878296" y="5157192"/>
            <a:ext cx="7420744" cy="874407"/>
          </a:xfrm>
          <a:prstGeom prst="rect">
            <a:avLst/>
          </a:prstGeom>
          <a:noFill/>
        </p:spPr>
        <p:txBody>
          <a:bodyPr wrap="square">
            <a:spAutoFit/>
          </a:bodyPr>
          <a:lstStyle/>
          <a:p>
            <a:pPr>
              <a:lnSpc>
                <a:spcPct val="150000"/>
              </a:lnSpc>
            </a:pPr>
            <a:r>
              <a:rPr lang="zh-CN" altLang="en-US" b="1" dirty="0">
                <a:latin typeface="微软雅黑" panose="020B0503020204020204" pitchFamily="34" charset="-122"/>
                <a:ea typeface="微软雅黑" panose="020B0503020204020204" pitchFamily="34" charset="-122"/>
              </a:rPr>
              <a:t>注：</a:t>
            </a:r>
            <a:r>
              <a:rPr lang="zh-CN" altLang="en-US" b="1" i="0" dirty="0">
                <a:effectLst/>
                <a:latin typeface="微软雅黑" panose="020B0503020204020204" pitchFamily="34" charset="-122"/>
                <a:ea typeface="微软雅黑" panose="020B0503020204020204" pitchFamily="34" charset="-122"/>
              </a:rPr>
              <a:t>绝对误差 </a:t>
            </a:r>
            <a:r>
              <a:rPr lang="en-US" altLang="zh-CN" b="1" i="0" dirty="0">
                <a:effectLst/>
                <a:latin typeface="微软雅黑" panose="020B0503020204020204" pitchFamily="34" charset="-122"/>
                <a:ea typeface="微软雅黑" panose="020B0503020204020204" pitchFamily="34" charset="-122"/>
              </a:rPr>
              <a:t>= | </a:t>
            </a:r>
            <a:r>
              <a:rPr lang="zh-CN" altLang="en-US" b="1" i="0" dirty="0">
                <a:effectLst/>
                <a:latin typeface="微软雅黑" panose="020B0503020204020204" pitchFamily="34" charset="-122"/>
                <a:ea typeface="微软雅黑" panose="020B0503020204020204" pitchFamily="34" charset="-122"/>
              </a:rPr>
              <a:t>测量值 </a:t>
            </a:r>
            <a:r>
              <a:rPr lang="en-US" altLang="zh-CN" b="1" i="0" dirty="0">
                <a:effectLst/>
                <a:latin typeface="微软雅黑" panose="020B0503020204020204" pitchFamily="34" charset="-122"/>
                <a:ea typeface="微软雅黑" panose="020B0503020204020204" pitchFamily="34" charset="-122"/>
              </a:rPr>
              <a:t>- </a:t>
            </a:r>
            <a:r>
              <a:rPr lang="zh-CN" altLang="en-US" b="1" i="0" dirty="0">
                <a:effectLst/>
                <a:latin typeface="微软雅黑" panose="020B0503020204020204" pitchFamily="34" charset="-122"/>
                <a:ea typeface="微软雅黑" panose="020B0503020204020204" pitchFamily="34" charset="-122"/>
              </a:rPr>
              <a:t>真实值 </a:t>
            </a:r>
            <a:r>
              <a:rPr lang="en-US" altLang="zh-CN" b="1" i="0" dirty="0">
                <a:effectLst/>
                <a:latin typeface="微软雅黑" panose="020B0503020204020204" pitchFamily="34" charset="-122"/>
                <a:ea typeface="微软雅黑" panose="020B0503020204020204" pitchFamily="34" charset="-122"/>
              </a:rPr>
              <a:t>| </a:t>
            </a:r>
          </a:p>
          <a:p>
            <a:pPr>
              <a:lnSpc>
                <a:spcPct val="150000"/>
              </a:lnSpc>
            </a:pPr>
            <a:r>
              <a:rPr lang="zh-CN" altLang="en-US" b="1" i="0" dirty="0">
                <a:effectLst/>
                <a:latin typeface="微软雅黑" panose="020B0503020204020204" pitchFamily="34" charset="-122"/>
                <a:ea typeface="微软雅黑" panose="020B0503020204020204" pitchFamily="34" charset="-122"/>
              </a:rPr>
              <a:t>       相对误差 </a:t>
            </a:r>
            <a:r>
              <a:rPr lang="en-US" altLang="zh-CN" b="1" i="0" dirty="0">
                <a:effectLst/>
                <a:latin typeface="微软雅黑" panose="020B0503020204020204" pitchFamily="34" charset="-122"/>
                <a:ea typeface="微软雅黑" panose="020B0503020204020204" pitchFamily="34" charset="-122"/>
              </a:rPr>
              <a:t>= | </a:t>
            </a:r>
            <a:r>
              <a:rPr lang="zh-CN" altLang="en-US" b="1" i="0" dirty="0">
                <a:effectLst/>
                <a:latin typeface="微软雅黑" panose="020B0503020204020204" pitchFamily="34" charset="-122"/>
                <a:ea typeface="微软雅黑" panose="020B0503020204020204" pitchFamily="34" charset="-122"/>
              </a:rPr>
              <a:t>测量值 </a:t>
            </a:r>
            <a:r>
              <a:rPr lang="en-US" altLang="zh-CN" b="1" i="0" dirty="0">
                <a:effectLst/>
                <a:latin typeface="微软雅黑" panose="020B0503020204020204" pitchFamily="34" charset="-122"/>
                <a:ea typeface="微软雅黑" panose="020B0503020204020204" pitchFamily="34" charset="-122"/>
              </a:rPr>
              <a:t>- </a:t>
            </a:r>
            <a:r>
              <a:rPr lang="zh-CN" altLang="en-US" b="1" i="0" dirty="0">
                <a:effectLst/>
                <a:latin typeface="微软雅黑" panose="020B0503020204020204" pitchFamily="34" charset="-122"/>
                <a:ea typeface="微软雅黑" panose="020B0503020204020204" pitchFamily="34" charset="-122"/>
              </a:rPr>
              <a:t>真实值 </a:t>
            </a:r>
            <a:r>
              <a:rPr lang="en-US" altLang="zh-CN" b="1" i="0" dirty="0">
                <a:effectLst/>
                <a:latin typeface="微软雅黑" panose="020B0503020204020204" pitchFamily="34" charset="-122"/>
                <a:ea typeface="微软雅黑" panose="020B0503020204020204" pitchFamily="34" charset="-122"/>
              </a:rPr>
              <a:t>|x100%/</a:t>
            </a:r>
            <a:r>
              <a:rPr lang="zh-CN" altLang="en-US" b="1" i="0" dirty="0">
                <a:effectLst/>
                <a:latin typeface="微软雅黑" panose="020B0503020204020204" pitchFamily="34" charset="-122"/>
                <a:ea typeface="微软雅黑" panose="020B0503020204020204" pitchFamily="34" charset="-122"/>
              </a:rPr>
              <a:t>真实值</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044065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750"/>
                                        <p:tgtEl>
                                          <p:spTgt spid="14"/>
                                        </p:tgtEl>
                                      </p:cBhvr>
                                    </p:animEffect>
                                    <p:anim calcmode="lin" valueType="num">
                                      <p:cBhvr>
                                        <p:cTn id="18" dur="750" fill="hold"/>
                                        <p:tgtEl>
                                          <p:spTgt spid="14"/>
                                        </p:tgtEl>
                                        <p:attrNameLst>
                                          <p:attrName>ppt_x</p:attrName>
                                        </p:attrNameLst>
                                      </p:cBhvr>
                                      <p:tavLst>
                                        <p:tav tm="0">
                                          <p:val>
                                            <p:strVal val="#ppt_x"/>
                                          </p:val>
                                        </p:tav>
                                        <p:tav tm="100000">
                                          <p:val>
                                            <p:strVal val="#ppt_x"/>
                                          </p:val>
                                        </p:tav>
                                      </p:tavLst>
                                    </p:anim>
                                    <p:anim calcmode="lin" valueType="num">
                                      <p:cBhvr>
                                        <p:cTn id="19" dur="7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9</a:t>
            </a:fld>
            <a:endParaRPr lang="en-US" altLang="zh-CN" sz="120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3321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实验一 基尔霍夫定律  </a:t>
            </a:r>
            <a:endParaRPr sz="4000" b="1" dirty="0">
              <a:solidFill>
                <a:srgbClr val="000000"/>
              </a:solidFill>
              <a:latin typeface="微软雅黑" panose="020B0503020204020204" pitchFamily="34" charset="-122"/>
              <a:ea typeface="微软雅黑" panose="020B0503020204020204" pitchFamily="34" charset="-122"/>
              <a:cs typeface="VMDEPI+LiSu"/>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5" name="object 1">
            <a:extLst>
              <a:ext uri="{FF2B5EF4-FFF2-40B4-BE49-F238E27FC236}">
                <a16:creationId xmlns="" xmlns:a16="http://schemas.microsoft.com/office/drawing/2014/main" id="{CACAC066-2198-48CA-9CB0-0010ED824BAF}"/>
              </a:ext>
            </a:extLst>
          </p:cNvPr>
          <p:cNvSpPr/>
          <p:nvPr/>
        </p:nvSpPr>
        <p:spPr>
          <a:xfrm>
            <a:off x="609600" y="6168390"/>
            <a:ext cx="7924800" cy="12700"/>
          </a:xfrm>
          <a:prstGeom prst="rect">
            <a:avLst/>
          </a:prstGeom>
          <a:blipFill>
            <a:blip r:embed="rId4" cstate="print"/>
            <a:stretch>
              <a:fillRect/>
            </a:stretch>
          </a:blipFill>
        </p:spPr>
        <p:txBody>
          <a:bodyPr wrap="square" lIns="0" tIns="0" rIns="0" bIns="0" rtlCol="0">
            <a:spAutoFit/>
          </a:bodyPr>
          <a:lstStyle/>
          <a:p>
            <a:endParaRPr/>
          </a:p>
        </p:txBody>
      </p:sp>
      <p:sp>
        <p:nvSpPr>
          <p:cNvPr id="9" name="文本框 8">
            <a:extLst>
              <a:ext uri="{FF2B5EF4-FFF2-40B4-BE49-F238E27FC236}">
                <a16:creationId xmlns="" xmlns:a16="http://schemas.microsoft.com/office/drawing/2014/main" id="{ADB8DC58-4105-41B7-A8B6-C3ABB48AC61F}"/>
              </a:ext>
            </a:extLst>
          </p:cNvPr>
          <p:cNvSpPr txBox="1"/>
          <p:nvPr/>
        </p:nvSpPr>
        <p:spPr>
          <a:xfrm>
            <a:off x="609600" y="1530952"/>
            <a:ext cx="4794250" cy="461665"/>
          </a:xfrm>
          <a:prstGeom prst="rect">
            <a:avLst/>
          </a:prstGeom>
          <a:noFill/>
        </p:spPr>
        <p:txBody>
          <a:bodyPr wrap="squar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注意事项</a:t>
            </a:r>
          </a:p>
        </p:txBody>
      </p:sp>
      <p:sp>
        <p:nvSpPr>
          <p:cNvPr id="14" name="文本框 13">
            <a:extLst>
              <a:ext uri="{FF2B5EF4-FFF2-40B4-BE49-F238E27FC236}">
                <a16:creationId xmlns="" xmlns:a16="http://schemas.microsoft.com/office/drawing/2014/main" id="{02D154E7-BEA1-4EC1-A062-F0DF48DC3CA3}"/>
              </a:ext>
            </a:extLst>
          </p:cNvPr>
          <p:cNvSpPr txBox="1"/>
          <p:nvPr/>
        </p:nvSpPr>
        <p:spPr>
          <a:xfrm>
            <a:off x="539552" y="5798182"/>
            <a:ext cx="4792132" cy="369332"/>
          </a:xfrm>
          <a:prstGeom prst="rect">
            <a:avLst/>
          </a:prstGeom>
          <a:noFill/>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实验结束后，收线、盖箱、带走垃圾</a:t>
            </a:r>
          </a:p>
        </p:txBody>
      </p:sp>
      <p:sp>
        <p:nvSpPr>
          <p:cNvPr id="15" name="文本框 14">
            <a:extLst>
              <a:ext uri="{FF2B5EF4-FFF2-40B4-BE49-F238E27FC236}">
                <a16:creationId xmlns="" xmlns:a16="http://schemas.microsoft.com/office/drawing/2014/main" id="{C5E14CE9-DBD7-4DB6-B6D4-833A5814CABB}"/>
              </a:ext>
            </a:extLst>
          </p:cNvPr>
          <p:cNvSpPr txBox="1"/>
          <p:nvPr/>
        </p:nvSpPr>
        <p:spPr>
          <a:xfrm>
            <a:off x="642937" y="1969121"/>
            <a:ext cx="7924800" cy="4198393"/>
          </a:xfrm>
          <a:prstGeom prst="rect">
            <a:avLst/>
          </a:prstGeom>
          <a:noFill/>
        </p:spPr>
        <p:txBody>
          <a:bodyPr wrap="square">
            <a:spAutoFit/>
          </a:bodyPr>
          <a:lstStyle/>
          <a:p>
            <a:pPr>
              <a:lnSpc>
                <a:spcPct val="150000"/>
              </a:lnSpc>
            </a:pP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电源</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：电路连接完成后，首先检查电源是否正常：电源开关是否打开，电路中出现短路或者断路；</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b="1" dirty="0">
                <a:latin typeface="微软雅黑" panose="020B0503020204020204" pitchFamily="34" charset="-122"/>
                <a:ea typeface="微软雅黑" panose="020B0503020204020204" pitchFamily="34" charset="-122"/>
              </a:rPr>
              <a:t>电压表、电流表使用方法</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Font typeface="+mj-ea"/>
              <a:buAutoNum type="circleNumDbPlain"/>
            </a:pPr>
            <a:r>
              <a:rPr lang="zh-CN" altLang="en-US" dirty="0">
                <a:latin typeface="微软雅黑" panose="020B0503020204020204" pitchFamily="34" charset="-122"/>
                <a:ea typeface="微软雅黑" panose="020B0503020204020204" pitchFamily="34" charset="-122"/>
              </a:rPr>
              <a:t>电压表</a:t>
            </a:r>
            <a:r>
              <a:rPr lang="zh-CN" altLang="en-US" dirty="0">
                <a:solidFill>
                  <a:srgbClr val="FF0000"/>
                </a:solidFill>
                <a:latin typeface="微软雅黑" panose="020B0503020204020204" pitchFamily="34" charset="-122"/>
                <a:ea typeface="微软雅黑" panose="020B0503020204020204" pitchFamily="34" charset="-122"/>
              </a:rPr>
              <a:t>并联</a:t>
            </a:r>
            <a:r>
              <a:rPr lang="zh-CN" altLang="en-US" dirty="0">
                <a:latin typeface="微软雅黑" panose="020B0503020204020204" pitchFamily="34" charset="-122"/>
                <a:ea typeface="微软雅黑" panose="020B0503020204020204" pitchFamily="34" charset="-122"/>
              </a:rPr>
              <a:t>在待测元件的两端，红笔接入电路元件参考电压的正极，黑笔接参考电压的负极；</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Font typeface="+mj-ea"/>
              <a:buAutoNum type="circleNumDbPlain"/>
            </a:pPr>
            <a:r>
              <a:rPr lang="zh-CN" altLang="en-US" dirty="0">
                <a:latin typeface="微软雅黑" panose="020B0503020204020204" pitchFamily="34" charset="-122"/>
                <a:ea typeface="微软雅黑" panose="020B0503020204020204" pitchFamily="34" charset="-122"/>
              </a:rPr>
              <a:t>电流表使用时，先断开待测支路，将电流表</a:t>
            </a:r>
            <a:r>
              <a:rPr lang="zh-CN" altLang="en-US" dirty="0">
                <a:solidFill>
                  <a:srgbClr val="FF0000"/>
                </a:solidFill>
                <a:latin typeface="微软雅黑" panose="020B0503020204020204" pitchFamily="34" charset="-122"/>
                <a:ea typeface="微软雅黑" panose="020B0503020204020204" pitchFamily="34" charset="-122"/>
              </a:rPr>
              <a:t>串联</a:t>
            </a:r>
            <a:r>
              <a:rPr lang="zh-CN" altLang="en-US" dirty="0">
                <a:latin typeface="微软雅黑" panose="020B0503020204020204" pitchFamily="34" charset="-122"/>
                <a:ea typeface="微软雅黑" panose="020B0503020204020204" pitchFamily="34" charset="-122"/>
              </a:rPr>
              <a:t>接入。根据参考电流方向，电流从电流表红色端流入，黑色端流出；</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电阻</a:t>
            </a:r>
            <a:r>
              <a:rPr lang="zh-CN" altLang="en-US" dirty="0">
                <a:latin typeface="微软雅黑" panose="020B0503020204020204" pitchFamily="34" charset="-122"/>
                <a:ea typeface="微软雅黑" panose="020B0503020204020204" pitchFamily="34" charset="-122"/>
              </a:rPr>
              <a:t>：电路中的电阻可以利用实验板上电阻的串并联进行等值替代；</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万用表、直流信号发生器</a:t>
            </a:r>
            <a:r>
              <a:rPr lang="zh-CN" altLang="en-US" dirty="0">
                <a:latin typeface="微软雅黑" panose="020B0503020204020204" pitchFamily="34" charset="-122"/>
                <a:ea typeface="微软雅黑" panose="020B0503020204020204" pitchFamily="34" charset="-122"/>
              </a:rPr>
              <a:t>：观看演示视频</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24735466"/>
      </p:ext>
    </p:extLst>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11560" y="391530"/>
            <a:ext cx="7850832" cy="73321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电路与电子技术实验 </a:t>
            </a:r>
            <a:endParaRPr sz="4000" b="1" dirty="0">
              <a:solidFill>
                <a:srgbClr val="000000"/>
              </a:solidFill>
              <a:latin typeface="微软雅黑" panose="020B0503020204020204" pitchFamily="34" charset="-122"/>
              <a:ea typeface="微软雅黑" panose="020B0503020204020204" pitchFamily="34" charset="-122"/>
              <a:cs typeface="VMDEPI+LiSu"/>
            </a:endParaRPr>
          </a:p>
        </p:txBody>
      </p:sp>
      <p:sp>
        <p:nvSpPr>
          <p:cNvPr id="4" name="object 2">
            <a:extLst>
              <a:ext uri="{FF2B5EF4-FFF2-40B4-BE49-F238E27FC236}">
                <a16:creationId xmlns="" xmlns:a16="http://schemas.microsoft.com/office/drawing/2014/main" id="{FE856086-625A-4091-9E9E-CE45759C9C73}"/>
              </a:ext>
            </a:extLst>
          </p:cNvPr>
          <p:cNvSpPr/>
          <p:nvPr/>
        </p:nvSpPr>
        <p:spPr>
          <a:xfrm>
            <a:off x="609600" y="1154460"/>
            <a:ext cx="7958137" cy="276999"/>
          </a:xfrm>
          <a:prstGeom prst="rect">
            <a:avLst/>
          </a:prstGeom>
          <a:blipFill>
            <a:blip r:embed="rId2"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 xmlns:a16="http://schemas.microsoft.com/office/drawing/2014/main" id="{003BCFE5-1E59-41A1-8636-9AA6EC8FC862}"/>
              </a:ext>
            </a:extLst>
          </p:cNvPr>
          <p:cNvSpPr>
            <a:spLocks noChangeArrowheads="1"/>
          </p:cNvSpPr>
          <p:nvPr/>
        </p:nvSpPr>
        <p:spPr bwMode="auto">
          <a:xfrm>
            <a:off x="1714029" y="1628800"/>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实验一   </a:t>
            </a:r>
            <a:r>
              <a:rPr lang="zh-CN" altLang="zh-CN" sz="2000" b="1" dirty="0">
                <a:solidFill>
                  <a:schemeClr val="bg1"/>
                </a:solidFill>
                <a:latin typeface="微软雅黑" panose="020B0503020204020204" pitchFamily="34" charset="-122"/>
                <a:ea typeface="微软雅黑" panose="020B0503020204020204" pitchFamily="34" charset="-122"/>
              </a:rPr>
              <a:t>基尔霍夫定律</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 name="矩形 11">
            <a:extLst>
              <a:ext uri="{FF2B5EF4-FFF2-40B4-BE49-F238E27FC236}">
                <a16:creationId xmlns="" xmlns:a16="http://schemas.microsoft.com/office/drawing/2014/main" id="{B43BE4D6-1FB1-4661-A626-FAB8BEDA65DB}"/>
              </a:ext>
            </a:extLst>
          </p:cNvPr>
          <p:cNvSpPr>
            <a:spLocks noChangeArrowheads="1"/>
          </p:cNvSpPr>
          <p:nvPr/>
        </p:nvSpPr>
        <p:spPr bwMode="auto">
          <a:xfrm>
            <a:off x="1714029" y="2220719"/>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实验二   </a:t>
            </a:r>
            <a:r>
              <a:rPr lang="zh-CN" altLang="zh-CN" sz="2000" b="1" dirty="0">
                <a:solidFill>
                  <a:schemeClr val="bg1"/>
                </a:solidFill>
                <a:latin typeface="微软雅黑" panose="020B0503020204020204" pitchFamily="34" charset="-122"/>
                <a:ea typeface="微软雅黑" panose="020B0503020204020204" pitchFamily="34" charset="-122"/>
              </a:rPr>
              <a:t>叠加定理和戴维南定理</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矩形 12">
            <a:extLst>
              <a:ext uri="{FF2B5EF4-FFF2-40B4-BE49-F238E27FC236}">
                <a16:creationId xmlns="" xmlns:a16="http://schemas.microsoft.com/office/drawing/2014/main" id="{557707EB-B318-4F1F-83F0-D6B6B8433354}"/>
              </a:ext>
            </a:extLst>
          </p:cNvPr>
          <p:cNvSpPr>
            <a:spLocks noChangeArrowheads="1"/>
          </p:cNvSpPr>
          <p:nvPr/>
        </p:nvSpPr>
        <p:spPr bwMode="auto">
          <a:xfrm>
            <a:off x="1714054" y="3404557"/>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实验四   </a:t>
            </a:r>
            <a:r>
              <a:rPr lang="en-US" altLang="zh-CN" sz="2000" b="1" dirty="0">
                <a:solidFill>
                  <a:schemeClr val="bg1"/>
                </a:solidFill>
                <a:latin typeface="微软雅黑" panose="020B0503020204020204" pitchFamily="34" charset="-122"/>
                <a:ea typeface="微软雅黑" panose="020B0503020204020204" pitchFamily="34" charset="-122"/>
              </a:rPr>
              <a:t>RC</a:t>
            </a:r>
            <a:r>
              <a:rPr lang="zh-CN" altLang="zh-CN" sz="2000" b="1" dirty="0">
                <a:solidFill>
                  <a:schemeClr val="bg1"/>
                </a:solidFill>
                <a:latin typeface="微软雅黑" panose="020B0503020204020204" pitchFamily="34" charset="-122"/>
                <a:ea typeface="微软雅黑" panose="020B0503020204020204" pitchFamily="34" charset="-122"/>
              </a:rPr>
              <a:t>电路频率特性的研究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8" name="矩形 13">
            <a:extLst>
              <a:ext uri="{FF2B5EF4-FFF2-40B4-BE49-F238E27FC236}">
                <a16:creationId xmlns="" xmlns:a16="http://schemas.microsoft.com/office/drawing/2014/main" id="{D839C882-C782-45FB-9991-791E7FE2AF8C}"/>
              </a:ext>
            </a:extLst>
          </p:cNvPr>
          <p:cNvSpPr>
            <a:spLocks noChangeArrowheads="1"/>
          </p:cNvSpPr>
          <p:nvPr/>
        </p:nvSpPr>
        <p:spPr bwMode="auto">
          <a:xfrm>
            <a:off x="1714029" y="3996476"/>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实验五   </a:t>
            </a:r>
            <a:r>
              <a:rPr lang="zh-CN" altLang="zh-CN" sz="2000" b="1" dirty="0">
                <a:solidFill>
                  <a:schemeClr val="bg1"/>
                </a:solidFill>
                <a:latin typeface="微软雅黑" panose="020B0503020204020204" pitchFamily="34" charset="-122"/>
                <a:ea typeface="微软雅黑" panose="020B0503020204020204" pitchFamily="34" charset="-122"/>
              </a:rPr>
              <a:t>基本放大电路的研究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矩形 14">
            <a:extLst>
              <a:ext uri="{FF2B5EF4-FFF2-40B4-BE49-F238E27FC236}">
                <a16:creationId xmlns="" xmlns:a16="http://schemas.microsoft.com/office/drawing/2014/main" id="{5A581705-77E3-437D-8655-383F6B736D26}"/>
              </a:ext>
            </a:extLst>
          </p:cNvPr>
          <p:cNvSpPr>
            <a:spLocks noChangeArrowheads="1"/>
          </p:cNvSpPr>
          <p:nvPr/>
        </p:nvSpPr>
        <p:spPr bwMode="auto">
          <a:xfrm>
            <a:off x="1714029" y="4589160"/>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a:t>
            </a:r>
            <a:r>
              <a:rPr lang="zh-CN" altLang="en-US" sz="2000" b="1" dirty="0" smtClean="0">
                <a:solidFill>
                  <a:schemeClr val="bg1"/>
                </a:solidFill>
                <a:latin typeface="微软雅黑" panose="020B0503020204020204" pitchFamily="34" charset="-122"/>
                <a:ea typeface="微软雅黑" panose="020B0503020204020204" pitchFamily="34" charset="-122"/>
              </a:rPr>
              <a:t>六   基于</a:t>
            </a:r>
            <a:r>
              <a:rPr lang="zh-CN" altLang="zh-CN" sz="2000" b="1" dirty="0">
                <a:solidFill>
                  <a:schemeClr val="bg1"/>
                </a:solidFill>
                <a:latin typeface="微软雅黑" panose="020B0503020204020204" pitchFamily="34" charset="-122"/>
                <a:ea typeface="微软雅黑" panose="020B0503020204020204" pitchFamily="34" charset="-122"/>
              </a:rPr>
              <a:t>集成运放</a:t>
            </a:r>
            <a:r>
              <a:rPr lang="zh-CN" altLang="en-US" sz="2000" b="1" dirty="0">
                <a:solidFill>
                  <a:schemeClr val="bg1"/>
                </a:solidFill>
                <a:latin typeface="微软雅黑" panose="020B0503020204020204" pitchFamily="34" charset="-122"/>
                <a:ea typeface="微软雅黑" panose="020B0503020204020204" pitchFamily="34" charset="-122"/>
              </a:rPr>
              <a:t>的运算电路</a:t>
            </a:r>
          </a:p>
        </p:txBody>
      </p:sp>
      <p:sp>
        <p:nvSpPr>
          <p:cNvPr id="11" name="矩形 11">
            <a:extLst>
              <a:ext uri="{FF2B5EF4-FFF2-40B4-BE49-F238E27FC236}">
                <a16:creationId xmlns="" xmlns:a16="http://schemas.microsoft.com/office/drawing/2014/main" id="{33EB0CB5-24DD-409B-A5B6-1540B160E925}"/>
              </a:ext>
            </a:extLst>
          </p:cNvPr>
          <p:cNvSpPr>
            <a:spLocks noChangeArrowheads="1"/>
          </p:cNvSpPr>
          <p:nvPr/>
        </p:nvSpPr>
        <p:spPr bwMode="auto">
          <a:xfrm>
            <a:off x="1715195" y="2812638"/>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实验三   </a:t>
            </a:r>
            <a:r>
              <a:rPr lang="zh-CN" altLang="zh-CN" sz="2000" b="1" dirty="0">
                <a:solidFill>
                  <a:schemeClr val="bg1"/>
                </a:solidFill>
                <a:latin typeface="微软雅黑" panose="020B0503020204020204" pitchFamily="34" charset="-122"/>
                <a:ea typeface="微软雅黑" panose="020B0503020204020204" pitchFamily="34" charset="-122"/>
              </a:rPr>
              <a:t>简单正弦交流电路的研究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8254479"/>
      </p:ext>
    </p:extLst>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11560" y="391530"/>
            <a:ext cx="7850832" cy="73321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电路与电子技术实验 </a:t>
            </a:r>
            <a:endParaRPr sz="4000" b="1" dirty="0">
              <a:solidFill>
                <a:srgbClr val="000000"/>
              </a:solidFill>
              <a:latin typeface="微软雅黑" panose="020B0503020204020204" pitchFamily="34" charset="-122"/>
              <a:ea typeface="微软雅黑" panose="020B0503020204020204" pitchFamily="34" charset="-122"/>
              <a:cs typeface="VMDEPI+LiSu"/>
            </a:endParaRPr>
          </a:p>
        </p:txBody>
      </p:sp>
      <p:sp>
        <p:nvSpPr>
          <p:cNvPr id="4" name="object 2">
            <a:extLst>
              <a:ext uri="{FF2B5EF4-FFF2-40B4-BE49-F238E27FC236}">
                <a16:creationId xmlns="" xmlns:a16="http://schemas.microsoft.com/office/drawing/2014/main" id="{FE856086-625A-4091-9E9E-CE45759C9C73}"/>
              </a:ext>
            </a:extLst>
          </p:cNvPr>
          <p:cNvSpPr/>
          <p:nvPr/>
        </p:nvSpPr>
        <p:spPr>
          <a:xfrm>
            <a:off x="609600" y="1154460"/>
            <a:ext cx="7958137" cy="276999"/>
          </a:xfrm>
          <a:prstGeom prst="rect">
            <a:avLst/>
          </a:prstGeom>
          <a:blipFill>
            <a:blip r:embed="rId2"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 xmlns:a16="http://schemas.microsoft.com/office/drawing/2014/main" id="{003BCFE5-1E59-41A1-8636-9AA6EC8FC862}"/>
              </a:ext>
            </a:extLst>
          </p:cNvPr>
          <p:cNvSpPr>
            <a:spLocks noChangeArrowheads="1"/>
          </p:cNvSpPr>
          <p:nvPr/>
        </p:nvSpPr>
        <p:spPr bwMode="auto">
          <a:xfrm>
            <a:off x="1714029" y="1628800"/>
            <a:ext cx="5969000" cy="577850"/>
          </a:xfrm>
          <a:prstGeom prst="rect">
            <a:avLst/>
          </a:prstGeom>
          <a:solidFill>
            <a:srgbClr val="E6E6E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实验一   </a:t>
            </a:r>
            <a:r>
              <a:rPr lang="zh-CN" altLang="zh-CN" sz="2000" b="1" dirty="0">
                <a:solidFill>
                  <a:schemeClr val="bg1"/>
                </a:solidFill>
                <a:latin typeface="微软雅黑" panose="020B0503020204020204" pitchFamily="34" charset="-122"/>
                <a:ea typeface="微软雅黑" panose="020B0503020204020204" pitchFamily="34" charset="-122"/>
              </a:rPr>
              <a:t>基尔霍夫定律</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 name="矩形 11">
            <a:extLst>
              <a:ext uri="{FF2B5EF4-FFF2-40B4-BE49-F238E27FC236}">
                <a16:creationId xmlns="" xmlns:a16="http://schemas.microsoft.com/office/drawing/2014/main" id="{B43BE4D6-1FB1-4661-A626-FAB8BEDA65DB}"/>
              </a:ext>
            </a:extLst>
          </p:cNvPr>
          <p:cNvSpPr>
            <a:spLocks noChangeArrowheads="1"/>
          </p:cNvSpPr>
          <p:nvPr/>
        </p:nvSpPr>
        <p:spPr bwMode="auto">
          <a:xfrm>
            <a:off x="1714029" y="2220719"/>
            <a:ext cx="5969000" cy="577850"/>
          </a:xfrm>
          <a:prstGeom prst="rect">
            <a:avLst/>
          </a:prstGeom>
          <a:solidFill>
            <a:srgbClr val="00346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实验二   </a:t>
            </a:r>
            <a:r>
              <a:rPr lang="zh-CN" altLang="zh-CN" sz="2000" b="1" dirty="0">
                <a:solidFill>
                  <a:schemeClr val="bg1"/>
                </a:solidFill>
                <a:latin typeface="微软雅黑" panose="020B0503020204020204" pitchFamily="34" charset="-122"/>
                <a:ea typeface="微软雅黑" panose="020B0503020204020204" pitchFamily="34" charset="-122"/>
              </a:rPr>
              <a:t>叠加定理和戴维南定理</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矩形 12">
            <a:extLst>
              <a:ext uri="{FF2B5EF4-FFF2-40B4-BE49-F238E27FC236}">
                <a16:creationId xmlns="" xmlns:a16="http://schemas.microsoft.com/office/drawing/2014/main" id="{557707EB-B318-4F1F-83F0-D6B6B8433354}"/>
              </a:ext>
            </a:extLst>
          </p:cNvPr>
          <p:cNvSpPr>
            <a:spLocks noChangeArrowheads="1"/>
          </p:cNvSpPr>
          <p:nvPr/>
        </p:nvSpPr>
        <p:spPr bwMode="auto">
          <a:xfrm>
            <a:off x="1714054" y="3404557"/>
            <a:ext cx="5969000" cy="577850"/>
          </a:xfrm>
          <a:prstGeom prst="rect">
            <a:avLst/>
          </a:prstGeom>
          <a:solidFill>
            <a:srgbClr val="E6E6E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实验四   </a:t>
            </a:r>
            <a:r>
              <a:rPr lang="en-US" altLang="zh-CN" sz="2000" b="1" dirty="0">
                <a:solidFill>
                  <a:schemeClr val="bg1"/>
                </a:solidFill>
                <a:latin typeface="微软雅黑" panose="020B0503020204020204" pitchFamily="34" charset="-122"/>
                <a:ea typeface="微软雅黑" panose="020B0503020204020204" pitchFamily="34" charset="-122"/>
              </a:rPr>
              <a:t>RC</a:t>
            </a:r>
            <a:r>
              <a:rPr lang="zh-CN" altLang="zh-CN" sz="2000" b="1" dirty="0">
                <a:solidFill>
                  <a:schemeClr val="bg1"/>
                </a:solidFill>
                <a:latin typeface="微软雅黑" panose="020B0503020204020204" pitchFamily="34" charset="-122"/>
                <a:ea typeface="微软雅黑" panose="020B0503020204020204" pitchFamily="34" charset="-122"/>
              </a:rPr>
              <a:t>电路频率特性的研究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8" name="矩形 13">
            <a:extLst>
              <a:ext uri="{FF2B5EF4-FFF2-40B4-BE49-F238E27FC236}">
                <a16:creationId xmlns="" xmlns:a16="http://schemas.microsoft.com/office/drawing/2014/main" id="{D839C882-C782-45FB-9991-791E7FE2AF8C}"/>
              </a:ext>
            </a:extLst>
          </p:cNvPr>
          <p:cNvSpPr>
            <a:spLocks noChangeArrowheads="1"/>
          </p:cNvSpPr>
          <p:nvPr/>
        </p:nvSpPr>
        <p:spPr bwMode="auto">
          <a:xfrm>
            <a:off x="1714029" y="3996476"/>
            <a:ext cx="5969000" cy="577850"/>
          </a:xfrm>
          <a:prstGeom prst="rect">
            <a:avLst/>
          </a:prstGeom>
          <a:solidFill>
            <a:srgbClr val="E6E6E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实验五   </a:t>
            </a:r>
            <a:r>
              <a:rPr lang="zh-CN" altLang="zh-CN" sz="2000" b="1" dirty="0">
                <a:solidFill>
                  <a:schemeClr val="bg1"/>
                </a:solidFill>
                <a:latin typeface="微软雅黑" panose="020B0503020204020204" pitchFamily="34" charset="-122"/>
                <a:ea typeface="微软雅黑" panose="020B0503020204020204" pitchFamily="34" charset="-122"/>
              </a:rPr>
              <a:t>基本放大电路的研究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矩形 14">
            <a:extLst>
              <a:ext uri="{FF2B5EF4-FFF2-40B4-BE49-F238E27FC236}">
                <a16:creationId xmlns="" xmlns:a16="http://schemas.microsoft.com/office/drawing/2014/main" id="{5A581705-77E3-437D-8655-383F6B736D26}"/>
              </a:ext>
            </a:extLst>
          </p:cNvPr>
          <p:cNvSpPr>
            <a:spLocks noChangeArrowheads="1"/>
          </p:cNvSpPr>
          <p:nvPr/>
        </p:nvSpPr>
        <p:spPr bwMode="auto">
          <a:xfrm>
            <a:off x="1714029" y="4589160"/>
            <a:ext cx="5969000" cy="577850"/>
          </a:xfrm>
          <a:prstGeom prst="rect">
            <a:avLst/>
          </a:prstGeom>
          <a:solidFill>
            <a:srgbClr val="E6E6E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a:t>
            </a:r>
            <a:r>
              <a:rPr lang="zh-CN" altLang="en-US" sz="2000" b="1" dirty="0" smtClean="0">
                <a:solidFill>
                  <a:schemeClr val="bg1"/>
                </a:solidFill>
                <a:latin typeface="微软雅黑" panose="020B0503020204020204" pitchFamily="34" charset="-122"/>
                <a:ea typeface="微软雅黑" panose="020B0503020204020204" pitchFamily="34" charset="-122"/>
              </a:rPr>
              <a:t>六   基于</a:t>
            </a:r>
            <a:r>
              <a:rPr lang="zh-CN" altLang="en-US" sz="2000" b="1" dirty="0">
                <a:solidFill>
                  <a:schemeClr val="bg1"/>
                </a:solidFill>
                <a:latin typeface="微软雅黑" panose="020B0503020204020204" pitchFamily="34" charset="-122"/>
                <a:ea typeface="微软雅黑" panose="020B0503020204020204" pitchFamily="34" charset="-122"/>
              </a:rPr>
              <a:t>集成运放的运算电路</a:t>
            </a:r>
          </a:p>
        </p:txBody>
      </p:sp>
      <p:sp>
        <p:nvSpPr>
          <p:cNvPr id="11" name="矩形 11">
            <a:extLst>
              <a:ext uri="{FF2B5EF4-FFF2-40B4-BE49-F238E27FC236}">
                <a16:creationId xmlns="" xmlns:a16="http://schemas.microsoft.com/office/drawing/2014/main" id="{33EB0CB5-24DD-409B-A5B6-1540B160E925}"/>
              </a:ext>
            </a:extLst>
          </p:cNvPr>
          <p:cNvSpPr>
            <a:spLocks noChangeArrowheads="1"/>
          </p:cNvSpPr>
          <p:nvPr/>
        </p:nvSpPr>
        <p:spPr bwMode="auto">
          <a:xfrm>
            <a:off x="1715195" y="2812638"/>
            <a:ext cx="5969000" cy="577850"/>
          </a:xfrm>
          <a:prstGeom prst="rect">
            <a:avLst/>
          </a:prstGeom>
          <a:solidFill>
            <a:srgbClr val="E6E6E6"/>
          </a:solidFill>
          <a:ln w="15875" cmpd="sng">
            <a:solidFill>
              <a:schemeClr val="bg1"/>
            </a:solidFill>
            <a:miter lim="800000"/>
            <a:headEnd/>
            <a:tailEnd/>
          </a:ln>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实验三   </a:t>
            </a:r>
            <a:r>
              <a:rPr lang="zh-CN" altLang="zh-CN" sz="2000" b="1" dirty="0">
                <a:solidFill>
                  <a:schemeClr val="bg1"/>
                </a:solidFill>
                <a:latin typeface="微软雅黑" panose="020B0503020204020204" pitchFamily="34" charset="-122"/>
                <a:ea typeface="微软雅黑" panose="020B0503020204020204" pitchFamily="34" charset="-122"/>
              </a:rPr>
              <a:t>简单正弦交流电路的研究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07840298"/>
      </p:ext>
    </p:extLst>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12</a:t>
            </a:fld>
            <a:endParaRPr lang="en-US" altLang="zh-CN" sz="120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0878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实验二 </a:t>
            </a:r>
            <a:r>
              <a:rPr lang="zh-CN" altLang="zh-CN" sz="4000" b="1" dirty="0">
                <a:solidFill>
                  <a:srgbClr val="000000"/>
                </a:solidFill>
                <a:latin typeface="微软雅黑" panose="020B0503020204020204" pitchFamily="34" charset="-122"/>
                <a:ea typeface="微软雅黑" panose="020B0503020204020204" pitchFamily="34" charset="-122"/>
              </a:rPr>
              <a:t>叠加定理和戴维南定理</a:t>
            </a:r>
            <a:endParaRPr sz="4000" b="1" dirty="0">
              <a:solidFill>
                <a:srgbClr val="000000"/>
              </a:solidFill>
              <a:latin typeface="微软雅黑" panose="020B0503020204020204" pitchFamily="34" charset="-122"/>
              <a:ea typeface="微软雅黑" panose="020B0503020204020204" pitchFamily="34" charset="-122"/>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2"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5" name="object 1">
            <a:extLst>
              <a:ext uri="{FF2B5EF4-FFF2-40B4-BE49-F238E27FC236}">
                <a16:creationId xmlns="" xmlns:a16="http://schemas.microsoft.com/office/drawing/2014/main" id="{44FF5F14-BFFC-4978-8F5E-678071E91ED6}"/>
              </a:ext>
            </a:extLst>
          </p:cNvPr>
          <p:cNvSpPr/>
          <p:nvPr/>
        </p:nvSpPr>
        <p:spPr>
          <a:xfrm>
            <a:off x="609600" y="6168390"/>
            <a:ext cx="7924800" cy="12700"/>
          </a:xfrm>
          <a:prstGeom prst="rect">
            <a:avLst/>
          </a:prstGeom>
          <a:blipFill>
            <a:blip r:embed="rId3" cstate="print"/>
            <a:stretch>
              <a:fillRect/>
            </a:stretch>
          </a:blipFill>
        </p:spPr>
        <p:txBody>
          <a:bodyPr wrap="square" lIns="0" tIns="0" rIns="0" bIns="0" rtlCol="0">
            <a:spAutoFit/>
          </a:bodyPr>
          <a:lstStyle/>
          <a:p>
            <a:endParaRPr/>
          </a:p>
        </p:txBody>
      </p:sp>
      <p:sp>
        <p:nvSpPr>
          <p:cNvPr id="6" name="文本框 5">
            <a:extLst>
              <a:ext uri="{FF2B5EF4-FFF2-40B4-BE49-F238E27FC236}">
                <a16:creationId xmlns="" xmlns:a16="http://schemas.microsoft.com/office/drawing/2014/main" id="{1ACA071F-E27C-467B-8A59-91E87CFFA739}"/>
              </a:ext>
            </a:extLst>
          </p:cNvPr>
          <p:cNvSpPr txBox="1"/>
          <p:nvPr/>
        </p:nvSpPr>
        <p:spPr>
          <a:xfrm>
            <a:off x="683568" y="1491600"/>
            <a:ext cx="7706816" cy="2438424"/>
          </a:xfrm>
          <a:prstGeom prst="rect">
            <a:avLst/>
          </a:prstGeom>
          <a:noFill/>
        </p:spPr>
        <p:txBody>
          <a:bodyPr wrap="square">
            <a:spAutoFit/>
          </a:bodyPr>
          <a:lstStyle/>
          <a:p>
            <a:pPr marL="457200" indent="-457200">
              <a:lnSpc>
                <a:spcPct val="150000"/>
              </a:lnSpc>
              <a:buAutoNum type="arabicPeriod"/>
            </a:pP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实验目的</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通过实验验证线性电路的叠加性和齐次性，加深理解叠加定理的概念和应用</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通过实验验证戴维南定理，掌握戴维南等效电路参数的实验测量方法</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6691619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 xmlns:a16="http://schemas.microsoft.com/office/drawing/2014/main" id="{B50A8288-31E2-48D0-8B25-FC6F009B6A6F}"/>
              </a:ext>
            </a:extLst>
          </p:cNvPr>
          <p:cNvPicPr>
            <a:picLocks noChangeAspect="1"/>
          </p:cNvPicPr>
          <p:nvPr/>
        </p:nvPicPr>
        <p:blipFill rotWithShape="1">
          <a:blip r:embed="rId3"/>
          <a:srcRect t="37810" b="39144"/>
          <a:stretch/>
        </p:blipFill>
        <p:spPr>
          <a:xfrm>
            <a:off x="1977581" y="3309187"/>
            <a:ext cx="4980432" cy="697190"/>
          </a:xfrm>
          <a:prstGeom prst="rect">
            <a:avLst/>
          </a:prstGeom>
        </p:spPr>
      </p:pic>
      <p:sp>
        <p:nvSpPr>
          <p:cNvPr id="8" name="文本框 7">
            <a:extLst>
              <a:ext uri="{FF2B5EF4-FFF2-40B4-BE49-F238E27FC236}">
                <a16:creationId xmlns="" xmlns:a16="http://schemas.microsoft.com/office/drawing/2014/main" id="{3778171B-6526-4AC2-A9B9-6636B3430CC6}"/>
              </a:ext>
            </a:extLst>
          </p:cNvPr>
          <p:cNvSpPr txBox="1"/>
          <p:nvPr/>
        </p:nvSpPr>
        <p:spPr>
          <a:xfrm>
            <a:off x="614389" y="1397478"/>
            <a:ext cx="7706816" cy="4746749"/>
          </a:xfrm>
          <a:prstGeom prst="rect">
            <a:avLst/>
          </a:prstGeom>
          <a:noFill/>
        </p:spPr>
        <p:txBody>
          <a:bodyPr wrap="square">
            <a:spAutoFit/>
          </a:bodyPr>
          <a:lstStyle/>
          <a:p>
            <a:pPr algn="just">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实验原理</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叠加定理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叠加定理：在任何含有多个独立源的</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线性</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电路中，每一支路的电流（电压）都可看成是</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各个独立源单独作用</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（除该电源外，</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其他独立源全部置零</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）时在该支路产生的电流（电压）的代数和，即：</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p"/>
            </a:pP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其中，    为第 </a:t>
            </a:r>
            <a:r>
              <a:rPr lang="en-US" altLang="zh-CN" sz="2000" b="1" i="1" dirty="0">
                <a:latin typeface="Times New Roman" panose="02020603050405020304" pitchFamily="18" charset="0"/>
                <a:ea typeface="微软雅黑" panose="020B0503020204020204" pitchFamily="34" charset="-122"/>
                <a:cs typeface="Times New Roman" panose="02020603050405020304" pitchFamily="18" charset="0"/>
              </a:rPr>
              <a:t>k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个独立源单独作用时，在第 </a:t>
            </a:r>
            <a:r>
              <a:rPr lang="en-US" altLang="zh-CN" sz="2000" b="1" i="1" dirty="0">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条支路上产生的电</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流；当       参考方向与     方向相同时取正号，反之取负号。</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5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叠加定理的作用：</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50000"/>
              </a:lnSpc>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可使电路简化，把多电源电路问题简化为单电源电路问题</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13</a:t>
            </a:fld>
            <a:endParaRPr lang="en-US" altLang="zh-CN" sz="120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0878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实验二 </a:t>
            </a:r>
            <a:r>
              <a:rPr lang="zh-CN" altLang="zh-CN" sz="4000" b="1" dirty="0">
                <a:solidFill>
                  <a:srgbClr val="000000"/>
                </a:solidFill>
                <a:latin typeface="微软雅黑" panose="020B0503020204020204" pitchFamily="34" charset="-122"/>
                <a:ea typeface="微软雅黑" panose="020B0503020204020204" pitchFamily="34" charset="-122"/>
              </a:rPr>
              <a:t>叠加定理和戴维南定理</a:t>
            </a:r>
            <a:endParaRPr sz="4000" b="1" dirty="0">
              <a:solidFill>
                <a:srgbClr val="000000"/>
              </a:solidFill>
              <a:latin typeface="微软雅黑" panose="020B0503020204020204" pitchFamily="34" charset="-122"/>
              <a:ea typeface="微软雅黑" panose="020B0503020204020204" pitchFamily="34" charset="-122"/>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4"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5" name="object 1">
            <a:extLst>
              <a:ext uri="{FF2B5EF4-FFF2-40B4-BE49-F238E27FC236}">
                <a16:creationId xmlns="" xmlns:a16="http://schemas.microsoft.com/office/drawing/2014/main" id="{29B57BCF-D64B-4BEF-8A86-A88DF67D7232}"/>
              </a:ext>
            </a:extLst>
          </p:cNvPr>
          <p:cNvSpPr/>
          <p:nvPr/>
        </p:nvSpPr>
        <p:spPr>
          <a:xfrm>
            <a:off x="609600" y="6168390"/>
            <a:ext cx="7924800" cy="12700"/>
          </a:xfrm>
          <a:prstGeom prst="rect">
            <a:avLst/>
          </a:prstGeom>
          <a:blipFill>
            <a:blip r:embed="rId5" cstate="print"/>
            <a:stretch>
              <a:fillRect/>
            </a:stretch>
          </a:blipFill>
        </p:spPr>
        <p:txBody>
          <a:bodyPr wrap="square" lIns="0" tIns="0" rIns="0" bIns="0" rtlCol="0">
            <a:spAutoFit/>
          </a:bodyPr>
          <a:lstStyle/>
          <a:p>
            <a:endParaRPr/>
          </a:p>
        </p:txBody>
      </p:sp>
      <p:pic>
        <p:nvPicPr>
          <p:cNvPr id="11" name="图片 10">
            <a:extLst>
              <a:ext uri="{FF2B5EF4-FFF2-40B4-BE49-F238E27FC236}">
                <a16:creationId xmlns="" xmlns:a16="http://schemas.microsoft.com/office/drawing/2014/main" id="{8ED1BD62-7FDB-4C15-9BDA-54B843BCA089}"/>
              </a:ext>
            </a:extLst>
          </p:cNvPr>
          <p:cNvPicPr>
            <a:picLocks noChangeAspect="1"/>
          </p:cNvPicPr>
          <p:nvPr/>
        </p:nvPicPr>
        <p:blipFill rotWithShape="1">
          <a:blip r:embed="rId3"/>
          <a:srcRect l="15092" t="62023" r="77909" b="28758"/>
          <a:stretch/>
        </p:blipFill>
        <p:spPr>
          <a:xfrm>
            <a:off x="1579311" y="3933056"/>
            <a:ext cx="360040" cy="288032"/>
          </a:xfrm>
          <a:prstGeom prst="rect">
            <a:avLst/>
          </a:prstGeom>
        </p:spPr>
      </p:pic>
      <p:pic>
        <p:nvPicPr>
          <p:cNvPr id="14" name="图片 13">
            <a:extLst>
              <a:ext uri="{FF2B5EF4-FFF2-40B4-BE49-F238E27FC236}">
                <a16:creationId xmlns="" xmlns:a16="http://schemas.microsoft.com/office/drawing/2014/main" id="{462DBCD1-1E8B-4F19-8E99-E3A582F24294}"/>
              </a:ext>
            </a:extLst>
          </p:cNvPr>
          <p:cNvPicPr>
            <a:picLocks noChangeAspect="1"/>
          </p:cNvPicPr>
          <p:nvPr/>
        </p:nvPicPr>
        <p:blipFill rotWithShape="1">
          <a:blip r:embed="rId3"/>
          <a:srcRect l="15092" t="62023" r="77909" b="28758"/>
          <a:stretch/>
        </p:blipFill>
        <p:spPr>
          <a:xfrm>
            <a:off x="1751999" y="4406802"/>
            <a:ext cx="360040" cy="288032"/>
          </a:xfrm>
          <a:prstGeom prst="rect">
            <a:avLst/>
          </a:prstGeom>
        </p:spPr>
      </p:pic>
      <p:pic>
        <p:nvPicPr>
          <p:cNvPr id="16" name="图片 15">
            <a:extLst>
              <a:ext uri="{FF2B5EF4-FFF2-40B4-BE49-F238E27FC236}">
                <a16:creationId xmlns="" xmlns:a16="http://schemas.microsoft.com/office/drawing/2014/main" id="{5DA4C26F-33BB-44B4-A8A7-69A2D003F70C}"/>
              </a:ext>
            </a:extLst>
          </p:cNvPr>
          <p:cNvPicPr>
            <a:picLocks noChangeAspect="1"/>
          </p:cNvPicPr>
          <p:nvPr/>
        </p:nvPicPr>
        <p:blipFill rotWithShape="1">
          <a:blip r:embed="rId3"/>
          <a:srcRect l="16147" t="41894" r="78253" b="46093"/>
          <a:stretch/>
        </p:blipFill>
        <p:spPr>
          <a:xfrm>
            <a:off x="3491880" y="4374306"/>
            <a:ext cx="288032" cy="375338"/>
          </a:xfrm>
          <a:prstGeom prst="rect">
            <a:avLst/>
          </a:prstGeom>
        </p:spPr>
      </p:pic>
    </p:spTree>
    <p:extLst>
      <p:ext uri="{BB962C8B-B14F-4D97-AF65-F5344CB8AC3E}">
        <p14:creationId xmlns:p14="http://schemas.microsoft.com/office/powerpoint/2010/main" val="255347443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14</a:t>
            </a:fld>
            <a:endParaRPr lang="en-US" altLang="zh-CN" sz="120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0878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实验二 </a:t>
            </a:r>
            <a:r>
              <a:rPr lang="zh-CN" altLang="zh-CN" sz="4000" b="1" dirty="0">
                <a:solidFill>
                  <a:srgbClr val="000000"/>
                </a:solidFill>
                <a:latin typeface="微软雅黑" panose="020B0503020204020204" pitchFamily="34" charset="-122"/>
                <a:ea typeface="微软雅黑" panose="020B0503020204020204" pitchFamily="34" charset="-122"/>
              </a:rPr>
              <a:t>叠加定理和戴维南定理</a:t>
            </a:r>
            <a:endParaRPr sz="4000" b="1" dirty="0">
              <a:solidFill>
                <a:srgbClr val="000000"/>
              </a:solidFill>
              <a:latin typeface="微软雅黑" panose="020B0503020204020204" pitchFamily="34" charset="-122"/>
              <a:ea typeface="微软雅黑" panose="020B0503020204020204" pitchFamily="34" charset="-122"/>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5" name="object 1">
            <a:extLst>
              <a:ext uri="{FF2B5EF4-FFF2-40B4-BE49-F238E27FC236}">
                <a16:creationId xmlns="" xmlns:a16="http://schemas.microsoft.com/office/drawing/2014/main" id="{29B57BCF-D64B-4BEF-8A86-A88DF67D7232}"/>
              </a:ext>
            </a:extLst>
          </p:cNvPr>
          <p:cNvSpPr/>
          <p:nvPr/>
        </p:nvSpPr>
        <p:spPr>
          <a:xfrm>
            <a:off x="609600" y="6168390"/>
            <a:ext cx="7924800" cy="12700"/>
          </a:xfrm>
          <a:prstGeom prst="rect">
            <a:avLst/>
          </a:prstGeom>
          <a:blipFill>
            <a:blip r:embed="rId4" cstate="print"/>
            <a:stretch>
              <a:fillRect/>
            </a:stretch>
          </a:blipFill>
        </p:spPr>
        <p:txBody>
          <a:bodyPr wrap="square" lIns="0" tIns="0" rIns="0" bIns="0" rtlCol="0">
            <a:spAutoFit/>
          </a:bodyPr>
          <a:lstStyle/>
          <a:p>
            <a:endParaRPr/>
          </a:p>
        </p:txBody>
      </p:sp>
      <p:sp>
        <p:nvSpPr>
          <p:cNvPr id="6" name="文本框 5">
            <a:extLst>
              <a:ext uri="{FF2B5EF4-FFF2-40B4-BE49-F238E27FC236}">
                <a16:creationId xmlns="" xmlns:a16="http://schemas.microsoft.com/office/drawing/2014/main" id="{9DB77010-29A4-41A7-BE4A-3B72B5BEEDEC}"/>
              </a:ext>
            </a:extLst>
          </p:cNvPr>
          <p:cNvSpPr txBox="1"/>
          <p:nvPr/>
        </p:nvSpPr>
        <p:spPr>
          <a:xfrm>
            <a:off x="609600" y="1748507"/>
            <a:ext cx="7706816" cy="3360985"/>
          </a:xfrm>
          <a:prstGeom prst="rect">
            <a:avLst/>
          </a:prstGeom>
          <a:noFill/>
        </p:spPr>
        <p:txBody>
          <a:bodyPr wrap="square">
            <a:spAutoFit/>
          </a:bodyPr>
          <a:lstStyle/>
          <a:p>
            <a:pPr algn="just">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实验原理</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叠加定理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注意：</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不适用于非线性电路</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独立源全部置零</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电压源短路、电流源开路</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受控源不能单独作用，需保留</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电路的总响应是所有独立源单独作用时分响应的代数和</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不适用于功率（因为功率与电流或电压的关系不是线性的）</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5332149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15</a:t>
            </a:fld>
            <a:endParaRPr lang="en-US" altLang="zh-CN" sz="1200" dirty="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0878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实验二 </a:t>
            </a:r>
            <a:r>
              <a:rPr lang="zh-CN" altLang="zh-CN" sz="4000" b="1" dirty="0">
                <a:solidFill>
                  <a:srgbClr val="000000"/>
                </a:solidFill>
                <a:latin typeface="微软雅黑" panose="020B0503020204020204" pitchFamily="34" charset="-122"/>
                <a:ea typeface="微软雅黑" panose="020B0503020204020204" pitchFamily="34" charset="-122"/>
              </a:rPr>
              <a:t>叠加定理和戴维南定理</a:t>
            </a:r>
            <a:endParaRPr sz="4000" b="1" dirty="0">
              <a:solidFill>
                <a:srgbClr val="000000"/>
              </a:solidFill>
              <a:latin typeface="微软雅黑" panose="020B0503020204020204" pitchFamily="34" charset="-122"/>
              <a:ea typeface="微软雅黑" panose="020B0503020204020204" pitchFamily="34" charset="-122"/>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9" name="object 1">
            <a:extLst>
              <a:ext uri="{FF2B5EF4-FFF2-40B4-BE49-F238E27FC236}">
                <a16:creationId xmlns="" xmlns:a16="http://schemas.microsoft.com/office/drawing/2014/main" id="{344981A6-157C-46B8-99AC-4126599ED65C}"/>
              </a:ext>
            </a:extLst>
          </p:cNvPr>
          <p:cNvSpPr/>
          <p:nvPr/>
        </p:nvSpPr>
        <p:spPr>
          <a:xfrm>
            <a:off x="609600" y="6168390"/>
            <a:ext cx="7924800" cy="12700"/>
          </a:xfrm>
          <a:prstGeom prst="rect">
            <a:avLst/>
          </a:prstGeom>
          <a:blipFill>
            <a:blip r:embed="rId4" cstate="print"/>
            <a:stretch>
              <a:fillRect/>
            </a:stretch>
          </a:blipFill>
        </p:spPr>
        <p:txBody>
          <a:bodyPr wrap="square" lIns="0" tIns="0" rIns="0" bIns="0" rtlCol="0">
            <a:spAutoFit/>
          </a:bodyPr>
          <a:lstStyle/>
          <a:p>
            <a:endParaRPr/>
          </a:p>
        </p:txBody>
      </p:sp>
      <p:sp>
        <p:nvSpPr>
          <p:cNvPr id="6" name="文本框 5">
            <a:extLst>
              <a:ext uri="{FF2B5EF4-FFF2-40B4-BE49-F238E27FC236}">
                <a16:creationId xmlns="" xmlns:a16="http://schemas.microsoft.com/office/drawing/2014/main" id="{213D5A5A-F3AA-4F34-AE56-3358E268ECAF}"/>
              </a:ext>
            </a:extLst>
          </p:cNvPr>
          <p:cNvSpPr txBox="1"/>
          <p:nvPr/>
        </p:nvSpPr>
        <p:spPr>
          <a:xfrm>
            <a:off x="614389" y="1397478"/>
            <a:ext cx="7706816" cy="2438424"/>
          </a:xfrm>
          <a:prstGeom prst="rect">
            <a:avLst/>
          </a:prstGeom>
          <a:noFill/>
        </p:spPr>
        <p:txBody>
          <a:bodyPr wrap="square">
            <a:spAutoFit/>
          </a:bodyPr>
          <a:lstStyle/>
          <a:p>
            <a:pPr algn="just">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实验原理</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戴维南定理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戴维南定理：任何一个线性含源二端网络，对外部电路而言，总可以用一个理想电压源和电阻相串联的有源支路来代替，如下图所示。其中，理想电压源的电压等于原网络端口的开路电压</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0C</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，电阻等于原网络中所有独立电源为零时所得端口网络等效电阻</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 name="图片 2">
            <a:extLst>
              <a:ext uri="{FF2B5EF4-FFF2-40B4-BE49-F238E27FC236}">
                <a16:creationId xmlns="" xmlns:a16="http://schemas.microsoft.com/office/drawing/2014/main" id="{C96F43C0-80EF-4C42-B4CC-D4B77EAF29AF}"/>
              </a:ext>
            </a:extLst>
          </p:cNvPr>
          <p:cNvPicPr>
            <a:picLocks noChangeAspect="1"/>
          </p:cNvPicPr>
          <p:nvPr/>
        </p:nvPicPr>
        <p:blipFill>
          <a:blip r:embed="rId5"/>
          <a:stretch>
            <a:fillRect/>
          </a:stretch>
        </p:blipFill>
        <p:spPr>
          <a:xfrm>
            <a:off x="716197" y="3944442"/>
            <a:ext cx="7711605" cy="2113893"/>
          </a:xfrm>
          <a:prstGeom prst="rect">
            <a:avLst/>
          </a:prstGeom>
        </p:spPr>
      </p:pic>
    </p:spTree>
    <p:extLst>
      <p:ext uri="{BB962C8B-B14F-4D97-AF65-F5344CB8AC3E}">
        <p14:creationId xmlns:p14="http://schemas.microsoft.com/office/powerpoint/2010/main" val="3765061823"/>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16</a:t>
            </a:fld>
            <a:endParaRPr lang="en-US" altLang="zh-CN" sz="1200" dirty="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0878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实验二 </a:t>
            </a:r>
            <a:r>
              <a:rPr lang="zh-CN" altLang="zh-CN" sz="4000" b="1" dirty="0">
                <a:solidFill>
                  <a:srgbClr val="000000"/>
                </a:solidFill>
                <a:latin typeface="微软雅黑" panose="020B0503020204020204" pitchFamily="34" charset="-122"/>
                <a:ea typeface="微软雅黑" panose="020B0503020204020204" pitchFamily="34" charset="-122"/>
              </a:rPr>
              <a:t>叠加定理和戴维南定理</a:t>
            </a:r>
            <a:endParaRPr sz="4000" b="1" dirty="0">
              <a:solidFill>
                <a:srgbClr val="000000"/>
              </a:solidFill>
              <a:latin typeface="微软雅黑" panose="020B0503020204020204" pitchFamily="34" charset="-122"/>
              <a:ea typeface="微软雅黑" panose="020B0503020204020204" pitchFamily="34" charset="-122"/>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9" name="object 1">
            <a:extLst>
              <a:ext uri="{FF2B5EF4-FFF2-40B4-BE49-F238E27FC236}">
                <a16:creationId xmlns="" xmlns:a16="http://schemas.microsoft.com/office/drawing/2014/main" id="{344981A6-157C-46B8-99AC-4126599ED65C}"/>
              </a:ext>
            </a:extLst>
          </p:cNvPr>
          <p:cNvSpPr/>
          <p:nvPr/>
        </p:nvSpPr>
        <p:spPr>
          <a:xfrm>
            <a:off x="609600" y="6168390"/>
            <a:ext cx="7924800" cy="12700"/>
          </a:xfrm>
          <a:prstGeom prst="rect">
            <a:avLst/>
          </a:prstGeom>
          <a:blipFill>
            <a:blip r:embed="rId4" cstate="print"/>
            <a:stretch>
              <a:fillRect/>
            </a:stretch>
          </a:blipFill>
        </p:spPr>
        <p:txBody>
          <a:bodyPr wrap="square" lIns="0" tIns="0" rIns="0" bIns="0" rtlCol="0">
            <a:spAutoFit/>
          </a:bodyPr>
          <a:lstStyle/>
          <a:p>
            <a:endParaRPr/>
          </a:p>
        </p:txBody>
      </p:sp>
      <p:sp>
        <p:nvSpPr>
          <p:cNvPr id="6" name="文本框 5">
            <a:extLst>
              <a:ext uri="{FF2B5EF4-FFF2-40B4-BE49-F238E27FC236}">
                <a16:creationId xmlns="" xmlns:a16="http://schemas.microsoft.com/office/drawing/2014/main" id="{2EE55092-411F-41F5-AFF5-1FBA2B52DE04}"/>
              </a:ext>
            </a:extLst>
          </p:cNvPr>
          <p:cNvSpPr txBox="1"/>
          <p:nvPr/>
        </p:nvSpPr>
        <p:spPr>
          <a:xfrm>
            <a:off x="614389" y="1397478"/>
            <a:ext cx="7706816" cy="1134862"/>
          </a:xfrm>
          <a:prstGeom prst="rect">
            <a:avLst/>
          </a:prstGeom>
          <a:noFill/>
        </p:spPr>
        <p:txBody>
          <a:bodyPr wrap="square">
            <a:spAutoFit/>
          </a:bodyPr>
          <a:lstStyle/>
          <a:p>
            <a:pPr algn="just">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实验内容</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验证叠加定理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文本框 13">
            <a:extLst>
              <a:ext uri="{FF2B5EF4-FFF2-40B4-BE49-F238E27FC236}">
                <a16:creationId xmlns="" xmlns:a16="http://schemas.microsoft.com/office/drawing/2014/main" id="{DED60633-5987-4141-9346-80CCC39DB403}"/>
              </a:ext>
            </a:extLst>
          </p:cNvPr>
          <p:cNvSpPr txBox="1"/>
          <p:nvPr/>
        </p:nvSpPr>
        <p:spPr>
          <a:xfrm>
            <a:off x="395536" y="5336359"/>
            <a:ext cx="3272954" cy="369332"/>
          </a:xfrm>
          <a:prstGeom prst="rect">
            <a:avLst/>
          </a:prstGeom>
          <a:noFill/>
        </p:spPr>
        <p:txBody>
          <a:bodyPr wrap="square">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1-3-3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叠加定理验证实验电路</a:t>
            </a:r>
          </a:p>
        </p:txBody>
      </p:sp>
      <p:sp>
        <p:nvSpPr>
          <p:cNvPr id="11" name="文本框 10">
            <a:extLst>
              <a:ext uri="{FF2B5EF4-FFF2-40B4-BE49-F238E27FC236}">
                <a16:creationId xmlns="" xmlns:a16="http://schemas.microsoft.com/office/drawing/2014/main" id="{F44E3DAE-FBFA-437B-8222-B9A6E76F3782}"/>
              </a:ext>
            </a:extLst>
          </p:cNvPr>
          <p:cNvSpPr txBox="1"/>
          <p:nvPr/>
        </p:nvSpPr>
        <p:spPr>
          <a:xfrm>
            <a:off x="3851920" y="1976662"/>
            <a:ext cx="4896853" cy="3731086"/>
          </a:xfrm>
          <a:prstGeom prst="rect">
            <a:avLst/>
          </a:prstGeom>
          <a:noFill/>
        </p:spPr>
        <p:txBody>
          <a:bodyPr wrap="square">
            <a:spAutoFit/>
          </a:bodyPr>
          <a:lstStyle/>
          <a:p>
            <a:pPr marL="342900" indent="-342900" algn="just">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叠加定理计算步骤</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在原电路中</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标出所求量的参考方向</a:t>
            </a:r>
            <a:endPar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画出每个源单独作用时的电路图，并标出所求量的参考方向（最好与原电路中的参考方向一致）</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对每个独立源单独作用的情况进行求解</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把计算结果相加（因为参考方向选取一致），得到最终结果</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图片 4" descr="QQ图片2020082619041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220" y="2532340"/>
            <a:ext cx="3897379" cy="2192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9755087"/>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17</a:t>
            </a:fld>
            <a:endParaRPr lang="en-US" altLang="zh-CN" sz="1200" dirty="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0878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实验二 </a:t>
            </a:r>
            <a:r>
              <a:rPr lang="zh-CN" altLang="zh-CN" sz="4000" b="1" dirty="0">
                <a:solidFill>
                  <a:srgbClr val="000000"/>
                </a:solidFill>
                <a:latin typeface="微软雅黑" panose="020B0503020204020204" pitchFamily="34" charset="-122"/>
                <a:ea typeface="微软雅黑" panose="020B0503020204020204" pitchFamily="34" charset="-122"/>
              </a:rPr>
              <a:t>叠加定理和戴维南定理</a:t>
            </a:r>
            <a:endParaRPr sz="4000" b="1" dirty="0">
              <a:solidFill>
                <a:srgbClr val="000000"/>
              </a:solidFill>
              <a:latin typeface="微软雅黑" panose="020B0503020204020204" pitchFamily="34" charset="-122"/>
              <a:ea typeface="微软雅黑" panose="020B0503020204020204" pitchFamily="34" charset="-122"/>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9" name="object 1">
            <a:extLst>
              <a:ext uri="{FF2B5EF4-FFF2-40B4-BE49-F238E27FC236}">
                <a16:creationId xmlns="" xmlns:a16="http://schemas.microsoft.com/office/drawing/2014/main" id="{344981A6-157C-46B8-99AC-4126599ED65C}"/>
              </a:ext>
            </a:extLst>
          </p:cNvPr>
          <p:cNvSpPr/>
          <p:nvPr/>
        </p:nvSpPr>
        <p:spPr>
          <a:xfrm>
            <a:off x="609600" y="6168390"/>
            <a:ext cx="7924800" cy="12700"/>
          </a:xfrm>
          <a:prstGeom prst="rect">
            <a:avLst/>
          </a:prstGeom>
          <a:blipFill>
            <a:blip r:embed="rId4" cstate="print"/>
            <a:stretch>
              <a:fillRect/>
            </a:stretch>
          </a:blipFill>
        </p:spPr>
        <p:txBody>
          <a:bodyPr wrap="square" lIns="0" tIns="0" rIns="0" bIns="0" rtlCol="0">
            <a:spAutoFit/>
          </a:bodyPr>
          <a:lstStyle/>
          <a:p>
            <a:endParaRPr/>
          </a:p>
        </p:txBody>
      </p:sp>
      <p:sp>
        <p:nvSpPr>
          <p:cNvPr id="6" name="文本框 5">
            <a:extLst>
              <a:ext uri="{FF2B5EF4-FFF2-40B4-BE49-F238E27FC236}">
                <a16:creationId xmlns="" xmlns:a16="http://schemas.microsoft.com/office/drawing/2014/main" id="{2EE55092-411F-41F5-AFF5-1FBA2B52DE04}"/>
              </a:ext>
            </a:extLst>
          </p:cNvPr>
          <p:cNvSpPr txBox="1"/>
          <p:nvPr/>
        </p:nvSpPr>
        <p:spPr>
          <a:xfrm>
            <a:off x="614389" y="1397478"/>
            <a:ext cx="7706816" cy="1134862"/>
          </a:xfrm>
          <a:prstGeom prst="rect">
            <a:avLst/>
          </a:prstGeom>
          <a:noFill/>
        </p:spPr>
        <p:txBody>
          <a:bodyPr wrap="square">
            <a:spAutoFit/>
          </a:bodyPr>
          <a:lstStyle/>
          <a:p>
            <a:pPr algn="just">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实验内容</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验证叠加定理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a:extLst>
              <a:ext uri="{FF2B5EF4-FFF2-40B4-BE49-F238E27FC236}">
                <a16:creationId xmlns="" xmlns:a16="http://schemas.microsoft.com/office/drawing/2014/main" id="{9092F0FD-D6DB-49D0-A34B-3BB292886339}"/>
              </a:ext>
            </a:extLst>
          </p:cNvPr>
          <p:cNvSpPr txBox="1"/>
          <p:nvPr/>
        </p:nvSpPr>
        <p:spPr>
          <a:xfrm>
            <a:off x="3124145" y="3099447"/>
            <a:ext cx="2687304" cy="369332"/>
          </a:xfrm>
          <a:prstGeom prst="rect">
            <a:avLst/>
          </a:prstGeom>
          <a:noFill/>
        </p:spPr>
        <p:txBody>
          <a:bodyPr wrap="square">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1-3-1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测量数据记录表</a:t>
            </a:r>
          </a:p>
        </p:txBody>
      </p:sp>
      <p:graphicFrame>
        <p:nvGraphicFramePr>
          <p:cNvPr id="18" name="表格 3">
            <a:extLst>
              <a:ext uri="{FF2B5EF4-FFF2-40B4-BE49-F238E27FC236}">
                <a16:creationId xmlns="" xmlns:a16="http://schemas.microsoft.com/office/drawing/2014/main" id="{BC4D5D3D-6359-4917-8FE1-EFB9E3B63017}"/>
              </a:ext>
            </a:extLst>
          </p:cNvPr>
          <p:cNvGraphicFramePr>
            <a:graphicFrameLocks noGrp="1"/>
          </p:cNvGraphicFramePr>
          <p:nvPr>
            <p:extLst>
              <p:ext uri="{D42A27DB-BD31-4B8C-83A1-F6EECF244321}">
                <p14:modId xmlns:p14="http://schemas.microsoft.com/office/powerpoint/2010/main" val="1269209161"/>
              </p:ext>
            </p:extLst>
          </p:nvPr>
        </p:nvGraphicFramePr>
        <p:xfrm>
          <a:off x="645602" y="3659651"/>
          <a:ext cx="7852795" cy="2153425"/>
        </p:xfrm>
        <a:graphic>
          <a:graphicData uri="http://schemas.openxmlformats.org/drawingml/2006/table">
            <a:tbl>
              <a:tblPr firstRow="1" bandRow="1">
                <a:tableStyleId>{5C22544A-7EE6-4342-B048-85BDC9FD1C3A}</a:tableStyleId>
              </a:tblPr>
              <a:tblGrid>
                <a:gridCol w="1331443">
                  <a:extLst>
                    <a:ext uri="{9D8B030D-6E8A-4147-A177-3AD203B41FA5}">
                      <a16:colId xmlns="" xmlns:a16="http://schemas.microsoft.com/office/drawing/2014/main" val="3362720238"/>
                    </a:ext>
                  </a:extLst>
                </a:gridCol>
                <a:gridCol w="815169">
                  <a:extLst>
                    <a:ext uri="{9D8B030D-6E8A-4147-A177-3AD203B41FA5}">
                      <a16:colId xmlns="" xmlns:a16="http://schemas.microsoft.com/office/drawing/2014/main" val="1839122339"/>
                    </a:ext>
                  </a:extLst>
                </a:gridCol>
                <a:gridCol w="815169">
                  <a:extLst>
                    <a:ext uri="{9D8B030D-6E8A-4147-A177-3AD203B41FA5}">
                      <a16:colId xmlns="" xmlns:a16="http://schemas.microsoft.com/office/drawing/2014/main" val="741052237"/>
                    </a:ext>
                  </a:extLst>
                </a:gridCol>
                <a:gridCol w="815169">
                  <a:extLst>
                    <a:ext uri="{9D8B030D-6E8A-4147-A177-3AD203B41FA5}">
                      <a16:colId xmlns="" xmlns:a16="http://schemas.microsoft.com/office/drawing/2014/main" val="3173731891"/>
                    </a:ext>
                  </a:extLst>
                </a:gridCol>
                <a:gridCol w="815169">
                  <a:extLst>
                    <a:ext uri="{9D8B030D-6E8A-4147-A177-3AD203B41FA5}">
                      <a16:colId xmlns="" xmlns:a16="http://schemas.microsoft.com/office/drawing/2014/main" val="2603761154"/>
                    </a:ext>
                  </a:extLst>
                </a:gridCol>
                <a:gridCol w="815169">
                  <a:extLst>
                    <a:ext uri="{9D8B030D-6E8A-4147-A177-3AD203B41FA5}">
                      <a16:colId xmlns="" xmlns:a16="http://schemas.microsoft.com/office/drawing/2014/main" val="232070073"/>
                    </a:ext>
                  </a:extLst>
                </a:gridCol>
                <a:gridCol w="815169">
                  <a:extLst>
                    <a:ext uri="{9D8B030D-6E8A-4147-A177-3AD203B41FA5}">
                      <a16:colId xmlns="" xmlns:a16="http://schemas.microsoft.com/office/drawing/2014/main" val="2494372519"/>
                    </a:ext>
                  </a:extLst>
                </a:gridCol>
                <a:gridCol w="815169">
                  <a:extLst>
                    <a:ext uri="{9D8B030D-6E8A-4147-A177-3AD203B41FA5}">
                      <a16:colId xmlns="" xmlns:a16="http://schemas.microsoft.com/office/drawing/2014/main" val="3056876872"/>
                    </a:ext>
                  </a:extLst>
                </a:gridCol>
                <a:gridCol w="815169">
                  <a:extLst>
                    <a:ext uri="{9D8B030D-6E8A-4147-A177-3AD203B41FA5}">
                      <a16:colId xmlns="" xmlns:a16="http://schemas.microsoft.com/office/drawing/2014/main" val="2046547133"/>
                    </a:ext>
                  </a:extLst>
                </a:gridCol>
              </a:tblGrid>
              <a:tr h="430685">
                <a:tc rowSpan="2">
                  <a:txBody>
                    <a:bodyPr/>
                    <a:lstStyle/>
                    <a:p>
                      <a:pPr algn="ct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gridSpan="4">
                  <a:txBody>
                    <a:bodyPr/>
                    <a:lstStyle/>
                    <a:p>
                      <a:pPr algn="ct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实验值</a:t>
                      </a:r>
                    </a:p>
                  </a:txBody>
                  <a:tcPr/>
                </a:tc>
                <a:tc hMerge="1">
                  <a:txBody>
                    <a:bodyPr/>
                    <a:lstStyle/>
                    <a:p>
                      <a:pPr algn="ctr"/>
                      <a:r>
                        <a:rPr lang="en-US" altLang="zh-CN" dirty="0">
                          <a:latin typeface="Times New Roman" panose="02020603050405020304" pitchFamily="18" charset="0"/>
                          <a:cs typeface="Times New Roman" panose="02020603050405020304" pitchFamily="18" charset="0"/>
                        </a:rPr>
                        <a:t>I</a:t>
                      </a:r>
                      <a:r>
                        <a:rPr lang="en-US" altLang="zh-CN" sz="12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(mA)</a:t>
                      </a:r>
                      <a:endParaRPr lang="zh-CN" altLang="en-US" dirty="0">
                        <a:latin typeface="Times New Roman" panose="02020603050405020304" pitchFamily="18" charset="0"/>
                        <a:cs typeface="Times New Roman" panose="02020603050405020304" pitchFamily="18" charset="0"/>
                      </a:endParaRPr>
                    </a:p>
                  </a:txBody>
                  <a:tcPr/>
                </a:tc>
                <a:tc hMerge="1">
                  <a:txBody>
                    <a:bodyPr/>
                    <a:lstStyle/>
                    <a:p>
                      <a:pPr algn="ctr"/>
                      <a:r>
                        <a:rPr lang="en-US" altLang="zh-CN" dirty="0">
                          <a:latin typeface="Times New Roman" panose="02020603050405020304" pitchFamily="18" charset="0"/>
                          <a:cs typeface="Times New Roman" panose="02020603050405020304" pitchFamily="18" charset="0"/>
                        </a:rPr>
                        <a:t>I</a:t>
                      </a:r>
                      <a:r>
                        <a:rPr lang="en-US" altLang="zh-CN" sz="1200" dirty="0">
                          <a:latin typeface="Times New Roman" panose="02020603050405020304" pitchFamily="18" charset="0"/>
                          <a:cs typeface="Times New Roman" panose="02020603050405020304" pitchFamily="18" charset="0"/>
                        </a:rPr>
                        <a:t>3</a:t>
                      </a:r>
                      <a:r>
                        <a:rPr lang="en-US" altLang="zh-CN" dirty="0">
                          <a:latin typeface="Times New Roman" panose="02020603050405020304" pitchFamily="18" charset="0"/>
                          <a:cs typeface="Times New Roman" panose="02020603050405020304" pitchFamily="18" charset="0"/>
                        </a:rPr>
                        <a:t>(mA)</a:t>
                      </a:r>
                      <a:endParaRPr lang="zh-CN" altLang="en-US" dirty="0">
                        <a:latin typeface="Times New Roman" panose="02020603050405020304" pitchFamily="18" charset="0"/>
                        <a:cs typeface="Times New Roman" panose="02020603050405020304" pitchFamily="18" charset="0"/>
                      </a:endParaRPr>
                    </a:p>
                  </a:txBody>
                  <a:tcPr/>
                </a:tc>
                <a:tc hMerge="1">
                  <a:txBody>
                    <a:bodyPr/>
                    <a:lstStyle/>
                    <a:p>
                      <a:pPr algn="ctr"/>
                      <a:r>
                        <a:rPr lang="en-US" altLang="zh-CN" dirty="0">
                          <a:latin typeface="Times New Roman" panose="02020603050405020304" pitchFamily="18" charset="0"/>
                          <a:cs typeface="Times New Roman" panose="02020603050405020304" pitchFamily="18" charset="0"/>
                        </a:rPr>
                        <a:t>U</a:t>
                      </a:r>
                      <a:r>
                        <a:rPr lang="en-US" altLang="zh-CN" sz="12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(V)</a:t>
                      </a:r>
                      <a:endParaRPr lang="zh-CN" altLang="en-US" dirty="0">
                        <a:latin typeface="Times New Roman" panose="02020603050405020304" pitchFamily="18" charset="0"/>
                        <a:cs typeface="Times New Roman" panose="02020603050405020304" pitchFamily="18" charset="0"/>
                      </a:endParaRPr>
                    </a:p>
                  </a:txBody>
                  <a:tcPr/>
                </a:tc>
                <a:tc gridSpan="4">
                  <a:txBody>
                    <a:bodyPr/>
                    <a:lstStyle/>
                    <a:p>
                      <a:pPr algn="ct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理论值</a:t>
                      </a:r>
                    </a:p>
                  </a:txBody>
                  <a:tcPr/>
                </a:tc>
                <a:tc hMerge="1">
                  <a:txBody>
                    <a:bodyPr/>
                    <a:lstStyle/>
                    <a:p>
                      <a:pPr algn="ctr"/>
                      <a:endParaRPr lang="zh-CN" altLang="en-US" dirty="0">
                        <a:latin typeface="Times New Roman" panose="02020603050405020304" pitchFamily="18" charset="0"/>
                        <a:cs typeface="Times New Roman" panose="02020603050405020304" pitchFamily="18" charset="0"/>
                      </a:endParaRPr>
                    </a:p>
                  </a:txBody>
                  <a:tcPr/>
                </a:tc>
                <a:tc hMerge="1">
                  <a:txBody>
                    <a:bodyPr/>
                    <a:lstStyle/>
                    <a:p>
                      <a:pPr algn="ctr"/>
                      <a:endParaRPr lang="zh-CN" altLang="en-US" dirty="0">
                        <a:latin typeface="Times New Roman" panose="02020603050405020304" pitchFamily="18" charset="0"/>
                        <a:cs typeface="Times New Roman" panose="02020603050405020304" pitchFamily="18" charset="0"/>
                      </a:endParaRPr>
                    </a:p>
                  </a:txBody>
                  <a:tcPr/>
                </a:tc>
                <a:tc hMerge="1">
                  <a:txBody>
                    <a:bodyPr/>
                    <a:lstStyle/>
                    <a:p>
                      <a:pPr algn="ctr"/>
                      <a:r>
                        <a:rPr lang="en-US" altLang="zh-CN" dirty="0">
                          <a:latin typeface="Times New Roman" panose="02020603050405020304" pitchFamily="18" charset="0"/>
                          <a:cs typeface="Times New Roman" panose="02020603050405020304" pitchFamily="18" charset="0"/>
                        </a:rPr>
                        <a:t>U</a:t>
                      </a:r>
                      <a:r>
                        <a:rPr lang="en-US" altLang="zh-CN" sz="12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(V)</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492015454"/>
                  </a:ext>
                </a:extLst>
              </a:tr>
              <a:tr h="430685">
                <a:tc vMerge="1">
                  <a:txBody>
                    <a:bodyPr/>
                    <a:lstStyle/>
                    <a:p>
                      <a:pPr algn="ctr"/>
                      <a:endParaRPr lang="zh-CN" altLang="en-US" b="0" dirty="0">
                        <a:latin typeface="微软雅黑" panose="020B0503020204020204" pitchFamily="34" charset="-122"/>
                        <a:ea typeface="微软雅黑" panose="020B0503020204020204" pitchFamily="34" charset="-122"/>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(V)</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(V)</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R3</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(V)</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(V)</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(V)</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R3</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(V)</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 xmlns:a16="http://schemas.microsoft.com/office/drawing/2014/main" val="15675966"/>
                  </a:ext>
                </a:extLst>
              </a:tr>
              <a:tr h="430685">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作用</a:t>
                      </a: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 xmlns:a16="http://schemas.microsoft.com/office/drawing/2014/main" val="1516852094"/>
                  </a:ext>
                </a:extLst>
              </a:tr>
              <a:tr h="430685">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单独作用</a:t>
                      </a: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 xmlns:a16="http://schemas.microsoft.com/office/drawing/2014/main" val="3812700876"/>
                  </a:ext>
                </a:extLst>
              </a:tr>
              <a:tr h="430685">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单独作用</a:t>
                      </a: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 xmlns:a16="http://schemas.microsoft.com/office/drawing/2014/main" val="3375170801"/>
                  </a:ext>
                </a:extLst>
              </a:tr>
            </a:tbl>
          </a:graphicData>
        </a:graphic>
      </p:graphicFrame>
    </p:spTree>
    <p:extLst>
      <p:ext uri="{BB962C8B-B14F-4D97-AF65-F5344CB8AC3E}">
        <p14:creationId xmlns:p14="http://schemas.microsoft.com/office/powerpoint/2010/main" val="110656882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QQ图片20200826190439"/>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23528" y="116632"/>
            <a:ext cx="3672859" cy="6529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1" descr="QQ图片2020082619044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09860" y="3720853"/>
            <a:ext cx="5199810" cy="2924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7100556"/>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19</a:t>
            </a:fld>
            <a:endParaRPr lang="en-US" altLang="zh-CN" sz="1200" dirty="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0878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实验二 </a:t>
            </a:r>
            <a:r>
              <a:rPr lang="zh-CN" altLang="zh-CN" sz="4000" b="1" dirty="0">
                <a:solidFill>
                  <a:srgbClr val="000000"/>
                </a:solidFill>
                <a:latin typeface="微软雅黑" panose="020B0503020204020204" pitchFamily="34" charset="-122"/>
                <a:ea typeface="微软雅黑" panose="020B0503020204020204" pitchFamily="34" charset="-122"/>
              </a:rPr>
              <a:t>叠加定理和戴维南定理</a:t>
            </a:r>
            <a:endParaRPr sz="4000" b="1" dirty="0">
              <a:solidFill>
                <a:srgbClr val="000000"/>
              </a:solidFill>
              <a:latin typeface="微软雅黑" panose="020B0503020204020204" pitchFamily="34" charset="-122"/>
              <a:ea typeface="微软雅黑" panose="020B0503020204020204" pitchFamily="34" charset="-122"/>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9" name="object 1">
            <a:extLst>
              <a:ext uri="{FF2B5EF4-FFF2-40B4-BE49-F238E27FC236}">
                <a16:creationId xmlns="" xmlns:a16="http://schemas.microsoft.com/office/drawing/2014/main" id="{344981A6-157C-46B8-99AC-4126599ED65C}"/>
              </a:ext>
            </a:extLst>
          </p:cNvPr>
          <p:cNvSpPr/>
          <p:nvPr/>
        </p:nvSpPr>
        <p:spPr>
          <a:xfrm>
            <a:off x="609600" y="6168390"/>
            <a:ext cx="7924800" cy="12700"/>
          </a:xfrm>
          <a:prstGeom prst="rect">
            <a:avLst/>
          </a:prstGeom>
          <a:blipFill>
            <a:blip r:embed="rId4" cstate="print"/>
            <a:stretch>
              <a:fillRect/>
            </a:stretch>
          </a:blipFill>
        </p:spPr>
        <p:txBody>
          <a:bodyPr wrap="square" lIns="0" tIns="0" rIns="0" bIns="0" rtlCol="0">
            <a:spAutoFit/>
          </a:bodyPr>
          <a:lstStyle/>
          <a:p>
            <a:endParaRPr/>
          </a:p>
        </p:txBody>
      </p:sp>
      <p:sp>
        <p:nvSpPr>
          <p:cNvPr id="7" name="文本框 6">
            <a:extLst>
              <a:ext uri="{FF2B5EF4-FFF2-40B4-BE49-F238E27FC236}">
                <a16:creationId xmlns="" xmlns:a16="http://schemas.microsoft.com/office/drawing/2014/main" id="{DEA092B6-6D15-420F-B068-F245A2491EDC}"/>
              </a:ext>
            </a:extLst>
          </p:cNvPr>
          <p:cNvSpPr txBox="1"/>
          <p:nvPr/>
        </p:nvSpPr>
        <p:spPr>
          <a:xfrm>
            <a:off x="614389" y="1397478"/>
            <a:ext cx="7706816" cy="1134862"/>
          </a:xfrm>
          <a:prstGeom prst="rect">
            <a:avLst/>
          </a:prstGeom>
          <a:noFill/>
        </p:spPr>
        <p:txBody>
          <a:bodyPr wrap="square">
            <a:spAutoFit/>
          </a:bodyPr>
          <a:lstStyle/>
          <a:p>
            <a:pPr algn="just">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实验内容</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验证戴维南定理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a:extLst>
              <a:ext uri="{FF2B5EF4-FFF2-40B4-BE49-F238E27FC236}">
                <a16:creationId xmlns="" xmlns:a16="http://schemas.microsoft.com/office/drawing/2014/main" id="{D66F9DE5-D173-473C-86FB-653261DCDE57}"/>
              </a:ext>
            </a:extLst>
          </p:cNvPr>
          <p:cNvSpPr txBox="1"/>
          <p:nvPr/>
        </p:nvSpPr>
        <p:spPr>
          <a:xfrm>
            <a:off x="2915816" y="1483918"/>
            <a:ext cx="6224839" cy="2346091"/>
          </a:xfrm>
          <a:prstGeom prst="rect">
            <a:avLst/>
          </a:prstGeom>
          <a:noFill/>
        </p:spPr>
        <p:txBody>
          <a:bodyPr wrap="square">
            <a:spAutoFit/>
          </a:bodyPr>
          <a:lstStyle/>
          <a:p>
            <a:pPr marL="342900" indent="-342900" algn="just">
              <a:lnSpc>
                <a:spcPct val="150000"/>
              </a:lnSpc>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求解步骤：</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将电路分为待求支路和有源二端网络两部分</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求出有源二端网络的开路电压</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AB</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电源不作用，求出网络两端的等效电阻</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AB</a:t>
            </a:r>
          </a:p>
          <a:p>
            <a:pPr marL="342900" indent="-342900" algn="just">
              <a:lnSpc>
                <a:spcPct val="150000"/>
              </a:lnSpc>
              <a:buFont typeface="Wingdings" panose="05000000000000000000" pitchFamily="2" charset="2"/>
              <a:buChar char="Ø"/>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画出有源二端网络的等效电路，</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E</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AB</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=R</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AB</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文本框 19">
            <a:extLst>
              <a:ext uri="{FF2B5EF4-FFF2-40B4-BE49-F238E27FC236}">
                <a16:creationId xmlns="" xmlns:a16="http://schemas.microsoft.com/office/drawing/2014/main" id="{E7EA29A9-35F9-43FB-BC06-807807F35AF3}"/>
              </a:ext>
            </a:extLst>
          </p:cNvPr>
          <p:cNvSpPr txBox="1"/>
          <p:nvPr/>
        </p:nvSpPr>
        <p:spPr>
          <a:xfrm>
            <a:off x="609600" y="4844951"/>
            <a:ext cx="998893" cy="1323439"/>
          </a:xfrm>
          <a:prstGeom prst="rect">
            <a:avLst/>
          </a:prstGeom>
          <a:noFill/>
        </p:spPr>
        <p:txBody>
          <a:bodyPr wrap="square">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1-4-5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戴维南的实验电路图</a:t>
            </a:r>
          </a:p>
        </p:txBody>
      </p:sp>
      <p:pic>
        <p:nvPicPr>
          <p:cNvPr id="10" name="图片 4" descr="QQ图片2020082619041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75856" y="3917076"/>
            <a:ext cx="4738923" cy="266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0473484"/>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20</a:t>
            </a:fld>
            <a:endParaRPr lang="en-US" altLang="zh-CN" sz="1200" dirty="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0878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实验二 </a:t>
            </a:r>
            <a:r>
              <a:rPr lang="zh-CN" altLang="zh-CN" sz="4000" b="1" dirty="0">
                <a:solidFill>
                  <a:srgbClr val="000000"/>
                </a:solidFill>
                <a:latin typeface="微软雅黑" panose="020B0503020204020204" pitchFamily="34" charset="-122"/>
                <a:ea typeface="微软雅黑" panose="020B0503020204020204" pitchFamily="34" charset="-122"/>
              </a:rPr>
              <a:t>叠加定理和戴维南定理</a:t>
            </a:r>
            <a:endParaRPr sz="4000" b="1" dirty="0">
              <a:solidFill>
                <a:srgbClr val="000000"/>
              </a:solidFill>
              <a:latin typeface="微软雅黑" panose="020B0503020204020204" pitchFamily="34" charset="-122"/>
              <a:ea typeface="微软雅黑" panose="020B0503020204020204" pitchFamily="34" charset="-122"/>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9" name="object 1">
            <a:extLst>
              <a:ext uri="{FF2B5EF4-FFF2-40B4-BE49-F238E27FC236}">
                <a16:creationId xmlns="" xmlns:a16="http://schemas.microsoft.com/office/drawing/2014/main" id="{344981A6-157C-46B8-99AC-4126599ED65C}"/>
              </a:ext>
            </a:extLst>
          </p:cNvPr>
          <p:cNvSpPr/>
          <p:nvPr/>
        </p:nvSpPr>
        <p:spPr>
          <a:xfrm>
            <a:off x="609600" y="6168390"/>
            <a:ext cx="7924800" cy="12700"/>
          </a:xfrm>
          <a:prstGeom prst="rect">
            <a:avLst/>
          </a:prstGeom>
          <a:blipFill>
            <a:blip r:embed="rId4" cstate="print"/>
            <a:stretch>
              <a:fillRect/>
            </a:stretch>
          </a:blipFill>
        </p:spPr>
        <p:txBody>
          <a:bodyPr wrap="square" lIns="0" tIns="0" rIns="0" bIns="0" rtlCol="0">
            <a:spAutoFit/>
          </a:bodyPr>
          <a:lstStyle/>
          <a:p>
            <a:endParaRPr/>
          </a:p>
        </p:txBody>
      </p:sp>
      <p:sp>
        <p:nvSpPr>
          <p:cNvPr id="7" name="文本框 6">
            <a:extLst>
              <a:ext uri="{FF2B5EF4-FFF2-40B4-BE49-F238E27FC236}">
                <a16:creationId xmlns="" xmlns:a16="http://schemas.microsoft.com/office/drawing/2014/main" id="{033A0B8F-3ED3-46BF-B961-D1FB9D5C5BB7}"/>
              </a:ext>
            </a:extLst>
          </p:cNvPr>
          <p:cNvSpPr txBox="1"/>
          <p:nvPr/>
        </p:nvSpPr>
        <p:spPr>
          <a:xfrm>
            <a:off x="1475656" y="2741078"/>
            <a:ext cx="4824536" cy="1843710"/>
          </a:xfrm>
          <a:prstGeom prst="rect">
            <a:avLst/>
          </a:prstGeom>
          <a:noFill/>
        </p:spPr>
        <p:txBody>
          <a:bodyPr wrap="square">
            <a:spAutoFit/>
          </a:bodyPr>
          <a:lstStyle/>
          <a:p>
            <a:pPr marL="342900" indent="-342900" algn="just">
              <a:lnSpc>
                <a:spcPct val="150000"/>
              </a:lnSpc>
              <a:buFont typeface="Wingdings" panose="05000000000000000000" pitchFamily="2" charset="2"/>
              <a:buChar char="p"/>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有源二端网络等效电阻 </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AB</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的测量方法</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Ø"/>
            </a:pPr>
            <a:r>
              <a:rPr lang="zh-CN" altLang="en-US" sz="1800" b="1" dirty="0">
                <a:latin typeface="Times New Roman" panose="02020603050405020304" pitchFamily="18" charset="0"/>
                <a:ea typeface="微软雅黑" panose="020B0503020204020204" pitchFamily="34" charset="-122"/>
                <a:cs typeface="Times New Roman" panose="02020603050405020304" pitchFamily="18" charset="0"/>
              </a:rPr>
              <a:t>开路电压、短路电流法：</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AB</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AB</a:t>
            </a:r>
            <a:r>
              <a:rPr lang="en-US" altLang="zh-CN" sz="1800" b="1" dirty="0">
                <a:solidFill>
                  <a:schemeClr val="tx1"/>
                </a:solidFill>
                <a:latin typeface="Times New Roman" panose="02020603050405020304" pitchFamily="18" charset="0"/>
                <a:cs typeface="Times New Roman" panose="02020603050405020304" pitchFamily="18" charset="0"/>
              </a:rPr>
              <a:t> / I</a:t>
            </a:r>
            <a:r>
              <a:rPr lang="en-US" altLang="zh-CN" sz="1200" b="1" dirty="0">
                <a:solidFill>
                  <a:schemeClr val="tx1"/>
                </a:solidFill>
                <a:latin typeface="Times New Roman" panose="02020603050405020304" pitchFamily="18" charset="0"/>
                <a:cs typeface="Times New Roman" panose="02020603050405020304" pitchFamily="18" charset="0"/>
              </a:rPr>
              <a:t>AB</a:t>
            </a:r>
            <a:endPar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1800" b="1" dirty="0">
                <a:latin typeface="Times New Roman" panose="02020603050405020304" pitchFamily="18" charset="0"/>
                <a:ea typeface="微软雅黑" panose="020B0503020204020204" pitchFamily="34" charset="-122"/>
                <a:cs typeface="Times New Roman" panose="02020603050405020304" pitchFamily="18" charset="0"/>
              </a:rPr>
              <a:t>负载法</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AB</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AB</a:t>
            </a:r>
            <a:r>
              <a:rPr lang="en-US" altLang="zh-CN" sz="1800" b="1" dirty="0">
                <a:solidFill>
                  <a:schemeClr val="tx1"/>
                </a:solidFill>
                <a:latin typeface="Times New Roman" panose="02020603050405020304" pitchFamily="18" charset="0"/>
                <a:cs typeface="Times New Roman" panose="02020603050405020304" pitchFamily="18" charset="0"/>
              </a:rPr>
              <a:t> / U</a:t>
            </a:r>
            <a:r>
              <a:rPr lang="en-US" altLang="zh-CN" sz="1200" b="1" dirty="0">
                <a:solidFill>
                  <a:schemeClr val="tx1"/>
                </a:solidFill>
                <a:latin typeface="Times New Roman" panose="02020603050405020304" pitchFamily="18" charset="0"/>
                <a:cs typeface="Times New Roman" panose="02020603050405020304" pitchFamily="18" charset="0"/>
              </a:rPr>
              <a:t>L</a:t>
            </a:r>
            <a:r>
              <a:rPr lang="en-US" altLang="zh-CN" sz="2400" b="1" dirty="0">
                <a:solidFill>
                  <a:schemeClr val="tx1"/>
                </a:solidFill>
                <a:latin typeface="Times New Roman" panose="02020603050405020304" pitchFamily="18" charset="0"/>
                <a:cs typeface="Times New Roman" panose="02020603050405020304" pitchFamily="18" charset="0"/>
              </a:rPr>
              <a:t> </a:t>
            </a:r>
            <a:r>
              <a:rPr lang="en-US" altLang="zh-CN" b="1" dirty="0">
                <a:solidFill>
                  <a:schemeClr val="tx1"/>
                </a:solidFill>
                <a:latin typeface="Times New Roman" panose="02020603050405020304" pitchFamily="18" charset="0"/>
                <a:cs typeface="Times New Roman" panose="02020603050405020304" pitchFamily="18" charset="0"/>
              </a:rPr>
              <a:t>-</a:t>
            </a:r>
            <a:r>
              <a:rPr lang="en-US" altLang="zh-CN" sz="1800" b="1" dirty="0">
                <a:solidFill>
                  <a:schemeClr val="tx1"/>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dirty="0">
                <a:solidFill>
                  <a:schemeClr val="tx1"/>
                </a:solidFill>
                <a:latin typeface="Times New Roman" panose="02020603050405020304" pitchFamily="18" charset="0"/>
                <a:cs typeface="Times New Roman" panose="02020603050405020304" pitchFamily="18" charset="0"/>
              </a:rPr>
              <a:t>*R</a:t>
            </a:r>
            <a:r>
              <a:rPr lang="en-US" altLang="zh-CN" sz="1800" b="1" baseline="-25000" dirty="0">
                <a:solidFill>
                  <a:schemeClr val="tx1"/>
                </a:solidFill>
                <a:latin typeface="Times New Roman" panose="02020603050405020304" pitchFamily="18" charset="0"/>
                <a:cs typeface="Times New Roman" panose="02020603050405020304" pitchFamily="18" charset="0"/>
              </a:rPr>
              <a:t>L</a:t>
            </a:r>
            <a:endPar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1800" b="1" dirty="0">
                <a:latin typeface="Times New Roman" panose="02020603050405020304" pitchFamily="18" charset="0"/>
                <a:ea typeface="微软雅黑" panose="020B0503020204020204" pitchFamily="34" charset="-122"/>
                <a:cs typeface="Times New Roman" panose="02020603050405020304" pitchFamily="18" charset="0"/>
              </a:rPr>
              <a:t>半电压法</a:t>
            </a:r>
            <a:endParaRPr lang="zh-CN" altLang="en-US"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 xmlns:a16="http://schemas.microsoft.com/office/drawing/2014/main" id="{49E1C00F-E696-4EB0-BB22-E8815D8289B9}"/>
              </a:ext>
            </a:extLst>
          </p:cNvPr>
          <p:cNvSpPr txBox="1"/>
          <p:nvPr/>
        </p:nvSpPr>
        <p:spPr>
          <a:xfrm>
            <a:off x="614389" y="1397478"/>
            <a:ext cx="7706816" cy="1134862"/>
          </a:xfrm>
          <a:prstGeom prst="rect">
            <a:avLst/>
          </a:prstGeom>
          <a:noFill/>
        </p:spPr>
        <p:txBody>
          <a:bodyPr wrap="square">
            <a:spAutoFit/>
          </a:bodyPr>
          <a:lstStyle/>
          <a:p>
            <a:pPr algn="just">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实验内容</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验证戴维南定理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011630343"/>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21</a:t>
            </a:fld>
            <a:endParaRPr lang="en-US" altLang="zh-CN" sz="1200" dirty="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0878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实验二 </a:t>
            </a:r>
            <a:r>
              <a:rPr lang="zh-CN" altLang="zh-CN" sz="4000" b="1" dirty="0">
                <a:solidFill>
                  <a:srgbClr val="000000"/>
                </a:solidFill>
                <a:latin typeface="微软雅黑" panose="020B0503020204020204" pitchFamily="34" charset="-122"/>
                <a:ea typeface="微软雅黑" panose="020B0503020204020204" pitchFamily="34" charset="-122"/>
              </a:rPr>
              <a:t>叠加定理和戴维南定理</a:t>
            </a:r>
            <a:endParaRPr sz="4000" b="1" dirty="0">
              <a:solidFill>
                <a:srgbClr val="000000"/>
              </a:solidFill>
              <a:latin typeface="微软雅黑" panose="020B0503020204020204" pitchFamily="34" charset="-122"/>
              <a:ea typeface="微软雅黑" panose="020B0503020204020204" pitchFamily="34" charset="-122"/>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9" name="object 1">
            <a:extLst>
              <a:ext uri="{FF2B5EF4-FFF2-40B4-BE49-F238E27FC236}">
                <a16:creationId xmlns="" xmlns:a16="http://schemas.microsoft.com/office/drawing/2014/main" id="{344981A6-157C-46B8-99AC-4126599ED65C}"/>
              </a:ext>
            </a:extLst>
          </p:cNvPr>
          <p:cNvSpPr/>
          <p:nvPr/>
        </p:nvSpPr>
        <p:spPr>
          <a:xfrm>
            <a:off x="609600" y="6168390"/>
            <a:ext cx="7924800" cy="12700"/>
          </a:xfrm>
          <a:prstGeom prst="rect">
            <a:avLst/>
          </a:prstGeom>
          <a:blipFill>
            <a:blip r:embed="rId4" cstate="print"/>
            <a:stretch>
              <a:fillRect/>
            </a:stretch>
          </a:blipFill>
        </p:spPr>
        <p:txBody>
          <a:bodyPr wrap="square" lIns="0" tIns="0" rIns="0" bIns="0" rtlCol="0">
            <a:spAutoFit/>
          </a:bodyPr>
          <a:lstStyle/>
          <a:p>
            <a:endParaRPr/>
          </a:p>
        </p:txBody>
      </p:sp>
      <p:sp>
        <p:nvSpPr>
          <p:cNvPr id="6" name="文本框 5">
            <a:extLst>
              <a:ext uri="{FF2B5EF4-FFF2-40B4-BE49-F238E27FC236}">
                <a16:creationId xmlns="" xmlns:a16="http://schemas.microsoft.com/office/drawing/2014/main" id="{538098AD-7EE0-46C2-AE6D-9AD0CFCD3498}"/>
              </a:ext>
            </a:extLst>
          </p:cNvPr>
          <p:cNvSpPr txBox="1"/>
          <p:nvPr/>
        </p:nvSpPr>
        <p:spPr>
          <a:xfrm>
            <a:off x="3414878" y="3929036"/>
            <a:ext cx="2687304" cy="369332"/>
          </a:xfrm>
          <a:prstGeom prst="rect">
            <a:avLst/>
          </a:prstGeom>
          <a:noFill/>
        </p:spPr>
        <p:txBody>
          <a:bodyPr wrap="square">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1-4-2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测量数据记录表</a:t>
            </a:r>
          </a:p>
        </p:txBody>
      </p:sp>
      <p:graphicFrame>
        <p:nvGraphicFramePr>
          <p:cNvPr id="7" name="表格 3">
            <a:extLst>
              <a:ext uri="{FF2B5EF4-FFF2-40B4-BE49-F238E27FC236}">
                <a16:creationId xmlns="" xmlns:a16="http://schemas.microsoft.com/office/drawing/2014/main" id="{E1ADD8B1-5E23-4EB4-A82E-FBC565963D79}"/>
              </a:ext>
            </a:extLst>
          </p:cNvPr>
          <p:cNvGraphicFramePr>
            <a:graphicFrameLocks noGrp="1"/>
          </p:cNvGraphicFramePr>
          <p:nvPr>
            <p:extLst>
              <p:ext uri="{D42A27DB-BD31-4B8C-83A1-F6EECF244321}">
                <p14:modId xmlns:p14="http://schemas.microsoft.com/office/powerpoint/2010/main" val="191904283"/>
              </p:ext>
            </p:extLst>
          </p:nvPr>
        </p:nvGraphicFramePr>
        <p:xfrm>
          <a:off x="867156" y="4299911"/>
          <a:ext cx="7233236" cy="2153425"/>
        </p:xfrm>
        <a:graphic>
          <a:graphicData uri="http://schemas.openxmlformats.org/drawingml/2006/table">
            <a:tbl>
              <a:tblPr firstRow="1" bandRow="1">
                <a:tableStyleId>{5C22544A-7EE6-4342-B048-85BDC9FD1C3A}</a:tableStyleId>
              </a:tblPr>
              <a:tblGrid>
                <a:gridCol w="1331443">
                  <a:extLst>
                    <a:ext uri="{9D8B030D-6E8A-4147-A177-3AD203B41FA5}">
                      <a16:colId xmlns="" xmlns:a16="http://schemas.microsoft.com/office/drawing/2014/main" val="3362720238"/>
                    </a:ext>
                  </a:extLst>
                </a:gridCol>
                <a:gridCol w="1010779">
                  <a:extLst>
                    <a:ext uri="{9D8B030D-6E8A-4147-A177-3AD203B41FA5}">
                      <a16:colId xmlns="" xmlns:a16="http://schemas.microsoft.com/office/drawing/2014/main" val="1839122339"/>
                    </a:ext>
                  </a:extLst>
                </a:gridCol>
                <a:gridCol w="815169">
                  <a:extLst>
                    <a:ext uri="{9D8B030D-6E8A-4147-A177-3AD203B41FA5}">
                      <a16:colId xmlns="" xmlns:a16="http://schemas.microsoft.com/office/drawing/2014/main" val="3173731891"/>
                    </a:ext>
                  </a:extLst>
                </a:gridCol>
                <a:gridCol w="815169">
                  <a:extLst>
                    <a:ext uri="{9D8B030D-6E8A-4147-A177-3AD203B41FA5}">
                      <a16:colId xmlns="" xmlns:a16="http://schemas.microsoft.com/office/drawing/2014/main" val="2603761154"/>
                    </a:ext>
                  </a:extLst>
                </a:gridCol>
                <a:gridCol w="815169">
                  <a:extLst>
                    <a:ext uri="{9D8B030D-6E8A-4147-A177-3AD203B41FA5}">
                      <a16:colId xmlns="" xmlns:a16="http://schemas.microsoft.com/office/drawing/2014/main" val="232070073"/>
                    </a:ext>
                  </a:extLst>
                </a:gridCol>
                <a:gridCol w="815169">
                  <a:extLst>
                    <a:ext uri="{9D8B030D-6E8A-4147-A177-3AD203B41FA5}">
                      <a16:colId xmlns="" xmlns:a16="http://schemas.microsoft.com/office/drawing/2014/main" val="2494372519"/>
                    </a:ext>
                  </a:extLst>
                </a:gridCol>
                <a:gridCol w="815169">
                  <a:extLst>
                    <a:ext uri="{9D8B030D-6E8A-4147-A177-3AD203B41FA5}">
                      <a16:colId xmlns="" xmlns:a16="http://schemas.microsoft.com/office/drawing/2014/main" val="3056876872"/>
                    </a:ext>
                  </a:extLst>
                </a:gridCol>
                <a:gridCol w="815169">
                  <a:extLst>
                    <a:ext uri="{9D8B030D-6E8A-4147-A177-3AD203B41FA5}">
                      <a16:colId xmlns="" xmlns:a16="http://schemas.microsoft.com/office/drawing/2014/main" val="2046547133"/>
                    </a:ext>
                  </a:extLst>
                </a:gridCol>
              </a:tblGrid>
              <a:tr h="430685">
                <a:tc>
                  <a:txBody>
                    <a:bodyPr/>
                    <a:lstStyle/>
                    <a:p>
                      <a:pPr algn="ctr"/>
                      <a:endParaRPr lang="zh-CN" altLang="en-US" b="0" dirty="0">
                        <a:latin typeface="微软雅黑" panose="020B0503020204020204" pitchFamily="34" charset="-122"/>
                        <a:ea typeface="微软雅黑" panose="020B0503020204020204" pitchFamily="34" charset="-122"/>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(k</a:t>
                      </a:r>
                      <a:r>
                        <a:rPr lang="el-GR" altLang="zh-CN" dirty="0">
                          <a:latin typeface="Times New Roman" panose="02020603050405020304" pitchFamily="18" charset="0"/>
                          <a:ea typeface="微软雅黑" panose="020B0503020204020204" pitchFamily="34" charset="-122"/>
                          <a:cs typeface="Times New Roman" panose="02020603050405020304" pitchFamily="18" charset="0"/>
                        </a:rPr>
                        <a:t>Ω</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1.5</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2.5</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3.5</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 xmlns:a16="http://schemas.microsoft.com/office/drawing/2014/main" val="15675966"/>
                  </a:ext>
                </a:extLst>
              </a:tr>
              <a:tr h="430685">
                <a:tc rowSpan="2">
                  <a:txBody>
                    <a:bodyPr/>
                    <a:lstStyle/>
                    <a:p>
                      <a:pPr algn="ctr">
                        <a:lnSpc>
                          <a:spcPct val="200000"/>
                        </a:lnSpc>
                      </a:pP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原电路</a:t>
                      </a:r>
                    </a:p>
                  </a:txBody>
                  <a:tcPr/>
                </a:tc>
                <a:tc>
                  <a:txBody>
                    <a:bodyPr/>
                    <a:lstStyle/>
                    <a:p>
                      <a:pPr algn="ct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100"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(V)</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 xmlns:a16="http://schemas.microsoft.com/office/drawing/2014/main" val="1516852094"/>
                  </a:ext>
                </a:extLst>
              </a:tr>
              <a:tr h="430685">
                <a:tc vMerge="1">
                  <a:txBody>
                    <a:bodyPr/>
                    <a:lstStyle/>
                    <a:p>
                      <a:pPr algn="ct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100"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 xmlns:a16="http://schemas.microsoft.com/office/drawing/2014/main" val="3812700876"/>
                  </a:ext>
                </a:extLst>
              </a:tr>
              <a:tr h="430685">
                <a:tc rowSpan="2">
                  <a:txBody>
                    <a:bodyPr/>
                    <a:lstStyle/>
                    <a:p>
                      <a:pPr algn="ctr">
                        <a:lnSpc>
                          <a:spcPct val="200000"/>
                        </a:lnSpc>
                      </a:pP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等效电路</a:t>
                      </a:r>
                    </a:p>
                  </a:txBody>
                  <a:tcPr/>
                </a:tc>
                <a:tc>
                  <a:txBody>
                    <a:bodyPr/>
                    <a:lstStyle/>
                    <a:p>
                      <a:pPr algn="ct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100"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(V)</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 xmlns:a16="http://schemas.microsoft.com/office/drawing/2014/main" val="3375170801"/>
                  </a:ext>
                </a:extLst>
              </a:tr>
              <a:tr h="430685">
                <a:tc vMerge="1">
                  <a:txBody>
                    <a:bodyPr/>
                    <a:lstStyle/>
                    <a:p>
                      <a:pPr algn="ct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100"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 xmlns:a16="http://schemas.microsoft.com/office/drawing/2014/main" val="3755732788"/>
                  </a:ext>
                </a:extLst>
              </a:tr>
            </a:tbl>
          </a:graphicData>
        </a:graphic>
      </p:graphicFrame>
      <p:sp>
        <p:nvSpPr>
          <p:cNvPr id="8" name="文本框 7">
            <a:extLst>
              <a:ext uri="{FF2B5EF4-FFF2-40B4-BE49-F238E27FC236}">
                <a16:creationId xmlns="" xmlns:a16="http://schemas.microsoft.com/office/drawing/2014/main" id="{0EFC839E-69F3-4658-A85C-490A7DC9CCDF}"/>
              </a:ext>
            </a:extLst>
          </p:cNvPr>
          <p:cNvSpPr txBox="1"/>
          <p:nvPr/>
        </p:nvSpPr>
        <p:spPr>
          <a:xfrm>
            <a:off x="614389" y="1397478"/>
            <a:ext cx="7706816" cy="1134862"/>
          </a:xfrm>
          <a:prstGeom prst="rect">
            <a:avLst/>
          </a:prstGeom>
          <a:noFill/>
        </p:spPr>
        <p:txBody>
          <a:bodyPr wrap="square">
            <a:spAutoFit/>
          </a:bodyPr>
          <a:lstStyle/>
          <a:p>
            <a:pPr algn="just">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实验内容</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验证戴维南定理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 xmlns:a16="http://schemas.microsoft.com/office/drawing/2014/main" id="{F5B8BB3E-6F3A-497C-A3DF-7E28EE37B24F}"/>
              </a:ext>
            </a:extLst>
          </p:cNvPr>
          <p:cNvSpPr txBox="1"/>
          <p:nvPr/>
        </p:nvSpPr>
        <p:spPr>
          <a:xfrm>
            <a:off x="1465132" y="2604897"/>
            <a:ext cx="1728192" cy="923330"/>
          </a:xfrm>
          <a:prstGeom prst="rect">
            <a:avLst/>
          </a:prstGeom>
          <a:noFill/>
        </p:spPr>
        <p:txBody>
          <a:bodyPr wrap="square">
            <a:spAutoFit/>
          </a:bodyPr>
          <a:lstStyle/>
          <a:p>
            <a:pPr algn="just"/>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1-4-1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单口网络等效参数测量数据表</a:t>
            </a:r>
          </a:p>
        </p:txBody>
      </p:sp>
      <p:graphicFrame>
        <p:nvGraphicFramePr>
          <p:cNvPr id="2" name="表格 1">
            <a:extLst>
              <a:ext uri="{FF2B5EF4-FFF2-40B4-BE49-F238E27FC236}">
                <a16:creationId xmlns="" xmlns:a16="http://schemas.microsoft.com/office/drawing/2014/main" id="{AE42AE90-70C8-4077-848E-A7E3863846C4}"/>
              </a:ext>
            </a:extLst>
          </p:cNvPr>
          <p:cNvGraphicFramePr>
            <a:graphicFrameLocks noGrp="1"/>
          </p:cNvGraphicFramePr>
          <p:nvPr>
            <p:extLst>
              <p:ext uri="{D42A27DB-BD31-4B8C-83A1-F6EECF244321}">
                <p14:modId xmlns:p14="http://schemas.microsoft.com/office/powerpoint/2010/main" val="3022116302"/>
              </p:ext>
            </p:extLst>
          </p:nvPr>
        </p:nvGraphicFramePr>
        <p:xfrm>
          <a:off x="3995936" y="2292560"/>
          <a:ext cx="4181253" cy="1292055"/>
        </p:xfrm>
        <a:graphic>
          <a:graphicData uri="http://schemas.openxmlformats.org/drawingml/2006/table">
            <a:tbl>
              <a:tblPr firstRow="1" bandRow="1">
                <a:tableStyleId>{5C22544A-7EE6-4342-B048-85BDC9FD1C3A}</a:tableStyleId>
              </a:tblPr>
              <a:tblGrid>
                <a:gridCol w="1440161">
                  <a:extLst>
                    <a:ext uri="{9D8B030D-6E8A-4147-A177-3AD203B41FA5}">
                      <a16:colId xmlns="" xmlns:a16="http://schemas.microsoft.com/office/drawing/2014/main" val="3093878609"/>
                    </a:ext>
                  </a:extLst>
                </a:gridCol>
                <a:gridCol w="1368152">
                  <a:extLst>
                    <a:ext uri="{9D8B030D-6E8A-4147-A177-3AD203B41FA5}">
                      <a16:colId xmlns="" xmlns:a16="http://schemas.microsoft.com/office/drawing/2014/main" val="2122147055"/>
                    </a:ext>
                  </a:extLst>
                </a:gridCol>
                <a:gridCol w="1372940">
                  <a:extLst>
                    <a:ext uri="{9D8B030D-6E8A-4147-A177-3AD203B41FA5}">
                      <a16:colId xmlns="" xmlns:a16="http://schemas.microsoft.com/office/drawing/2014/main" val="2649494293"/>
                    </a:ext>
                  </a:extLst>
                </a:gridCol>
              </a:tblGrid>
              <a:tr h="430685">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测量项目</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理论数据</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测量数据</a:t>
                      </a:r>
                    </a:p>
                  </a:txBody>
                  <a:tcPr/>
                </a:tc>
                <a:extLst>
                  <a:ext uri="{0D108BD9-81ED-4DB2-BD59-A6C34878D82A}">
                    <a16:rowId xmlns="" xmlns:a16="http://schemas.microsoft.com/office/drawing/2014/main" val="1432772512"/>
                  </a:ext>
                </a:extLst>
              </a:tr>
              <a:tr h="430685">
                <a:tc>
                  <a:txBody>
                    <a:bodyPr/>
                    <a:lstStyle/>
                    <a:p>
                      <a:pPr algn="ct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1100" dirty="0">
                          <a:latin typeface="Times New Roman" panose="02020603050405020304" pitchFamily="18" charset="0"/>
                          <a:ea typeface="微软雅黑" panose="020B0503020204020204" pitchFamily="34" charset="-122"/>
                          <a:cs typeface="Times New Roman" panose="02020603050405020304" pitchFamily="18" charset="0"/>
                        </a:rPr>
                        <a:t>AB</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(V)</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 xmlns:a16="http://schemas.microsoft.com/office/drawing/2014/main" val="3830889490"/>
                  </a:ext>
                </a:extLst>
              </a:tr>
              <a:tr h="430685">
                <a:tc>
                  <a:txBody>
                    <a:bodyPr/>
                    <a:lstStyle/>
                    <a:p>
                      <a:pPr algn="ctr"/>
                      <a:r>
                        <a:rPr lang="en-US" altLang="zh-CN" sz="1800" dirty="0" smtClean="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100" dirty="0" smtClean="0">
                          <a:latin typeface="Times New Roman" panose="02020603050405020304" pitchFamily="18" charset="0"/>
                          <a:ea typeface="微软雅黑" panose="020B0503020204020204" pitchFamily="34" charset="-122"/>
                          <a:cs typeface="Times New Roman" panose="02020603050405020304" pitchFamily="18" charset="0"/>
                        </a:rPr>
                        <a:t>AB</a:t>
                      </a:r>
                      <a:r>
                        <a:rPr lang="en-US" altLang="zh-CN" sz="1800" dirty="0" smtClean="0">
                          <a:latin typeface="Times New Roman" panose="02020603050405020304" pitchFamily="18" charset="0"/>
                          <a:ea typeface="微软雅黑" panose="020B0503020204020204" pitchFamily="34" charset="-122"/>
                          <a:cs typeface="Times New Roman" panose="02020603050405020304" pitchFamily="18" charset="0"/>
                        </a:rPr>
                        <a:t>(Ω)</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 xmlns:a16="http://schemas.microsoft.com/office/drawing/2014/main" val="2058002938"/>
                  </a:ext>
                </a:extLst>
              </a:tr>
            </a:tbl>
          </a:graphicData>
        </a:graphic>
      </p:graphicFrame>
    </p:spTree>
    <p:extLst>
      <p:ext uri="{BB962C8B-B14F-4D97-AF65-F5344CB8AC3E}">
        <p14:creationId xmlns:p14="http://schemas.microsoft.com/office/powerpoint/2010/main" val="112287136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灯片编号占位符 2">
            <a:extLst>
              <a:ext uri="{FF2B5EF4-FFF2-40B4-BE49-F238E27FC236}">
                <a16:creationId xmlns="" xmlns:a16="http://schemas.microsoft.com/office/drawing/2014/main" id="{A83842B7-7E9A-4E96-B24C-CFE186D8DE68}"/>
              </a:ext>
            </a:extLst>
          </p:cNvPr>
          <p:cNvSpPr txBox="1">
            <a:spLocks noGrp="1" noChangeArrowheads="1"/>
          </p:cNvSpPr>
          <p:nvPr/>
        </p:nvSpPr>
        <p:spPr bwMode="auto">
          <a:xfrm>
            <a:off x="8856663" y="6583363"/>
            <a:ext cx="730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黑体" panose="02010609060101010101" pitchFamily="49" charset="-122"/>
              </a:defRPr>
            </a:lvl1pPr>
            <a:lvl2pPr marL="742950" indent="-285750">
              <a:defRPr>
                <a:solidFill>
                  <a:schemeClr val="tx1"/>
                </a:solidFill>
                <a:latin typeface="Calibri" panose="020F0502020204030204" pitchFamily="34" charset="0"/>
                <a:ea typeface="黑体" panose="02010609060101010101" pitchFamily="49" charset="-122"/>
              </a:defRPr>
            </a:lvl2pPr>
            <a:lvl3pPr marL="1143000" indent="-228600">
              <a:defRPr>
                <a:solidFill>
                  <a:schemeClr val="tx1"/>
                </a:solidFill>
                <a:latin typeface="Calibri" panose="020F0502020204030204" pitchFamily="34" charset="0"/>
                <a:ea typeface="黑体" panose="02010609060101010101" pitchFamily="49" charset="-122"/>
              </a:defRPr>
            </a:lvl3pPr>
            <a:lvl4pPr marL="1600200" indent="-228600">
              <a:defRPr>
                <a:solidFill>
                  <a:schemeClr val="tx1"/>
                </a:solidFill>
                <a:latin typeface="Calibri" panose="020F0502020204030204" pitchFamily="34" charset="0"/>
                <a:ea typeface="黑体" panose="02010609060101010101" pitchFamily="49" charset="-122"/>
              </a:defRPr>
            </a:lvl4pPr>
            <a:lvl5pPr marL="2057400" indent="-22860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eaLnBrk="1" hangingPunct="1"/>
            <a:fld id="{C2B7BD94-0B47-4B20-94E1-922ACFC6DCDB}" type="slidenum">
              <a:rPr lang="en-US" altLang="zh-CN" sz="1200">
                <a:solidFill>
                  <a:srgbClr val="0D0D0D"/>
                </a:solidFill>
                <a:latin typeface="黑体" panose="02010609060101010101" pitchFamily="49" charset="-122"/>
              </a:rPr>
              <a:pPr eaLnBrk="1" hangingPunct="1"/>
              <a:t>22</a:t>
            </a:fld>
            <a:endParaRPr lang="en-US" altLang="zh-CN" sz="1200" dirty="0">
              <a:solidFill>
                <a:srgbClr val="0D0D0D"/>
              </a:solidFill>
              <a:latin typeface="黑体" panose="02010609060101010101" pitchFamily="49" charset="-122"/>
            </a:endParaRPr>
          </a:p>
        </p:txBody>
      </p:sp>
      <p:sp>
        <p:nvSpPr>
          <p:cNvPr id="12" name="object 3">
            <a:extLst>
              <a:ext uri="{FF2B5EF4-FFF2-40B4-BE49-F238E27FC236}">
                <a16:creationId xmlns="" xmlns:a16="http://schemas.microsoft.com/office/drawing/2014/main" id="{7CDB9A75-C47E-45CE-9E6B-A3542664C2FA}"/>
              </a:ext>
            </a:extLst>
          </p:cNvPr>
          <p:cNvSpPr txBox="1"/>
          <p:nvPr/>
        </p:nvSpPr>
        <p:spPr>
          <a:xfrm>
            <a:off x="611560" y="391530"/>
            <a:ext cx="7850832" cy="708784"/>
          </a:xfrm>
          <a:prstGeom prst="rect">
            <a:avLst/>
          </a:prstGeom>
        </p:spPr>
        <p:txBody>
          <a:bodyPr vert="horz" wrap="square" lIns="0" tIns="0" rIns="0" bIns="0" rtlCol="0">
            <a:spAutoFit/>
          </a:bodyPr>
          <a:lstStyle/>
          <a:p>
            <a:pPr>
              <a:lnSpc>
                <a:spcPts val="6095"/>
              </a:lnSpc>
            </a:pPr>
            <a:r>
              <a:rPr lang="zh-CN" altLang="en-US" sz="4000" b="1" dirty="0">
                <a:solidFill>
                  <a:srgbClr val="000000"/>
                </a:solidFill>
                <a:latin typeface="微软雅黑" panose="020B0503020204020204" pitchFamily="34" charset="-122"/>
                <a:ea typeface="微软雅黑" panose="020B0503020204020204" pitchFamily="34" charset="-122"/>
              </a:rPr>
              <a:t>实验二 </a:t>
            </a:r>
            <a:r>
              <a:rPr lang="zh-CN" altLang="zh-CN" sz="4000" b="1" dirty="0">
                <a:solidFill>
                  <a:srgbClr val="000000"/>
                </a:solidFill>
                <a:latin typeface="微软雅黑" panose="020B0503020204020204" pitchFamily="34" charset="-122"/>
                <a:ea typeface="微软雅黑" panose="020B0503020204020204" pitchFamily="34" charset="-122"/>
              </a:rPr>
              <a:t>叠加定理和戴维南定理</a:t>
            </a:r>
            <a:endParaRPr sz="4000" b="1" dirty="0">
              <a:solidFill>
                <a:srgbClr val="000000"/>
              </a:solidFill>
              <a:latin typeface="微软雅黑" panose="020B0503020204020204" pitchFamily="34" charset="-122"/>
              <a:ea typeface="微软雅黑" panose="020B0503020204020204" pitchFamily="34" charset="-122"/>
            </a:endParaRPr>
          </a:p>
        </p:txBody>
      </p:sp>
      <p:sp>
        <p:nvSpPr>
          <p:cNvPr id="13" name="object 2">
            <a:extLst>
              <a:ext uri="{FF2B5EF4-FFF2-40B4-BE49-F238E27FC236}">
                <a16:creationId xmlns="" xmlns:a16="http://schemas.microsoft.com/office/drawing/2014/main" id="{C0F57C25-6E78-497C-9BDB-300A9BCFE870}"/>
              </a:ext>
            </a:extLst>
          </p:cNvPr>
          <p:cNvSpPr/>
          <p:nvPr/>
        </p:nvSpPr>
        <p:spPr>
          <a:xfrm>
            <a:off x="609600" y="1154460"/>
            <a:ext cx="7958137" cy="276999"/>
          </a:xfrm>
          <a:prstGeom prst="rect">
            <a:avLst/>
          </a:prstGeom>
          <a:blipFill>
            <a:blip r:embed="rId3" cstate="print"/>
            <a:stretch>
              <a:fillRect/>
            </a:stretch>
          </a:blipFill>
        </p:spPr>
        <p:txBody>
          <a:bodyPr wrap="square" lIns="0" tIns="0" rIns="0" bIns="0" rtlCol="0">
            <a:spAutoFit/>
          </a:bodyPr>
          <a:lstStyle/>
          <a:p>
            <a:endParaRPr>
              <a:latin typeface="微软雅黑" panose="020B0503020204020204" pitchFamily="34" charset="-122"/>
              <a:ea typeface="微软雅黑" panose="020B0503020204020204" pitchFamily="34" charset="-122"/>
            </a:endParaRPr>
          </a:p>
        </p:txBody>
      </p:sp>
      <p:sp>
        <p:nvSpPr>
          <p:cNvPr id="9" name="object 1">
            <a:extLst>
              <a:ext uri="{FF2B5EF4-FFF2-40B4-BE49-F238E27FC236}">
                <a16:creationId xmlns="" xmlns:a16="http://schemas.microsoft.com/office/drawing/2014/main" id="{344981A6-157C-46B8-99AC-4126599ED65C}"/>
              </a:ext>
            </a:extLst>
          </p:cNvPr>
          <p:cNvSpPr/>
          <p:nvPr/>
        </p:nvSpPr>
        <p:spPr>
          <a:xfrm>
            <a:off x="609600" y="6168390"/>
            <a:ext cx="7924800" cy="12700"/>
          </a:xfrm>
          <a:prstGeom prst="rect">
            <a:avLst/>
          </a:prstGeom>
          <a:blipFill>
            <a:blip r:embed="rId4" cstate="print"/>
            <a:stretch>
              <a:fillRect/>
            </a:stretch>
          </a:blipFill>
        </p:spPr>
        <p:txBody>
          <a:bodyPr wrap="square" lIns="0" tIns="0" rIns="0" bIns="0" rtlCol="0">
            <a:spAutoFit/>
          </a:bodyPr>
          <a:lstStyle/>
          <a:p>
            <a:endParaRPr/>
          </a:p>
        </p:txBody>
      </p:sp>
      <p:sp>
        <p:nvSpPr>
          <p:cNvPr id="8" name="文本框 7">
            <a:extLst>
              <a:ext uri="{FF2B5EF4-FFF2-40B4-BE49-F238E27FC236}">
                <a16:creationId xmlns="" xmlns:a16="http://schemas.microsoft.com/office/drawing/2014/main" id="{0EFC839E-69F3-4658-A85C-490A7DC9CCDF}"/>
              </a:ext>
            </a:extLst>
          </p:cNvPr>
          <p:cNvSpPr txBox="1"/>
          <p:nvPr/>
        </p:nvSpPr>
        <p:spPr>
          <a:xfrm>
            <a:off x="614389" y="1397478"/>
            <a:ext cx="7706816" cy="580865"/>
          </a:xfrm>
          <a:prstGeom prst="rect">
            <a:avLst/>
          </a:prstGeom>
          <a:noFill/>
        </p:spPr>
        <p:txBody>
          <a:bodyPr wrap="square">
            <a:spAutoFit/>
          </a:bodyPr>
          <a:lstStyle/>
          <a:p>
            <a:pPr algn="just">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注意事项</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a:extLst>
              <a:ext uri="{FF2B5EF4-FFF2-40B4-BE49-F238E27FC236}">
                <a16:creationId xmlns="" xmlns:a16="http://schemas.microsoft.com/office/drawing/2014/main" id="{2C0819A8-5CDE-4350-B35C-AF1E8CC0F610}"/>
              </a:ext>
            </a:extLst>
          </p:cNvPr>
          <p:cNvSpPr txBox="1"/>
          <p:nvPr/>
        </p:nvSpPr>
        <p:spPr>
          <a:xfrm>
            <a:off x="1115616" y="2276872"/>
            <a:ext cx="5040560" cy="1289712"/>
          </a:xfrm>
          <a:prstGeom prst="rect">
            <a:avLst/>
          </a:prstGeom>
          <a:noFill/>
        </p:spPr>
        <p:txBody>
          <a:bodyPr wrap="square">
            <a:spAutoFit/>
          </a:bodyPr>
          <a:lstStyle/>
          <a:p>
            <a:pPr marL="342900" indent="-342900">
              <a:lnSpc>
                <a:spcPct val="150000"/>
              </a:lnSpc>
              <a:buFont typeface="Wingdings" panose="05000000000000000000" pitchFamily="2" charset="2"/>
              <a:buChar char="p"/>
            </a:pPr>
            <a:r>
              <a:rPr lang="zh-CN" altLang="en-US" sz="1800" b="1" dirty="0">
                <a:effectLst>
                  <a:outerShdw blurRad="38100" dist="38100" dir="2700000" algn="tl">
                    <a:srgbClr val="C0C0C0"/>
                  </a:outerShdw>
                </a:effectLst>
                <a:latin typeface="微软雅黑" panose="020B0503020204020204" pitchFamily="34" charset="-122"/>
                <a:ea typeface="微软雅黑" panose="020B0503020204020204" pitchFamily="34" charset="-122"/>
              </a:rPr>
              <a:t>某一个独立源单独作用时，其他电源置零</a:t>
            </a:r>
            <a:endParaRPr lang="en-US" altLang="zh-CN" sz="1800" b="1"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p"/>
            </a:pPr>
            <a:r>
              <a:rPr lang="zh-CN" altLang="en-US" sz="1800" b="1" dirty="0">
                <a:effectLst>
                  <a:outerShdw blurRad="38100" dist="38100" dir="2700000" algn="tl">
                    <a:srgbClr val="C0C0C0"/>
                  </a:outerShdw>
                </a:effectLst>
                <a:latin typeface="微软雅黑" panose="020B0503020204020204" pitchFamily="34" charset="-122"/>
                <a:ea typeface="微软雅黑" panose="020B0503020204020204" pitchFamily="34" charset="-122"/>
              </a:rPr>
              <a:t>实验过程中要先假定一个参考方向</a:t>
            </a:r>
            <a:endParaRPr lang="en-US" altLang="zh-CN" sz="1800" b="1"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p"/>
            </a:pPr>
            <a:r>
              <a:rPr lang="zh-CN" altLang="en-US" sz="1800" b="1" dirty="0">
                <a:effectLst>
                  <a:outerShdw blurRad="38100" dist="38100" dir="2700000" algn="tl">
                    <a:srgbClr val="C0C0C0"/>
                  </a:outerShdw>
                </a:effectLst>
                <a:latin typeface="微软雅黑" panose="020B0503020204020204" pitchFamily="34" charset="-122"/>
                <a:ea typeface="微软雅黑" panose="020B0503020204020204" pitchFamily="34" charset="-122"/>
              </a:rPr>
              <a:t>使用仪表时应注意极性</a:t>
            </a:r>
            <a:endParaRPr lang="en-US" altLang="zh-CN" sz="18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526978967"/>
      </p:ext>
    </p:extLst>
  </p:cSld>
  <p:clrMapOvr>
    <a:masterClrMapping/>
  </p:clrMapOvr>
  <p:transition spd="slow"/>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5840,&quot;width&quot;:8910}"/>
</p:tagLst>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724</TotalTime>
  <Words>1562</Words>
  <Application>Microsoft Office PowerPoint</Application>
  <PresentationFormat>全屏显示(4:3)</PresentationFormat>
  <Paragraphs>223</Paragraphs>
  <Slides>22</Slides>
  <Notes>17</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22</vt:i4>
      </vt:variant>
    </vt:vector>
  </HeadingPairs>
  <TitlesOfParts>
    <vt:vector size="33" baseType="lpstr">
      <vt:lpstr>Arial</vt:lpstr>
      <vt:lpstr>宋体</vt:lpstr>
      <vt:lpstr>微软雅黑</vt:lpstr>
      <vt:lpstr>Calibri</vt:lpstr>
      <vt:lpstr>VMDEPI+LiSu</vt:lpstr>
      <vt:lpstr>等线</vt:lpstr>
      <vt:lpstr>黑体</vt:lpstr>
      <vt:lpstr>Wingdings</vt:lpstr>
      <vt:lpstr>Times New Roman</vt:lpstr>
      <vt:lpstr>Theme Office</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doc2pdf</dc:creator>
  <cp:lastModifiedBy>Windows 用户</cp:lastModifiedBy>
  <cp:revision>223</cp:revision>
  <dcterms:modified xsi:type="dcterms:W3CDTF">2024-11-28T14:55:56Z</dcterms:modified>
</cp:coreProperties>
</file>